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07340" y="2046473"/>
            <a:ext cx="4019550" cy="2842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00100"/>
          </a:xfrm>
          <a:custGeom>
            <a:avLst/>
            <a:gdLst/>
            <a:ahLst/>
            <a:cxnLst/>
            <a:rect l="l" t="t" r="r" b="b"/>
            <a:pathLst>
              <a:path w="9144000" h="800100">
                <a:moveTo>
                  <a:pt x="9144000" y="0"/>
                </a:moveTo>
                <a:lnTo>
                  <a:pt x="0" y="0"/>
                </a:lnTo>
                <a:lnTo>
                  <a:pt x="0" y="800100"/>
                </a:lnTo>
                <a:lnTo>
                  <a:pt x="9144000" y="8001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800100"/>
          </a:xfrm>
          <a:custGeom>
            <a:avLst/>
            <a:gdLst/>
            <a:ahLst/>
            <a:cxnLst/>
            <a:rect l="l" t="t" r="r" b="b"/>
            <a:pathLst>
              <a:path w="9144000" h="800100">
                <a:moveTo>
                  <a:pt x="0" y="0"/>
                </a:moveTo>
                <a:lnTo>
                  <a:pt x="9144000" y="0"/>
                </a:lnTo>
                <a:lnTo>
                  <a:pt x="91440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972050"/>
            <a:ext cx="9144000" cy="17145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66006" y="114894"/>
            <a:ext cx="1905" cy="571500"/>
          </a:xfrm>
          <a:custGeom>
            <a:avLst/>
            <a:gdLst/>
            <a:ahLst/>
            <a:cxnLst/>
            <a:rect l="l" t="t" r="r" b="b"/>
            <a:pathLst>
              <a:path w="1905" h="571500">
                <a:moveTo>
                  <a:pt x="1587" y="0"/>
                </a:moveTo>
                <a:lnTo>
                  <a:pt x="0" y="571500"/>
                </a:lnTo>
              </a:path>
            </a:pathLst>
          </a:custGeom>
          <a:ln w="952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400" y="133350"/>
            <a:ext cx="804532" cy="5765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864" y="112769"/>
            <a:ext cx="5728271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06632" y="1439837"/>
            <a:ext cx="3740784" cy="2328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jpg"/><Relationship Id="rId17" Type="http://schemas.openxmlformats.org/officeDocument/2006/relationships/image" Target="../media/image24.jp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jpg"/><Relationship Id="rId21" Type="http://schemas.openxmlformats.org/officeDocument/2006/relationships/image" Target="../media/image28.jpg"/><Relationship Id="rId22" Type="http://schemas.openxmlformats.org/officeDocument/2006/relationships/image" Target="../media/image2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Relationship Id="rId22" Type="http://schemas.openxmlformats.org/officeDocument/2006/relationships/image" Target="../media/image62.png"/><Relationship Id="rId23" Type="http://schemas.openxmlformats.org/officeDocument/2006/relationships/image" Target="../media/image63.png"/><Relationship Id="rId24" Type="http://schemas.openxmlformats.org/officeDocument/2006/relationships/image" Target="../media/image64.png"/><Relationship Id="rId25" Type="http://schemas.openxmlformats.org/officeDocument/2006/relationships/image" Target="../media/image65.png"/><Relationship Id="rId26" Type="http://schemas.openxmlformats.org/officeDocument/2006/relationships/image" Target="../media/image66.png"/><Relationship Id="rId27" Type="http://schemas.openxmlformats.org/officeDocument/2006/relationships/image" Target="../media/image6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jpg"/><Relationship Id="rId14" Type="http://schemas.openxmlformats.org/officeDocument/2006/relationships/image" Target="../media/image8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01.png"/><Relationship Id="rId16" Type="http://schemas.openxmlformats.org/officeDocument/2006/relationships/image" Target="../media/image102.png"/><Relationship Id="rId17" Type="http://schemas.openxmlformats.org/officeDocument/2006/relationships/image" Target="../media/image10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61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53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12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jp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jpg"/><Relationship Id="rId11" Type="http://schemas.openxmlformats.org/officeDocument/2006/relationships/image" Target="../media/image134.jpg"/><Relationship Id="rId12" Type="http://schemas.openxmlformats.org/officeDocument/2006/relationships/image" Target="../media/image135.jpg"/><Relationship Id="rId13" Type="http://schemas.openxmlformats.org/officeDocument/2006/relationships/image" Target="../media/image136.jpg"/><Relationship Id="rId14" Type="http://schemas.openxmlformats.org/officeDocument/2006/relationships/image" Target="../media/image137.jpg"/><Relationship Id="rId15" Type="http://schemas.openxmlformats.org/officeDocument/2006/relationships/image" Target="../media/image138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156.png"/><Relationship Id="rId20" Type="http://schemas.openxmlformats.org/officeDocument/2006/relationships/image" Target="../media/image15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pn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77.png"/><Relationship Id="rId12" Type="http://schemas.openxmlformats.org/officeDocument/2006/relationships/image" Target="../media/image178.png"/><Relationship Id="rId13" Type="http://schemas.openxmlformats.org/officeDocument/2006/relationships/image" Target="../media/image179.png"/><Relationship Id="rId14" Type="http://schemas.openxmlformats.org/officeDocument/2006/relationships/image" Target="../media/image180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oogle.com.hk/url?url=http%3A//www.multical21.de/de/downloads.aspx&amp;rct=j&amp;frm=1&amp;q&amp;esrc=s&amp;sa=U&amp;ei=2JP-VN6yJcflUo-0gZAM&amp;ved=0CBUQ9QEwAA&amp;usg=AFQjCNHoQm3wlSKyn4nlAdDZPo9zf4kFAg" TargetMode="External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Relationship Id="rId16" Type="http://schemas.openxmlformats.org/officeDocument/2006/relationships/image" Target="../media/image194.png"/><Relationship Id="rId17" Type="http://schemas.openxmlformats.org/officeDocument/2006/relationships/image" Target="../media/image195.png"/><Relationship Id="rId18" Type="http://schemas.openxmlformats.org/officeDocument/2006/relationships/image" Target="../media/image196.png"/><Relationship Id="rId19" Type="http://schemas.openxmlformats.org/officeDocument/2006/relationships/image" Target="../media/image197.png"/><Relationship Id="rId20" Type="http://schemas.openxmlformats.org/officeDocument/2006/relationships/image" Target="../media/image198.png"/><Relationship Id="rId21" Type="http://schemas.openxmlformats.org/officeDocument/2006/relationships/image" Target="../media/image199.png"/><Relationship Id="rId22" Type="http://schemas.openxmlformats.org/officeDocument/2006/relationships/image" Target="../media/image200.png"/><Relationship Id="rId23" Type="http://schemas.openxmlformats.org/officeDocument/2006/relationships/image" Target="../media/image201.png"/><Relationship Id="rId24" Type="http://schemas.openxmlformats.org/officeDocument/2006/relationships/image" Target="../media/image202.png"/><Relationship Id="rId25" Type="http://schemas.openxmlformats.org/officeDocument/2006/relationships/hyperlink" Target="http://www.google.com.hk/url?url=http%3A//logo-kid.com/telus-logo-png.htm&amp;rct=j&amp;frm=1&amp;q&amp;esrc=s&amp;sa=U&amp;ei=41c7VY7FDYHkUKC2g4gP&amp;ved=0CBkQ9QEwAg&amp;usg=AFQjCNHSYite3mENs_6fqko_45tTLR9CSQ" TargetMode="External"/><Relationship Id="rId26" Type="http://schemas.openxmlformats.org/officeDocument/2006/relationships/image" Target="../media/image203.png"/><Relationship Id="rId27" Type="http://schemas.openxmlformats.org/officeDocument/2006/relationships/image" Target="../media/image204.png"/><Relationship Id="rId28" Type="http://schemas.openxmlformats.org/officeDocument/2006/relationships/image" Target="../media/image205.png"/><Relationship Id="rId29" Type="http://schemas.openxmlformats.org/officeDocument/2006/relationships/image" Target="../media/image206.png"/><Relationship Id="rId30" Type="http://schemas.openxmlformats.org/officeDocument/2006/relationships/hyperlink" Target="https://www.google.com.hk/url?url=https%3A//en.wikipedia.org/wiki/Etisalat_(Sri_Lanka)&amp;rct=j&amp;frm=1&amp;q&amp;esrc=s&amp;sa=U&amp;ved=0CBcQwW4wAWoVChMI8oqHwseTyAIVhlsaCh29QAYp&amp;usg=AFQjCNHEd3j5HFLa3UyY84VcLOnRQxa4iQ" TargetMode="External"/><Relationship Id="rId31" Type="http://schemas.openxmlformats.org/officeDocument/2006/relationships/image" Target="../media/image207.png"/><Relationship Id="rId32" Type="http://schemas.openxmlformats.org/officeDocument/2006/relationships/image" Target="../media/image208.png"/><Relationship Id="rId33" Type="http://schemas.openxmlformats.org/officeDocument/2006/relationships/image" Target="../media/image209.png"/><Relationship Id="rId34" Type="http://schemas.openxmlformats.org/officeDocument/2006/relationships/image" Target="../media/image210.png"/><Relationship Id="rId35" Type="http://schemas.openxmlformats.org/officeDocument/2006/relationships/image" Target="../media/image211.png"/><Relationship Id="rId36" Type="http://schemas.openxmlformats.org/officeDocument/2006/relationships/image" Target="../media/image212.png"/><Relationship Id="rId37" Type="http://schemas.openxmlformats.org/officeDocument/2006/relationships/hyperlink" Target="http://www.google.com.hk/url?url=http%3A//www.rologo.com/china-mobile-new-logo-in-2013expocomm.html&amp;rct=j&amp;frm=1&amp;q&amp;esrc=s&amp;sa=U&amp;ved=0CBsQwW4wA2oVChMIz-WRqJK1yAIVBgssCh3T1QWR&amp;usg=AFQjCNFkX406j1Tr2il-lSThLKWUgQGp_A" TargetMode="External"/><Relationship Id="rId38" Type="http://schemas.openxmlformats.org/officeDocument/2006/relationships/image" Target="../media/image213.png"/><Relationship Id="rId39" Type="http://schemas.openxmlformats.org/officeDocument/2006/relationships/image" Target="../media/image214.png"/><Relationship Id="rId40" Type="http://schemas.openxmlformats.org/officeDocument/2006/relationships/image" Target="../media/image215.png"/><Relationship Id="rId41" Type="http://schemas.openxmlformats.org/officeDocument/2006/relationships/image" Target="../media/image216.png"/><Relationship Id="rId42" Type="http://schemas.openxmlformats.org/officeDocument/2006/relationships/hyperlink" Target="http://www.google.com.hk/url?url=http%3A//logok.org/china-unicom-logo/&amp;rct=j&amp;frm=1&amp;q&amp;esrc=s&amp;sa=U&amp;ved=0CB0QwW4wBGoVChMIhruknceTyAIVg70aCh3xFQvD&amp;usg=AFQjCNGvtvB047tv6aodY6JSI4XakljyAQ" TargetMode="External"/><Relationship Id="rId43" Type="http://schemas.openxmlformats.org/officeDocument/2006/relationships/image" Target="../media/image217.png"/><Relationship Id="rId44" Type="http://schemas.openxmlformats.org/officeDocument/2006/relationships/image" Target="../media/image218.png"/><Relationship Id="rId45" Type="http://schemas.openxmlformats.org/officeDocument/2006/relationships/image" Target="../media/image219.png"/><Relationship Id="rId46" Type="http://schemas.openxmlformats.org/officeDocument/2006/relationships/image" Target="../media/image220.png"/><Relationship Id="rId47" Type="http://schemas.openxmlformats.org/officeDocument/2006/relationships/image" Target="../media/image221.png"/><Relationship Id="rId48" Type="http://schemas.openxmlformats.org/officeDocument/2006/relationships/image" Target="../media/image222.png"/><Relationship Id="rId49" Type="http://schemas.openxmlformats.org/officeDocument/2006/relationships/image" Target="../media/image223.jpg"/><Relationship Id="rId50" Type="http://schemas.openxmlformats.org/officeDocument/2006/relationships/image" Target="../media/image224.jpg"/><Relationship Id="rId51" Type="http://schemas.openxmlformats.org/officeDocument/2006/relationships/image" Target="../media/image225.jpg"/><Relationship Id="rId52" Type="http://schemas.openxmlformats.org/officeDocument/2006/relationships/image" Target="../media/image226.jpg"/><Relationship Id="rId53" Type="http://schemas.openxmlformats.org/officeDocument/2006/relationships/image" Target="../media/image227.jpg"/><Relationship Id="rId54" Type="http://schemas.openxmlformats.org/officeDocument/2006/relationships/hyperlink" Target="http://www.google.co.uk/url?url=http%3A//en.wikipedia.org/wiki/File%3ABosch-brand.svg&amp;rct=j&amp;frm=1&amp;q&amp;esrc=s&amp;sa=U&amp;ei=-yidVNLCPMiqUen7gMAH&amp;ved=0CBYQ9QEwAA&amp;sig2=-rnbANT5gbFO6paa4UVBQg&amp;usg=AFQjCNFdmm6KNpah3x3lv3uJS00dYh16Lw" TargetMode="External"/><Relationship Id="rId55" Type="http://schemas.openxmlformats.org/officeDocument/2006/relationships/image" Target="../media/image228.png"/><Relationship Id="rId56" Type="http://schemas.openxmlformats.org/officeDocument/2006/relationships/image" Target="../media/image22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6.png"/><Relationship Id="rId9" Type="http://schemas.openxmlformats.org/officeDocument/2006/relationships/image" Target="../media/image237.png"/><Relationship Id="rId10" Type="http://schemas.openxmlformats.org/officeDocument/2006/relationships/image" Target="../media/image238.png"/><Relationship Id="rId11" Type="http://schemas.openxmlformats.org/officeDocument/2006/relationships/image" Target="../media/image239.png"/><Relationship Id="rId12" Type="http://schemas.openxmlformats.org/officeDocument/2006/relationships/image" Target="../media/image240.png"/><Relationship Id="rId13" Type="http://schemas.openxmlformats.org/officeDocument/2006/relationships/image" Target="../media/image241.png"/><Relationship Id="rId14" Type="http://schemas.openxmlformats.org/officeDocument/2006/relationships/image" Target="../media/image242.png"/><Relationship Id="rId15" Type="http://schemas.openxmlformats.org/officeDocument/2006/relationships/image" Target="../media/image243.png"/><Relationship Id="rId16" Type="http://schemas.openxmlformats.org/officeDocument/2006/relationships/image" Target="../media/image244.png"/><Relationship Id="rId17" Type="http://schemas.openxmlformats.org/officeDocument/2006/relationships/image" Target="../media/image245.png"/><Relationship Id="rId18" Type="http://schemas.openxmlformats.org/officeDocument/2006/relationships/image" Target="../media/image246.png"/><Relationship Id="rId19" Type="http://schemas.openxmlformats.org/officeDocument/2006/relationships/image" Target="../media/image247.png"/><Relationship Id="rId20" Type="http://schemas.openxmlformats.org/officeDocument/2006/relationships/image" Target="../media/image248.png"/><Relationship Id="rId21" Type="http://schemas.openxmlformats.org/officeDocument/2006/relationships/image" Target="../media/image249.png"/><Relationship Id="rId22" Type="http://schemas.openxmlformats.org/officeDocument/2006/relationships/image" Target="../media/image250.png"/><Relationship Id="rId23" Type="http://schemas.openxmlformats.org/officeDocument/2006/relationships/image" Target="../media/image251.png"/><Relationship Id="rId24" Type="http://schemas.openxmlformats.org/officeDocument/2006/relationships/image" Target="../media/image252.png"/><Relationship Id="rId25" Type="http://schemas.openxmlformats.org/officeDocument/2006/relationships/image" Target="../media/image253.png"/><Relationship Id="rId26" Type="http://schemas.openxmlformats.org/officeDocument/2006/relationships/image" Target="../media/image254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5.jpg"/><Relationship Id="rId3" Type="http://schemas.openxmlformats.org/officeDocument/2006/relationships/image" Target="../media/image256.jpg"/><Relationship Id="rId4" Type="http://schemas.openxmlformats.org/officeDocument/2006/relationships/image" Target="../media/image257.jpg"/><Relationship Id="rId5" Type="http://schemas.openxmlformats.org/officeDocument/2006/relationships/image" Target="../media/image258.jpg"/><Relationship Id="rId6" Type="http://schemas.openxmlformats.org/officeDocument/2006/relationships/image" Target="../media/image259.jpg"/><Relationship Id="rId7" Type="http://schemas.openxmlformats.org/officeDocument/2006/relationships/image" Target="../media/image260.jpg"/><Relationship Id="rId8" Type="http://schemas.openxmlformats.org/officeDocument/2006/relationships/image" Target="../media/image261.jpg"/><Relationship Id="rId9" Type="http://schemas.openxmlformats.org/officeDocument/2006/relationships/image" Target="../media/image262.jpg"/><Relationship Id="rId10" Type="http://schemas.openxmlformats.org/officeDocument/2006/relationships/image" Target="../media/image263.jpg"/><Relationship Id="rId11" Type="http://schemas.openxmlformats.org/officeDocument/2006/relationships/image" Target="../media/image26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5.jpg"/><Relationship Id="rId3" Type="http://schemas.openxmlformats.org/officeDocument/2006/relationships/image" Target="../media/image263.jpg"/><Relationship Id="rId4" Type="http://schemas.openxmlformats.org/officeDocument/2006/relationships/image" Target="../media/image266.jpg"/><Relationship Id="rId5" Type="http://schemas.openxmlformats.org/officeDocument/2006/relationships/image" Target="../media/image267.jpg"/><Relationship Id="rId6" Type="http://schemas.openxmlformats.org/officeDocument/2006/relationships/image" Target="../media/image268.jpg"/><Relationship Id="rId7" Type="http://schemas.openxmlformats.org/officeDocument/2006/relationships/image" Target="../media/image269.jpg"/><Relationship Id="rId8" Type="http://schemas.openxmlformats.org/officeDocument/2006/relationships/image" Target="../media/image270.jpg"/><Relationship Id="rId9" Type="http://schemas.openxmlformats.org/officeDocument/2006/relationships/image" Target="../media/image271.jpg"/><Relationship Id="rId10" Type="http://schemas.openxmlformats.org/officeDocument/2006/relationships/image" Target="../media/image272.jpg"/><Relationship Id="rId11" Type="http://schemas.openxmlformats.org/officeDocument/2006/relationships/image" Target="../media/image273.jpg"/><Relationship Id="rId12" Type="http://schemas.openxmlformats.org/officeDocument/2006/relationships/image" Target="../media/image274.png"/><Relationship Id="rId13" Type="http://schemas.openxmlformats.org/officeDocument/2006/relationships/image" Target="../media/image275.png"/><Relationship Id="rId14" Type="http://schemas.openxmlformats.org/officeDocument/2006/relationships/image" Target="../media/image276.jpg"/><Relationship Id="rId15" Type="http://schemas.openxmlformats.org/officeDocument/2006/relationships/image" Target="../media/image277.jpg"/><Relationship Id="rId16" Type="http://schemas.openxmlformats.org/officeDocument/2006/relationships/image" Target="../media/image278.jpg"/><Relationship Id="rId17" Type="http://schemas.openxmlformats.org/officeDocument/2006/relationships/image" Target="../media/image27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0.png"/><Relationship Id="rId3" Type="http://schemas.openxmlformats.org/officeDocument/2006/relationships/image" Target="../media/image281.png"/><Relationship Id="rId4" Type="http://schemas.openxmlformats.org/officeDocument/2006/relationships/image" Target="../media/image282.png"/><Relationship Id="rId5" Type="http://schemas.openxmlformats.org/officeDocument/2006/relationships/image" Target="../media/image283.png"/><Relationship Id="rId6" Type="http://schemas.openxmlformats.org/officeDocument/2006/relationships/image" Target="../media/image284.jpg"/><Relationship Id="rId7" Type="http://schemas.openxmlformats.org/officeDocument/2006/relationships/image" Target="../media/image285.png"/><Relationship Id="rId8" Type="http://schemas.openxmlformats.org/officeDocument/2006/relationships/image" Target="../media/image286.png"/><Relationship Id="rId9" Type="http://schemas.openxmlformats.org/officeDocument/2006/relationships/image" Target="../media/image287.png"/><Relationship Id="rId10" Type="http://schemas.openxmlformats.org/officeDocument/2006/relationships/image" Target="../media/image288.png"/><Relationship Id="rId11" Type="http://schemas.openxmlformats.org/officeDocument/2006/relationships/image" Target="../media/image28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0.jpg"/><Relationship Id="rId3" Type="http://schemas.openxmlformats.org/officeDocument/2006/relationships/image" Target="../media/image291.png"/><Relationship Id="rId4" Type="http://schemas.openxmlformats.org/officeDocument/2006/relationships/image" Target="../media/image29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8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9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0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jp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7.png"/><Relationship Id="rId3" Type="http://schemas.openxmlformats.org/officeDocument/2006/relationships/image" Target="../media/image318.png"/><Relationship Id="rId4" Type="http://schemas.openxmlformats.org/officeDocument/2006/relationships/image" Target="../media/image319.jpg"/><Relationship Id="rId5" Type="http://schemas.openxmlformats.org/officeDocument/2006/relationships/image" Target="../media/image320.jpg"/><Relationship Id="rId6" Type="http://schemas.openxmlformats.org/officeDocument/2006/relationships/image" Target="../media/image321.jpg"/><Relationship Id="rId7" Type="http://schemas.openxmlformats.org/officeDocument/2006/relationships/image" Target="../media/image322.jpg"/><Relationship Id="rId8" Type="http://schemas.openxmlformats.org/officeDocument/2006/relationships/image" Target="../media/image323.png"/><Relationship Id="rId9" Type="http://schemas.openxmlformats.org/officeDocument/2006/relationships/image" Target="../media/image324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5.png"/><Relationship Id="rId3" Type="http://schemas.openxmlformats.org/officeDocument/2006/relationships/image" Target="../media/image326.jpg"/><Relationship Id="rId4" Type="http://schemas.openxmlformats.org/officeDocument/2006/relationships/image" Target="../media/image327.png"/><Relationship Id="rId5" Type="http://schemas.openxmlformats.org/officeDocument/2006/relationships/image" Target="../media/image328.jpg"/><Relationship Id="rId6" Type="http://schemas.openxmlformats.org/officeDocument/2006/relationships/image" Target="../media/image329.png"/><Relationship Id="rId7" Type="http://schemas.openxmlformats.org/officeDocument/2006/relationships/image" Target="../media/image330.jpg"/><Relationship Id="rId8" Type="http://schemas.openxmlformats.org/officeDocument/2006/relationships/image" Target="../media/image331.png"/><Relationship Id="rId9" Type="http://schemas.openxmlformats.org/officeDocument/2006/relationships/image" Target="../media/image332.png"/><Relationship Id="rId10" Type="http://schemas.openxmlformats.org/officeDocument/2006/relationships/image" Target="../media/image333.jpg"/><Relationship Id="rId11" Type="http://schemas.openxmlformats.org/officeDocument/2006/relationships/image" Target="../media/image334.png"/><Relationship Id="rId12" Type="http://schemas.openxmlformats.org/officeDocument/2006/relationships/image" Target="../media/image335.png"/><Relationship Id="rId13" Type="http://schemas.openxmlformats.org/officeDocument/2006/relationships/image" Target="../media/image336.png"/><Relationship Id="rId14" Type="http://schemas.openxmlformats.org/officeDocument/2006/relationships/image" Target="../media/image337.png"/><Relationship Id="rId15" Type="http://schemas.openxmlformats.org/officeDocument/2006/relationships/image" Target="../media/image338.jpg"/><Relationship Id="rId16" Type="http://schemas.openxmlformats.org/officeDocument/2006/relationships/image" Target="../media/image339.png"/><Relationship Id="rId17" Type="http://schemas.openxmlformats.org/officeDocument/2006/relationships/image" Target="../media/image340.png"/><Relationship Id="rId18" Type="http://schemas.openxmlformats.org/officeDocument/2006/relationships/image" Target="../media/image341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2.png"/><Relationship Id="rId3" Type="http://schemas.openxmlformats.org/officeDocument/2006/relationships/image" Target="../media/image343.png"/><Relationship Id="rId4" Type="http://schemas.openxmlformats.org/officeDocument/2006/relationships/image" Target="../media/image344.png"/><Relationship Id="rId5" Type="http://schemas.openxmlformats.org/officeDocument/2006/relationships/image" Target="../media/image345.png"/><Relationship Id="rId6" Type="http://schemas.openxmlformats.org/officeDocument/2006/relationships/image" Target="../media/image346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7.png"/><Relationship Id="rId3" Type="http://schemas.openxmlformats.org/officeDocument/2006/relationships/image" Target="../media/image348.png"/><Relationship Id="rId4" Type="http://schemas.openxmlformats.org/officeDocument/2006/relationships/image" Target="../media/image349.png"/><Relationship Id="rId5" Type="http://schemas.openxmlformats.org/officeDocument/2006/relationships/image" Target="../media/image350.png"/><Relationship Id="rId6" Type="http://schemas.openxmlformats.org/officeDocument/2006/relationships/image" Target="../media/image351.png"/><Relationship Id="rId7" Type="http://schemas.openxmlformats.org/officeDocument/2006/relationships/image" Target="../media/image352.png"/><Relationship Id="rId8" Type="http://schemas.openxmlformats.org/officeDocument/2006/relationships/image" Target="../media/image353.png"/><Relationship Id="rId9" Type="http://schemas.openxmlformats.org/officeDocument/2006/relationships/image" Target="../media/image354.png"/><Relationship Id="rId10" Type="http://schemas.openxmlformats.org/officeDocument/2006/relationships/image" Target="../media/image355.png"/><Relationship Id="rId11" Type="http://schemas.openxmlformats.org/officeDocument/2006/relationships/image" Target="../media/image356.png"/><Relationship Id="rId12" Type="http://schemas.openxmlformats.org/officeDocument/2006/relationships/image" Target="../media/image357.png"/><Relationship Id="rId13" Type="http://schemas.openxmlformats.org/officeDocument/2006/relationships/image" Target="../media/image358.png"/><Relationship Id="rId14" Type="http://schemas.openxmlformats.org/officeDocument/2006/relationships/image" Target="../media/image359.png"/><Relationship Id="rId15" Type="http://schemas.openxmlformats.org/officeDocument/2006/relationships/image" Target="../media/image360.png"/><Relationship Id="rId16" Type="http://schemas.openxmlformats.org/officeDocument/2006/relationships/image" Target="../media/image361.png"/><Relationship Id="rId17" Type="http://schemas.openxmlformats.org/officeDocument/2006/relationships/image" Target="../media/image362.png"/><Relationship Id="rId18" Type="http://schemas.openxmlformats.org/officeDocument/2006/relationships/image" Target="../media/image363.png"/><Relationship Id="rId19" Type="http://schemas.openxmlformats.org/officeDocument/2006/relationships/image" Target="../media/image364.png"/><Relationship Id="rId20" Type="http://schemas.openxmlformats.org/officeDocument/2006/relationships/image" Target="../media/image365.png"/><Relationship Id="rId21" Type="http://schemas.openxmlformats.org/officeDocument/2006/relationships/image" Target="../media/image366.png"/><Relationship Id="rId22" Type="http://schemas.openxmlformats.org/officeDocument/2006/relationships/image" Target="../media/image367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8.png"/><Relationship Id="rId3" Type="http://schemas.openxmlformats.org/officeDocument/2006/relationships/image" Target="../media/image369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0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1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2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3.png"/><Relationship Id="rId3" Type="http://schemas.openxmlformats.org/officeDocument/2006/relationships/image" Target="../media/image374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5.png"/><Relationship Id="rId3" Type="http://schemas.openxmlformats.org/officeDocument/2006/relationships/image" Target="../media/image376.png"/><Relationship Id="rId4" Type="http://schemas.openxmlformats.org/officeDocument/2006/relationships/image" Target="../media/image377.png"/><Relationship Id="rId5" Type="http://schemas.openxmlformats.org/officeDocument/2006/relationships/image" Target="../media/image378.png"/><Relationship Id="rId6" Type="http://schemas.openxmlformats.org/officeDocument/2006/relationships/image" Target="../media/image379.png"/><Relationship Id="rId7" Type="http://schemas.openxmlformats.org/officeDocument/2006/relationships/image" Target="../media/image380.png"/><Relationship Id="rId8" Type="http://schemas.openxmlformats.org/officeDocument/2006/relationships/image" Target="../media/image381.png"/><Relationship Id="rId9" Type="http://schemas.openxmlformats.org/officeDocument/2006/relationships/image" Target="../media/image382.png"/><Relationship Id="rId10" Type="http://schemas.openxmlformats.org/officeDocument/2006/relationships/image" Target="../media/image383.png"/><Relationship Id="rId11" Type="http://schemas.openxmlformats.org/officeDocument/2006/relationships/image" Target="../media/image384.png"/><Relationship Id="rId12" Type="http://schemas.openxmlformats.org/officeDocument/2006/relationships/image" Target="../media/image385.png"/><Relationship Id="rId13" Type="http://schemas.openxmlformats.org/officeDocument/2006/relationships/image" Target="../media/image386.png"/><Relationship Id="rId14" Type="http://schemas.openxmlformats.org/officeDocument/2006/relationships/image" Target="../media/image387.png"/><Relationship Id="rId15" Type="http://schemas.openxmlformats.org/officeDocument/2006/relationships/image" Target="../media/image388.png"/><Relationship Id="rId16" Type="http://schemas.openxmlformats.org/officeDocument/2006/relationships/image" Target="../media/image389.png"/><Relationship Id="rId17" Type="http://schemas.openxmlformats.org/officeDocument/2006/relationships/image" Target="../media/image390.png"/><Relationship Id="rId18" Type="http://schemas.openxmlformats.org/officeDocument/2006/relationships/image" Target="../media/image391.png"/><Relationship Id="rId19" Type="http://schemas.openxmlformats.org/officeDocument/2006/relationships/image" Target="../media/image392.png"/><Relationship Id="rId20" Type="http://schemas.openxmlformats.org/officeDocument/2006/relationships/image" Target="../media/image393.png"/><Relationship Id="rId21" Type="http://schemas.openxmlformats.org/officeDocument/2006/relationships/image" Target="../media/image394.png"/><Relationship Id="rId22" Type="http://schemas.openxmlformats.org/officeDocument/2006/relationships/image" Target="../media/image395.png"/><Relationship Id="rId23" Type="http://schemas.openxmlformats.org/officeDocument/2006/relationships/image" Target="../media/image396.png"/><Relationship Id="rId24" Type="http://schemas.openxmlformats.org/officeDocument/2006/relationships/image" Target="../media/image397.png"/><Relationship Id="rId25" Type="http://schemas.openxmlformats.org/officeDocument/2006/relationships/image" Target="../media/image398.png"/><Relationship Id="rId26" Type="http://schemas.openxmlformats.org/officeDocument/2006/relationships/image" Target="../media/image399.png"/><Relationship Id="rId27" Type="http://schemas.openxmlformats.org/officeDocument/2006/relationships/image" Target="../media/image400.png"/><Relationship Id="rId28" Type="http://schemas.openxmlformats.org/officeDocument/2006/relationships/image" Target="../media/image401.png"/><Relationship Id="rId29" Type="http://schemas.openxmlformats.org/officeDocument/2006/relationships/image" Target="../media/image402.png"/><Relationship Id="rId30" Type="http://schemas.openxmlformats.org/officeDocument/2006/relationships/image" Target="../media/image403.png"/><Relationship Id="rId31" Type="http://schemas.openxmlformats.org/officeDocument/2006/relationships/image" Target="../media/image404.png"/><Relationship Id="rId32" Type="http://schemas.openxmlformats.org/officeDocument/2006/relationships/image" Target="../media/image405.png"/><Relationship Id="rId33" Type="http://schemas.openxmlformats.org/officeDocument/2006/relationships/image" Target="../media/image406.png"/><Relationship Id="rId34" Type="http://schemas.openxmlformats.org/officeDocument/2006/relationships/image" Target="../media/image407.png"/><Relationship Id="rId35" Type="http://schemas.openxmlformats.org/officeDocument/2006/relationships/image" Target="../media/image408.png"/><Relationship Id="rId36" Type="http://schemas.openxmlformats.org/officeDocument/2006/relationships/image" Target="../media/image409.png"/><Relationship Id="rId37" Type="http://schemas.openxmlformats.org/officeDocument/2006/relationships/image" Target="../media/image410.png"/><Relationship Id="rId38" Type="http://schemas.openxmlformats.org/officeDocument/2006/relationships/image" Target="../media/image411.png"/><Relationship Id="rId39" Type="http://schemas.openxmlformats.org/officeDocument/2006/relationships/image" Target="../media/image412.png"/><Relationship Id="rId40" Type="http://schemas.openxmlformats.org/officeDocument/2006/relationships/image" Target="../media/image413.png"/><Relationship Id="rId41" Type="http://schemas.openxmlformats.org/officeDocument/2006/relationships/image" Target="../media/image414.png"/><Relationship Id="rId42" Type="http://schemas.openxmlformats.org/officeDocument/2006/relationships/image" Target="../media/image415.png"/><Relationship Id="rId43" Type="http://schemas.openxmlformats.org/officeDocument/2006/relationships/image" Target="../media/image416.png"/><Relationship Id="rId44" Type="http://schemas.openxmlformats.org/officeDocument/2006/relationships/image" Target="../media/image417.png"/><Relationship Id="rId45" Type="http://schemas.openxmlformats.org/officeDocument/2006/relationships/image" Target="../media/image418.png"/><Relationship Id="rId46" Type="http://schemas.openxmlformats.org/officeDocument/2006/relationships/image" Target="../media/image419.png"/><Relationship Id="rId47" Type="http://schemas.openxmlformats.org/officeDocument/2006/relationships/image" Target="../media/image420.png"/><Relationship Id="rId48" Type="http://schemas.openxmlformats.org/officeDocument/2006/relationships/image" Target="../media/image421.png"/><Relationship Id="rId49" Type="http://schemas.openxmlformats.org/officeDocument/2006/relationships/image" Target="../media/image422.png"/><Relationship Id="rId50" Type="http://schemas.openxmlformats.org/officeDocument/2006/relationships/image" Target="../media/image423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4.png"/><Relationship Id="rId3" Type="http://schemas.openxmlformats.org/officeDocument/2006/relationships/image" Target="../media/image425.png"/><Relationship Id="rId4" Type="http://schemas.openxmlformats.org/officeDocument/2006/relationships/image" Target="../media/image426.png"/><Relationship Id="rId5" Type="http://schemas.openxmlformats.org/officeDocument/2006/relationships/image" Target="../media/image427.png"/><Relationship Id="rId6" Type="http://schemas.openxmlformats.org/officeDocument/2006/relationships/image" Target="../media/image428.png"/><Relationship Id="rId7" Type="http://schemas.openxmlformats.org/officeDocument/2006/relationships/image" Target="../media/image429.png"/><Relationship Id="rId8" Type="http://schemas.openxmlformats.org/officeDocument/2006/relationships/image" Target="../media/image430.png"/><Relationship Id="rId9" Type="http://schemas.openxmlformats.org/officeDocument/2006/relationships/image" Target="../media/image431.png"/><Relationship Id="rId10" Type="http://schemas.openxmlformats.org/officeDocument/2006/relationships/image" Target="../media/image432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3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4.png"/><Relationship Id="rId3" Type="http://schemas.openxmlformats.org/officeDocument/2006/relationships/image" Target="../media/image435.png"/><Relationship Id="rId4" Type="http://schemas.openxmlformats.org/officeDocument/2006/relationships/image" Target="../media/image436.png"/><Relationship Id="rId5" Type="http://schemas.openxmlformats.org/officeDocument/2006/relationships/image" Target="../media/image437.png"/><Relationship Id="rId6" Type="http://schemas.openxmlformats.org/officeDocument/2006/relationships/image" Target="../media/image438.png"/><Relationship Id="rId7" Type="http://schemas.openxmlformats.org/officeDocument/2006/relationships/image" Target="../media/image439.png"/><Relationship Id="rId8" Type="http://schemas.openxmlformats.org/officeDocument/2006/relationships/image" Target="../media/image440.png"/><Relationship Id="rId9" Type="http://schemas.openxmlformats.org/officeDocument/2006/relationships/image" Target="../media/image441.png"/><Relationship Id="rId10" Type="http://schemas.openxmlformats.org/officeDocument/2006/relationships/image" Target="../media/image442.png"/><Relationship Id="rId11" Type="http://schemas.openxmlformats.org/officeDocument/2006/relationships/image" Target="../media/image443.png"/><Relationship Id="rId12" Type="http://schemas.openxmlformats.org/officeDocument/2006/relationships/image" Target="../media/image444.png"/><Relationship Id="rId13" Type="http://schemas.openxmlformats.org/officeDocument/2006/relationships/image" Target="../media/image445.png"/><Relationship Id="rId14" Type="http://schemas.openxmlformats.org/officeDocument/2006/relationships/image" Target="../media/image446.png"/><Relationship Id="rId15" Type="http://schemas.openxmlformats.org/officeDocument/2006/relationships/image" Target="../media/image447.png"/><Relationship Id="rId16" Type="http://schemas.openxmlformats.org/officeDocument/2006/relationships/image" Target="../media/image448.png"/><Relationship Id="rId17" Type="http://schemas.openxmlformats.org/officeDocument/2006/relationships/image" Target="../media/image449.png"/><Relationship Id="rId18" Type="http://schemas.openxmlformats.org/officeDocument/2006/relationships/image" Target="../media/image450.png"/><Relationship Id="rId19" Type="http://schemas.openxmlformats.org/officeDocument/2006/relationships/image" Target="../media/image451.png"/><Relationship Id="rId20" Type="http://schemas.openxmlformats.org/officeDocument/2006/relationships/image" Target="../media/image452.png"/><Relationship Id="rId21" Type="http://schemas.openxmlformats.org/officeDocument/2006/relationships/image" Target="../media/image453.png"/><Relationship Id="rId22" Type="http://schemas.openxmlformats.org/officeDocument/2006/relationships/image" Target="../media/image454.jpg"/><Relationship Id="rId23" Type="http://schemas.openxmlformats.org/officeDocument/2006/relationships/image" Target="../media/image455.jpg"/><Relationship Id="rId24" Type="http://schemas.openxmlformats.org/officeDocument/2006/relationships/image" Target="../media/image456.png"/><Relationship Id="rId25" Type="http://schemas.openxmlformats.org/officeDocument/2006/relationships/image" Target="../media/image457.jpg"/><Relationship Id="rId26" Type="http://schemas.openxmlformats.org/officeDocument/2006/relationships/image" Target="../media/image458.jpg"/><Relationship Id="rId27" Type="http://schemas.openxmlformats.org/officeDocument/2006/relationships/image" Target="../media/image459.jpg"/><Relationship Id="rId28" Type="http://schemas.openxmlformats.org/officeDocument/2006/relationships/image" Target="../media/image460.png"/><Relationship Id="rId29" Type="http://schemas.openxmlformats.org/officeDocument/2006/relationships/image" Target="../media/image461.png"/><Relationship Id="rId30" Type="http://schemas.openxmlformats.org/officeDocument/2006/relationships/image" Target="../media/image462.png"/><Relationship Id="rId31" Type="http://schemas.openxmlformats.org/officeDocument/2006/relationships/image" Target="../media/image463.png"/><Relationship Id="rId32" Type="http://schemas.openxmlformats.org/officeDocument/2006/relationships/image" Target="../media/image464.png"/><Relationship Id="rId33" Type="http://schemas.openxmlformats.org/officeDocument/2006/relationships/image" Target="../media/image465.png"/><Relationship Id="rId34" Type="http://schemas.openxmlformats.org/officeDocument/2006/relationships/image" Target="../media/image466.png"/><Relationship Id="rId35" Type="http://schemas.openxmlformats.org/officeDocument/2006/relationships/image" Target="../media/image467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8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9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0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1.png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jp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jpg"/><Relationship Id="rId13" Type="http://schemas.openxmlformats.org/officeDocument/2006/relationships/image" Target="../media/image482.png"/><Relationship Id="rId14" Type="http://schemas.openxmlformats.org/officeDocument/2006/relationships/image" Target="../media/image483.png"/><Relationship Id="rId15" Type="http://schemas.openxmlformats.org/officeDocument/2006/relationships/image" Target="../media/image484.png"/><Relationship Id="rId16" Type="http://schemas.openxmlformats.org/officeDocument/2006/relationships/image" Target="../media/image485.png"/><Relationship Id="rId17" Type="http://schemas.openxmlformats.org/officeDocument/2006/relationships/image" Target="../media/image486.png"/><Relationship Id="rId18" Type="http://schemas.openxmlformats.org/officeDocument/2006/relationships/image" Target="../media/image487.png"/><Relationship Id="rId19" Type="http://schemas.openxmlformats.org/officeDocument/2006/relationships/image" Target="../media/image488.png"/><Relationship Id="rId20" Type="http://schemas.openxmlformats.org/officeDocument/2006/relationships/image" Target="../media/image489.png"/><Relationship Id="rId21" Type="http://schemas.openxmlformats.org/officeDocument/2006/relationships/image" Target="../media/image490.png"/><Relationship Id="rId22" Type="http://schemas.openxmlformats.org/officeDocument/2006/relationships/image" Target="../media/image491.png"/><Relationship Id="rId23" Type="http://schemas.openxmlformats.org/officeDocument/2006/relationships/image" Target="../media/image492.png"/><Relationship Id="rId24" Type="http://schemas.openxmlformats.org/officeDocument/2006/relationships/image" Target="../media/image493.jpg"/><Relationship Id="rId25" Type="http://schemas.openxmlformats.org/officeDocument/2006/relationships/image" Target="../media/image494.png"/><Relationship Id="rId26" Type="http://schemas.openxmlformats.org/officeDocument/2006/relationships/image" Target="../media/image495.jpg"/><Relationship Id="rId27" Type="http://schemas.openxmlformats.org/officeDocument/2006/relationships/image" Target="../media/image496.png"/><Relationship Id="rId28" Type="http://schemas.openxmlformats.org/officeDocument/2006/relationships/image" Target="../media/image497.png"/><Relationship Id="rId29" Type="http://schemas.openxmlformats.org/officeDocument/2006/relationships/image" Target="../media/image498.png"/><Relationship Id="rId30" Type="http://schemas.openxmlformats.org/officeDocument/2006/relationships/image" Target="../media/image499.png"/><Relationship Id="rId31" Type="http://schemas.openxmlformats.org/officeDocument/2006/relationships/image" Target="../media/image500.png"/><Relationship Id="rId32" Type="http://schemas.openxmlformats.org/officeDocument/2006/relationships/image" Target="../media/image501.png"/><Relationship Id="rId33" Type="http://schemas.openxmlformats.org/officeDocument/2006/relationships/image" Target="../media/image502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3.png"/><Relationship Id="rId3" Type="http://schemas.openxmlformats.org/officeDocument/2006/relationships/image" Target="../media/image504.png"/><Relationship Id="rId4" Type="http://schemas.openxmlformats.org/officeDocument/2006/relationships/image" Target="../media/image505.png"/><Relationship Id="rId5" Type="http://schemas.openxmlformats.org/officeDocument/2006/relationships/image" Target="../media/image506.png"/><Relationship Id="rId6" Type="http://schemas.openxmlformats.org/officeDocument/2006/relationships/image" Target="../media/image507.png"/><Relationship Id="rId7" Type="http://schemas.openxmlformats.org/officeDocument/2006/relationships/image" Target="../media/image508.png"/><Relationship Id="rId8" Type="http://schemas.openxmlformats.org/officeDocument/2006/relationships/image" Target="../media/image509.png"/><Relationship Id="rId9" Type="http://schemas.openxmlformats.org/officeDocument/2006/relationships/image" Target="../media/image510.png"/><Relationship Id="rId10" Type="http://schemas.openxmlformats.org/officeDocument/2006/relationships/image" Target="../media/image511.png"/><Relationship Id="rId11" Type="http://schemas.openxmlformats.org/officeDocument/2006/relationships/image" Target="../media/image512.png"/><Relationship Id="rId12" Type="http://schemas.openxmlformats.org/officeDocument/2006/relationships/image" Target="../media/image513.png"/><Relationship Id="rId13" Type="http://schemas.openxmlformats.org/officeDocument/2006/relationships/image" Target="../media/image514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5.jpg"/><Relationship Id="rId3" Type="http://schemas.openxmlformats.org/officeDocument/2006/relationships/image" Target="../media/image516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7.png"/><Relationship Id="rId3" Type="http://schemas.openxmlformats.org/officeDocument/2006/relationships/image" Target="../media/image518.png"/><Relationship Id="rId4" Type="http://schemas.openxmlformats.org/officeDocument/2006/relationships/image" Target="../media/image519.png"/><Relationship Id="rId5" Type="http://schemas.openxmlformats.org/officeDocument/2006/relationships/image" Target="../media/image520.png"/><Relationship Id="rId6" Type="http://schemas.openxmlformats.org/officeDocument/2006/relationships/image" Target="../media/image521.jpg"/><Relationship Id="rId7" Type="http://schemas.openxmlformats.org/officeDocument/2006/relationships/image" Target="../media/image522.png"/><Relationship Id="rId8" Type="http://schemas.openxmlformats.org/officeDocument/2006/relationships/image" Target="../media/image523.png"/><Relationship Id="rId9" Type="http://schemas.openxmlformats.org/officeDocument/2006/relationships/image" Target="../media/image524.png"/><Relationship Id="rId10" Type="http://schemas.openxmlformats.org/officeDocument/2006/relationships/image" Target="../media/image525.png"/><Relationship Id="rId11" Type="http://schemas.openxmlformats.org/officeDocument/2006/relationships/image" Target="../media/image526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27.png"/><Relationship Id="rId3" Type="http://schemas.openxmlformats.org/officeDocument/2006/relationships/image" Target="../media/image528.png"/><Relationship Id="rId4" Type="http://schemas.openxmlformats.org/officeDocument/2006/relationships/image" Target="../media/image529.png"/><Relationship Id="rId5" Type="http://schemas.openxmlformats.org/officeDocument/2006/relationships/image" Target="../media/image530.png"/><Relationship Id="rId6" Type="http://schemas.openxmlformats.org/officeDocument/2006/relationships/image" Target="../media/image531.png"/><Relationship Id="rId7" Type="http://schemas.openxmlformats.org/officeDocument/2006/relationships/image" Target="../media/image532.png"/><Relationship Id="rId8" Type="http://schemas.openxmlformats.org/officeDocument/2006/relationships/image" Target="../media/image533.png"/><Relationship Id="rId9" Type="http://schemas.openxmlformats.org/officeDocument/2006/relationships/image" Target="../media/image534.png"/><Relationship Id="rId10" Type="http://schemas.openxmlformats.org/officeDocument/2006/relationships/image" Target="../media/image535.png"/><Relationship Id="rId11" Type="http://schemas.openxmlformats.org/officeDocument/2006/relationships/image" Target="../media/image536.png"/><Relationship Id="rId12" Type="http://schemas.openxmlformats.org/officeDocument/2006/relationships/image" Target="../media/image537.png"/><Relationship Id="rId13" Type="http://schemas.openxmlformats.org/officeDocument/2006/relationships/image" Target="../media/image538.png"/><Relationship Id="rId14" Type="http://schemas.openxmlformats.org/officeDocument/2006/relationships/image" Target="../media/image539.png"/><Relationship Id="rId15" Type="http://schemas.openxmlformats.org/officeDocument/2006/relationships/image" Target="../media/image540.png"/><Relationship Id="rId16" Type="http://schemas.openxmlformats.org/officeDocument/2006/relationships/image" Target="../media/image541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2.jpg"/><Relationship Id="rId3" Type="http://schemas.openxmlformats.org/officeDocument/2006/relationships/image" Target="../media/image543.jpg"/><Relationship Id="rId4" Type="http://schemas.openxmlformats.org/officeDocument/2006/relationships/image" Target="../media/image544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5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6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7.png"/><Relationship Id="rId3" Type="http://schemas.openxmlformats.org/officeDocument/2006/relationships/image" Target="../media/image548.png"/><Relationship Id="rId4" Type="http://schemas.openxmlformats.org/officeDocument/2006/relationships/image" Target="../media/image549.jpg"/><Relationship Id="rId5" Type="http://schemas.openxmlformats.org/officeDocument/2006/relationships/image" Target="../media/image550.png"/><Relationship Id="rId6" Type="http://schemas.openxmlformats.org/officeDocument/2006/relationships/image" Target="../media/image551.png"/><Relationship Id="rId7" Type="http://schemas.openxmlformats.org/officeDocument/2006/relationships/image" Target="../media/image552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3.png"/><Relationship Id="rId3" Type="http://schemas.openxmlformats.org/officeDocument/2006/relationships/image" Target="../media/image554.png"/><Relationship Id="rId4" Type="http://schemas.openxmlformats.org/officeDocument/2006/relationships/image" Target="../media/image555.png"/><Relationship Id="rId5" Type="http://schemas.openxmlformats.org/officeDocument/2006/relationships/image" Target="../media/image556.png"/><Relationship Id="rId6" Type="http://schemas.openxmlformats.org/officeDocument/2006/relationships/image" Target="../media/image557.png"/><Relationship Id="rId7" Type="http://schemas.openxmlformats.org/officeDocument/2006/relationships/image" Target="../media/image558.png"/><Relationship Id="rId8" Type="http://schemas.openxmlformats.org/officeDocument/2006/relationships/image" Target="../media/image559.png"/><Relationship Id="rId9" Type="http://schemas.openxmlformats.org/officeDocument/2006/relationships/image" Target="../media/image560.png"/><Relationship Id="rId10" Type="http://schemas.openxmlformats.org/officeDocument/2006/relationships/image" Target="../media/image561.png"/><Relationship Id="rId11" Type="http://schemas.openxmlformats.org/officeDocument/2006/relationships/image" Target="../media/image562.png"/><Relationship Id="rId12" Type="http://schemas.openxmlformats.org/officeDocument/2006/relationships/image" Target="../media/image563.png"/><Relationship Id="rId13" Type="http://schemas.openxmlformats.org/officeDocument/2006/relationships/image" Target="../media/image564.png"/><Relationship Id="rId14" Type="http://schemas.openxmlformats.org/officeDocument/2006/relationships/image" Target="../media/image565.png"/><Relationship Id="rId15" Type="http://schemas.openxmlformats.org/officeDocument/2006/relationships/image" Target="../media/image566.png"/><Relationship Id="rId16" Type="http://schemas.openxmlformats.org/officeDocument/2006/relationships/image" Target="../media/image567.png"/><Relationship Id="rId17" Type="http://schemas.openxmlformats.org/officeDocument/2006/relationships/image" Target="../media/image568.png"/><Relationship Id="rId18" Type="http://schemas.openxmlformats.org/officeDocument/2006/relationships/image" Target="../media/image569.png"/><Relationship Id="rId19" Type="http://schemas.openxmlformats.org/officeDocument/2006/relationships/image" Target="../media/image570.png"/><Relationship Id="rId20" Type="http://schemas.openxmlformats.org/officeDocument/2006/relationships/image" Target="../media/image571.png"/><Relationship Id="rId21" Type="http://schemas.openxmlformats.org/officeDocument/2006/relationships/image" Target="../media/image572.png"/><Relationship Id="rId22" Type="http://schemas.openxmlformats.org/officeDocument/2006/relationships/image" Target="../media/image573.png"/><Relationship Id="rId23" Type="http://schemas.openxmlformats.org/officeDocument/2006/relationships/image" Target="../media/image574.png"/><Relationship Id="rId24" Type="http://schemas.openxmlformats.org/officeDocument/2006/relationships/image" Target="../media/image575.png"/><Relationship Id="rId25" Type="http://schemas.openxmlformats.org/officeDocument/2006/relationships/image" Target="../media/image576.png"/><Relationship Id="rId26" Type="http://schemas.openxmlformats.org/officeDocument/2006/relationships/image" Target="../media/image577.png"/><Relationship Id="rId27" Type="http://schemas.openxmlformats.org/officeDocument/2006/relationships/image" Target="../media/image578.png"/><Relationship Id="rId28" Type="http://schemas.openxmlformats.org/officeDocument/2006/relationships/image" Target="../media/image579.png"/><Relationship Id="rId29" Type="http://schemas.openxmlformats.org/officeDocument/2006/relationships/image" Target="../media/image580.png"/><Relationship Id="rId30" Type="http://schemas.openxmlformats.org/officeDocument/2006/relationships/image" Target="../media/image581.png"/><Relationship Id="rId31" Type="http://schemas.openxmlformats.org/officeDocument/2006/relationships/image" Target="../media/image582.png"/><Relationship Id="rId32" Type="http://schemas.openxmlformats.org/officeDocument/2006/relationships/image" Target="../media/image583.png"/><Relationship Id="rId33" Type="http://schemas.openxmlformats.org/officeDocument/2006/relationships/image" Target="../media/image584.png"/><Relationship Id="rId34" Type="http://schemas.openxmlformats.org/officeDocument/2006/relationships/image" Target="../media/image585.png"/><Relationship Id="rId35" Type="http://schemas.openxmlformats.org/officeDocument/2006/relationships/image" Target="../media/image586.png"/><Relationship Id="rId36" Type="http://schemas.openxmlformats.org/officeDocument/2006/relationships/image" Target="../media/image587.png"/><Relationship Id="rId37" Type="http://schemas.openxmlformats.org/officeDocument/2006/relationships/image" Target="../media/image588.png"/><Relationship Id="rId38" Type="http://schemas.openxmlformats.org/officeDocument/2006/relationships/image" Target="../media/image589.png"/><Relationship Id="rId39" Type="http://schemas.openxmlformats.org/officeDocument/2006/relationships/image" Target="../media/image590.png"/><Relationship Id="rId40" Type="http://schemas.openxmlformats.org/officeDocument/2006/relationships/image" Target="../media/image591.png"/><Relationship Id="rId41" Type="http://schemas.openxmlformats.org/officeDocument/2006/relationships/image" Target="../media/image592.png"/><Relationship Id="rId42" Type="http://schemas.openxmlformats.org/officeDocument/2006/relationships/image" Target="../media/image593.png"/><Relationship Id="rId43" Type="http://schemas.openxmlformats.org/officeDocument/2006/relationships/image" Target="../media/image594.png"/><Relationship Id="rId44" Type="http://schemas.openxmlformats.org/officeDocument/2006/relationships/image" Target="../media/image595.png"/><Relationship Id="rId45" Type="http://schemas.openxmlformats.org/officeDocument/2006/relationships/image" Target="../media/image596.png"/><Relationship Id="rId46" Type="http://schemas.openxmlformats.org/officeDocument/2006/relationships/image" Target="../media/image597.png"/><Relationship Id="rId47" Type="http://schemas.openxmlformats.org/officeDocument/2006/relationships/image" Target="../media/image598.png"/><Relationship Id="rId48" Type="http://schemas.openxmlformats.org/officeDocument/2006/relationships/image" Target="../media/image599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0.png"/><Relationship Id="rId3" Type="http://schemas.openxmlformats.org/officeDocument/2006/relationships/image" Target="../media/image601.png"/><Relationship Id="rId4" Type="http://schemas.openxmlformats.org/officeDocument/2006/relationships/image" Target="../media/image602.png"/><Relationship Id="rId5" Type="http://schemas.openxmlformats.org/officeDocument/2006/relationships/image" Target="../media/image603.png"/><Relationship Id="rId6" Type="http://schemas.openxmlformats.org/officeDocument/2006/relationships/image" Target="../media/image604.png"/><Relationship Id="rId7" Type="http://schemas.openxmlformats.org/officeDocument/2006/relationships/image" Target="../media/image605.png"/><Relationship Id="rId8" Type="http://schemas.openxmlformats.org/officeDocument/2006/relationships/image" Target="../media/image606.png"/><Relationship Id="rId9" Type="http://schemas.openxmlformats.org/officeDocument/2006/relationships/image" Target="../media/image607.png"/><Relationship Id="rId10" Type="http://schemas.openxmlformats.org/officeDocument/2006/relationships/image" Target="../media/image608.png"/><Relationship Id="rId11" Type="http://schemas.openxmlformats.org/officeDocument/2006/relationships/image" Target="../media/image609.png"/><Relationship Id="rId12" Type="http://schemas.openxmlformats.org/officeDocument/2006/relationships/image" Target="../media/image610.png"/><Relationship Id="rId13" Type="http://schemas.openxmlformats.org/officeDocument/2006/relationships/image" Target="../media/image611.png"/><Relationship Id="rId14" Type="http://schemas.openxmlformats.org/officeDocument/2006/relationships/image" Target="../media/image612.png"/><Relationship Id="rId15" Type="http://schemas.openxmlformats.org/officeDocument/2006/relationships/image" Target="../media/image613.png"/><Relationship Id="rId16" Type="http://schemas.openxmlformats.org/officeDocument/2006/relationships/image" Target="../media/image614.png"/><Relationship Id="rId17" Type="http://schemas.openxmlformats.org/officeDocument/2006/relationships/image" Target="../media/image615.png"/><Relationship Id="rId18" Type="http://schemas.openxmlformats.org/officeDocument/2006/relationships/image" Target="../media/image616.png"/><Relationship Id="rId19" Type="http://schemas.openxmlformats.org/officeDocument/2006/relationships/image" Target="../media/image617.png"/><Relationship Id="rId20" Type="http://schemas.openxmlformats.org/officeDocument/2006/relationships/image" Target="../media/image618.png"/><Relationship Id="rId21" Type="http://schemas.openxmlformats.org/officeDocument/2006/relationships/image" Target="../media/image619.png"/><Relationship Id="rId22" Type="http://schemas.openxmlformats.org/officeDocument/2006/relationships/image" Target="../media/image620.png"/><Relationship Id="rId23" Type="http://schemas.openxmlformats.org/officeDocument/2006/relationships/image" Target="../media/image621.png"/><Relationship Id="rId24" Type="http://schemas.openxmlformats.org/officeDocument/2006/relationships/image" Target="../media/image622.png"/><Relationship Id="rId25" Type="http://schemas.openxmlformats.org/officeDocument/2006/relationships/image" Target="../media/image623.png"/><Relationship Id="rId26" Type="http://schemas.openxmlformats.org/officeDocument/2006/relationships/image" Target="../media/image624.png"/><Relationship Id="rId27" Type="http://schemas.openxmlformats.org/officeDocument/2006/relationships/image" Target="../media/image625.png"/><Relationship Id="rId28" Type="http://schemas.openxmlformats.org/officeDocument/2006/relationships/image" Target="../media/image626.png"/><Relationship Id="rId29" Type="http://schemas.openxmlformats.org/officeDocument/2006/relationships/image" Target="../media/image627.png"/><Relationship Id="rId30" Type="http://schemas.openxmlformats.org/officeDocument/2006/relationships/image" Target="../media/image628.png"/><Relationship Id="rId31" Type="http://schemas.openxmlformats.org/officeDocument/2006/relationships/image" Target="../media/image629.png"/><Relationship Id="rId32" Type="http://schemas.openxmlformats.org/officeDocument/2006/relationships/image" Target="../media/image630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1.png"/><Relationship Id="rId3" Type="http://schemas.openxmlformats.org/officeDocument/2006/relationships/image" Target="../media/image631.png"/><Relationship Id="rId4" Type="http://schemas.openxmlformats.org/officeDocument/2006/relationships/image" Target="../media/image632.png"/><Relationship Id="rId5" Type="http://schemas.openxmlformats.org/officeDocument/2006/relationships/image" Target="../media/image633.jpg"/><Relationship Id="rId6" Type="http://schemas.openxmlformats.org/officeDocument/2006/relationships/image" Target="../media/image634.png"/><Relationship Id="rId7" Type="http://schemas.openxmlformats.org/officeDocument/2006/relationships/image" Target="../media/image550.png"/><Relationship Id="rId8" Type="http://schemas.openxmlformats.org/officeDocument/2006/relationships/image" Target="../media/image635.jp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4.png"/><Relationship Id="rId3" Type="http://schemas.openxmlformats.org/officeDocument/2006/relationships/image" Target="../media/image636.png"/><Relationship Id="rId4" Type="http://schemas.openxmlformats.org/officeDocument/2006/relationships/image" Target="../media/image551.png"/><Relationship Id="rId5" Type="http://schemas.openxmlformats.org/officeDocument/2006/relationships/image" Target="../media/image637.png"/><Relationship Id="rId6" Type="http://schemas.openxmlformats.org/officeDocument/2006/relationships/image" Target="../media/image638.png"/><Relationship Id="rId7" Type="http://schemas.openxmlformats.org/officeDocument/2006/relationships/image" Target="../media/image639.png"/><Relationship Id="rId8" Type="http://schemas.openxmlformats.org/officeDocument/2006/relationships/image" Target="../media/image640.png"/><Relationship Id="rId9" Type="http://schemas.openxmlformats.org/officeDocument/2006/relationships/image" Target="../media/image641.png"/><Relationship Id="rId10" Type="http://schemas.openxmlformats.org/officeDocument/2006/relationships/image" Target="../media/image642.png"/><Relationship Id="rId11" Type="http://schemas.openxmlformats.org/officeDocument/2006/relationships/image" Target="../media/image643.png"/><Relationship Id="rId12" Type="http://schemas.openxmlformats.org/officeDocument/2006/relationships/image" Target="../media/image644.png"/><Relationship Id="rId13" Type="http://schemas.openxmlformats.org/officeDocument/2006/relationships/image" Target="../media/image645.png"/><Relationship Id="rId14" Type="http://schemas.openxmlformats.org/officeDocument/2006/relationships/image" Target="../media/image646.png"/><Relationship Id="rId15" Type="http://schemas.openxmlformats.org/officeDocument/2006/relationships/image" Target="../media/image647.png"/><Relationship Id="rId16" Type="http://schemas.openxmlformats.org/officeDocument/2006/relationships/image" Target="../media/image648.png"/><Relationship Id="rId17" Type="http://schemas.openxmlformats.org/officeDocument/2006/relationships/image" Target="../media/image649.png"/><Relationship Id="rId18" Type="http://schemas.openxmlformats.org/officeDocument/2006/relationships/image" Target="../media/image650.png"/><Relationship Id="rId19" Type="http://schemas.openxmlformats.org/officeDocument/2006/relationships/image" Target="../media/image651.png"/><Relationship Id="rId20" Type="http://schemas.openxmlformats.org/officeDocument/2006/relationships/image" Target="../media/image652.png"/><Relationship Id="rId21" Type="http://schemas.openxmlformats.org/officeDocument/2006/relationships/image" Target="../media/image653.png"/><Relationship Id="rId22" Type="http://schemas.openxmlformats.org/officeDocument/2006/relationships/image" Target="../media/image654.png"/><Relationship Id="rId23" Type="http://schemas.openxmlformats.org/officeDocument/2006/relationships/image" Target="../media/image655.png"/><Relationship Id="rId24" Type="http://schemas.openxmlformats.org/officeDocument/2006/relationships/image" Target="../media/image656.png"/><Relationship Id="rId25" Type="http://schemas.openxmlformats.org/officeDocument/2006/relationships/image" Target="../media/image657.png"/><Relationship Id="rId26" Type="http://schemas.openxmlformats.org/officeDocument/2006/relationships/image" Target="../media/image658.png"/><Relationship Id="rId27" Type="http://schemas.openxmlformats.org/officeDocument/2006/relationships/image" Target="../media/image659.png"/><Relationship Id="rId28" Type="http://schemas.openxmlformats.org/officeDocument/2006/relationships/image" Target="../media/image660.png"/><Relationship Id="rId29" Type="http://schemas.openxmlformats.org/officeDocument/2006/relationships/image" Target="../media/image661.png"/><Relationship Id="rId30" Type="http://schemas.openxmlformats.org/officeDocument/2006/relationships/image" Target="../media/image662.png"/><Relationship Id="rId31" Type="http://schemas.openxmlformats.org/officeDocument/2006/relationships/image" Target="../media/image663.png"/><Relationship Id="rId32" Type="http://schemas.openxmlformats.org/officeDocument/2006/relationships/image" Target="../media/image664.png"/><Relationship Id="rId33" Type="http://schemas.openxmlformats.org/officeDocument/2006/relationships/image" Target="../media/image665.png"/><Relationship Id="rId34" Type="http://schemas.openxmlformats.org/officeDocument/2006/relationships/image" Target="../media/image666.png"/><Relationship Id="rId35" Type="http://schemas.openxmlformats.org/officeDocument/2006/relationships/image" Target="../media/image667.png"/><Relationship Id="rId36" Type="http://schemas.openxmlformats.org/officeDocument/2006/relationships/image" Target="../media/image668.png"/><Relationship Id="rId37" Type="http://schemas.openxmlformats.org/officeDocument/2006/relationships/image" Target="../media/image669.png"/><Relationship Id="rId38" Type="http://schemas.openxmlformats.org/officeDocument/2006/relationships/image" Target="../media/image552.png"/><Relationship Id="rId39" Type="http://schemas.openxmlformats.org/officeDocument/2006/relationships/image" Target="../media/image670.png"/><Relationship Id="rId40" Type="http://schemas.openxmlformats.org/officeDocument/2006/relationships/image" Target="../media/image671.png"/><Relationship Id="rId41" Type="http://schemas.openxmlformats.org/officeDocument/2006/relationships/image" Target="../media/image672.png"/><Relationship Id="rId42" Type="http://schemas.openxmlformats.org/officeDocument/2006/relationships/image" Target="../media/image673.png"/><Relationship Id="rId43" Type="http://schemas.openxmlformats.org/officeDocument/2006/relationships/image" Target="../media/image674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5.png"/><Relationship Id="rId3" Type="http://schemas.openxmlformats.org/officeDocument/2006/relationships/image" Target="../media/image676.png"/><Relationship Id="rId4" Type="http://schemas.openxmlformats.org/officeDocument/2006/relationships/image" Target="../media/image677.png"/><Relationship Id="rId5" Type="http://schemas.openxmlformats.org/officeDocument/2006/relationships/image" Target="../media/image678.png"/><Relationship Id="rId6" Type="http://schemas.openxmlformats.org/officeDocument/2006/relationships/image" Target="../media/image679.png"/><Relationship Id="rId7" Type="http://schemas.openxmlformats.org/officeDocument/2006/relationships/image" Target="../media/image680.png"/><Relationship Id="rId8" Type="http://schemas.openxmlformats.org/officeDocument/2006/relationships/image" Target="../media/image681.png"/><Relationship Id="rId9" Type="http://schemas.openxmlformats.org/officeDocument/2006/relationships/image" Target="../media/image682.png"/><Relationship Id="rId10" Type="http://schemas.openxmlformats.org/officeDocument/2006/relationships/image" Target="../media/image683.png"/><Relationship Id="rId11" Type="http://schemas.openxmlformats.org/officeDocument/2006/relationships/image" Target="../media/image684.png"/><Relationship Id="rId12" Type="http://schemas.openxmlformats.org/officeDocument/2006/relationships/image" Target="../media/image685.png"/><Relationship Id="rId13" Type="http://schemas.openxmlformats.org/officeDocument/2006/relationships/image" Target="../media/image686.png"/><Relationship Id="rId14" Type="http://schemas.openxmlformats.org/officeDocument/2006/relationships/image" Target="../media/image687.png"/><Relationship Id="rId15" Type="http://schemas.openxmlformats.org/officeDocument/2006/relationships/image" Target="../media/image688.png"/><Relationship Id="rId16" Type="http://schemas.openxmlformats.org/officeDocument/2006/relationships/image" Target="../media/image689.png"/><Relationship Id="rId17" Type="http://schemas.openxmlformats.org/officeDocument/2006/relationships/image" Target="../media/image690.png"/><Relationship Id="rId18" Type="http://schemas.openxmlformats.org/officeDocument/2006/relationships/image" Target="../media/image691.png"/><Relationship Id="rId19" Type="http://schemas.openxmlformats.org/officeDocument/2006/relationships/image" Target="../media/image692.png"/><Relationship Id="rId20" Type="http://schemas.openxmlformats.org/officeDocument/2006/relationships/image" Target="../media/image693.png"/><Relationship Id="rId21" Type="http://schemas.openxmlformats.org/officeDocument/2006/relationships/image" Target="../media/image694.png"/><Relationship Id="rId22" Type="http://schemas.openxmlformats.org/officeDocument/2006/relationships/image" Target="../media/image695.png"/><Relationship Id="rId23" Type="http://schemas.openxmlformats.org/officeDocument/2006/relationships/image" Target="../media/image696.png"/><Relationship Id="rId24" Type="http://schemas.openxmlformats.org/officeDocument/2006/relationships/image" Target="../media/image697.png"/><Relationship Id="rId25" Type="http://schemas.openxmlformats.org/officeDocument/2006/relationships/image" Target="../media/image698.png"/><Relationship Id="rId26" Type="http://schemas.openxmlformats.org/officeDocument/2006/relationships/image" Target="../media/image699.png"/><Relationship Id="rId27" Type="http://schemas.openxmlformats.org/officeDocument/2006/relationships/image" Target="../media/image700.png"/><Relationship Id="rId28" Type="http://schemas.openxmlformats.org/officeDocument/2006/relationships/image" Target="../media/image701.png"/><Relationship Id="rId29" Type="http://schemas.openxmlformats.org/officeDocument/2006/relationships/image" Target="../media/image702.png"/><Relationship Id="rId30" Type="http://schemas.openxmlformats.org/officeDocument/2006/relationships/image" Target="../media/image703.png"/><Relationship Id="rId31" Type="http://schemas.openxmlformats.org/officeDocument/2006/relationships/image" Target="../media/image704.png"/><Relationship Id="rId32" Type="http://schemas.openxmlformats.org/officeDocument/2006/relationships/image" Target="../media/image549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5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6.png"/><Relationship Id="rId3" Type="http://schemas.openxmlformats.org/officeDocument/2006/relationships/image" Target="../media/image707.png"/><Relationship Id="rId4" Type="http://schemas.openxmlformats.org/officeDocument/2006/relationships/image" Target="../media/image708.png"/><Relationship Id="rId5" Type="http://schemas.openxmlformats.org/officeDocument/2006/relationships/image" Target="../media/image709.png"/><Relationship Id="rId6" Type="http://schemas.openxmlformats.org/officeDocument/2006/relationships/image" Target="../media/image710.png"/><Relationship Id="rId7" Type="http://schemas.openxmlformats.org/officeDocument/2006/relationships/image" Target="../media/image711.png"/><Relationship Id="rId8" Type="http://schemas.openxmlformats.org/officeDocument/2006/relationships/image" Target="../media/image712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3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4.png"/><Relationship Id="rId3" Type="http://schemas.openxmlformats.org/officeDocument/2006/relationships/image" Target="../media/image715.png"/><Relationship Id="rId4" Type="http://schemas.openxmlformats.org/officeDocument/2006/relationships/image" Target="../media/image716.png"/><Relationship Id="rId5" Type="http://schemas.openxmlformats.org/officeDocument/2006/relationships/image" Target="../media/image717.png"/><Relationship Id="rId6" Type="http://schemas.openxmlformats.org/officeDocument/2006/relationships/image" Target="../media/image718.png"/><Relationship Id="rId7" Type="http://schemas.openxmlformats.org/officeDocument/2006/relationships/image" Target="../media/image719.png"/><Relationship Id="rId8" Type="http://schemas.openxmlformats.org/officeDocument/2006/relationships/image" Target="../media/image720.png"/><Relationship Id="rId9" Type="http://schemas.openxmlformats.org/officeDocument/2006/relationships/image" Target="../media/image721.png"/><Relationship Id="rId10" Type="http://schemas.openxmlformats.org/officeDocument/2006/relationships/image" Target="../media/image722.png"/><Relationship Id="rId11" Type="http://schemas.openxmlformats.org/officeDocument/2006/relationships/image" Target="../media/image723.png"/><Relationship Id="rId12" Type="http://schemas.openxmlformats.org/officeDocument/2006/relationships/image" Target="../media/image724.png"/><Relationship Id="rId13" Type="http://schemas.openxmlformats.org/officeDocument/2006/relationships/image" Target="../media/image725.png"/><Relationship Id="rId14" Type="http://schemas.openxmlformats.org/officeDocument/2006/relationships/image" Target="../media/image726.png"/><Relationship Id="rId15" Type="http://schemas.openxmlformats.org/officeDocument/2006/relationships/image" Target="../media/image727.png"/><Relationship Id="rId16" Type="http://schemas.openxmlformats.org/officeDocument/2006/relationships/image" Target="../media/image728.png"/><Relationship Id="rId17" Type="http://schemas.openxmlformats.org/officeDocument/2006/relationships/image" Target="../media/image729.png"/><Relationship Id="rId18" Type="http://schemas.openxmlformats.org/officeDocument/2006/relationships/image" Target="../media/image730.png"/><Relationship Id="rId19" Type="http://schemas.openxmlformats.org/officeDocument/2006/relationships/image" Target="../media/image731.png"/><Relationship Id="rId20" Type="http://schemas.openxmlformats.org/officeDocument/2006/relationships/image" Target="../media/image732.png"/><Relationship Id="rId21" Type="http://schemas.openxmlformats.org/officeDocument/2006/relationships/image" Target="../media/image733.png"/><Relationship Id="rId22" Type="http://schemas.openxmlformats.org/officeDocument/2006/relationships/image" Target="../media/image734.png"/><Relationship Id="rId23" Type="http://schemas.openxmlformats.org/officeDocument/2006/relationships/image" Target="../media/image735.png"/><Relationship Id="rId24" Type="http://schemas.openxmlformats.org/officeDocument/2006/relationships/image" Target="../media/image736.png"/><Relationship Id="rId25" Type="http://schemas.openxmlformats.org/officeDocument/2006/relationships/image" Target="../media/image737.png"/><Relationship Id="rId26" Type="http://schemas.openxmlformats.org/officeDocument/2006/relationships/image" Target="../media/image738.png"/><Relationship Id="rId27" Type="http://schemas.openxmlformats.org/officeDocument/2006/relationships/image" Target="../media/image739.png"/><Relationship Id="rId28" Type="http://schemas.openxmlformats.org/officeDocument/2006/relationships/image" Target="../media/image740.jpg"/><Relationship Id="rId29" Type="http://schemas.openxmlformats.org/officeDocument/2006/relationships/image" Target="../media/image741.png"/><Relationship Id="rId30" Type="http://schemas.openxmlformats.org/officeDocument/2006/relationships/image" Target="../media/image742.png"/><Relationship Id="rId31" Type="http://schemas.openxmlformats.org/officeDocument/2006/relationships/image" Target="../media/image743.png"/><Relationship Id="rId32" Type="http://schemas.openxmlformats.org/officeDocument/2006/relationships/image" Target="../media/image744.png"/><Relationship Id="rId33" Type="http://schemas.openxmlformats.org/officeDocument/2006/relationships/image" Target="../media/image745.png"/><Relationship Id="rId34" Type="http://schemas.openxmlformats.org/officeDocument/2006/relationships/image" Target="../media/image746.png"/><Relationship Id="rId35" Type="http://schemas.openxmlformats.org/officeDocument/2006/relationships/image" Target="../media/image747.png"/><Relationship Id="rId36" Type="http://schemas.openxmlformats.org/officeDocument/2006/relationships/image" Target="../media/image748.png"/><Relationship Id="rId37" Type="http://schemas.openxmlformats.org/officeDocument/2006/relationships/image" Target="../media/image749.png"/><Relationship Id="rId38" Type="http://schemas.openxmlformats.org/officeDocument/2006/relationships/image" Target="../media/image750.png"/><Relationship Id="rId39" Type="http://schemas.openxmlformats.org/officeDocument/2006/relationships/image" Target="../media/image751.png"/><Relationship Id="rId40" Type="http://schemas.openxmlformats.org/officeDocument/2006/relationships/image" Target="../media/image752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3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54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55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6.png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Relationship Id="rId7" Type="http://schemas.openxmlformats.org/officeDocument/2006/relationships/image" Target="../media/image761.png"/><Relationship Id="rId8" Type="http://schemas.openxmlformats.org/officeDocument/2006/relationships/image" Target="../media/image762.png"/><Relationship Id="rId9" Type="http://schemas.openxmlformats.org/officeDocument/2006/relationships/image" Target="../media/image763.png"/><Relationship Id="rId10" Type="http://schemas.openxmlformats.org/officeDocument/2006/relationships/image" Target="../media/image764.png"/><Relationship Id="rId11" Type="http://schemas.openxmlformats.org/officeDocument/2006/relationships/image" Target="../media/image765.png"/><Relationship Id="rId12" Type="http://schemas.openxmlformats.org/officeDocument/2006/relationships/image" Target="../media/image766.png"/><Relationship Id="rId13" Type="http://schemas.openxmlformats.org/officeDocument/2006/relationships/image" Target="../media/image767.png"/><Relationship Id="rId14" Type="http://schemas.openxmlformats.org/officeDocument/2006/relationships/image" Target="../media/image768.png"/><Relationship Id="rId15" Type="http://schemas.openxmlformats.org/officeDocument/2006/relationships/image" Target="../media/image769.png"/><Relationship Id="rId16" Type="http://schemas.openxmlformats.org/officeDocument/2006/relationships/image" Target="../media/image770.png"/><Relationship Id="rId17" Type="http://schemas.openxmlformats.org/officeDocument/2006/relationships/image" Target="../media/image771.png"/><Relationship Id="rId18" Type="http://schemas.openxmlformats.org/officeDocument/2006/relationships/image" Target="../media/image772.png"/><Relationship Id="rId19" Type="http://schemas.openxmlformats.org/officeDocument/2006/relationships/image" Target="../media/image773.png"/><Relationship Id="rId20" Type="http://schemas.openxmlformats.org/officeDocument/2006/relationships/image" Target="../media/image774.png"/><Relationship Id="rId21" Type="http://schemas.openxmlformats.org/officeDocument/2006/relationships/image" Target="../media/image775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6.jpg"/><Relationship Id="rId3" Type="http://schemas.openxmlformats.org/officeDocument/2006/relationships/image" Target="../media/image777.jpg"/><Relationship Id="rId4" Type="http://schemas.openxmlformats.org/officeDocument/2006/relationships/image" Target="../media/image778.jpg"/><Relationship Id="rId5" Type="http://schemas.openxmlformats.org/officeDocument/2006/relationships/image" Target="../media/image779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0.jpg"/><Relationship Id="rId3" Type="http://schemas.openxmlformats.org/officeDocument/2006/relationships/image" Target="../media/image781.jp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2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3.png"/><Relationship Id="rId3" Type="http://schemas.openxmlformats.org/officeDocument/2006/relationships/image" Target="../media/image784.png"/><Relationship Id="rId4" Type="http://schemas.openxmlformats.org/officeDocument/2006/relationships/image" Target="../media/image785.png"/><Relationship Id="rId5" Type="http://schemas.openxmlformats.org/officeDocument/2006/relationships/image" Target="../media/image786.png"/><Relationship Id="rId6" Type="http://schemas.openxmlformats.org/officeDocument/2006/relationships/image" Target="../media/image787.png"/><Relationship Id="rId7" Type="http://schemas.openxmlformats.org/officeDocument/2006/relationships/image" Target="../media/image788.png"/><Relationship Id="rId8" Type="http://schemas.openxmlformats.org/officeDocument/2006/relationships/image" Target="../media/image789.png"/><Relationship Id="rId9" Type="http://schemas.openxmlformats.org/officeDocument/2006/relationships/image" Target="../media/image790.png"/><Relationship Id="rId10" Type="http://schemas.openxmlformats.org/officeDocument/2006/relationships/image" Target="../media/image791.png"/><Relationship Id="rId11" Type="http://schemas.openxmlformats.org/officeDocument/2006/relationships/image" Target="../media/image792.png"/><Relationship Id="rId12" Type="http://schemas.openxmlformats.org/officeDocument/2006/relationships/image" Target="../media/image793.png"/><Relationship Id="rId13" Type="http://schemas.openxmlformats.org/officeDocument/2006/relationships/image" Target="../media/image794.png"/><Relationship Id="rId14" Type="http://schemas.openxmlformats.org/officeDocument/2006/relationships/image" Target="../media/image795.png"/><Relationship Id="rId15" Type="http://schemas.openxmlformats.org/officeDocument/2006/relationships/image" Target="../media/image796.png"/><Relationship Id="rId16" Type="http://schemas.openxmlformats.org/officeDocument/2006/relationships/image" Target="../media/image797.png"/><Relationship Id="rId17" Type="http://schemas.openxmlformats.org/officeDocument/2006/relationships/image" Target="../media/image798.png"/><Relationship Id="rId18" Type="http://schemas.openxmlformats.org/officeDocument/2006/relationships/image" Target="../media/image799.png"/><Relationship Id="rId19" Type="http://schemas.openxmlformats.org/officeDocument/2006/relationships/image" Target="../media/image800.png"/><Relationship Id="rId20" Type="http://schemas.openxmlformats.org/officeDocument/2006/relationships/image" Target="../media/image801.png"/><Relationship Id="rId21" Type="http://schemas.openxmlformats.org/officeDocument/2006/relationships/image" Target="../media/image802.png"/><Relationship Id="rId22" Type="http://schemas.openxmlformats.org/officeDocument/2006/relationships/image" Target="../media/image803.png"/><Relationship Id="rId23" Type="http://schemas.openxmlformats.org/officeDocument/2006/relationships/image" Target="../media/image804.png"/><Relationship Id="rId24" Type="http://schemas.openxmlformats.org/officeDocument/2006/relationships/image" Target="../media/image805.png"/><Relationship Id="rId25" Type="http://schemas.openxmlformats.org/officeDocument/2006/relationships/image" Target="../media/image806.png"/><Relationship Id="rId26" Type="http://schemas.openxmlformats.org/officeDocument/2006/relationships/image" Target="../media/image807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8.png"/><Relationship Id="rId3" Type="http://schemas.openxmlformats.org/officeDocument/2006/relationships/image" Target="../media/image809.png"/><Relationship Id="rId4" Type="http://schemas.openxmlformats.org/officeDocument/2006/relationships/image" Target="../media/image810.png"/><Relationship Id="rId5" Type="http://schemas.openxmlformats.org/officeDocument/2006/relationships/image" Target="../media/image811.jpg"/><Relationship Id="rId6" Type="http://schemas.openxmlformats.org/officeDocument/2006/relationships/image" Target="../media/image812.jpg"/><Relationship Id="rId7" Type="http://schemas.openxmlformats.org/officeDocument/2006/relationships/image" Target="../media/image813.jpg"/><Relationship Id="rId8" Type="http://schemas.openxmlformats.org/officeDocument/2006/relationships/image" Target="../media/image814.png"/><Relationship Id="rId9" Type="http://schemas.openxmlformats.org/officeDocument/2006/relationships/image" Target="../media/image815.png"/><Relationship Id="rId10" Type="http://schemas.openxmlformats.org/officeDocument/2006/relationships/image" Target="../media/image816.png"/><Relationship Id="rId11" Type="http://schemas.openxmlformats.org/officeDocument/2006/relationships/image" Target="../media/image817.png"/><Relationship Id="rId12" Type="http://schemas.openxmlformats.org/officeDocument/2006/relationships/image" Target="../media/image818.png"/><Relationship Id="rId13" Type="http://schemas.openxmlformats.org/officeDocument/2006/relationships/image" Target="../media/image819.png"/><Relationship Id="rId14" Type="http://schemas.openxmlformats.org/officeDocument/2006/relationships/image" Target="../media/image820.png"/><Relationship Id="rId15" Type="http://schemas.openxmlformats.org/officeDocument/2006/relationships/image" Target="../media/image821.png"/><Relationship Id="rId16" Type="http://schemas.openxmlformats.org/officeDocument/2006/relationships/image" Target="../media/image822.png"/><Relationship Id="rId17" Type="http://schemas.openxmlformats.org/officeDocument/2006/relationships/image" Target="../media/image823.png"/><Relationship Id="rId18" Type="http://schemas.openxmlformats.org/officeDocument/2006/relationships/image" Target="../media/image824.png"/><Relationship Id="rId19" Type="http://schemas.openxmlformats.org/officeDocument/2006/relationships/image" Target="../media/image825.png"/><Relationship Id="rId20" Type="http://schemas.openxmlformats.org/officeDocument/2006/relationships/image" Target="../media/image826.png"/><Relationship Id="rId21" Type="http://schemas.openxmlformats.org/officeDocument/2006/relationships/image" Target="../media/image827.png"/><Relationship Id="rId22" Type="http://schemas.openxmlformats.org/officeDocument/2006/relationships/image" Target="../media/image828.png"/><Relationship Id="rId23" Type="http://schemas.openxmlformats.org/officeDocument/2006/relationships/image" Target="../media/image829.png"/><Relationship Id="rId24" Type="http://schemas.openxmlformats.org/officeDocument/2006/relationships/image" Target="../media/image830.png"/><Relationship Id="rId25" Type="http://schemas.openxmlformats.org/officeDocument/2006/relationships/image" Target="../media/image831.png"/><Relationship Id="rId26" Type="http://schemas.openxmlformats.org/officeDocument/2006/relationships/image" Target="../media/image832.png"/><Relationship Id="rId27" Type="http://schemas.openxmlformats.org/officeDocument/2006/relationships/image" Target="../media/image833.png"/><Relationship Id="rId28" Type="http://schemas.openxmlformats.org/officeDocument/2006/relationships/image" Target="../media/image834.png"/><Relationship Id="rId29" Type="http://schemas.openxmlformats.org/officeDocument/2006/relationships/image" Target="../media/image835.png"/><Relationship Id="rId30" Type="http://schemas.openxmlformats.org/officeDocument/2006/relationships/image" Target="../media/image836.png"/><Relationship Id="rId31" Type="http://schemas.openxmlformats.org/officeDocument/2006/relationships/image" Target="../media/image837.png"/><Relationship Id="rId32" Type="http://schemas.openxmlformats.org/officeDocument/2006/relationships/image" Target="../media/image838.png"/><Relationship Id="rId33" Type="http://schemas.openxmlformats.org/officeDocument/2006/relationships/image" Target="../media/image839.png"/><Relationship Id="rId34" Type="http://schemas.openxmlformats.org/officeDocument/2006/relationships/image" Target="../media/image840.png"/><Relationship Id="rId35" Type="http://schemas.openxmlformats.org/officeDocument/2006/relationships/image" Target="../media/image841.png"/><Relationship Id="rId36" Type="http://schemas.openxmlformats.org/officeDocument/2006/relationships/image" Target="../media/image842.png"/><Relationship Id="rId37" Type="http://schemas.openxmlformats.org/officeDocument/2006/relationships/image" Target="../media/image843.png"/><Relationship Id="rId38" Type="http://schemas.openxmlformats.org/officeDocument/2006/relationships/image" Target="../media/image844.png"/><Relationship Id="rId39" Type="http://schemas.openxmlformats.org/officeDocument/2006/relationships/image" Target="../media/image845.png"/><Relationship Id="rId40" Type="http://schemas.openxmlformats.org/officeDocument/2006/relationships/image" Target="../media/image846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7.png"/><Relationship Id="rId3" Type="http://schemas.openxmlformats.org/officeDocument/2006/relationships/image" Target="../media/image848.png"/><Relationship Id="rId4" Type="http://schemas.openxmlformats.org/officeDocument/2006/relationships/image" Target="../media/image849.png"/><Relationship Id="rId5" Type="http://schemas.openxmlformats.org/officeDocument/2006/relationships/image" Target="../media/image850.png"/><Relationship Id="rId6" Type="http://schemas.openxmlformats.org/officeDocument/2006/relationships/image" Target="../media/image851.jpg"/><Relationship Id="rId7" Type="http://schemas.openxmlformats.org/officeDocument/2006/relationships/image" Target="../media/image852.png"/><Relationship Id="rId8" Type="http://schemas.openxmlformats.org/officeDocument/2006/relationships/image" Target="../media/image853.png"/><Relationship Id="rId9" Type="http://schemas.openxmlformats.org/officeDocument/2006/relationships/image" Target="../media/image854.png"/><Relationship Id="rId10" Type="http://schemas.openxmlformats.org/officeDocument/2006/relationships/image" Target="../media/image855.png"/><Relationship Id="rId11" Type="http://schemas.openxmlformats.org/officeDocument/2006/relationships/image" Target="../media/image856.png"/><Relationship Id="rId12" Type="http://schemas.openxmlformats.org/officeDocument/2006/relationships/image" Target="../media/image857.png"/><Relationship Id="rId13" Type="http://schemas.openxmlformats.org/officeDocument/2006/relationships/image" Target="../media/image858.png"/><Relationship Id="rId14" Type="http://schemas.openxmlformats.org/officeDocument/2006/relationships/image" Target="../media/image859.png"/><Relationship Id="rId15" Type="http://schemas.openxmlformats.org/officeDocument/2006/relationships/image" Target="../media/image860.png"/><Relationship Id="rId16" Type="http://schemas.openxmlformats.org/officeDocument/2006/relationships/image" Target="../media/image861.png"/><Relationship Id="rId17" Type="http://schemas.openxmlformats.org/officeDocument/2006/relationships/image" Target="../media/image862.png"/><Relationship Id="rId18" Type="http://schemas.openxmlformats.org/officeDocument/2006/relationships/image" Target="../media/image863.png"/><Relationship Id="rId19" Type="http://schemas.openxmlformats.org/officeDocument/2006/relationships/image" Target="../media/image864.png"/><Relationship Id="rId20" Type="http://schemas.openxmlformats.org/officeDocument/2006/relationships/image" Target="../media/image865.png"/><Relationship Id="rId21" Type="http://schemas.openxmlformats.org/officeDocument/2006/relationships/image" Target="../media/image866.png"/><Relationship Id="rId22" Type="http://schemas.openxmlformats.org/officeDocument/2006/relationships/image" Target="../media/image867.png"/><Relationship Id="rId23" Type="http://schemas.openxmlformats.org/officeDocument/2006/relationships/image" Target="../media/image868.png"/><Relationship Id="rId24" Type="http://schemas.openxmlformats.org/officeDocument/2006/relationships/image" Target="../media/image869.png"/><Relationship Id="rId25" Type="http://schemas.openxmlformats.org/officeDocument/2006/relationships/image" Target="../media/image870.png"/><Relationship Id="rId26" Type="http://schemas.openxmlformats.org/officeDocument/2006/relationships/image" Target="../media/image871.png"/><Relationship Id="rId27" Type="http://schemas.openxmlformats.org/officeDocument/2006/relationships/image" Target="../media/image872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73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895350"/>
            <a:ext cx="9144000" cy="3962400"/>
          </a:xfrm>
          <a:custGeom>
            <a:avLst/>
            <a:gdLst/>
            <a:ahLst/>
            <a:cxnLst/>
            <a:rect l="l" t="t" r="r" b="b"/>
            <a:pathLst>
              <a:path w="9144000" h="3962400">
                <a:moveTo>
                  <a:pt x="9144000" y="0"/>
                </a:moveTo>
                <a:lnTo>
                  <a:pt x="0" y="0"/>
                </a:lnTo>
                <a:lnTo>
                  <a:pt x="0" y="3962400"/>
                </a:lnTo>
                <a:lnTo>
                  <a:pt x="9144000" y="3962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544A7">
              <a:alpha val="850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6316" y="2133854"/>
            <a:ext cx="509143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0">
                <a:latin typeface="Times New Roman"/>
                <a:cs typeface="Times New Roman"/>
              </a:rPr>
              <a:t>5G</a:t>
            </a:r>
            <a:r>
              <a:rPr dirty="0" sz="4800" spc="-10"/>
              <a:t>系统与网络技术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4619" y="15495"/>
            <a:ext cx="30988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  <a:tab pos="1688464" algn="l"/>
                <a:tab pos="2526665" algn="l"/>
              </a:tabLst>
            </a:pPr>
            <a:r>
              <a:rPr dirty="0" sz="4400" spc="-50"/>
              <a:t>课</a:t>
            </a:r>
            <a:r>
              <a:rPr dirty="0" sz="4400"/>
              <a:t>	</a:t>
            </a:r>
            <a:r>
              <a:rPr dirty="0" sz="4400" spc="-50"/>
              <a:t>程</a:t>
            </a:r>
            <a:r>
              <a:rPr dirty="0" sz="4400"/>
              <a:t>	</a:t>
            </a:r>
            <a:r>
              <a:rPr dirty="0" sz="4400" spc="-50"/>
              <a:t>目</a:t>
            </a:r>
            <a:r>
              <a:rPr dirty="0" sz="4400"/>
              <a:t>	</a:t>
            </a:r>
            <a:r>
              <a:rPr dirty="0" sz="4400" spc="-50"/>
              <a:t>的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1027865" y="800083"/>
            <a:ext cx="3243580" cy="41414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5">
                <a:latin typeface="SimSun"/>
                <a:cs typeface="SimSun"/>
              </a:rPr>
              <a:t>了解</a:t>
            </a:r>
            <a:r>
              <a:rPr dirty="0" sz="2000" spc="-10" b="1">
                <a:latin typeface="Times New Roman"/>
                <a:cs typeface="Times New Roman"/>
              </a:rPr>
              <a:t>5G</a:t>
            </a:r>
            <a:r>
              <a:rPr dirty="0" sz="2000" spc="-20">
                <a:latin typeface="SimSun"/>
                <a:cs typeface="SimSun"/>
              </a:rPr>
              <a:t>系统基本概念特征</a:t>
            </a:r>
            <a:endParaRPr sz="20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5">
                <a:latin typeface="SimSun"/>
                <a:cs typeface="SimSun"/>
              </a:rPr>
              <a:t>熟悉</a:t>
            </a:r>
            <a:r>
              <a:rPr dirty="0" sz="2000" spc="-10" b="1">
                <a:latin typeface="Times New Roman"/>
                <a:cs typeface="Times New Roman"/>
              </a:rPr>
              <a:t>5G</a:t>
            </a:r>
            <a:r>
              <a:rPr dirty="0" sz="2000" spc="-20">
                <a:latin typeface="SimSun"/>
                <a:cs typeface="SimSun"/>
              </a:rPr>
              <a:t>系统应用需求特点</a:t>
            </a:r>
            <a:endParaRPr sz="20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5">
                <a:latin typeface="SimSun"/>
                <a:cs typeface="SimSun"/>
              </a:rPr>
              <a:t>掌握</a:t>
            </a:r>
            <a:r>
              <a:rPr dirty="0" sz="2000" spc="-10" b="1">
                <a:latin typeface="Times New Roman"/>
                <a:cs typeface="Times New Roman"/>
              </a:rPr>
              <a:t>5G</a:t>
            </a:r>
            <a:r>
              <a:rPr dirty="0" sz="2000" spc="-20">
                <a:latin typeface="SimSun"/>
                <a:cs typeface="SimSun"/>
              </a:rPr>
              <a:t>系统主要性能指标</a:t>
            </a:r>
            <a:endParaRPr sz="20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5">
                <a:latin typeface="SimSun"/>
                <a:cs typeface="SimSun"/>
              </a:rPr>
              <a:t>了解</a:t>
            </a:r>
            <a:r>
              <a:rPr dirty="0" sz="2000" spc="-10" b="1">
                <a:latin typeface="Times New Roman"/>
                <a:cs typeface="Times New Roman"/>
              </a:rPr>
              <a:t>5G</a:t>
            </a:r>
            <a:r>
              <a:rPr dirty="0" sz="2000" spc="-20">
                <a:latin typeface="SimSun"/>
                <a:cs typeface="SimSun"/>
              </a:rPr>
              <a:t>无线网络关键技术</a:t>
            </a:r>
            <a:endParaRPr sz="20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5">
                <a:latin typeface="SimSun"/>
                <a:cs typeface="SimSun"/>
              </a:rPr>
              <a:t>了解</a:t>
            </a:r>
            <a:r>
              <a:rPr dirty="0" sz="2000" spc="-10" b="1">
                <a:latin typeface="Times New Roman"/>
                <a:cs typeface="Times New Roman"/>
              </a:rPr>
              <a:t>5G</a:t>
            </a:r>
            <a:r>
              <a:rPr dirty="0" sz="2000" spc="-20">
                <a:latin typeface="SimSun"/>
                <a:cs typeface="SimSun"/>
              </a:rPr>
              <a:t>网络架构演进特性</a:t>
            </a:r>
            <a:endParaRPr sz="2000">
              <a:latin typeface="SimSun"/>
              <a:cs typeface="SimSun"/>
            </a:endParaRPr>
          </a:p>
          <a:p>
            <a:pPr marL="89535">
              <a:lnSpc>
                <a:spcPct val="100000"/>
              </a:lnSpc>
              <a:spcBef>
                <a:spcPts val="1445"/>
              </a:spcBef>
            </a:pPr>
            <a:r>
              <a:rPr dirty="0" sz="2400" spc="-15" b="1">
                <a:solidFill>
                  <a:srgbClr val="FF0000"/>
                </a:solidFill>
                <a:latin typeface="Microsoft YaHei"/>
                <a:cs typeface="Microsoft YaHei"/>
              </a:rPr>
              <a:t>先修课程</a:t>
            </a:r>
            <a:endParaRPr sz="2400">
              <a:latin typeface="Microsoft YaHei"/>
              <a:cs typeface="Microsoft YaHei"/>
            </a:endParaRPr>
          </a:p>
          <a:p>
            <a:pPr marL="354965" indent="-342265">
              <a:lnSpc>
                <a:spcPct val="100000"/>
              </a:lnSpc>
              <a:spcBef>
                <a:spcPts val="128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00" spc="-25" b="1">
                <a:latin typeface="Arial"/>
                <a:cs typeface="Arial"/>
              </a:rPr>
              <a:t>LTE</a:t>
            </a:r>
            <a:r>
              <a:rPr dirty="0" sz="2000" spc="-20">
                <a:latin typeface="SimSun"/>
                <a:cs typeface="SimSun"/>
              </a:rPr>
              <a:t>基本原理与技术</a:t>
            </a:r>
            <a:endParaRPr sz="20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00" spc="-20">
                <a:latin typeface="SimSun"/>
                <a:cs typeface="SimSun"/>
              </a:rPr>
              <a:t>下一代网络基本原理</a:t>
            </a:r>
            <a:endParaRPr sz="20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Wingdings"/>
              <a:buChar char=""/>
              <a:tabLst>
                <a:tab pos="354965" algn="l"/>
              </a:tabLst>
            </a:pPr>
            <a:r>
              <a:rPr dirty="0" sz="2000" spc="-20">
                <a:latin typeface="SimSun"/>
                <a:cs typeface="SimSun"/>
              </a:rPr>
              <a:t>通信工程与网络技术</a:t>
            </a:r>
            <a:endParaRPr sz="2000">
              <a:latin typeface="SimSun"/>
              <a:cs typeface="SimSu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1263" y="1051560"/>
            <a:ext cx="2400629" cy="18460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4588" y="3295318"/>
            <a:ext cx="3219111" cy="1540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24197" y="971551"/>
            <a:ext cx="19050" cy="3733800"/>
          </a:xfrm>
          <a:custGeom>
            <a:avLst/>
            <a:gdLst/>
            <a:ahLst/>
            <a:cxnLst/>
            <a:rect l="l" t="t" r="r" b="b"/>
            <a:pathLst>
              <a:path w="19050" h="3733800">
                <a:moveTo>
                  <a:pt x="19050" y="0"/>
                </a:moveTo>
                <a:lnTo>
                  <a:pt x="0" y="3733800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270250" y="965200"/>
            <a:ext cx="4584700" cy="498475"/>
            <a:chOff x="3270250" y="965200"/>
            <a:chExt cx="4584700" cy="4984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971550"/>
              <a:ext cx="4572000" cy="48577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76600" y="9715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379053" y="1007427"/>
            <a:ext cx="4377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Microsoft YaHei"/>
                <a:cs typeface="Microsoft YaHei"/>
              </a:rPr>
              <a:t>一、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5G</a:t>
            </a:r>
            <a:r>
              <a:rPr dirty="0" sz="2400" spc="-5" b="1">
                <a:solidFill>
                  <a:srgbClr val="FF0000"/>
                </a:solidFill>
                <a:latin typeface="Microsoft YaHei"/>
                <a:cs typeface="Microsoft YaHei"/>
              </a:rPr>
              <a:t>系统标准与产业发展概述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74619" y="39229"/>
            <a:ext cx="30988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  <a:tab pos="1688464" algn="l"/>
                <a:tab pos="2526665" algn="l"/>
              </a:tabLst>
            </a:pPr>
            <a:r>
              <a:rPr dirty="0" sz="4400" spc="-50"/>
              <a:t>主</a:t>
            </a:r>
            <a:r>
              <a:rPr dirty="0" sz="4400"/>
              <a:t>	</a:t>
            </a:r>
            <a:r>
              <a:rPr dirty="0" sz="4400" spc="-50"/>
              <a:t>要</a:t>
            </a:r>
            <a:r>
              <a:rPr dirty="0" sz="4400"/>
              <a:t>	</a:t>
            </a:r>
            <a:r>
              <a:rPr dirty="0" sz="4400" spc="-50"/>
              <a:t>内</a:t>
            </a:r>
            <a:r>
              <a:rPr dirty="0" sz="4400"/>
              <a:t>	</a:t>
            </a:r>
            <a:r>
              <a:rPr dirty="0" sz="4400" spc="-50"/>
              <a:t>容</a:t>
            </a:r>
            <a:endParaRPr sz="4400"/>
          </a:p>
        </p:txBody>
      </p:sp>
      <p:grpSp>
        <p:nvGrpSpPr>
          <p:cNvPr id="8" name="object 8" descr=""/>
          <p:cNvGrpSpPr/>
          <p:nvPr/>
        </p:nvGrpSpPr>
        <p:grpSpPr>
          <a:xfrm>
            <a:off x="3270250" y="2032000"/>
            <a:ext cx="4584700" cy="498475"/>
            <a:chOff x="3270250" y="2032000"/>
            <a:chExt cx="4584700" cy="49847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2038350"/>
              <a:ext cx="4572000" cy="4857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276600" y="2038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379053" y="2074227"/>
            <a:ext cx="436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二、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系统核心网络架构与技术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270250" y="3175000"/>
            <a:ext cx="4584700" cy="498475"/>
            <a:chOff x="3270250" y="3175000"/>
            <a:chExt cx="4584700" cy="498475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3181350"/>
              <a:ext cx="4572000" cy="48577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276600" y="3181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3270250" y="4238228"/>
            <a:ext cx="4584700" cy="498475"/>
            <a:chOff x="3270250" y="4238228"/>
            <a:chExt cx="4584700" cy="498475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6600" y="4244578"/>
              <a:ext cx="4572000" cy="48577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276600" y="4244578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379053" y="3217227"/>
            <a:ext cx="4360545" cy="1454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三、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系统传输网络架构与技术</a:t>
            </a:r>
            <a:endParaRPr sz="2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Microsoft YaHei"/>
                <a:cs typeface="Microsoft YaHei"/>
              </a:rPr>
              <a:t>四、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系统无线网络架构与技术</a:t>
            </a:r>
            <a:endParaRPr sz="2400">
              <a:latin typeface="Microsoft YaHei"/>
              <a:cs typeface="Microsoft YaHe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400" y="971550"/>
            <a:ext cx="2749533" cy="3786212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7175398" y="971555"/>
            <a:ext cx="1969135" cy="1524000"/>
          </a:xfrm>
          <a:custGeom>
            <a:avLst/>
            <a:gdLst/>
            <a:ahLst/>
            <a:cxnLst/>
            <a:rect l="l" t="t" r="r" b="b"/>
            <a:pathLst>
              <a:path w="1969134" h="1524000">
                <a:moveTo>
                  <a:pt x="520801" y="241300"/>
                </a:moveTo>
                <a:lnTo>
                  <a:pt x="525704" y="192667"/>
                </a:lnTo>
                <a:lnTo>
                  <a:pt x="539764" y="147371"/>
                </a:lnTo>
                <a:lnTo>
                  <a:pt x="562013" y="106383"/>
                </a:lnTo>
                <a:lnTo>
                  <a:pt x="591478" y="70672"/>
                </a:lnTo>
                <a:lnTo>
                  <a:pt x="627190" y="41208"/>
                </a:lnTo>
                <a:lnTo>
                  <a:pt x="668178" y="18961"/>
                </a:lnTo>
                <a:lnTo>
                  <a:pt x="713472" y="4902"/>
                </a:lnTo>
                <a:lnTo>
                  <a:pt x="762101" y="0"/>
                </a:lnTo>
                <a:lnTo>
                  <a:pt x="1124051" y="0"/>
                </a:lnTo>
                <a:lnTo>
                  <a:pt x="1727301" y="0"/>
                </a:lnTo>
                <a:lnTo>
                  <a:pt x="1775930" y="4902"/>
                </a:lnTo>
                <a:lnTo>
                  <a:pt x="1821224" y="18961"/>
                </a:lnTo>
                <a:lnTo>
                  <a:pt x="1862212" y="41208"/>
                </a:lnTo>
                <a:lnTo>
                  <a:pt x="1897924" y="70672"/>
                </a:lnTo>
                <a:lnTo>
                  <a:pt x="1927389" y="106383"/>
                </a:lnTo>
                <a:lnTo>
                  <a:pt x="1949638" y="147371"/>
                </a:lnTo>
                <a:lnTo>
                  <a:pt x="1963699" y="192667"/>
                </a:lnTo>
                <a:lnTo>
                  <a:pt x="1968601" y="241300"/>
                </a:lnTo>
                <a:lnTo>
                  <a:pt x="1968601" y="254000"/>
                </a:lnTo>
                <a:lnTo>
                  <a:pt x="1968601" y="635000"/>
                </a:lnTo>
                <a:lnTo>
                  <a:pt x="1968601" y="1282687"/>
                </a:lnTo>
                <a:lnTo>
                  <a:pt x="1963699" y="1331320"/>
                </a:lnTo>
                <a:lnTo>
                  <a:pt x="1949638" y="1376617"/>
                </a:lnTo>
                <a:lnTo>
                  <a:pt x="1927389" y="1417607"/>
                </a:lnTo>
                <a:lnTo>
                  <a:pt x="1897924" y="1453321"/>
                </a:lnTo>
                <a:lnTo>
                  <a:pt x="1862212" y="1482787"/>
                </a:lnTo>
                <a:lnTo>
                  <a:pt x="1821224" y="1505036"/>
                </a:lnTo>
                <a:lnTo>
                  <a:pt x="1775930" y="1519097"/>
                </a:lnTo>
                <a:lnTo>
                  <a:pt x="1727301" y="1524000"/>
                </a:lnTo>
                <a:lnTo>
                  <a:pt x="1124051" y="1524000"/>
                </a:lnTo>
                <a:lnTo>
                  <a:pt x="762101" y="1524000"/>
                </a:lnTo>
                <a:lnTo>
                  <a:pt x="713472" y="1519097"/>
                </a:lnTo>
                <a:lnTo>
                  <a:pt x="668178" y="1505036"/>
                </a:lnTo>
                <a:lnTo>
                  <a:pt x="627190" y="1482787"/>
                </a:lnTo>
                <a:lnTo>
                  <a:pt x="591478" y="1453321"/>
                </a:lnTo>
                <a:lnTo>
                  <a:pt x="562013" y="1417607"/>
                </a:lnTo>
                <a:lnTo>
                  <a:pt x="539764" y="1376617"/>
                </a:lnTo>
                <a:lnTo>
                  <a:pt x="525704" y="1331320"/>
                </a:lnTo>
                <a:lnTo>
                  <a:pt x="520801" y="1282687"/>
                </a:lnTo>
                <a:lnTo>
                  <a:pt x="520801" y="635000"/>
                </a:lnTo>
                <a:lnTo>
                  <a:pt x="0" y="53886"/>
                </a:lnTo>
                <a:lnTo>
                  <a:pt x="520801" y="254000"/>
                </a:lnTo>
                <a:lnTo>
                  <a:pt x="520801" y="241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848600" y="1038859"/>
            <a:ext cx="1143635" cy="134239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网络演进概述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网络性能指标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系统需求分析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系统面临挑战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标准全球进展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中国研发成果</a:t>
            </a:r>
            <a:endParaRPr sz="12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8791" y="134790"/>
            <a:ext cx="57175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需求推动移动通信技术持续演进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18944" y="1524761"/>
            <a:ext cx="3545840" cy="2157730"/>
            <a:chOff x="2218944" y="1524761"/>
            <a:chExt cx="3545840" cy="2157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8944" y="1571256"/>
              <a:ext cx="116585" cy="211072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250132" y="1596370"/>
              <a:ext cx="0" cy="2007235"/>
            </a:xfrm>
            <a:custGeom>
              <a:avLst/>
              <a:gdLst/>
              <a:ahLst/>
              <a:cxnLst/>
              <a:rect l="l" t="t" r="r" b="b"/>
              <a:pathLst>
                <a:path w="0" h="2007235">
                  <a:moveTo>
                    <a:pt x="0" y="0"/>
                  </a:moveTo>
                  <a:lnTo>
                    <a:pt x="0" y="2007057"/>
                  </a:lnTo>
                </a:path>
              </a:pathLst>
            </a:custGeom>
            <a:ln w="12700">
              <a:solidFill>
                <a:srgbClr val="4F81B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6420" y="1524761"/>
              <a:ext cx="118109" cy="215722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677697" y="1549344"/>
              <a:ext cx="1905" cy="2054225"/>
            </a:xfrm>
            <a:custGeom>
              <a:avLst/>
              <a:gdLst/>
              <a:ahLst/>
              <a:cxnLst/>
              <a:rect l="l" t="t" r="r" b="b"/>
              <a:pathLst>
                <a:path w="1904" h="2054225">
                  <a:moveTo>
                    <a:pt x="1435" y="0"/>
                  </a:moveTo>
                  <a:lnTo>
                    <a:pt x="0" y="2054085"/>
                  </a:lnTo>
                </a:path>
              </a:pathLst>
            </a:custGeom>
            <a:ln w="12699">
              <a:solidFill>
                <a:srgbClr val="4F81B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991" y="903818"/>
            <a:ext cx="127253" cy="1333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51641" y="729384"/>
            <a:ext cx="4890770" cy="877569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00" spc="-5" b="1">
                <a:solidFill>
                  <a:srgbClr val="0033CC"/>
                </a:solidFill>
                <a:latin typeface="Microsoft YaHei"/>
                <a:cs typeface="Microsoft YaHei"/>
              </a:rPr>
              <a:t>移动通信技术具有代际演进的规律</a:t>
            </a:r>
            <a:endParaRPr sz="1500">
              <a:latin typeface="Microsoft YaHei"/>
              <a:cs typeface="Microsoft YaHei"/>
            </a:endParaRPr>
          </a:p>
          <a:p>
            <a:pPr marL="49530">
              <a:lnSpc>
                <a:spcPct val="100000"/>
              </a:lnSpc>
              <a:spcBef>
                <a:spcPts val="655"/>
              </a:spcBef>
            </a:pPr>
            <a:r>
              <a:rPr dirty="0" sz="1200" spc="-10">
                <a:latin typeface="Arial MT"/>
                <a:cs typeface="Arial MT"/>
              </a:rPr>
              <a:t>--</a:t>
            </a:r>
            <a:r>
              <a:rPr dirty="0" sz="1200">
                <a:latin typeface="Microsoft YaHei"/>
                <a:cs typeface="Microsoft YaHei"/>
              </a:rPr>
              <a:t>全球移动通信经过</a:t>
            </a:r>
            <a:r>
              <a:rPr dirty="0" sz="1200" spc="-10">
                <a:latin typeface="Arial MT"/>
                <a:cs typeface="Arial MT"/>
              </a:rPr>
              <a:t>1G</a:t>
            </a:r>
            <a:r>
              <a:rPr dirty="0" sz="1200">
                <a:latin typeface="Microsoft YaHei"/>
                <a:cs typeface="Microsoft YaHei"/>
              </a:rPr>
              <a:t>、</a:t>
            </a:r>
            <a:r>
              <a:rPr dirty="0" sz="1200" spc="-10">
                <a:latin typeface="Arial MT"/>
                <a:cs typeface="Arial MT"/>
              </a:rPr>
              <a:t>2G</a:t>
            </a:r>
            <a:r>
              <a:rPr dirty="0" sz="1200">
                <a:latin typeface="Microsoft YaHei"/>
                <a:cs typeface="Microsoft YaHei"/>
              </a:rPr>
              <a:t>和</a:t>
            </a:r>
            <a:r>
              <a:rPr dirty="0" sz="1200" spc="-10">
                <a:latin typeface="Arial MT"/>
                <a:cs typeface="Arial MT"/>
              </a:rPr>
              <a:t>3G</a:t>
            </a:r>
            <a:r>
              <a:rPr dirty="0" sz="1200">
                <a:latin typeface="Microsoft YaHei"/>
                <a:cs typeface="Microsoft YaHei"/>
              </a:rPr>
              <a:t>三个发展阶段，正从</a:t>
            </a:r>
            <a:r>
              <a:rPr dirty="0" sz="1200" spc="-10">
                <a:latin typeface="Arial MT"/>
                <a:cs typeface="Arial MT"/>
              </a:rPr>
              <a:t>3G</a:t>
            </a:r>
            <a:r>
              <a:rPr dirty="0" sz="1200">
                <a:latin typeface="Microsoft YaHei"/>
                <a:cs typeface="Microsoft YaHei"/>
              </a:rPr>
              <a:t>向</a:t>
            </a:r>
            <a:r>
              <a:rPr dirty="0" sz="1200" spc="-10">
                <a:latin typeface="Arial MT"/>
                <a:cs typeface="Arial MT"/>
              </a:rPr>
              <a:t>4G</a:t>
            </a:r>
            <a:r>
              <a:rPr dirty="0" sz="1200">
                <a:latin typeface="Microsoft YaHei"/>
                <a:cs typeface="Microsoft YaHei"/>
              </a:rPr>
              <a:t>、</a:t>
            </a: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25">
                <a:latin typeface="Microsoft YaHei"/>
                <a:cs typeface="Microsoft YaHei"/>
              </a:rPr>
              <a:t>演进</a:t>
            </a:r>
            <a:endParaRPr sz="1200">
              <a:latin typeface="Microsoft YaHei"/>
              <a:cs typeface="Microsoft YaHei"/>
            </a:endParaRPr>
          </a:p>
          <a:p>
            <a:pPr marL="49530">
              <a:lnSpc>
                <a:spcPct val="100000"/>
              </a:lnSpc>
              <a:spcBef>
                <a:spcPts val="560"/>
              </a:spcBef>
            </a:pPr>
            <a:r>
              <a:rPr dirty="0" sz="1200" spc="-10">
                <a:latin typeface="Arial MT"/>
                <a:cs typeface="Arial MT"/>
              </a:rPr>
              <a:t>--</a:t>
            </a:r>
            <a:r>
              <a:rPr dirty="0" sz="1200">
                <a:latin typeface="Microsoft YaHei"/>
                <a:cs typeface="Microsoft YaHei"/>
              </a:rPr>
              <a:t>当前各国正在积极推进</a:t>
            </a: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15">
                <a:latin typeface="Microsoft YaHei"/>
                <a:cs typeface="Microsoft YaHei"/>
              </a:rPr>
              <a:t>技术研究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2727" y="1639836"/>
            <a:ext cx="621791" cy="3596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6832" y="1639836"/>
            <a:ext cx="621791" cy="35965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96384" y="1639836"/>
            <a:ext cx="621791" cy="3596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42304" y="1639836"/>
            <a:ext cx="621791" cy="359651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2780" y="2185568"/>
            <a:ext cx="7886700" cy="250456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113845" y="2100314"/>
            <a:ext cx="475615" cy="57658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825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1990s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spc="-25" b="1">
                <a:latin typeface="Microsoft YaHei"/>
                <a:cs typeface="Microsoft YaHei"/>
              </a:rPr>
              <a:t>短信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436230" y="2845055"/>
            <a:ext cx="5633085" cy="497205"/>
            <a:chOff x="1436230" y="2845055"/>
            <a:chExt cx="5633085" cy="49720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54718" y="2904674"/>
              <a:ext cx="599782" cy="3964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36230" y="2845055"/>
              <a:ext cx="620861" cy="4789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62979" y="2845055"/>
              <a:ext cx="806259" cy="496806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4657011" y="2100359"/>
            <a:ext cx="635000" cy="57658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825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2000s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spc="-15" b="1">
                <a:latin typeface="Microsoft YaHei"/>
                <a:cs typeface="Microsoft YaHei"/>
              </a:rPr>
              <a:t>社交应用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831420" y="2101301"/>
            <a:ext cx="1244600" cy="57467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 marL="53975">
              <a:lnSpc>
                <a:spcPct val="100000"/>
              </a:lnSpc>
              <a:spcBef>
                <a:spcPts val="819"/>
              </a:spcBef>
            </a:pP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2010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 spc="-10" b="1">
                <a:latin typeface="Microsoft YaHei"/>
                <a:cs typeface="Microsoft YaHei"/>
              </a:rPr>
              <a:t>在线、互动、游戏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46286" y="2101771"/>
            <a:ext cx="448309" cy="5734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1980s</a:t>
            </a:r>
            <a:endParaRPr sz="12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715"/>
              </a:spcBef>
            </a:pPr>
            <a:r>
              <a:rPr dirty="0" sz="1200" spc="-25" b="1">
                <a:latin typeface="Microsoft YaHei"/>
                <a:cs typeface="Microsoft YaHei"/>
              </a:rPr>
              <a:t>语音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597" y="4051226"/>
            <a:ext cx="127253" cy="133349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759562" y="1519427"/>
            <a:ext cx="7847330" cy="2162810"/>
            <a:chOff x="759562" y="1519427"/>
            <a:chExt cx="7847330" cy="216281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9562" y="2619875"/>
              <a:ext cx="774178" cy="77626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90952" y="2894641"/>
              <a:ext cx="572014" cy="4680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54440" y="2803766"/>
              <a:ext cx="413423" cy="51823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88830" y="2835023"/>
              <a:ext cx="234274" cy="415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98936" y="2845057"/>
              <a:ext cx="620199" cy="44110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29144" y="1639836"/>
              <a:ext cx="621791" cy="3596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23759" y="1519427"/>
              <a:ext cx="116585" cy="216255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7255037" y="1544480"/>
              <a:ext cx="0" cy="2059305"/>
            </a:xfrm>
            <a:custGeom>
              <a:avLst/>
              <a:gdLst/>
              <a:ahLst/>
              <a:cxnLst/>
              <a:rect l="l" t="t" r="r" b="b"/>
              <a:pathLst>
                <a:path w="0" h="2059304">
                  <a:moveTo>
                    <a:pt x="0" y="0"/>
                  </a:moveTo>
                  <a:lnTo>
                    <a:pt x="0" y="2058949"/>
                  </a:lnTo>
                </a:path>
              </a:pathLst>
            </a:custGeom>
            <a:ln w="12700">
              <a:solidFill>
                <a:srgbClr val="4F81B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52658" y="2904680"/>
              <a:ext cx="753915" cy="51746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89915" y="2961690"/>
              <a:ext cx="359509" cy="3801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96105" y="1567433"/>
              <a:ext cx="116585" cy="211454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927421" y="1592450"/>
              <a:ext cx="0" cy="2011045"/>
            </a:xfrm>
            <a:custGeom>
              <a:avLst/>
              <a:gdLst/>
              <a:ahLst/>
              <a:cxnLst/>
              <a:rect l="l" t="t" r="r" b="b"/>
              <a:pathLst>
                <a:path w="0" h="2011045">
                  <a:moveTo>
                    <a:pt x="0" y="0"/>
                  </a:moveTo>
                  <a:lnTo>
                    <a:pt x="0" y="2010981"/>
                  </a:lnTo>
                </a:path>
              </a:pathLst>
            </a:custGeom>
            <a:ln w="12700">
              <a:solidFill>
                <a:srgbClr val="4F81B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7356184" y="2137802"/>
            <a:ext cx="1092200" cy="68008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25755">
              <a:lnSpc>
                <a:spcPct val="100000"/>
              </a:lnSpc>
              <a:spcBef>
                <a:spcPts val="515"/>
              </a:spcBef>
            </a:pP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  <a:p>
            <a:pPr marL="12700" marR="5080" indent="215900">
              <a:lnSpc>
                <a:spcPct val="100000"/>
              </a:lnSpc>
              <a:spcBef>
                <a:spcPts val="415"/>
              </a:spcBef>
            </a:pPr>
            <a:r>
              <a:rPr dirty="0" sz="1200" spc="-10" b="1">
                <a:latin typeface="Microsoft YaHei"/>
                <a:cs typeface="Microsoft YaHei"/>
              </a:rPr>
              <a:t>虚拟现实、</a:t>
            </a:r>
            <a:r>
              <a:rPr dirty="0" sz="1200" spc="-50" b="1">
                <a:latin typeface="Microsoft YaHei"/>
                <a:cs typeface="Microsoft YaHei"/>
              </a:rPr>
              <a:t> </a:t>
            </a:r>
            <a:r>
              <a:rPr dirty="0" sz="1200" spc="-10" b="1">
                <a:latin typeface="Microsoft YaHei"/>
                <a:cs typeface="Microsoft YaHei"/>
              </a:rPr>
              <a:t>“零”时延感知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41897" y="3369328"/>
            <a:ext cx="5600700" cy="165798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algn="ctr" marR="330200">
              <a:lnSpc>
                <a:spcPct val="100000"/>
              </a:lnSpc>
              <a:spcBef>
                <a:spcPts val="1435"/>
              </a:spcBef>
              <a:tabLst>
                <a:tab pos="1478280" algn="l"/>
                <a:tab pos="3150235" algn="l"/>
              </a:tabLst>
            </a:pPr>
            <a:r>
              <a:rPr dirty="0" sz="2100" spc="-50" b="1">
                <a:solidFill>
                  <a:srgbClr val="FF0000"/>
                </a:solidFill>
                <a:latin typeface="Microsoft YaHei"/>
                <a:cs typeface="Microsoft YaHei"/>
              </a:rPr>
              <a:t>有</a:t>
            </a:r>
            <a:r>
              <a:rPr dirty="0" sz="2100" b="1">
                <a:solidFill>
                  <a:srgbClr val="FF0000"/>
                </a:solidFill>
                <a:latin typeface="Microsoft YaHei"/>
                <a:cs typeface="Microsoft YaHei"/>
              </a:rPr>
              <a:t>	</a:t>
            </a:r>
            <a:r>
              <a:rPr dirty="0" sz="2100" spc="-50" b="1">
                <a:solidFill>
                  <a:srgbClr val="FF0000"/>
                </a:solidFill>
                <a:latin typeface="Microsoft YaHei"/>
                <a:cs typeface="Microsoft YaHei"/>
              </a:rPr>
              <a:t>好</a:t>
            </a:r>
            <a:r>
              <a:rPr dirty="0" sz="2100" b="1">
                <a:solidFill>
                  <a:srgbClr val="FF0000"/>
                </a:solidFill>
                <a:latin typeface="Microsoft YaHei"/>
                <a:cs typeface="Microsoft YaHei"/>
              </a:rPr>
              <a:t>	</a:t>
            </a:r>
            <a:r>
              <a:rPr dirty="0" sz="2100" spc="-50" b="1">
                <a:solidFill>
                  <a:srgbClr val="FF0000"/>
                </a:solidFill>
                <a:latin typeface="Microsoft YaHei"/>
                <a:cs typeface="Microsoft YaHei"/>
              </a:rPr>
              <a:t>强</a:t>
            </a:r>
            <a:endParaRPr sz="2100">
              <a:latin typeface="Microsoft YaHei"/>
              <a:cs typeface="Microsoft YaHei"/>
            </a:endParaRPr>
          </a:p>
          <a:p>
            <a:pPr marL="146050">
              <a:lnSpc>
                <a:spcPct val="100000"/>
              </a:lnSpc>
              <a:spcBef>
                <a:spcPts val="955"/>
              </a:spcBef>
            </a:pPr>
            <a:r>
              <a:rPr dirty="0" sz="1500" b="1">
                <a:solidFill>
                  <a:srgbClr val="0033CC"/>
                </a:solidFill>
                <a:latin typeface="Microsoft YaHei"/>
                <a:cs typeface="Microsoft YaHei"/>
              </a:rPr>
              <a:t>移动互联网和物联网为</a:t>
            </a:r>
            <a:r>
              <a:rPr dirty="0" sz="1500" spc="-10" b="1">
                <a:solidFill>
                  <a:srgbClr val="0033CC"/>
                </a:solidFill>
                <a:latin typeface="Arial"/>
                <a:cs typeface="Arial"/>
              </a:rPr>
              <a:t>5G</a:t>
            </a:r>
            <a:r>
              <a:rPr dirty="0" sz="1500" spc="-5" b="1">
                <a:solidFill>
                  <a:srgbClr val="0033CC"/>
                </a:solidFill>
                <a:latin typeface="Microsoft YaHei"/>
                <a:cs typeface="Microsoft YaHei"/>
              </a:rPr>
              <a:t>发展提供广阔发展空间</a:t>
            </a:r>
            <a:endParaRPr sz="15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500" spc="-10">
                <a:latin typeface="Arial MT"/>
                <a:cs typeface="Arial MT"/>
              </a:rPr>
              <a:t>--</a:t>
            </a:r>
            <a:r>
              <a:rPr dirty="0" sz="1200">
                <a:latin typeface="Microsoft YaHei"/>
                <a:cs typeface="Microsoft YaHei"/>
              </a:rPr>
              <a:t>预计</a:t>
            </a:r>
            <a:r>
              <a:rPr dirty="0" sz="1200" spc="-10">
                <a:latin typeface="Arial MT"/>
                <a:cs typeface="Arial MT"/>
              </a:rPr>
              <a:t>2010</a:t>
            </a:r>
            <a:r>
              <a:rPr dirty="0" sz="1200">
                <a:latin typeface="Microsoft YaHei"/>
                <a:cs typeface="Microsoft YaHei"/>
              </a:rPr>
              <a:t>年到</a:t>
            </a:r>
            <a:r>
              <a:rPr dirty="0" sz="1200" spc="-10">
                <a:latin typeface="Arial MT"/>
                <a:cs typeface="Arial MT"/>
              </a:rPr>
              <a:t>2020</a:t>
            </a:r>
            <a:r>
              <a:rPr dirty="0" sz="1200">
                <a:latin typeface="Microsoft YaHei"/>
                <a:cs typeface="Microsoft YaHei"/>
              </a:rPr>
              <a:t>年全球移动数据流量增长将超过</a:t>
            </a:r>
            <a:r>
              <a:rPr dirty="0" sz="1200" spc="-10">
                <a:latin typeface="Arial MT"/>
                <a:cs typeface="Arial MT"/>
              </a:rPr>
              <a:t>200</a:t>
            </a:r>
            <a:r>
              <a:rPr dirty="0" sz="1200">
                <a:latin typeface="Microsoft YaHei"/>
                <a:cs typeface="Microsoft YaHei"/>
              </a:rPr>
              <a:t>倍，我国将增长</a:t>
            </a:r>
            <a:r>
              <a:rPr dirty="0" sz="1200" spc="-10">
                <a:latin typeface="Arial MT"/>
                <a:cs typeface="Arial MT"/>
              </a:rPr>
              <a:t>300</a:t>
            </a:r>
            <a:r>
              <a:rPr dirty="0" sz="1200" spc="-20">
                <a:latin typeface="Microsoft YaHei"/>
                <a:cs typeface="Microsoft YaHei"/>
              </a:rPr>
              <a:t>倍以上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500" spc="-10">
                <a:latin typeface="Arial MT"/>
                <a:cs typeface="Arial MT"/>
              </a:rPr>
              <a:t>--</a:t>
            </a:r>
            <a:r>
              <a:rPr dirty="0" sz="1200">
                <a:latin typeface="Microsoft YaHei"/>
                <a:cs typeface="Microsoft YaHei"/>
              </a:rPr>
              <a:t>预计到</a:t>
            </a:r>
            <a:r>
              <a:rPr dirty="0" sz="1200" spc="-10">
                <a:latin typeface="Arial MT"/>
                <a:cs typeface="Arial MT"/>
              </a:rPr>
              <a:t>2020</a:t>
            </a:r>
            <a:r>
              <a:rPr dirty="0" sz="1200">
                <a:latin typeface="Microsoft YaHei"/>
                <a:cs typeface="Microsoft YaHei"/>
              </a:rPr>
              <a:t>年，全球移动终端数量将超过</a:t>
            </a:r>
            <a:r>
              <a:rPr dirty="0" sz="1200" spc="-10">
                <a:latin typeface="Arial MT"/>
                <a:cs typeface="Arial MT"/>
              </a:rPr>
              <a:t>100</a:t>
            </a:r>
            <a:r>
              <a:rPr dirty="0" sz="1200">
                <a:latin typeface="Microsoft YaHei"/>
                <a:cs typeface="Microsoft YaHei"/>
              </a:rPr>
              <a:t>亿，其中我国将超过</a:t>
            </a:r>
            <a:r>
              <a:rPr dirty="0" sz="1200" spc="-10">
                <a:latin typeface="Arial MT"/>
                <a:cs typeface="Arial MT"/>
              </a:rPr>
              <a:t>20</a:t>
            </a:r>
            <a:r>
              <a:rPr dirty="0" sz="1200" spc="-50">
                <a:latin typeface="Microsoft YaHei"/>
                <a:cs typeface="Microsoft YaHei"/>
              </a:rPr>
              <a:t>亿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200" spc="5">
                <a:latin typeface="Arial MT"/>
                <a:cs typeface="Arial MT"/>
              </a:rPr>
              <a:t>-- </a:t>
            </a:r>
            <a:r>
              <a:rPr dirty="0" sz="1200">
                <a:latin typeface="Microsoft YaHei"/>
                <a:cs typeface="Microsoft YaHei"/>
              </a:rPr>
              <a:t>预计到</a:t>
            </a:r>
            <a:r>
              <a:rPr dirty="0" sz="1200" spc="-10">
                <a:latin typeface="Arial MT"/>
                <a:cs typeface="Arial MT"/>
              </a:rPr>
              <a:t>2020</a:t>
            </a:r>
            <a:r>
              <a:rPr dirty="0" sz="1200">
                <a:latin typeface="Microsoft YaHei"/>
                <a:cs typeface="Microsoft YaHei"/>
              </a:rPr>
              <a:t>年全球物联网设备连接数为</a:t>
            </a:r>
            <a:r>
              <a:rPr dirty="0" sz="1200" spc="-10">
                <a:latin typeface="Arial MT"/>
                <a:cs typeface="Arial MT"/>
              </a:rPr>
              <a:t>500</a:t>
            </a:r>
            <a:r>
              <a:rPr dirty="0" sz="1200">
                <a:latin typeface="Microsoft YaHei"/>
                <a:cs typeface="Microsoft YaHei"/>
              </a:rPr>
              <a:t>亿，其中我国将超过</a:t>
            </a:r>
            <a:r>
              <a:rPr dirty="0" sz="1200" spc="-10">
                <a:latin typeface="Arial MT"/>
                <a:cs typeface="Arial MT"/>
              </a:rPr>
              <a:t>100</a:t>
            </a:r>
            <a:r>
              <a:rPr dirty="0" sz="1200" spc="-50">
                <a:latin typeface="Microsoft YaHei"/>
                <a:cs typeface="Microsoft YaHei"/>
              </a:rPr>
              <a:t>亿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245111" y="3539221"/>
            <a:ext cx="2921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F0000"/>
                </a:solidFill>
                <a:latin typeface="Microsoft YaHei"/>
                <a:cs typeface="Microsoft YaHei"/>
              </a:rPr>
              <a:t>爽</a:t>
            </a:r>
            <a:endParaRPr sz="2100">
              <a:latin typeface="Microsoft YaHei"/>
              <a:cs typeface="Microsoft YaHe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723963" y="3539221"/>
            <a:ext cx="2921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F0000"/>
                </a:solidFill>
                <a:latin typeface="Microsoft YaHei"/>
                <a:cs typeface="Microsoft YaHei"/>
              </a:rPr>
              <a:t>能</a:t>
            </a:r>
            <a:endParaRPr sz="21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434" y="144392"/>
            <a:ext cx="50946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35"/>
              <a:t>移动通信技术演进： </a:t>
            </a:r>
            <a:r>
              <a:rPr dirty="0" spc="-45">
                <a:solidFill>
                  <a:srgbClr val="FF0000"/>
                </a:solidFill>
              </a:rPr>
              <a:t>愿景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14151" y="2810972"/>
            <a:ext cx="7452995" cy="1419860"/>
            <a:chOff x="514151" y="2810972"/>
            <a:chExt cx="7452995" cy="1419860"/>
          </a:xfrm>
        </p:grpSpPr>
        <p:sp>
          <p:nvSpPr>
            <p:cNvPr id="4" name="object 4" descr=""/>
            <p:cNvSpPr/>
            <p:nvPr/>
          </p:nvSpPr>
          <p:spPr>
            <a:xfrm>
              <a:off x="514151" y="4079463"/>
              <a:ext cx="7433945" cy="0"/>
            </a:xfrm>
            <a:custGeom>
              <a:avLst/>
              <a:gdLst/>
              <a:ahLst/>
              <a:cxnLst/>
              <a:rect l="l" t="t" r="r" b="b"/>
              <a:pathLst>
                <a:path w="7433945" h="0">
                  <a:moveTo>
                    <a:pt x="0" y="0"/>
                  </a:moveTo>
                  <a:lnTo>
                    <a:pt x="7433411" y="0"/>
                  </a:lnTo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833271" y="401278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04418" y="3933323"/>
              <a:ext cx="297180" cy="292735"/>
            </a:xfrm>
            <a:custGeom>
              <a:avLst/>
              <a:gdLst/>
              <a:ahLst/>
              <a:cxnLst/>
              <a:rect l="l" t="t" r="r" b="b"/>
              <a:pathLst>
                <a:path w="297180" h="292735">
                  <a:moveTo>
                    <a:pt x="148374" y="0"/>
                  </a:moveTo>
                  <a:lnTo>
                    <a:pt x="101478" y="7450"/>
                  </a:lnTo>
                  <a:lnTo>
                    <a:pt x="60748" y="28196"/>
                  </a:lnTo>
                  <a:lnTo>
                    <a:pt x="28628" y="59831"/>
                  </a:lnTo>
                  <a:lnTo>
                    <a:pt x="7564" y="99948"/>
                  </a:lnTo>
                  <a:lnTo>
                    <a:pt x="0" y="146138"/>
                  </a:lnTo>
                  <a:lnTo>
                    <a:pt x="7564" y="192329"/>
                  </a:lnTo>
                  <a:lnTo>
                    <a:pt x="28628" y="232445"/>
                  </a:lnTo>
                  <a:lnTo>
                    <a:pt x="60748" y="264080"/>
                  </a:lnTo>
                  <a:lnTo>
                    <a:pt x="101478" y="284827"/>
                  </a:lnTo>
                  <a:lnTo>
                    <a:pt x="148374" y="292277"/>
                  </a:lnTo>
                  <a:lnTo>
                    <a:pt x="195276" y="284827"/>
                  </a:lnTo>
                  <a:lnTo>
                    <a:pt x="236009" y="264080"/>
                  </a:lnTo>
                  <a:lnTo>
                    <a:pt x="268131" y="232445"/>
                  </a:lnTo>
                  <a:lnTo>
                    <a:pt x="289196" y="192329"/>
                  </a:lnTo>
                  <a:lnTo>
                    <a:pt x="296760" y="146138"/>
                  </a:lnTo>
                  <a:lnTo>
                    <a:pt x="289196" y="99948"/>
                  </a:lnTo>
                  <a:lnTo>
                    <a:pt x="268131" y="59831"/>
                  </a:lnTo>
                  <a:lnTo>
                    <a:pt x="236009" y="28196"/>
                  </a:lnTo>
                  <a:lnTo>
                    <a:pt x="195276" y="7450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04418" y="3933323"/>
              <a:ext cx="297180" cy="292735"/>
            </a:xfrm>
            <a:custGeom>
              <a:avLst/>
              <a:gdLst/>
              <a:ahLst/>
              <a:cxnLst/>
              <a:rect l="l" t="t" r="r" b="b"/>
              <a:pathLst>
                <a:path w="297180" h="292735">
                  <a:moveTo>
                    <a:pt x="0" y="146138"/>
                  </a:moveTo>
                  <a:lnTo>
                    <a:pt x="7564" y="99948"/>
                  </a:lnTo>
                  <a:lnTo>
                    <a:pt x="28628" y="59831"/>
                  </a:lnTo>
                  <a:lnTo>
                    <a:pt x="60748" y="28196"/>
                  </a:lnTo>
                  <a:lnTo>
                    <a:pt x="101478" y="7450"/>
                  </a:lnTo>
                  <a:lnTo>
                    <a:pt x="148374" y="0"/>
                  </a:lnTo>
                  <a:lnTo>
                    <a:pt x="195276" y="7450"/>
                  </a:lnTo>
                  <a:lnTo>
                    <a:pt x="236009" y="28196"/>
                  </a:lnTo>
                  <a:lnTo>
                    <a:pt x="268131" y="59831"/>
                  </a:lnTo>
                  <a:lnTo>
                    <a:pt x="289196" y="99948"/>
                  </a:lnTo>
                  <a:lnTo>
                    <a:pt x="296760" y="146138"/>
                  </a:lnTo>
                  <a:lnTo>
                    <a:pt x="289196" y="192329"/>
                  </a:lnTo>
                  <a:lnTo>
                    <a:pt x="268131" y="232445"/>
                  </a:lnTo>
                  <a:lnTo>
                    <a:pt x="236009" y="264080"/>
                  </a:lnTo>
                  <a:lnTo>
                    <a:pt x="195276" y="284827"/>
                  </a:lnTo>
                  <a:lnTo>
                    <a:pt x="148374" y="292277"/>
                  </a:lnTo>
                  <a:lnTo>
                    <a:pt x="101478" y="284827"/>
                  </a:lnTo>
                  <a:lnTo>
                    <a:pt x="60748" y="264080"/>
                  </a:lnTo>
                  <a:lnTo>
                    <a:pt x="28628" y="232445"/>
                  </a:lnTo>
                  <a:lnTo>
                    <a:pt x="7564" y="192329"/>
                  </a:lnTo>
                  <a:lnTo>
                    <a:pt x="0" y="146138"/>
                  </a:lnTo>
                  <a:close/>
                </a:path>
              </a:pathLst>
            </a:custGeom>
            <a:ln w="952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902110" y="3933323"/>
              <a:ext cx="297180" cy="292735"/>
            </a:xfrm>
            <a:custGeom>
              <a:avLst/>
              <a:gdLst/>
              <a:ahLst/>
              <a:cxnLst/>
              <a:rect l="l" t="t" r="r" b="b"/>
              <a:pathLst>
                <a:path w="297179" h="292735">
                  <a:moveTo>
                    <a:pt x="148374" y="0"/>
                  </a:moveTo>
                  <a:lnTo>
                    <a:pt x="101478" y="7450"/>
                  </a:lnTo>
                  <a:lnTo>
                    <a:pt x="60748" y="28196"/>
                  </a:lnTo>
                  <a:lnTo>
                    <a:pt x="28628" y="59831"/>
                  </a:lnTo>
                  <a:lnTo>
                    <a:pt x="7564" y="99948"/>
                  </a:lnTo>
                  <a:lnTo>
                    <a:pt x="0" y="146138"/>
                  </a:lnTo>
                  <a:lnTo>
                    <a:pt x="7564" y="192329"/>
                  </a:lnTo>
                  <a:lnTo>
                    <a:pt x="28628" y="232445"/>
                  </a:lnTo>
                  <a:lnTo>
                    <a:pt x="60748" y="264080"/>
                  </a:lnTo>
                  <a:lnTo>
                    <a:pt x="101478" y="284827"/>
                  </a:lnTo>
                  <a:lnTo>
                    <a:pt x="148374" y="292277"/>
                  </a:lnTo>
                  <a:lnTo>
                    <a:pt x="195276" y="284827"/>
                  </a:lnTo>
                  <a:lnTo>
                    <a:pt x="236009" y="264080"/>
                  </a:lnTo>
                  <a:lnTo>
                    <a:pt x="268131" y="232445"/>
                  </a:lnTo>
                  <a:lnTo>
                    <a:pt x="289196" y="192329"/>
                  </a:lnTo>
                  <a:lnTo>
                    <a:pt x="296760" y="146138"/>
                  </a:lnTo>
                  <a:lnTo>
                    <a:pt x="289196" y="99948"/>
                  </a:lnTo>
                  <a:lnTo>
                    <a:pt x="268131" y="59831"/>
                  </a:lnTo>
                  <a:lnTo>
                    <a:pt x="236009" y="28196"/>
                  </a:lnTo>
                  <a:lnTo>
                    <a:pt x="195276" y="7450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02110" y="3933323"/>
              <a:ext cx="297180" cy="292735"/>
            </a:xfrm>
            <a:custGeom>
              <a:avLst/>
              <a:gdLst/>
              <a:ahLst/>
              <a:cxnLst/>
              <a:rect l="l" t="t" r="r" b="b"/>
              <a:pathLst>
                <a:path w="297179" h="292735">
                  <a:moveTo>
                    <a:pt x="0" y="146138"/>
                  </a:moveTo>
                  <a:lnTo>
                    <a:pt x="7564" y="99948"/>
                  </a:lnTo>
                  <a:lnTo>
                    <a:pt x="28628" y="59831"/>
                  </a:lnTo>
                  <a:lnTo>
                    <a:pt x="60748" y="28196"/>
                  </a:lnTo>
                  <a:lnTo>
                    <a:pt x="101478" y="7450"/>
                  </a:lnTo>
                  <a:lnTo>
                    <a:pt x="148374" y="0"/>
                  </a:lnTo>
                  <a:lnTo>
                    <a:pt x="195276" y="7450"/>
                  </a:lnTo>
                  <a:lnTo>
                    <a:pt x="236009" y="28196"/>
                  </a:lnTo>
                  <a:lnTo>
                    <a:pt x="268131" y="59831"/>
                  </a:lnTo>
                  <a:lnTo>
                    <a:pt x="289196" y="99948"/>
                  </a:lnTo>
                  <a:lnTo>
                    <a:pt x="296760" y="146138"/>
                  </a:lnTo>
                  <a:lnTo>
                    <a:pt x="289196" y="192329"/>
                  </a:lnTo>
                  <a:lnTo>
                    <a:pt x="268131" y="232445"/>
                  </a:lnTo>
                  <a:lnTo>
                    <a:pt x="236009" y="264080"/>
                  </a:lnTo>
                  <a:lnTo>
                    <a:pt x="195276" y="284827"/>
                  </a:lnTo>
                  <a:lnTo>
                    <a:pt x="148374" y="292277"/>
                  </a:lnTo>
                  <a:lnTo>
                    <a:pt x="101478" y="284827"/>
                  </a:lnTo>
                  <a:lnTo>
                    <a:pt x="60748" y="264080"/>
                  </a:lnTo>
                  <a:lnTo>
                    <a:pt x="28628" y="232445"/>
                  </a:lnTo>
                  <a:lnTo>
                    <a:pt x="7564" y="192329"/>
                  </a:lnTo>
                  <a:lnTo>
                    <a:pt x="0" y="146138"/>
                  </a:lnTo>
                  <a:close/>
                </a:path>
              </a:pathLst>
            </a:custGeom>
            <a:ln w="952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548179" y="3933323"/>
              <a:ext cx="297180" cy="292735"/>
            </a:xfrm>
            <a:custGeom>
              <a:avLst/>
              <a:gdLst/>
              <a:ahLst/>
              <a:cxnLst/>
              <a:rect l="l" t="t" r="r" b="b"/>
              <a:pathLst>
                <a:path w="297179" h="292735">
                  <a:moveTo>
                    <a:pt x="148374" y="0"/>
                  </a:moveTo>
                  <a:lnTo>
                    <a:pt x="101478" y="7450"/>
                  </a:lnTo>
                  <a:lnTo>
                    <a:pt x="60748" y="28196"/>
                  </a:lnTo>
                  <a:lnTo>
                    <a:pt x="28628" y="59831"/>
                  </a:lnTo>
                  <a:lnTo>
                    <a:pt x="7564" y="99948"/>
                  </a:lnTo>
                  <a:lnTo>
                    <a:pt x="0" y="146138"/>
                  </a:lnTo>
                  <a:lnTo>
                    <a:pt x="7564" y="192329"/>
                  </a:lnTo>
                  <a:lnTo>
                    <a:pt x="28628" y="232445"/>
                  </a:lnTo>
                  <a:lnTo>
                    <a:pt x="60748" y="264080"/>
                  </a:lnTo>
                  <a:lnTo>
                    <a:pt x="101478" y="284827"/>
                  </a:lnTo>
                  <a:lnTo>
                    <a:pt x="148374" y="292277"/>
                  </a:lnTo>
                  <a:lnTo>
                    <a:pt x="195276" y="284827"/>
                  </a:lnTo>
                  <a:lnTo>
                    <a:pt x="236009" y="264080"/>
                  </a:lnTo>
                  <a:lnTo>
                    <a:pt x="268131" y="232445"/>
                  </a:lnTo>
                  <a:lnTo>
                    <a:pt x="289196" y="192329"/>
                  </a:lnTo>
                  <a:lnTo>
                    <a:pt x="296760" y="146138"/>
                  </a:lnTo>
                  <a:lnTo>
                    <a:pt x="289196" y="99948"/>
                  </a:lnTo>
                  <a:lnTo>
                    <a:pt x="268131" y="59831"/>
                  </a:lnTo>
                  <a:lnTo>
                    <a:pt x="236009" y="28196"/>
                  </a:lnTo>
                  <a:lnTo>
                    <a:pt x="195276" y="7450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48179" y="3933323"/>
              <a:ext cx="297180" cy="292735"/>
            </a:xfrm>
            <a:custGeom>
              <a:avLst/>
              <a:gdLst/>
              <a:ahLst/>
              <a:cxnLst/>
              <a:rect l="l" t="t" r="r" b="b"/>
              <a:pathLst>
                <a:path w="297179" h="292735">
                  <a:moveTo>
                    <a:pt x="0" y="146138"/>
                  </a:moveTo>
                  <a:lnTo>
                    <a:pt x="7564" y="99948"/>
                  </a:lnTo>
                  <a:lnTo>
                    <a:pt x="28628" y="59831"/>
                  </a:lnTo>
                  <a:lnTo>
                    <a:pt x="60748" y="28196"/>
                  </a:lnTo>
                  <a:lnTo>
                    <a:pt x="101478" y="7450"/>
                  </a:lnTo>
                  <a:lnTo>
                    <a:pt x="148374" y="0"/>
                  </a:lnTo>
                  <a:lnTo>
                    <a:pt x="195276" y="7450"/>
                  </a:lnTo>
                  <a:lnTo>
                    <a:pt x="236009" y="28196"/>
                  </a:lnTo>
                  <a:lnTo>
                    <a:pt x="268131" y="59831"/>
                  </a:lnTo>
                  <a:lnTo>
                    <a:pt x="289196" y="99948"/>
                  </a:lnTo>
                  <a:lnTo>
                    <a:pt x="296760" y="146138"/>
                  </a:lnTo>
                  <a:lnTo>
                    <a:pt x="289196" y="192329"/>
                  </a:lnTo>
                  <a:lnTo>
                    <a:pt x="268131" y="232445"/>
                  </a:lnTo>
                  <a:lnTo>
                    <a:pt x="236009" y="264080"/>
                  </a:lnTo>
                  <a:lnTo>
                    <a:pt x="195276" y="284827"/>
                  </a:lnTo>
                  <a:lnTo>
                    <a:pt x="148374" y="292277"/>
                  </a:lnTo>
                  <a:lnTo>
                    <a:pt x="101478" y="284827"/>
                  </a:lnTo>
                  <a:lnTo>
                    <a:pt x="60748" y="264080"/>
                  </a:lnTo>
                  <a:lnTo>
                    <a:pt x="28628" y="232445"/>
                  </a:lnTo>
                  <a:lnTo>
                    <a:pt x="7564" y="192329"/>
                  </a:lnTo>
                  <a:lnTo>
                    <a:pt x="0" y="146138"/>
                  </a:lnTo>
                  <a:close/>
                </a:path>
              </a:pathLst>
            </a:custGeom>
            <a:ln w="952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1489" y="2810972"/>
              <a:ext cx="1122584" cy="10993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7958" y="2869112"/>
              <a:ext cx="990287" cy="9872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2288" y="2869095"/>
              <a:ext cx="1002380" cy="98725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331898" y="4317620"/>
            <a:ext cx="431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92D050"/>
                </a:solidFill>
                <a:latin typeface="Arial"/>
                <a:cs typeface="Arial"/>
              </a:rPr>
              <a:t>4G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20311" y="4319449"/>
            <a:ext cx="685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92D050"/>
                </a:solidFill>
                <a:latin typeface="Arial"/>
                <a:cs typeface="Arial"/>
              </a:rPr>
              <a:t>4.5G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492772" y="4343832"/>
            <a:ext cx="431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92D050"/>
                </a:solidFill>
                <a:latin typeface="Arial"/>
                <a:cs typeface="Arial"/>
              </a:rPr>
              <a:t>5G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90235" y="1261085"/>
            <a:ext cx="1685289" cy="113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Microsoft YaHei"/>
                <a:cs typeface="Microsoft YaHei"/>
              </a:rPr>
              <a:t>人与人互联</a:t>
            </a:r>
            <a:endParaRPr sz="2400">
              <a:latin typeface="Microsoft YaHei"/>
              <a:cs typeface="Microsoft YaHei"/>
            </a:endParaRPr>
          </a:p>
          <a:p>
            <a:pPr marL="12700" marR="5080" indent="-8890">
              <a:lnSpc>
                <a:spcPct val="100000"/>
              </a:lnSpc>
              <a:spcBef>
                <a:spcPts val="2485"/>
              </a:spcBef>
              <a:buSzPct val="92857"/>
              <a:buFont typeface="Arial MT"/>
              <a:buChar char="•"/>
              <a:tabLst>
                <a:tab pos="73660" algn="l"/>
              </a:tabLst>
            </a:pP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5">
                <a:latin typeface="Microsoft YaHei"/>
                <a:cs typeface="Microsoft YaHei"/>
              </a:rPr>
              <a:t>高清视频、简单物联</a:t>
            </a:r>
            <a:r>
              <a:rPr dirty="0" sz="1400" spc="-30">
                <a:latin typeface="Microsoft YaHei"/>
                <a:cs typeface="Microsoft YaHei"/>
              </a:rPr>
              <a:t>网、车联网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185116" y="1261085"/>
            <a:ext cx="1696085" cy="1069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Microsoft YaHei"/>
                <a:cs typeface="Microsoft YaHei"/>
              </a:rPr>
              <a:t>物联网</a:t>
            </a:r>
            <a:endParaRPr sz="2400">
              <a:latin typeface="Microsoft YaHei"/>
              <a:cs typeface="Microsoft YaHei"/>
            </a:endParaRPr>
          </a:p>
          <a:p>
            <a:pPr marL="12700" marR="5080" indent="-8890">
              <a:lnSpc>
                <a:spcPct val="100000"/>
              </a:lnSpc>
              <a:spcBef>
                <a:spcPts val="1980"/>
              </a:spcBef>
              <a:buSzPct val="92857"/>
              <a:buChar char="•"/>
              <a:tabLst>
                <a:tab pos="73660" algn="l"/>
              </a:tabLst>
            </a:pP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4k</a:t>
            </a:r>
            <a:r>
              <a:rPr dirty="0" sz="1400" spc="-25">
                <a:latin typeface="Microsoft YaHei"/>
                <a:cs typeface="Microsoft YaHei"/>
              </a:rPr>
              <a:t>超高清视频、物联</a:t>
            </a:r>
            <a:r>
              <a:rPr dirty="0" sz="1400" spc="-30">
                <a:latin typeface="Microsoft YaHei"/>
                <a:cs typeface="Microsoft YaHei"/>
              </a:rPr>
              <a:t>网、车联网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637699" y="1261085"/>
            <a:ext cx="2157730" cy="1219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5455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latin typeface="Microsoft YaHei"/>
                <a:cs typeface="Microsoft YaHei"/>
              </a:rPr>
              <a:t>万物互联</a:t>
            </a:r>
            <a:endParaRPr sz="2400">
              <a:latin typeface="Microsoft YaHei"/>
              <a:cs typeface="Microsoft YaHei"/>
            </a:endParaRPr>
          </a:p>
          <a:p>
            <a:pPr marL="12700" marR="5080" indent="-8890">
              <a:lnSpc>
                <a:spcPct val="100000"/>
              </a:lnSpc>
              <a:spcBef>
                <a:spcPts val="1475"/>
              </a:spcBef>
              <a:buSzPct val="92857"/>
              <a:buFont typeface="Arial MT"/>
              <a:buChar char="•"/>
              <a:tabLst>
                <a:tab pos="73660" algn="l"/>
              </a:tabLst>
            </a:pPr>
            <a:r>
              <a:rPr dirty="0" sz="1400" spc="-25">
                <a:solidFill>
                  <a:srgbClr val="FF0000"/>
                </a:solidFill>
                <a:latin typeface="Microsoft YaHei"/>
                <a:cs typeface="Microsoft YaHei"/>
              </a:rPr>
              <a:t>	</a:t>
            </a:r>
            <a:r>
              <a:rPr dirty="0" sz="1400" spc="-25">
                <a:solidFill>
                  <a:srgbClr val="FF0000"/>
                </a:solidFill>
                <a:latin typeface="Microsoft YaHei"/>
                <a:cs typeface="Microsoft YaHei"/>
              </a:rPr>
              <a:t>全息视频、虚拟现实、自动驾驶、物联网、车联网、智能家居、穿戴式设备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397" y="125660"/>
            <a:ext cx="2964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0"/>
              <a:t>的主要驱动力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14413" y="984738"/>
            <a:ext cx="6433185" cy="3973829"/>
            <a:chOff x="1214413" y="984738"/>
            <a:chExt cx="6433185" cy="39738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877" y="1930377"/>
              <a:ext cx="6323911" cy="19799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3804" y="984738"/>
              <a:ext cx="6263665" cy="9909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4413" y="3814737"/>
              <a:ext cx="6421737" cy="11438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0505" y="125660"/>
            <a:ext cx="580834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5"/>
              <a:t>发展驱动力：行业发展的需要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-12700" y="806450"/>
            <a:ext cx="9169400" cy="4140200"/>
            <a:chOff x="-12700" y="806450"/>
            <a:chExt cx="9169400" cy="4140200"/>
          </a:xfrm>
        </p:grpSpPr>
        <p:sp>
          <p:nvSpPr>
            <p:cNvPr id="4" name="object 4" descr=""/>
            <p:cNvSpPr/>
            <p:nvPr/>
          </p:nvSpPr>
          <p:spPr>
            <a:xfrm>
              <a:off x="0" y="819150"/>
              <a:ext cx="9144000" cy="4114800"/>
            </a:xfrm>
            <a:custGeom>
              <a:avLst/>
              <a:gdLst/>
              <a:ahLst/>
              <a:cxnLst/>
              <a:rect l="l" t="t" r="r" b="b"/>
              <a:pathLst>
                <a:path w="9144000" h="4114800">
                  <a:moveTo>
                    <a:pt x="91440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9144000" y="4114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C33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819150"/>
              <a:ext cx="9144000" cy="4114800"/>
            </a:xfrm>
            <a:custGeom>
              <a:avLst/>
              <a:gdLst/>
              <a:ahLst/>
              <a:cxnLst/>
              <a:rect l="l" t="t" r="r" b="b"/>
              <a:pathLst>
                <a:path w="9144000" h="4114800">
                  <a:moveTo>
                    <a:pt x="0" y="0"/>
                  </a:moveTo>
                  <a:lnTo>
                    <a:pt x="9144000" y="0"/>
                  </a:lnTo>
                  <a:lnTo>
                    <a:pt x="9144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7420" y="4265739"/>
              <a:ext cx="5050790" cy="611505"/>
            </a:xfrm>
            <a:custGeom>
              <a:avLst/>
              <a:gdLst/>
              <a:ahLst/>
              <a:cxnLst/>
              <a:rect l="l" t="t" r="r" b="b"/>
              <a:pathLst>
                <a:path w="5050790" h="611504">
                  <a:moveTo>
                    <a:pt x="2346045" y="7569"/>
                  </a:moveTo>
                  <a:lnTo>
                    <a:pt x="2338476" y="0"/>
                  </a:lnTo>
                  <a:lnTo>
                    <a:pt x="7569" y="0"/>
                  </a:lnTo>
                  <a:lnTo>
                    <a:pt x="0" y="7569"/>
                  </a:lnTo>
                  <a:lnTo>
                    <a:pt x="0" y="16903"/>
                  </a:lnTo>
                  <a:lnTo>
                    <a:pt x="0" y="313283"/>
                  </a:lnTo>
                  <a:lnTo>
                    <a:pt x="7569" y="320852"/>
                  </a:lnTo>
                  <a:lnTo>
                    <a:pt x="2338476" y="320852"/>
                  </a:lnTo>
                  <a:lnTo>
                    <a:pt x="2346045" y="313283"/>
                  </a:lnTo>
                  <a:lnTo>
                    <a:pt x="2346045" y="7569"/>
                  </a:lnTo>
                  <a:close/>
                </a:path>
                <a:path w="5050790" h="611504">
                  <a:moveTo>
                    <a:pt x="5050409" y="7569"/>
                  </a:moveTo>
                  <a:lnTo>
                    <a:pt x="5042840" y="0"/>
                  </a:lnTo>
                  <a:lnTo>
                    <a:pt x="2428392" y="0"/>
                  </a:lnTo>
                  <a:lnTo>
                    <a:pt x="2420823" y="7569"/>
                  </a:lnTo>
                  <a:lnTo>
                    <a:pt x="2420823" y="16903"/>
                  </a:lnTo>
                  <a:lnTo>
                    <a:pt x="2420823" y="313283"/>
                  </a:lnTo>
                  <a:lnTo>
                    <a:pt x="2428392" y="320852"/>
                  </a:lnTo>
                  <a:lnTo>
                    <a:pt x="5042840" y="320852"/>
                  </a:lnTo>
                  <a:lnTo>
                    <a:pt x="5050409" y="313283"/>
                  </a:lnTo>
                  <a:lnTo>
                    <a:pt x="5050409" y="7569"/>
                  </a:lnTo>
                  <a:close/>
                </a:path>
                <a:path w="5050790" h="611504">
                  <a:moveTo>
                    <a:pt x="5050421" y="366610"/>
                  </a:moveTo>
                  <a:lnTo>
                    <a:pt x="5044503" y="360692"/>
                  </a:lnTo>
                  <a:lnTo>
                    <a:pt x="5918" y="360692"/>
                  </a:lnTo>
                  <a:lnTo>
                    <a:pt x="0" y="366610"/>
                  </a:lnTo>
                  <a:lnTo>
                    <a:pt x="0" y="373900"/>
                  </a:lnTo>
                  <a:lnTo>
                    <a:pt x="0" y="605447"/>
                  </a:lnTo>
                  <a:lnTo>
                    <a:pt x="5918" y="611365"/>
                  </a:lnTo>
                  <a:lnTo>
                    <a:pt x="5044503" y="611365"/>
                  </a:lnTo>
                  <a:lnTo>
                    <a:pt x="5050421" y="605447"/>
                  </a:lnTo>
                  <a:lnTo>
                    <a:pt x="5050421" y="36661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524109" y="4615630"/>
            <a:ext cx="787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5">
                <a:solidFill>
                  <a:srgbClr val="FFFFFF"/>
                </a:solidFill>
                <a:latin typeface="SimSun"/>
                <a:cs typeface="SimSun"/>
              </a:rPr>
              <a:t>连接能力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753715" y="2324328"/>
            <a:ext cx="2885440" cy="626110"/>
          </a:xfrm>
          <a:custGeom>
            <a:avLst/>
            <a:gdLst/>
            <a:ahLst/>
            <a:cxnLst/>
            <a:rect l="l" t="t" r="r" b="b"/>
            <a:pathLst>
              <a:path w="2885440" h="626110">
                <a:moveTo>
                  <a:pt x="249097" y="312839"/>
                </a:moveTo>
                <a:lnTo>
                  <a:pt x="0" y="0"/>
                </a:lnTo>
                <a:lnTo>
                  <a:pt x="0" y="625665"/>
                </a:lnTo>
                <a:lnTo>
                  <a:pt x="249097" y="312839"/>
                </a:lnTo>
                <a:close/>
              </a:path>
              <a:path w="2885440" h="626110">
                <a:moveTo>
                  <a:pt x="2885084" y="312839"/>
                </a:moveTo>
                <a:lnTo>
                  <a:pt x="2635986" y="0"/>
                </a:lnTo>
                <a:lnTo>
                  <a:pt x="2635986" y="625665"/>
                </a:lnTo>
                <a:lnTo>
                  <a:pt x="2885084" y="31283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63071" y="3952499"/>
            <a:ext cx="12630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solidFill>
                  <a:srgbClr val="FFFFFF"/>
                </a:solidFill>
                <a:latin typeface="SimSun"/>
                <a:cs typeface="SimSun"/>
              </a:rPr>
              <a:t>语音时代 </a:t>
            </a:r>
            <a:r>
              <a:rPr dirty="0" sz="1500" spc="-20">
                <a:solidFill>
                  <a:srgbClr val="FFFFFF"/>
                </a:solidFill>
                <a:latin typeface="SimSun"/>
                <a:cs typeface="SimSun"/>
              </a:rPr>
              <a:t>(2G)</a:t>
            </a:r>
            <a:endParaRPr sz="150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06970" y="3935544"/>
            <a:ext cx="183451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solidFill>
                  <a:srgbClr val="FFFFFF"/>
                </a:solidFill>
                <a:latin typeface="SimSun"/>
                <a:cs typeface="SimSun"/>
              </a:rPr>
              <a:t>移动互联网 </a:t>
            </a:r>
            <a:r>
              <a:rPr dirty="0" sz="1500" spc="-10">
                <a:solidFill>
                  <a:srgbClr val="FFFFFF"/>
                </a:solidFill>
                <a:latin typeface="SimSun"/>
                <a:cs typeface="SimSun"/>
              </a:rPr>
              <a:t>(2/3/4G)</a:t>
            </a:r>
            <a:endParaRPr sz="1500">
              <a:latin typeface="SimSun"/>
              <a:cs typeface="SimSu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271498" y="4256363"/>
            <a:ext cx="7485380" cy="623570"/>
            <a:chOff x="1271498" y="4256363"/>
            <a:chExt cx="7485380" cy="62357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8616" y="4332076"/>
              <a:ext cx="217906" cy="21791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1644" y="4305620"/>
              <a:ext cx="268452" cy="26504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346537" y="4294009"/>
              <a:ext cx="261620" cy="266065"/>
            </a:xfrm>
            <a:custGeom>
              <a:avLst/>
              <a:gdLst/>
              <a:ahLst/>
              <a:cxnLst/>
              <a:rect l="l" t="t" r="r" b="b"/>
              <a:pathLst>
                <a:path w="261620" h="266064">
                  <a:moveTo>
                    <a:pt x="95986" y="4089"/>
                  </a:moveTo>
                  <a:lnTo>
                    <a:pt x="57188" y="26555"/>
                  </a:lnTo>
                  <a:lnTo>
                    <a:pt x="26543" y="55143"/>
                  </a:lnTo>
                  <a:lnTo>
                    <a:pt x="6121" y="91909"/>
                  </a:lnTo>
                  <a:lnTo>
                    <a:pt x="0" y="132753"/>
                  </a:lnTo>
                  <a:lnTo>
                    <a:pt x="2044" y="155219"/>
                  </a:lnTo>
                  <a:lnTo>
                    <a:pt x="14300" y="194030"/>
                  </a:lnTo>
                  <a:lnTo>
                    <a:pt x="40843" y="226707"/>
                  </a:lnTo>
                  <a:lnTo>
                    <a:pt x="75565" y="253263"/>
                  </a:lnTo>
                  <a:lnTo>
                    <a:pt x="95986" y="261429"/>
                  </a:lnTo>
                  <a:lnTo>
                    <a:pt x="83731" y="251218"/>
                  </a:lnTo>
                  <a:lnTo>
                    <a:pt x="73520" y="238963"/>
                  </a:lnTo>
                  <a:lnTo>
                    <a:pt x="63309" y="224663"/>
                  </a:lnTo>
                  <a:lnTo>
                    <a:pt x="46977" y="191985"/>
                  </a:lnTo>
                  <a:lnTo>
                    <a:pt x="42887" y="173609"/>
                  </a:lnTo>
                  <a:lnTo>
                    <a:pt x="38798" y="153187"/>
                  </a:lnTo>
                  <a:lnTo>
                    <a:pt x="38798" y="114376"/>
                  </a:lnTo>
                  <a:lnTo>
                    <a:pt x="46977" y="75577"/>
                  </a:lnTo>
                  <a:lnTo>
                    <a:pt x="73520" y="28600"/>
                  </a:lnTo>
                  <a:lnTo>
                    <a:pt x="83731" y="16344"/>
                  </a:lnTo>
                  <a:lnTo>
                    <a:pt x="95986" y="4089"/>
                  </a:lnTo>
                  <a:close/>
                </a:path>
                <a:path w="261620" h="266064">
                  <a:moveTo>
                    <a:pt x="261416" y="145008"/>
                  </a:moveTo>
                  <a:lnTo>
                    <a:pt x="253250" y="149098"/>
                  </a:lnTo>
                  <a:lnTo>
                    <a:pt x="247129" y="169519"/>
                  </a:lnTo>
                  <a:lnTo>
                    <a:pt x="238950" y="189941"/>
                  </a:lnTo>
                  <a:lnTo>
                    <a:pt x="234873" y="189941"/>
                  </a:lnTo>
                  <a:lnTo>
                    <a:pt x="234873" y="200152"/>
                  </a:lnTo>
                  <a:lnTo>
                    <a:pt x="210362" y="228752"/>
                  </a:lnTo>
                  <a:lnTo>
                    <a:pt x="194030" y="238963"/>
                  </a:lnTo>
                  <a:lnTo>
                    <a:pt x="177685" y="247129"/>
                  </a:lnTo>
                  <a:lnTo>
                    <a:pt x="187896" y="238963"/>
                  </a:lnTo>
                  <a:lnTo>
                    <a:pt x="204241" y="214452"/>
                  </a:lnTo>
                  <a:lnTo>
                    <a:pt x="210362" y="200152"/>
                  </a:lnTo>
                  <a:lnTo>
                    <a:pt x="234873" y="200152"/>
                  </a:lnTo>
                  <a:lnTo>
                    <a:pt x="234873" y="189941"/>
                  </a:lnTo>
                  <a:lnTo>
                    <a:pt x="212407" y="189941"/>
                  </a:lnTo>
                  <a:lnTo>
                    <a:pt x="218528" y="169519"/>
                  </a:lnTo>
                  <a:lnTo>
                    <a:pt x="222618" y="147053"/>
                  </a:lnTo>
                  <a:lnTo>
                    <a:pt x="212407" y="140931"/>
                  </a:lnTo>
                  <a:lnTo>
                    <a:pt x="208318" y="167474"/>
                  </a:lnTo>
                  <a:lnTo>
                    <a:pt x="202196" y="189941"/>
                  </a:lnTo>
                  <a:lnTo>
                    <a:pt x="200152" y="189941"/>
                  </a:lnTo>
                  <a:lnTo>
                    <a:pt x="200152" y="200152"/>
                  </a:lnTo>
                  <a:lnTo>
                    <a:pt x="181775" y="230797"/>
                  </a:lnTo>
                  <a:lnTo>
                    <a:pt x="173596" y="238963"/>
                  </a:lnTo>
                  <a:lnTo>
                    <a:pt x="157264" y="251218"/>
                  </a:lnTo>
                  <a:lnTo>
                    <a:pt x="140919" y="255308"/>
                  </a:lnTo>
                  <a:lnTo>
                    <a:pt x="136842" y="255308"/>
                  </a:lnTo>
                  <a:lnTo>
                    <a:pt x="136842" y="200152"/>
                  </a:lnTo>
                  <a:lnTo>
                    <a:pt x="200152" y="200152"/>
                  </a:lnTo>
                  <a:lnTo>
                    <a:pt x="200152" y="189941"/>
                  </a:lnTo>
                  <a:lnTo>
                    <a:pt x="136842" y="189941"/>
                  </a:lnTo>
                  <a:lnTo>
                    <a:pt x="136842" y="136842"/>
                  </a:lnTo>
                  <a:lnTo>
                    <a:pt x="206273" y="136842"/>
                  </a:lnTo>
                  <a:lnTo>
                    <a:pt x="198107" y="128676"/>
                  </a:lnTo>
                  <a:lnTo>
                    <a:pt x="136842" y="128676"/>
                  </a:lnTo>
                  <a:lnTo>
                    <a:pt x="136842" y="75577"/>
                  </a:lnTo>
                  <a:lnTo>
                    <a:pt x="189941" y="75577"/>
                  </a:lnTo>
                  <a:lnTo>
                    <a:pt x="196062" y="67398"/>
                  </a:lnTo>
                  <a:lnTo>
                    <a:pt x="136842" y="67398"/>
                  </a:lnTo>
                  <a:lnTo>
                    <a:pt x="136842" y="9004"/>
                  </a:lnTo>
                  <a:lnTo>
                    <a:pt x="153174" y="12255"/>
                  </a:lnTo>
                  <a:lnTo>
                    <a:pt x="161353" y="18389"/>
                  </a:lnTo>
                  <a:lnTo>
                    <a:pt x="171564" y="24511"/>
                  </a:lnTo>
                  <a:lnTo>
                    <a:pt x="177685" y="32677"/>
                  </a:lnTo>
                  <a:lnTo>
                    <a:pt x="185851" y="40855"/>
                  </a:lnTo>
                  <a:lnTo>
                    <a:pt x="191985" y="51066"/>
                  </a:lnTo>
                  <a:lnTo>
                    <a:pt x="198107" y="63322"/>
                  </a:lnTo>
                  <a:lnTo>
                    <a:pt x="206273" y="55143"/>
                  </a:lnTo>
                  <a:lnTo>
                    <a:pt x="191985" y="34721"/>
                  </a:lnTo>
                  <a:lnTo>
                    <a:pt x="185851" y="24511"/>
                  </a:lnTo>
                  <a:lnTo>
                    <a:pt x="177685" y="16344"/>
                  </a:lnTo>
                  <a:lnTo>
                    <a:pt x="189941" y="22466"/>
                  </a:lnTo>
                  <a:lnTo>
                    <a:pt x="200152" y="28600"/>
                  </a:lnTo>
                  <a:lnTo>
                    <a:pt x="210362" y="36766"/>
                  </a:lnTo>
                  <a:lnTo>
                    <a:pt x="220573" y="46977"/>
                  </a:lnTo>
                  <a:lnTo>
                    <a:pt x="230784" y="44932"/>
                  </a:lnTo>
                  <a:lnTo>
                    <a:pt x="220573" y="34721"/>
                  </a:lnTo>
                  <a:lnTo>
                    <a:pt x="200152" y="18389"/>
                  </a:lnTo>
                  <a:lnTo>
                    <a:pt x="196062" y="16344"/>
                  </a:lnTo>
                  <a:lnTo>
                    <a:pt x="179730" y="8178"/>
                  </a:lnTo>
                  <a:lnTo>
                    <a:pt x="175641" y="6134"/>
                  </a:lnTo>
                  <a:lnTo>
                    <a:pt x="163385" y="2044"/>
                  </a:lnTo>
                  <a:lnTo>
                    <a:pt x="149098" y="0"/>
                  </a:lnTo>
                  <a:lnTo>
                    <a:pt x="136842" y="0"/>
                  </a:lnTo>
                  <a:lnTo>
                    <a:pt x="128676" y="0"/>
                  </a:lnTo>
                  <a:lnTo>
                    <a:pt x="128676" y="256946"/>
                  </a:lnTo>
                  <a:lnTo>
                    <a:pt x="120497" y="255308"/>
                  </a:lnTo>
                  <a:lnTo>
                    <a:pt x="85788" y="232841"/>
                  </a:lnTo>
                  <a:lnTo>
                    <a:pt x="67398" y="200152"/>
                  </a:lnTo>
                  <a:lnTo>
                    <a:pt x="128676" y="200152"/>
                  </a:lnTo>
                  <a:lnTo>
                    <a:pt x="128676" y="189941"/>
                  </a:lnTo>
                  <a:lnTo>
                    <a:pt x="63322" y="189941"/>
                  </a:lnTo>
                  <a:lnTo>
                    <a:pt x="57188" y="165442"/>
                  </a:lnTo>
                  <a:lnTo>
                    <a:pt x="53111" y="136842"/>
                  </a:lnTo>
                  <a:lnTo>
                    <a:pt x="128676" y="136842"/>
                  </a:lnTo>
                  <a:lnTo>
                    <a:pt x="128676" y="128676"/>
                  </a:lnTo>
                  <a:lnTo>
                    <a:pt x="53111" y="128676"/>
                  </a:lnTo>
                  <a:lnTo>
                    <a:pt x="57188" y="100076"/>
                  </a:lnTo>
                  <a:lnTo>
                    <a:pt x="63322" y="75577"/>
                  </a:lnTo>
                  <a:lnTo>
                    <a:pt x="128676" y="75577"/>
                  </a:lnTo>
                  <a:lnTo>
                    <a:pt x="128676" y="67398"/>
                  </a:lnTo>
                  <a:lnTo>
                    <a:pt x="65366" y="67398"/>
                  </a:lnTo>
                  <a:lnTo>
                    <a:pt x="77609" y="42887"/>
                  </a:lnTo>
                  <a:lnTo>
                    <a:pt x="112331" y="12255"/>
                  </a:lnTo>
                  <a:lnTo>
                    <a:pt x="128676" y="9004"/>
                  </a:lnTo>
                  <a:lnTo>
                    <a:pt x="128676" y="0"/>
                  </a:lnTo>
                  <a:lnTo>
                    <a:pt x="122542" y="0"/>
                  </a:lnTo>
                  <a:lnTo>
                    <a:pt x="112331" y="2044"/>
                  </a:lnTo>
                  <a:lnTo>
                    <a:pt x="69443" y="38811"/>
                  </a:lnTo>
                  <a:lnTo>
                    <a:pt x="51066" y="81699"/>
                  </a:lnTo>
                  <a:lnTo>
                    <a:pt x="42900" y="132753"/>
                  </a:lnTo>
                  <a:lnTo>
                    <a:pt x="44932" y="159308"/>
                  </a:lnTo>
                  <a:lnTo>
                    <a:pt x="59232" y="206286"/>
                  </a:lnTo>
                  <a:lnTo>
                    <a:pt x="83743" y="243052"/>
                  </a:lnTo>
                  <a:lnTo>
                    <a:pt x="124587" y="265518"/>
                  </a:lnTo>
                  <a:lnTo>
                    <a:pt x="142963" y="265518"/>
                  </a:lnTo>
                  <a:lnTo>
                    <a:pt x="165430" y="261429"/>
                  </a:lnTo>
                  <a:lnTo>
                    <a:pt x="175653" y="257340"/>
                  </a:lnTo>
                  <a:lnTo>
                    <a:pt x="185851" y="253263"/>
                  </a:lnTo>
                  <a:lnTo>
                    <a:pt x="198120" y="247129"/>
                  </a:lnTo>
                  <a:lnTo>
                    <a:pt x="206273" y="243052"/>
                  </a:lnTo>
                  <a:lnTo>
                    <a:pt x="222618" y="228752"/>
                  </a:lnTo>
                  <a:lnTo>
                    <a:pt x="238950" y="210375"/>
                  </a:lnTo>
                  <a:lnTo>
                    <a:pt x="244055" y="200152"/>
                  </a:lnTo>
                  <a:lnTo>
                    <a:pt x="249161" y="189941"/>
                  </a:lnTo>
                  <a:lnTo>
                    <a:pt x="257340" y="169519"/>
                  </a:lnTo>
                  <a:lnTo>
                    <a:pt x="261416" y="145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476" y="4338941"/>
              <a:ext cx="165418" cy="17156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1498" y="4285443"/>
              <a:ext cx="268452" cy="26504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719237" y="4307624"/>
              <a:ext cx="3391535" cy="231140"/>
            </a:xfrm>
            <a:custGeom>
              <a:avLst/>
              <a:gdLst/>
              <a:ahLst/>
              <a:cxnLst/>
              <a:rect l="l" t="t" r="r" b="b"/>
              <a:pathLst>
                <a:path w="3391535" h="231139">
                  <a:moveTo>
                    <a:pt x="322186" y="62560"/>
                  </a:moveTo>
                  <a:lnTo>
                    <a:pt x="315925" y="37541"/>
                  </a:lnTo>
                  <a:lnTo>
                    <a:pt x="309676" y="28168"/>
                  </a:lnTo>
                  <a:lnTo>
                    <a:pt x="309676" y="175171"/>
                  </a:lnTo>
                  <a:lnTo>
                    <a:pt x="306539" y="181432"/>
                  </a:lnTo>
                  <a:lnTo>
                    <a:pt x="297167" y="181432"/>
                  </a:lnTo>
                  <a:lnTo>
                    <a:pt x="293801" y="178308"/>
                  </a:lnTo>
                  <a:lnTo>
                    <a:pt x="260019" y="147027"/>
                  </a:lnTo>
                  <a:lnTo>
                    <a:pt x="212712" y="103225"/>
                  </a:lnTo>
                  <a:lnTo>
                    <a:pt x="165785" y="143891"/>
                  </a:lnTo>
                  <a:lnTo>
                    <a:pt x="159524" y="147027"/>
                  </a:lnTo>
                  <a:lnTo>
                    <a:pt x="156400" y="143891"/>
                  </a:lnTo>
                  <a:lnTo>
                    <a:pt x="106349" y="103225"/>
                  </a:lnTo>
                  <a:lnTo>
                    <a:pt x="25031" y="178308"/>
                  </a:lnTo>
                  <a:lnTo>
                    <a:pt x="15646" y="178308"/>
                  </a:lnTo>
                  <a:lnTo>
                    <a:pt x="15646" y="172046"/>
                  </a:lnTo>
                  <a:lnTo>
                    <a:pt x="18770" y="168922"/>
                  </a:lnTo>
                  <a:lnTo>
                    <a:pt x="96977" y="93840"/>
                  </a:lnTo>
                  <a:lnTo>
                    <a:pt x="21894" y="34404"/>
                  </a:lnTo>
                  <a:lnTo>
                    <a:pt x="21894" y="25019"/>
                  </a:lnTo>
                  <a:lnTo>
                    <a:pt x="28155" y="21894"/>
                  </a:lnTo>
                  <a:lnTo>
                    <a:pt x="31280" y="25019"/>
                  </a:lnTo>
                  <a:lnTo>
                    <a:pt x="37541" y="28155"/>
                  </a:lnTo>
                  <a:lnTo>
                    <a:pt x="159524" y="131381"/>
                  </a:lnTo>
                  <a:lnTo>
                    <a:pt x="281520" y="28155"/>
                  </a:lnTo>
                  <a:lnTo>
                    <a:pt x="287782" y="21894"/>
                  </a:lnTo>
                  <a:lnTo>
                    <a:pt x="294030" y="21894"/>
                  </a:lnTo>
                  <a:lnTo>
                    <a:pt x="300291" y="28155"/>
                  </a:lnTo>
                  <a:lnTo>
                    <a:pt x="297167" y="34404"/>
                  </a:lnTo>
                  <a:lnTo>
                    <a:pt x="222084" y="93840"/>
                  </a:lnTo>
                  <a:lnTo>
                    <a:pt x="306539" y="172046"/>
                  </a:lnTo>
                  <a:lnTo>
                    <a:pt x="309676" y="28168"/>
                  </a:lnTo>
                  <a:lnTo>
                    <a:pt x="259626" y="0"/>
                  </a:lnTo>
                  <a:lnTo>
                    <a:pt x="59436" y="0"/>
                  </a:lnTo>
                  <a:lnTo>
                    <a:pt x="15646" y="18770"/>
                  </a:lnTo>
                  <a:lnTo>
                    <a:pt x="0" y="50050"/>
                  </a:lnTo>
                  <a:lnTo>
                    <a:pt x="0" y="162661"/>
                  </a:lnTo>
                  <a:lnTo>
                    <a:pt x="25031" y="200202"/>
                  </a:lnTo>
                  <a:lnTo>
                    <a:pt x="59436" y="212712"/>
                  </a:lnTo>
                  <a:lnTo>
                    <a:pt x="259626" y="212712"/>
                  </a:lnTo>
                  <a:lnTo>
                    <a:pt x="303415" y="193941"/>
                  </a:lnTo>
                  <a:lnTo>
                    <a:pt x="322186" y="150152"/>
                  </a:lnTo>
                  <a:lnTo>
                    <a:pt x="322186" y="62560"/>
                  </a:lnTo>
                  <a:close/>
                </a:path>
                <a:path w="3391535" h="231139">
                  <a:moveTo>
                    <a:pt x="3391509" y="80873"/>
                  </a:moveTo>
                  <a:lnTo>
                    <a:pt x="3385248" y="55854"/>
                  </a:lnTo>
                  <a:lnTo>
                    <a:pt x="3379000" y="46482"/>
                  </a:lnTo>
                  <a:lnTo>
                    <a:pt x="3379000" y="193484"/>
                  </a:lnTo>
                  <a:lnTo>
                    <a:pt x="3375863" y="199745"/>
                  </a:lnTo>
                  <a:lnTo>
                    <a:pt x="3366490" y="199745"/>
                  </a:lnTo>
                  <a:lnTo>
                    <a:pt x="3363112" y="196621"/>
                  </a:lnTo>
                  <a:lnTo>
                    <a:pt x="3329330" y="165341"/>
                  </a:lnTo>
                  <a:lnTo>
                    <a:pt x="3282035" y="121539"/>
                  </a:lnTo>
                  <a:lnTo>
                    <a:pt x="3235109" y="162204"/>
                  </a:lnTo>
                  <a:lnTo>
                    <a:pt x="3228848" y="165341"/>
                  </a:lnTo>
                  <a:lnTo>
                    <a:pt x="3225723" y="162204"/>
                  </a:lnTo>
                  <a:lnTo>
                    <a:pt x="3175673" y="121539"/>
                  </a:lnTo>
                  <a:lnTo>
                    <a:pt x="3094355" y="196621"/>
                  </a:lnTo>
                  <a:lnTo>
                    <a:pt x="3084969" y="196621"/>
                  </a:lnTo>
                  <a:lnTo>
                    <a:pt x="3084969" y="190360"/>
                  </a:lnTo>
                  <a:lnTo>
                    <a:pt x="3088094" y="187236"/>
                  </a:lnTo>
                  <a:lnTo>
                    <a:pt x="3166300" y="112153"/>
                  </a:lnTo>
                  <a:lnTo>
                    <a:pt x="3091218" y="52717"/>
                  </a:lnTo>
                  <a:lnTo>
                    <a:pt x="3091218" y="43332"/>
                  </a:lnTo>
                  <a:lnTo>
                    <a:pt x="3097479" y="40208"/>
                  </a:lnTo>
                  <a:lnTo>
                    <a:pt x="3100603" y="43332"/>
                  </a:lnTo>
                  <a:lnTo>
                    <a:pt x="3106864" y="46469"/>
                  </a:lnTo>
                  <a:lnTo>
                    <a:pt x="3228848" y="149694"/>
                  </a:lnTo>
                  <a:lnTo>
                    <a:pt x="3350844" y="46469"/>
                  </a:lnTo>
                  <a:lnTo>
                    <a:pt x="3357105" y="40208"/>
                  </a:lnTo>
                  <a:lnTo>
                    <a:pt x="3363353" y="40208"/>
                  </a:lnTo>
                  <a:lnTo>
                    <a:pt x="3369614" y="46469"/>
                  </a:lnTo>
                  <a:lnTo>
                    <a:pt x="3366490" y="52717"/>
                  </a:lnTo>
                  <a:lnTo>
                    <a:pt x="3291408" y="112153"/>
                  </a:lnTo>
                  <a:lnTo>
                    <a:pt x="3375863" y="190360"/>
                  </a:lnTo>
                  <a:lnTo>
                    <a:pt x="3379000" y="46482"/>
                  </a:lnTo>
                  <a:lnTo>
                    <a:pt x="3328949" y="18313"/>
                  </a:lnTo>
                  <a:lnTo>
                    <a:pt x="3128759" y="18313"/>
                  </a:lnTo>
                  <a:lnTo>
                    <a:pt x="3084969" y="37084"/>
                  </a:lnTo>
                  <a:lnTo>
                    <a:pt x="3069323" y="68364"/>
                  </a:lnTo>
                  <a:lnTo>
                    <a:pt x="3069323" y="180975"/>
                  </a:lnTo>
                  <a:lnTo>
                    <a:pt x="3094355" y="218516"/>
                  </a:lnTo>
                  <a:lnTo>
                    <a:pt x="3128759" y="231025"/>
                  </a:lnTo>
                  <a:lnTo>
                    <a:pt x="3328949" y="231025"/>
                  </a:lnTo>
                  <a:lnTo>
                    <a:pt x="3353968" y="224777"/>
                  </a:lnTo>
                  <a:lnTo>
                    <a:pt x="3372739" y="212255"/>
                  </a:lnTo>
                  <a:lnTo>
                    <a:pt x="3381070" y="199745"/>
                  </a:lnTo>
                  <a:lnTo>
                    <a:pt x="3385248" y="193484"/>
                  </a:lnTo>
                  <a:lnTo>
                    <a:pt x="3391509" y="168465"/>
                  </a:lnTo>
                  <a:lnTo>
                    <a:pt x="3391509" y="80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631281" y="4256366"/>
              <a:ext cx="3126105" cy="623570"/>
            </a:xfrm>
            <a:custGeom>
              <a:avLst/>
              <a:gdLst/>
              <a:ahLst/>
              <a:cxnLst/>
              <a:rect l="l" t="t" r="r" b="b"/>
              <a:pathLst>
                <a:path w="3126104" h="623570">
                  <a:moveTo>
                    <a:pt x="3125584" y="378714"/>
                  </a:moveTo>
                  <a:lnTo>
                    <a:pt x="3119666" y="372795"/>
                  </a:lnTo>
                  <a:lnTo>
                    <a:pt x="13436" y="372795"/>
                  </a:lnTo>
                  <a:lnTo>
                    <a:pt x="7518" y="378714"/>
                  </a:lnTo>
                  <a:lnTo>
                    <a:pt x="7518" y="386003"/>
                  </a:lnTo>
                  <a:lnTo>
                    <a:pt x="7518" y="617550"/>
                  </a:lnTo>
                  <a:lnTo>
                    <a:pt x="13436" y="623468"/>
                  </a:lnTo>
                  <a:lnTo>
                    <a:pt x="3119666" y="623468"/>
                  </a:lnTo>
                  <a:lnTo>
                    <a:pt x="3125584" y="617550"/>
                  </a:lnTo>
                  <a:lnTo>
                    <a:pt x="3125584" y="378714"/>
                  </a:lnTo>
                  <a:close/>
                </a:path>
                <a:path w="3126104" h="623570">
                  <a:moveTo>
                    <a:pt x="3125584" y="7569"/>
                  </a:moveTo>
                  <a:lnTo>
                    <a:pt x="3118015" y="0"/>
                  </a:lnTo>
                  <a:lnTo>
                    <a:pt x="7569" y="0"/>
                  </a:lnTo>
                  <a:lnTo>
                    <a:pt x="0" y="7569"/>
                  </a:lnTo>
                  <a:lnTo>
                    <a:pt x="0" y="16903"/>
                  </a:lnTo>
                  <a:lnTo>
                    <a:pt x="0" y="313283"/>
                  </a:lnTo>
                  <a:lnTo>
                    <a:pt x="7569" y="320852"/>
                  </a:lnTo>
                  <a:lnTo>
                    <a:pt x="3118015" y="320852"/>
                  </a:lnTo>
                  <a:lnTo>
                    <a:pt x="3125584" y="313283"/>
                  </a:lnTo>
                  <a:lnTo>
                    <a:pt x="3125584" y="7569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581188" y="3837716"/>
            <a:ext cx="1453515" cy="105029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500" spc="-10">
                <a:solidFill>
                  <a:srgbClr val="FFFFFF"/>
                </a:solidFill>
                <a:latin typeface="SimSun"/>
                <a:cs typeface="SimSun"/>
              </a:rPr>
              <a:t>全联接世界 (</a:t>
            </a:r>
            <a:r>
              <a:rPr dirty="0" sz="1500" spc="-20">
                <a:solidFill>
                  <a:srgbClr val="FFFF00"/>
                </a:solidFill>
                <a:latin typeface="SimSun"/>
                <a:cs typeface="SimSun"/>
              </a:rPr>
              <a:t>5G</a:t>
            </a:r>
            <a:r>
              <a:rPr dirty="0" sz="1500" spc="-20">
                <a:solidFill>
                  <a:srgbClr val="FFFFFF"/>
                </a:solidFill>
                <a:latin typeface="SimSun"/>
                <a:cs typeface="SimSun"/>
              </a:rPr>
              <a:t>)</a:t>
            </a:r>
            <a:endParaRPr sz="1500">
              <a:latin typeface="SimSun"/>
              <a:cs typeface="SimSun"/>
            </a:endParaRPr>
          </a:p>
          <a:p>
            <a:pPr marL="140335" marR="352425" indent="186055">
              <a:lnSpc>
                <a:spcPct val="147700"/>
              </a:lnSpc>
              <a:spcBef>
                <a:spcPts val="50"/>
              </a:spcBef>
            </a:pPr>
            <a:r>
              <a:rPr dirty="0" sz="1500" spc="-20">
                <a:solidFill>
                  <a:srgbClr val="FFFF00"/>
                </a:solidFill>
                <a:latin typeface="SimSun"/>
                <a:cs typeface="SimSun"/>
              </a:rPr>
              <a:t>新应用</a:t>
            </a:r>
            <a:r>
              <a:rPr dirty="0" sz="1500" spc="-50">
                <a:solidFill>
                  <a:srgbClr val="FFFF00"/>
                </a:solidFill>
                <a:latin typeface="SimSun"/>
                <a:cs typeface="SimSun"/>
              </a:rPr>
              <a:t> </a:t>
            </a:r>
            <a:r>
              <a:rPr dirty="0" sz="1500" spc="-10">
                <a:solidFill>
                  <a:srgbClr val="FFFF00"/>
                </a:solidFill>
                <a:latin typeface="SimSun"/>
                <a:cs typeface="SimSun"/>
              </a:rPr>
              <a:t>新商业模式</a:t>
            </a:r>
            <a:endParaRPr sz="1500">
              <a:latin typeface="SimSun"/>
              <a:cs typeface="SimSu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7982" y="1476608"/>
            <a:ext cx="7638600" cy="2558765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447086" y="798423"/>
            <a:ext cx="8292465" cy="9220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 indent="408940">
              <a:lnSpc>
                <a:spcPct val="121900"/>
              </a:lnSpc>
              <a:spcBef>
                <a:spcPts val="135"/>
              </a:spcBef>
            </a:pPr>
            <a:r>
              <a:rPr dirty="0" sz="1600">
                <a:solidFill>
                  <a:srgbClr val="FFFFFF"/>
                </a:solidFill>
                <a:latin typeface="Microsoft YaHei"/>
                <a:cs typeface="Microsoft YaHei"/>
              </a:rPr>
              <a:t>从1G到</a:t>
            </a:r>
            <a:r>
              <a:rPr dirty="0" sz="1600" spc="-10">
                <a:solidFill>
                  <a:srgbClr val="FFFFFF"/>
                </a:solidFill>
                <a:latin typeface="Microsoft YaHei"/>
                <a:cs typeface="Microsoft YaHei"/>
              </a:rPr>
              <a:t>4G</a:t>
            </a:r>
            <a:r>
              <a:rPr dirty="0" sz="1600" spc="-15">
                <a:solidFill>
                  <a:srgbClr val="FFFFFF"/>
                </a:solidFill>
                <a:latin typeface="Microsoft YaHei"/>
                <a:cs typeface="Microsoft YaHei"/>
              </a:rPr>
              <a:t>时代，我国通信行业更多的是在扮演“参与者”的角色，即处于“技术输入”</a:t>
            </a:r>
            <a:r>
              <a:rPr dirty="0" sz="1600" spc="-10">
                <a:solidFill>
                  <a:srgbClr val="FFFFFF"/>
                </a:solidFill>
                <a:latin typeface="Microsoft YaHei"/>
                <a:cs typeface="Microsoft YaHei"/>
              </a:rPr>
              <a:t>的被动地位，而想要改变这一点，就必须抓住5G标准这个机遇，掌控5G</a:t>
            </a:r>
            <a:r>
              <a:rPr dirty="0" sz="1600" spc="-15">
                <a:solidFill>
                  <a:srgbClr val="FFFFFF"/>
                </a:solidFill>
                <a:latin typeface="Microsoft YaHei"/>
                <a:cs typeface="Microsoft YaHei"/>
              </a:rPr>
              <a:t>技术未来的走向、未</a:t>
            </a:r>
            <a:r>
              <a:rPr dirty="0" sz="1600" spc="-5">
                <a:solidFill>
                  <a:srgbClr val="FFFFFF"/>
                </a:solidFill>
                <a:latin typeface="Microsoft YaHei"/>
                <a:cs typeface="Microsoft YaHei"/>
              </a:rPr>
              <a:t>来的价值重心，最终手握开启</a:t>
            </a:r>
            <a:r>
              <a:rPr dirty="0" sz="1600" spc="-10">
                <a:solidFill>
                  <a:srgbClr val="FFFFFF"/>
                </a:solidFill>
                <a:latin typeface="Microsoft YaHei"/>
                <a:cs typeface="Microsoft YaHei"/>
              </a:rPr>
              <a:t>5G</a:t>
            </a:r>
            <a:r>
              <a:rPr dirty="0" sz="1600" spc="-15">
                <a:solidFill>
                  <a:srgbClr val="FFFFFF"/>
                </a:solidFill>
                <a:latin typeface="Microsoft YaHei"/>
                <a:cs typeface="Microsoft YaHei"/>
              </a:rPr>
              <a:t>时代的“金钥匙”，掌控移动通信未来。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3197" y="125660"/>
            <a:ext cx="54013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中国在</a:t>
            </a: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5"/>
              <a:t>标准的制定中的进展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-12700" y="806450"/>
            <a:ext cx="9169400" cy="4140200"/>
            <a:chOff x="-12700" y="806450"/>
            <a:chExt cx="9169400" cy="4140200"/>
          </a:xfrm>
        </p:grpSpPr>
        <p:sp>
          <p:nvSpPr>
            <p:cNvPr id="4" name="object 4" descr=""/>
            <p:cNvSpPr/>
            <p:nvPr/>
          </p:nvSpPr>
          <p:spPr>
            <a:xfrm>
              <a:off x="0" y="819150"/>
              <a:ext cx="9144000" cy="4114800"/>
            </a:xfrm>
            <a:custGeom>
              <a:avLst/>
              <a:gdLst/>
              <a:ahLst/>
              <a:cxnLst/>
              <a:rect l="l" t="t" r="r" b="b"/>
              <a:pathLst>
                <a:path w="9144000" h="4114800">
                  <a:moveTo>
                    <a:pt x="91440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9144000" y="4114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C33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819150"/>
              <a:ext cx="9144000" cy="4114800"/>
            </a:xfrm>
            <a:custGeom>
              <a:avLst/>
              <a:gdLst/>
              <a:ahLst/>
              <a:cxnLst/>
              <a:rect l="l" t="t" r="r" b="b"/>
              <a:pathLst>
                <a:path w="9144000" h="4114800">
                  <a:moveTo>
                    <a:pt x="0" y="0"/>
                  </a:moveTo>
                  <a:lnTo>
                    <a:pt x="9144000" y="0"/>
                  </a:lnTo>
                  <a:lnTo>
                    <a:pt x="9144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30293" y="833738"/>
            <a:ext cx="8257540" cy="173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941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截至当前，中国力量（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包括华为、中兴及其他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600" spc="-5">
                <a:solidFill>
                  <a:srgbClr val="FFFFFF"/>
                </a:solidFill>
                <a:latin typeface="SimSun"/>
                <a:cs typeface="SimSun"/>
              </a:rPr>
              <a:t>参与厂商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）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占目前已确定的总体的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600" spc="-5">
                <a:solidFill>
                  <a:srgbClr val="FFFFFF"/>
                </a:solidFill>
                <a:latin typeface="SimSun"/>
                <a:cs typeface="SimSun"/>
              </a:rPr>
              <a:t>专利数量的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10%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，这个比例似乎与国人心中“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标准中美分庭抗礼”的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5 v 5</a:t>
            </a:r>
            <a:r>
              <a:rPr dirty="0" sz="1600" spc="-20">
                <a:solidFill>
                  <a:srgbClr val="FFFFFF"/>
                </a:solidFill>
                <a:latin typeface="SimSun"/>
                <a:cs typeface="SimSun"/>
              </a:rPr>
              <a:t>局面相距甚远。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要知道，仅美国高通一家就拥有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15%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的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专利，而其他包括诺基亚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（</a:t>
            </a:r>
            <a:r>
              <a:rPr dirty="0" sz="1600" spc="-5">
                <a:solidFill>
                  <a:srgbClr val="FFFFFF"/>
                </a:solidFill>
                <a:latin typeface="SimSun"/>
                <a:cs typeface="SimSun"/>
              </a:rPr>
              <a:t>芬兰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）</a:t>
            </a:r>
            <a:r>
              <a:rPr dirty="0" sz="1600" spc="-5">
                <a:solidFill>
                  <a:srgbClr val="FFFFFF"/>
                </a:solidFill>
                <a:latin typeface="SimSun"/>
                <a:cs typeface="SimSun"/>
              </a:rPr>
              <a:t>占了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11%</a:t>
            </a:r>
            <a:r>
              <a:rPr dirty="0" sz="1600" spc="-35">
                <a:solidFill>
                  <a:srgbClr val="FFFFFF"/>
                </a:solidFill>
                <a:latin typeface="SimSun"/>
                <a:cs typeface="SimSun"/>
              </a:rPr>
              <a:t>，而爱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立信（瑞典）占有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8%</a:t>
            </a:r>
            <a:r>
              <a:rPr dirty="0" sz="1600" spc="-50">
                <a:solidFill>
                  <a:srgbClr val="FFFFFF"/>
                </a:solidFill>
                <a:latin typeface="SimSun"/>
                <a:cs typeface="SimSun"/>
              </a:rPr>
              <a:t>。</a:t>
            </a:r>
            <a:endParaRPr sz="1600">
              <a:latin typeface="SimSun"/>
              <a:cs typeface="SimSun"/>
            </a:endParaRPr>
          </a:p>
          <a:p>
            <a:pPr marL="12700" marR="101600" indent="39878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当前中国力量在已经确定的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技术标准专利中占有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10%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的势力，主要还是围绕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eMBB</a:t>
            </a:r>
            <a:r>
              <a:rPr dirty="0" sz="1600" spc="-50">
                <a:solidFill>
                  <a:srgbClr val="FFFFFF"/>
                </a:solidFill>
                <a:latin typeface="SimSun"/>
                <a:cs typeface="SimSun"/>
              </a:rPr>
              <a:t>场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景，后面还有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mMTC</a:t>
            </a:r>
            <a:r>
              <a:rPr dirty="0" sz="1600">
                <a:solidFill>
                  <a:srgbClr val="FFFFFF"/>
                </a:solidFill>
                <a:latin typeface="SimSun"/>
                <a:cs typeface="SimSun"/>
              </a:rPr>
              <a:t>、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uRLLC</a:t>
            </a:r>
            <a:r>
              <a:rPr dirty="0" sz="1600" spc="-10">
                <a:solidFill>
                  <a:srgbClr val="FFFFFF"/>
                </a:solidFill>
                <a:latin typeface="SimSun"/>
                <a:cs typeface="SimSun"/>
              </a:rPr>
              <a:t>，这两个场景因此，如果说中国当前在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600" spc="-15">
                <a:solidFill>
                  <a:srgbClr val="FFFFFF"/>
                </a:solidFill>
                <a:latin typeface="SimSun"/>
                <a:cs typeface="SimSun"/>
              </a:rPr>
              <a:t>发展上处于落后的位置，那后面中国力量还有很长的一段赛程去追赶。</a:t>
            </a:r>
            <a:endParaRPr sz="1600">
              <a:latin typeface="SimSun"/>
              <a:cs typeface="SimSu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32257" y="2647950"/>
            <a:ext cx="7974330" cy="2264410"/>
            <a:chOff x="332257" y="2647950"/>
            <a:chExt cx="7974330" cy="22644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57" y="2647950"/>
              <a:ext cx="3874325" cy="226293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06239" y="2647950"/>
              <a:ext cx="4100829" cy="2264410"/>
            </a:xfrm>
            <a:custGeom>
              <a:avLst/>
              <a:gdLst/>
              <a:ahLst/>
              <a:cxnLst/>
              <a:rect l="l" t="t" r="r" b="b"/>
              <a:pathLst>
                <a:path w="4100829" h="2264410">
                  <a:moveTo>
                    <a:pt x="4100321" y="0"/>
                  </a:moveTo>
                  <a:lnTo>
                    <a:pt x="0" y="0"/>
                  </a:lnTo>
                  <a:lnTo>
                    <a:pt x="0" y="2263902"/>
                  </a:lnTo>
                  <a:lnTo>
                    <a:pt x="4100321" y="2263902"/>
                  </a:lnTo>
                  <a:lnTo>
                    <a:pt x="4100321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56019" y="2787777"/>
              <a:ext cx="991869" cy="1489075"/>
            </a:xfrm>
            <a:custGeom>
              <a:avLst/>
              <a:gdLst/>
              <a:ahLst/>
              <a:cxnLst/>
              <a:rect l="l" t="t" r="r" b="b"/>
              <a:pathLst>
                <a:path w="991870" h="1489075">
                  <a:moveTo>
                    <a:pt x="812" y="0"/>
                  </a:moveTo>
                  <a:lnTo>
                    <a:pt x="0" y="991743"/>
                  </a:lnTo>
                  <a:lnTo>
                    <a:pt x="859929" y="1488782"/>
                  </a:lnTo>
                  <a:lnTo>
                    <a:pt x="884016" y="1444334"/>
                  </a:lnTo>
                  <a:lnTo>
                    <a:pt x="905869" y="1398528"/>
                  </a:lnTo>
                  <a:lnTo>
                    <a:pt x="925416" y="1351436"/>
                  </a:lnTo>
                  <a:lnTo>
                    <a:pt x="942587" y="1303130"/>
                  </a:lnTo>
                  <a:lnTo>
                    <a:pt x="957311" y="1253678"/>
                  </a:lnTo>
                  <a:lnTo>
                    <a:pt x="969517" y="1203154"/>
                  </a:lnTo>
                  <a:lnTo>
                    <a:pt x="979134" y="1151627"/>
                  </a:lnTo>
                  <a:lnTo>
                    <a:pt x="986092" y="1099169"/>
                  </a:lnTo>
                  <a:lnTo>
                    <a:pt x="990318" y="1045851"/>
                  </a:lnTo>
                  <a:lnTo>
                    <a:pt x="991743" y="991743"/>
                  </a:lnTo>
                  <a:lnTo>
                    <a:pt x="990608" y="943446"/>
                  </a:lnTo>
                  <a:lnTo>
                    <a:pt x="987239" y="895771"/>
                  </a:lnTo>
                  <a:lnTo>
                    <a:pt x="981684" y="848768"/>
                  </a:lnTo>
                  <a:lnTo>
                    <a:pt x="973996" y="802487"/>
                  </a:lnTo>
                  <a:lnTo>
                    <a:pt x="964223" y="756980"/>
                  </a:lnTo>
                  <a:lnTo>
                    <a:pt x="952417" y="712296"/>
                  </a:lnTo>
                  <a:lnTo>
                    <a:pt x="938628" y="668485"/>
                  </a:lnTo>
                  <a:lnTo>
                    <a:pt x="922906" y="625599"/>
                  </a:lnTo>
                  <a:lnTo>
                    <a:pt x="905301" y="583687"/>
                  </a:lnTo>
                  <a:lnTo>
                    <a:pt x="885864" y="542800"/>
                  </a:lnTo>
                  <a:lnTo>
                    <a:pt x="864646" y="502988"/>
                  </a:lnTo>
                  <a:lnTo>
                    <a:pt x="841697" y="464302"/>
                  </a:lnTo>
                  <a:lnTo>
                    <a:pt x="817067" y="426793"/>
                  </a:lnTo>
                  <a:lnTo>
                    <a:pt x="790806" y="390509"/>
                  </a:lnTo>
                  <a:lnTo>
                    <a:pt x="762966" y="355502"/>
                  </a:lnTo>
                  <a:lnTo>
                    <a:pt x="733596" y="321823"/>
                  </a:lnTo>
                  <a:lnTo>
                    <a:pt x="702746" y="289521"/>
                  </a:lnTo>
                  <a:lnTo>
                    <a:pt x="670468" y="258648"/>
                  </a:lnTo>
                  <a:lnTo>
                    <a:pt x="636811" y="229252"/>
                  </a:lnTo>
                  <a:lnTo>
                    <a:pt x="601826" y="201386"/>
                  </a:lnTo>
                  <a:lnTo>
                    <a:pt x="565564" y="175099"/>
                  </a:lnTo>
                  <a:lnTo>
                    <a:pt x="528074" y="150441"/>
                  </a:lnTo>
                  <a:lnTo>
                    <a:pt x="489407" y="127463"/>
                  </a:lnTo>
                  <a:lnTo>
                    <a:pt x="449614" y="106216"/>
                  </a:lnTo>
                  <a:lnTo>
                    <a:pt x="408745" y="86749"/>
                  </a:lnTo>
                  <a:lnTo>
                    <a:pt x="366850" y="69114"/>
                  </a:lnTo>
                  <a:lnTo>
                    <a:pt x="323980" y="53360"/>
                  </a:lnTo>
                  <a:lnTo>
                    <a:pt x="280184" y="39538"/>
                  </a:lnTo>
                  <a:lnTo>
                    <a:pt x="235515" y="27699"/>
                  </a:lnTo>
                  <a:lnTo>
                    <a:pt x="190021" y="17892"/>
                  </a:lnTo>
                  <a:lnTo>
                    <a:pt x="143753" y="10168"/>
                  </a:lnTo>
                  <a:lnTo>
                    <a:pt x="96763" y="4578"/>
                  </a:lnTo>
                  <a:lnTo>
                    <a:pt x="49099" y="1172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56019" y="2787777"/>
              <a:ext cx="991869" cy="1489075"/>
            </a:xfrm>
            <a:custGeom>
              <a:avLst/>
              <a:gdLst/>
              <a:ahLst/>
              <a:cxnLst/>
              <a:rect l="l" t="t" r="r" b="b"/>
              <a:pathLst>
                <a:path w="991870" h="1489075">
                  <a:moveTo>
                    <a:pt x="0" y="991743"/>
                  </a:moveTo>
                  <a:lnTo>
                    <a:pt x="859929" y="1488782"/>
                  </a:lnTo>
                  <a:lnTo>
                    <a:pt x="884016" y="1444334"/>
                  </a:lnTo>
                  <a:lnTo>
                    <a:pt x="905869" y="1398528"/>
                  </a:lnTo>
                  <a:lnTo>
                    <a:pt x="925416" y="1351436"/>
                  </a:lnTo>
                  <a:lnTo>
                    <a:pt x="942587" y="1303130"/>
                  </a:lnTo>
                  <a:lnTo>
                    <a:pt x="957311" y="1253678"/>
                  </a:lnTo>
                  <a:lnTo>
                    <a:pt x="969517" y="1203154"/>
                  </a:lnTo>
                  <a:lnTo>
                    <a:pt x="979134" y="1151627"/>
                  </a:lnTo>
                  <a:lnTo>
                    <a:pt x="986092" y="1099169"/>
                  </a:lnTo>
                  <a:lnTo>
                    <a:pt x="990318" y="1045851"/>
                  </a:lnTo>
                  <a:lnTo>
                    <a:pt x="991743" y="991743"/>
                  </a:lnTo>
                  <a:lnTo>
                    <a:pt x="990608" y="943446"/>
                  </a:lnTo>
                  <a:lnTo>
                    <a:pt x="987239" y="895771"/>
                  </a:lnTo>
                  <a:lnTo>
                    <a:pt x="981684" y="848768"/>
                  </a:lnTo>
                  <a:lnTo>
                    <a:pt x="973996" y="802487"/>
                  </a:lnTo>
                  <a:lnTo>
                    <a:pt x="964223" y="756980"/>
                  </a:lnTo>
                  <a:lnTo>
                    <a:pt x="952417" y="712296"/>
                  </a:lnTo>
                  <a:lnTo>
                    <a:pt x="938628" y="668485"/>
                  </a:lnTo>
                  <a:lnTo>
                    <a:pt x="922906" y="625599"/>
                  </a:lnTo>
                  <a:lnTo>
                    <a:pt x="905301" y="583687"/>
                  </a:lnTo>
                  <a:lnTo>
                    <a:pt x="885864" y="542800"/>
                  </a:lnTo>
                  <a:lnTo>
                    <a:pt x="864646" y="502988"/>
                  </a:lnTo>
                  <a:lnTo>
                    <a:pt x="841697" y="464302"/>
                  </a:lnTo>
                  <a:lnTo>
                    <a:pt x="817067" y="426793"/>
                  </a:lnTo>
                  <a:lnTo>
                    <a:pt x="790806" y="390509"/>
                  </a:lnTo>
                  <a:lnTo>
                    <a:pt x="762966" y="355502"/>
                  </a:lnTo>
                  <a:lnTo>
                    <a:pt x="733596" y="321823"/>
                  </a:lnTo>
                  <a:lnTo>
                    <a:pt x="702746" y="289521"/>
                  </a:lnTo>
                  <a:lnTo>
                    <a:pt x="670468" y="258648"/>
                  </a:lnTo>
                  <a:lnTo>
                    <a:pt x="636811" y="229252"/>
                  </a:lnTo>
                  <a:lnTo>
                    <a:pt x="601826" y="201386"/>
                  </a:lnTo>
                  <a:lnTo>
                    <a:pt x="565564" y="175099"/>
                  </a:lnTo>
                  <a:lnTo>
                    <a:pt x="528074" y="150441"/>
                  </a:lnTo>
                  <a:lnTo>
                    <a:pt x="489407" y="127463"/>
                  </a:lnTo>
                  <a:lnTo>
                    <a:pt x="449614" y="106216"/>
                  </a:lnTo>
                  <a:lnTo>
                    <a:pt x="408745" y="86749"/>
                  </a:lnTo>
                  <a:lnTo>
                    <a:pt x="366850" y="69114"/>
                  </a:lnTo>
                  <a:lnTo>
                    <a:pt x="323980" y="53360"/>
                  </a:lnTo>
                  <a:lnTo>
                    <a:pt x="280184" y="39538"/>
                  </a:lnTo>
                  <a:lnTo>
                    <a:pt x="235515" y="27699"/>
                  </a:lnTo>
                  <a:lnTo>
                    <a:pt x="190021" y="17892"/>
                  </a:lnTo>
                  <a:lnTo>
                    <a:pt x="143753" y="10168"/>
                  </a:lnTo>
                  <a:lnTo>
                    <a:pt x="96763" y="4578"/>
                  </a:lnTo>
                  <a:lnTo>
                    <a:pt x="49099" y="1172"/>
                  </a:lnTo>
                  <a:lnTo>
                    <a:pt x="812" y="0"/>
                  </a:lnTo>
                  <a:lnTo>
                    <a:pt x="0" y="991743"/>
                  </a:lnTo>
                  <a:close/>
                </a:path>
              </a:pathLst>
            </a:custGeom>
            <a:ln w="19049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396090" y="3779519"/>
              <a:ext cx="1720214" cy="991869"/>
            </a:xfrm>
            <a:custGeom>
              <a:avLst/>
              <a:gdLst/>
              <a:ahLst/>
              <a:cxnLst/>
              <a:rect l="l" t="t" r="r" b="b"/>
              <a:pathLst>
                <a:path w="1720215" h="991870">
                  <a:moveTo>
                    <a:pt x="859929" y="0"/>
                  </a:moveTo>
                  <a:lnTo>
                    <a:pt x="0" y="497039"/>
                  </a:lnTo>
                  <a:lnTo>
                    <a:pt x="25389" y="538729"/>
                  </a:lnTo>
                  <a:lnTo>
                    <a:pt x="52744" y="579015"/>
                  </a:lnTo>
                  <a:lnTo>
                    <a:pt x="81998" y="617832"/>
                  </a:lnTo>
                  <a:lnTo>
                    <a:pt x="113088" y="655114"/>
                  </a:lnTo>
                  <a:lnTo>
                    <a:pt x="145949" y="690799"/>
                  </a:lnTo>
                  <a:lnTo>
                    <a:pt x="180517" y="724821"/>
                  </a:lnTo>
                  <a:lnTo>
                    <a:pt x="216727" y="757116"/>
                  </a:lnTo>
                  <a:lnTo>
                    <a:pt x="254514" y="787619"/>
                  </a:lnTo>
                  <a:lnTo>
                    <a:pt x="293814" y="816266"/>
                  </a:lnTo>
                  <a:lnTo>
                    <a:pt x="334563" y="842992"/>
                  </a:lnTo>
                  <a:lnTo>
                    <a:pt x="376695" y="867732"/>
                  </a:lnTo>
                  <a:lnTo>
                    <a:pt x="420146" y="890423"/>
                  </a:lnTo>
                  <a:lnTo>
                    <a:pt x="464853" y="910999"/>
                  </a:lnTo>
                  <a:lnTo>
                    <a:pt x="510749" y="929396"/>
                  </a:lnTo>
                  <a:lnTo>
                    <a:pt x="557771" y="945550"/>
                  </a:lnTo>
                  <a:lnTo>
                    <a:pt x="605855" y="959395"/>
                  </a:lnTo>
                  <a:lnTo>
                    <a:pt x="654935" y="970868"/>
                  </a:lnTo>
                  <a:lnTo>
                    <a:pt x="704947" y="979904"/>
                  </a:lnTo>
                  <a:lnTo>
                    <a:pt x="755826" y="986438"/>
                  </a:lnTo>
                  <a:lnTo>
                    <a:pt x="807508" y="990406"/>
                  </a:lnTo>
                  <a:lnTo>
                    <a:pt x="859929" y="991742"/>
                  </a:lnTo>
                  <a:lnTo>
                    <a:pt x="912350" y="990406"/>
                  </a:lnTo>
                  <a:lnTo>
                    <a:pt x="964032" y="986438"/>
                  </a:lnTo>
                  <a:lnTo>
                    <a:pt x="1014912" y="979904"/>
                  </a:lnTo>
                  <a:lnTo>
                    <a:pt x="1064924" y="970868"/>
                  </a:lnTo>
                  <a:lnTo>
                    <a:pt x="1114004" y="959395"/>
                  </a:lnTo>
                  <a:lnTo>
                    <a:pt x="1162087" y="945550"/>
                  </a:lnTo>
                  <a:lnTo>
                    <a:pt x="1209109" y="929396"/>
                  </a:lnTo>
                  <a:lnTo>
                    <a:pt x="1255006" y="910999"/>
                  </a:lnTo>
                  <a:lnTo>
                    <a:pt x="1299712" y="890423"/>
                  </a:lnTo>
                  <a:lnTo>
                    <a:pt x="1343164" y="867732"/>
                  </a:lnTo>
                  <a:lnTo>
                    <a:pt x="1385296" y="842992"/>
                  </a:lnTo>
                  <a:lnTo>
                    <a:pt x="1426044" y="816266"/>
                  </a:lnTo>
                  <a:lnTo>
                    <a:pt x="1465344" y="787619"/>
                  </a:lnTo>
                  <a:lnTo>
                    <a:pt x="1503132" y="757116"/>
                  </a:lnTo>
                  <a:lnTo>
                    <a:pt x="1539341" y="724821"/>
                  </a:lnTo>
                  <a:lnTo>
                    <a:pt x="1573909" y="690799"/>
                  </a:lnTo>
                  <a:lnTo>
                    <a:pt x="1606770" y="655114"/>
                  </a:lnTo>
                  <a:lnTo>
                    <a:pt x="1637860" y="617832"/>
                  </a:lnTo>
                  <a:lnTo>
                    <a:pt x="1667115" y="579015"/>
                  </a:lnTo>
                  <a:lnTo>
                    <a:pt x="1694469" y="538729"/>
                  </a:lnTo>
                  <a:lnTo>
                    <a:pt x="1719859" y="497039"/>
                  </a:lnTo>
                  <a:lnTo>
                    <a:pt x="859929" y="0"/>
                  </a:lnTo>
                  <a:close/>
                </a:path>
              </a:pathLst>
            </a:custGeom>
            <a:solidFill>
              <a:srgbClr val="2545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396090" y="3779519"/>
              <a:ext cx="1720214" cy="991869"/>
            </a:xfrm>
            <a:custGeom>
              <a:avLst/>
              <a:gdLst/>
              <a:ahLst/>
              <a:cxnLst/>
              <a:rect l="l" t="t" r="r" b="b"/>
              <a:pathLst>
                <a:path w="1720215" h="991870">
                  <a:moveTo>
                    <a:pt x="859929" y="0"/>
                  </a:moveTo>
                  <a:lnTo>
                    <a:pt x="0" y="497039"/>
                  </a:lnTo>
                  <a:lnTo>
                    <a:pt x="25389" y="538729"/>
                  </a:lnTo>
                  <a:lnTo>
                    <a:pt x="52744" y="579015"/>
                  </a:lnTo>
                  <a:lnTo>
                    <a:pt x="81998" y="617832"/>
                  </a:lnTo>
                  <a:lnTo>
                    <a:pt x="113088" y="655114"/>
                  </a:lnTo>
                  <a:lnTo>
                    <a:pt x="145949" y="690799"/>
                  </a:lnTo>
                  <a:lnTo>
                    <a:pt x="180517" y="724821"/>
                  </a:lnTo>
                  <a:lnTo>
                    <a:pt x="216727" y="757116"/>
                  </a:lnTo>
                  <a:lnTo>
                    <a:pt x="254514" y="787619"/>
                  </a:lnTo>
                  <a:lnTo>
                    <a:pt x="293814" y="816266"/>
                  </a:lnTo>
                  <a:lnTo>
                    <a:pt x="334563" y="842992"/>
                  </a:lnTo>
                  <a:lnTo>
                    <a:pt x="376695" y="867732"/>
                  </a:lnTo>
                  <a:lnTo>
                    <a:pt x="420146" y="890423"/>
                  </a:lnTo>
                  <a:lnTo>
                    <a:pt x="464853" y="910999"/>
                  </a:lnTo>
                  <a:lnTo>
                    <a:pt x="510749" y="929396"/>
                  </a:lnTo>
                  <a:lnTo>
                    <a:pt x="557771" y="945550"/>
                  </a:lnTo>
                  <a:lnTo>
                    <a:pt x="605855" y="959395"/>
                  </a:lnTo>
                  <a:lnTo>
                    <a:pt x="654935" y="970868"/>
                  </a:lnTo>
                  <a:lnTo>
                    <a:pt x="704947" y="979904"/>
                  </a:lnTo>
                  <a:lnTo>
                    <a:pt x="755826" y="986438"/>
                  </a:lnTo>
                  <a:lnTo>
                    <a:pt x="807508" y="990406"/>
                  </a:lnTo>
                  <a:lnTo>
                    <a:pt x="859929" y="991742"/>
                  </a:lnTo>
                  <a:lnTo>
                    <a:pt x="912350" y="990406"/>
                  </a:lnTo>
                  <a:lnTo>
                    <a:pt x="964032" y="986438"/>
                  </a:lnTo>
                  <a:lnTo>
                    <a:pt x="1014912" y="979904"/>
                  </a:lnTo>
                  <a:lnTo>
                    <a:pt x="1064924" y="970868"/>
                  </a:lnTo>
                  <a:lnTo>
                    <a:pt x="1114004" y="959395"/>
                  </a:lnTo>
                  <a:lnTo>
                    <a:pt x="1162087" y="945550"/>
                  </a:lnTo>
                  <a:lnTo>
                    <a:pt x="1209109" y="929396"/>
                  </a:lnTo>
                  <a:lnTo>
                    <a:pt x="1255006" y="910999"/>
                  </a:lnTo>
                  <a:lnTo>
                    <a:pt x="1299712" y="890423"/>
                  </a:lnTo>
                  <a:lnTo>
                    <a:pt x="1343164" y="867732"/>
                  </a:lnTo>
                  <a:lnTo>
                    <a:pt x="1385296" y="842992"/>
                  </a:lnTo>
                  <a:lnTo>
                    <a:pt x="1426044" y="816266"/>
                  </a:lnTo>
                  <a:lnTo>
                    <a:pt x="1465344" y="787619"/>
                  </a:lnTo>
                  <a:lnTo>
                    <a:pt x="1503132" y="757116"/>
                  </a:lnTo>
                  <a:lnTo>
                    <a:pt x="1539341" y="724821"/>
                  </a:lnTo>
                  <a:lnTo>
                    <a:pt x="1573909" y="690799"/>
                  </a:lnTo>
                  <a:lnTo>
                    <a:pt x="1606770" y="655114"/>
                  </a:lnTo>
                  <a:lnTo>
                    <a:pt x="1637860" y="617832"/>
                  </a:lnTo>
                  <a:lnTo>
                    <a:pt x="1667115" y="579015"/>
                  </a:lnTo>
                  <a:lnTo>
                    <a:pt x="1694469" y="538729"/>
                  </a:lnTo>
                  <a:lnTo>
                    <a:pt x="1719859" y="497039"/>
                  </a:lnTo>
                  <a:lnTo>
                    <a:pt x="859929" y="0"/>
                  </a:lnTo>
                  <a:close/>
                </a:path>
              </a:pathLst>
            </a:custGeom>
            <a:ln w="19050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64276" y="2787777"/>
              <a:ext cx="991869" cy="1489075"/>
            </a:xfrm>
            <a:custGeom>
              <a:avLst/>
              <a:gdLst/>
              <a:ahLst/>
              <a:cxnLst/>
              <a:rect l="l" t="t" r="r" b="b"/>
              <a:pathLst>
                <a:path w="991870" h="1489075">
                  <a:moveTo>
                    <a:pt x="990930" y="0"/>
                  </a:moveTo>
                  <a:lnTo>
                    <a:pt x="942643" y="1172"/>
                  </a:lnTo>
                  <a:lnTo>
                    <a:pt x="894979" y="4578"/>
                  </a:lnTo>
                  <a:lnTo>
                    <a:pt x="847989" y="10168"/>
                  </a:lnTo>
                  <a:lnTo>
                    <a:pt x="801721" y="17892"/>
                  </a:lnTo>
                  <a:lnTo>
                    <a:pt x="756227" y="27699"/>
                  </a:lnTo>
                  <a:lnTo>
                    <a:pt x="711558" y="39538"/>
                  </a:lnTo>
                  <a:lnTo>
                    <a:pt x="667762" y="53360"/>
                  </a:lnTo>
                  <a:lnTo>
                    <a:pt x="624892" y="69114"/>
                  </a:lnTo>
                  <a:lnTo>
                    <a:pt x="582997" y="86749"/>
                  </a:lnTo>
                  <a:lnTo>
                    <a:pt x="542128" y="106216"/>
                  </a:lnTo>
                  <a:lnTo>
                    <a:pt x="502335" y="127463"/>
                  </a:lnTo>
                  <a:lnTo>
                    <a:pt x="463668" y="150441"/>
                  </a:lnTo>
                  <a:lnTo>
                    <a:pt x="426178" y="175099"/>
                  </a:lnTo>
                  <a:lnTo>
                    <a:pt x="389916" y="201386"/>
                  </a:lnTo>
                  <a:lnTo>
                    <a:pt x="354931" y="229252"/>
                  </a:lnTo>
                  <a:lnTo>
                    <a:pt x="321274" y="258648"/>
                  </a:lnTo>
                  <a:lnTo>
                    <a:pt x="288996" y="289521"/>
                  </a:lnTo>
                  <a:lnTo>
                    <a:pt x="258146" y="321823"/>
                  </a:lnTo>
                  <a:lnTo>
                    <a:pt x="228776" y="355502"/>
                  </a:lnTo>
                  <a:lnTo>
                    <a:pt x="200936" y="390509"/>
                  </a:lnTo>
                  <a:lnTo>
                    <a:pt x="174675" y="426793"/>
                  </a:lnTo>
                  <a:lnTo>
                    <a:pt x="150045" y="464302"/>
                  </a:lnTo>
                  <a:lnTo>
                    <a:pt x="127096" y="502988"/>
                  </a:lnTo>
                  <a:lnTo>
                    <a:pt x="105878" y="542800"/>
                  </a:lnTo>
                  <a:lnTo>
                    <a:pt x="86441" y="583687"/>
                  </a:lnTo>
                  <a:lnTo>
                    <a:pt x="68836" y="625599"/>
                  </a:lnTo>
                  <a:lnTo>
                    <a:pt x="53114" y="668485"/>
                  </a:lnTo>
                  <a:lnTo>
                    <a:pt x="39325" y="712296"/>
                  </a:lnTo>
                  <a:lnTo>
                    <a:pt x="27519" y="756980"/>
                  </a:lnTo>
                  <a:lnTo>
                    <a:pt x="17746" y="802487"/>
                  </a:lnTo>
                  <a:lnTo>
                    <a:pt x="10058" y="848768"/>
                  </a:lnTo>
                  <a:lnTo>
                    <a:pt x="4503" y="895771"/>
                  </a:lnTo>
                  <a:lnTo>
                    <a:pt x="1134" y="943446"/>
                  </a:lnTo>
                  <a:lnTo>
                    <a:pt x="0" y="991743"/>
                  </a:lnTo>
                  <a:lnTo>
                    <a:pt x="1424" y="1045851"/>
                  </a:lnTo>
                  <a:lnTo>
                    <a:pt x="5650" y="1099169"/>
                  </a:lnTo>
                  <a:lnTo>
                    <a:pt x="12608" y="1151627"/>
                  </a:lnTo>
                  <a:lnTo>
                    <a:pt x="22225" y="1203154"/>
                  </a:lnTo>
                  <a:lnTo>
                    <a:pt x="34431" y="1253678"/>
                  </a:lnTo>
                  <a:lnTo>
                    <a:pt x="49155" y="1303130"/>
                  </a:lnTo>
                  <a:lnTo>
                    <a:pt x="66326" y="1351436"/>
                  </a:lnTo>
                  <a:lnTo>
                    <a:pt x="85873" y="1398528"/>
                  </a:lnTo>
                  <a:lnTo>
                    <a:pt x="107726" y="1444334"/>
                  </a:lnTo>
                  <a:lnTo>
                    <a:pt x="131813" y="1488782"/>
                  </a:lnTo>
                  <a:lnTo>
                    <a:pt x="991743" y="991743"/>
                  </a:lnTo>
                  <a:lnTo>
                    <a:pt x="99093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64276" y="2787777"/>
              <a:ext cx="991869" cy="1489075"/>
            </a:xfrm>
            <a:custGeom>
              <a:avLst/>
              <a:gdLst/>
              <a:ahLst/>
              <a:cxnLst/>
              <a:rect l="l" t="t" r="r" b="b"/>
              <a:pathLst>
                <a:path w="991870" h="1489075">
                  <a:moveTo>
                    <a:pt x="991743" y="991743"/>
                  </a:moveTo>
                  <a:lnTo>
                    <a:pt x="990930" y="0"/>
                  </a:lnTo>
                  <a:lnTo>
                    <a:pt x="942643" y="1172"/>
                  </a:lnTo>
                  <a:lnTo>
                    <a:pt x="894979" y="4578"/>
                  </a:lnTo>
                  <a:lnTo>
                    <a:pt x="847989" y="10168"/>
                  </a:lnTo>
                  <a:lnTo>
                    <a:pt x="801721" y="17892"/>
                  </a:lnTo>
                  <a:lnTo>
                    <a:pt x="756227" y="27699"/>
                  </a:lnTo>
                  <a:lnTo>
                    <a:pt x="711558" y="39538"/>
                  </a:lnTo>
                  <a:lnTo>
                    <a:pt x="667762" y="53360"/>
                  </a:lnTo>
                  <a:lnTo>
                    <a:pt x="624892" y="69114"/>
                  </a:lnTo>
                  <a:lnTo>
                    <a:pt x="582997" y="86749"/>
                  </a:lnTo>
                  <a:lnTo>
                    <a:pt x="542128" y="106216"/>
                  </a:lnTo>
                  <a:lnTo>
                    <a:pt x="502335" y="127463"/>
                  </a:lnTo>
                  <a:lnTo>
                    <a:pt x="463668" y="150441"/>
                  </a:lnTo>
                  <a:lnTo>
                    <a:pt x="426178" y="175099"/>
                  </a:lnTo>
                  <a:lnTo>
                    <a:pt x="389916" y="201386"/>
                  </a:lnTo>
                  <a:lnTo>
                    <a:pt x="354931" y="229252"/>
                  </a:lnTo>
                  <a:lnTo>
                    <a:pt x="321274" y="258648"/>
                  </a:lnTo>
                  <a:lnTo>
                    <a:pt x="288996" y="289521"/>
                  </a:lnTo>
                  <a:lnTo>
                    <a:pt x="258146" y="321823"/>
                  </a:lnTo>
                  <a:lnTo>
                    <a:pt x="228776" y="355502"/>
                  </a:lnTo>
                  <a:lnTo>
                    <a:pt x="200936" y="390509"/>
                  </a:lnTo>
                  <a:lnTo>
                    <a:pt x="174675" y="426793"/>
                  </a:lnTo>
                  <a:lnTo>
                    <a:pt x="150045" y="464302"/>
                  </a:lnTo>
                  <a:lnTo>
                    <a:pt x="127096" y="502988"/>
                  </a:lnTo>
                  <a:lnTo>
                    <a:pt x="105878" y="542800"/>
                  </a:lnTo>
                  <a:lnTo>
                    <a:pt x="86441" y="583687"/>
                  </a:lnTo>
                  <a:lnTo>
                    <a:pt x="68836" y="625599"/>
                  </a:lnTo>
                  <a:lnTo>
                    <a:pt x="53114" y="668485"/>
                  </a:lnTo>
                  <a:lnTo>
                    <a:pt x="39325" y="712296"/>
                  </a:lnTo>
                  <a:lnTo>
                    <a:pt x="27519" y="756980"/>
                  </a:lnTo>
                  <a:lnTo>
                    <a:pt x="17746" y="802487"/>
                  </a:lnTo>
                  <a:lnTo>
                    <a:pt x="10058" y="848768"/>
                  </a:lnTo>
                  <a:lnTo>
                    <a:pt x="4503" y="895771"/>
                  </a:lnTo>
                  <a:lnTo>
                    <a:pt x="1134" y="943446"/>
                  </a:lnTo>
                  <a:lnTo>
                    <a:pt x="0" y="991743"/>
                  </a:lnTo>
                  <a:lnTo>
                    <a:pt x="1424" y="1045851"/>
                  </a:lnTo>
                  <a:lnTo>
                    <a:pt x="5650" y="1099169"/>
                  </a:lnTo>
                  <a:lnTo>
                    <a:pt x="12608" y="1151627"/>
                  </a:lnTo>
                  <a:lnTo>
                    <a:pt x="22225" y="1203154"/>
                  </a:lnTo>
                  <a:lnTo>
                    <a:pt x="34431" y="1253678"/>
                  </a:lnTo>
                  <a:lnTo>
                    <a:pt x="49155" y="1303130"/>
                  </a:lnTo>
                  <a:lnTo>
                    <a:pt x="66326" y="1351436"/>
                  </a:lnTo>
                  <a:lnTo>
                    <a:pt x="85873" y="1398528"/>
                  </a:lnTo>
                  <a:lnTo>
                    <a:pt x="107726" y="1444334"/>
                  </a:lnTo>
                  <a:lnTo>
                    <a:pt x="131813" y="1488782"/>
                  </a:lnTo>
                  <a:lnTo>
                    <a:pt x="991743" y="991743"/>
                  </a:lnTo>
                  <a:close/>
                </a:path>
              </a:pathLst>
            </a:custGeom>
            <a:ln w="19049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454510" y="3270627"/>
            <a:ext cx="1602740" cy="1441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8200"/>
              </a:lnSpc>
              <a:spcBef>
                <a:spcPts val="100"/>
              </a:spcBef>
              <a:tabLst>
                <a:tab pos="787400" algn="l"/>
                <a:tab pos="876300" algn="l"/>
              </a:tabLst>
            </a:pPr>
            <a:r>
              <a:rPr dirty="0" sz="1400" spc="-10">
                <a:solidFill>
                  <a:srgbClr val="BBE0E3"/>
                </a:solidFill>
                <a:latin typeface="SimSun"/>
                <a:cs typeface="SimSun"/>
              </a:rPr>
              <a:t>超可靠</a:t>
            </a:r>
            <a:r>
              <a:rPr dirty="0" sz="1400" spc="-50">
                <a:solidFill>
                  <a:srgbClr val="BBE0E3"/>
                </a:solidFill>
                <a:latin typeface="SimSun"/>
                <a:cs typeface="SimSun"/>
              </a:rPr>
              <a:t>低</a:t>
            </a:r>
            <a:r>
              <a:rPr dirty="0" sz="1400">
                <a:solidFill>
                  <a:srgbClr val="BBE0E3"/>
                </a:solidFill>
                <a:latin typeface="SimSun"/>
                <a:cs typeface="SimSun"/>
              </a:rPr>
              <a:t>		</a:t>
            </a:r>
            <a:r>
              <a:rPr dirty="0" sz="1400" spc="-10">
                <a:solidFill>
                  <a:srgbClr val="BBE0E3"/>
                </a:solidFill>
                <a:latin typeface="SimSun"/>
                <a:cs typeface="SimSun"/>
              </a:rPr>
              <a:t>增强型</a:t>
            </a:r>
            <a:r>
              <a:rPr dirty="0" sz="1400" spc="-50">
                <a:solidFill>
                  <a:srgbClr val="BBE0E3"/>
                </a:solidFill>
                <a:latin typeface="SimSun"/>
                <a:cs typeface="SimSun"/>
              </a:rPr>
              <a:t>移</a:t>
            </a:r>
            <a:r>
              <a:rPr dirty="0" sz="1400" spc="-10">
                <a:solidFill>
                  <a:srgbClr val="BBE0E3"/>
                </a:solidFill>
                <a:latin typeface="SimSun"/>
                <a:cs typeface="SimSun"/>
              </a:rPr>
              <a:t>时</a:t>
            </a:r>
            <a:r>
              <a:rPr dirty="0" sz="1400" spc="-50">
                <a:solidFill>
                  <a:srgbClr val="BBE0E3"/>
                </a:solidFill>
                <a:latin typeface="SimSun"/>
                <a:cs typeface="SimSun"/>
              </a:rPr>
              <a:t>延</a:t>
            </a:r>
            <a:r>
              <a:rPr dirty="0" sz="1400">
                <a:solidFill>
                  <a:srgbClr val="BBE0E3"/>
                </a:solidFill>
                <a:latin typeface="SimSun"/>
                <a:cs typeface="SimSun"/>
              </a:rPr>
              <a:t>	</a:t>
            </a:r>
            <a:r>
              <a:rPr dirty="0" sz="1400" spc="-10">
                <a:solidFill>
                  <a:srgbClr val="BBE0E3"/>
                </a:solidFill>
                <a:latin typeface="SimSun"/>
                <a:cs typeface="SimSun"/>
              </a:rPr>
              <a:t>动宽</a:t>
            </a:r>
            <a:r>
              <a:rPr dirty="0" sz="1400" spc="-50">
                <a:solidFill>
                  <a:srgbClr val="BBE0E3"/>
                </a:solidFill>
                <a:latin typeface="SimSun"/>
                <a:cs typeface="SimSun"/>
              </a:rPr>
              <a:t>带</a:t>
            </a:r>
            <a:endParaRPr sz="14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4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400">
              <a:latin typeface="SimSun"/>
              <a:cs typeface="SimSun"/>
            </a:endParaRPr>
          </a:p>
          <a:p>
            <a:pPr algn="ctr" marL="444500" marR="436880">
              <a:lnSpc>
                <a:spcPct val="108200"/>
              </a:lnSpc>
            </a:pPr>
            <a:r>
              <a:rPr dirty="0" sz="1400" spc="-20">
                <a:solidFill>
                  <a:srgbClr val="BBE0E3"/>
                </a:solidFill>
                <a:latin typeface="SimSun"/>
                <a:cs typeface="SimSun"/>
              </a:rPr>
              <a:t>大连接物</a:t>
            </a:r>
            <a:r>
              <a:rPr dirty="0" sz="1400" spc="-30">
                <a:solidFill>
                  <a:srgbClr val="BBE0E3"/>
                </a:solidFill>
                <a:latin typeface="SimSun"/>
                <a:cs typeface="SimSun"/>
              </a:rPr>
              <a:t>联网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206582" y="2647950"/>
            <a:ext cx="4099560" cy="2263140"/>
          </a:xfrm>
          <a:custGeom>
            <a:avLst/>
            <a:gdLst/>
            <a:ahLst/>
            <a:cxnLst/>
            <a:rect l="l" t="t" r="r" b="b"/>
            <a:pathLst>
              <a:path w="4099559" h="2263140">
                <a:moveTo>
                  <a:pt x="0" y="0"/>
                </a:moveTo>
                <a:lnTo>
                  <a:pt x="4099217" y="0"/>
                </a:lnTo>
                <a:lnTo>
                  <a:pt x="4099217" y="2262936"/>
                </a:lnTo>
                <a:lnTo>
                  <a:pt x="0" y="22629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BBE0E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603" y="799249"/>
            <a:ext cx="1027556" cy="73933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19128" y="4215518"/>
            <a:ext cx="212661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25" b="1">
                <a:latin typeface="Microsoft YaHei"/>
                <a:cs typeface="Microsoft YaHei"/>
              </a:rPr>
              <a:t>低时延高可靠场景 </a:t>
            </a:r>
            <a:r>
              <a:rPr dirty="0" sz="1400" spc="-20" b="1">
                <a:latin typeface="Arial"/>
                <a:cs typeface="Arial"/>
              </a:rPr>
              <a:t>uRLLC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438283" y="3198837"/>
            <a:ext cx="2418080" cy="989965"/>
            <a:chOff x="6438283" y="3198837"/>
            <a:chExt cx="2418080" cy="9899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8283" y="3198837"/>
              <a:ext cx="1253497" cy="9897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1780" y="3214765"/>
              <a:ext cx="1163962" cy="95611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303656" y="4316908"/>
            <a:ext cx="208788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25" b="1">
                <a:latin typeface="Microsoft YaHei"/>
                <a:cs typeface="Microsoft YaHei"/>
              </a:rPr>
              <a:t>低功耗大连接场景 </a:t>
            </a:r>
            <a:r>
              <a:rPr dirty="0" sz="1400" spc="-20" b="1">
                <a:latin typeface="Arial"/>
                <a:cs typeface="Arial"/>
              </a:rPr>
              <a:t>mMTC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2019" y="3361909"/>
            <a:ext cx="2371725" cy="929005"/>
            <a:chOff x="102019" y="3361909"/>
            <a:chExt cx="2371725" cy="92900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019" y="3361909"/>
              <a:ext cx="1154636" cy="8985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2800" y="3361909"/>
              <a:ext cx="1210778" cy="928937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6438290" y="1652219"/>
            <a:ext cx="2488565" cy="983615"/>
            <a:chOff x="6438290" y="1652219"/>
            <a:chExt cx="2488565" cy="98361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290" y="1652219"/>
              <a:ext cx="1187778" cy="9830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47547" y="1652219"/>
              <a:ext cx="1279040" cy="98306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882741" y="2688098"/>
            <a:ext cx="12687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latin typeface="Microsoft YaHei"/>
                <a:cs typeface="Microsoft YaHei"/>
              </a:rPr>
              <a:t>热点高容量场景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6354" y="2514444"/>
            <a:ext cx="2048510" cy="5410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400" spc="25" b="1">
                <a:latin typeface="Microsoft YaHei"/>
                <a:cs typeface="Microsoft YaHei"/>
              </a:rPr>
              <a:t>增强移动宽带场景 </a:t>
            </a:r>
            <a:r>
              <a:rPr dirty="0" sz="1400" spc="-20" b="1">
                <a:latin typeface="Arial"/>
                <a:cs typeface="Arial"/>
              </a:rPr>
              <a:t>eMBB</a:t>
            </a:r>
            <a:endParaRPr sz="1400">
              <a:latin typeface="Arial"/>
              <a:cs typeface="Arial"/>
            </a:endParaRPr>
          </a:p>
          <a:p>
            <a:pPr marL="434975">
              <a:lnSpc>
                <a:spcPct val="100000"/>
              </a:lnSpc>
              <a:spcBef>
                <a:spcPts val="345"/>
              </a:spcBef>
            </a:pPr>
            <a:r>
              <a:rPr dirty="0" sz="1400" spc="-25" b="1">
                <a:latin typeface="Microsoft YaHei"/>
                <a:cs typeface="Microsoft YaHei"/>
              </a:rPr>
              <a:t>连续广域场景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092" y="1608322"/>
            <a:ext cx="2315251" cy="837837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2626220" y="908265"/>
            <a:ext cx="6266180" cy="462280"/>
          </a:xfrm>
          <a:prstGeom prst="rect">
            <a:avLst/>
          </a:prstGeom>
          <a:solidFill>
            <a:srgbClr val="CDCDCD"/>
          </a:solidFill>
        </p:spPr>
        <p:txBody>
          <a:bodyPr wrap="square" lIns="0" tIns="40005" rIns="0" bIns="0" rtlCol="0" vert="horz">
            <a:spAutoFit/>
          </a:bodyPr>
          <a:lstStyle/>
          <a:p>
            <a:pPr marL="119380" marR="295910">
              <a:lnSpc>
                <a:spcPct val="100000"/>
              </a:lnSpc>
              <a:spcBef>
                <a:spcPts val="315"/>
              </a:spcBef>
            </a:pPr>
            <a:r>
              <a:rPr dirty="0" sz="1200">
                <a:latin typeface="Microsoft YaHei"/>
                <a:cs typeface="Microsoft YaHei"/>
              </a:rPr>
              <a:t>面对</a:t>
            </a: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5">
                <a:latin typeface="Microsoft YaHei"/>
                <a:cs typeface="Microsoft YaHei"/>
              </a:rPr>
              <a:t>极致的体验、效率和性能要求，以及“万物互联”的愿景，对现有网络提出了技</a:t>
            </a:r>
            <a:r>
              <a:rPr dirty="0" sz="1200">
                <a:latin typeface="Microsoft YaHei"/>
                <a:cs typeface="Microsoft YaHei"/>
              </a:rPr>
              <a:t>术上的，商业模式上的全新的挑战与机遇。核心理念：</a:t>
            </a:r>
            <a:r>
              <a:rPr dirty="0" sz="1200" spc="-5" b="1">
                <a:latin typeface="Microsoft YaHei"/>
                <a:cs typeface="Microsoft YaHei"/>
              </a:rPr>
              <a:t>网络业务融合与按需服务提供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648318" y="1422387"/>
            <a:ext cx="3728085" cy="3156585"/>
            <a:chOff x="2648318" y="1422387"/>
            <a:chExt cx="3728085" cy="3156585"/>
          </a:xfrm>
        </p:grpSpPr>
        <p:sp>
          <p:nvSpPr>
            <p:cNvPr id="19" name="object 19" descr=""/>
            <p:cNvSpPr/>
            <p:nvPr/>
          </p:nvSpPr>
          <p:spPr>
            <a:xfrm>
              <a:off x="2654668" y="1428737"/>
              <a:ext cx="3715385" cy="3143885"/>
            </a:xfrm>
            <a:custGeom>
              <a:avLst/>
              <a:gdLst/>
              <a:ahLst/>
              <a:cxnLst/>
              <a:rect l="l" t="t" r="r" b="b"/>
              <a:pathLst>
                <a:path w="3715385" h="3143885">
                  <a:moveTo>
                    <a:pt x="0" y="0"/>
                  </a:moveTo>
                  <a:lnTo>
                    <a:pt x="3714775" y="0"/>
                  </a:lnTo>
                  <a:lnTo>
                    <a:pt x="3714775" y="3143275"/>
                  </a:lnTo>
                  <a:lnTo>
                    <a:pt x="0" y="31432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15084" y="1962645"/>
              <a:ext cx="2668270" cy="1842135"/>
            </a:xfrm>
            <a:custGeom>
              <a:avLst/>
              <a:gdLst/>
              <a:ahLst/>
              <a:cxnLst/>
              <a:rect l="l" t="t" r="r" b="b"/>
              <a:pathLst>
                <a:path w="2668270" h="1842135">
                  <a:moveTo>
                    <a:pt x="1333906" y="0"/>
                  </a:moveTo>
                  <a:lnTo>
                    <a:pt x="0" y="1841995"/>
                  </a:lnTo>
                  <a:lnTo>
                    <a:pt x="2667812" y="1841995"/>
                  </a:lnTo>
                  <a:lnTo>
                    <a:pt x="1333906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5897" y="2191638"/>
              <a:ext cx="186182" cy="17390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956234" y="2059725"/>
              <a:ext cx="299720" cy="219075"/>
            </a:xfrm>
            <a:custGeom>
              <a:avLst/>
              <a:gdLst/>
              <a:ahLst/>
              <a:cxnLst/>
              <a:rect l="l" t="t" r="r" b="b"/>
              <a:pathLst>
                <a:path w="299720" h="219075">
                  <a:moveTo>
                    <a:pt x="299669" y="218871"/>
                  </a:moveTo>
                  <a:lnTo>
                    <a:pt x="149834" y="218871"/>
                  </a:lnTo>
                  <a:lnTo>
                    <a:pt x="149834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7152" y="2426931"/>
              <a:ext cx="189606" cy="17389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656768" y="2238364"/>
              <a:ext cx="245745" cy="275590"/>
            </a:xfrm>
            <a:custGeom>
              <a:avLst/>
              <a:gdLst/>
              <a:ahLst/>
              <a:cxnLst/>
              <a:rect l="l" t="t" r="r" b="b"/>
              <a:pathLst>
                <a:path w="245745" h="275589">
                  <a:moveTo>
                    <a:pt x="0" y="275513"/>
                  </a:moveTo>
                  <a:lnTo>
                    <a:pt x="122694" y="275513"/>
                  </a:lnTo>
                  <a:lnTo>
                    <a:pt x="122694" y="0"/>
                  </a:lnTo>
                  <a:lnTo>
                    <a:pt x="245402" y="0"/>
                  </a:lnTo>
                </a:path>
              </a:pathLst>
            </a:custGeom>
            <a:ln w="9524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6859" y="2704477"/>
              <a:ext cx="205549" cy="17504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792412" y="2587823"/>
              <a:ext cx="248920" cy="204470"/>
            </a:xfrm>
            <a:custGeom>
              <a:avLst/>
              <a:gdLst/>
              <a:ahLst/>
              <a:cxnLst/>
              <a:rect l="l" t="t" r="r" b="b"/>
              <a:pathLst>
                <a:path w="248920" h="204469">
                  <a:moveTo>
                    <a:pt x="0" y="204177"/>
                  </a:moveTo>
                  <a:lnTo>
                    <a:pt x="124371" y="204177"/>
                  </a:lnTo>
                  <a:lnTo>
                    <a:pt x="124371" y="0"/>
                  </a:lnTo>
                  <a:lnTo>
                    <a:pt x="248729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12982" y="2956725"/>
              <a:ext cx="198903" cy="17504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911886" y="2836539"/>
              <a:ext cx="330200" cy="208279"/>
            </a:xfrm>
            <a:custGeom>
              <a:avLst/>
              <a:gdLst/>
              <a:ahLst/>
              <a:cxnLst/>
              <a:rect l="l" t="t" r="r" b="b"/>
              <a:pathLst>
                <a:path w="330200" h="208280">
                  <a:moveTo>
                    <a:pt x="0" y="207708"/>
                  </a:moveTo>
                  <a:lnTo>
                    <a:pt x="164795" y="207708"/>
                  </a:lnTo>
                  <a:lnTo>
                    <a:pt x="164795" y="0"/>
                  </a:lnTo>
                  <a:lnTo>
                    <a:pt x="32959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005298" y="3234791"/>
              <a:ext cx="142875" cy="168275"/>
            </a:xfrm>
            <a:custGeom>
              <a:avLst/>
              <a:gdLst/>
              <a:ahLst/>
              <a:cxnLst/>
              <a:rect l="l" t="t" r="r" b="b"/>
              <a:pathLst>
                <a:path w="142875" h="168275">
                  <a:moveTo>
                    <a:pt x="142773" y="0"/>
                  </a:moveTo>
                  <a:lnTo>
                    <a:pt x="0" y="0"/>
                  </a:lnTo>
                  <a:lnTo>
                    <a:pt x="0" y="168186"/>
                  </a:lnTo>
                  <a:lnTo>
                    <a:pt x="142773" y="168186"/>
                  </a:lnTo>
                  <a:lnTo>
                    <a:pt x="142773" y="0"/>
                  </a:lnTo>
                  <a:close/>
                </a:path>
              </a:pathLst>
            </a:custGeom>
            <a:solidFill>
              <a:srgbClr val="D6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05299" y="3251918"/>
              <a:ext cx="115570" cy="138430"/>
            </a:xfrm>
            <a:custGeom>
              <a:avLst/>
              <a:gdLst/>
              <a:ahLst/>
              <a:cxnLst/>
              <a:rect l="l" t="t" r="r" b="b"/>
              <a:pathLst>
                <a:path w="115570" h="138429">
                  <a:moveTo>
                    <a:pt x="62230" y="101498"/>
                  </a:moveTo>
                  <a:lnTo>
                    <a:pt x="52984" y="101498"/>
                  </a:lnTo>
                  <a:lnTo>
                    <a:pt x="52984" y="137248"/>
                  </a:lnTo>
                  <a:lnTo>
                    <a:pt x="57607" y="138366"/>
                  </a:lnTo>
                  <a:lnTo>
                    <a:pt x="60635" y="138366"/>
                  </a:lnTo>
                  <a:lnTo>
                    <a:pt x="62230" y="137248"/>
                  </a:lnTo>
                  <a:lnTo>
                    <a:pt x="62230" y="101498"/>
                  </a:lnTo>
                  <a:close/>
                </a:path>
                <a:path w="115570" h="138429">
                  <a:moveTo>
                    <a:pt x="57607" y="79679"/>
                  </a:moveTo>
                  <a:lnTo>
                    <a:pt x="39357" y="101498"/>
                  </a:lnTo>
                  <a:lnTo>
                    <a:pt x="75857" y="101498"/>
                  </a:lnTo>
                  <a:lnTo>
                    <a:pt x="57607" y="79679"/>
                  </a:lnTo>
                  <a:close/>
                </a:path>
                <a:path w="115570" h="138429">
                  <a:moveTo>
                    <a:pt x="18249" y="45567"/>
                  </a:moveTo>
                  <a:lnTo>
                    <a:pt x="0" y="67373"/>
                  </a:lnTo>
                  <a:lnTo>
                    <a:pt x="18249" y="89192"/>
                  </a:lnTo>
                  <a:lnTo>
                    <a:pt x="18249" y="72898"/>
                  </a:lnTo>
                  <a:lnTo>
                    <a:pt x="55778" y="72898"/>
                  </a:lnTo>
                  <a:lnTo>
                    <a:pt x="55778" y="61849"/>
                  </a:lnTo>
                  <a:lnTo>
                    <a:pt x="18249" y="61849"/>
                  </a:lnTo>
                  <a:lnTo>
                    <a:pt x="18249" y="45567"/>
                  </a:lnTo>
                  <a:close/>
                </a:path>
                <a:path w="115570" h="138429">
                  <a:moveTo>
                    <a:pt x="96964" y="45567"/>
                  </a:moveTo>
                  <a:lnTo>
                    <a:pt x="96964" y="61849"/>
                  </a:lnTo>
                  <a:lnTo>
                    <a:pt x="59436" y="61849"/>
                  </a:lnTo>
                  <a:lnTo>
                    <a:pt x="59436" y="72898"/>
                  </a:lnTo>
                  <a:lnTo>
                    <a:pt x="96964" y="72898"/>
                  </a:lnTo>
                  <a:lnTo>
                    <a:pt x="96964" y="89192"/>
                  </a:lnTo>
                  <a:lnTo>
                    <a:pt x="115214" y="67373"/>
                  </a:lnTo>
                  <a:lnTo>
                    <a:pt x="96964" y="45567"/>
                  </a:lnTo>
                  <a:close/>
                </a:path>
                <a:path w="115570" h="138429">
                  <a:moveTo>
                    <a:pt x="75857" y="36791"/>
                  </a:moveTo>
                  <a:lnTo>
                    <a:pt x="39357" y="36791"/>
                  </a:lnTo>
                  <a:lnTo>
                    <a:pt x="57607" y="58610"/>
                  </a:lnTo>
                  <a:lnTo>
                    <a:pt x="75857" y="36791"/>
                  </a:lnTo>
                  <a:close/>
                </a:path>
                <a:path w="115570" h="138429">
                  <a:moveTo>
                    <a:pt x="60744" y="0"/>
                  </a:moveTo>
                  <a:lnTo>
                    <a:pt x="57292" y="0"/>
                  </a:lnTo>
                  <a:lnTo>
                    <a:pt x="52984" y="1041"/>
                  </a:lnTo>
                  <a:lnTo>
                    <a:pt x="52984" y="36791"/>
                  </a:lnTo>
                  <a:lnTo>
                    <a:pt x="62230" y="36791"/>
                  </a:lnTo>
                  <a:lnTo>
                    <a:pt x="62230" y="1041"/>
                  </a:lnTo>
                  <a:lnTo>
                    <a:pt x="60744" y="0"/>
                  </a:lnTo>
                  <a:close/>
                </a:path>
              </a:pathLst>
            </a:custGeom>
            <a:solidFill>
              <a:srgbClr val="124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148070" y="3115217"/>
              <a:ext cx="213360" cy="203835"/>
            </a:xfrm>
            <a:custGeom>
              <a:avLst/>
              <a:gdLst/>
              <a:ahLst/>
              <a:cxnLst/>
              <a:rect l="l" t="t" r="r" b="b"/>
              <a:pathLst>
                <a:path w="213360" h="203835">
                  <a:moveTo>
                    <a:pt x="0" y="203669"/>
                  </a:moveTo>
                  <a:lnTo>
                    <a:pt x="106629" y="203669"/>
                  </a:lnTo>
                  <a:lnTo>
                    <a:pt x="106629" y="0"/>
                  </a:lnTo>
                  <a:lnTo>
                    <a:pt x="213258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121224" y="3447084"/>
              <a:ext cx="141605" cy="168275"/>
            </a:xfrm>
            <a:custGeom>
              <a:avLst/>
              <a:gdLst/>
              <a:ahLst/>
              <a:cxnLst/>
              <a:rect l="l" t="t" r="r" b="b"/>
              <a:pathLst>
                <a:path w="141604" h="168275">
                  <a:moveTo>
                    <a:pt x="141528" y="0"/>
                  </a:moveTo>
                  <a:lnTo>
                    <a:pt x="0" y="0"/>
                  </a:lnTo>
                  <a:lnTo>
                    <a:pt x="0" y="168186"/>
                  </a:lnTo>
                  <a:lnTo>
                    <a:pt x="141528" y="168186"/>
                  </a:lnTo>
                  <a:lnTo>
                    <a:pt x="141528" y="0"/>
                  </a:lnTo>
                  <a:close/>
                </a:path>
              </a:pathLst>
            </a:custGeom>
            <a:solidFill>
              <a:srgbClr val="D6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148070" y="3497281"/>
              <a:ext cx="114300" cy="40640"/>
            </a:xfrm>
            <a:custGeom>
              <a:avLst/>
              <a:gdLst/>
              <a:ahLst/>
              <a:cxnLst/>
              <a:rect l="l" t="t" r="r" b="b"/>
              <a:pathLst>
                <a:path w="114300" h="40639">
                  <a:moveTo>
                    <a:pt x="71564" y="0"/>
                  </a:moveTo>
                  <a:lnTo>
                    <a:pt x="40982" y="0"/>
                  </a:lnTo>
                  <a:lnTo>
                    <a:pt x="34108" y="2055"/>
                  </a:lnTo>
                  <a:lnTo>
                    <a:pt x="27957" y="6862"/>
                  </a:lnTo>
                  <a:lnTo>
                    <a:pt x="23089" y="12381"/>
                  </a:lnTo>
                  <a:lnTo>
                    <a:pt x="20065" y="16573"/>
                  </a:lnTo>
                  <a:lnTo>
                    <a:pt x="4978" y="16573"/>
                  </a:lnTo>
                  <a:lnTo>
                    <a:pt x="3276" y="17945"/>
                  </a:lnTo>
                  <a:lnTo>
                    <a:pt x="0" y="22263"/>
                  </a:lnTo>
                  <a:lnTo>
                    <a:pt x="279" y="26581"/>
                  </a:lnTo>
                  <a:lnTo>
                    <a:pt x="279" y="38836"/>
                  </a:lnTo>
                  <a:lnTo>
                    <a:pt x="1282" y="40043"/>
                  </a:lnTo>
                  <a:lnTo>
                    <a:pt x="13233" y="40043"/>
                  </a:lnTo>
                  <a:lnTo>
                    <a:pt x="14223" y="38836"/>
                  </a:lnTo>
                  <a:lnTo>
                    <a:pt x="14223" y="36068"/>
                  </a:lnTo>
                  <a:lnTo>
                    <a:pt x="13233" y="34861"/>
                  </a:lnTo>
                  <a:lnTo>
                    <a:pt x="4559" y="34861"/>
                  </a:lnTo>
                  <a:lnTo>
                    <a:pt x="4559" y="23812"/>
                  </a:lnTo>
                  <a:lnTo>
                    <a:pt x="5981" y="21920"/>
                  </a:lnTo>
                  <a:lnTo>
                    <a:pt x="6832" y="21577"/>
                  </a:lnTo>
                  <a:lnTo>
                    <a:pt x="21767" y="21577"/>
                  </a:lnTo>
                  <a:lnTo>
                    <a:pt x="22339" y="21234"/>
                  </a:lnTo>
                  <a:lnTo>
                    <a:pt x="25463" y="16395"/>
                  </a:lnTo>
                  <a:lnTo>
                    <a:pt x="33858" y="5181"/>
                  </a:lnTo>
                  <a:lnTo>
                    <a:pt x="70002" y="5181"/>
                  </a:lnTo>
                  <a:lnTo>
                    <a:pt x="79819" y="18465"/>
                  </a:lnTo>
                  <a:lnTo>
                    <a:pt x="80530" y="19151"/>
                  </a:lnTo>
                  <a:lnTo>
                    <a:pt x="109702" y="27609"/>
                  </a:lnTo>
                  <a:lnTo>
                    <a:pt x="109702" y="34861"/>
                  </a:lnTo>
                  <a:lnTo>
                    <a:pt x="91770" y="34861"/>
                  </a:lnTo>
                  <a:lnTo>
                    <a:pt x="90779" y="36068"/>
                  </a:lnTo>
                  <a:lnTo>
                    <a:pt x="90779" y="38836"/>
                  </a:lnTo>
                  <a:lnTo>
                    <a:pt x="91770" y="40043"/>
                  </a:lnTo>
                  <a:lnTo>
                    <a:pt x="111836" y="40043"/>
                  </a:lnTo>
                  <a:lnTo>
                    <a:pt x="113118" y="40043"/>
                  </a:lnTo>
                  <a:lnTo>
                    <a:pt x="113969" y="38836"/>
                  </a:lnTo>
                  <a:lnTo>
                    <a:pt x="113969" y="24333"/>
                  </a:lnTo>
                  <a:lnTo>
                    <a:pt x="113258" y="23304"/>
                  </a:lnTo>
                  <a:lnTo>
                    <a:pt x="82524" y="14490"/>
                  </a:lnTo>
                  <a:lnTo>
                    <a:pt x="72567" y="863"/>
                  </a:lnTo>
                  <a:lnTo>
                    <a:pt x="71564" y="0"/>
                  </a:lnTo>
                  <a:close/>
                </a:path>
              </a:pathLst>
            </a:custGeom>
            <a:solidFill>
              <a:srgbClr val="12419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119886" y="2493158"/>
            <a:ext cx="982344" cy="989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Microsoft YaHei"/>
                <a:cs typeface="Microsoft YaHei"/>
              </a:rPr>
              <a:t>云办公及游戏</a:t>
            </a:r>
            <a:endParaRPr sz="1000">
              <a:latin typeface="Microsoft YaHei"/>
              <a:cs typeface="Microsoft YaHei"/>
            </a:endParaRPr>
          </a:p>
          <a:p>
            <a:pPr marL="212725">
              <a:lnSpc>
                <a:spcPct val="100000"/>
              </a:lnSpc>
              <a:spcBef>
                <a:spcPts val="760"/>
              </a:spcBef>
            </a:pPr>
            <a:r>
              <a:rPr dirty="0" sz="1000" spc="-15">
                <a:latin typeface="Microsoft YaHei"/>
                <a:cs typeface="Microsoft YaHei"/>
              </a:rPr>
              <a:t>增强现实</a:t>
            </a:r>
            <a:endParaRPr sz="1000">
              <a:latin typeface="Microsoft YaHei"/>
              <a:cs typeface="Microsoft YaHei"/>
            </a:endParaRPr>
          </a:p>
          <a:p>
            <a:pPr marL="398780" marR="5080" indent="-66675">
              <a:lnSpc>
                <a:spcPts val="2230"/>
              </a:lnSpc>
              <a:spcBef>
                <a:spcPts val="65"/>
              </a:spcBef>
            </a:pPr>
            <a:r>
              <a:rPr dirty="0" sz="1000" spc="-10">
                <a:latin typeface="Microsoft YaHei"/>
                <a:cs typeface="Microsoft YaHei"/>
              </a:rPr>
              <a:t>工业自动化</a:t>
            </a:r>
            <a:r>
              <a:rPr dirty="0" sz="1000" spc="-15">
                <a:latin typeface="Microsoft YaHei"/>
                <a:cs typeface="Microsoft YaHei"/>
              </a:rPr>
              <a:t>自动驾驶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3371901" y="2472380"/>
            <a:ext cx="2194560" cy="1290320"/>
            <a:chOff x="3371901" y="2472380"/>
            <a:chExt cx="2194560" cy="1290320"/>
          </a:xfrm>
        </p:grpSpPr>
        <p:sp>
          <p:nvSpPr>
            <p:cNvPr id="36" name="object 36" descr=""/>
            <p:cNvSpPr/>
            <p:nvPr/>
          </p:nvSpPr>
          <p:spPr>
            <a:xfrm>
              <a:off x="5262746" y="3398841"/>
              <a:ext cx="165100" cy="132715"/>
            </a:xfrm>
            <a:custGeom>
              <a:avLst/>
              <a:gdLst/>
              <a:ahLst/>
              <a:cxnLst/>
              <a:rect l="l" t="t" r="r" b="b"/>
              <a:pathLst>
                <a:path w="165100" h="132714">
                  <a:moveTo>
                    <a:pt x="0" y="132333"/>
                  </a:moveTo>
                  <a:lnTo>
                    <a:pt x="82448" y="132333"/>
                  </a:lnTo>
                  <a:lnTo>
                    <a:pt x="82448" y="0"/>
                  </a:lnTo>
                  <a:lnTo>
                    <a:pt x="164909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27308" y="3587343"/>
              <a:ext cx="148733" cy="17504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4776041" y="3674866"/>
              <a:ext cx="785495" cy="13970"/>
            </a:xfrm>
            <a:custGeom>
              <a:avLst/>
              <a:gdLst/>
              <a:ahLst/>
              <a:cxnLst/>
              <a:rect l="l" t="t" r="r" b="b"/>
              <a:pathLst>
                <a:path w="785495" h="13970">
                  <a:moveTo>
                    <a:pt x="0" y="0"/>
                  </a:moveTo>
                  <a:lnTo>
                    <a:pt x="392544" y="0"/>
                  </a:lnTo>
                  <a:lnTo>
                    <a:pt x="392544" y="13487"/>
                  </a:lnTo>
                  <a:lnTo>
                    <a:pt x="785075" y="13487"/>
                  </a:lnTo>
                </a:path>
              </a:pathLst>
            </a:custGeom>
            <a:ln w="9524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84141" y="2869667"/>
              <a:ext cx="113636" cy="11784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38742" y="2870811"/>
              <a:ext cx="110296" cy="11669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37075" y="2561907"/>
              <a:ext cx="111963" cy="11669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84141" y="2561907"/>
              <a:ext cx="111963" cy="11669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13948" y="2723222"/>
              <a:ext cx="127008" cy="11554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63542" y="2723222"/>
              <a:ext cx="111963" cy="115552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879306" y="2509194"/>
              <a:ext cx="579755" cy="529590"/>
            </a:xfrm>
            <a:custGeom>
              <a:avLst/>
              <a:gdLst/>
              <a:ahLst/>
              <a:cxnLst/>
              <a:rect l="l" t="t" r="r" b="b"/>
              <a:pathLst>
                <a:path w="579754" h="529589">
                  <a:moveTo>
                    <a:pt x="0" y="264731"/>
                  </a:moveTo>
                  <a:lnTo>
                    <a:pt x="4668" y="217143"/>
                  </a:lnTo>
                  <a:lnTo>
                    <a:pt x="18129" y="172354"/>
                  </a:lnTo>
                  <a:lnTo>
                    <a:pt x="39564" y="131112"/>
                  </a:lnTo>
                  <a:lnTo>
                    <a:pt x="68154" y="94165"/>
                  </a:lnTo>
                  <a:lnTo>
                    <a:pt x="103081" y="62258"/>
                  </a:lnTo>
                  <a:lnTo>
                    <a:pt x="143526" y="36141"/>
                  </a:lnTo>
                  <a:lnTo>
                    <a:pt x="188672" y="16561"/>
                  </a:lnTo>
                  <a:lnTo>
                    <a:pt x="237698" y="4264"/>
                  </a:lnTo>
                  <a:lnTo>
                    <a:pt x="289788" y="0"/>
                  </a:lnTo>
                  <a:lnTo>
                    <a:pt x="341878" y="4264"/>
                  </a:lnTo>
                  <a:lnTo>
                    <a:pt x="390905" y="16561"/>
                  </a:lnTo>
                  <a:lnTo>
                    <a:pt x="436050" y="36141"/>
                  </a:lnTo>
                  <a:lnTo>
                    <a:pt x="476495" y="62258"/>
                  </a:lnTo>
                  <a:lnTo>
                    <a:pt x="511422" y="94165"/>
                  </a:lnTo>
                  <a:lnTo>
                    <a:pt x="540012" y="131112"/>
                  </a:lnTo>
                  <a:lnTo>
                    <a:pt x="561447" y="172354"/>
                  </a:lnTo>
                  <a:lnTo>
                    <a:pt x="574908" y="217143"/>
                  </a:lnTo>
                  <a:lnTo>
                    <a:pt x="579577" y="264731"/>
                  </a:lnTo>
                  <a:lnTo>
                    <a:pt x="574908" y="312319"/>
                  </a:lnTo>
                  <a:lnTo>
                    <a:pt x="561447" y="357108"/>
                  </a:lnTo>
                  <a:lnTo>
                    <a:pt x="540012" y="398350"/>
                  </a:lnTo>
                  <a:lnTo>
                    <a:pt x="511422" y="435297"/>
                  </a:lnTo>
                  <a:lnTo>
                    <a:pt x="476495" y="467204"/>
                  </a:lnTo>
                  <a:lnTo>
                    <a:pt x="436050" y="493321"/>
                  </a:lnTo>
                  <a:lnTo>
                    <a:pt x="390905" y="512901"/>
                  </a:lnTo>
                  <a:lnTo>
                    <a:pt x="341878" y="525198"/>
                  </a:lnTo>
                  <a:lnTo>
                    <a:pt x="289788" y="529463"/>
                  </a:lnTo>
                  <a:lnTo>
                    <a:pt x="237698" y="525198"/>
                  </a:lnTo>
                  <a:lnTo>
                    <a:pt x="188672" y="512901"/>
                  </a:lnTo>
                  <a:lnTo>
                    <a:pt x="143526" y="493321"/>
                  </a:lnTo>
                  <a:lnTo>
                    <a:pt x="103081" y="467204"/>
                  </a:lnTo>
                  <a:lnTo>
                    <a:pt x="68154" y="435297"/>
                  </a:lnTo>
                  <a:lnTo>
                    <a:pt x="39564" y="398350"/>
                  </a:lnTo>
                  <a:lnTo>
                    <a:pt x="18129" y="357108"/>
                  </a:lnTo>
                  <a:lnTo>
                    <a:pt x="4668" y="312319"/>
                  </a:lnTo>
                  <a:lnTo>
                    <a:pt x="0" y="264731"/>
                  </a:lnTo>
                  <a:close/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722771" y="2477142"/>
              <a:ext cx="156845" cy="297180"/>
            </a:xfrm>
            <a:custGeom>
              <a:avLst/>
              <a:gdLst/>
              <a:ahLst/>
              <a:cxnLst/>
              <a:rect l="l" t="t" r="r" b="b"/>
              <a:pathLst>
                <a:path w="156845" h="297180">
                  <a:moveTo>
                    <a:pt x="0" y="0"/>
                  </a:moveTo>
                  <a:lnTo>
                    <a:pt x="78270" y="0"/>
                  </a:lnTo>
                  <a:lnTo>
                    <a:pt x="78270" y="296786"/>
                  </a:lnTo>
                  <a:lnTo>
                    <a:pt x="156540" y="296786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65802" y="3002381"/>
              <a:ext cx="192682" cy="175044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3417602" y="2944679"/>
              <a:ext cx="948690" cy="145415"/>
            </a:xfrm>
            <a:custGeom>
              <a:avLst/>
              <a:gdLst/>
              <a:ahLst/>
              <a:cxnLst/>
              <a:rect l="l" t="t" r="r" b="b"/>
              <a:pathLst>
                <a:path w="948689" h="145414">
                  <a:moveTo>
                    <a:pt x="948194" y="145224"/>
                  </a:moveTo>
                  <a:lnTo>
                    <a:pt x="474103" y="145224"/>
                  </a:lnTo>
                  <a:lnTo>
                    <a:pt x="474103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08742" y="3406244"/>
              <a:ext cx="100266" cy="11440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81730" y="3403957"/>
              <a:ext cx="98589" cy="11669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78935" y="3574427"/>
              <a:ext cx="98597" cy="1155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40772" y="3406244"/>
              <a:ext cx="98590" cy="11440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551999" y="3243478"/>
              <a:ext cx="99060" cy="116839"/>
            </a:xfrm>
            <a:custGeom>
              <a:avLst/>
              <a:gdLst/>
              <a:ahLst/>
              <a:cxnLst/>
              <a:rect l="l" t="t" r="r" b="b"/>
              <a:pathLst>
                <a:path w="99060" h="116839">
                  <a:moveTo>
                    <a:pt x="98945" y="0"/>
                  </a:moveTo>
                  <a:lnTo>
                    <a:pt x="0" y="0"/>
                  </a:lnTo>
                  <a:lnTo>
                    <a:pt x="0" y="116700"/>
                  </a:lnTo>
                  <a:lnTo>
                    <a:pt x="98945" y="116700"/>
                  </a:lnTo>
                  <a:lnTo>
                    <a:pt x="98945" y="0"/>
                  </a:lnTo>
                  <a:close/>
                </a:path>
              </a:pathLst>
            </a:custGeom>
            <a:solidFill>
              <a:srgbClr val="D6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562033" y="3284675"/>
              <a:ext cx="79375" cy="27940"/>
            </a:xfrm>
            <a:custGeom>
              <a:avLst/>
              <a:gdLst/>
              <a:ahLst/>
              <a:cxnLst/>
              <a:rect l="l" t="t" r="r" b="b"/>
              <a:pathLst>
                <a:path w="79375" h="27939">
                  <a:moveTo>
                    <a:pt x="49542" y="0"/>
                  </a:moveTo>
                  <a:lnTo>
                    <a:pt x="21856" y="0"/>
                  </a:lnTo>
                  <a:lnTo>
                    <a:pt x="13881" y="11366"/>
                  </a:lnTo>
                  <a:lnTo>
                    <a:pt x="3441" y="11366"/>
                  </a:lnTo>
                  <a:lnTo>
                    <a:pt x="2260" y="12306"/>
                  </a:lnTo>
                  <a:lnTo>
                    <a:pt x="0" y="15265"/>
                  </a:lnTo>
                  <a:lnTo>
                    <a:pt x="190" y="18224"/>
                  </a:lnTo>
                  <a:lnTo>
                    <a:pt x="190" y="26631"/>
                  </a:lnTo>
                  <a:lnTo>
                    <a:pt x="876" y="27457"/>
                  </a:lnTo>
                  <a:lnTo>
                    <a:pt x="9156" y="27457"/>
                  </a:lnTo>
                  <a:lnTo>
                    <a:pt x="9842" y="26631"/>
                  </a:lnTo>
                  <a:lnTo>
                    <a:pt x="9842" y="24739"/>
                  </a:lnTo>
                  <a:lnTo>
                    <a:pt x="9156" y="23901"/>
                  </a:lnTo>
                  <a:lnTo>
                    <a:pt x="3149" y="23901"/>
                  </a:lnTo>
                  <a:lnTo>
                    <a:pt x="3149" y="16332"/>
                  </a:lnTo>
                  <a:lnTo>
                    <a:pt x="4127" y="15024"/>
                  </a:lnTo>
                  <a:lnTo>
                    <a:pt x="4724" y="14795"/>
                  </a:lnTo>
                  <a:lnTo>
                    <a:pt x="15062" y="14795"/>
                  </a:lnTo>
                  <a:lnTo>
                    <a:pt x="15455" y="14554"/>
                  </a:lnTo>
                  <a:lnTo>
                    <a:pt x="17627" y="11239"/>
                  </a:lnTo>
                  <a:lnTo>
                    <a:pt x="23444" y="3543"/>
                  </a:lnTo>
                  <a:lnTo>
                    <a:pt x="48463" y="3543"/>
                  </a:lnTo>
                  <a:lnTo>
                    <a:pt x="55257" y="12661"/>
                  </a:lnTo>
                  <a:lnTo>
                    <a:pt x="55753" y="13131"/>
                  </a:lnTo>
                  <a:lnTo>
                    <a:pt x="75946" y="18935"/>
                  </a:lnTo>
                  <a:lnTo>
                    <a:pt x="75946" y="23901"/>
                  </a:lnTo>
                  <a:lnTo>
                    <a:pt x="63525" y="23901"/>
                  </a:lnTo>
                  <a:lnTo>
                    <a:pt x="62839" y="24739"/>
                  </a:lnTo>
                  <a:lnTo>
                    <a:pt x="62839" y="26631"/>
                  </a:lnTo>
                  <a:lnTo>
                    <a:pt x="63525" y="27457"/>
                  </a:lnTo>
                  <a:lnTo>
                    <a:pt x="77419" y="27457"/>
                  </a:lnTo>
                  <a:lnTo>
                    <a:pt x="78308" y="27457"/>
                  </a:lnTo>
                  <a:lnTo>
                    <a:pt x="78892" y="26631"/>
                  </a:lnTo>
                  <a:lnTo>
                    <a:pt x="78892" y="16687"/>
                  </a:lnTo>
                  <a:lnTo>
                    <a:pt x="78409" y="15976"/>
                  </a:lnTo>
                  <a:lnTo>
                    <a:pt x="57124" y="9944"/>
                  </a:lnTo>
                  <a:lnTo>
                    <a:pt x="50228" y="584"/>
                  </a:lnTo>
                  <a:lnTo>
                    <a:pt x="49542" y="0"/>
                  </a:lnTo>
                  <a:close/>
                </a:path>
              </a:pathLst>
            </a:custGeom>
            <a:solidFill>
              <a:srgbClr val="12419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551923" y="3574427"/>
              <a:ext cx="98600" cy="115550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375076" y="3195900"/>
              <a:ext cx="579755" cy="529590"/>
            </a:xfrm>
            <a:custGeom>
              <a:avLst/>
              <a:gdLst/>
              <a:ahLst/>
              <a:cxnLst/>
              <a:rect l="l" t="t" r="r" b="b"/>
              <a:pathLst>
                <a:path w="579754" h="529589">
                  <a:moveTo>
                    <a:pt x="0" y="264731"/>
                  </a:moveTo>
                  <a:lnTo>
                    <a:pt x="4668" y="217143"/>
                  </a:lnTo>
                  <a:lnTo>
                    <a:pt x="18129" y="172354"/>
                  </a:lnTo>
                  <a:lnTo>
                    <a:pt x="39564" y="131112"/>
                  </a:lnTo>
                  <a:lnTo>
                    <a:pt x="68154" y="94165"/>
                  </a:lnTo>
                  <a:lnTo>
                    <a:pt x="103081" y="62258"/>
                  </a:lnTo>
                  <a:lnTo>
                    <a:pt x="143526" y="36141"/>
                  </a:lnTo>
                  <a:lnTo>
                    <a:pt x="188672" y="16561"/>
                  </a:lnTo>
                  <a:lnTo>
                    <a:pt x="237698" y="4264"/>
                  </a:lnTo>
                  <a:lnTo>
                    <a:pt x="289788" y="0"/>
                  </a:lnTo>
                  <a:lnTo>
                    <a:pt x="341878" y="4264"/>
                  </a:lnTo>
                  <a:lnTo>
                    <a:pt x="390905" y="16561"/>
                  </a:lnTo>
                  <a:lnTo>
                    <a:pt x="436050" y="36141"/>
                  </a:lnTo>
                  <a:lnTo>
                    <a:pt x="476495" y="62258"/>
                  </a:lnTo>
                  <a:lnTo>
                    <a:pt x="511422" y="94165"/>
                  </a:lnTo>
                  <a:lnTo>
                    <a:pt x="540012" y="131112"/>
                  </a:lnTo>
                  <a:lnTo>
                    <a:pt x="561447" y="172354"/>
                  </a:lnTo>
                  <a:lnTo>
                    <a:pt x="574908" y="217143"/>
                  </a:lnTo>
                  <a:lnTo>
                    <a:pt x="579577" y="264731"/>
                  </a:lnTo>
                  <a:lnTo>
                    <a:pt x="574908" y="312319"/>
                  </a:lnTo>
                  <a:lnTo>
                    <a:pt x="561447" y="357108"/>
                  </a:lnTo>
                  <a:lnTo>
                    <a:pt x="540012" y="398350"/>
                  </a:lnTo>
                  <a:lnTo>
                    <a:pt x="511422" y="435297"/>
                  </a:lnTo>
                  <a:lnTo>
                    <a:pt x="476495" y="467204"/>
                  </a:lnTo>
                  <a:lnTo>
                    <a:pt x="436050" y="493321"/>
                  </a:lnTo>
                  <a:lnTo>
                    <a:pt x="390905" y="512901"/>
                  </a:lnTo>
                  <a:lnTo>
                    <a:pt x="341878" y="525198"/>
                  </a:lnTo>
                  <a:lnTo>
                    <a:pt x="289788" y="529463"/>
                  </a:lnTo>
                  <a:lnTo>
                    <a:pt x="237698" y="525198"/>
                  </a:lnTo>
                  <a:lnTo>
                    <a:pt x="188672" y="512901"/>
                  </a:lnTo>
                  <a:lnTo>
                    <a:pt x="143526" y="493321"/>
                  </a:lnTo>
                  <a:lnTo>
                    <a:pt x="103081" y="467204"/>
                  </a:lnTo>
                  <a:lnTo>
                    <a:pt x="68154" y="435297"/>
                  </a:lnTo>
                  <a:lnTo>
                    <a:pt x="39564" y="398350"/>
                  </a:lnTo>
                  <a:lnTo>
                    <a:pt x="18129" y="357108"/>
                  </a:lnTo>
                  <a:lnTo>
                    <a:pt x="4668" y="312319"/>
                  </a:lnTo>
                  <a:lnTo>
                    <a:pt x="0" y="264731"/>
                  </a:lnTo>
                  <a:close/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78932" y="3243783"/>
              <a:ext cx="98593" cy="116686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5639858" y="3516749"/>
            <a:ext cx="789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Microsoft YaHei"/>
                <a:cs typeface="Microsoft YaHei"/>
              </a:rPr>
              <a:t>高可靠应用，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2689213" y="2850010"/>
            <a:ext cx="646430" cy="487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Microsoft YaHei"/>
                <a:cs typeface="Microsoft YaHei"/>
              </a:rPr>
              <a:t>语音</a:t>
            </a:r>
            <a:endParaRPr sz="10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000" spc="-15">
                <a:latin typeface="Microsoft YaHei"/>
                <a:cs typeface="Microsoft YaHei"/>
              </a:rPr>
              <a:t>智能城市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3308098" y="3254193"/>
            <a:ext cx="67310" cy="207010"/>
          </a:xfrm>
          <a:custGeom>
            <a:avLst/>
            <a:gdLst/>
            <a:ahLst/>
            <a:cxnLst/>
            <a:rect l="l" t="t" r="r" b="b"/>
            <a:pathLst>
              <a:path w="67310" h="207010">
                <a:moveTo>
                  <a:pt x="66979" y="206438"/>
                </a:moveTo>
                <a:lnTo>
                  <a:pt x="33489" y="206438"/>
                </a:lnTo>
                <a:lnTo>
                  <a:pt x="33489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2704965" y="3830239"/>
            <a:ext cx="913130" cy="450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dirty="0" sz="1400" spc="-20" b="1">
                <a:latin typeface="Arial"/>
                <a:cs typeface="Arial"/>
              </a:rPr>
              <a:t>mMTC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dirty="0" sz="1400" spc="-30" b="1">
                <a:latin typeface="Microsoft YaHei"/>
                <a:cs typeface="Microsoft YaHei"/>
              </a:rPr>
              <a:t>高密度链接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5564521" y="3604942"/>
            <a:ext cx="737235" cy="75692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605"/>
              </a:spcBef>
            </a:pPr>
            <a:r>
              <a:rPr dirty="0" sz="1000" spc="-10">
                <a:latin typeface="Microsoft YaHei"/>
                <a:cs typeface="Microsoft YaHei"/>
              </a:rPr>
              <a:t>如移动医疗</a:t>
            </a:r>
            <a:endParaRPr sz="1000">
              <a:latin typeface="Microsoft YaHei"/>
              <a:cs typeface="Microsoft YaHei"/>
            </a:endParaRPr>
          </a:p>
          <a:p>
            <a:pPr marL="12700">
              <a:lnSpc>
                <a:spcPts val="1675"/>
              </a:lnSpc>
              <a:spcBef>
                <a:spcPts val="705"/>
              </a:spcBef>
            </a:pPr>
            <a:r>
              <a:rPr dirty="0" sz="1400" spc="-10" b="1">
                <a:latin typeface="Arial"/>
                <a:cs typeface="Arial"/>
              </a:rPr>
              <a:t>uRLLC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dirty="0" sz="1400" spc="-35" b="1">
                <a:latin typeface="Microsoft YaHei"/>
                <a:cs typeface="Microsoft YaHei"/>
              </a:rPr>
              <a:t>低时延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3103883" y="1567061"/>
            <a:ext cx="2829560" cy="993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6794">
              <a:lnSpc>
                <a:spcPct val="100000"/>
              </a:lnSpc>
              <a:spcBef>
                <a:spcPts val="95"/>
              </a:spcBef>
            </a:pPr>
            <a:r>
              <a:rPr dirty="0" sz="1400" spc="-20" b="1">
                <a:latin typeface="Arial"/>
                <a:cs typeface="Arial"/>
              </a:rPr>
              <a:t>eMBB</a:t>
            </a:r>
            <a:endParaRPr sz="1400">
              <a:latin typeface="Arial"/>
              <a:cs typeface="Arial"/>
            </a:endParaRPr>
          </a:p>
          <a:p>
            <a:pPr marL="1026794">
              <a:lnSpc>
                <a:spcPts val="1670"/>
              </a:lnSpc>
            </a:pPr>
            <a:r>
              <a:rPr dirty="0" sz="1400" spc="-10" b="1">
                <a:latin typeface="Arial"/>
                <a:cs typeface="Arial"/>
              </a:rPr>
              <a:t>10Gbps</a:t>
            </a:r>
            <a:endParaRPr sz="1400">
              <a:latin typeface="Arial"/>
              <a:cs typeface="Arial"/>
            </a:endParaRPr>
          </a:p>
          <a:p>
            <a:pPr marL="229235">
              <a:lnSpc>
                <a:spcPts val="1190"/>
              </a:lnSpc>
            </a:pPr>
            <a:r>
              <a:rPr dirty="0" sz="1000" spc="-10">
                <a:latin typeface="Arial MT"/>
                <a:cs typeface="Arial MT"/>
              </a:rPr>
              <a:t>GB/</a:t>
            </a:r>
            <a:r>
              <a:rPr dirty="0" sz="1000" spc="-20">
                <a:latin typeface="Microsoft YaHei"/>
                <a:cs typeface="Microsoft YaHei"/>
              </a:rPr>
              <a:t>秒通信</a:t>
            </a:r>
            <a:endParaRPr sz="1000">
              <a:latin typeface="Microsoft YaHei"/>
              <a:cs typeface="Microsoft YaHei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 MT"/>
                <a:cs typeface="Arial MT"/>
              </a:rPr>
              <a:t>3D</a:t>
            </a:r>
            <a:r>
              <a:rPr dirty="0" sz="1000" spc="-10">
                <a:latin typeface="Microsoft YaHei"/>
                <a:cs typeface="Microsoft YaHei"/>
              </a:rPr>
              <a:t>、超高清视频</a:t>
            </a:r>
            <a:endParaRPr sz="10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000" spc="-15">
                <a:latin typeface="Microsoft YaHei"/>
                <a:cs typeface="Microsoft YaHei"/>
              </a:rPr>
              <a:t>智能家居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3147627" y="110027"/>
            <a:ext cx="2964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0"/>
              <a:t>典型应用场景</a:t>
            </a:r>
          </a:p>
        </p:txBody>
      </p:sp>
      <p:sp>
        <p:nvSpPr>
          <p:cNvPr id="65" name="object 65" descr=""/>
          <p:cNvSpPr txBox="1"/>
          <p:nvPr/>
        </p:nvSpPr>
        <p:spPr>
          <a:xfrm>
            <a:off x="1571599" y="4572012"/>
            <a:ext cx="6072505" cy="36957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5G</a:t>
            </a:r>
            <a:r>
              <a:rPr dirty="0" sz="1800" spc="-5" b="1">
                <a:solidFill>
                  <a:srgbClr val="FF0000"/>
                </a:solidFill>
                <a:latin typeface="Microsoft YaHei"/>
                <a:cs typeface="Microsoft YaHei"/>
              </a:rPr>
              <a:t>将面向未来社会的信息化，提供高速接入和全面的连接</a:t>
            </a:r>
            <a:endParaRPr sz="18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8629" y="158047"/>
            <a:ext cx="22402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35"/>
              <a:t>与</a:t>
            </a:r>
            <a:r>
              <a:rPr dirty="0" spc="-25" b="0">
                <a:latin typeface="Times New Roman"/>
                <a:cs typeface="Times New Roman"/>
              </a:rPr>
              <a:t>4G</a:t>
            </a:r>
            <a:r>
              <a:rPr dirty="0" spc="-45"/>
              <a:t>对比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-12700" y="806450"/>
            <a:ext cx="9169400" cy="4140200"/>
            <a:chOff x="-12700" y="806450"/>
            <a:chExt cx="9169400" cy="4140200"/>
          </a:xfrm>
        </p:grpSpPr>
        <p:sp>
          <p:nvSpPr>
            <p:cNvPr id="4" name="object 4" descr=""/>
            <p:cNvSpPr/>
            <p:nvPr/>
          </p:nvSpPr>
          <p:spPr>
            <a:xfrm>
              <a:off x="0" y="819150"/>
              <a:ext cx="9144000" cy="4114800"/>
            </a:xfrm>
            <a:custGeom>
              <a:avLst/>
              <a:gdLst/>
              <a:ahLst/>
              <a:cxnLst/>
              <a:rect l="l" t="t" r="r" b="b"/>
              <a:pathLst>
                <a:path w="9144000" h="4114800">
                  <a:moveTo>
                    <a:pt x="91440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9144000" y="4114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819150"/>
              <a:ext cx="9144000" cy="4114800"/>
            </a:xfrm>
            <a:custGeom>
              <a:avLst/>
              <a:gdLst/>
              <a:ahLst/>
              <a:cxnLst/>
              <a:rect l="l" t="t" r="r" b="b"/>
              <a:pathLst>
                <a:path w="9144000" h="4114800">
                  <a:moveTo>
                    <a:pt x="0" y="0"/>
                  </a:moveTo>
                  <a:lnTo>
                    <a:pt x="9144000" y="0"/>
                  </a:lnTo>
                  <a:lnTo>
                    <a:pt x="9144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139" y="1200150"/>
              <a:ext cx="8401910" cy="210489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664406" y="1441127"/>
            <a:ext cx="115062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15">
                <a:solidFill>
                  <a:srgbClr val="FFFFFF"/>
                </a:solidFill>
                <a:latin typeface="SimSun"/>
                <a:cs typeface="SimSun"/>
              </a:rPr>
              <a:t>网络架构</a:t>
            </a:r>
            <a:endParaRPr sz="220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963368" y="1956460"/>
            <a:ext cx="534670" cy="6692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00" spc="-35">
                <a:solidFill>
                  <a:srgbClr val="FFFF00"/>
                </a:solidFill>
                <a:latin typeface="SimSun"/>
                <a:cs typeface="SimSun"/>
              </a:rPr>
              <a:t>切片</a:t>
            </a:r>
            <a:endParaRPr sz="2000">
              <a:latin typeface="SimSun"/>
              <a:cs typeface="SimSun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dirty="0" sz="1750" spc="-25">
                <a:solidFill>
                  <a:srgbClr val="FFFFFF"/>
                </a:solidFill>
                <a:latin typeface="SimSun"/>
                <a:cs typeface="SimSun"/>
              </a:rPr>
              <a:t>能力</a:t>
            </a:r>
            <a:endParaRPr sz="1750">
              <a:latin typeface="SimSun"/>
              <a:cs typeface="SimSu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6371" y="1754711"/>
            <a:ext cx="1018475" cy="5803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465104" y="1453338"/>
            <a:ext cx="86931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20">
                <a:solidFill>
                  <a:srgbClr val="FFFFFF"/>
                </a:solidFill>
                <a:latin typeface="SimSun"/>
                <a:cs typeface="SimSun"/>
              </a:rPr>
              <a:t>连接数</a:t>
            </a:r>
            <a:endParaRPr sz="220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89607" y="1978733"/>
            <a:ext cx="142176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100</a:t>
            </a:r>
            <a:r>
              <a:rPr dirty="0" sz="2000" spc="-50">
                <a:solidFill>
                  <a:srgbClr val="FFFF00"/>
                </a:solidFill>
                <a:latin typeface="SimSun"/>
                <a:cs typeface="SimSun"/>
              </a:rPr>
              <a:t>万</a:t>
            </a:r>
            <a:endParaRPr sz="2000">
              <a:latin typeface="SimSun"/>
              <a:cs typeface="SimSun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2000" spc="-25">
                <a:solidFill>
                  <a:srgbClr val="FFFFFF"/>
                </a:solidFill>
                <a:latin typeface="SimSun"/>
                <a:cs typeface="SimSun"/>
              </a:rPr>
              <a:t>连接数/平方</a:t>
            </a:r>
            <a:r>
              <a:rPr dirty="0" sz="2000" spc="-35">
                <a:solidFill>
                  <a:srgbClr val="FFFFFF"/>
                </a:solidFill>
                <a:latin typeface="SimSun"/>
                <a:cs typeface="SimSun"/>
              </a:rPr>
              <a:t>公里</a:t>
            </a:r>
            <a:endParaRPr sz="2000">
              <a:latin typeface="SimSun"/>
              <a:cs typeface="SimSu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4206" y="1754710"/>
            <a:ext cx="1018474" cy="5803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128567" y="1453338"/>
            <a:ext cx="86931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20">
                <a:solidFill>
                  <a:srgbClr val="FFFFFF"/>
                </a:solidFill>
                <a:latin typeface="SimSun"/>
                <a:cs typeface="SimSun"/>
              </a:rPr>
              <a:t>移动性</a:t>
            </a:r>
            <a:endParaRPr sz="220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15626" y="1991681"/>
            <a:ext cx="129603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 marR="5080" indent="-127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500</a:t>
            </a:r>
            <a:r>
              <a:rPr dirty="0" sz="2000" spc="-30">
                <a:solidFill>
                  <a:srgbClr val="FFFFFF"/>
                </a:solidFill>
                <a:latin typeface="SimSun"/>
                <a:cs typeface="SimSun"/>
              </a:rPr>
              <a:t>公里/时下一代高铁</a:t>
            </a:r>
            <a:endParaRPr sz="2000">
              <a:latin typeface="SimSun"/>
              <a:cs typeface="SimSu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8536" y="1747761"/>
            <a:ext cx="1018475" cy="5802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766261" y="1459470"/>
            <a:ext cx="915669" cy="1151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r>
              <a:rPr dirty="0" sz="2200" spc="-20">
                <a:solidFill>
                  <a:srgbClr val="FFFFFF"/>
                </a:solidFill>
                <a:latin typeface="SimSun"/>
                <a:cs typeface="SimSun"/>
              </a:rPr>
              <a:t>吞吐率</a:t>
            </a:r>
            <a:endParaRPr sz="2200">
              <a:latin typeface="SimSun"/>
              <a:cs typeface="SimSun"/>
            </a:endParaRPr>
          </a:p>
          <a:p>
            <a:pPr marL="76835" marR="5080" indent="-64769">
              <a:lnSpc>
                <a:spcPct val="100000"/>
              </a:lnSpc>
              <a:spcBef>
                <a:spcPts val="142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10G</a:t>
            </a:r>
            <a:r>
              <a:rPr dirty="0" sz="2000" spc="-10">
                <a:solidFill>
                  <a:srgbClr val="FFFFFF"/>
                </a:solidFill>
                <a:latin typeface="SimSun"/>
                <a:cs typeface="SimSun"/>
              </a:rPr>
              <a:t>b/</a:t>
            </a:r>
            <a:r>
              <a:rPr dirty="0" sz="2000" spc="-50">
                <a:solidFill>
                  <a:srgbClr val="FFFFFF"/>
                </a:solidFill>
                <a:latin typeface="SimSun"/>
                <a:cs typeface="SimSun"/>
              </a:rPr>
              <a:t>秒</a:t>
            </a:r>
            <a:r>
              <a:rPr dirty="0" sz="2000" spc="-35">
                <a:solidFill>
                  <a:srgbClr val="FFFFFF"/>
                </a:solidFill>
                <a:latin typeface="SimSun"/>
                <a:cs typeface="SimSun"/>
              </a:rPr>
              <a:t>单用户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95779" y="1451413"/>
            <a:ext cx="1294130" cy="1153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6555">
              <a:lnSpc>
                <a:spcPct val="100000"/>
              </a:lnSpc>
              <a:spcBef>
                <a:spcPts val="105"/>
              </a:spcBef>
            </a:pPr>
            <a:r>
              <a:rPr dirty="0" sz="2200" spc="-25">
                <a:solidFill>
                  <a:srgbClr val="FFFFFF"/>
                </a:solidFill>
                <a:latin typeface="SimSun"/>
                <a:cs typeface="SimSun"/>
              </a:rPr>
              <a:t>时延</a:t>
            </a:r>
            <a:endParaRPr sz="2200">
              <a:latin typeface="SimSun"/>
              <a:cs typeface="SimSun"/>
            </a:endParaRPr>
          </a:p>
          <a:p>
            <a:pPr marL="12700" marR="5080" indent="254000">
              <a:lnSpc>
                <a:spcPct val="100000"/>
              </a:lnSpc>
              <a:spcBef>
                <a:spcPts val="1440"/>
              </a:spcBef>
            </a:pPr>
            <a:r>
              <a:rPr dirty="0" sz="2000">
                <a:solidFill>
                  <a:srgbClr val="FFFF00"/>
                </a:solidFill>
                <a:latin typeface="SimSun"/>
                <a:cs typeface="SimSun"/>
              </a:rPr>
              <a:t>1</a:t>
            </a:r>
            <a:r>
              <a:rPr dirty="0" sz="2000" spc="-30">
                <a:solidFill>
                  <a:srgbClr val="FFFF00"/>
                </a:solidFill>
                <a:latin typeface="SimSun"/>
                <a:cs typeface="SimSun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SimSun"/>
                <a:cs typeface="SimSun"/>
              </a:rPr>
              <a:t>毫秒</a:t>
            </a:r>
            <a:r>
              <a:rPr dirty="0" sz="2000" spc="-5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SimSun"/>
                <a:cs typeface="SimSun"/>
              </a:rPr>
              <a:t>端到端时延</a:t>
            </a:r>
            <a:endParaRPr sz="2000">
              <a:latin typeface="SimSun"/>
              <a:cs typeface="SimSu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36477" y="1352550"/>
            <a:ext cx="8831580" cy="3049270"/>
            <a:chOff x="236477" y="1352550"/>
            <a:chExt cx="8831580" cy="304927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7379" y="1735164"/>
              <a:ext cx="1018476" cy="5803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36477" y="1352550"/>
              <a:ext cx="315595" cy="685800"/>
            </a:xfrm>
            <a:custGeom>
              <a:avLst/>
              <a:gdLst/>
              <a:ahLst/>
              <a:cxnLst/>
              <a:rect l="l" t="t" r="r" b="b"/>
              <a:pathLst>
                <a:path w="315595" h="685800">
                  <a:moveTo>
                    <a:pt x="315315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40970" y="598589"/>
                  </a:lnTo>
                  <a:lnTo>
                    <a:pt x="315315" y="685800"/>
                  </a:lnTo>
                  <a:lnTo>
                    <a:pt x="315315" y="0"/>
                  </a:lnTo>
                  <a:close/>
                </a:path>
              </a:pathLst>
            </a:custGeom>
            <a:solidFill>
              <a:srgbClr val="159D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984" y="3907535"/>
              <a:ext cx="3444240" cy="4937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2023" y="3904488"/>
              <a:ext cx="1740408" cy="4907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0135" y="3898391"/>
              <a:ext cx="1740408" cy="4937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7392" y="3898392"/>
              <a:ext cx="1740395" cy="490727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752558" y="3987897"/>
            <a:ext cx="92265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>
                <a:solidFill>
                  <a:srgbClr val="FFFFFF"/>
                </a:solidFill>
                <a:latin typeface="SimSun"/>
                <a:cs typeface="SimSun"/>
              </a:rPr>
              <a:t>100Mb</a:t>
            </a:r>
            <a:r>
              <a:rPr dirty="0" sz="1750" spc="-25">
                <a:solidFill>
                  <a:srgbClr val="FFFFFF"/>
                </a:solidFill>
                <a:latin typeface="SimSun"/>
                <a:cs typeface="SimSun"/>
              </a:rPr>
              <a:t>/秒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746183" y="3987897"/>
            <a:ext cx="36195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25">
                <a:solidFill>
                  <a:srgbClr val="FFFFFF"/>
                </a:solidFill>
                <a:latin typeface="SimSun"/>
                <a:cs typeface="SimSun"/>
              </a:rPr>
              <a:t>10K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004548" y="3987897"/>
            <a:ext cx="114554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>
                <a:solidFill>
                  <a:srgbClr val="FFFFFF"/>
                </a:solidFill>
                <a:latin typeface="SimSun"/>
                <a:cs typeface="SimSun"/>
              </a:rPr>
              <a:t>350</a:t>
            </a:r>
            <a:r>
              <a:rPr dirty="0" sz="1750" spc="-15">
                <a:solidFill>
                  <a:srgbClr val="FFFFFF"/>
                </a:solidFill>
                <a:latin typeface="SimSun"/>
                <a:cs typeface="SimSun"/>
              </a:rPr>
              <a:t>公里/时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36420" y="3987897"/>
            <a:ext cx="80962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>
                <a:solidFill>
                  <a:srgbClr val="FFFFFF"/>
                </a:solidFill>
                <a:latin typeface="SimSun"/>
                <a:cs typeface="SimSun"/>
              </a:rPr>
              <a:t>100</a:t>
            </a:r>
            <a:r>
              <a:rPr dirty="0" sz="1750" spc="-25">
                <a:solidFill>
                  <a:srgbClr val="FFFFFF"/>
                </a:solidFill>
                <a:latin typeface="SimSun"/>
                <a:cs typeface="SimSun"/>
              </a:rPr>
              <a:t>毫秒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861517" y="3987897"/>
            <a:ext cx="69786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20">
                <a:solidFill>
                  <a:srgbClr val="FFFFFF"/>
                </a:solidFill>
                <a:latin typeface="SimSun"/>
                <a:cs typeface="SimSun"/>
              </a:rPr>
              <a:t>不灵活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30111" y="3952881"/>
            <a:ext cx="382270" cy="523875"/>
          </a:xfrm>
          <a:custGeom>
            <a:avLst/>
            <a:gdLst/>
            <a:ahLst/>
            <a:cxnLst/>
            <a:rect l="l" t="t" r="r" b="b"/>
            <a:pathLst>
              <a:path w="382270" h="523875">
                <a:moveTo>
                  <a:pt x="382092" y="0"/>
                </a:moveTo>
                <a:lnTo>
                  <a:pt x="0" y="0"/>
                </a:lnTo>
                <a:lnTo>
                  <a:pt x="0" y="523875"/>
                </a:lnTo>
                <a:lnTo>
                  <a:pt x="170815" y="457250"/>
                </a:lnTo>
                <a:lnTo>
                  <a:pt x="382092" y="523875"/>
                </a:lnTo>
                <a:lnTo>
                  <a:pt x="382092" y="0"/>
                </a:lnTo>
                <a:close/>
              </a:path>
            </a:pathLst>
          </a:custGeom>
          <a:solidFill>
            <a:srgbClr val="159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48249" y="4040961"/>
            <a:ext cx="306070" cy="3079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410"/>
              </a:lnSpc>
            </a:pPr>
            <a:r>
              <a:rPr dirty="0" sz="2200" spc="-25">
                <a:solidFill>
                  <a:srgbClr val="FF0000"/>
                </a:solidFill>
                <a:latin typeface="SimSun"/>
                <a:cs typeface="SimSun"/>
              </a:rPr>
              <a:t>4G</a:t>
            </a:r>
            <a:endParaRPr sz="2200">
              <a:latin typeface="SimSun"/>
              <a:cs typeface="SimSu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30111" y="3257550"/>
            <a:ext cx="321945" cy="619760"/>
          </a:xfrm>
          <a:custGeom>
            <a:avLst/>
            <a:gdLst/>
            <a:ahLst/>
            <a:cxnLst/>
            <a:rect l="l" t="t" r="r" b="b"/>
            <a:pathLst>
              <a:path w="321945" h="619760">
                <a:moveTo>
                  <a:pt x="321678" y="0"/>
                </a:moveTo>
                <a:lnTo>
                  <a:pt x="0" y="0"/>
                </a:lnTo>
                <a:lnTo>
                  <a:pt x="0" y="619353"/>
                </a:lnTo>
                <a:lnTo>
                  <a:pt x="321678" y="619353"/>
                </a:lnTo>
                <a:lnTo>
                  <a:pt x="321678" y="0"/>
                </a:lnTo>
                <a:close/>
              </a:path>
            </a:pathLst>
          </a:custGeom>
          <a:solidFill>
            <a:srgbClr val="009E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250456" y="3258110"/>
            <a:ext cx="27940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000" spc="-50">
                <a:solidFill>
                  <a:srgbClr val="FF0000"/>
                </a:solidFill>
                <a:latin typeface="SimSun"/>
                <a:cs typeface="SimSun"/>
              </a:rPr>
              <a:t>差距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92196" y="3544863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100</a:t>
            </a:r>
            <a:r>
              <a:rPr dirty="0" sz="2000" spc="-50">
                <a:solidFill>
                  <a:srgbClr val="FFFF00"/>
                </a:solidFill>
                <a:latin typeface="SimSun"/>
                <a:cs typeface="SimSun"/>
              </a:rPr>
              <a:t>倍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877806" y="3544355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100</a:t>
            </a:r>
            <a:r>
              <a:rPr dirty="0" sz="2000" spc="-50">
                <a:solidFill>
                  <a:srgbClr val="FFFF00"/>
                </a:solidFill>
                <a:latin typeface="SimSun"/>
                <a:cs typeface="SimSun"/>
              </a:rPr>
              <a:t>倍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641341" y="3544355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100</a:t>
            </a:r>
            <a:r>
              <a:rPr dirty="0" sz="2000" spc="-50">
                <a:solidFill>
                  <a:srgbClr val="FFFF00"/>
                </a:solidFill>
                <a:latin typeface="SimSun"/>
                <a:cs typeface="SimSun"/>
              </a:rPr>
              <a:t>倍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372904" y="3554252"/>
            <a:ext cx="661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1.5</a:t>
            </a:r>
            <a:r>
              <a:rPr dirty="0" sz="2000" spc="-50">
                <a:solidFill>
                  <a:srgbClr val="FFFF00"/>
                </a:solidFill>
                <a:latin typeface="SimSun"/>
                <a:cs typeface="SimSun"/>
              </a:rPr>
              <a:t>倍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702787" y="3544355"/>
            <a:ext cx="9163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FFFF00"/>
                </a:solidFill>
                <a:latin typeface="SimSun"/>
                <a:cs typeface="SimSun"/>
              </a:rPr>
              <a:t>NFV/SDN</a:t>
            </a:r>
            <a:endParaRPr sz="2000">
              <a:latin typeface="SimSun"/>
              <a:cs typeface="SimSu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-19050" y="2673095"/>
            <a:ext cx="9182100" cy="1283335"/>
            <a:chOff x="-19050" y="2673095"/>
            <a:chExt cx="9182100" cy="1283335"/>
          </a:xfrm>
        </p:grpSpPr>
        <p:sp>
          <p:nvSpPr>
            <p:cNvPr id="40" name="object 40" descr=""/>
            <p:cNvSpPr/>
            <p:nvPr/>
          </p:nvSpPr>
          <p:spPr>
            <a:xfrm>
              <a:off x="0" y="3260901"/>
              <a:ext cx="9144000" cy="676275"/>
            </a:xfrm>
            <a:custGeom>
              <a:avLst/>
              <a:gdLst/>
              <a:ahLst/>
              <a:cxnLst/>
              <a:rect l="l" t="t" r="r" b="b"/>
              <a:pathLst>
                <a:path w="9144000" h="676275">
                  <a:moveTo>
                    <a:pt x="0" y="112648"/>
                  </a:moveTo>
                  <a:lnTo>
                    <a:pt x="8852" y="68799"/>
                  </a:lnTo>
                  <a:lnTo>
                    <a:pt x="32993" y="32993"/>
                  </a:lnTo>
                  <a:lnTo>
                    <a:pt x="68799" y="8852"/>
                  </a:lnTo>
                  <a:lnTo>
                    <a:pt x="112648" y="0"/>
                  </a:lnTo>
                  <a:lnTo>
                    <a:pt x="9031351" y="0"/>
                  </a:lnTo>
                  <a:lnTo>
                    <a:pt x="9075200" y="8852"/>
                  </a:lnTo>
                  <a:lnTo>
                    <a:pt x="9111006" y="32993"/>
                  </a:lnTo>
                  <a:lnTo>
                    <a:pt x="9135147" y="68799"/>
                  </a:lnTo>
                  <a:lnTo>
                    <a:pt x="9144000" y="112648"/>
                  </a:lnTo>
                  <a:lnTo>
                    <a:pt x="9144000" y="563244"/>
                  </a:lnTo>
                  <a:lnTo>
                    <a:pt x="9135147" y="607096"/>
                  </a:lnTo>
                  <a:lnTo>
                    <a:pt x="9111006" y="642907"/>
                  </a:lnTo>
                  <a:lnTo>
                    <a:pt x="9075200" y="667052"/>
                  </a:lnTo>
                  <a:lnTo>
                    <a:pt x="9031351" y="675906"/>
                  </a:lnTo>
                  <a:lnTo>
                    <a:pt x="112648" y="675906"/>
                  </a:lnTo>
                  <a:lnTo>
                    <a:pt x="68799" y="667052"/>
                  </a:lnTo>
                  <a:lnTo>
                    <a:pt x="32993" y="642907"/>
                  </a:lnTo>
                  <a:lnTo>
                    <a:pt x="8852" y="607096"/>
                  </a:lnTo>
                  <a:lnTo>
                    <a:pt x="0" y="563244"/>
                  </a:lnTo>
                  <a:lnTo>
                    <a:pt x="0" y="112648"/>
                  </a:lnTo>
                  <a:close/>
                </a:path>
              </a:pathLst>
            </a:custGeom>
            <a:ln w="38100">
              <a:solidFill>
                <a:srgbClr val="22226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0487" y="2673095"/>
              <a:ext cx="7197476" cy="557280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244019" y="1385569"/>
            <a:ext cx="306070" cy="3079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410"/>
              </a:lnSpc>
            </a:pPr>
            <a:r>
              <a:rPr dirty="0" sz="2200" spc="-25">
                <a:solidFill>
                  <a:srgbClr val="FF0000"/>
                </a:solidFill>
                <a:latin typeface="SimSun"/>
                <a:cs typeface="SimSun"/>
              </a:rPr>
              <a:t>5G</a:t>
            </a:r>
            <a:endParaRPr sz="22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558" y="97523"/>
            <a:ext cx="458914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5"/>
              <a:t>业务与应用面临的挑战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422384" y="3208985"/>
            <a:ext cx="2996565" cy="865505"/>
            <a:chOff x="4422384" y="3208985"/>
            <a:chExt cx="2996565" cy="865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2384" y="3208985"/>
              <a:ext cx="2996255" cy="43320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920512" y="3565867"/>
              <a:ext cx="982980" cy="504190"/>
            </a:xfrm>
            <a:custGeom>
              <a:avLst/>
              <a:gdLst/>
              <a:ahLst/>
              <a:cxnLst/>
              <a:rect l="l" t="t" r="r" b="b"/>
              <a:pathLst>
                <a:path w="982979" h="504189">
                  <a:moveTo>
                    <a:pt x="935329" y="218808"/>
                  </a:moveTo>
                  <a:lnTo>
                    <a:pt x="47498" y="218808"/>
                  </a:lnTo>
                  <a:lnTo>
                    <a:pt x="29007" y="222541"/>
                  </a:lnTo>
                  <a:lnTo>
                    <a:pt x="13909" y="232722"/>
                  </a:lnTo>
                  <a:lnTo>
                    <a:pt x="3731" y="247820"/>
                  </a:lnTo>
                  <a:lnTo>
                    <a:pt x="0" y="266306"/>
                  </a:lnTo>
                  <a:lnTo>
                    <a:pt x="0" y="456285"/>
                  </a:lnTo>
                  <a:lnTo>
                    <a:pt x="3731" y="474769"/>
                  </a:lnTo>
                  <a:lnTo>
                    <a:pt x="13909" y="489862"/>
                  </a:lnTo>
                  <a:lnTo>
                    <a:pt x="29007" y="500039"/>
                  </a:lnTo>
                  <a:lnTo>
                    <a:pt x="47498" y="503770"/>
                  </a:lnTo>
                  <a:lnTo>
                    <a:pt x="935329" y="503770"/>
                  </a:lnTo>
                  <a:lnTo>
                    <a:pt x="953820" y="500039"/>
                  </a:lnTo>
                  <a:lnTo>
                    <a:pt x="968917" y="489862"/>
                  </a:lnTo>
                  <a:lnTo>
                    <a:pt x="979095" y="474769"/>
                  </a:lnTo>
                  <a:lnTo>
                    <a:pt x="982827" y="456285"/>
                  </a:lnTo>
                  <a:lnTo>
                    <a:pt x="982827" y="266306"/>
                  </a:lnTo>
                  <a:lnTo>
                    <a:pt x="979095" y="247820"/>
                  </a:lnTo>
                  <a:lnTo>
                    <a:pt x="968917" y="232722"/>
                  </a:lnTo>
                  <a:lnTo>
                    <a:pt x="953820" y="222541"/>
                  </a:lnTo>
                  <a:lnTo>
                    <a:pt x="935329" y="218808"/>
                  </a:lnTo>
                  <a:close/>
                </a:path>
                <a:path w="982979" h="504189">
                  <a:moveTo>
                    <a:pt x="84213" y="0"/>
                  </a:moveTo>
                  <a:lnTo>
                    <a:pt x="163804" y="218808"/>
                  </a:lnTo>
                  <a:lnTo>
                    <a:pt x="409511" y="218808"/>
                  </a:lnTo>
                  <a:lnTo>
                    <a:pt x="84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920512" y="3565867"/>
              <a:ext cx="982980" cy="504190"/>
            </a:xfrm>
            <a:custGeom>
              <a:avLst/>
              <a:gdLst/>
              <a:ahLst/>
              <a:cxnLst/>
              <a:rect l="l" t="t" r="r" b="b"/>
              <a:pathLst>
                <a:path w="982979" h="504189">
                  <a:moveTo>
                    <a:pt x="0" y="266306"/>
                  </a:moveTo>
                  <a:lnTo>
                    <a:pt x="3731" y="247820"/>
                  </a:lnTo>
                  <a:lnTo>
                    <a:pt x="13909" y="232722"/>
                  </a:lnTo>
                  <a:lnTo>
                    <a:pt x="29007" y="222541"/>
                  </a:lnTo>
                  <a:lnTo>
                    <a:pt x="47498" y="218808"/>
                  </a:lnTo>
                  <a:lnTo>
                    <a:pt x="163804" y="218808"/>
                  </a:lnTo>
                  <a:lnTo>
                    <a:pt x="84213" y="0"/>
                  </a:lnTo>
                  <a:lnTo>
                    <a:pt x="409511" y="218808"/>
                  </a:lnTo>
                  <a:lnTo>
                    <a:pt x="935329" y="218808"/>
                  </a:lnTo>
                  <a:lnTo>
                    <a:pt x="953820" y="222541"/>
                  </a:lnTo>
                  <a:lnTo>
                    <a:pt x="968917" y="232722"/>
                  </a:lnTo>
                  <a:lnTo>
                    <a:pt x="979095" y="247820"/>
                  </a:lnTo>
                  <a:lnTo>
                    <a:pt x="982827" y="266306"/>
                  </a:lnTo>
                  <a:lnTo>
                    <a:pt x="982827" y="337553"/>
                  </a:lnTo>
                  <a:lnTo>
                    <a:pt x="982827" y="456285"/>
                  </a:lnTo>
                  <a:lnTo>
                    <a:pt x="979095" y="474769"/>
                  </a:lnTo>
                  <a:lnTo>
                    <a:pt x="968917" y="489862"/>
                  </a:lnTo>
                  <a:lnTo>
                    <a:pt x="953820" y="500039"/>
                  </a:lnTo>
                  <a:lnTo>
                    <a:pt x="935329" y="503770"/>
                  </a:lnTo>
                  <a:lnTo>
                    <a:pt x="409511" y="503770"/>
                  </a:lnTo>
                  <a:lnTo>
                    <a:pt x="163804" y="503770"/>
                  </a:lnTo>
                  <a:lnTo>
                    <a:pt x="47498" y="503770"/>
                  </a:lnTo>
                  <a:lnTo>
                    <a:pt x="29007" y="500039"/>
                  </a:lnTo>
                  <a:lnTo>
                    <a:pt x="13909" y="489862"/>
                  </a:lnTo>
                  <a:lnTo>
                    <a:pt x="3731" y="474769"/>
                  </a:lnTo>
                  <a:lnTo>
                    <a:pt x="0" y="456285"/>
                  </a:lnTo>
                  <a:lnTo>
                    <a:pt x="0" y="337553"/>
                  </a:lnTo>
                  <a:lnTo>
                    <a:pt x="0" y="266306"/>
                  </a:lnTo>
                  <a:close/>
                </a:path>
              </a:pathLst>
            </a:custGeom>
            <a:ln w="952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132019" y="3829880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增大</a:t>
            </a:r>
            <a:r>
              <a:rPr dirty="0" sz="1050" spc="-25" b="1">
                <a:solidFill>
                  <a:srgbClr val="FF0000"/>
                </a:solidFill>
                <a:latin typeface="Microsoft YaHei"/>
                <a:cs typeface="Microsoft YaHei"/>
              </a:rPr>
              <a:t>带宽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951224" y="3547529"/>
            <a:ext cx="992505" cy="527050"/>
            <a:chOff x="6951224" y="3547529"/>
            <a:chExt cx="992505" cy="527050"/>
          </a:xfrm>
        </p:grpSpPr>
        <p:sp>
          <p:nvSpPr>
            <p:cNvPr id="9" name="object 9" descr=""/>
            <p:cNvSpPr/>
            <p:nvPr/>
          </p:nvSpPr>
          <p:spPr>
            <a:xfrm>
              <a:off x="6955987" y="3552291"/>
              <a:ext cx="982980" cy="517525"/>
            </a:xfrm>
            <a:custGeom>
              <a:avLst/>
              <a:gdLst/>
              <a:ahLst/>
              <a:cxnLst/>
              <a:rect l="l" t="t" r="r" b="b"/>
              <a:pathLst>
                <a:path w="982979" h="517525">
                  <a:moveTo>
                    <a:pt x="935329" y="232384"/>
                  </a:moveTo>
                  <a:lnTo>
                    <a:pt x="47498" y="232384"/>
                  </a:lnTo>
                  <a:lnTo>
                    <a:pt x="29007" y="236118"/>
                  </a:lnTo>
                  <a:lnTo>
                    <a:pt x="13909" y="246299"/>
                  </a:lnTo>
                  <a:lnTo>
                    <a:pt x="3731" y="261397"/>
                  </a:lnTo>
                  <a:lnTo>
                    <a:pt x="0" y="279882"/>
                  </a:lnTo>
                  <a:lnTo>
                    <a:pt x="0" y="469861"/>
                  </a:lnTo>
                  <a:lnTo>
                    <a:pt x="3731" y="488345"/>
                  </a:lnTo>
                  <a:lnTo>
                    <a:pt x="13909" y="503439"/>
                  </a:lnTo>
                  <a:lnTo>
                    <a:pt x="29007" y="513615"/>
                  </a:lnTo>
                  <a:lnTo>
                    <a:pt x="47498" y="517347"/>
                  </a:lnTo>
                  <a:lnTo>
                    <a:pt x="935329" y="517347"/>
                  </a:lnTo>
                  <a:lnTo>
                    <a:pt x="953820" y="513615"/>
                  </a:lnTo>
                  <a:lnTo>
                    <a:pt x="968917" y="503439"/>
                  </a:lnTo>
                  <a:lnTo>
                    <a:pt x="979095" y="488345"/>
                  </a:lnTo>
                  <a:lnTo>
                    <a:pt x="982827" y="469861"/>
                  </a:lnTo>
                  <a:lnTo>
                    <a:pt x="982827" y="279882"/>
                  </a:lnTo>
                  <a:lnTo>
                    <a:pt x="979095" y="261397"/>
                  </a:lnTo>
                  <a:lnTo>
                    <a:pt x="968917" y="246299"/>
                  </a:lnTo>
                  <a:lnTo>
                    <a:pt x="953820" y="236118"/>
                  </a:lnTo>
                  <a:lnTo>
                    <a:pt x="935329" y="232384"/>
                  </a:lnTo>
                  <a:close/>
                </a:path>
                <a:path w="982979" h="517525">
                  <a:moveTo>
                    <a:pt x="38696" y="0"/>
                  </a:moveTo>
                  <a:lnTo>
                    <a:pt x="163804" y="232384"/>
                  </a:lnTo>
                  <a:lnTo>
                    <a:pt x="409511" y="232384"/>
                  </a:lnTo>
                  <a:lnTo>
                    <a:pt x="386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955987" y="3552291"/>
              <a:ext cx="982980" cy="517525"/>
            </a:xfrm>
            <a:custGeom>
              <a:avLst/>
              <a:gdLst/>
              <a:ahLst/>
              <a:cxnLst/>
              <a:rect l="l" t="t" r="r" b="b"/>
              <a:pathLst>
                <a:path w="982979" h="517525">
                  <a:moveTo>
                    <a:pt x="0" y="279882"/>
                  </a:moveTo>
                  <a:lnTo>
                    <a:pt x="3731" y="261397"/>
                  </a:lnTo>
                  <a:lnTo>
                    <a:pt x="13909" y="246299"/>
                  </a:lnTo>
                  <a:lnTo>
                    <a:pt x="29007" y="236118"/>
                  </a:lnTo>
                  <a:lnTo>
                    <a:pt x="47498" y="232384"/>
                  </a:lnTo>
                  <a:lnTo>
                    <a:pt x="163804" y="232384"/>
                  </a:lnTo>
                  <a:lnTo>
                    <a:pt x="38696" y="0"/>
                  </a:lnTo>
                  <a:lnTo>
                    <a:pt x="409511" y="232384"/>
                  </a:lnTo>
                  <a:lnTo>
                    <a:pt x="935329" y="232384"/>
                  </a:lnTo>
                  <a:lnTo>
                    <a:pt x="953820" y="236118"/>
                  </a:lnTo>
                  <a:lnTo>
                    <a:pt x="968917" y="246299"/>
                  </a:lnTo>
                  <a:lnTo>
                    <a:pt x="979095" y="261397"/>
                  </a:lnTo>
                  <a:lnTo>
                    <a:pt x="982827" y="279882"/>
                  </a:lnTo>
                  <a:lnTo>
                    <a:pt x="982827" y="351129"/>
                  </a:lnTo>
                  <a:lnTo>
                    <a:pt x="982827" y="469861"/>
                  </a:lnTo>
                  <a:lnTo>
                    <a:pt x="979095" y="488345"/>
                  </a:lnTo>
                  <a:lnTo>
                    <a:pt x="968917" y="503439"/>
                  </a:lnTo>
                  <a:lnTo>
                    <a:pt x="953820" y="513615"/>
                  </a:lnTo>
                  <a:lnTo>
                    <a:pt x="935329" y="517347"/>
                  </a:lnTo>
                  <a:lnTo>
                    <a:pt x="409511" y="517347"/>
                  </a:lnTo>
                  <a:lnTo>
                    <a:pt x="163804" y="517347"/>
                  </a:lnTo>
                  <a:lnTo>
                    <a:pt x="47498" y="517347"/>
                  </a:lnTo>
                  <a:lnTo>
                    <a:pt x="29007" y="513615"/>
                  </a:lnTo>
                  <a:lnTo>
                    <a:pt x="13909" y="503439"/>
                  </a:lnTo>
                  <a:lnTo>
                    <a:pt x="3731" y="488345"/>
                  </a:lnTo>
                  <a:lnTo>
                    <a:pt x="0" y="469861"/>
                  </a:lnTo>
                  <a:lnTo>
                    <a:pt x="0" y="351129"/>
                  </a:lnTo>
                  <a:lnTo>
                    <a:pt x="0" y="279882"/>
                  </a:lnTo>
                  <a:close/>
                </a:path>
              </a:pathLst>
            </a:custGeom>
            <a:ln w="952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141617" y="3829880"/>
            <a:ext cx="6115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提升</a:t>
            </a:r>
            <a:r>
              <a:rPr dirty="0" sz="1050" spc="-20" b="1">
                <a:solidFill>
                  <a:srgbClr val="FF0000"/>
                </a:solidFill>
                <a:latin typeface="Arial"/>
                <a:cs typeface="Arial"/>
              </a:rPr>
              <a:t>SINR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844802" y="3575240"/>
            <a:ext cx="1177290" cy="499745"/>
            <a:chOff x="3844802" y="3575240"/>
            <a:chExt cx="1177290" cy="499745"/>
          </a:xfrm>
        </p:grpSpPr>
        <p:sp>
          <p:nvSpPr>
            <p:cNvPr id="13" name="object 13" descr=""/>
            <p:cNvSpPr/>
            <p:nvPr/>
          </p:nvSpPr>
          <p:spPr>
            <a:xfrm>
              <a:off x="3849565" y="3580003"/>
              <a:ext cx="1167765" cy="490220"/>
            </a:xfrm>
            <a:custGeom>
              <a:avLst/>
              <a:gdLst/>
              <a:ahLst/>
              <a:cxnLst/>
              <a:rect l="l" t="t" r="r" b="b"/>
              <a:pathLst>
                <a:path w="1167764" h="490220">
                  <a:moveTo>
                    <a:pt x="935329" y="204673"/>
                  </a:moveTo>
                  <a:lnTo>
                    <a:pt x="47498" y="204673"/>
                  </a:lnTo>
                  <a:lnTo>
                    <a:pt x="29007" y="208406"/>
                  </a:lnTo>
                  <a:lnTo>
                    <a:pt x="13909" y="218587"/>
                  </a:lnTo>
                  <a:lnTo>
                    <a:pt x="3731" y="233685"/>
                  </a:lnTo>
                  <a:lnTo>
                    <a:pt x="0" y="252171"/>
                  </a:lnTo>
                  <a:lnTo>
                    <a:pt x="0" y="442150"/>
                  </a:lnTo>
                  <a:lnTo>
                    <a:pt x="3731" y="460633"/>
                  </a:lnTo>
                  <a:lnTo>
                    <a:pt x="13909" y="475727"/>
                  </a:lnTo>
                  <a:lnTo>
                    <a:pt x="29007" y="485904"/>
                  </a:lnTo>
                  <a:lnTo>
                    <a:pt x="47498" y="489635"/>
                  </a:lnTo>
                  <a:lnTo>
                    <a:pt x="935329" y="489635"/>
                  </a:lnTo>
                  <a:lnTo>
                    <a:pt x="953820" y="485904"/>
                  </a:lnTo>
                  <a:lnTo>
                    <a:pt x="968917" y="475727"/>
                  </a:lnTo>
                  <a:lnTo>
                    <a:pt x="979095" y="460633"/>
                  </a:lnTo>
                  <a:lnTo>
                    <a:pt x="982827" y="442150"/>
                  </a:lnTo>
                  <a:lnTo>
                    <a:pt x="982827" y="252171"/>
                  </a:lnTo>
                  <a:lnTo>
                    <a:pt x="979095" y="233685"/>
                  </a:lnTo>
                  <a:lnTo>
                    <a:pt x="968917" y="218587"/>
                  </a:lnTo>
                  <a:lnTo>
                    <a:pt x="953820" y="208406"/>
                  </a:lnTo>
                  <a:lnTo>
                    <a:pt x="935329" y="204673"/>
                  </a:lnTo>
                  <a:close/>
                </a:path>
                <a:path w="1167764" h="490220">
                  <a:moveTo>
                    <a:pt x="1167320" y="0"/>
                  </a:moveTo>
                  <a:lnTo>
                    <a:pt x="573316" y="204673"/>
                  </a:lnTo>
                  <a:lnTo>
                    <a:pt x="819022" y="204673"/>
                  </a:lnTo>
                  <a:lnTo>
                    <a:pt x="1167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49565" y="3580003"/>
              <a:ext cx="1167765" cy="490220"/>
            </a:xfrm>
            <a:custGeom>
              <a:avLst/>
              <a:gdLst/>
              <a:ahLst/>
              <a:cxnLst/>
              <a:rect l="l" t="t" r="r" b="b"/>
              <a:pathLst>
                <a:path w="1167764" h="490220">
                  <a:moveTo>
                    <a:pt x="0" y="252171"/>
                  </a:moveTo>
                  <a:lnTo>
                    <a:pt x="3731" y="233685"/>
                  </a:lnTo>
                  <a:lnTo>
                    <a:pt x="13909" y="218587"/>
                  </a:lnTo>
                  <a:lnTo>
                    <a:pt x="29007" y="208406"/>
                  </a:lnTo>
                  <a:lnTo>
                    <a:pt x="47498" y="204673"/>
                  </a:lnTo>
                  <a:lnTo>
                    <a:pt x="573316" y="204673"/>
                  </a:lnTo>
                  <a:lnTo>
                    <a:pt x="1167320" y="0"/>
                  </a:lnTo>
                  <a:lnTo>
                    <a:pt x="819022" y="204673"/>
                  </a:lnTo>
                  <a:lnTo>
                    <a:pt x="935329" y="204673"/>
                  </a:lnTo>
                  <a:lnTo>
                    <a:pt x="953820" y="208406"/>
                  </a:lnTo>
                  <a:lnTo>
                    <a:pt x="968917" y="218587"/>
                  </a:lnTo>
                  <a:lnTo>
                    <a:pt x="979095" y="233685"/>
                  </a:lnTo>
                  <a:lnTo>
                    <a:pt x="982827" y="252171"/>
                  </a:lnTo>
                  <a:lnTo>
                    <a:pt x="982827" y="323418"/>
                  </a:lnTo>
                  <a:lnTo>
                    <a:pt x="982827" y="442150"/>
                  </a:lnTo>
                  <a:lnTo>
                    <a:pt x="979095" y="460633"/>
                  </a:lnTo>
                  <a:lnTo>
                    <a:pt x="968917" y="475727"/>
                  </a:lnTo>
                  <a:lnTo>
                    <a:pt x="953820" y="485904"/>
                  </a:lnTo>
                  <a:lnTo>
                    <a:pt x="935329" y="489635"/>
                  </a:lnTo>
                  <a:lnTo>
                    <a:pt x="819022" y="489635"/>
                  </a:lnTo>
                  <a:lnTo>
                    <a:pt x="573316" y="489635"/>
                  </a:lnTo>
                  <a:lnTo>
                    <a:pt x="47498" y="489635"/>
                  </a:lnTo>
                  <a:lnTo>
                    <a:pt x="29007" y="485904"/>
                  </a:lnTo>
                  <a:lnTo>
                    <a:pt x="13909" y="475727"/>
                  </a:lnTo>
                  <a:lnTo>
                    <a:pt x="3731" y="460633"/>
                  </a:lnTo>
                  <a:lnTo>
                    <a:pt x="0" y="442150"/>
                  </a:lnTo>
                  <a:lnTo>
                    <a:pt x="0" y="323418"/>
                  </a:lnTo>
                  <a:lnTo>
                    <a:pt x="0" y="252171"/>
                  </a:lnTo>
                  <a:close/>
                </a:path>
              </a:pathLst>
            </a:custGeom>
            <a:ln w="9524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061072" y="3829880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增强</a:t>
            </a:r>
            <a:r>
              <a:rPr dirty="0" sz="1050" spc="-25" b="1">
                <a:solidFill>
                  <a:srgbClr val="FF0000"/>
                </a:solidFill>
                <a:latin typeface="Microsoft YaHei"/>
                <a:cs typeface="Microsoft YaHei"/>
              </a:rPr>
              <a:t>覆盖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880277" y="3634359"/>
            <a:ext cx="992505" cy="440055"/>
            <a:chOff x="4880277" y="3634359"/>
            <a:chExt cx="992505" cy="440055"/>
          </a:xfrm>
        </p:grpSpPr>
        <p:sp>
          <p:nvSpPr>
            <p:cNvPr id="17" name="object 17" descr=""/>
            <p:cNvSpPr/>
            <p:nvPr/>
          </p:nvSpPr>
          <p:spPr>
            <a:xfrm>
              <a:off x="4885039" y="3639121"/>
              <a:ext cx="982980" cy="430530"/>
            </a:xfrm>
            <a:custGeom>
              <a:avLst/>
              <a:gdLst/>
              <a:ahLst/>
              <a:cxnLst/>
              <a:rect l="l" t="t" r="r" b="b"/>
              <a:pathLst>
                <a:path w="982979" h="430529">
                  <a:moveTo>
                    <a:pt x="935329" y="145554"/>
                  </a:moveTo>
                  <a:lnTo>
                    <a:pt x="47498" y="145554"/>
                  </a:lnTo>
                  <a:lnTo>
                    <a:pt x="29007" y="149288"/>
                  </a:lnTo>
                  <a:lnTo>
                    <a:pt x="13909" y="159469"/>
                  </a:lnTo>
                  <a:lnTo>
                    <a:pt x="3731" y="174567"/>
                  </a:lnTo>
                  <a:lnTo>
                    <a:pt x="0" y="193052"/>
                  </a:lnTo>
                  <a:lnTo>
                    <a:pt x="0" y="383032"/>
                  </a:lnTo>
                  <a:lnTo>
                    <a:pt x="3731" y="401515"/>
                  </a:lnTo>
                  <a:lnTo>
                    <a:pt x="13909" y="416609"/>
                  </a:lnTo>
                  <a:lnTo>
                    <a:pt x="29007" y="426785"/>
                  </a:lnTo>
                  <a:lnTo>
                    <a:pt x="47498" y="430517"/>
                  </a:lnTo>
                  <a:lnTo>
                    <a:pt x="935329" y="430517"/>
                  </a:lnTo>
                  <a:lnTo>
                    <a:pt x="953820" y="426785"/>
                  </a:lnTo>
                  <a:lnTo>
                    <a:pt x="968917" y="416609"/>
                  </a:lnTo>
                  <a:lnTo>
                    <a:pt x="979095" y="401515"/>
                  </a:lnTo>
                  <a:lnTo>
                    <a:pt x="982827" y="383032"/>
                  </a:lnTo>
                  <a:lnTo>
                    <a:pt x="982827" y="193052"/>
                  </a:lnTo>
                  <a:lnTo>
                    <a:pt x="979095" y="174567"/>
                  </a:lnTo>
                  <a:lnTo>
                    <a:pt x="968917" y="159469"/>
                  </a:lnTo>
                  <a:lnTo>
                    <a:pt x="953820" y="149288"/>
                  </a:lnTo>
                  <a:lnTo>
                    <a:pt x="935329" y="145554"/>
                  </a:lnTo>
                  <a:close/>
                </a:path>
                <a:path w="982979" h="430529">
                  <a:moveTo>
                    <a:pt x="680224" y="0"/>
                  </a:moveTo>
                  <a:lnTo>
                    <a:pt x="573316" y="145554"/>
                  </a:lnTo>
                  <a:lnTo>
                    <a:pt x="819022" y="145554"/>
                  </a:lnTo>
                  <a:lnTo>
                    <a:pt x="680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85039" y="3639121"/>
              <a:ext cx="982980" cy="430530"/>
            </a:xfrm>
            <a:custGeom>
              <a:avLst/>
              <a:gdLst/>
              <a:ahLst/>
              <a:cxnLst/>
              <a:rect l="l" t="t" r="r" b="b"/>
              <a:pathLst>
                <a:path w="982979" h="430529">
                  <a:moveTo>
                    <a:pt x="0" y="193052"/>
                  </a:moveTo>
                  <a:lnTo>
                    <a:pt x="3731" y="174567"/>
                  </a:lnTo>
                  <a:lnTo>
                    <a:pt x="13909" y="159469"/>
                  </a:lnTo>
                  <a:lnTo>
                    <a:pt x="29007" y="149288"/>
                  </a:lnTo>
                  <a:lnTo>
                    <a:pt x="47498" y="145554"/>
                  </a:lnTo>
                  <a:lnTo>
                    <a:pt x="573316" y="145554"/>
                  </a:lnTo>
                  <a:lnTo>
                    <a:pt x="680224" y="0"/>
                  </a:lnTo>
                  <a:lnTo>
                    <a:pt x="819022" y="145554"/>
                  </a:lnTo>
                  <a:lnTo>
                    <a:pt x="935329" y="145554"/>
                  </a:lnTo>
                  <a:lnTo>
                    <a:pt x="953820" y="149288"/>
                  </a:lnTo>
                  <a:lnTo>
                    <a:pt x="968917" y="159469"/>
                  </a:lnTo>
                  <a:lnTo>
                    <a:pt x="979095" y="174567"/>
                  </a:lnTo>
                  <a:lnTo>
                    <a:pt x="982827" y="193052"/>
                  </a:lnTo>
                  <a:lnTo>
                    <a:pt x="982827" y="264299"/>
                  </a:lnTo>
                  <a:lnTo>
                    <a:pt x="982827" y="383032"/>
                  </a:lnTo>
                  <a:lnTo>
                    <a:pt x="979095" y="401515"/>
                  </a:lnTo>
                  <a:lnTo>
                    <a:pt x="968917" y="416609"/>
                  </a:lnTo>
                  <a:lnTo>
                    <a:pt x="953820" y="426785"/>
                  </a:lnTo>
                  <a:lnTo>
                    <a:pt x="935329" y="430517"/>
                  </a:lnTo>
                  <a:lnTo>
                    <a:pt x="819022" y="430517"/>
                  </a:lnTo>
                  <a:lnTo>
                    <a:pt x="573316" y="430517"/>
                  </a:lnTo>
                  <a:lnTo>
                    <a:pt x="47498" y="430517"/>
                  </a:lnTo>
                  <a:lnTo>
                    <a:pt x="29007" y="426785"/>
                  </a:lnTo>
                  <a:lnTo>
                    <a:pt x="13909" y="416609"/>
                  </a:lnTo>
                  <a:lnTo>
                    <a:pt x="3731" y="401515"/>
                  </a:lnTo>
                  <a:lnTo>
                    <a:pt x="0" y="383032"/>
                  </a:lnTo>
                  <a:lnTo>
                    <a:pt x="0" y="264299"/>
                  </a:lnTo>
                  <a:lnTo>
                    <a:pt x="0" y="193052"/>
                  </a:lnTo>
                  <a:close/>
                </a:path>
              </a:pathLst>
            </a:custGeom>
            <a:ln w="952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096546" y="3829880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增加</a:t>
            </a:r>
            <a:r>
              <a:rPr dirty="0" sz="1050" spc="-25" b="1">
                <a:solidFill>
                  <a:srgbClr val="FF0000"/>
                </a:solidFill>
                <a:latin typeface="Microsoft YaHei"/>
                <a:cs typeface="Microsoft YaHei"/>
              </a:rPr>
              <a:t>频效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803903" y="4113288"/>
            <a:ext cx="2129155" cy="732790"/>
            <a:chOff x="3803903" y="4113288"/>
            <a:chExt cx="2129155" cy="732790"/>
          </a:xfrm>
        </p:grpSpPr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3903" y="4113288"/>
              <a:ext cx="1074419" cy="73226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7525" y="4117086"/>
              <a:ext cx="1027163" cy="67741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9573" y="4139514"/>
              <a:ext cx="982827" cy="639762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849566" y="4139513"/>
              <a:ext cx="982980" cy="640080"/>
            </a:xfrm>
            <a:custGeom>
              <a:avLst/>
              <a:gdLst/>
              <a:ahLst/>
              <a:cxnLst/>
              <a:rect l="l" t="t" r="r" b="b"/>
              <a:pathLst>
                <a:path w="982979" h="640079">
                  <a:moveTo>
                    <a:pt x="0" y="106629"/>
                  </a:moveTo>
                  <a:lnTo>
                    <a:pt x="8379" y="65124"/>
                  </a:lnTo>
                  <a:lnTo>
                    <a:pt x="31230" y="31230"/>
                  </a:lnTo>
                  <a:lnTo>
                    <a:pt x="65124" y="8379"/>
                  </a:lnTo>
                  <a:lnTo>
                    <a:pt x="106629" y="0"/>
                  </a:lnTo>
                  <a:lnTo>
                    <a:pt x="876198" y="0"/>
                  </a:lnTo>
                  <a:lnTo>
                    <a:pt x="917703" y="8379"/>
                  </a:lnTo>
                  <a:lnTo>
                    <a:pt x="951596" y="31230"/>
                  </a:lnTo>
                  <a:lnTo>
                    <a:pt x="974448" y="65124"/>
                  </a:lnTo>
                  <a:lnTo>
                    <a:pt x="982827" y="106629"/>
                  </a:lnTo>
                  <a:lnTo>
                    <a:pt x="982827" y="533133"/>
                  </a:lnTo>
                  <a:lnTo>
                    <a:pt x="974448" y="574638"/>
                  </a:lnTo>
                  <a:lnTo>
                    <a:pt x="951596" y="608531"/>
                  </a:lnTo>
                  <a:lnTo>
                    <a:pt x="917703" y="631383"/>
                  </a:lnTo>
                  <a:lnTo>
                    <a:pt x="876198" y="639762"/>
                  </a:lnTo>
                  <a:lnTo>
                    <a:pt x="106629" y="639762"/>
                  </a:lnTo>
                  <a:lnTo>
                    <a:pt x="65124" y="631383"/>
                  </a:lnTo>
                  <a:lnTo>
                    <a:pt x="31230" y="608531"/>
                  </a:lnTo>
                  <a:lnTo>
                    <a:pt x="8379" y="574638"/>
                  </a:lnTo>
                  <a:lnTo>
                    <a:pt x="0" y="533133"/>
                  </a:lnTo>
                  <a:lnTo>
                    <a:pt x="0" y="1066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9461" y="4113288"/>
              <a:ext cx="1074419" cy="73226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63083" y="4117086"/>
              <a:ext cx="1069847" cy="67741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5042" y="4139514"/>
              <a:ext cx="982827" cy="639762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885039" y="4139513"/>
              <a:ext cx="982980" cy="640080"/>
            </a:xfrm>
            <a:custGeom>
              <a:avLst/>
              <a:gdLst/>
              <a:ahLst/>
              <a:cxnLst/>
              <a:rect l="l" t="t" r="r" b="b"/>
              <a:pathLst>
                <a:path w="982979" h="640079">
                  <a:moveTo>
                    <a:pt x="0" y="106629"/>
                  </a:moveTo>
                  <a:lnTo>
                    <a:pt x="8379" y="65124"/>
                  </a:lnTo>
                  <a:lnTo>
                    <a:pt x="31230" y="31230"/>
                  </a:lnTo>
                  <a:lnTo>
                    <a:pt x="65124" y="8379"/>
                  </a:lnTo>
                  <a:lnTo>
                    <a:pt x="106629" y="0"/>
                  </a:lnTo>
                  <a:lnTo>
                    <a:pt x="876198" y="0"/>
                  </a:lnTo>
                  <a:lnTo>
                    <a:pt x="917703" y="8379"/>
                  </a:lnTo>
                  <a:lnTo>
                    <a:pt x="951596" y="31230"/>
                  </a:lnTo>
                  <a:lnTo>
                    <a:pt x="974448" y="65124"/>
                  </a:lnTo>
                  <a:lnTo>
                    <a:pt x="982827" y="106629"/>
                  </a:lnTo>
                  <a:lnTo>
                    <a:pt x="982827" y="533133"/>
                  </a:lnTo>
                  <a:lnTo>
                    <a:pt x="974448" y="574638"/>
                  </a:lnTo>
                  <a:lnTo>
                    <a:pt x="951596" y="608531"/>
                  </a:lnTo>
                  <a:lnTo>
                    <a:pt x="917703" y="631383"/>
                  </a:lnTo>
                  <a:lnTo>
                    <a:pt x="876198" y="639762"/>
                  </a:lnTo>
                  <a:lnTo>
                    <a:pt x="106629" y="639762"/>
                  </a:lnTo>
                  <a:lnTo>
                    <a:pt x="65124" y="631383"/>
                  </a:lnTo>
                  <a:lnTo>
                    <a:pt x="31230" y="608531"/>
                  </a:lnTo>
                  <a:lnTo>
                    <a:pt x="8379" y="574638"/>
                  </a:lnTo>
                  <a:lnTo>
                    <a:pt x="0" y="533133"/>
                  </a:lnTo>
                  <a:lnTo>
                    <a:pt x="0" y="1066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3947472" y="4166278"/>
            <a:ext cx="182308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  <a:tabLst>
                <a:tab pos="1035050" algn="l"/>
              </a:tabLst>
            </a:pPr>
            <a:r>
              <a:rPr dirty="0" sz="1200">
                <a:latin typeface="Microsoft YaHei"/>
                <a:cs typeface="Microsoft YaHei"/>
              </a:rPr>
              <a:t>超密集组</a:t>
            </a:r>
            <a:r>
              <a:rPr dirty="0" sz="1200" spc="-50">
                <a:latin typeface="Microsoft YaHei"/>
                <a:cs typeface="Microsoft YaHei"/>
              </a:rPr>
              <a:t>网</a:t>
            </a:r>
            <a:r>
              <a:rPr dirty="0" sz="1200">
                <a:latin typeface="Microsoft YaHei"/>
                <a:cs typeface="Microsoft YaHei"/>
              </a:rPr>
              <a:t>	新多址技</a:t>
            </a:r>
            <a:r>
              <a:rPr dirty="0" sz="1200" spc="-50">
                <a:latin typeface="Microsoft YaHei"/>
                <a:cs typeface="Microsoft YaHei"/>
              </a:rPr>
              <a:t>术</a:t>
            </a:r>
            <a:endParaRPr sz="1200">
              <a:latin typeface="Microsoft YaHei"/>
              <a:cs typeface="Microsoft YaHei"/>
            </a:endParaRPr>
          </a:p>
          <a:p>
            <a:pPr algn="r" marR="5080">
              <a:lnSpc>
                <a:spcPct val="100000"/>
              </a:lnSpc>
              <a:spcBef>
                <a:spcPts val="10"/>
              </a:spcBef>
              <a:tabLst>
                <a:tab pos="806450" algn="l"/>
              </a:tabLst>
            </a:pPr>
            <a:r>
              <a:rPr dirty="0" sz="1200" spc="-25">
                <a:latin typeface="Arial MT"/>
                <a:cs typeface="Arial MT"/>
              </a:rPr>
              <a:t>D2D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10">
                <a:latin typeface="Microsoft YaHei"/>
                <a:cs typeface="Microsoft YaHei"/>
              </a:rPr>
              <a:t>大规模天线</a:t>
            </a:r>
            <a:endParaRPr sz="1200">
              <a:latin typeface="Microsoft YaHei"/>
              <a:cs typeface="Microsoft YaHei"/>
            </a:endParaRPr>
          </a:p>
          <a:p>
            <a:pPr algn="r" marR="5080">
              <a:lnSpc>
                <a:spcPct val="100000"/>
              </a:lnSpc>
              <a:tabLst>
                <a:tab pos="824230" algn="l"/>
              </a:tabLst>
            </a:pPr>
            <a:r>
              <a:rPr dirty="0" sz="1200" spc="-25">
                <a:latin typeface="Arial MT"/>
                <a:cs typeface="Arial MT"/>
              </a:rPr>
              <a:t>M2M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10">
                <a:latin typeface="Microsoft YaHei"/>
                <a:cs typeface="Microsoft YaHei"/>
              </a:rPr>
              <a:t>新双工模式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887973" y="4113288"/>
            <a:ext cx="1094740" cy="732790"/>
            <a:chOff x="5887973" y="4113288"/>
            <a:chExt cx="1094740" cy="732790"/>
          </a:xfrm>
        </p:grpSpPr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87973" y="4113288"/>
              <a:ext cx="1075181" cy="73226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2357" y="4116323"/>
              <a:ext cx="1069847" cy="67817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34087" y="4139514"/>
              <a:ext cx="982827" cy="639762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934085" y="4139513"/>
              <a:ext cx="982980" cy="640080"/>
            </a:xfrm>
            <a:custGeom>
              <a:avLst/>
              <a:gdLst/>
              <a:ahLst/>
              <a:cxnLst/>
              <a:rect l="l" t="t" r="r" b="b"/>
              <a:pathLst>
                <a:path w="982979" h="640079">
                  <a:moveTo>
                    <a:pt x="0" y="106629"/>
                  </a:moveTo>
                  <a:lnTo>
                    <a:pt x="8379" y="65124"/>
                  </a:lnTo>
                  <a:lnTo>
                    <a:pt x="31230" y="31230"/>
                  </a:lnTo>
                  <a:lnTo>
                    <a:pt x="65124" y="8379"/>
                  </a:lnTo>
                  <a:lnTo>
                    <a:pt x="106629" y="0"/>
                  </a:lnTo>
                  <a:lnTo>
                    <a:pt x="876198" y="0"/>
                  </a:lnTo>
                  <a:lnTo>
                    <a:pt x="917703" y="8379"/>
                  </a:lnTo>
                  <a:lnTo>
                    <a:pt x="951596" y="31230"/>
                  </a:lnTo>
                  <a:lnTo>
                    <a:pt x="974448" y="65124"/>
                  </a:lnTo>
                  <a:lnTo>
                    <a:pt x="982827" y="106629"/>
                  </a:lnTo>
                  <a:lnTo>
                    <a:pt x="982827" y="533133"/>
                  </a:lnTo>
                  <a:lnTo>
                    <a:pt x="974448" y="574638"/>
                  </a:lnTo>
                  <a:lnTo>
                    <a:pt x="951596" y="608531"/>
                  </a:lnTo>
                  <a:lnTo>
                    <a:pt x="917703" y="631383"/>
                  </a:lnTo>
                  <a:lnTo>
                    <a:pt x="876198" y="639762"/>
                  </a:lnTo>
                  <a:lnTo>
                    <a:pt x="106629" y="639762"/>
                  </a:lnTo>
                  <a:lnTo>
                    <a:pt x="65124" y="631383"/>
                  </a:lnTo>
                  <a:lnTo>
                    <a:pt x="31230" y="608531"/>
                  </a:lnTo>
                  <a:lnTo>
                    <a:pt x="8379" y="574638"/>
                  </a:lnTo>
                  <a:lnTo>
                    <a:pt x="0" y="533133"/>
                  </a:lnTo>
                  <a:lnTo>
                    <a:pt x="0" y="1066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6031989" y="4167040"/>
            <a:ext cx="787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7620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Microsoft YaHei"/>
                <a:cs typeface="Microsoft YaHei"/>
              </a:rPr>
              <a:t>频谱拓展频谱共享</a:t>
            </a:r>
            <a:r>
              <a:rPr dirty="0" sz="1200" spc="-50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大规模聚合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923531" y="4113288"/>
            <a:ext cx="1074420" cy="732790"/>
            <a:chOff x="6923531" y="4113288"/>
            <a:chExt cx="1074420" cy="732790"/>
          </a:xfrm>
        </p:grpSpPr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3531" y="4113288"/>
              <a:ext cx="1074418" cy="73226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69556" y="4139514"/>
              <a:ext cx="982827" cy="63976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969559" y="4139513"/>
              <a:ext cx="982980" cy="640080"/>
            </a:xfrm>
            <a:custGeom>
              <a:avLst/>
              <a:gdLst/>
              <a:ahLst/>
              <a:cxnLst/>
              <a:rect l="l" t="t" r="r" b="b"/>
              <a:pathLst>
                <a:path w="982979" h="640079">
                  <a:moveTo>
                    <a:pt x="0" y="106629"/>
                  </a:moveTo>
                  <a:lnTo>
                    <a:pt x="8379" y="65124"/>
                  </a:lnTo>
                  <a:lnTo>
                    <a:pt x="31230" y="31230"/>
                  </a:lnTo>
                  <a:lnTo>
                    <a:pt x="65124" y="8379"/>
                  </a:lnTo>
                  <a:lnTo>
                    <a:pt x="106629" y="0"/>
                  </a:lnTo>
                  <a:lnTo>
                    <a:pt x="876198" y="0"/>
                  </a:lnTo>
                  <a:lnTo>
                    <a:pt x="917703" y="8379"/>
                  </a:lnTo>
                  <a:lnTo>
                    <a:pt x="951596" y="31230"/>
                  </a:lnTo>
                  <a:lnTo>
                    <a:pt x="974448" y="65124"/>
                  </a:lnTo>
                  <a:lnTo>
                    <a:pt x="982827" y="106629"/>
                  </a:lnTo>
                  <a:lnTo>
                    <a:pt x="982827" y="533133"/>
                  </a:lnTo>
                  <a:lnTo>
                    <a:pt x="974448" y="574638"/>
                  </a:lnTo>
                  <a:lnTo>
                    <a:pt x="951596" y="608531"/>
                  </a:lnTo>
                  <a:lnTo>
                    <a:pt x="917703" y="631383"/>
                  </a:lnTo>
                  <a:lnTo>
                    <a:pt x="876198" y="639762"/>
                  </a:lnTo>
                  <a:lnTo>
                    <a:pt x="106629" y="639762"/>
                  </a:lnTo>
                  <a:lnTo>
                    <a:pt x="65124" y="631383"/>
                  </a:lnTo>
                  <a:lnTo>
                    <a:pt x="31230" y="608531"/>
                  </a:lnTo>
                  <a:lnTo>
                    <a:pt x="8379" y="574638"/>
                  </a:lnTo>
                  <a:lnTo>
                    <a:pt x="0" y="533133"/>
                  </a:lnTo>
                  <a:lnTo>
                    <a:pt x="0" y="1066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7143663" y="4258478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Microsoft YaHei"/>
                <a:cs typeface="Microsoft YaHei"/>
              </a:rPr>
              <a:t>绿色通道干扰管理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70031" y="895350"/>
            <a:ext cx="4363746" cy="218800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3000" y="895350"/>
            <a:ext cx="2500604" cy="4007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70" y="179603"/>
            <a:ext cx="62141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50"/>
              <a:t>网络关键指标先进性与技术挑战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79434" y="908296"/>
          <a:ext cx="7733030" cy="3742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795"/>
                <a:gridCol w="1661795"/>
                <a:gridCol w="4320540"/>
              </a:tblGrid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指标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5969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ITU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愿景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67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技术解读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频谱效率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3-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5X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主要技术：大规模天线、非正交多址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峰值速率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10/20Gbps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0">
                          <a:latin typeface="Microsoft YaHei"/>
                          <a:cs typeface="Microsoft YaHei"/>
                        </a:rPr>
                        <a:t>大带宽，多流传输，高阶调制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25">
                          <a:latin typeface="Microsoft YaHei"/>
                          <a:cs typeface="Microsoft YaHei"/>
                        </a:rPr>
                        <a:t>时延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1ms</a:t>
                      </a:r>
                      <a:r>
                        <a:rPr dirty="0" sz="1600" spc="-25">
                          <a:latin typeface="Microsoft YaHei"/>
                          <a:cs typeface="Microsoft YaHei"/>
                        </a:rPr>
                        <a:t>空口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帧结构、编解码、重传机制、网络架构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流量密度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10Tbps/Km2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极限承载能力，超密集组网、站间协作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0">
                          <a:latin typeface="Microsoft YaHei"/>
                          <a:cs typeface="Microsoft YaHei"/>
                        </a:rPr>
                        <a:t>用户体验速率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100M/1Gbps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600" spc="-10">
                          <a:latin typeface="Microsoft YaHei"/>
                          <a:cs typeface="Microsoft YaHei"/>
                        </a:rPr>
                        <a:t>用户随时随地体验，挑战大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移动速度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500Km/h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0">
                          <a:latin typeface="Microsoft YaHei"/>
                          <a:cs typeface="Microsoft YaHei"/>
                        </a:rPr>
                        <a:t>超高速铁路，主要用低频段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连接密度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1M/Km2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物联网，关键技术：非正交多址、免调度等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5">
                          <a:latin typeface="Microsoft YaHei"/>
                          <a:cs typeface="Microsoft YaHei"/>
                        </a:rPr>
                        <a:t>能耗效率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100</a:t>
                      </a:r>
                      <a:r>
                        <a:rPr dirty="0" sz="1600" spc="-50">
                          <a:latin typeface="Microsoft YaHei"/>
                          <a:cs typeface="Microsoft YaHei"/>
                        </a:rPr>
                        <a:t>倍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600" spc="-10">
                          <a:latin typeface="Microsoft YaHei"/>
                          <a:cs typeface="Microsoft YaHei"/>
                        </a:rPr>
                        <a:t>传输技术、芯片技术、组网方案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66800" y="4476750"/>
            <a:ext cx="6826250" cy="532765"/>
          </a:xfrm>
          <a:custGeom>
            <a:avLst/>
            <a:gdLst/>
            <a:ahLst/>
            <a:cxnLst/>
            <a:rect l="l" t="t" r="r" b="b"/>
            <a:pathLst>
              <a:path w="6826250" h="532764">
                <a:moveTo>
                  <a:pt x="6826237" y="0"/>
                </a:moveTo>
                <a:lnTo>
                  <a:pt x="0" y="0"/>
                </a:lnTo>
                <a:lnTo>
                  <a:pt x="0" y="532587"/>
                </a:lnTo>
                <a:lnTo>
                  <a:pt x="6826237" y="532587"/>
                </a:lnTo>
                <a:lnTo>
                  <a:pt x="682623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50239" y="4475071"/>
            <a:ext cx="6059170" cy="4826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5G</a:t>
            </a:r>
            <a:r>
              <a:rPr dirty="0" sz="1200" spc="-5" b="1">
                <a:solidFill>
                  <a:srgbClr val="FFFFFF"/>
                </a:solidFill>
                <a:latin typeface="Microsoft YaHei"/>
                <a:cs typeface="Microsoft YaHei"/>
              </a:rPr>
              <a:t>标准化加速，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r>
              <a:rPr dirty="0" sz="1200" b="1">
                <a:solidFill>
                  <a:srgbClr val="FFFFFF"/>
                </a:solidFill>
                <a:latin typeface="Microsoft YaHei"/>
                <a:cs typeface="Microsoft YaHei"/>
              </a:rPr>
              <a:t>年底完成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NSA</a:t>
            </a:r>
            <a:r>
              <a:rPr dirty="0" sz="1200" spc="-5" b="1">
                <a:solidFill>
                  <a:srgbClr val="FFFFFF"/>
                </a:solidFill>
                <a:latin typeface="Microsoft YaHei"/>
                <a:cs typeface="Microsoft YaHei"/>
              </a:rPr>
              <a:t>标准，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2018</a:t>
            </a:r>
            <a:r>
              <a:rPr dirty="0" sz="1200" b="1">
                <a:solidFill>
                  <a:srgbClr val="FFFFFF"/>
                </a:solidFill>
                <a:latin typeface="Microsoft YaHei"/>
                <a:cs typeface="Microsoft YaHei"/>
              </a:rPr>
              <a:t>年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10" b="1">
                <a:solidFill>
                  <a:srgbClr val="FFFFFF"/>
                </a:solidFill>
                <a:latin typeface="Microsoft YaHei"/>
                <a:cs typeface="Microsoft YaHei"/>
              </a:rPr>
              <a:t>月完成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SA</a:t>
            </a:r>
            <a:r>
              <a:rPr dirty="0" sz="1200" spc="-20" b="1">
                <a:solidFill>
                  <a:srgbClr val="FFFFFF"/>
                </a:solidFill>
                <a:latin typeface="Microsoft YaHei"/>
                <a:cs typeface="Microsoft YaHei"/>
              </a:rPr>
              <a:t>标准；</a:t>
            </a:r>
            <a:endParaRPr sz="12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2019</a:t>
            </a:r>
            <a:r>
              <a:rPr dirty="0" sz="1200" b="1">
                <a:solidFill>
                  <a:srgbClr val="FFFFFF"/>
                </a:solidFill>
                <a:latin typeface="Microsoft YaHei"/>
                <a:cs typeface="Microsoft YaHei"/>
              </a:rPr>
              <a:t>年底，将完成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eMBB</a:t>
            </a:r>
            <a:r>
              <a:rPr dirty="0" sz="1200" spc="-25" b="1">
                <a:solidFill>
                  <a:srgbClr val="FFFFFF"/>
                </a:solidFill>
                <a:latin typeface="Microsoft YaHei"/>
                <a:cs typeface="Microsoft YaHei"/>
              </a:rPr>
              <a:t>、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uRLLC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Microsoft YaHei"/>
                <a:cs typeface="Microsoft YaHei"/>
              </a:rPr>
              <a:t>、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eMTC</a:t>
            </a:r>
            <a:r>
              <a:rPr dirty="0" sz="1200" spc="-5" b="1">
                <a:solidFill>
                  <a:srgbClr val="FFFFFF"/>
                </a:solidFill>
                <a:latin typeface="Microsoft YaHei"/>
                <a:cs typeface="Microsoft YaHei"/>
              </a:rPr>
              <a:t>三大场景的从核心网到无线的端到端标准定义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87999" y="879044"/>
            <a:ext cx="8686800" cy="527685"/>
          </a:xfrm>
          <a:custGeom>
            <a:avLst/>
            <a:gdLst/>
            <a:ahLst/>
            <a:cxnLst/>
            <a:rect l="l" t="t" r="r" b="b"/>
            <a:pathLst>
              <a:path w="8686800" h="527685">
                <a:moveTo>
                  <a:pt x="8422792" y="0"/>
                </a:moveTo>
                <a:lnTo>
                  <a:pt x="8422792" y="131800"/>
                </a:lnTo>
                <a:lnTo>
                  <a:pt x="0" y="131800"/>
                </a:lnTo>
                <a:lnTo>
                  <a:pt x="131826" y="263601"/>
                </a:lnTo>
                <a:lnTo>
                  <a:pt x="0" y="395401"/>
                </a:lnTo>
                <a:lnTo>
                  <a:pt x="8422792" y="395401"/>
                </a:lnTo>
                <a:lnTo>
                  <a:pt x="8422792" y="527202"/>
                </a:lnTo>
                <a:lnTo>
                  <a:pt x="8686444" y="263601"/>
                </a:lnTo>
                <a:lnTo>
                  <a:pt x="8422792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35225" y="807827"/>
            <a:ext cx="4222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 b="1">
                <a:latin typeface="Arial"/>
                <a:cs typeface="Arial"/>
              </a:rPr>
              <a:t>2015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66026" y="801969"/>
            <a:ext cx="4222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 b="1">
                <a:latin typeface="Arial"/>
                <a:cs typeface="Arial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95005" y="801969"/>
            <a:ext cx="4222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 b="1">
                <a:latin typeface="Arial"/>
                <a:cs typeface="Arial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23255" y="1035126"/>
            <a:ext cx="8534400" cy="1378585"/>
            <a:chOff x="423255" y="1035126"/>
            <a:chExt cx="8534400" cy="1378585"/>
          </a:xfrm>
        </p:grpSpPr>
        <p:sp>
          <p:nvSpPr>
            <p:cNvPr id="9" name="object 9" descr=""/>
            <p:cNvSpPr/>
            <p:nvPr/>
          </p:nvSpPr>
          <p:spPr>
            <a:xfrm>
              <a:off x="428017" y="1137494"/>
              <a:ext cx="8524875" cy="0"/>
            </a:xfrm>
            <a:custGeom>
              <a:avLst/>
              <a:gdLst/>
              <a:ahLst/>
              <a:cxnLst/>
              <a:rect l="l" t="t" r="r" b="b"/>
              <a:pathLst>
                <a:path w="8524875" h="0">
                  <a:moveTo>
                    <a:pt x="0" y="0"/>
                  </a:moveTo>
                  <a:lnTo>
                    <a:pt x="852444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2506" y="1052159"/>
              <a:ext cx="166649" cy="18097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3618" y="1052353"/>
              <a:ext cx="166649" cy="18097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9743" y="1045963"/>
              <a:ext cx="166649" cy="18097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9342" y="1035126"/>
              <a:ext cx="166649" cy="1809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252" y="2100833"/>
              <a:ext cx="765047" cy="31241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993265" y="214836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YaHei"/>
                <a:cs typeface="Microsoft YaHei"/>
              </a:rPr>
              <a:t>核心网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846027" y="2837271"/>
            <a:ext cx="2057400" cy="332105"/>
          </a:xfrm>
          <a:custGeom>
            <a:avLst/>
            <a:gdLst/>
            <a:ahLst/>
            <a:cxnLst/>
            <a:rect l="l" t="t" r="r" b="b"/>
            <a:pathLst>
              <a:path w="2057400" h="332105">
                <a:moveTo>
                  <a:pt x="1788668" y="0"/>
                </a:moveTo>
                <a:lnTo>
                  <a:pt x="0" y="0"/>
                </a:lnTo>
                <a:lnTo>
                  <a:pt x="0" y="331787"/>
                </a:lnTo>
                <a:lnTo>
                  <a:pt x="1788668" y="331787"/>
                </a:lnTo>
                <a:lnTo>
                  <a:pt x="2057400" y="165900"/>
                </a:lnTo>
                <a:lnTo>
                  <a:pt x="1788668" y="0"/>
                </a:lnTo>
                <a:close/>
              </a:path>
            </a:pathLst>
          </a:custGeom>
          <a:solidFill>
            <a:srgbClr val="9C9C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634346" y="2915027"/>
            <a:ext cx="34671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NR</a:t>
            </a:r>
            <a:r>
              <a:rPr dirty="0" sz="950" spc="-25" b="1">
                <a:latin typeface="Arial"/>
                <a:cs typeface="Arial"/>
              </a:rPr>
              <a:t> SI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22611" y="801974"/>
            <a:ext cx="20097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0200" algn="l"/>
              </a:tabLst>
            </a:pPr>
            <a:r>
              <a:rPr dirty="0" sz="1400" spc="-20" b="1">
                <a:latin typeface="Arial"/>
                <a:cs typeface="Arial"/>
              </a:rPr>
              <a:t>2017</a:t>
            </a:r>
            <a:r>
              <a:rPr dirty="0" sz="1400" b="1">
                <a:latin typeface="Arial"/>
                <a:cs typeface="Arial"/>
              </a:rPr>
              <a:t>	</a:t>
            </a:r>
            <a:r>
              <a:rPr dirty="0" sz="1400" spc="-20" b="1"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17995" y="1035117"/>
            <a:ext cx="5497195" cy="2120265"/>
            <a:chOff x="617995" y="1035117"/>
            <a:chExt cx="5497195" cy="2120265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995" y="1035117"/>
              <a:ext cx="166649" cy="19822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903427" y="2822986"/>
              <a:ext cx="2211705" cy="332105"/>
            </a:xfrm>
            <a:custGeom>
              <a:avLst/>
              <a:gdLst/>
              <a:ahLst/>
              <a:cxnLst/>
              <a:rect l="l" t="t" r="r" b="b"/>
              <a:pathLst>
                <a:path w="2211704" h="332105">
                  <a:moveTo>
                    <a:pt x="1942655" y="0"/>
                  </a:moveTo>
                  <a:lnTo>
                    <a:pt x="0" y="0"/>
                  </a:lnTo>
                  <a:lnTo>
                    <a:pt x="0" y="331787"/>
                  </a:lnTo>
                  <a:lnTo>
                    <a:pt x="1942655" y="331787"/>
                  </a:lnTo>
                  <a:lnTo>
                    <a:pt x="2211387" y="165887"/>
                  </a:lnTo>
                  <a:lnTo>
                    <a:pt x="1942655" y="0"/>
                  </a:lnTo>
                  <a:close/>
                </a:path>
              </a:pathLst>
            </a:custGeom>
            <a:solidFill>
              <a:srgbClr val="6B6B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625262" y="2900740"/>
            <a:ext cx="63373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NR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R15</a:t>
            </a:r>
            <a:r>
              <a:rPr dirty="0" sz="950" spc="-25" b="1">
                <a:latin typeface="Arial"/>
                <a:cs typeface="Arial"/>
              </a:rPr>
              <a:t> WI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106877" y="2805522"/>
            <a:ext cx="2132330" cy="332105"/>
          </a:xfrm>
          <a:custGeom>
            <a:avLst/>
            <a:gdLst/>
            <a:ahLst/>
            <a:cxnLst/>
            <a:rect l="l" t="t" r="r" b="b"/>
            <a:pathLst>
              <a:path w="2132329" h="332105">
                <a:moveTo>
                  <a:pt x="1863280" y="0"/>
                </a:moveTo>
                <a:lnTo>
                  <a:pt x="0" y="0"/>
                </a:lnTo>
                <a:lnTo>
                  <a:pt x="0" y="331787"/>
                </a:lnTo>
                <a:lnTo>
                  <a:pt x="1863280" y="331787"/>
                </a:lnTo>
                <a:lnTo>
                  <a:pt x="2132012" y="165900"/>
                </a:lnTo>
                <a:lnTo>
                  <a:pt x="1863280" y="0"/>
                </a:lnTo>
                <a:close/>
              </a:path>
            </a:pathLst>
          </a:custGeom>
          <a:solidFill>
            <a:srgbClr val="222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805104" y="2883278"/>
            <a:ext cx="63436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NR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R16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WI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596788" y="2118136"/>
            <a:ext cx="1898650" cy="332105"/>
          </a:xfrm>
          <a:custGeom>
            <a:avLst/>
            <a:gdLst/>
            <a:ahLst/>
            <a:cxnLst/>
            <a:rect l="l" t="t" r="r" b="b"/>
            <a:pathLst>
              <a:path w="1898650" h="332105">
                <a:moveTo>
                  <a:pt x="1629918" y="0"/>
                </a:moveTo>
                <a:lnTo>
                  <a:pt x="0" y="0"/>
                </a:lnTo>
                <a:lnTo>
                  <a:pt x="0" y="331787"/>
                </a:lnTo>
                <a:lnTo>
                  <a:pt x="1629918" y="331787"/>
                </a:lnTo>
                <a:lnTo>
                  <a:pt x="1898650" y="165887"/>
                </a:lnTo>
                <a:lnTo>
                  <a:pt x="1629918" y="0"/>
                </a:lnTo>
                <a:close/>
              </a:path>
            </a:pathLst>
          </a:custGeom>
          <a:solidFill>
            <a:srgbClr val="F0F8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258585" y="2195890"/>
            <a:ext cx="44005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NGC</a:t>
            </a:r>
            <a:r>
              <a:rPr dirty="0" sz="950" spc="-35" b="1">
                <a:latin typeface="Arial"/>
                <a:cs typeface="Arial"/>
              </a:rPr>
              <a:t> SI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3543063" y="2118136"/>
            <a:ext cx="1624330" cy="332105"/>
          </a:xfrm>
          <a:custGeom>
            <a:avLst/>
            <a:gdLst/>
            <a:ahLst/>
            <a:cxnLst/>
            <a:rect l="l" t="t" r="r" b="b"/>
            <a:pathLst>
              <a:path w="1624329" h="332105">
                <a:moveTo>
                  <a:pt x="1355280" y="0"/>
                </a:moveTo>
                <a:lnTo>
                  <a:pt x="0" y="0"/>
                </a:lnTo>
                <a:lnTo>
                  <a:pt x="0" y="331787"/>
                </a:lnTo>
                <a:lnTo>
                  <a:pt x="1355280" y="331787"/>
                </a:lnTo>
                <a:lnTo>
                  <a:pt x="1624012" y="165887"/>
                </a:lnTo>
                <a:lnTo>
                  <a:pt x="1355280" y="0"/>
                </a:lnTo>
                <a:close/>
              </a:path>
            </a:pathLst>
          </a:custGeom>
          <a:solidFill>
            <a:srgbClr val="E9F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3940269" y="2195890"/>
            <a:ext cx="72771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NGC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R15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WI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5163902" y="2118136"/>
            <a:ext cx="2799080" cy="332105"/>
          </a:xfrm>
          <a:custGeom>
            <a:avLst/>
            <a:gdLst/>
            <a:ahLst/>
            <a:cxnLst/>
            <a:rect l="l" t="t" r="r" b="b"/>
            <a:pathLst>
              <a:path w="2799079" h="332105">
                <a:moveTo>
                  <a:pt x="2530030" y="0"/>
                </a:moveTo>
                <a:lnTo>
                  <a:pt x="0" y="0"/>
                </a:lnTo>
                <a:lnTo>
                  <a:pt x="0" y="331787"/>
                </a:lnTo>
                <a:lnTo>
                  <a:pt x="2530030" y="331787"/>
                </a:lnTo>
                <a:lnTo>
                  <a:pt x="2798762" y="165887"/>
                </a:lnTo>
                <a:lnTo>
                  <a:pt x="2530030" y="0"/>
                </a:lnTo>
                <a:close/>
              </a:path>
            </a:pathLst>
          </a:custGeom>
          <a:solidFill>
            <a:srgbClr val="8AC6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132657" y="2195890"/>
            <a:ext cx="72707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R16</a:t>
            </a:r>
            <a:r>
              <a:rPr dirty="0" sz="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NGC</a:t>
            </a:r>
            <a:r>
              <a:rPr dirty="0" sz="9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FFFFFF"/>
                </a:solidFill>
                <a:latin typeface="Arial"/>
                <a:cs typeface="Arial"/>
              </a:rPr>
              <a:t>WI</a:t>
            </a:r>
            <a:endParaRPr sz="950">
              <a:latin typeface="Arial"/>
              <a:cs typeface="Arial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0777" y="2835401"/>
            <a:ext cx="765047" cy="312419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1010804" y="2882579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YaHei"/>
                <a:cs typeface="Microsoft YaHei"/>
              </a:rPr>
              <a:t>无线侧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216408" y="1083087"/>
            <a:ext cx="8751570" cy="2070100"/>
            <a:chOff x="216408" y="1083087"/>
            <a:chExt cx="8751570" cy="2070100"/>
          </a:xfrm>
        </p:grpSpPr>
        <p:sp>
          <p:nvSpPr>
            <p:cNvPr id="34" name="object 34" descr=""/>
            <p:cNvSpPr/>
            <p:nvPr/>
          </p:nvSpPr>
          <p:spPr>
            <a:xfrm>
              <a:off x="1034813" y="1970499"/>
              <a:ext cx="7917180" cy="9525"/>
            </a:xfrm>
            <a:custGeom>
              <a:avLst/>
              <a:gdLst/>
              <a:ahLst/>
              <a:cxnLst/>
              <a:rect l="l" t="t" r="r" b="b"/>
              <a:pathLst>
                <a:path w="7917180" h="9525">
                  <a:moveTo>
                    <a:pt x="0" y="9525"/>
                  </a:moveTo>
                  <a:lnTo>
                    <a:pt x="7916862" y="0"/>
                  </a:lnTo>
                </a:path>
              </a:pathLst>
            </a:custGeom>
            <a:ln w="31750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748226" y="1211673"/>
              <a:ext cx="11430" cy="1938655"/>
            </a:xfrm>
            <a:custGeom>
              <a:avLst/>
              <a:gdLst/>
              <a:ahLst/>
              <a:cxnLst/>
              <a:rect l="l" t="t" r="r" b="b"/>
              <a:pathLst>
                <a:path w="11429" h="1938655">
                  <a:moveTo>
                    <a:pt x="0" y="0"/>
                  </a:moveTo>
                  <a:lnTo>
                    <a:pt x="11112" y="1938337"/>
                  </a:lnTo>
                </a:path>
              </a:pathLst>
            </a:custGeom>
            <a:ln w="6350">
              <a:solidFill>
                <a:srgbClr val="8AC6CD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297626" y="1086262"/>
              <a:ext cx="0" cy="2051050"/>
            </a:xfrm>
            <a:custGeom>
              <a:avLst/>
              <a:gdLst/>
              <a:ahLst/>
              <a:cxnLst/>
              <a:rect l="l" t="t" r="r" b="b"/>
              <a:pathLst>
                <a:path w="0" h="2051050">
                  <a:moveTo>
                    <a:pt x="0" y="0"/>
                  </a:moveTo>
                  <a:lnTo>
                    <a:pt x="0" y="2051050"/>
                  </a:lnTo>
                </a:path>
              </a:pathLst>
            </a:custGeom>
            <a:ln w="6350">
              <a:solidFill>
                <a:srgbClr val="8AC6CD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408" y="2403360"/>
              <a:ext cx="713993" cy="311644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336040" y="2450748"/>
            <a:ext cx="431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3GPP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5457" y="1488185"/>
            <a:ext cx="553211" cy="311657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355168" y="1535555"/>
            <a:ext cx="271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ITU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942858" y="1454568"/>
            <a:ext cx="7099300" cy="332105"/>
          </a:xfrm>
          <a:custGeom>
            <a:avLst/>
            <a:gdLst/>
            <a:ahLst/>
            <a:cxnLst/>
            <a:rect l="l" t="t" r="r" b="b"/>
            <a:pathLst>
              <a:path w="7099300" h="332105">
                <a:moveTo>
                  <a:pt x="2365375" y="165887"/>
                </a:moveTo>
                <a:lnTo>
                  <a:pt x="2096643" y="0"/>
                </a:lnTo>
                <a:lnTo>
                  <a:pt x="0" y="0"/>
                </a:lnTo>
                <a:lnTo>
                  <a:pt x="0" y="331787"/>
                </a:lnTo>
                <a:lnTo>
                  <a:pt x="2096643" y="331787"/>
                </a:lnTo>
                <a:lnTo>
                  <a:pt x="2365375" y="165887"/>
                </a:lnTo>
                <a:close/>
              </a:path>
              <a:path w="7099300" h="332105">
                <a:moveTo>
                  <a:pt x="5367337" y="165887"/>
                </a:moveTo>
                <a:lnTo>
                  <a:pt x="5075771" y="0"/>
                </a:lnTo>
                <a:lnTo>
                  <a:pt x="2400300" y="0"/>
                </a:lnTo>
                <a:lnTo>
                  <a:pt x="2400300" y="331787"/>
                </a:lnTo>
                <a:lnTo>
                  <a:pt x="5075771" y="331787"/>
                </a:lnTo>
                <a:lnTo>
                  <a:pt x="5367337" y="165887"/>
                </a:lnTo>
                <a:close/>
              </a:path>
              <a:path w="7099300" h="332105">
                <a:moveTo>
                  <a:pt x="7099300" y="165887"/>
                </a:moveTo>
                <a:lnTo>
                  <a:pt x="6830568" y="0"/>
                </a:lnTo>
                <a:lnTo>
                  <a:pt x="5367337" y="0"/>
                </a:lnTo>
                <a:lnTo>
                  <a:pt x="5367337" y="165887"/>
                </a:lnTo>
                <a:lnTo>
                  <a:pt x="5367337" y="331787"/>
                </a:lnTo>
                <a:lnTo>
                  <a:pt x="6830568" y="331787"/>
                </a:lnTo>
                <a:lnTo>
                  <a:pt x="7099300" y="165887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7594681" y="1531556"/>
            <a:ext cx="102933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5G</a:t>
            </a:r>
            <a:r>
              <a:rPr dirty="0" sz="950" spc="-20" b="1">
                <a:latin typeface="Microsoft YaHei"/>
                <a:cs typeface="Microsoft YaHei"/>
              </a:rPr>
              <a:t>评估与方案确定</a:t>
            </a:r>
            <a:endParaRPr sz="950">
              <a:latin typeface="Microsoft YaHei"/>
              <a:cs typeface="Microsoft YaHe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839677" y="1229137"/>
            <a:ext cx="195580" cy="1943100"/>
            <a:chOff x="1839677" y="1229137"/>
            <a:chExt cx="195580" cy="1943100"/>
          </a:xfrm>
        </p:grpSpPr>
        <p:sp>
          <p:nvSpPr>
            <p:cNvPr id="44" name="object 44" descr=""/>
            <p:cNvSpPr/>
            <p:nvPr/>
          </p:nvSpPr>
          <p:spPr>
            <a:xfrm>
              <a:off x="2031762" y="1232312"/>
              <a:ext cx="0" cy="1936750"/>
            </a:xfrm>
            <a:custGeom>
              <a:avLst/>
              <a:gdLst/>
              <a:ahLst/>
              <a:cxnLst/>
              <a:rect l="l" t="t" r="r" b="b"/>
              <a:pathLst>
                <a:path w="0" h="1936750">
                  <a:moveTo>
                    <a:pt x="0" y="0"/>
                  </a:moveTo>
                  <a:lnTo>
                    <a:pt x="0" y="1936750"/>
                  </a:lnTo>
                </a:path>
              </a:pathLst>
            </a:custGeom>
            <a:ln w="6350">
              <a:solidFill>
                <a:srgbClr val="8AC6CD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39677" y="1267236"/>
              <a:ext cx="188912" cy="171450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2088278" y="1245647"/>
            <a:ext cx="1725295" cy="455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Arial"/>
                <a:cs typeface="Arial"/>
              </a:rPr>
              <a:t>WRC-</a:t>
            </a:r>
            <a:r>
              <a:rPr dirty="0" sz="1050" spc="-25" b="1">
                <a:latin typeface="Arial"/>
                <a:cs typeface="Arial"/>
              </a:rPr>
              <a:t>15</a:t>
            </a:r>
            <a:endParaRPr sz="105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990"/>
              </a:spcBef>
            </a:pPr>
            <a:r>
              <a:rPr dirty="0" sz="950" b="1">
                <a:latin typeface="Arial"/>
                <a:cs typeface="Arial"/>
              </a:rPr>
              <a:t>5G</a:t>
            </a:r>
            <a:r>
              <a:rPr dirty="0" sz="950" spc="-15" b="1">
                <a:latin typeface="Microsoft YaHei"/>
                <a:cs typeface="Microsoft YaHei"/>
              </a:rPr>
              <a:t>技术性能需求与评估方法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613760" y="2417846"/>
            <a:ext cx="10401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Release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15:</a:t>
            </a:r>
            <a:r>
              <a:rPr dirty="0" sz="800" spc="-35">
                <a:latin typeface="Microsoft YaHei"/>
                <a:cs typeface="Microsoft YaHei"/>
              </a:rPr>
              <a:t>满足</a:t>
            </a:r>
            <a:r>
              <a:rPr dirty="0" sz="800" spc="-10">
                <a:latin typeface="Microsoft YaHei"/>
                <a:cs typeface="Microsoft YaHei"/>
              </a:rPr>
              <a:t> </a:t>
            </a:r>
            <a:r>
              <a:rPr dirty="0" sz="800" spc="-10">
                <a:latin typeface="Arial MT"/>
                <a:cs typeface="Arial MT"/>
              </a:rPr>
              <a:t>eMBB</a:t>
            </a:r>
            <a:r>
              <a:rPr dirty="0" sz="800" spc="-10">
                <a:latin typeface="Microsoft YaHei"/>
                <a:cs typeface="Microsoft YaHei"/>
              </a:rPr>
              <a:t>以及</a:t>
            </a:r>
            <a:r>
              <a:rPr dirty="0" sz="800" spc="-10">
                <a:latin typeface="Arial MT"/>
                <a:cs typeface="Arial MT"/>
              </a:rPr>
              <a:t>URLLC</a:t>
            </a:r>
            <a:r>
              <a:rPr dirty="0" sz="800" spc="-30">
                <a:latin typeface="Microsoft YaHei"/>
                <a:cs typeface="Microsoft YaHei"/>
              </a:rPr>
              <a:t>的部</a:t>
            </a:r>
            <a:r>
              <a:rPr dirty="0" sz="800" spc="-25">
                <a:latin typeface="Microsoft YaHei"/>
                <a:cs typeface="Microsoft YaHei"/>
              </a:rPr>
              <a:t>分功能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483592" y="2441262"/>
            <a:ext cx="13887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Release 16</a:t>
            </a:r>
            <a:r>
              <a:rPr dirty="0" sz="900" spc="45" b="1">
                <a:latin typeface="Arial"/>
                <a:cs typeface="Arial"/>
              </a:rPr>
              <a:t>: </a:t>
            </a:r>
            <a:r>
              <a:rPr dirty="0" sz="800" spc="-10">
                <a:latin typeface="Microsoft YaHei"/>
                <a:cs typeface="Microsoft YaHei"/>
              </a:rPr>
              <a:t>满足</a:t>
            </a:r>
            <a:r>
              <a:rPr dirty="0" sz="800" spc="-10">
                <a:latin typeface="Arial MT"/>
                <a:cs typeface="Arial MT"/>
              </a:rPr>
              <a:t>ITU</a:t>
            </a:r>
            <a:r>
              <a:rPr dirty="0" sz="800" spc="-25">
                <a:latin typeface="Microsoft YaHei"/>
                <a:cs typeface="Microsoft YaHei"/>
              </a:rPr>
              <a:t>定义的</a:t>
            </a:r>
            <a:r>
              <a:rPr dirty="0" sz="800" spc="-20">
                <a:latin typeface="Microsoft YaHei"/>
                <a:cs typeface="Microsoft YaHei"/>
              </a:rPr>
              <a:t>三大场景所有需求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5121038" y="2730911"/>
            <a:ext cx="3241675" cy="168275"/>
            <a:chOff x="5121038" y="2730911"/>
            <a:chExt cx="3241675" cy="168275"/>
          </a:xfrm>
        </p:grpSpPr>
        <p:pic>
          <p:nvPicPr>
            <p:cNvPr id="50" name="object 5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6388" y="2738847"/>
              <a:ext cx="128587" cy="160337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32538" y="2738847"/>
              <a:ext cx="130175" cy="160337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21038" y="2730911"/>
              <a:ext cx="130175" cy="160337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4819308" y="2508063"/>
            <a:ext cx="6432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C00000"/>
                </a:solidFill>
                <a:latin typeface="Microsoft YaHei"/>
                <a:cs typeface="Microsoft YaHei"/>
              </a:rPr>
              <a:t>冻结</a:t>
            </a:r>
            <a:r>
              <a:rPr dirty="0" sz="800" spc="-20" b="1">
                <a:solidFill>
                  <a:srgbClr val="C00000"/>
                </a:solidFill>
                <a:latin typeface="Arial"/>
                <a:cs typeface="Arial"/>
              </a:rPr>
              <a:t>NSA</a:t>
            </a:r>
            <a:r>
              <a:rPr dirty="0" sz="800" spc="-30" b="1">
                <a:solidFill>
                  <a:srgbClr val="C00000"/>
                </a:solidFill>
                <a:latin typeface="Microsoft YaHei"/>
                <a:cs typeface="Microsoft YaHei"/>
              </a:rPr>
              <a:t>标准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5160727" y="1143412"/>
            <a:ext cx="0" cy="2025650"/>
          </a:xfrm>
          <a:custGeom>
            <a:avLst/>
            <a:gdLst/>
            <a:ahLst/>
            <a:cxnLst/>
            <a:rect l="l" t="t" r="r" b="b"/>
            <a:pathLst>
              <a:path w="0" h="2025650">
                <a:moveTo>
                  <a:pt x="0" y="0"/>
                </a:moveTo>
                <a:lnTo>
                  <a:pt x="0" y="2025650"/>
                </a:lnTo>
              </a:path>
            </a:pathLst>
          </a:custGeom>
          <a:ln w="6350">
            <a:solidFill>
              <a:srgbClr val="8AC6CD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4795964" y="1791667"/>
            <a:ext cx="4432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Release</a:t>
            </a:r>
            <a:endParaRPr sz="90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5163902" y="1531556"/>
            <a:ext cx="1581150" cy="4229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Arial"/>
                <a:cs typeface="Arial"/>
              </a:rPr>
              <a:t>5G</a:t>
            </a:r>
            <a:r>
              <a:rPr dirty="0" sz="950" spc="-20" b="1">
                <a:latin typeface="Microsoft YaHei"/>
                <a:cs typeface="Microsoft YaHei"/>
              </a:rPr>
              <a:t>候选提案征集</a:t>
            </a:r>
            <a:endParaRPr sz="950">
              <a:latin typeface="Microsoft YaHei"/>
              <a:cs typeface="Microsoft YaHei"/>
            </a:endParaRPr>
          </a:p>
          <a:p>
            <a:pPr marL="93980">
              <a:lnSpc>
                <a:spcPct val="100000"/>
              </a:lnSpc>
              <a:spcBef>
                <a:spcPts val="910"/>
              </a:spcBef>
            </a:pPr>
            <a:r>
              <a:rPr dirty="0" sz="900" spc="-10" b="1">
                <a:latin typeface="Arial"/>
                <a:cs typeface="Arial"/>
              </a:rPr>
              <a:t>15:</a:t>
            </a:r>
            <a:r>
              <a:rPr dirty="0" sz="800" spc="-30">
                <a:latin typeface="Microsoft YaHei"/>
                <a:cs typeface="Microsoft YaHei"/>
              </a:rPr>
              <a:t>满足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783261" y="1928871"/>
            <a:ext cx="7080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 MT"/>
                <a:cs typeface="Arial MT"/>
              </a:rPr>
              <a:t>eMBB</a:t>
            </a:r>
            <a:r>
              <a:rPr dirty="0" sz="800" spc="-20">
                <a:latin typeface="Microsoft YaHei"/>
                <a:cs typeface="Microsoft YaHei"/>
              </a:rPr>
              <a:t>基本功能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5097227" y="2062572"/>
            <a:ext cx="2808605" cy="192405"/>
            <a:chOff x="5097227" y="2062572"/>
            <a:chExt cx="2808605" cy="192405"/>
          </a:xfrm>
        </p:grpSpPr>
        <p:pic>
          <p:nvPicPr>
            <p:cNvPr id="59" name="object 5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7227" y="2095911"/>
              <a:ext cx="130175" cy="15875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75338" y="2062572"/>
              <a:ext cx="130175" cy="158750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/>
          <p:nvPr/>
        </p:nvSpPr>
        <p:spPr>
          <a:xfrm>
            <a:off x="7295049" y="1774893"/>
            <a:ext cx="855344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Release</a:t>
            </a:r>
            <a:r>
              <a:rPr dirty="0" sz="900" spc="-6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16:</a:t>
            </a:r>
            <a:r>
              <a:rPr dirty="0" sz="800" spc="-35">
                <a:latin typeface="Microsoft YaHei"/>
                <a:cs typeface="Microsoft YaHei"/>
              </a:rPr>
              <a:t>满足</a:t>
            </a:r>
            <a:r>
              <a:rPr dirty="0" sz="800" spc="-20">
                <a:latin typeface="Microsoft YaHei"/>
                <a:cs typeface="Microsoft YaHei"/>
              </a:rPr>
              <a:t>网络切片所有功能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45796" y="1035481"/>
            <a:ext cx="4332605" cy="3485515"/>
            <a:chOff x="45796" y="1035481"/>
            <a:chExt cx="4332605" cy="3485515"/>
          </a:xfrm>
        </p:grpSpPr>
        <p:pic>
          <p:nvPicPr>
            <p:cNvPr id="63" name="object 6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3916" y="1035481"/>
              <a:ext cx="166649" cy="198221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45796" y="3588156"/>
              <a:ext cx="4332605" cy="932815"/>
            </a:xfrm>
            <a:custGeom>
              <a:avLst/>
              <a:gdLst/>
              <a:ahLst/>
              <a:cxnLst/>
              <a:rect l="l" t="t" r="r" b="b"/>
              <a:pathLst>
                <a:path w="4332605" h="932814">
                  <a:moveTo>
                    <a:pt x="4332287" y="0"/>
                  </a:moveTo>
                  <a:lnTo>
                    <a:pt x="0" y="0"/>
                  </a:lnTo>
                  <a:lnTo>
                    <a:pt x="0" y="932561"/>
                  </a:lnTo>
                  <a:lnTo>
                    <a:pt x="4332287" y="932561"/>
                  </a:lnTo>
                  <a:lnTo>
                    <a:pt x="433228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24542" y="3596035"/>
            <a:ext cx="4175760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6385">
              <a:lnSpc>
                <a:spcPct val="130000"/>
              </a:lnSpc>
              <a:spcBef>
                <a:spcPts val="100"/>
              </a:spcBef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050" spc="-10" b="1">
                <a:solidFill>
                  <a:srgbClr val="C00000"/>
                </a:solidFill>
                <a:latin typeface="Arial"/>
                <a:cs typeface="Arial"/>
              </a:rPr>
              <a:t>2017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年底，完成</a:t>
            </a: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NGC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第一个版本</a:t>
            </a:r>
            <a:r>
              <a:rPr dirty="0" sz="1050" spc="-10" b="1">
                <a:solidFill>
                  <a:srgbClr val="C00000"/>
                </a:solidFill>
                <a:latin typeface="Arial"/>
                <a:cs typeface="Arial"/>
              </a:rPr>
              <a:t>(R15)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制定</a:t>
            </a:r>
            <a:r>
              <a:rPr dirty="0" sz="1050">
                <a:latin typeface="Microsoft YaHei"/>
                <a:cs typeface="Microsoft YaHei"/>
              </a:rPr>
              <a:t>：可以满足</a:t>
            </a:r>
            <a:r>
              <a:rPr dirty="0" sz="1050" spc="-10">
                <a:latin typeface="Arial MT"/>
                <a:cs typeface="Arial MT"/>
              </a:rPr>
              <a:t>eMBB</a:t>
            </a:r>
            <a:r>
              <a:rPr dirty="0" sz="1050" spc="-25">
                <a:latin typeface="Microsoft YaHei"/>
                <a:cs typeface="Microsoft YaHei"/>
              </a:rPr>
              <a:t>业务</a:t>
            </a:r>
            <a:r>
              <a:rPr dirty="0" sz="1050">
                <a:latin typeface="Microsoft YaHei"/>
                <a:cs typeface="Microsoft YaHei"/>
              </a:rPr>
              <a:t>需求，不支持与</a:t>
            </a:r>
            <a:r>
              <a:rPr dirty="0" sz="1050" spc="-10">
                <a:latin typeface="Arial MT"/>
                <a:cs typeface="Arial MT"/>
              </a:rPr>
              <a:t>2G/3G</a:t>
            </a:r>
            <a:r>
              <a:rPr dirty="0" sz="1050" spc="-20">
                <a:latin typeface="Microsoft YaHei"/>
                <a:cs typeface="Microsoft YaHei"/>
              </a:rPr>
              <a:t>互操作</a:t>
            </a:r>
            <a:endParaRPr sz="105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1050" spc="-10" b="1">
                <a:solidFill>
                  <a:srgbClr val="C00000"/>
                </a:solidFill>
                <a:latin typeface="Arial"/>
                <a:cs typeface="Arial"/>
              </a:rPr>
              <a:t>2019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年底，预计可以完成</a:t>
            </a: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NGC</a:t>
            </a:r>
            <a:r>
              <a:rPr dirty="0" sz="105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C00000"/>
                </a:solidFill>
                <a:latin typeface="Arial"/>
                <a:cs typeface="Arial"/>
              </a:rPr>
              <a:t>R16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版本</a:t>
            </a:r>
            <a:r>
              <a:rPr dirty="0" sz="1050">
                <a:latin typeface="Microsoft YaHei"/>
                <a:cs typeface="Microsoft YaHei"/>
              </a:rPr>
              <a:t>：支持网络切片，满足</a:t>
            </a:r>
            <a:r>
              <a:rPr dirty="0" sz="1050" spc="-25">
                <a:latin typeface="Arial MT"/>
                <a:cs typeface="Arial MT"/>
              </a:rPr>
              <a:t>5G</a:t>
            </a:r>
            <a:endParaRPr sz="1050">
              <a:latin typeface="Arial MT"/>
              <a:cs typeface="Arial MT"/>
            </a:endParaRPr>
          </a:p>
          <a:p>
            <a:pPr marL="297815">
              <a:lnSpc>
                <a:spcPct val="100000"/>
              </a:lnSpc>
              <a:spcBef>
                <a:spcPts val="380"/>
              </a:spcBef>
            </a:pPr>
            <a:r>
              <a:rPr dirty="0" sz="1050" spc="-10">
                <a:latin typeface="Microsoft YaHei"/>
                <a:cs typeface="Microsoft YaHei"/>
              </a:rPr>
              <a:t>全业务需求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20574" y="3196589"/>
            <a:ext cx="1582420" cy="445134"/>
            <a:chOff x="20574" y="3196589"/>
            <a:chExt cx="1582420" cy="445134"/>
          </a:xfrm>
        </p:grpSpPr>
        <p:pic>
          <p:nvPicPr>
            <p:cNvPr id="67" name="object 6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574" y="3196589"/>
              <a:ext cx="1581911" cy="44500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0049" y="3228593"/>
              <a:ext cx="786383" cy="333755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45802" y="3221448"/>
              <a:ext cx="1478280" cy="341630"/>
            </a:xfrm>
            <a:custGeom>
              <a:avLst/>
              <a:gdLst/>
              <a:ahLst/>
              <a:cxnLst/>
              <a:rect l="l" t="t" r="r" b="b"/>
              <a:pathLst>
                <a:path w="1478280" h="341629">
                  <a:moveTo>
                    <a:pt x="1319339" y="0"/>
                  </a:moveTo>
                  <a:lnTo>
                    <a:pt x="0" y="0"/>
                  </a:lnTo>
                  <a:lnTo>
                    <a:pt x="0" y="341312"/>
                  </a:lnTo>
                  <a:lnTo>
                    <a:pt x="1319339" y="341312"/>
                  </a:lnTo>
                  <a:lnTo>
                    <a:pt x="1477962" y="170662"/>
                  </a:lnTo>
                  <a:lnTo>
                    <a:pt x="1319339" y="0"/>
                  </a:lnTo>
                  <a:close/>
                </a:path>
              </a:pathLst>
            </a:custGeom>
            <a:solidFill>
              <a:srgbClr val="22226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503763" y="3282631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Microsoft YaHei"/>
                <a:cs typeface="Microsoft YaHei"/>
              </a:rPr>
              <a:t>核心网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4681296" y="3581806"/>
            <a:ext cx="4438650" cy="912494"/>
          </a:xfrm>
          <a:custGeom>
            <a:avLst/>
            <a:gdLst/>
            <a:ahLst/>
            <a:cxnLst/>
            <a:rect l="l" t="t" r="r" b="b"/>
            <a:pathLst>
              <a:path w="4438650" h="912495">
                <a:moveTo>
                  <a:pt x="4438650" y="0"/>
                </a:moveTo>
                <a:lnTo>
                  <a:pt x="0" y="0"/>
                </a:lnTo>
                <a:lnTo>
                  <a:pt x="0" y="912114"/>
                </a:lnTo>
                <a:lnTo>
                  <a:pt x="4438650" y="912114"/>
                </a:lnTo>
                <a:lnTo>
                  <a:pt x="443865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4760042" y="3589685"/>
            <a:ext cx="4283710" cy="8578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475"/>
              </a:spcBef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1050" spc="-20" b="1">
                <a:solidFill>
                  <a:srgbClr val="D60000"/>
                </a:solidFill>
                <a:latin typeface="Arial"/>
                <a:cs typeface="Arial"/>
              </a:rPr>
              <a:t>2017</a:t>
            </a:r>
            <a:r>
              <a:rPr dirty="0" sz="1050" b="1">
                <a:solidFill>
                  <a:srgbClr val="D60000"/>
                </a:solidFill>
                <a:latin typeface="Microsoft YaHei"/>
                <a:cs typeface="Microsoft YaHei"/>
              </a:rPr>
              <a:t>年</a:t>
            </a:r>
            <a:r>
              <a:rPr dirty="0" sz="1050" spc="-10" b="1">
                <a:solidFill>
                  <a:srgbClr val="D60000"/>
                </a:solidFill>
                <a:latin typeface="Arial"/>
                <a:cs typeface="Arial"/>
              </a:rPr>
              <a:t>12</a:t>
            </a:r>
            <a:r>
              <a:rPr dirty="0" sz="1050" b="1">
                <a:solidFill>
                  <a:srgbClr val="D60000"/>
                </a:solidFill>
                <a:latin typeface="Microsoft YaHei"/>
                <a:cs typeface="Microsoft YaHei"/>
              </a:rPr>
              <a:t>月，冻结</a:t>
            </a:r>
            <a:r>
              <a:rPr dirty="0" sz="1050" spc="-20" b="1">
                <a:solidFill>
                  <a:srgbClr val="D60000"/>
                </a:solidFill>
                <a:latin typeface="Arial"/>
                <a:cs typeface="Arial"/>
              </a:rPr>
              <a:t>NSA</a:t>
            </a:r>
            <a:r>
              <a:rPr dirty="0" sz="1050" b="1">
                <a:solidFill>
                  <a:srgbClr val="D60000"/>
                </a:solidFill>
                <a:latin typeface="Microsoft YaHei"/>
                <a:cs typeface="Microsoft YaHei"/>
              </a:rPr>
              <a:t>标准</a:t>
            </a:r>
            <a:r>
              <a:rPr dirty="0" sz="1050" spc="-20" b="1">
                <a:solidFill>
                  <a:srgbClr val="C00000"/>
                </a:solidFill>
                <a:latin typeface="Arial"/>
                <a:cs typeface="Arial"/>
              </a:rPr>
              <a:t>(R15)</a:t>
            </a:r>
            <a:endParaRPr sz="1050">
              <a:latin typeface="Arial"/>
              <a:cs typeface="Arial"/>
            </a:endParaRPr>
          </a:p>
          <a:p>
            <a:pPr marL="297815" marR="5080" indent="-285750">
              <a:lnSpc>
                <a:spcPct val="130000"/>
              </a:lnSpc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2018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年</a:t>
            </a: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6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月，发布</a:t>
            </a: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NR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的</a:t>
            </a: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SA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版本</a:t>
            </a:r>
            <a:r>
              <a:rPr dirty="0" sz="1050" b="1">
                <a:solidFill>
                  <a:srgbClr val="C00000"/>
                </a:solidFill>
                <a:latin typeface="Arial"/>
                <a:cs typeface="Arial"/>
              </a:rPr>
              <a:t>(R15)</a:t>
            </a:r>
            <a:r>
              <a:rPr dirty="0" sz="1050">
                <a:latin typeface="Microsoft YaHei"/>
                <a:cs typeface="Microsoft YaHei"/>
              </a:rPr>
              <a:t>，满足</a:t>
            </a:r>
            <a:r>
              <a:rPr dirty="0" sz="1050">
                <a:latin typeface="Arial MT"/>
                <a:cs typeface="Arial MT"/>
              </a:rPr>
              <a:t>eMBB</a:t>
            </a:r>
            <a:r>
              <a:rPr dirty="0" sz="1050">
                <a:latin typeface="Microsoft YaHei"/>
                <a:cs typeface="Microsoft YaHei"/>
              </a:rPr>
              <a:t>以及</a:t>
            </a:r>
            <a:r>
              <a:rPr dirty="0" sz="1050" spc="-10">
                <a:latin typeface="Arial MT"/>
                <a:cs typeface="Arial MT"/>
              </a:rPr>
              <a:t>URLLC</a:t>
            </a:r>
            <a:r>
              <a:rPr dirty="0" sz="1050" spc="-25">
                <a:latin typeface="Microsoft YaHei"/>
                <a:cs typeface="Microsoft YaHei"/>
              </a:rPr>
              <a:t>的部</a:t>
            </a:r>
            <a:r>
              <a:rPr dirty="0" sz="1050" spc="-20">
                <a:latin typeface="Microsoft YaHei"/>
                <a:cs typeface="Microsoft YaHei"/>
              </a:rPr>
              <a:t>分功能</a:t>
            </a:r>
            <a:endParaRPr sz="105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1050" spc="-20" b="1">
                <a:solidFill>
                  <a:srgbClr val="C00000"/>
                </a:solidFill>
                <a:latin typeface="Arial"/>
                <a:cs typeface="Arial"/>
              </a:rPr>
              <a:t>2019</a:t>
            </a:r>
            <a:r>
              <a:rPr dirty="0" sz="1050" b="1">
                <a:solidFill>
                  <a:srgbClr val="C00000"/>
                </a:solidFill>
                <a:latin typeface="Microsoft YaHei"/>
                <a:cs typeface="Microsoft YaHei"/>
              </a:rPr>
              <a:t>年底发布</a:t>
            </a:r>
            <a:r>
              <a:rPr dirty="0" sz="1050" spc="-10" b="1">
                <a:solidFill>
                  <a:srgbClr val="C00000"/>
                </a:solidFill>
                <a:latin typeface="Arial"/>
                <a:cs typeface="Arial"/>
              </a:rPr>
              <a:t>R16</a:t>
            </a:r>
            <a:r>
              <a:rPr dirty="0" sz="1050" spc="-5">
                <a:latin typeface="Microsoft YaHei"/>
                <a:cs typeface="Microsoft YaHei"/>
              </a:rPr>
              <a:t>，满足三大场景的</a:t>
            </a:r>
            <a:r>
              <a:rPr dirty="0" sz="1050" spc="-10">
                <a:latin typeface="Arial MT"/>
                <a:cs typeface="Arial MT"/>
              </a:rPr>
              <a:t>5G</a:t>
            </a:r>
            <a:r>
              <a:rPr dirty="0" sz="1050" spc="-10">
                <a:latin typeface="Microsoft YaHei"/>
                <a:cs typeface="Microsoft YaHei"/>
              </a:rPr>
              <a:t>全业务需求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4659629" y="3198113"/>
            <a:ext cx="1582420" cy="443865"/>
            <a:chOff x="4659629" y="3198113"/>
            <a:chExt cx="1582420" cy="443865"/>
          </a:xfrm>
        </p:grpSpPr>
        <p:pic>
          <p:nvPicPr>
            <p:cNvPr id="74" name="object 7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59629" y="3198113"/>
              <a:ext cx="1581911" cy="443483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39105" y="3229355"/>
              <a:ext cx="786383" cy="333755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4684477" y="3223036"/>
              <a:ext cx="1478280" cy="339725"/>
            </a:xfrm>
            <a:custGeom>
              <a:avLst/>
              <a:gdLst/>
              <a:ahLst/>
              <a:cxnLst/>
              <a:rect l="l" t="t" r="r" b="b"/>
              <a:pathLst>
                <a:path w="1478279" h="339725">
                  <a:moveTo>
                    <a:pt x="1320076" y="0"/>
                  </a:moveTo>
                  <a:lnTo>
                    <a:pt x="0" y="0"/>
                  </a:lnTo>
                  <a:lnTo>
                    <a:pt x="0" y="339725"/>
                  </a:lnTo>
                  <a:lnTo>
                    <a:pt x="1320076" y="339725"/>
                  </a:lnTo>
                  <a:lnTo>
                    <a:pt x="1477962" y="169862"/>
                  </a:lnTo>
                  <a:lnTo>
                    <a:pt x="1320076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5142749" y="3283425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Microsoft YaHei"/>
                <a:cs typeface="Microsoft YaHei"/>
              </a:rPr>
              <a:t>无线网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xfrm>
            <a:off x="3108515" y="98291"/>
            <a:ext cx="2964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0"/>
              <a:t>全球发展状况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266" y="958776"/>
            <a:ext cx="7750202" cy="38455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8515" y="98291"/>
            <a:ext cx="2964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0"/>
              <a:t>全球发展状况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11555" y="2947911"/>
            <a:ext cx="3712845" cy="1352550"/>
          </a:xfrm>
          <a:custGeom>
            <a:avLst/>
            <a:gdLst/>
            <a:ahLst/>
            <a:cxnLst/>
            <a:rect l="l" t="t" r="r" b="b"/>
            <a:pathLst>
              <a:path w="3712845" h="1352550">
                <a:moveTo>
                  <a:pt x="3712692" y="0"/>
                </a:moveTo>
                <a:lnTo>
                  <a:pt x="0" y="0"/>
                </a:lnTo>
                <a:lnTo>
                  <a:pt x="0" y="1352029"/>
                </a:lnTo>
                <a:lnTo>
                  <a:pt x="3712692" y="1352029"/>
                </a:lnTo>
                <a:lnTo>
                  <a:pt x="3712692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584585" y="2947915"/>
            <a:ext cx="3712845" cy="1352550"/>
          </a:xfrm>
          <a:custGeom>
            <a:avLst/>
            <a:gdLst/>
            <a:ahLst/>
            <a:cxnLst/>
            <a:rect l="l" t="t" r="r" b="b"/>
            <a:pathLst>
              <a:path w="3712845" h="1352550">
                <a:moveTo>
                  <a:pt x="3712692" y="0"/>
                </a:moveTo>
                <a:lnTo>
                  <a:pt x="36791" y="0"/>
                </a:lnTo>
                <a:lnTo>
                  <a:pt x="0" y="36804"/>
                </a:lnTo>
                <a:lnTo>
                  <a:pt x="0" y="1352029"/>
                </a:lnTo>
                <a:lnTo>
                  <a:pt x="3712692" y="1352029"/>
                </a:lnTo>
                <a:lnTo>
                  <a:pt x="3712692" y="0"/>
                </a:lnTo>
                <a:close/>
              </a:path>
            </a:pathLst>
          </a:custGeom>
          <a:solidFill>
            <a:srgbClr val="D1D1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11568" y="924102"/>
            <a:ext cx="3712845" cy="1473200"/>
          </a:xfrm>
          <a:custGeom>
            <a:avLst/>
            <a:gdLst/>
            <a:ahLst/>
            <a:cxnLst/>
            <a:rect l="l" t="t" r="r" b="b"/>
            <a:pathLst>
              <a:path w="3712845" h="1473200">
                <a:moveTo>
                  <a:pt x="3712692" y="0"/>
                </a:moveTo>
                <a:lnTo>
                  <a:pt x="0" y="0"/>
                </a:lnTo>
                <a:lnTo>
                  <a:pt x="0" y="1472691"/>
                </a:lnTo>
                <a:lnTo>
                  <a:pt x="3712692" y="1472691"/>
                </a:lnTo>
                <a:lnTo>
                  <a:pt x="3712692" y="0"/>
                </a:lnTo>
                <a:close/>
              </a:path>
            </a:pathLst>
          </a:custGeom>
          <a:solidFill>
            <a:srgbClr val="CEC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84585" y="924095"/>
            <a:ext cx="3712845" cy="1473200"/>
          </a:xfrm>
          <a:custGeom>
            <a:avLst/>
            <a:gdLst/>
            <a:ahLst/>
            <a:cxnLst/>
            <a:rect l="l" t="t" r="r" b="b"/>
            <a:pathLst>
              <a:path w="3712845" h="1473200">
                <a:moveTo>
                  <a:pt x="3712692" y="0"/>
                </a:moveTo>
                <a:lnTo>
                  <a:pt x="0" y="0"/>
                </a:lnTo>
                <a:lnTo>
                  <a:pt x="0" y="1441691"/>
                </a:lnTo>
                <a:lnTo>
                  <a:pt x="31000" y="1472692"/>
                </a:lnTo>
                <a:lnTo>
                  <a:pt x="3712692" y="1472692"/>
                </a:lnTo>
                <a:lnTo>
                  <a:pt x="3712692" y="0"/>
                </a:lnTo>
                <a:close/>
              </a:path>
            </a:pathLst>
          </a:custGeom>
          <a:solidFill>
            <a:srgbClr val="F8FB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61343" y="1514397"/>
            <a:ext cx="2465705" cy="819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5" b="1">
                <a:latin typeface="Microsoft YaHei"/>
                <a:cs typeface="Microsoft YaHei"/>
              </a:rPr>
              <a:t>华为</a:t>
            </a:r>
            <a:endParaRPr sz="2000">
              <a:latin typeface="Microsoft YaHei"/>
              <a:cs typeface="Microsoft YaHei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dirty="0" sz="1600" spc="-10">
                <a:latin typeface="Microsoft YaHei"/>
                <a:cs typeface="Microsoft YaHei"/>
              </a:rPr>
              <a:t>全面投入，各种技术均涉猎</a:t>
            </a:r>
            <a:r>
              <a:rPr dirty="0" sz="1600" spc="-5">
                <a:latin typeface="Microsoft YaHei"/>
                <a:cs typeface="Microsoft YaHei"/>
              </a:rPr>
              <a:t>投入大，试验网进度快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61871" y="1514398"/>
            <a:ext cx="2263775" cy="819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5" b="1">
                <a:latin typeface="Microsoft YaHei"/>
                <a:cs typeface="Microsoft YaHei"/>
              </a:rPr>
              <a:t>爱立信</a:t>
            </a:r>
            <a:endParaRPr sz="2000">
              <a:latin typeface="Microsoft YaHei"/>
              <a:cs typeface="Microsoft YaHe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600" spc="-5">
                <a:latin typeface="Microsoft YaHei"/>
                <a:cs typeface="Microsoft YaHei"/>
              </a:rPr>
              <a:t>重点研究毫米波、物联网缺少传输、云平台方案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61038" y="3410512"/>
            <a:ext cx="3482975" cy="819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5" b="1">
                <a:latin typeface="Microsoft YaHei"/>
                <a:cs typeface="Microsoft YaHei"/>
              </a:rPr>
              <a:t>诺基亚</a:t>
            </a:r>
            <a:endParaRPr sz="2000">
              <a:latin typeface="Microsoft YaHei"/>
              <a:cs typeface="Microsoft YaHe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600" spc="-15">
                <a:latin typeface="Microsoft YaHei"/>
                <a:cs typeface="Microsoft YaHei"/>
              </a:rPr>
              <a:t>重点研究毫米波、物联网、网络架构</a:t>
            </a:r>
            <a:r>
              <a:rPr dirty="0" sz="1600" spc="-50">
                <a:latin typeface="Microsoft YaHei"/>
                <a:cs typeface="Microsoft YaHei"/>
              </a:rPr>
              <a:t> </a:t>
            </a:r>
            <a:r>
              <a:rPr dirty="0" sz="1600" spc="-15">
                <a:latin typeface="Microsoft YaHei"/>
                <a:cs typeface="Microsoft YaHei"/>
              </a:rPr>
              <a:t>解决方案全面，但进度慢，受整合拖累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61343" y="3394293"/>
            <a:ext cx="3482975" cy="819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5" b="1">
                <a:latin typeface="Microsoft YaHei"/>
                <a:cs typeface="Microsoft YaHei"/>
              </a:rPr>
              <a:t>中兴</a:t>
            </a:r>
            <a:endParaRPr sz="2000">
              <a:latin typeface="Microsoft YaHei"/>
              <a:cs typeface="Microsoft YaHe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latin typeface="Microsoft YaHei"/>
                <a:cs typeface="Microsoft YaHei"/>
              </a:rPr>
              <a:t>从</a:t>
            </a:r>
            <a:r>
              <a:rPr dirty="0" sz="1600">
                <a:latin typeface="Arial MT"/>
                <a:cs typeface="Arial MT"/>
              </a:rPr>
              <a:t>Pre </a:t>
            </a:r>
            <a:r>
              <a:rPr dirty="0" sz="1600" spc="-20">
                <a:latin typeface="Arial MT"/>
                <a:cs typeface="Arial MT"/>
              </a:rPr>
              <a:t>5G</a:t>
            </a:r>
            <a:r>
              <a:rPr dirty="0" sz="1600">
                <a:latin typeface="Microsoft YaHei"/>
                <a:cs typeface="Microsoft YaHei"/>
              </a:rPr>
              <a:t>到</a:t>
            </a:r>
            <a:r>
              <a:rPr dirty="0" sz="1600" spc="-10">
                <a:latin typeface="Arial MT"/>
                <a:cs typeface="Arial MT"/>
              </a:rPr>
              <a:t>5G</a:t>
            </a:r>
            <a:r>
              <a:rPr dirty="0" sz="1600" spc="-10">
                <a:latin typeface="Microsoft YaHei"/>
                <a:cs typeface="Microsoft YaHei"/>
              </a:rPr>
              <a:t>，注重平滑演进，</a:t>
            </a:r>
            <a:r>
              <a:rPr dirty="0" sz="1600" spc="-10">
                <a:latin typeface="Arial MT"/>
                <a:cs typeface="Arial MT"/>
              </a:rPr>
              <a:t>17</a:t>
            </a:r>
            <a:r>
              <a:rPr dirty="0" sz="1600" spc="-50">
                <a:latin typeface="Microsoft YaHei"/>
                <a:cs typeface="Microsoft YaHei"/>
              </a:rPr>
              <a:t>年</a:t>
            </a:r>
            <a:r>
              <a:rPr dirty="0" sz="1600" spc="-15">
                <a:latin typeface="Microsoft YaHei"/>
                <a:cs typeface="Microsoft YaHei"/>
              </a:rPr>
              <a:t>开始加大投入，覆盖面广，但亮点不多</a:t>
            </a:r>
            <a:endParaRPr sz="1600">
              <a:latin typeface="Microsoft YaHei"/>
              <a:cs typeface="Microsoft YaHe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9765" y="919759"/>
            <a:ext cx="1449573" cy="785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2511" y="906551"/>
            <a:ext cx="2734767" cy="5442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8671" y="2934665"/>
            <a:ext cx="1886632" cy="409887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611555" y="2466657"/>
            <a:ext cx="7781925" cy="916940"/>
            <a:chOff x="611555" y="2466657"/>
            <a:chExt cx="7781925" cy="91694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8183" y="2790677"/>
              <a:ext cx="2164868" cy="59247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11555" y="2466657"/>
              <a:ext cx="7686040" cy="400685"/>
            </a:xfrm>
            <a:custGeom>
              <a:avLst/>
              <a:gdLst/>
              <a:ahLst/>
              <a:cxnLst/>
              <a:rect l="l" t="t" r="r" b="b"/>
              <a:pathLst>
                <a:path w="7686040" h="400685">
                  <a:moveTo>
                    <a:pt x="7685722" y="0"/>
                  </a:moveTo>
                  <a:lnTo>
                    <a:pt x="0" y="0"/>
                  </a:lnTo>
                  <a:lnTo>
                    <a:pt x="0" y="400113"/>
                  </a:lnTo>
                  <a:lnTo>
                    <a:pt x="7685722" y="400113"/>
                  </a:lnTo>
                  <a:lnTo>
                    <a:pt x="7685722" y="0"/>
                  </a:lnTo>
                  <a:close/>
                </a:path>
              </a:pathLst>
            </a:custGeom>
            <a:solidFill>
              <a:srgbClr val="8AC6C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622922" y="2490538"/>
            <a:ext cx="3662679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20" b="1">
                <a:solidFill>
                  <a:srgbClr val="FFFFFF"/>
                </a:solidFill>
                <a:latin typeface="Microsoft YaHei"/>
                <a:cs typeface="Microsoft YaHei"/>
              </a:rPr>
              <a:t>主流设备厂商均大力投入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5G</a:t>
            </a:r>
            <a:r>
              <a:rPr dirty="0" sz="2000" spc="-35" b="1">
                <a:solidFill>
                  <a:srgbClr val="FFFFFF"/>
                </a:solidFill>
                <a:latin typeface="Microsoft YaHei"/>
                <a:cs typeface="Microsoft YaHei"/>
              </a:rPr>
              <a:t>研发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960784" y="124840"/>
            <a:ext cx="54248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全球主要设备厂商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布局情况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28597" y="4476750"/>
            <a:ext cx="8395335" cy="391795"/>
          </a:xfrm>
          <a:prstGeom prst="rect">
            <a:avLst/>
          </a:prstGeom>
          <a:solidFill>
            <a:srgbClr val="0950A0"/>
          </a:solidFill>
        </p:spPr>
        <p:txBody>
          <a:bodyPr wrap="square" lIns="0" tIns="501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dirty="0" sz="1800" b="1">
                <a:solidFill>
                  <a:srgbClr val="FFFFFF"/>
                </a:solidFill>
                <a:latin typeface="Microsoft YaHei"/>
                <a:cs typeface="Microsoft YaHei"/>
              </a:rPr>
              <a:t>均推出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4/5G</a:t>
            </a:r>
            <a:r>
              <a:rPr dirty="0" sz="1800" spc="-5" b="1">
                <a:solidFill>
                  <a:srgbClr val="FFFFFF"/>
                </a:solidFill>
                <a:latin typeface="Microsoft YaHei"/>
                <a:cs typeface="Microsoft YaHei"/>
              </a:rPr>
              <a:t>共平台方案，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5G</a:t>
            </a:r>
            <a:r>
              <a:rPr dirty="0" sz="1800" spc="-10" b="1">
                <a:solidFill>
                  <a:srgbClr val="FFFFFF"/>
                </a:solidFill>
                <a:latin typeface="Microsoft YaHei"/>
                <a:cs typeface="Microsoft YaHei"/>
              </a:rPr>
              <a:t>注重应用和生态培育</a:t>
            </a:r>
            <a:endParaRPr sz="18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371" y="940291"/>
            <a:ext cx="334772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262673"/>
                </a:solidFill>
                <a:latin typeface="Microsoft YaHei"/>
                <a:cs typeface="Microsoft YaHei"/>
              </a:rPr>
              <a:t>围绕</a:t>
            </a:r>
            <a:r>
              <a:rPr dirty="0" sz="1600" spc="-20" b="1">
                <a:solidFill>
                  <a:srgbClr val="262673"/>
                </a:solidFill>
                <a:latin typeface="Arial"/>
                <a:cs typeface="Arial"/>
              </a:rPr>
              <a:t>5G</a:t>
            </a:r>
            <a:r>
              <a:rPr dirty="0" sz="1600" spc="-10" b="1">
                <a:solidFill>
                  <a:srgbClr val="262673"/>
                </a:solidFill>
                <a:latin typeface="Microsoft YaHei"/>
                <a:cs typeface="Microsoft YaHei"/>
              </a:rPr>
              <a:t>场景布局技术研究与产业推动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0288" y="3015860"/>
            <a:ext cx="8350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Work</a:t>
            </a:r>
            <a:r>
              <a:rPr dirty="0" sz="1000" spc="-20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8AC6CD"/>
                </a:solidFill>
                <a:latin typeface="Arial MT"/>
                <a:cs typeface="Arial MT"/>
              </a:rPr>
              <a:t> play </a:t>
            </a: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cloud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11281" y="3405737"/>
            <a:ext cx="699770" cy="6769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9370" marR="5715">
              <a:lnSpc>
                <a:spcPct val="104000"/>
              </a:lnSpc>
              <a:spcBef>
                <a:spcPts val="55"/>
              </a:spcBef>
            </a:pP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Augmented reality</a:t>
            </a:r>
            <a:endParaRPr sz="1000">
              <a:latin typeface="Arial MT"/>
              <a:cs typeface="Arial MT"/>
            </a:endParaRPr>
          </a:p>
          <a:p>
            <a:pPr marL="12700" marR="52069">
              <a:lnSpc>
                <a:spcPct val="104000"/>
              </a:lnSpc>
              <a:spcBef>
                <a:spcPts val="180"/>
              </a:spcBef>
            </a:pP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Industry automation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26665" y="4120697"/>
            <a:ext cx="6731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Self</a:t>
            </a:r>
            <a:r>
              <a:rPr dirty="0" sz="1000" spc="-25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Driving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26665" y="4273148"/>
            <a:ext cx="2311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8AC6CD"/>
                </a:solidFill>
                <a:latin typeface="Arial MT"/>
                <a:cs typeface="Arial MT"/>
              </a:rPr>
              <a:t>Car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757430" y="1786440"/>
            <a:ext cx="335280" cy="3104515"/>
          </a:xfrm>
          <a:custGeom>
            <a:avLst/>
            <a:gdLst/>
            <a:ahLst/>
            <a:cxnLst/>
            <a:rect l="l" t="t" r="r" b="b"/>
            <a:pathLst>
              <a:path w="335279" h="3104515">
                <a:moveTo>
                  <a:pt x="167424" y="0"/>
                </a:moveTo>
                <a:lnTo>
                  <a:pt x="122915" y="5980"/>
                </a:lnTo>
                <a:lnTo>
                  <a:pt x="82920" y="22857"/>
                </a:lnTo>
                <a:lnTo>
                  <a:pt x="49036" y="49036"/>
                </a:lnTo>
                <a:lnTo>
                  <a:pt x="22857" y="82920"/>
                </a:lnTo>
                <a:lnTo>
                  <a:pt x="5980" y="122915"/>
                </a:lnTo>
                <a:lnTo>
                  <a:pt x="0" y="167424"/>
                </a:lnTo>
                <a:lnTo>
                  <a:pt x="0" y="2936824"/>
                </a:lnTo>
                <a:lnTo>
                  <a:pt x="5980" y="2981328"/>
                </a:lnTo>
                <a:lnTo>
                  <a:pt x="22857" y="3021322"/>
                </a:lnTo>
                <a:lnTo>
                  <a:pt x="49036" y="3055207"/>
                </a:lnTo>
                <a:lnTo>
                  <a:pt x="82920" y="3081387"/>
                </a:lnTo>
                <a:lnTo>
                  <a:pt x="122915" y="3098267"/>
                </a:lnTo>
                <a:lnTo>
                  <a:pt x="167424" y="3104248"/>
                </a:lnTo>
                <a:lnTo>
                  <a:pt x="211933" y="3098267"/>
                </a:lnTo>
                <a:lnTo>
                  <a:pt x="251927" y="3081387"/>
                </a:lnTo>
                <a:lnTo>
                  <a:pt x="285811" y="3055207"/>
                </a:lnTo>
                <a:lnTo>
                  <a:pt x="311990" y="3021322"/>
                </a:lnTo>
                <a:lnTo>
                  <a:pt x="328867" y="2981328"/>
                </a:lnTo>
                <a:lnTo>
                  <a:pt x="334848" y="2936824"/>
                </a:lnTo>
                <a:lnTo>
                  <a:pt x="334848" y="167424"/>
                </a:lnTo>
                <a:lnTo>
                  <a:pt x="328867" y="122915"/>
                </a:lnTo>
                <a:lnTo>
                  <a:pt x="311990" y="82920"/>
                </a:lnTo>
                <a:lnTo>
                  <a:pt x="285811" y="49036"/>
                </a:lnTo>
                <a:lnTo>
                  <a:pt x="251927" y="22857"/>
                </a:lnTo>
                <a:lnTo>
                  <a:pt x="211933" y="5980"/>
                </a:lnTo>
                <a:lnTo>
                  <a:pt x="167424" y="0"/>
                </a:lnTo>
                <a:close/>
              </a:path>
            </a:pathLst>
          </a:custGeom>
          <a:solidFill>
            <a:srgbClr val="8AC6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802363" y="2528410"/>
            <a:ext cx="229235" cy="173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FFFFFF"/>
                </a:solidFill>
                <a:latin typeface="Microsoft YaHei"/>
                <a:cs typeface="Microsoft YaHei"/>
              </a:rPr>
              <a:t>统一的验证平台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140301" y="1786440"/>
            <a:ext cx="335280" cy="3104515"/>
          </a:xfrm>
          <a:custGeom>
            <a:avLst/>
            <a:gdLst/>
            <a:ahLst/>
            <a:cxnLst/>
            <a:rect l="l" t="t" r="r" b="b"/>
            <a:pathLst>
              <a:path w="335280" h="3104515">
                <a:moveTo>
                  <a:pt x="167424" y="0"/>
                </a:moveTo>
                <a:lnTo>
                  <a:pt x="122915" y="5980"/>
                </a:lnTo>
                <a:lnTo>
                  <a:pt x="82920" y="22857"/>
                </a:lnTo>
                <a:lnTo>
                  <a:pt x="49036" y="49036"/>
                </a:lnTo>
                <a:lnTo>
                  <a:pt x="22857" y="82920"/>
                </a:lnTo>
                <a:lnTo>
                  <a:pt x="5980" y="122915"/>
                </a:lnTo>
                <a:lnTo>
                  <a:pt x="0" y="167424"/>
                </a:lnTo>
                <a:lnTo>
                  <a:pt x="0" y="2936824"/>
                </a:lnTo>
                <a:lnTo>
                  <a:pt x="5980" y="2981328"/>
                </a:lnTo>
                <a:lnTo>
                  <a:pt x="22857" y="3021322"/>
                </a:lnTo>
                <a:lnTo>
                  <a:pt x="49036" y="3055207"/>
                </a:lnTo>
                <a:lnTo>
                  <a:pt x="82920" y="3081387"/>
                </a:lnTo>
                <a:lnTo>
                  <a:pt x="122915" y="3098267"/>
                </a:lnTo>
                <a:lnTo>
                  <a:pt x="167424" y="3104248"/>
                </a:lnTo>
                <a:lnTo>
                  <a:pt x="211933" y="3098267"/>
                </a:lnTo>
                <a:lnTo>
                  <a:pt x="251927" y="3081387"/>
                </a:lnTo>
                <a:lnTo>
                  <a:pt x="285811" y="3055207"/>
                </a:lnTo>
                <a:lnTo>
                  <a:pt x="311990" y="3021322"/>
                </a:lnTo>
                <a:lnTo>
                  <a:pt x="328867" y="2981328"/>
                </a:lnTo>
                <a:lnTo>
                  <a:pt x="334848" y="2936824"/>
                </a:lnTo>
                <a:lnTo>
                  <a:pt x="334848" y="167424"/>
                </a:lnTo>
                <a:lnTo>
                  <a:pt x="328867" y="122915"/>
                </a:lnTo>
                <a:lnTo>
                  <a:pt x="311990" y="82920"/>
                </a:lnTo>
                <a:lnTo>
                  <a:pt x="285811" y="49036"/>
                </a:lnTo>
                <a:lnTo>
                  <a:pt x="251927" y="22857"/>
                </a:lnTo>
                <a:lnTo>
                  <a:pt x="211933" y="5980"/>
                </a:lnTo>
                <a:lnTo>
                  <a:pt x="167424" y="0"/>
                </a:lnTo>
                <a:close/>
              </a:path>
            </a:pathLst>
          </a:custGeom>
          <a:solidFill>
            <a:srgbClr val="8AC6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473412" y="2875433"/>
            <a:ext cx="44767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dirty="0" u="sng" sz="1600">
                <a:solidFill>
                  <a:srgbClr val="FFFFFF"/>
                </a:solidFill>
                <a:uFill>
                  <a:solidFill>
                    <a:srgbClr val="B6DCDF"/>
                  </a:solidFill>
                </a:uFill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184485" y="2387958"/>
            <a:ext cx="229235" cy="173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50" b="1">
                <a:solidFill>
                  <a:srgbClr val="FFFFFF"/>
                </a:solidFill>
                <a:latin typeface="Microsoft YaHei"/>
                <a:cs typeface="Microsoft YaHei"/>
              </a:rPr>
              <a:t>统一的标准框架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850993" y="4418825"/>
            <a:ext cx="1889760" cy="286385"/>
          </a:xfrm>
          <a:custGeom>
            <a:avLst/>
            <a:gdLst/>
            <a:ahLst/>
            <a:cxnLst/>
            <a:rect l="l" t="t" r="r" b="b"/>
            <a:pathLst>
              <a:path w="1889759" h="286385">
                <a:moveTo>
                  <a:pt x="1889239" y="0"/>
                </a:moveTo>
                <a:lnTo>
                  <a:pt x="0" y="0"/>
                </a:lnTo>
                <a:lnTo>
                  <a:pt x="0" y="286232"/>
                </a:lnTo>
                <a:lnTo>
                  <a:pt x="1889239" y="286232"/>
                </a:lnTo>
                <a:lnTo>
                  <a:pt x="1889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983768" y="4424414"/>
            <a:ext cx="16236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solidFill>
                  <a:srgbClr val="4597A0"/>
                </a:solidFill>
                <a:latin typeface="Microsoft YaHei"/>
                <a:cs typeface="Microsoft YaHei"/>
              </a:rPr>
              <a:t>高可靠和低时延通信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932751" y="2163847"/>
            <a:ext cx="3046730" cy="2245995"/>
            <a:chOff x="2932751" y="2163847"/>
            <a:chExt cx="3046730" cy="2245995"/>
          </a:xfrm>
        </p:grpSpPr>
        <p:sp>
          <p:nvSpPr>
            <p:cNvPr id="15" name="object 15" descr=""/>
            <p:cNvSpPr/>
            <p:nvPr/>
          </p:nvSpPr>
          <p:spPr>
            <a:xfrm>
              <a:off x="2932751" y="2163847"/>
              <a:ext cx="3046730" cy="2245995"/>
            </a:xfrm>
            <a:custGeom>
              <a:avLst/>
              <a:gdLst/>
              <a:ahLst/>
              <a:cxnLst/>
              <a:rect l="l" t="t" r="r" b="b"/>
              <a:pathLst>
                <a:path w="3046729" h="2245995">
                  <a:moveTo>
                    <a:pt x="1523136" y="0"/>
                  </a:moveTo>
                  <a:lnTo>
                    <a:pt x="0" y="2245372"/>
                  </a:lnTo>
                  <a:lnTo>
                    <a:pt x="3046285" y="2245372"/>
                  </a:lnTo>
                  <a:lnTo>
                    <a:pt x="152313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70335" y="3688168"/>
              <a:ext cx="163195" cy="205104"/>
            </a:xfrm>
            <a:custGeom>
              <a:avLst/>
              <a:gdLst/>
              <a:ahLst/>
              <a:cxnLst/>
              <a:rect l="l" t="t" r="r" b="b"/>
              <a:pathLst>
                <a:path w="163195" h="205104">
                  <a:moveTo>
                    <a:pt x="163029" y="0"/>
                  </a:moveTo>
                  <a:lnTo>
                    <a:pt x="0" y="0"/>
                  </a:lnTo>
                  <a:lnTo>
                    <a:pt x="0" y="205016"/>
                  </a:lnTo>
                  <a:lnTo>
                    <a:pt x="163029" y="205016"/>
                  </a:lnTo>
                  <a:lnTo>
                    <a:pt x="163029" y="0"/>
                  </a:lnTo>
                  <a:close/>
                </a:path>
              </a:pathLst>
            </a:custGeom>
            <a:solidFill>
              <a:srgbClr val="D6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84212" y="3693010"/>
              <a:ext cx="132080" cy="168910"/>
            </a:xfrm>
            <a:custGeom>
              <a:avLst/>
              <a:gdLst/>
              <a:ahLst/>
              <a:cxnLst/>
              <a:rect l="l" t="t" r="r" b="b"/>
              <a:pathLst>
                <a:path w="132079" h="168910">
                  <a:moveTo>
                    <a:pt x="71056" y="123723"/>
                  </a:moveTo>
                  <a:lnTo>
                    <a:pt x="60515" y="123723"/>
                  </a:lnTo>
                  <a:lnTo>
                    <a:pt x="60515" y="167309"/>
                  </a:lnTo>
                  <a:lnTo>
                    <a:pt x="65786" y="168668"/>
                  </a:lnTo>
                  <a:lnTo>
                    <a:pt x="69230" y="168668"/>
                  </a:lnTo>
                  <a:lnTo>
                    <a:pt x="71056" y="167309"/>
                  </a:lnTo>
                  <a:lnTo>
                    <a:pt x="71056" y="123723"/>
                  </a:lnTo>
                  <a:close/>
                </a:path>
                <a:path w="132079" h="168910">
                  <a:moveTo>
                    <a:pt x="65786" y="97129"/>
                  </a:moveTo>
                  <a:lnTo>
                    <a:pt x="44945" y="123723"/>
                  </a:lnTo>
                  <a:lnTo>
                    <a:pt x="86626" y="123723"/>
                  </a:lnTo>
                  <a:lnTo>
                    <a:pt x="65786" y="97129"/>
                  </a:lnTo>
                  <a:close/>
                </a:path>
                <a:path w="132079" h="168910">
                  <a:moveTo>
                    <a:pt x="20840" y="55537"/>
                  </a:moveTo>
                  <a:lnTo>
                    <a:pt x="0" y="82130"/>
                  </a:lnTo>
                  <a:lnTo>
                    <a:pt x="20840" y="108724"/>
                  </a:lnTo>
                  <a:lnTo>
                    <a:pt x="20840" y="88861"/>
                  </a:lnTo>
                  <a:lnTo>
                    <a:pt x="63703" y="88861"/>
                  </a:lnTo>
                  <a:lnTo>
                    <a:pt x="63703" y="75399"/>
                  </a:lnTo>
                  <a:lnTo>
                    <a:pt x="20840" y="75399"/>
                  </a:lnTo>
                  <a:lnTo>
                    <a:pt x="20840" y="55537"/>
                  </a:lnTo>
                  <a:close/>
                </a:path>
                <a:path w="132079" h="168910">
                  <a:moveTo>
                    <a:pt x="110731" y="55537"/>
                  </a:moveTo>
                  <a:lnTo>
                    <a:pt x="110731" y="75399"/>
                  </a:lnTo>
                  <a:lnTo>
                    <a:pt x="67868" y="75399"/>
                  </a:lnTo>
                  <a:lnTo>
                    <a:pt x="67868" y="88861"/>
                  </a:lnTo>
                  <a:lnTo>
                    <a:pt x="110731" y="88861"/>
                  </a:lnTo>
                  <a:lnTo>
                    <a:pt x="110731" y="108724"/>
                  </a:lnTo>
                  <a:lnTo>
                    <a:pt x="131572" y="82130"/>
                  </a:lnTo>
                  <a:lnTo>
                    <a:pt x="110731" y="55537"/>
                  </a:lnTo>
                  <a:close/>
                </a:path>
                <a:path w="132079" h="168910">
                  <a:moveTo>
                    <a:pt x="86626" y="44856"/>
                  </a:moveTo>
                  <a:lnTo>
                    <a:pt x="44945" y="44856"/>
                  </a:lnTo>
                  <a:lnTo>
                    <a:pt x="65786" y="71437"/>
                  </a:lnTo>
                  <a:lnTo>
                    <a:pt x="86626" y="44856"/>
                  </a:lnTo>
                  <a:close/>
                </a:path>
                <a:path w="132079" h="168910">
                  <a:moveTo>
                    <a:pt x="69367" y="0"/>
                  </a:moveTo>
                  <a:lnTo>
                    <a:pt x="65441" y="0"/>
                  </a:lnTo>
                  <a:lnTo>
                    <a:pt x="60515" y="1269"/>
                  </a:lnTo>
                  <a:lnTo>
                    <a:pt x="60515" y="44856"/>
                  </a:lnTo>
                  <a:lnTo>
                    <a:pt x="71056" y="44856"/>
                  </a:lnTo>
                  <a:lnTo>
                    <a:pt x="71056" y="1269"/>
                  </a:lnTo>
                  <a:lnTo>
                    <a:pt x="69367" y="0"/>
                  </a:lnTo>
                  <a:close/>
                </a:path>
              </a:pathLst>
            </a:custGeom>
            <a:solidFill>
              <a:srgbClr val="12419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4838" y="4010253"/>
              <a:ext cx="161594" cy="2050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3596" y="3457028"/>
              <a:ext cx="220011" cy="21337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141" y="3949331"/>
              <a:ext cx="114490" cy="13945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2168" y="4181502"/>
              <a:ext cx="169833" cy="2133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4111" y="3946540"/>
              <a:ext cx="112581" cy="142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36241" y="3324542"/>
              <a:ext cx="227121" cy="21337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57306" y="2284145"/>
              <a:ext cx="212584" cy="2119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79291" y="4154347"/>
              <a:ext cx="112585" cy="1408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0992" y="2676961"/>
              <a:ext cx="216506" cy="21198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72177" y="2972452"/>
              <a:ext cx="234708" cy="21337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79291" y="3751291"/>
              <a:ext cx="112585" cy="1422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49895" y="3949331"/>
              <a:ext cx="112581" cy="13945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34346" y="3750932"/>
              <a:ext cx="203249" cy="142252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4100174" y="3795748"/>
            <a:ext cx="744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9075" marR="5080" indent="-20701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FUTURE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IMT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055708" y="2385368"/>
            <a:ext cx="3399154" cy="1956435"/>
            <a:chOff x="3055708" y="2385368"/>
            <a:chExt cx="3399154" cy="1956435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34260" y="4154347"/>
              <a:ext cx="112582" cy="1408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56164" y="3295246"/>
              <a:ext cx="129762" cy="1436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90149" y="3296640"/>
              <a:ext cx="125941" cy="1422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88236" y="2920091"/>
              <a:ext cx="127853" cy="14224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56164" y="2920091"/>
              <a:ext cx="127853" cy="14224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76026" y="3116734"/>
              <a:ext cx="145019" cy="14085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04273" y="3116734"/>
              <a:ext cx="127853" cy="14085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3938434" y="2390131"/>
              <a:ext cx="1656714" cy="365760"/>
            </a:xfrm>
            <a:custGeom>
              <a:avLst/>
              <a:gdLst/>
              <a:ahLst/>
              <a:cxnLst/>
              <a:rect l="l" t="t" r="r" b="b"/>
              <a:pathLst>
                <a:path w="1656714" h="365760">
                  <a:moveTo>
                    <a:pt x="0" y="0"/>
                  </a:moveTo>
                  <a:lnTo>
                    <a:pt x="418867" y="0"/>
                  </a:lnTo>
                </a:path>
                <a:path w="1656714" h="365760">
                  <a:moveTo>
                    <a:pt x="761351" y="365394"/>
                  </a:moveTo>
                  <a:lnTo>
                    <a:pt x="1656105" y="365394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836237" y="3074327"/>
              <a:ext cx="758825" cy="0"/>
            </a:xfrm>
            <a:custGeom>
              <a:avLst/>
              <a:gdLst/>
              <a:ahLst/>
              <a:cxnLst/>
              <a:rect l="l" t="t" r="r" b="b"/>
              <a:pathLst>
                <a:path w="758825" h="0">
                  <a:moveTo>
                    <a:pt x="758304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016559" y="3431223"/>
              <a:ext cx="731520" cy="0"/>
            </a:xfrm>
            <a:custGeom>
              <a:avLst/>
              <a:gdLst/>
              <a:ahLst/>
              <a:cxnLst/>
              <a:rect l="l" t="t" r="r" b="b"/>
              <a:pathLst>
                <a:path w="731520" h="0">
                  <a:moveTo>
                    <a:pt x="731151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133362" y="3790674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 h="0">
                  <a:moveTo>
                    <a:pt x="0" y="0"/>
                  </a:moveTo>
                  <a:lnTo>
                    <a:pt x="614349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842005" y="4326272"/>
              <a:ext cx="962660" cy="0"/>
            </a:xfrm>
            <a:custGeom>
              <a:avLst/>
              <a:gdLst/>
              <a:ahLst/>
              <a:cxnLst/>
              <a:rect l="l" t="t" r="r" b="b"/>
              <a:pathLst>
                <a:path w="962660" h="0">
                  <a:moveTo>
                    <a:pt x="0" y="0"/>
                  </a:moveTo>
                  <a:lnTo>
                    <a:pt x="962444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346110" y="4160776"/>
              <a:ext cx="577850" cy="0"/>
            </a:xfrm>
            <a:custGeom>
              <a:avLst/>
              <a:gdLst/>
              <a:ahLst/>
              <a:cxnLst/>
              <a:rect l="l" t="t" r="r" b="b"/>
              <a:pathLst>
                <a:path w="577850" h="0">
                  <a:moveTo>
                    <a:pt x="0" y="0"/>
                  </a:moveTo>
                  <a:lnTo>
                    <a:pt x="577748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332327" y="3692919"/>
              <a:ext cx="662305" cy="645795"/>
            </a:xfrm>
            <a:custGeom>
              <a:avLst/>
              <a:gdLst/>
              <a:ahLst/>
              <a:cxnLst/>
              <a:rect l="l" t="t" r="r" b="b"/>
              <a:pathLst>
                <a:path w="662304" h="645795">
                  <a:moveTo>
                    <a:pt x="0" y="322706"/>
                  </a:moveTo>
                  <a:lnTo>
                    <a:pt x="3587" y="275018"/>
                  </a:lnTo>
                  <a:lnTo>
                    <a:pt x="14009" y="229502"/>
                  </a:lnTo>
                  <a:lnTo>
                    <a:pt x="30754" y="186659"/>
                  </a:lnTo>
                  <a:lnTo>
                    <a:pt x="53309" y="146987"/>
                  </a:lnTo>
                  <a:lnTo>
                    <a:pt x="81162" y="110985"/>
                  </a:lnTo>
                  <a:lnTo>
                    <a:pt x="113803" y="79152"/>
                  </a:lnTo>
                  <a:lnTo>
                    <a:pt x="150719" y="51988"/>
                  </a:lnTo>
                  <a:lnTo>
                    <a:pt x="191398" y="29992"/>
                  </a:lnTo>
                  <a:lnTo>
                    <a:pt x="235329" y="13662"/>
                  </a:lnTo>
                  <a:lnTo>
                    <a:pt x="282000" y="3498"/>
                  </a:lnTo>
                  <a:lnTo>
                    <a:pt x="330898" y="0"/>
                  </a:lnTo>
                  <a:lnTo>
                    <a:pt x="379796" y="3498"/>
                  </a:lnTo>
                  <a:lnTo>
                    <a:pt x="426467" y="13662"/>
                  </a:lnTo>
                  <a:lnTo>
                    <a:pt x="470398" y="29992"/>
                  </a:lnTo>
                  <a:lnTo>
                    <a:pt x="511077" y="51988"/>
                  </a:lnTo>
                  <a:lnTo>
                    <a:pt x="547993" y="79152"/>
                  </a:lnTo>
                  <a:lnTo>
                    <a:pt x="580634" y="110985"/>
                  </a:lnTo>
                  <a:lnTo>
                    <a:pt x="608487" y="146987"/>
                  </a:lnTo>
                  <a:lnTo>
                    <a:pt x="631042" y="186659"/>
                  </a:lnTo>
                  <a:lnTo>
                    <a:pt x="647787" y="229502"/>
                  </a:lnTo>
                  <a:lnTo>
                    <a:pt x="658209" y="275018"/>
                  </a:lnTo>
                  <a:lnTo>
                    <a:pt x="661797" y="322706"/>
                  </a:lnTo>
                  <a:lnTo>
                    <a:pt x="658209" y="370395"/>
                  </a:lnTo>
                  <a:lnTo>
                    <a:pt x="647787" y="415911"/>
                  </a:lnTo>
                  <a:lnTo>
                    <a:pt x="631042" y="458754"/>
                  </a:lnTo>
                  <a:lnTo>
                    <a:pt x="608487" y="498426"/>
                  </a:lnTo>
                  <a:lnTo>
                    <a:pt x="580634" y="534428"/>
                  </a:lnTo>
                  <a:lnTo>
                    <a:pt x="547993" y="566261"/>
                  </a:lnTo>
                  <a:lnTo>
                    <a:pt x="511077" y="593425"/>
                  </a:lnTo>
                  <a:lnTo>
                    <a:pt x="470398" y="615421"/>
                  </a:lnTo>
                  <a:lnTo>
                    <a:pt x="426467" y="631751"/>
                  </a:lnTo>
                  <a:lnTo>
                    <a:pt x="379796" y="641915"/>
                  </a:lnTo>
                  <a:lnTo>
                    <a:pt x="330898" y="645413"/>
                  </a:lnTo>
                  <a:lnTo>
                    <a:pt x="282000" y="641915"/>
                  </a:lnTo>
                  <a:lnTo>
                    <a:pt x="235329" y="631751"/>
                  </a:lnTo>
                  <a:lnTo>
                    <a:pt x="191398" y="615421"/>
                  </a:lnTo>
                  <a:lnTo>
                    <a:pt x="150719" y="593425"/>
                  </a:lnTo>
                  <a:lnTo>
                    <a:pt x="113803" y="566261"/>
                  </a:lnTo>
                  <a:lnTo>
                    <a:pt x="81162" y="534428"/>
                  </a:lnTo>
                  <a:lnTo>
                    <a:pt x="53309" y="498426"/>
                  </a:lnTo>
                  <a:lnTo>
                    <a:pt x="30754" y="458754"/>
                  </a:lnTo>
                  <a:lnTo>
                    <a:pt x="14009" y="415911"/>
                  </a:lnTo>
                  <a:lnTo>
                    <a:pt x="3587" y="370395"/>
                  </a:lnTo>
                  <a:lnTo>
                    <a:pt x="0" y="322706"/>
                  </a:lnTo>
                  <a:close/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908088" y="2855833"/>
              <a:ext cx="662305" cy="645795"/>
            </a:xfrm>
            <a:custGeom>
              <a:avLst/>
              <a:gdLst/>
              <a:ahLst/>
              <a:cxnLst/>
              <a:rect l="l" t="t" r="r" b="b"/>
              <a:pathLst>
                <a:path w="662304" h="645795">
                  <a:moveTo>
                    <a:pt x="0" y="322706"/>
                  </a:moveTo>
                  <a:lnTo>
                    <a:pt x="3587" y="275018"/>
                  </a:lnTo>
                  <a:lnTo>
                    <a:pt x="14009" y="229502"/>
                  </a:lnTo>
                  <a:lnTo>
                    <a:pt x="30754" y="186659"/>
                  </a:lnTo>
                  <a:lnTo>
                    <a:pt x="53309" y="146987"/>
                  </a:lnTo>
                  <a:lnTo>
                    <a:pt x="81162" y="110985"/>
                  </a:lnTo>
                  <a:lnTo>
                    <a:pt x="113803" y="79152"/>
                  </a:lnTo>
                  <a:lnTo>
                    <a:pt x="150719" y="51988"/>
                  </a:lnTo>
                  <a:lnTo>
                    <a:pt x="191398" y="29992"/>
                  </a:lnTo>
                  <a:lnTo>
                    <a:pt x="235329" y="13662"/>
                  </a:lnTo>
                  <a:lnTo>
                    <a:pt x="282000" y="3498"/>
                  </a:lnTo>
                  <a:lnTo>
                    <a:pt x="330898" y="0"/>
                  </a:lnTo>
                  <a:lnTo>
                    <a:pt x="379796" y="3498"/>
                  </a:lnTo>
                  <a:lnTo>
                    <a:pt x="426467" y="13662"/>
                  </a:lnTo>
                  <a:lnTo>
                    <a:pt x="470398" y="29992"/>
                  </a:lnTo>
                  <a:lnTo>
                    <a:pt x="511077" y="51988"/>
                  </a:lnTo>
                  <a:lnTo>
                    <a:pt x="547993" y="79152"/>
                  </a:lnTo>
                  <a:lnTo>
                    <a:pt x="580634" y="110985"/>
                  </a:lnTo>
                  <a:lnTo>
                    <a:pt x="608487" y="146987"/>
                  </a:lnTo>
                  <a:lnTo>
                    <a:pt x="631042" y="186659"/>
                  </a:lnTo>
                  <a:lnTo>
                    <a:pt x="647787" y="229502"/>
                  </a:lnTo>
                  <a:lnTo>
                    <a:pt x="658209" y="275018"/>
                  </a:lnTo>
                  <a:lnTo>
                    <a:pt x="661797" y="322706"/>
                  </a:lnTo>
                  <a:lnTo>
                    <a:pt x="658209" y="370395"/>
                  </a:lnTo>
                  <a:lnTo>
                    <a:pt x="647787" y="415911"/>
                  </a:lnTo>
                  <a:lnTo>
                    <a:pt x="631042" y="458754"/>
                  </a:lnTo>
                  <a:lnTo>
                    <a:pt x="608487" y="498426"/>
                  </a:lnTo>
                  <a:lnTo>
                    <a:pt x="580634" y="534428"/>
                  </a:lnTo>
                  <a:lnTo>
                    <a:pt x="547993" y="566261"/>
                  </a:lnTo>
                  <a:lnTo>
                    <a:pt x="511077" y="593425"/>
                  </a:lnTo>
                  <a:lnTo>
                    <a:pt x="470398" y="615421"/>
                  </a:lnTo>
                  <a:lnTo>
                    <a:pt x="426467" y="631751"/>
                  </a:lnTo>
                  <a:lnTo>
                    <a:pt x="379796" y="641915"/>
                  </a:lnTo>
                  <a:lnTo>
                    <a:pt x="330898" y="645413"/>
                  </a:lnTo>
                  <a:lnTo>
                    <a:pt x="282000" y="641915"/>
                  </a:lnTo>
                  <a:lnTo>
                    <a:pt x="235329" y="631751"/>
                  </a:lnTo>
                  <a:lnTo>
                    <a:pt x="191398" y="615421"/>
                  </a:lnTo>
                  <a:lnTo>
                    <a:pt x="150719" y="593425"/>
                  </a:lnTo>
                  <a:lnTo>
                    <a:pt x="113803" y="566261"/>
                  </a:lnTo>
                  <a:lnTo>
                    <a:pt x="81162" y="534428"/>
                  </a:lnTo>
                  <a:lnTo>
                    <a:pt x="53309" y="498426"/>
                  </a:lnTo>
                  <a:lnTo>
                    <a:pt x="30754" y="458754"/>
                  </a:lnTo>
                  <a:lnTo>
                    <a:pt x="14009" y="415911"/>
                  </a:lnTo>
                  <a:lnTo>
                    <a:pt x="3587" y="370395"/>
                  </a:lnTo>
                  <a:lnTo>
                    <a:pt x="0" y="322706"/>
                  </a:lnTo>
                  <a:close/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060471" y="3563715"/>
              <a:ext cx="1450975" cy="429259"/>
            </a:xfrm>
            <a:custGeom>
              <a:avLst/>
              <a:gdLst/>
              <a:ahLst/>
              <a:cxnLst/>
              <a:rect l="l" t="t" r="r" b="b"/>
              <a:pathLst>
                <a:path w="1450975" h="429260">
                  <a:moveTo>
                    <a:pt x="185534" y="0"/>
                  </a:moveTo>
                  <a:lnTo>
                    <a:pt x="1450521" y="0"/>
                  </a:lnTo>
                </a:path>
                <a:path w="1450975" h="429260">
                  <a:moveTo>
                    <a:pt x="0" y="429159"/>
                  </a:moveTo>
                  <a:lnTo>
                    <a:pt x="269059" y="429159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938437" y="2622538"/>
              <a:ext cx="1087755" cy="0"/>
            </a:xfrm>
            <a:custGeom>
              <a:avLst/>
              <a:gdLst/>
              <a:ahLst/>
              <a:cxnLst/>
              <a:rect l="l" t="t" r="r" b="b"/>
              <a:pathLst>
                <a:path w="1087754" h="0">
                  <a:moveTo>
                    <a:pt x="0" y="0"/>
                  </a:moveTo>
                  <a:lnTo>
                    <a:pt x="108766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292836" y="3658876"/>
              <a:ext cx="2376805" cy="0"/>
            </a:xfrm>
            <a:custGeom>
              <a:avLst/>
              <a:gdLst/>
              <a:ahLst/>
              <a:cxnLst/>
              <a:rect l="l" t="t" r="r" b="b"/>
              <a:pathLst>
                <a:path w="2376804" h="0">
                  <a:moveTo>
                    <a:pt x="0" y="0"/>
                  </a:moveTo>
                  <a:lnTo>
                    <a:pt x="237680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594540" y="2622537"/>
              <a:ext cx="860425" cy="307975"/>
            </a:xfrm>
            <a:custGeom>
              <a:avLst/>
              <a:gdLst/>
              <a:ahLst/>
              <a:cxnLst/>
              <a:rect l="l" t="t" r="r" b="b"/>
              <a:pathLst>
                <a:path w="860425" h="307975">
                  <a:moveTo>
                    <a:pt x="859828" y="0"/>
                  </a:moveTo>
                  <a:lnTo>
                    <a:pt x="0" y="0"/>
                  </a:lnTo>
                  <a:lnTo>
                    <a:pt x="0" y="307771"/>
                  </a:lnTo>
                  <a:lnTo>
                    <a:pt x="859828" y="307771"/>
                  </a:lnTo>
                  <a:lnTo>
                    <a:pt x="859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5599841" y="2606028"/>
            <a:ext cx="7816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3D</a:t>
            </a:r>
            <a:r>
              <a:rPr dirty="0" sz="1000" spc="-20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video, </a:t>
            </a: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UHD</a:t>
            </a:r>
            <a:r>
              <a:rPr dirty="0" sz="1000" spc="-40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screens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147504" y="2314219"/>
            <a:ext cx="791210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270" rIns="0" bIns="0" rtlCol="0" vert="horz">
            <a:spAutoFit/>
          </a:bodyPr>
          <a:lstStyle/>
          <a:p>
            <a:pPr marL="125095" marR="10160" indent="75565">
              <a:lnSpc>
                <a:spcPts val="1200"/>
              </a:lnSpc>
              <a:spcBef>
                <a:spcPts val="10"/>
              </a:spcBef>
            </a:pP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Gigabytes </a:t>
            </a: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8AC6C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AC6CD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 second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2546400" y="3048546"/>
            <a:ext cx="939800" cy="307975"/>
          </a:xfrm>
          <a:custGeom>
            <a:avLst/>
            <a:gdLst/>
            <a:ahLst/>
            <a:cxnLst/>
            <a:rect l="l" t="t" r="r" b="b"/>
            <a:pathLst>
              <a:path w="939800" h="307975">
                <a:moveTo>
                  <a:pt x="939711" y="0"/>
                </a:moveTo>
                <a:lnTo>
                  <a:pt x="0" y="0"/>
                </a:lnTo>
                <a:lnTo>
                  <a:pt x="0" y="307771"/>
                </a:lnTo>
                <a:lnTo>
                  <a:pt x="939711" y="307771"/>
                </a:lnTo>
                <a:lnTo>
                  <a:pt x="9397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2630868" y="3032032"/>
            <a:ext cx="850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8514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Smart Home/Building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2546400" y="3880637"/>
            <a:ext cx="514350" cy="307975"/>
          </a:xfrm>
          <a:custGeom>
            <a:avLst/>
            <a:gdLst/>
            <a:ahLst/>
            <a:cxnLst/>
            <a:rect l="l" t="t" r="r" b="b"/>
            <a:pathLst>
              <a:path w="514350" h="307975">
                <a:moveTo>
                  <a:pt x="514070" y="0"/>
                </a:moveTo>
                <a:lnTo>
                  <a:pt x="0" y="0"/>
                </a:lnTo>
                <a:lnTo>
                  <a:pt x="0" y="307771"/>
                </a:lnTo>
                <a:lnTo>
                  <a:pt x="514070" y="307771"/>
                </a:lnTo>
                <a:lnTo>
                  <a:pt x="5140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2691145" y="3864123"/>
            <a:ext cx="365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Smart </a:t>
            </a:r>
            <a:r>
              <a:rPr dirty="0" sz="1000" spc="-20">
                <a:solidFill>
                  <a:srgbClr val="8AC6CD"/>
                </a:solidFill>
                <a:latin typeface="Arial MT"/>
                <a:cs typeface="Arial MT"/>
              </a:rPr>
              <a:t>City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2786507" y="3469475"/>
            <a:ext cx="459740" cy="154305"/>
          </a:xfrm>
          <a:custGeom>
            <a:avLst/>
            <a:gdLst/>
            <a:ahLst/>
            <a:cxnLst/>
            <a:rect l="l" t="t" r="r" b="b"/>
            <a:pathLst>
              <a:path w="459739" h="154304">
                <a:moveTo>
                  <a:pt x="459498" y="0"/>
                </a:moveTo>
                <a:lnTo>
                  <a:pt x="0" y="0"/>
                </a:lnTo>
                <a:lnTo>
                  <a:pt x="0" y="153885"/>
                </a:lnTo>
                <a:lnTo>
                  <a:pt x="459498" y="153885"/>
                </a:lnTo>
                <a:lnTo>
                  <a:pt x="4594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2895436" y="3452960"/>
            <a:ext cx="3441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AC6CD"/>
                </a:solidFill>
                <a:latin typeface="Arial MT"/>
                <a:cs typeface="Arial MT"/>
              </a:rPr>
              <a:t>Voice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575604" y="4421154"/>
            <a:ext cx="14458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solidFill>
                  <a:srgbClr val="4597A0"/>
                </a:solidFill>
                <a:latin typeface="Microsoft YaHei"/>
                <a:cs typeface="Microsoft YaHei"/>
              </a:rPr>
              <a:t>大连接机器类通信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3761562" y="1942960"/>
            <a:ext cx="1441450" cy="286385"/>
          </a:xfrm>
          <a:custGeom>
            <a:avLst/>
            <a:gdLst/>
            <a:ahLst/>
            <a:cxnLst/>
            <a:rect l="l" t="t" r="r" b="b"/>
            <a:pathLst>
              <a:path w="1441450" h="286385">
                <a:moveTo>
                  <a:pt x="1441424" y="0"/>
                </a:moveTo>
                <a:lnTo>
                  <a:pt x="0" y="0"/>
                </a:lnTo>
                <a:lnTo>
                  <a:pt x="0" y="286232"/>
                </a:lnTo>
                <a:lnTo>
                  <a:pt x="1441424" y="286232"/>
                </a:lnTo>
                <a:lnTo>
                  <a:pt x="14414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3847775" y="1948548"/>
            <a:ext cx="12687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solidFill>
                  <a:srgbClr val="4597A0"/>
                </a:solidFill>
                <a:latin typeface="Microsoft YaHei"/>
                <a:cs typeface="Microsoft YaHei"/>
              </a:rPr>
              <a:t>增强的移动宽带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2384139" y="1896266"/>
            <a:ext cx="4424680" cy="2839085"/>
            <a:chOff x="2384139" y="1896266"/>
            <a:chExt cx="4424680" cy="2839085"/>
          </a:xfrm>
        </p:grpSpPr>
        <p:sp>
          <p:nvSpPr>
            <p:cNvPr id="64" name="object 64" descr=""/>
            <p:cNvSpPr/>
            <p:nvPr/>
          </p:nvSpPr>
          <p:spPr>
            <a:xfrm>
              <a:off x="2384139" y="4725541"/>
              <a:ext cx="4424680" cy="0"/>
            </a:xfrm>
            <a:custGeom>
              <a:avLst/>
              <a:gdLst/>
              <a:ahLst/>
              <a:cxnLst/>
              <a:rect l="l" t="t" r="r" b="b"/>
              <a:pathLst>
                <a:path w="4424680" h="0">
                  <a:moveTo>
                    <a:pt x="0" y="0"/>
                  </a:moveTo>
                  <a:lnTo>
                    <a:pt x="4424565" y="0"/>
                  </a:lnTo>
                </a:path>
              </a:pathLst>
            </a:custGeom>
            <a:ln w="19050">
              <a:solidFill>
                <a:srgbClr val="993E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84139" y="1905791"/>
              <a:ext cx="4424680" cy="0"/>
            </a:xfrm>
            <a:custGeom>
              <a:avLst/>
              <a:gdLst/>
              <a:ahLst/>
              <a:cxnLst/>
              <a:rect l="l" t="t" r="r" b="b"/>
              <a:pathLst>
                <a:path w="4424680" h="0">
                  <a:moveTo>
                    <a:pt x="0" y="0"/>
                  </a:moveTo>
                  <a:lnTo>
                    <a:pt x="4424565" y="0"/>
                  </a:lnTo>
                </a:path>
              </a:pathLst>
            </a:custGeom>
            <a:ln w="19050">
              <a:solidFill>
                <a:srgbClr val="993E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 descr=""/>
          <p:cNvGrpSpPr/>
          <p:nvPr/>
        </p:nvGrpSpPr>
        <p:grpSpPr>
          <a:xfrm>
            <a:off x="164908" y="1773740"/>
            <a:ext cx="1537335" cy="883285"/>
            <a:chOff x="164908" y="1773740"/>
            <a:chExt cx="1537335" cy="883285"/>
          </a:xfrm>
        </p:grpSpPr>
        <p:sp>
          <p:nvSpPr>
            <p:cNvPr id="67" name="object 67" descr=""/>
            <p:cNvSpPr/>
            <p:nvPr/>
          </p:nvSpPr>
          <p:spPr>
            <a:xfrm>
              <a:off x="177608" y="1786440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5" h="857885">
                  <a:moveTo>
                    <a:pt x="1368704" y="0"/>
                  </a:moveTo>
                  <a:lnTo>
                    <a:pt x="142887" y="0"/>
                  </a:lnTo>
                  <a:lnTo>
                    <a:pt x="97722" y="7284"/>
                  </a:lnTo>
                  <a:lnTo>
                    <a:pt x="58498" y="27568"/>
                  </a:lnTo>
                  <a:lnTo>
                    <a:pt x="27568" y="58498"/>
                  </a:lnTo>
                  <a:lnTo>
                    <a:pt x="7284" y="97722"/>
                  </a:lnTo>
                  <a:lnTo>
                    <a:pt x="0" y="142887"/>
                  </a:lnTo>
                  <a:lnTo>
                    <a:pt x="0" y="714425"/>
                  </a:lnTo>
                  <a:lnTo>
                    <a:pt x="7284" y="759590"/>
                  </a:lnTo>
                  <a:lnTo>
                    <a:pt x="27568" y="798814"/>
                  </a:lnTo>
                  <a:lnTo>
                    <a:pt x="58498" y="829745"/>
                  </a:lnTo>
                  <a:lnTo>
                    <a:pt x="97722" y="850029"/>
                  </a:lnTo>
                  <a:lnTo>
                    <a:pt x="142887" y="857313"/>
                  </a:lnTo>
                  <a:lnTo>
                    <a:pt x="1368704" y="857313"/>
                  </a:lnTo>
                  <a:lnTo>
                    <a:pt x="1413869" y="850029"/>
                  </a:lnTo>
                  <a:lnTo>
                    <a:pt x="1453093" y="829745"/>
                  </a:lnTo>
                  <a:lnTo>
                    <a:pt x="1484023" y="798814"/>
                  </a:lnTo>
                  <a:lnTo>
                    <a:pt x="1504307" y="759590"/>
                  </a:lnTo>
                  <a:lnTo>
                    <a:pt x="1511592" y="714425"/>
                  </a:lnTo>
                  <a:lnTo>
                    <a:pt x="1511592" y="142887"/>
                  </a:lnTo>
                  <a:lnTo>
                    <a:pt x="1504307" y="97722"/>
                  </a:lnTo>
                  <a:lnTo>
                    <a:pt x="1484023" y="58498"/>
                  </a:lnTo>
                  <a:lnTo>
                    <a:pt x="1453093" y="27568"/>
                  </a:lnTo>
                  <a:lnTo>
                    <a:pt x="1413869" y="7284"/>
                  </a:lnTo>
                  <a:lnTo>
                    <a:pt x="1368704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77608" y="1786440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5" h="857885">
                  <a:moveTo>
                    <a:pt x="0" y="142887"/>
                  </a:moveTo>
                  <a:lnTo>
                    <a:pt x="7284" y="97722"/>
                  </a:lnTo>
                  <a:lnTo>
                    <a:pt x="27568" y="58498"/>
                  </a:lnTo>
                  <a:lnTo>
                    <a:pt x="58498" y="27568"/>
                  </a:lnTo>
                  <a:lnTo>
                    <a:pt x="97722" y="7284"/>
                  </a:lnTo>
                  <a:lnTo>
                    <a:pt x="142887" y="0"/>
                  </a:lnTo>
                  <a:lnTo>
                    <a:pt x="1368704" y="0"/>
                  </a:lnTo>
                  <a:lnTo>
                    <a:pt x="1413869" y="7284"/>
                  </a:lnTo>
                  <a:lnTo>
                    <a:pt x="1453093" y="27568"/>
                  </a:lnTo>
                  <a:lnTo>
                    <a:pt x="1484023" y="58498"/>
                  </a:lnTo>
                  <a:lnTo>
                    <a:pt x="1504307" y="97722"/>
                  </a:lnTo>
                  <a:lnTo>
                    <a:pt x="1511592" y="142887"/>
                  </a:lnTo>
                  <a:lnTo>
                    <a:pt x="1511592" y="714425"/>
                  </a:lnTo>
                  <a:lnTo>
                    <a:pt x="1504307" y="759590"/>
                  </a:lnTo>
                  <a:lnTo>
                    <a:pt x="1484023" y="798814"/>
                  </a:lnTo>
                  <a:lnTo>
                    <a:pt x="1453093" y="829745"/>
                  </a:lnTo>
                  <a:lnTo>
                    <a:pt x="1413869" y="850029"/>
                  </a:lnTo>
                  <a:lnTo>
                    <a:pt x="1368704" y="857313"/>
                  </a:lnTo>
                  <a:lnTo>
                    <a:pt x="142887" y="857313"/>
                  </a:lnTo>
                  <a:lnTo>
                    <a:pt x="97722" y="850029"/>
                  </a:lnTo>
                  <a:lnTo>
                    <a:pt x="58498" y="829745"/>
                  </a:lnTo>
                  <a:lnTo>
                    <a:pt x="27568" y="798814"/>
                  </a:lnTo>
                  <a:lnTo>
                    <a:pt x="7284" y="759590"/>
                  </a:lnTo>
                  <a:lnTo>
                    <a:pt x="0" y="714425"/>
                  </a:lnTo>
                  <a:lnTo>
                    <a:pt x="0" y="1428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280962" y="2155520"/>
            <a:ext cx="1336675" cy="438150"/>
          </a:xfrm>
          <a:prstGeom prst="rect">
            <a:avLst/>
          </a:prstGeom>
          <a:solidFill>
            <a:srgbClr val="333399"/>
          </a:solidFill>
          <a:ln w="25400">
            <a:solidFill>
              <a:srgbClr val="89A4A7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235"/>
              </a:spcBef>
            </a:pPr>
            <a:r>
              <a:rPr dirty="0" sz="1200" spc="-10">
                <a:solidFill>
                  <a:srgbClr val="FFFFFF"/>
                </a:solidFill>
                <a:latin typeface="Microsoft YaHei"/>
                <a:cs typeface="Microsoft YaHei"/>
              </a:rPr>
              <a:t>大规模天线、</a:t>
            </a:r>
            <a:endParaRPr sz="1200">
              <a:latin typeface="Microsoft YaHei"/>
              <a:cs typeface="Microsoft YaHei"/>
            </a:endParaRPr>
          </a:p>
          <a:p>
            <a:pPr marL="13144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PDMA</a:t>
            </a:r>
            <a:r>
              <a:rPr dirty="0" sz="1200">
                <a:solidFill>
                  <a:srgbClr val="FFFFFF"/>
                </a:solidFill>
                <a:latin typeface="Microsoft YaHei"/>
                <a:cs typeface="Microsoft YaHei"/>
              </a:rPr>
              <a:t>、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UDN</a:t>
            </a:r>
            <a:r>
              <a:rPr dirty="0" sz="1200" spc="-50">
                <a:solidFill>
                  <a:srgbClr val="FFFFFF"/>
                </a:solidFill>
                <a:latin typeface="Microsoft YaHei"/>
                <a:cs typeface="Microsoft YaHei"/>
              </a:rPr>
              <a:t>等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158874" y="2847084"/>
            <a:ext cx="1537335" cy="883285"/>
            <a:chOff x="158874" y="2847084"/>
            <a:chExt cx="1537335" cy="883285"/>
          </a:xfrm>
        </p:grpSpPr>
        <p:sp>
          <p:nvSpPr>
            <p:cNvPr id="71" name="object 71" descr=""/>
            <p:cNvSpPr/>
            <p:nvPr/>
          </p:nvSpPr>
          <p:spPr>
            <a:xfrm>
              <a:off x="171574" y="2859784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5" h="857885">
                  <a:moveTo>
                    <a:pt x="1368704" y="0"/>
                  </a:moveTo>
                  <a:lnTo>
                    <a:pt x="142887" y="0"/>
                  </a:lnTo>
                  <a:lnTo>
                    <a:pt x="97722" y="7284"/>
                  </a:lnTo>
                  <a:lnTo>
                    <a:pt x="58498" y="27568"/>
                  </a:lnTo>
                  <a:lnTo>
                    <a:pt x="27568" y="58498"/>
                  </a:lnTo>
                  <a:lnTo>
                    <a:pt x="7284" y="97722"/>
                  </a:lnTo>
                  <a:lnTo>
                    <a:pt x="0" y="142887"/>
                  </a:lnTo>
                  <a:lnTo>
                    <a:pt x="0" y="714425"/>
                  </a:lnTo>
                  <a:lnTo>
                    <a:pt x="7284" y="759590"/>
                  </a:lnTo>
                  <a:lnTo>
                    <a:pt x="27568" y="798814"/>
                  </a:lnTo>
                  <a:lnTo>
                    <a:pt x="58498" y="829745"/>
                  </a:lnTo>
                  <a:lnTo>
                    <a:pt x="97722" y="850029"/>
                  </a:lnTo>
                  <a:lnTo>
                    <a:pt x="142887" y="857313"/>
                  </a:lnTo>
                  <a:lnTo>
                    <a:pt x="1368704" y="857313"/>
                  </a:lnTo>
                  <a:lnTo>
                    <a:pt x="1413869" y="850029"/>
                  </a:lnTo>
                  <a:lnTo>
                    <a:pt x="1453093" y="829745"/>
                  </a:lnTo>
                  <a:lnTo>
                    <a:pt x="1484023" y="798814"/>
                  </a:lnTo>
                  <a:lnTo>
                    <a:pt x="1504307" y="759590"/>
                  </a:lnTo>
                  <a:lnTo>
                    <a:pt x="1511592" y="714425"/>
                  </a:lnTo>
                  <a:lnTo>
                    <a:pt x="1511592" y="142887"/>
                  </a:lnTo>
                  <a:lnTo>
                    <a:pt x="1504307" y="97722"/>
                  </a:lnTo>
                  <a:lnTo>
                    <a:pt x="1484023" y="58498"/>
                  </a:lnTo>
                  <a:lnTo>
                    <a:pt x="1453093" y="27568"/>
                  </a:lnTo>
                  <a:lnTo>
                    <a:pt x="1413869" y="7284"/>
                  </a:lnTo>
                  <a:lnTo>
                    <a:pt x="1368704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71574" y="2859784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5" h="857885">
                  <a:moveTo>
                    <a:pt x="0" y="142887"/>
                  </a:moveTo>
                  <a:lnTo>
                    <a:pt x="7284" y="97722"/>
                  </a:lnTo>
                  <a:lnTo>
                    <a:pt x="27568" y="58498"/>
                  </a:lnTo>
                  <a:lnTo>
                    <a:pt x="58498" y="27568"/>
                  </a:lnTo>
                  <a:lnTo>
                    <a:pt x="97722" y="7284"/>
                  </a:lnTo>
                  <a:lnTo>
                    <a:pt x="142887" y="0"/>
                  </a:lnTo>
                  <a:lnTo>
                    <a:pt x="1368704" y="0"/>
                  </a:lnTo>
                  <a:lnTo>
                    <a:pt x="1413869" y="7284"/>
                  </a:lnTo>
                  <a:lnTo>
                    <a:pt x="1453093" y="27568"/>
                  </a:lnTo>
                  <a:lnTo>
                    <a:pt x="1484023" y="58498"/>
                  </a:lnTo>
                  <a:lnTo>
                    <a:pt x="1504307" y="97722"/>
                  </a:lnTo>
                  <a:lnTo>
                    <a:pt x="1511592" y="142887"/>
                  </a:lnTo>
                  <a:lnTo>
                    <a:pt x="1511592" y="714425"/>
                  </a:lnTo>
                  <a:lnTo>
                    <a:pt x="1504307" y="759590"/>
                  </a:lnTo>
                  <a:lnTo>
                    <a:pt x="1484023" y="798814"/>
                  </a:lnTo>
                  <a:lnTo>
                    <a:pt x="1453093" y="829745"/>
                  </a:lnTo>
                  <a:lnTo>
                    <a:pt x="1413869" y="850029"/>
                  </a:lnTo>
                  <a:lnTo>
                    <a:pt x="1368704" y="857313"/>
                  </a:lnTo>
                  <a:lnTo>
                    <a:pt x="142887" y="857313"/>
                  </a:lnTo>
                  <a:lnTo>
                    <a:pt x="97722" y="850029"/>
                  </a:lnTo>
                  <a:lnTo>
                    <a:pt x="58498" y="829745"/>
                  </a:lnTo>
                  <a:lnTo>
                    <a:pt x="27568" y="798814"/>
                  </a:lnTo>
                  <a:lnTo>
                    <a:pt x="7284" y="759590"/>
                  </a:lnTo>
                  <a:lnTo>
                    <a:pt x="0" y="714425"/>
                  </a:lnTo>
                  <a:lnTo>
                    <a:pt x="0" y="1428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274929" y="3228873"/>
            <a:ext cx="1336675" cy="438150"/>
          </a:xfrm>
          <a:prstGeom prst="rect">
            <a:avLst/>
          </a:prstGeom>
          <a:solidFill>
            <a:srgbClr val="333399"/>
          </a:solidFill>
          <a:ln w="25400">
            <a:solidFill>
              <a:srgbClr val="89A4A7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286385" marR="279400" indent="152400">
              <a:lnSpc>
                <a:spcPct val="100000"/>
              </a:lnSpc>
              <a:spcBef>
                <a:spcPts val="240"/>
              </a:spcBef>
            </a:pPr>
            <a:r>
              <a:rPr dirty="0" sz="1200" spc="-20">
                <a:solidFill>
                  <a:srgbClr val="FFFFFF"/>
                </a:solidFill>
                <a:latin typeface="Microsoft YaHei"/>
                <a:cs typeface="Microsoft YaHei"/>
              </a:rPr>
              <a:t>新空口</a:t>
            </a:r>
            <a:r>
              <a:rPr dirty="0" sz="1200" spc="-5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icrosoft YaHei"/>
                <a:cs typeface="Microsoft YaHei"/>
              </a:rPr>
              <a:t>新网络架构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168990" y="3933070"/>
            <a:ext cx="1537335" cy="883285"/>
            <a:chOff x="168990" y="3933070"/>
            <a:chExt cx="1537335" cy="883285"/>
          </a:xfrm>
        </p:grpSpPr>
        <p:sp>
          <p:nvSpPr>
            <p:cNvPr id="75" name="object 75" descr=""/>
            <p:cNvSpPr/>
            <p:nvPr/>
          </p:nvSpPr>
          <p:spPr>
            <a:xfrm>
              <a:off x="181690" y="3945770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5" h="857885">
                  <a:moveTo>
                    <a:pt x="1368704" y="0"/>
                  </a:moveTo>
                  <a:lnTo>
                    <a:pt x="142887" y="0"/>
                  </a:lnTo>
                  <a:lnTo>
                    <a:pt x="97722" y="7284"/>
                  </a:lnTo>
                  <a:lnTo>
                    <a:pt x="58498" y="27568"/>
                  </a:lnTo>
                  <a:lnTo>
                    <a:pt x="27568" y="58498"/>
                  </a:lnTo>
                  <a:lnTo>
                    <a:pt x="7284" y="97722"/>
                  </a:lnTo>
                  <a:lnTo>
                    <a:pt x="0" y="142887"/>
                  </a:lnTo>
                  <a:lnTo>
                    <a:pt x="0" y="714425"/>
                  </a:lnTo>
                  <a:lnTo>
                    <a:pt x="7284" y="759590"/>
                  </a:lnTo>
                  <a:lnTo>
                    <a:pt x="27568" y="798814"/>
                  </a:lnTo>
                  <a:lnTo>
                    <a:pt x="58498" y="829745"/>
                  </a:lnTo>
                  <a:lnTo>
                    <a:pt x="97722" y="850029"/>
                  </a:lnTo>
                  <a:lnTo>
                    <a:pt x="142887" y="857313"/>
                  </a:lnTo>
                  <a:lnTo>
                    <a:pt x="1368704" y="857313"/>
                  </a:lnTo>
                  <a:lnTo>
                    <a:pt x="1413869" y="850029"/>
                  </a:lnTo>
                  <a:lnTo>
                    <a:pt x="1453093" y="829745"/>
                  </a:lnTo>
                  <a:lnTo>
                    <a:pt x="1484023" y="798814"/>
                  </a:lnTo>
                  <a:lnTo>
                    <a:pt x="1504307" y="759590"/>
                  </a:lnTo>
                  <a:lnTo>
                    <a:pt x="1511592" y="714425"/>
                  </a:lnTo>
                  <a:lnTo>
                    <a:pt x="1511592" y="142887"/>
                  </a:lnTo>
                  <a:lnTo>
                    <a:pt x="1504307" y="97722"/>
                  </a:lnTo>
                  <a:lnTo>
                    <a:pt x="1484023" y="58498"/>
                  </a:lnTo>
                  <a:lnTo>
                    <a:pt x="1453093" y="27568"/>
                  </a:lnTo>
                  <a:lnTo>
                    <a:pt x="1413869" y="7284"/>
                  </a:lnTo>
                  <a:lnTo>
                    <a:pt x="1368704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81690" y="3945770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5" h="857885">
                  <a:moveTo>
                    <a:pt x="0" y="142887"/>
                  </a:moveTo>
                  <a:lnTo>
                    <a:pt x="7284" y="97722"/>
                  </a:lnTo>
                  <a:lnTo>
                    <a:pt x="27568" y="58498"/>
                  </a:lnTo>
                  <a:lnTo>
                    <a:pt x="58498" y="27568"/>
                  </a:lnTo>
                  <a:lnTo>
                    <a:pt x="97722" y="7284"/>
                  </a:lnTo>
                  <a:lnTo>
                    <a:pt x="142887" y="0"/>
                  </a:lnTo>
                  <a:lnTo>
                    <a:pt x="1368704" y="0"/>
                  </a:lnTo>
                  <a:lnTo>
                    <a:pt x="1413869" y="7284"/>
                  </a:lnTo>
                  <a:lnTo>
                    <a:pt x="1453093" y="27568"/>
                  </a:lnTo>
                  <a:lnTo>
                    <a:pt x="1484023" y="58498"/>
                  </a:lnTo>
                  <a:lnTo>
                    <a:pt x="1504307" y="97722"/>
                  </a:lnTo>
                  <a:lnTo>
                    <a:pt x="1511592" y="142887"/>
                  </a:lnTo>
                  <a:lnTo>
                    <a:pt x="1511592" y="714425"/>
                  </a:lnTo>
                  <a:lnTo>
                    <a:pt x="1504307" y="759590"/>
                  </a:lnTo>
                  <a:lnTo>
                    <a:pt x="1484023" y="798814"/>
                  </a:lnTo>
                  <a:lnTo>
                    <a:pt x="1453093" y="829745"/>
                  </a:lnTo>
                  <a:lnTo>
                    <a:pt x="1413869" y="850029"/>
                  </a:lnTo>
                  <a:lnTo>
                    <a:pt x="1368704" y="857313"/>
                  </a:lnTo>
                  <a:lnTo>
                    <a:pt x="142887" y="857313"/>
                  </a:lnTo>
                  <a:lnTo>
                    <a:pt x="97722" y="850029"/>
                  </a:lnTo>
                  <a:lnTo>
                    <a:pt x="58498" y="829745"/>
                  </a:lnTo>
                  <a:lnTo>
                    <a:pt x="27568" y="798814"/>
                  </a:lnTo>
                  <a:lnTo>
                    <a:pt x="7284" y="759590"/>
                  </a:lnTo>
                  <a:lnTo>
                    <a:pt x="0" y="714425"/>
                  </a:lnTo>
                  <a:lnTo>
                    <a:pt x="0" y="1428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107505" y="1268158"/>
            <a:ext cx="1649730" cy="3686175"/>
          </a:xfrm>
          <a:prstGeom prst="rect">
            <a:avLst/>
          </a:prstGeom>
          <a:ln w="25400">
            <a:solidFill>
              <a:srgbClr val="89A4A7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1800" spc="-15">
                <a:solidFill>
                  <a:srgbClr val="C00000"/>
                </a:solidFill>
                <a:latin typeface="Microsoft YaHei"/>
                <a:cs typeface="Microsoft YaHei"/>
              </a:rPr>
              <a:t>技术布局</a:t>
            </a:r>
            <a:endParaRPr sz="1800">
              <a:latin typeface="Microsoft YaHei"/>
              <a:cs typeface="Microsoft YaHei"/>
            </a:endParaRPr>
          </a:p>
          <a:p>
            <a:pPr algn="ctr" marL="1270">
              <a:lnSpc>
                <a:spcPct val="100000"/>
              </a:lnSpc>
              <a:spcBef>
                <a:spcPts val="2265"/>
              </a:spcBef>
            </a:pPr>
            <a:r>
              <a:rPr dirty="0" sz="1400" spc="-25">
                <a:solidFill>
                  <a:srgbClr val="FFFFFF"/>
                </a:solidFill>
                <a:latin typeface="Microsoft YaHei"/>
                <a:cs typeface="Microsoft YaHei"/>
              </a:rPr>
              <a:t>核心技术研究</a:t>
            </a:r>
            <a:endParaRPr sz="1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</a:pPr>
            <a:endParaRPr sz="1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400">
              <a:latin typeface="Microsoft YaHei"/>
              <a:cs typeface="Microsoft YaHei"/>
            </a:endParaRPr>
          </a:p>
          <a:p>
            <a:pPr algn="ctr" marR="2540">
              <a:lnSpc>
                <a:spcPct val="100000"/>
              </a:lnSpc>
            </a:pPr>
            <a:r>
              <a:rPr dirty="0" sz="1400" spc="-30">
                <a:solidFill>
                  <a:srgbClr val="FFFFFF"/>
                </a:solidFill>
                <a:latin typeface="Microsoft YaHei"/>
                <a:cs typeface="Microsoft YaHei"/>
              </a:rPr>
              <a:t>系统设计</a:t>
            </a:r>
            <a:endParaRPr sz="1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</a:pPr>
            <a:endParaRPr sz="1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1400">
              <a:latin typeface="Microsoft YaHei"/>
              <a:cs typeface="Microsoft YaHei"/>
            </a:endParaRPr>
          </a:p>
          <a:p>
            <a:pPr algn="ctr" marL="10160">
              <a:lnSpc>
                <a:spcPct val="100000"/>
              </a:lnSpc>
            </a:pPr>
            <a:r>
              <a:rPr dirty="0" sz="1400" spc="-35">
                <a:solidFill>
                  <a:srgbClr val="FFFFFF"/>
                </a:solidFill>
                <a:latin typeface="Microsoft YaHei"/>
                <a:cs typeface="Microsoft YaHei"/>
              </a:rPr>
              <a:t>标准化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85051" y="4314850"/>
            <a:ext cx="1336675" cy="438150"/>
          </a:xfrm>
          <a:prstGeom prst="rect">
            <a:avLst/>
          </a:prstGeom>
          <a:solidFill>
            <a:srgbClr val="333399"/>
          </a:solidFill>
          <a:ln w="25400">
            <a:solidFill>
              <a:srgbClr val="89A4A7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266065" marR="257810" indent="80010">
              <a:lnSpc>
                <a:spcPct val="100000"/>
              </a:lnSpc>
              <a:spcBef>
                <a:spcPts val="245"/>
              </a:spcBef>
            </a:pPr>
            <a:r>
              <a:rPr dirty="0" sz="1200" spc="-30">
                <a:solidFill>
                  <a:srgbClr val="FFFFFF"/>
                </a:solidFill>
                <a:latin typeface="Arial MT"/>
                <a:cs typeface="Arial MT"/>
              </a:rPr>
              <a:t>IMT-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2020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3GPP</a:t>
            </a:r>
            <a:r>
              <a:rPr dirty="0" sz="1200">
                <a:solidFill>
                  <a:srgbClr val="FFFFFF"/>
                </a:solidFill>
                <a:latin typeface="Microsoft YaHei"/>
                <a:cs typeface="Microsoft YaHei"/>
              </a:rPr>
              <a:t>、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ITU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7479645" y="1774521"/>
            <a:ext cx="1537335" cy="883285"/>
            <a:chOff x="7479645" y="1774521"/>
            <a:chExt cx="1537335" cy="883285"/>
          </a:xfrm>
        </p:grpSpPr>
        <p:sp>
          <p:nvSpPr>
            <p:cNvPr id="80" name="object 80" descr=""/>
            <p:cNvSpPr/>
            <p:nvPr/>
          </p:nvSpPr>
          <p:spPr>
            <a:xfrm>
              <a:off x="7492345" y="1787221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4" h="857885">
                  <a:moveTo>
                    <a:pt x="1368704" y="0"/>
                  </a:moveTo>
                  <a:lnTo>
                    <a:pt x="142887" y="0"/>
                  </a:lnTo>
                  <a:lnTo>
                    <a:pt x="97722" y="7284"/>
                  </a:lnTo>
                  <a:lnTo>
                    <a:pt x="58498" y="27568"/>
                  </a:lnTo>
                  <a:lnTo>
                    <a:pt x="27568" y="58498"/>
                  </a:lnTo>
                  <a:lnTo>
                    <a:pt x="7284" y="97722"/>
                  </a:lnTo>
                  <a:lnTo>
                    <a:pt x="0" y="142887"/>
                  </a:lnTo>
                  <a:lnTo>
                    <a:pt x="0" y="714425"/>
                  </a:lnTo>
                  <a:lnTo>
                    <a:pt x="7284" y="759590"/>
                  </a:lnTo>
                  <a:lnTo>
                    <a:pt x="27568" y="798814"/>
                  </a:lnTo>
                  <a:lnTo>
                    <a:pt x="58498" y="829745"/>
                  </a:lnTo>
                  <a:lnTo>
                    <a:pt x="97722" y="850029"/>
                  </a:lnTo>
                  <a:lnTo>
                    <a:pt x="142887" y="857313"/>
                  </a:lnTo>
                  <a:lnTo>
                    <a:pt x="1368704" y="857313"/>
                  </a:lnTo>
                  <a:lnTo>
                    <a:pt x="1413869" y="850029"/>
                  </a:lnTo>
                  <a:lnTo>
                    <a:pt x="1453093" y="829745"/>
                  </a:lnTo>
                  <a:lnTo>
                    <a:pt x="1484023" y="798814"/>
                  </a:lnTo>
                  <a:lnTo>
                    <a:pt x="1504307" y="759590"/>
                  </a:lnTo>
                  <a:lnTo>
                    <a:pt x="1511592" y="714425"/>
                  </a:lnTo>
                  <a:lnTo>
                    <a:pt x="1511592" y="142887"/>
                  </a:lnTo>
                  <a:lnTo>
                    <a:pt x="1504307" y="97722"/>
                  </a:lnTo>
                  <a:lnTo>
                    <a:pt x="1484023" y="58498"/>
                  </a:lnTo>
                  <a:lnTo>
                    <a:pt x="1453093" y="27568"/>
                  </a:lnTo>
                  <a:lnTo>
                    <a:pt x="1413869" y="7284"/>
                  </a:lnTo>
                  <a:lnTo>
                    <a:pt x="1368704" y="0"/>
                  </a:lnTo>
                  <a:close/>
                </a:path>
              </a:pathLst>
            </a:custGeom>
            <a:solidFill>
              <a:srgbClr val="F1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7492345" y="1787221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4" h="857885">
                  <a:moveTo>
                    <a:pt x="0" y="142887"/>
                  </a:moveTo>
                  <a:lnTo>
                    <a:pt x="7284" y="97722"/>
                  </a:lnTo>
                  <a:lnTo>
                    <a:pt x="27568" y="58498"/>
                  </a:lnTo>
                  <a:lnTo>
                    <a:pt x="58498" y="27568"/>
                  </a:lnTo>
                  <a:lnTo>
                    <a:pt x="97722" y="7284"/>
                  </a:lnTo>
                  <a:lnTo>
                    <a:pt x="142887" y="0"/>
                  </a:lnTo>
                  <a:lnTo>
                    <a:pt x="1368704" y="0"/>
                  </a:lnTo>
                  <a:lnTo>
                    <a:pt x="1413869" y="7284"/>
                  </a:lnTo>
                  <a:lnTo>
                    <a:pt x="1453093" y="27568"/>
                  </a:lnTo>
                  <a:lnTo>
                    <a:pt x="1484023" y="58498"/>
                  </a:lnTo>
                  <a:lnTo>
                    <a:pt x="1504307" y="97722"/>
                  </a:lnTo>
                  <a:lnTo>
                    <a:pt x="1511592" y="142887"/>
                  </a:lnTo>
                  <a:lnTo>
                    <a:pt x="1511592" y="714425"/>
                  </a:lnTo>
                  <a:lnTo>
                    <a:pt x="1504307" y="759590"/>
                  </a:lnTo>
                  <a:lnTo>
                    <a:pt x="1484023" y="798814"/>
                  </a:lnTo>
                  <a:lnTo>
                    <a:pt x="1453093" y="829745"/>
                  </a:lnTo>
                  <a:lnTo>
                    <a:pt x="1413869" y="850029"/>
                  </a:lnTo>
                  <a:lnTo>
                    <a:pt x="1368704" y="857313"/>
                  </a:lnTo>
                  <a:lnTo>
                    <a:pt x="142887" y="857313"/>
                  </a:lnTo>
                  <a:lnTo>
                    <a:pt x="97722" y="850029"/>
                  </a:lnTo>
                  <a:lnTo>
                    <a:pt x="58498" y="829745"/>
                  </a:lnTo>
                  <a:lnTo>
                    <a:pt x="27568" y="798814"/>
                  </a:lnTo>
                  <a:lnTo>
                    <a:pt x="7284" y="759590"/>
                  </a:lnTo>
                  <a:lnTo>
                    <a:pt x="0" y="714425"/>
                  </a:lnTo>
                  <a:lnTo>
                    <a:pt x="0" y="1428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7595704" y="2156307"/>
            <a:ext cx="1336675" cy="438150"/>
          </a:xfrm>
          <a:prstGeom prst="rect">
            <a:avLst/>
          </a:prstGeom>
          <a:solidFill>
            <a:srgbClr val="0070C0"/>
          </a:solidFill>
          <a:ln w="25400">
            <a:solidFill>
              <a:srgbClr val="89A4A7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329565" marR="50800" indent="-271780">
              <a:lnSpc>
                <a:spcPct val="100000"/>
              </a:lnSpc>
              <a:spcBef>
                <a:spcPts val="235"/>
              </a:spcBef>
            </a:pPr>
            <a:r>
              <a:rPr dirty="0" sz="1200" spc="-10">
                <a:solidFill>
                  <a:srgbClr val="FFFFFF"/>
                </a:solidFill>
                <a:latin typeface="Microsoft YaHei"/>
                <a:cs typeface="Microsoft YaHei"/>
              </a:rPr>
              <a:t>关键技术、系统、</a:t>
            </a:r>
            <a:r>
              <a:rPr dirty="0" sz="1200" spc="-15">
                <a:solidFill>
                  <a:srgbClr val="FFFFFF"/>
                </a:solidFill>
                <a:latin typeface="Microsoft YaHei"/>
                <a:cs typeface="Microsoft YaHei"/>
              </a:rPr>
              <a:t>组网特性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7463969" y="2851626"/>
            <a:ext cx="1537335" cy="883285"/>
            <a:chOff x="7463969" y="2851626"/>
            <a:chExt cx="1537335" cy="883285"/>
          </a:xfrm>
        </p:grpSpPr>
        <p:sp>
          <p:nvSpPr>
            <p:cNvPr id="84" name="object 84" descr=""/>
            <p:cNvSpPr/>
            <p:nvPr/>
          </p:nvSpPr>
          <p:spPr>
            <a:xfrm>
              <a:off x="7476669" y="2864326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4" h="857885">
                  <a:moveTo>
                    <a:pt x="1368704" y="0"/>
                  </a:moveTo>
                  <a:lnTo>
                    <a:pt x="142887" y="0"/>
                  </a:lnTo>
                  <a:lnTo>
                    <a:pt x="97722" y="7284"/>
                  </a:lnTo>
                  <a:lnTo>
                    <a:pt x="58498" y="27568"/>
                  </a:lnTo>
                  <a:lnTo>
                    <a:pt x="27568" y="58498"/>
                  </a:lnTo>
                  <a:lnTo>
                    <a:pt x="7284" y="97722"/>
                  </a:lnTo>
                  <a:lnTo>
                    <a:pt x="0" y="142887"/>
                  </a:lnTo>
                  <a:lnTo>
                    <a:pt x="0" y="714425"/>
                  </a:lnTo>
                  <a:lnTo>
                    <a:pt x="7284" y="759590"/>
                  </a:lnTo>
                  <a:lnTo>
                    <a:pt x="27568" y="798814"/>
                  </a:lnTo>
                  <a:lnTo>
                    <a:pt x="58498" y="829745"/>
                  </a:lnTo>
                  <a:lnTo>
                    <a:pt x="97722" y="850029"/>
                  </a:lnTo>
                  <a:lnTo>
                    <a:pt x="142887" y="857313"/>
                  </a:lnTo>
                  <a:lnTo>
                    <a:pt x="1368704" y="857313"/>
                  </a:lnTo>
                  <a:lnTo>
                    <a:pt x="1413869" y="850029"/>
                  </a:lnTo>
                  <a:lnTo>
                    <a:pt x="1453093" y="829745"/>
                  </a:lnTo>
                  <a:lnTo>
                    <a:pt x="1484023" y="798814"/>
                  </a:lnTo>
                  <a:lnTo>
                    <a:pt x="1504307" y="759590"/>
                  </a:lnTo>
                  <a:lnTo>
                    <a:pt x="1511592" y="714425"/>
                  </a:lnTo>
                  <a:lnTo>
                    <a:pt x="1511592" y="142887"/>
                  </a:lnTo>
                  <a:lnTo>
                    <a:pt x="1504307" y="97722"/>
                  </a:lnTo>
                  <a:lnTo>
                    <a:pt x="1484023" y="58498"/>
                  </a:lnTo>
                  <a:lnTo>
                    <a:pt x="1453093" y="27568"/>
                  </a:lnTo>
                  <a:lnTo>
                    <a:pt x="1413869" y="7284"/>
                  </a:lnTo>
                  <a:lnTo>
                    <a:pt x="1368704" y="0"/>
                  </a:lnTo>
                  <a:close/>
                </a:path>
              </a:pathLst>
            </a:custGeom>
            <a:solidFill>
              <a:srgbClr val="F1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476669" y="2864326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4" h="857885">
                  <a:moveTo>
                    <a:pt x="0" y="142887"/>
                  </a:moveTo>
                  <a:lnTo>
                    <a:pt x="7284" y="97722"/>
                  </a:lnTo>
                  <a:lnTo>
                    <a:pt x="27568" y="58498"/>
                  </a:lnTo>
                  <a:lnTo>
                    <a:pt x="58498" y="27568"/>
                  </a:lnTo>
                  <a:lnTo>
                    <a:pt x="97722" y="7284"/>
                  </a:lnTo>
                  <a:lnTo>
                    <a:pt x="142887" y="0"/>
                  </a:lnTo>
                  <a:lnTo>
                    <a:pt x="1368704" y="0"/>
                  </a:lnTo>
                  <a:lnTo>
                    <a:pt x="1413869" y="7284"/>
                  </a:lnTo>
                  <a:lnTo>
                    <a:pt x="1453093" y="27568"/>
                  </a:lnTo>
                  <a:lnTo>
                    <a:pt x="1484023" y="58498"/>
                  </a:lnTo>
                  <a:lnTo>
                    <a:pt x="1504307" y="97722"/>
                  </a:lnTo>
                  <a:lnTo>
                    <a:pt x="1511592" y="142887"/>
                  </a:lnTo>
                  <a:lnTo>
                    <a:pt x="1511592" y="714425"/>
                  </a:lnTo>
                  <a:lnTo>
                    <a:pt x="1504307" y="759590"/>
                  </a:lnTo>
                  <a:lnTo>
                    <a:pt x="1484023" y="798814"/>
                  </a:lnTo>
                  <a:lnTo>
                    <a:pt x="1453093" y="829745"/>
                  </a:lnTo>
                  <a:lnTo>
                    <a:pt x="1413869" y="850029"/>
                  </a:lnTo>
                  <a:lnTo>
                    <a:pt x="1368704" y="857313"/>
                  </a:lnTo>
                  <a:lnTo>
                    <a:pt x="142887" y="857313"/>
                  </a:lnTo>
                  <a:lnTo>
                    <a:pt x="97722" y="850029"/>
                  </a:lnTo>
                  <a:lnTo>
                    <a:pt x="58498" y="829745"/>
                  </a:lnTo>
                  <a:lnTo>
                    <a:pt x="27568" y="798814"/>
                  </a:lnTo>
                  <a:lnTo>
                    <a:pt x="7284" y="759590"/>
                  </a:lnTo>
                  <a:lnTo>
                    <a:pt x="0" y="714425"/>
                  </a:lnTo>
                  <a:lnTo>
                    <a:pt x="0" y="1428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580032" y="3233407"/>
              <a:ext cx="1336675" cy="438150"/>
            </a:xfrm>
            <a:custGeom>
              <a:avLst/>
              <a:gdLst/>
              <a:ahLst/>
              <a:cxnLst/>
              <a:rect l="l" t="t" r="r" b="b"/>
              <a:pathLst>
                <a:path w="1336675" h="438150">
                  <a:moveTo>
                    <a:pt x="1336230" y="0"/>
                  </a:moveTo>
                  <a:lnTo>
                    <a:pt x="0" y="0"/>
                  </a:lnTo>
                  <a:lnTo>
                    <a:pt x="0" y="437680"/>
                  </a:lnTo>
                  <a:lnTo>
                    <a:pt x="1336230" y="437680"/>
                  </a:lnTo>
                  <a:lnTo>
                    <a:pt x="1336230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580032" y="3233407"/>
              <a:ext cx="1336675" cy="438150"/>
            </a:xfrm>
            <a:custGeom>
              <a:avLst/>
              <a:gdLst/>
              <a:ahLst/>
              <a:cxnLst/>
              <a:rect l="l" t="t" r="r" b="b"/>
              <a:pathLst>
                <a:path w="1336675" h="438150">
                  <a:moveTo>
                    <a:pt x="0" y="0"/>
                  </a:moveTo>
                  <a:lnTo>
                    <a:pt x="1336230" y="0"/>
                  </a:lnTo>
                  <a:lnTo>
                    <a:pt x="1336230" y="437680"/>
                  </a:lnTo>
                  <a:lnTo>
                    <a:pt x="0" y="4376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8" name="object 88" descr=""/>
          <p:cNvGrpSpPr/>
          <p:nvPr/>
        </p:nvGrpSpPr>
        <p:grpSpPr>
          <a:xfrm>
            <a:off x="7468675" y="3933980"/>
            <a:ext cx="1537335" cy="883285"/>
            <a:chOff x="7468675" y="3933980"/>
            <a:chExt cx="1537335" cy="883285"/>
          </a:xfrm>
        </p:grpSpPr>
        <p:sp>
          <p:nvSpPr>
            <p:cNvPr id="89" name="object 89" descr=""/>
            <p:cNvSpPr/>
            <p:nvPr/>
          </p:nvSpPr>
          <p:spPr>
            <a:xfrm>
              <a:off x="7481375" y="3946680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4" h="857885">
                  <a:moveTo>
                    <a:pt x="1368704" y="0"/>
                  </a:moveTo>
                  <a:lnTo>
                    <a:pt x="142887" y="0"/>
                  </a:lnTo>
                  <a:lnTo>
                    <a:pt x="97722" y="7284"/>
                  </a:lnTo>
                  <a:lnTo>
                    <a:pt x="58498" y="27568"/>
                  </a:lnTo>
                  <a:lnTo>
                    <a:pt x="27568" y="58498"/>
                  </a:lnTo>
                  <a:lnTo>
                    <a:pt x="7284" y="97722"/>
                  </a:lnTo>
                  <a:lnTo>
                    <a:pt x="0" y="142887"/>
                  </a:lnTo>
                  <a:lnTo>
                    <a:pt x="0" y="714425"/>
                  </a:lnTo>
                  <a:lnTo>
                    <a:pt x="7284" y="759590"/>
                  </a:lnTo>
                  <a:lnTo>
                    <a:pt x="27568" y="798814"/>
                  </a:lnTo>
                  <a:lnTo>
                    <a:pt x="58498" y="829745"/>
                  </a:lnTo>
                  <a:lnTo>
                    <a:pt x="97722" y="850029"/>
                  </a:lnTo>
                  <a:lnTo>
                    <a:pt x="142887" y="857313"/>
                  </a:lnTo>
                  <a:lnTo>
                    <a:pt x="1368704" y="857313"/>
                  </a:lnTo>
                  <a:lnTo>
                    <a:pt x="1413869" y="850029"/>
                  </a:lnTo>
                  <a:lnTo>
                    <a:pt x="1453093" y="829745"/>
                  </a:lnTo>
                  <a:lnTo>
                    <a:pt x="1484023" y="798814"/>
                  </a:lnTo>
                  <a:lnTo>
                    <a:pt x="1504307" y="759590"/>
                  </a:lnTo>
                  <a:lnTo>
                    <a:pt x="1511592" y="714425"/>
                  </a:lnTo>
                  <a:lnTo>
                    <a:pt x="1511592" y="142887"/>
                  </a:lnTo>
                  <a:lnTo>
                    <a:pt x="1504307" y="97722"/>
                  </a:lnTo>
                  <a:lnTo>
                    <a:pt x="1484023" y="58498"/>
                  </a:lnTo>
                  <a:lnTo>
                    <a:pt x="1453093" y="27568"/>
                  </a:lnTo>
                  <a:lnTo>
                    <a:pt x="1413869" y="7284"/>
                  </a:lnTo>
                  <a:lnTo>
                    <a:pt x="1368704" y="0"/>
                  </a:lnTo>
                  <a:close/>
                </a:path>
              </a:pathLst>
            </a:custGeom>
            <a:solidFill>
              <a:srgbClr val="F1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481375" y="3946680"/>
              <a:ext cx="1511935" cy="857885"/>
            </a:xfrm>
            <a:custGeom>
              <a:avLst/>
              <a:gdLst/>
              <a:ahLst/>
              <a:cxnLst/>
              <a:rect l="l" t="t" r="r" b="b"/>
              <a:pathLst>
                <a:path w="1511934" h="857885">
                  <a:moveTo>
                    <a:pt x="0" y="142887"/>
                  </a:moveTo>
                  <a:lnTo>
                    <a:pt x="7284" y="97722"/>
                  </a:lnTo>
                  <a:lnTo>
                    <a:pt x="27568" y="58498"/>
                  </a:lnTo>
                  <a:lnTo>
                    <a:pt x="58498" y="27568"/>
                  </a:lnTo>
                  <a:lnTo>
                    <a:pt x="97722" y="7284"/>
                  </a:lnTo>
                  <a:lnTo>
                    <a:pt x="142887" y="0"/>
                  </a:lnTo>
                  <a:lnTo>
                    <a:pt x="1368704" y="0"/>
                  </a:lnTo>
                  <a:lnTo>
                    <a:pt x="1413869" y="7284"/>
                  </a:lnTo>
                  <a:lnTo>
                    <a:pt x="1453093" y="27568"/>
                  </a:lnTo>
                  <a:lnTo>
                    <a:pt x="1484023" y="58498"/>
                  </a:lnTo>
                  <a:lnTo>
                    <a:pt x="1504307" y="97722"/>
                  </a:lnTo>
                  <a:lnTo>
                    <a:pt x="1511592" y="142887"/>
                  </a:lnTo>
                  <a:lnTo>
                    <a:pt x="1511592" y="714425"/>
                  </a:lnTo>
                  <a:lnTo>
                    <a:pt x="1504307" y="759590"/>
                  </a:lnTo>
                  <a:lnTo>
                    <a:pt x="1484023" y="798814"/>
                  </a:lnTo>
                  <a:lnTo>
                    <a:pt x="1453093" y="829745"/>
                  </a:lnTo>
                  <a:lnTo>
                    <a:pt x="1413869" y="850029"/>
                  </a:lnTo>
                  <a:lnTo>
                    <a:pt x="1368704" y="857313"/>
                  </a:lnTo>
                  <a:lnTo>
                    <a:pt x="142887" y="857313"/>
                  </a:lnTo>
                  <a:lnTo>
                    <a:pt x="97722" y="850029"/>
                  </a:lnTo>
                  <a:lnTo>
                    <a:pt x="58498" y="829745"/>
                  </a:lnTo>
                  <a:lnTo>
                    <a:pt x="27568" y="798814"/>
                  </a:lnTo>
                  <a:lnTo>
                    <a:pt x="7284" y="759590"/>
                  </a:lnTo>
                  <a:lnTo>
                    <a:pt x="0" y="714425"/>
                  </a:lnTo>
                  <a:lnTo>
                    <a:pt x="0" y="1428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584732" y="4315764"/>
              <a:ext cx="1336675" cy="438150"/>
            </a:xfrm>
            <a:custGeom>
              <a:avLst/>
              <a:gdLst/>
              <a:ahLst/>
              <a:cxnLst/>
              <a:rect l="l" t="t" r="r" b="b"/>
              <a:pathLst>
                <a:path w="1336675" h="438150">
                  <a:moveTo>
                    <a:pt x="1336230" y="0"/>
                  </a:moveTo>
                  <a:lnTo>
                    <a:pt x="0" y="0"/>
                  </a:lnTo>
                  <a:lnTo>
                    <a:pt x="0" y="437680"/>
                  </a:lnTo>
                  <a:lnTo>
                    <a:pt x="1336230" y="437680"/>
                  </a:lnTo>
                  <a:lnTo>
                    <a:pt x="1336230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584732" y="4315764"/>
              <a:ext cx="1336675" cy="438150"/>
            </a:xfrm>
            <a:custGeom>
              <a:avLst/>
              <a:gdLst/>
              <a:ahLst/>
              <a:cxnLst/>
              <a:rect l="l" t="t" r="r" b="b"/>
              <a:pathLst>
                <a:path w="1336675" h="438150">
                  <a:moveTo>
                    <a:pt x="0" y="0"/>
                  </a:moveTo>
                  <a:lnTo>
                    <a:pt x="1336230" y="0"/>
                  </a:lnTo>
                  <a:lnTo>
                    <a:pt x="1336230" y="437680"/>
                  </a:lnTo>
                  <a:lnTo>
                    <a:pt x="0" y="4376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 txBox="1"/>
          <p:nvPr/>
        </p:nvSpPr>
        <p:spPr>
          <a:xfrm>
            <a:off x="7405954" y="1254899"/>
            <a:ext cx="1649730" cy="3686175"/>
          </a:xfrm>
          <a:prstGeom prst="rect">
            <a:avLst/>
          </a:prstGeom>
          <a:ln w="25400">
            <a:solidFill>
              <a:srgbClr val="89A4A7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1800" spc="-15">
                <a:solidFill>
                  <a:srgbClr val="C00000"/>
                </a:solidFill>
                <a:latin typeface="Microsoft YaHei"/>
                <a:cs typeface="Microsoft YaHei"/>
              </a:rPr>
              <a:t>产业布局</a:t>
            </a:r>
            <a:endParaRPr sz="1800">
              <a:latin typeface="Microsoft YaHei"/>
              <a:cs typeface="Microsoft YaHei"/>
            </a:endParaRPr>
          </a:p>
          <a:p>
            <a:pPr algn="ctr" marL="33655">
              <a:lnSpc>
                <a:spcPct val="100000"/>
              </a:lnSpc>
              <a:spcBef>
                <a:spcPts val="2375"/>
              </a:spcBef>
            </a:pPr>
            <a:r>
              <a:rPr dirty="0" sz="1400" spc="-30">
                <a:solidFill>
                  <a:srgbClr val="0033CC"/>
                </a:solidFill>
                <a:latin typeface="Microsoft YaHei"/>
                <a:cs typeface="Microsoft YaHei"/>
              </a:rPr>
              <a:t>技术验证</a:t>
            </a:r>
            <a:endParaRPr sz="1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</a:pPr>
            <a:endParaRPr sz="1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1400">
              <a:latin typeface="Microsoft YaHei"/>
              <a:cs typeface="Microsoft YaHei"/>
            </a:endParaRPr>
          </a:p>
          <a:p>
            <a:pPr algn="ctr" marL="2540">
              <a:lnSpc>
                <a:spcPct val="100000"/>
              </a:lnSpc>
            </a:pPr>
            <a:r>
              <a:rPr dirty="0" sz="1400" spc="-30">
                <a:solidFill>
                  <a:srgbClr val="0033CC"/>
                </a:solidFill>
                <a:latin typeface="Microsoft YaHei"/>
                <a:cs typeface="Microsoft YaHei"/>
              </a:rPr>
              <a:t>应用示范</a:t>
            </a:r>
            <a:endParaRPr sz="1400">
              <a:latin typeface="Microsoft YaHei"/>
              <a:cs typeface="Microsoft YaHei"/>
            </a:endParaRPr>
          </a:p>
          <a:p>
            <a:pPr marL="232410" marR="189865" indent="72390">
              <a:lnSpc>
                <a:spcPct val="100000"/>
              </a:lnSpc>
              <a:spcBef>
                <a:spcPts val="825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AR/VR</a:t>
            </a:r>
            <a:r>
              <a:rPr dirty="0" sz="1200" spc="-15">
                <a:solidFill>
                  <a:srgbClr val="FFFFFF"/>
                </a:solidFill>
                <a:latin typeface="Microsoft YaHei"/>
                <a:cs typeface="Microsoft YaHei"/>
              </a:rPr>
              <a:t>、车联网</a:t>
            </a:r>
            <a:r>
              <a:rPr dirty="0" sz="1200" spc="-10">
                <a:solidFill>
                  <a:srgbClr val="FFFFFF"/>
                </a:solidFill>
                <a:latin typeface="Microsoft YaHei"/>
                <a:cs typeface="Microsoft YaHei"/>
              </a:rPr>
              <a:t>物联网、工业控制</a:t>
            </a:r>
            <a:endParaRPr sz="12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200">
              <a:latin typeface="Microsoft YaHei"/>
              <a:cs typeface="Microsoft YaHei"/>
            </a:endParaRPr>
          </a:p>
          <a:p>
            <a:pPr marL="475615">
              <a:lnSpc>
                <a:spcPct val="100000"/>
              </a:lnSpc>
            </a:pPr>
            <a:r>
              <a:rPr dirty="0" sz="1400" spc="-30">
                <a:solidFill>
                  <a:srgbClr val="0033CC"/>
                </a:solidFill>
                <a:latin typeface="Microsoft YaHei"/>
                <a:cs typeface="Microsoft YaHei"/>
              </a:rPr>
              <a:t>产业布局</a:t>
            </a:r>
            <a:endParaRPr sz="1400">
              <a:latin typeface="Microsoft YaHei"/>
              <a:cs typeface="Microsoft YaHei"/>
            </a:endParaRPr>
          </a:p>
          <a:p>
            <a:pPr marL="313055" marR="261620">
              <a:lnSpc>
                <a:spcPct val="100000"/>
              </a:lnSpc>
              <a:spcBef>
                <a:spcPts val="830"/>
              </a:spcBef>
            </a:pPr>
            <a:r>
              <a:rPr dirty="0" sz="1200" spc="-10">
                <a:solidFill>
                  <a:srgbClr val="FFFFFF"/>
                </a:solidFill>
                <a:latin typeface="Microsoft YaHei"/>
                <a:cs typeface="Microsoft YaHei"/>
              </a:rPr>
              <a:t>芯片、系统设备</a:t>
            </a:r>
            <a:r>
              <a:rPr dirty="0" sz="1200">
                <a:solidFill>
                  <a:srgbClr val="FFFFFF"/>
                </a:solidFill>
                <a:latin typeface="Microsoft YaHei"/>
                <a:cs typeface="Microsoft YaHei"/>
              </a:rPr>
              <a:t>仪表、安全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……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title"/>
          </p:nvPr>
        </p:nvSpPr>
        <p:spPr>
          <a:xfrm>
            <a:off x="1928185" y="134719"/>
            <a:ext cx="54235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中国运营商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技术与产业布局</a:t>
            </a:r>
          </a:p>
        </p:txBody>
      </p:sp>
      <p:sp>
        <p:nvSpPr>
          <p:cNvPr id="95" name="object 95" descr=""/>
          <p:cNvSpPr txBox="1"/>
          <p:nvPr/>
        </p:nvSpPr>
        <p:spPr>
          <a:xfrm>
            <a:off x="2555773" y="1260983"/>
            <a:ext cx="4042410" cy="447040"/>
          </a:xfrm>
          <a:prstGeom prst="rect">
            <a:avLst/>
          </a:prstGeom>
          <a:solidFill>
            <a:srgbClr val="BBE0E3"/>
          </a:solidFill>
          <a:ln w="25400">
            <a:solidFill>
              <a:srgbClr val="89A4A7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220470">
              <a:lnSpc>
                <a:spcPct val="100000"/>
              </a:lnSpc>
              <a:spcBef>
                <a:spcPts val="610"/>
              </a:spcBef>
            </a:pPr>
            <a:r>
              <a:rPr dirty="0" sz="1800" spc="-10">
                <a:solidFill>
                  <a:srgbClr val="FFFFFF"/>
                </a:solidFill>
                <a:latin typeface="Microsoft YaHei"/>
                <a:cs typeface="Microsoft YaHei"/>
              </a:rPr>
              <a:t>需求及场景驱动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6622461" y="1334916"/>
            <a:ext cx="768350" cy="297180"/>
            <a:chOff x="6622461" y="1334916"/>
            <a:chExt cx="768350" cy="297180"/>
          </a:xfrm>
        </p:grpSpPr>
        <p:sp>
          <p:nvSpPr>
            <p:cNvPr id="97" name="object 97" descr=""/>
            <p:cNvSpPr/>
            <p:nvPr/>
          </p:nvSpPr>
          <p:spPr>
            <a:xfrm>
              <a:off x="6635161" y="1347616"/>
              <a:ext cx="742950" cy="271780"/>
            </a:xfrm>
            <a:custGeom>
              <a:avLst/>
              <a:gdLst/>
              <a:ahLst/>
              <a:cxnLst/>
              <a:rect l="l" t="t" r="r" b="b"/>
              <a:pathLst>
                <a:path w="742950" h="271780">
                  <a:moveTo>
                    <a:pt x="606615" y="0"/>
                  </a:moveTo>
                  <a:lnTo>
                    <a:pt x="606615" y="67945"/>
                  </a:lnTo>
                  <a:lnTo>
                    <a:pt x="0" y="67945"/>
                  </a:lnTo>
                  <a:lnTo>
                    <a:pt x="0" y="203835"/>
                  </a:lnTo>
                  <a:lnTo>
                    <a:pt x="606615" y="203835"/>
                  </a:lnTo>
                  <a:lnTo>
                    <a:pt x="606615" y="271780"/>
                  </a:lnTo>
                  <a:lnTo>
                    <a:pt x="742505" y="135890"/>
                  </a:lnTo>
                  <a:lnTo>
                    <a:pt x="6066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6635161" y="1347616"/>
              <a:ext cx="742950" cy="271780"/>
            </a:xfrm>
            <a:custGeom>
              <a:avLst/>
              <a:gdLst/>
              <a:ahLst/>
              <a:cxnLst/>
              <a:rect l="l" t="t" r="r" b="b"/>
              <a:pathLst>
                <a:path w="742950" h="271780">
                  <a:moveTo>
                    <a:pt x="0" y="67945"/>
                  </a:moveTo>
                  <a:lnTo>
                    <a:pt x="606615" y="67945"/>
                  </a:lnTo>
                  <a:lnTo>
                    <a:pt x="606615" y="0"/>
                  </a:lnTo>
                  <a:lnTo>
                    <a:pt x="742505" y="135890"/>
                  </a:lnTo>
                  <a:lnTo>
                    <a:pt x="606615" y="271780"/>
                  </a:lnTo>
                  <a:lnTo>
                    <a:pt x="606615" y="203835"/>
                  </a:lnTo>
                  <a:lnTo>
                    <a:pt x="0" y="203835"/>
                  </a:lnTo>
                  <a:lnTo>
                    <a:pt x="0" y="67945"/>
                  </a:lnTo>
                  <a:close/>
                </a:path>
              </a:pathLst>
            </a:custGeom>
            <a:ln w="253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" name="object 99" descr=""/>
          <p:cNvGrpSpPr/>
          <p:nvPr/>
        </p:nvGrpSpPr>
        <p:grpSpPr>
          <a:xfrm>
            <a:off x="1767725" y="1334916"/>
            <a:ext cx="768350" cy="297180"/>
            <a:chOff x="1767725" y="1334916"/>
            <a:chExt cx="768350" cy="297180"/>
          </a:xfrm>
        </p:grpSpPr>
        <p:sp>
          <p:nvSpPr>
            <p:cNvPr id="100" name="object 100" descr=""/>
            <p:cNvSpPr/>
            <p:nvPr/>
          </p:nvSpPr>
          <p:spPr>
            <a:xfrm>
              <a:off x="1780425" y="1347616"/>
              <a:ext cx="742950" cy="271780"/>
            </a:xfrm>
            <a:custGeom>
              <a:avLst/>
              <a:gdLst/>
              <a:ahLst/>
              <a:cxnLst/>
              <a:rect l="l" t="t" r="r" b="b"/>
              <a:pathLst>
                <a:path w="742950" h="271780">
                  <a:moveTo>
                    <a:pt x="135890" y="0"/>
                  </a:moveTo>
                  <a:lnTo>
                    <a:pt x="0" y="135890"/>
                  </a:lnTo>
                  <a:lnTo>
                    <a:pt x="135890" y="271780"/>
                  </a:lnTo>
                  <a:lnTo>
                    <a:pt x="135890" y="203835"/>
                  </a:lnTo>
                  <a:lnTo>
                    <a:pt x="742505" y="203835"/>
                  </a:lnTo>
                  <a:lnTo>
                    <a:pt x="742505" y="67945"/>
                  </a:lnTo>
                  <a:lnTo>
                    <a:pt x="135890" y="67945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780425" y="1347616"/>
              <a:ext cx="742950" cy="271780"/>
            </a:xfrm>
            <a:custGeom>
              <a:avLst/>
              <a:gdLst/>
              <a:ahLst/>
              <a:cxnLst/>
              <a:rect l="l" t="t" r="r" b="b"/>
              <a:pathLst>
                <a:path w="742950" h="271780">
                  <a:moveTo>
                    <a:pt x="742505" y="67945"/>
                  </a:moveTo>
                  <a:lnTo>
                    <a:pt x="135890" y="67945"/>
                  </a:lnTo>
                  <a:lnTo>
                    <a:pt x="135890" y="0"/>
                  </a:lnTo>
                  <a:lnTo>
                    <a:pt x="0" y="135890"/>
                  </a:lnTo>
                  <a:lnTo>
                    <a:pt x="135890" y="271780"/>
                  </a:lnTo>
                  <a:lnTo>
                    <a:pt x="135890" y="203835"/>
                  </a:lnTo>
                  <a:lnTo>
                    <a:pt x="742505" y="203835"/>
                  </a:lnTo>
                  <a:lnTo>
                    <a:pt x="742505" y="67945"/>
                  </a:lnTo>
                  <a:close/>
                </a:path>
              </a:pathLst>
            </a:custGeom>
            <a:ln w="253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7140830" y="2876245"/>
            <a:ext cx="239395" cy="820419"/>
            <a:chOff x="7140830" y="2876245"/>
            <a:chExt cx="239395" cy="820419"/>
          </a:xfrm>
        </p:grpSpPr>
        <p:sp>
          <p:nvSpPr>
            <p:cNvPr id="103" name="object 103" descr=""/>
            <p:cNvSpPr/>
            <p:nvPr/>
          </p:nvSpPr>
          <p:spPr>
            <a:xfrm>
              <a:off x="7153530" y="2888945"/>
              <a:ext cx="213995" cy="795020"/>
            </a:xfrm>
            <a:custGeom>
              <a:avLst/>
              <a:gdLst/>
              <a:ahLst/>
              <a:cxnLst/>
              <a:rect l="l" t="t" r="r" b="b"/>
              <a:pathLst>
                <a:path w="213995" h="795020">
                  <a:moveTo>
                    <a:pt x="106692" y="0"/>
                  </a:moveTo>
                  <a:lnTo>
                    <a:pt x="0" y="0"/>
                  </a:lnTo>
                  <a:lnTo>
                    <a:pt x="106692" y="397281"/>
                  </a:lnTo>
                  <a:lnTo>
                    <a:pt x="0" y="794550"/>
                  </a:lnTo>
                  <a:lnTo>
                    <a:pt x="106692" y="794550"/>
                  </a:lnTo>
                  <a:lnTo>
                    <a:pt x="213385" y="397281"/>
                  </a:lnTo>
                  <a:lnTo>
                    <a:pt x="10669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7153530" y="2888945"/>
              <a:ext cx="213995" cy="795020"/>
            </a:xfrm>
            <a:custGeom>
              <a:avLst/>
              <a:gdLst/>
              <a:ahLst/>
              <a:cxnLst/>
              <a:rect l="l" t="t" r="r" b="b"/>
              <a:pathLst>
                <a:path w="213995" h="795020">
                  <a:moveTo>
                    <a:pt x="0" y="0"/>
                  </a:moveTo>
                  <a:lnTo>
                    <a:pt x="106692" y="0"/>
                  </a:lnTo>
                  <a:lnTo>
                    <a:pt x="213385" y="397281"/>
                  </a:lnTo>
                  <a:lnTo>
                    <a:pt x="106692" y="794550"/>
                  </a:lnTo>
                  <a:lnTo>
                    <a:pt x="0" y="794550"/>
                  </a:lnTo>
                  <a:lnTo>
                    <a:pt x="106692" y="39728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 descr=""/>
          <p:cNvGrpSpPr/>
          <p:nvPr/>
        </p:nvGrpSpPr>
        <p:grpSpPr>
          <a:xfrm>
            <a:off x="1849572" y="2900231"/>
            <a:ext cx="239395" cy="820419"/>
            <a:chOff x="1849572" y="2900231"/>
            <a:chExt cx="239395" cy="820419"/>
          </a:xfrm>
        </p:grpSpPr>
        <p:sp>
          <p:nvSpPr>
            <p:cNvPr id="106" name="object 106" descr=""/>
            <p:cNvSpPr/>
            <p:nvPr/>
          </p:nvSpPr>
          <p:spPr>
            <a:xfrm>
              <a:off x="1862272" y="2912931"/>
              <a:ext cx="213995" cy="795020"/>
            </a:xfrm>
            <a:custGeom>
              <a:avLst/>
              <a:gdLst/>
              <a:ahLst/>
              <a:cxnLst/>
              <a:rect l="l" t="t" r="r" b="b"/>
              <a:pathLst>
                <a:path w="213994" h="795020">
                  <a:moveTo>
                    <a:pt x="213385" y="0"/>
                  </a:moveTo>
                  <a:lnTo>
                    <a:pt x="106692" y="0"/>
                  </a:lnTo>
                  <a:lnTo>
                    <a:pt x="0" y="397281"/>
                  </a:lnTo>
                  <a:lnTo>
                    <a:pt x="106692" y="794550"/>
                  </a:lnTo>
                  <a:lnTo>
                    <a:pt x="213385" y="794550"/>
                  </a:lnTo>
                  <a:lnTo>
                    <a:pt x="106692" y="397281"/>
                  </a:lnTo>
                  <a:lnTo>
                    <a:pt x="21338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862272" y="2912931"/>
              <a:ext cx="213995" cy="795020"/>
            </a:xfrm>
            <a:custGeom>
              <a:avLst/>
              <a:gdLst/>
              <a:ahLst/>
              <a:cxnLst/>
              <a:rect l="l" t="t" r="r" b="b"/>
              <a:pathLst>
                <a:path w="213994" h="795020">
                  <a:moveTo>
                    <a:pt x="213385" y="0"/>
                  </a:moveTo>
                  <a:lnTo>
                    <a:pt x="106692" y="0"/>
                  </a:lnTo>
                  <a:lnTo>
                    <a:pt x="0" y="397281"/>
                  </a:lnTo>
                  <a:lnTo>
                    <a:pt x="106692" y="794550"/>
                  </a:lnTo>
                  <a:lnTo>
                    <a:pt x="213385" y="794550"/>
                  </a:lnTo>
                  <a:lnTo>
                    <a:pt x="106692" y="397281"/>
                  </a:lnTo>
                  <a:lnTo>
                    <a:pt x="213385" y="0"/>
                  </a:lnTo>
                  <a:close/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242" y="107725"/>
            <a:ext cx="664273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构建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核心技术积累，体现技术特色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997925" y="1305648"/>
            <a:ext cx="1520190" cy="193040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>
              <a:lnSpc>
                <a:spcPts val="1435"/>
              </a:lnSpc>
            </a:pPr>
            <a:r>
              <a:rPr dirty="0" sz="1200" spc="-15" b="1">
                <a:latin typeface="Microsoft YaHei"/>
                <a:cs typeface="Microsoft YaHei"/>
              </a:rPr>
              <a:t>流量密度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15846" y="798474"/>
            <a:ext cx="735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8419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latin typeface="Arial"/>
                <a:cs typeface="Arial"/>
              </a:rPr>
              <a:t>5G</a:t>
            </a:r>
            <a:r>
              <a:rPr dirty="0" sz="1400" spc="-35" b="1">
                <a:latin typeface="Microsoft YaHei"/>
                <a:cs typeface="Microsoft YaHei"/>
              </a:rPr>
              <a:t>需求</a:t>
            </a:r>
            <a:r>
              <a:rPr dirty="0" sz="1400" spc="-30" b="1">
                <a:latin typeface="Microsoft YaHei"/>
                <a:cs typeface="Microsoft YaHei"/>
              </a:rPr>
              <a:t>技术指标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985225" y="1546390"/>
            <a:ext cx="1545590" cy="218440"/>
            <a:chOff x="1985225" y="1546390"/>
            <a:chExt cx="1545590" cy="218440"/>
          </a:xfrm>
        </p:grpSpPr>
        <p:sp>
          <p:nvSpPr>
            <p:cNvPr id="6" name="object 6" descr=""/>
            <p:cNvSpPr/>
            <p:nvPr/>
          </p:nvSpPr>
          <p:spPr>
            <a:xfrm>
              <a:off x="1997925" y="1559090"/>
              <a:ext cx="1520190" cy="193040"/>
            </a:xfrm>
            <a:custGeom>
              <a:avLst/>
              <a:gdLst/>
              <a:ahLst/>
              <a:cxnLst/>
              <a:rect l="l" t="t" r="r" b="b"/>
              <a:pathLst>
                <a:path w="1520189" h="193039">
                  <a:moveTo>
                    <a:pt x="1519986" y="0"/>
                  </a:moveTo>
                  <a:lnTo>
                    <a:pt x="0" y="0"/>
                  </a:lnTo>
                  <a:lnTo>
                    <a:pt x="0" y="192671"/>
                  </a:lnTo>
                  <a:lnTo>
                    <a:pt x="1519986" y="192671"/>
                  </a:lnTo>
                  <a:lnTo>
                    <a:pt x="1519986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97925" y="1559090"/>
              <a:ext cx="1520190" cy="193040"/>
            </a:xfrm>
            <a:custGeom>
              <a:avLst/>
              <a:gdLst/>
              <a:ahLst/>
              <a:cxnLst/>
              <a:rect l="l" t="t" r="r" b="b"/>
              <a:pathLst>
                <a:path w="1520189" h="193039">
                  <a:moveTo>
                    <a:pt x="0" y="0"/>
                  </a:moveTo>
                  <a:lnTo>
                    <a:pt x="1519986" y="0"/>
                  </a:lnTo>
                  <a:lnTo>
                    <a:pt x="1519986" y="192671"/>
                  </a:lnTo>
                  <a:lnTo>
                    <a:pt x="0" y="19267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440358" y="1545946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 b="1">
                <a:latin typeface="Microsoft YaHei"/>
                <a:cs typeface="Microsoft YaHei"/>
              </a:rPr>
              <a:t>网络能效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97925" y="1813318"/>
            <a:ext cx="1520190" cy="193675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02260">
              <a:lnSpc>
                <a:spcPct val="100000"/>
              </a:lnSpc>
            </a:pPr>
            <a:r>
              <a:rPr dirty="0" sz="1200" spc="-10" b="1">
                <a:latin typeface="Microsoft YaHei"/>
                <a:cs typeface="Microsoft YaHei"/>
              </a:rPr>
              <a:t>用户体验速率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97925" y="2066747"/>
            <a:ext cx="1520190" cy="193040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>
              <a:lnSpc>
                <a:spcPts val="1435"/>
              </a:lnSpc>
            </a:pPr>
            <a:r>
              <a:rPr dirty="0" sz="1200" spc="-15" b="1">
                <a:latin typeface="Microsoft YaHei"/>
                <a:cs typeface="Microsoft YaHei"/>
              </a:rPr>
              <a:t>频谱效率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97925" y="2320988"/>
            <a:ext cx="1520190" cy="193675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>
              <a:lnSpc>
                <a:spcPct val="100000"/>
              </a:lnSpc>
            </a:pPr>
            <a:r>
              <a:rPr dirty="0" sz="1200" spc="-15" b="1">
                <a:latin typeface="Microsoft YaHei"/>
                <a:cs typeface="Microsoft YaHei"/>
              </a:rPr>
              <a:t>峰值速率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97925" y="2574417"/>
            <a:ext cx="1520190" cy="193040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>
              <a:lnSpc>
                <a:spcPts val="1435"/>
              </a:lnSpc>
            </a:pPr>
            <a:r>
              <a:rPr dirty="0" sz="1200" spc="-15" b="1">
                <a:latin typeface="Microsoft YaHei"/>
                <a:cs typeface="Microsoft YaHei"/>
              </a:rPr>
              <a:t>移动速度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11361" y="797712"/>
            <a:ext cx="1422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5G</a:t>
            </a:r>
            <a:r>
              <a:rPr dirty="0" sz="1500" spc="-10" b="1">
                <a:latin typeface="Microsoft YaHei"/>
                <a:cs typeface="Microsoft YaHei"/>
              </a:rPr>
              <a:t>关键技术布局</a:t>
            </a:r>
            <a:endParaRPr sz="1500">
              <a:latin typeface="Microsoft YaHei"/>
              <a:cs typeface="Microsoft YaHe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737290" y="1344828"/>
            <a:ext cx="1608455" cy="146050"/>
          </a:xfrm>
          <a:custGeom>
            <a:avLst/>
            <a:gdLst/>
            <a:ahLst/>
            <a:cxnLst/>
            <a:rect l="l" t="t" r="r" b="b"/>
            <a:pathLst>
              <a:path w="1608454" h="146050">
                <a:moveTo>
                  <a:pt x="0" y="0"/>
                </a:moveTo>
                <a:lnTo>
                  <a:pt x="1607858" y="0"/>
                </a:lnTo>
                <a:lnTo>
                  <a:pt x="1607858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595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737290" y="1344828"/>
            <a:ext cx="1608455" cy="146050"/>
          </a:xfrm>
          <a:prstGeom prst="rect">
            <a:avLst/>
          </a:prstGeom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422275">
              <a:lnSpc>
                <a:spcPts val="1145"/>
              </a:lnSpc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大规模天线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737290" y="1523111"/>
            <a:ext cx="1608455" cy="146050"/>
          </a:xfrm>
          <a:custGeom>
            <a:avLst/>
            <a:gdLst/>
            <a:ahLst/>
            <a:cxnLst/>
            <a:rect l="l" t="t" r="r" b="b"/>
            <a:pathLst>
              <a:path w="1608454" h="146050">
                <a:moveTo>
                  <a:pt x="0" y="0"/>
                </a:moveTo>
                <a:lnTo>
                  <a:pt x="1607858" y="0"/>
                </a:lnTo>
                <a:lnTo>
                  <a:pt x="1607858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595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746142" y="1519421"/>
            <a:ext cx="1583690" cy="154940"/>
          </a:xfrm>
          <a:prstGeom prst="rect">
            <a:avLst/>
          </a:prstGeom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413384">
              <a:lnSpc>
                <a:spcPts val="1215"/>
              </a:lnSpc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超密集组网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737290" y="2416124"/>
            <a:ext cx="1608455" cy="254635"/>
          </a:xfrm>
          <a:custGeom>
            <a:avLst/>
            <a:gdLst/>
            <a:ahLst/>
            <a:cxnLst/>
            <a:rect l="l" t="t" r="r" b="b"/>
            <a:pathLst>
              <a:path w="1608454" h="254635">
                <a:moveTo>
                  <a:pt x="0" y="0"/>
                </a:moveTo>
                <a:lnTo>
                  <a:pt x="1607858" y="0"/>
                </a:lnTo>
                <a:lnTo>
                  <a:pt x="1607858" y="254228"/>
                </a:lnTo>
                <a:lnTo>
                  <a:pt x="0" y="254228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737290" y="2416124"/>
            <a:ext cx="1608455" cy="254635"/>
          </a:xfrm>
          <a:prstGeom prst="rect">
            <a:avLst/>
          </a:prstGeom>
          <a:solidFill>
            <a:srgbClr val="FF6600"/>
          </a:solidFill>
        </p:spPr>
        <p:txBody>
          <a:bodyPr wrap="square" lIns="0" tIns="2984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235"/>
              </a:spcBef>
            </a:pPr>
            <a:r>
              <a:rPr dirty="0" sz="1200" b="1">
                <a:solidFill>
                  <a:srgbClr val="FFFFFF"/>
                </a:solidFill>
                <a:latin typeface="Microsoft YaHei"/>
                <a:cs typeface="Microsoft YaHei"/>
              </a:rPr>
              <a:t>非正交多址</a:t>
            </a: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（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PDMA</a:t>
            </a: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）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737290" y="1704594"/>
            <a:ext cx="1608455" cy="180975"/>
          </a:xfrm>
          <a:custGeom>
            <a:avLst/>
            <a:gdLst/>
            <a:ahLst/>
            <a:cxnLst/>
            <a:rect l="l" t="t" r="r" b="b"/>
            <a:pathLst>
              <a:path w="1608454" h="180975">
                <a:moveTo>
                  <a:pt x="0" y="0"/>
                </a:moveTo>
                <a:lnTo>
                  <a:pt x="1607858" y="0"/>
                </a:lnTo>
                <a:lnTo>
                  <a:pt x="1607858" y="180682"/>
                </a:lnTo>
                <a:lnTo>
                  <a:pt x="0" y="18068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746142" y="1699304"/>
            <a:ext cx="1583690" cy="191770"/>
          </a:xfrm>
          <a:prstGeom prst="rect">
            <a:avLst/>
          </a:prstGeom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413384">
              <a:lnSpc>
                <a:spcPts val="1430"/>
              </a:lnSpc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高频段传输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729594" y="1922043"/>
            <a:ext cx="1616075" cy="1408430"/>
          </a:xfrm>
          <a:custGeom>
            <a:avLst/>
            <a:gdLst/>
            <a:ahLst/>
            <a:cxnLst/>
            <a:rect l="l" t="t" r="r" b="b"/>
            <a:pathLst>
              <a:path w="1616075" h="1408429">
                <a:moveTo>
                  <a:pt x="7696" y="1226388"/>
                </a:moveTo>
                <a:lnTo>
                  <a:pt x="1615554" y="1226388"/>
                </a:lnTo>
                <a:lnTo>
                  <a:pt x="1615554" y="1407871"/>
                </a:lnTo>
                <a:lnTo>
                  <a:pt x="7696" y="1407871"/>
                </a:lnTo>
                <a:lnTo>
                  <a:pt x="7696" y="1226388"/>
                </a:lnTo>
                <a:close/>
              </a:path>
              <a:path w="1616075" h="1408429">
                <a:moveTo>
                  <a:pt x="0" y="0"/>
                </a:moveTo>
                <a:lnTo>
                  <a:pt x="1609394" y="0"/>
                </a:lnTo>
                <a:lnTo>
                  <a:pt x="1609394" y="180682"/>
                </a:lnTo>
                <a:lnTo>
                  <a:pt x="0" y="18068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746142" y="1916360"/>
            <a:ext cx="1583690" cy="19240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0" rIns="0" bIns="0" rtlCol="0" vert="horz">
            <a:spAutoFit/>
          </a:bodyPr>
          <a:lstStyle/>
          <a:p>
            <a:pPr marL="330200">
              <a:lnSpc>
                <a:spcPts val="1435"/>
              </a:lnSpc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灵活频谱共享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729594" y="2139505"/>
            <a:ext cx="1609725" cy="181610"/>
          </a:xfrm>
          <a:custGeom>
            <a:avLst/>
            <a:gdLst/>
            <a:ahLst/>
            <a:cxnLst/>
            <a:rect l="l" t="t" r="r" b="b"/>
            <a:pathLst>
              <a:path w="1609725" h="181610">
                <a:moveTo>
                  <a:pt x="0" y="0"/>
                </a:moveTo>
                <a:lnTo>
                  <a:pt x="1609394" y="0"/>
                </a:lnTo>
                <a:lnTo>
                  <a:pt x="1609394" y="181482"/>
                </a:lnTo>
                <a:lnTo>
                  <a:pt x="0" y="18148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746142" y="2133815"/>
            <a:ext cx="1583690" cy="17462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0" rIns="0" bIns="0" rtlCol="0" vert="horz">
            <a:spAutoFit/>
          </a:bodyPr>
          <a:lstStyle/>
          <a:p>
            <a:pPr marL="482600">
              <a:lnSpc>
                <a:spcPts val="1375"/>
              </a:lnSpc>
            </a:pPr>
            <a:r>
              <a:rPr dirty="0" sz="1200" spc="-15" b="1">
                <a:solidFill>
                  <a:srgbClr val="FFFFFF"/>
                </a:solidFill>
                <a:latin typeface="Microsoft YaHei"/>
                <a:cs typeface="Microsoft YaHei"/>
              </a:rPr>
              <a:t>终端直传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737290" y="2714320"/>
            <a:ext cx="1608455" cy="181610"/>
          </a:xfrm>
          <a:custGeom>
            <a:avLst/>
            <a:gdLst/>
            <a:ahLst/>
            <a:cxnLst/>
            <a:rect l="l" t="t" r="r" b="b"/>
            <a:pathLst>
              <a:path w="1608454" h="181610">
                <a:moveTo>
                  <a:pt x="0" y="0"/>
                </a:moveTo>
                <a:lnTo>
                  <a:pt x="1607858" y="0"/>
                </a:lnTo>
                <a:lnTo>
                  <a:pt x="1607858" y="181482"/>
                </a:lnTo>
                <a:lnTo>
                  <a:pt x="0" y="18148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4749990" y="2705036"/>
            <a:ext cx="1583055" cy="197485"/>
          </a:xfrm>
          <a:prstGeom prst="rect">
            <a:avLst/>
          </a:prstGeom>
          <a:solidFill>
            <a:srgbClr val="FF6600"/>
          </a:solidFill>
        </p:spPr>
        <p:txBody>
          <a:bodyPr wrap="square" lIns="0" tIns="3175" rIns="0" bIns="0" rtlCol="0" vert="horz">
            <a:spAutoFit/>
          </a:bodyPr>
          <a:lstStyle/>
          <a:p>
            <a:pPr marL="485775">
              <a:lnSpc>
                <a:spcPct val="100000"/>
              </a:lnSpc>
              <a:spcBef>
                <a:spcPts val="25"/>
              </a:spcBef>
            </a:pPr>
            <a:r>
              <a:rPr dirty="0" sz="1200" spc="-15" b="1">
                <a:solidFill>
                  <a:srgbClr val="FFFFFF"/>
                </a:solidFill>
                <a:latin typeface="Microsoft YaHei"/>
                <a:cs typeface="Microsoft YaHei"/>
              </a:rPr>
              <a:t>空口设计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997925" y="2828645"/>
            <a:ext cx="1520190" cy="193675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>
              <a:lnSpc>
                <a:spcPct val="100000"/>
              </a:lnSpc>
            </a:pPr>
            <a:r>
              <a:rPr dirty="0" sz="1200" spc="-15" b="1">
                <a:latin typeface="Microsoft YaHei"/>
                <a:cs typeface="Microsoft YaHei"/>
              </a:rPr>
              <a:t>连接密度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997925" y="3082074"/>
            <a:ext cx="1520190" cy="193040"/>
          </a:xfrm>
          <a:prstGeom prst="rect">
            <a:avLst/>
          </a:prstGeom>
          <a:solidFill>
            <a:srgbClr val="CDCDCD"/>
          </a:solidFill>
          <a:ln w="25400">
            <a:solidFill>
              <a:srgbClr val="89A4A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>
              <a:lnSpc>
                <a:spcPts val="1435"/>
              </a:lnSpc>
            </a:pPr>
            <a:r>
              <a:rPr dirty="0" sz="1200" spc="-15" b="1">
                <a:latin typeface="Microsoft YaHei"/>
                <a:cs typeface="Microsoft YaHei"/>
              </a:rPr>
              <a:t>超低时延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23197" y="798474"/>
            <a:ext cx="735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latin typeface="Arial"/>
                <a:cs typeface="Arial"/>
              </a:rPr>
              <a:t>5G</a:t>
            </a:r>
            <a:r>
              <a:rPr dirty="0" sz="1400" spc="-35" b="1">
                <a:latin typeface="Microsoft YaHei"/>
                <a:cs typeface="Microsoft YaHei"/>
              </a:rPr>
              <a:t>典型</a:t>
            </a:r>
            <a:r>
              <a:rPr dirty="0" sz="1400" spc="-30" b="1">
                <a:latin typeface="Microsoft YaHei"/>
                <a:cs typeface="Microsoft YaHei"/>
              </a:rPr>
              <a:t>应用场景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65277" y="1493469"/>
            <a:ext cx="1221740" cy="332740"/>
            <a:chOff x="365277" y="1493469"/>
            <a:chExt cx="1221740" cy="332740"/>
          </a:xfrm>
        </p:grpSpPr>
        <p:sp>
          <p:nvSpPr>
            <p:cNvPr id="32" name="object 32" descr=""/>
            <p:cNvSpPr/>
            <p:nvPr/>
          </p:nvSpPr>
          <p:spPr>
            <a:xfrm>
              <a:off x="370039" y="1498231"/>
              <a:ext cx="1212215" cy="323215"/>
            </a:xfrm>
            <a:custGeom>
              <a:avLst/>
              <a:gdLst/>
              <a:ahLst/>
              <a:cxnLst/>
              <a:rect l="l" t="t" r="r" b="b"/>
              <a:pathLst>
                <a:path w="1212215" h="323214">
                  <a:moveTo>
                    <a:pt x="1211668" y="0"/>
                  </a:moveTo>
                  <a:lnTo>
                    <a:pt x="0" y="0"/>
                  </a:lnTo>
                  <a:lnTo>
                    <a:pt x="0" y="323164"/>
                  </a:lnTo>
                  <a:lnTo>
                    <a:pt x="1211668" y="323164"/>
                  </a:lnTo>
                  <a:lnTo>
                    <a:pt x="121166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0039" y="1498231"/>
              <a:ext cx="1212215" cy="323215"/>
            </a:xfrm>
            <a:custGeom>
              <a:avLst/>
              <a:gdLst/>
              <a:ahLst/>
              <a:cxnLst/>
              <a:rect l="l" t="t" r="r" b="b"/>
              <a:pathLst>
                <a:path w="1212215" h="323214">
                  <a:moveTo>
                    <a:pt x="0" y="0"/>
                  </a:moveTo>
                  <a:lnTo>
                    <a:pt x="1211668" y="0"/>
                  </a:lnTo>
                  <a:lnTo>
                    <a:pt x="1211668" y="323164"/>
                  </a:lnTo>
                  <a:lnTo>
                    <a:pt x="0" y="32316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03364" y="1527486"/>
            <a:ext cx="5441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latin typeface="Arial MT"/>
                <a:cs typeface="Arial MT"/>
              </a:rPr>
              <a:t>eMBB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70039" y="2114626"/>
            <a:ext cx="1212215" cy="323215"/>
          </a:xfrm>
          <a:prstGeom prst="rect">
            <a:avLst/>
          </a:prstGeom>
          <a:solidFill>
            <a:srgbClr val="92D050"/>
          </a:solidFill>
          <a:ln w="9525">
            <a:solidFill>
              <a:srgbClr val="C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287655">
              <a:lnSpc>
                <a:spcPct val="100000"/>
              </a:lnSpc>
              <a:spcBef>
                <a:spcPts val="330"/>
              </a:spcBef>
            </a:pPr>
            <a:r>
              <a:rPr dirty="0" sz="1500" spc="-20">
                <a:latin typeface="Arial MT"/>
                <a:cs typeface="Arial MT"/>
              </a:rPr>
              <a:t>M-</a:t>
            </a:r>
            <a:r>
              <a:rPr dirty="0" sz="1500" spc="-25">
                <a:latin typeface="Arial MT"/>
                <a:cs typeface="Arial MT"/>
              </a:rPr>
              <a:t>MTC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70039" y="2767799"/>
            <a:ext cx="1212215" cy="323215"/>
          </a:xfrm>
          <a:prstGeom prst="rect">
            <a:avLst/>
          </a:prstGeom>
          <a:solidFill>
            <a:srgbClr val="7030A0"/>
          </a:solidFill>
          <a:ln w="9525">
            <a:solidFill>
              <a:srgbClr val="C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308610">
              <a:lnSpc>
                <a:spcPct val="100000"/>
              </a:lnSpc>
              <a:spcBef>
                <a:spcPts val="330"/>
              </a:spcBef>
            </a:pPr>
            <a:r>
              <a:rPr dirty="0" sz="1500" spc="-10">
                <a:solidFill>
                  <a:srgbClr val="FFFFFF"/>
                </a:solidFill>
                <a:latin typeface="Arial MT"/>
                <a:cs typeface="Arial MT"/>
              </a:rPr>
              <a:t>uRLLC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567423" y="1110678"/>
            <a:ext cx="7193915" cy="2311400"/>
            <a:chOff x="1567423" y="1110678"/>
            <a:chExt cx="7193915" cy="2311400"/>
          </a:xfrm>
        </p:grpSpPr>
        <p:sp>
          <p:nvSpPr>
            <p:cNvPr id="38" name="object 38" descr=""/>
            <p:cNvSpPr/>
            <p:nvPr/>
          </p:nvSpPr>
          <p:spPr>
            <a:xfrm>
              <a:off x="1581711" y="1416883"/>
              <a:ext cx="392430" cy="243204"/>
            </a:xfrm>
            <a:custGeom>
              <a:avLst/>
              <a:gdLst/>
              <a:ahLst/>
              <a:cxnLst/>
              <a:rect l="l" t="t" r="r" b="b"/>
              <a:pathLst>
                <a:path w="392430" h="243205">
                  <a:moveTo>
                    <a:pt x="0" y="242938"/>
                  </a:moveTo>
                  <a:lnTo>
                    <a:pt x="392176" y="0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874671" y="1416883"/>
              <a:ext cx="99695" cy="88265"/>
            </a:xfrm>
            <a:custGeom>
              <a:avLst/>
              <a:gdLst/>
              <a:ahLst/>
              <a:cxnLst/>
              <a:rect l="l" t="t" r="r" b="b"/>
              <a:pathLst>
                <a:path w="99694" h="88265">
                  <a:moveTo>
                    <a:pt x="0" y="2628"/>
                  </a:moveTo>
                  <a:lnTo>
                    <a:pt x="99212" y="0"/>
                  </a:lnTo>
                  <a:lnTo>
                    <a:pt x="52666" y="87655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581711" y="1655719"/>
              <a:ext cx="387985" cy="4445"/>
            </a:xfrm>
            <a:custGeom>
              <a:avLst/>
              <a:gdLst/>
              <a:ahLst/>
              <a:cxnLst/>
              <a:rect l="l" t="t" r="r" b="b"/>
              <a:pathLst>
                <a:path w="387985" h="4444">
                  <a:moveTo>
                    <a:pt x="0" y="4102"/>
                  </a:moveTo>
                  <a:lnTo>
                    <a:pt x="387934" y="0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883395" y="1606618"/>
              <a:ext cx="86360" cy="100330"/>
            </a:xfrm>
            <a:custGeom>
              <a:avLst/>
              <a:gdLst/>
              <a:ahLst/>
              <a:cxnLst/>
              <a:rect l="l" t="t" r="r" b="b"/>
              <a:pathLst>
                <a:path w="86360" h="100330">
                  <a:moveTo>
                    <a:pt x="0" y="0"/>
                  </a:moveTo>
                  <a:lnTo>
                    <a:pt x="86245" y="49098"/>
                  </a:lnTo>
                  <a:lnTo>
                    <a:pt x="1054" y="100012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81711" y="1659821"/>
              <a:ext cx="392430" cy="236220"/>
            </a:xfrm>
            <a:custGeom>
              <a:avLst/>
              <a:gdLst/>
              <a:ahLst/>
              <a:cxnLst/>
              <a:rect l="l" t="t" r="r" b="b"/>
              <a:pathLst>
                <a:path w="392430" h="236219">
                  <a:moveTo>
                    <a:pt x="0" y="0"/>
                  </a:moveTo>
                  <a:lnTo>
                    <a:pt x="391972" y="235661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874450" y="1808448"/>
              <a:ext cx="99695" cy="87630"/>
            </a:xfrm>
            <a:custGeom>
              <a:avLst/>
              <a:gdLst/>
              <a:ahLst/>
              <a:cxnLst/>
              <a:rect l="l" t="t" r="r" b="b"/>
              <a:pathLst>
                <a:path w="99694" h="87630">
                  <a:moveTo>
                    <a:pt x="51536" y="0"/>
                  </a:moveTo>
                  <a:lnTo>
                    <a:pt x="99237" y="87033"/>
                  </a:lnTo>
                  <a:lnTo>
                    <a:pt x="0" y="85712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581711" y="1659821"/>
              <a:ext cx="398780" cy="481965"/>
            </a:xfrm>
            <a:custGeom>
              <a:avLst/>
              <a:gdLst/>
              <a:ahLst/>
              <a:cxnLst/>
              <a:rect l="l" t="t" r="r" b="b"/>
              <a:pathLst>
                <a:path w="398780" h="481964">
                  <a:moveTo>
                    <a:pt x="0" y="0"/>
                  </a:moveTo>
                  <a:lnTo>
                    <a:pt x="398195" y="481469"/>
                  </a:lnTo>
                </a:path>
              </a:pathLst>
            </a:custGeom>
            <a:ln w="28574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86731" y="2043356"/>
              <a:ext cx="93345" cy="98425"/>
            </a:xfrm>
            <a:custGeom>
              <a:avLst/>
              <a:gdLst/>
              <a:ahLst/>
              <a:cxnLst/>
              <a:rect l="l" t="t" r="r" b="b"/>
              <a:pathLst>
                <a:path w="93344" h="98425">
                  <a:moveTo>
                    <a:pt x="77076" y="0"/>
                  </a:moveTo>
                  <a:lnTo>
                    <a:pt x="93167" y="97929"/>
                  </a:lnTo>
                  <a:lnTo>
                    <a:pt x="0" y="63741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81711" y="1659821"/>
              <a:ext cx="403225" cy="733425"/>
            </a:xfrm>
            <a:custGeom>
              <a:avLst/>
              <a:gdLst/>
              <a:ahLst/>
              <a:cxnLst/>
              <a:rect l="l" t="t" r="r" b="b"/>
              <a:pathLst>
                <a:path w="403225" h="733425">
                  <a:moveTo>
                    <a:pt x="0" y="0"/>
                  </a:moveTo>
                  <a:lnTo>
                    <a:pt x="402602" y="733107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899217" y="2293713"/>
              <a:ext cx="88265" cy="99695"/>
            </a:xfrm>
            <a:custGeom>
              <a:avLst/>
              <a:gdLst/>
              <a:ahLst/>
              <a:cxnLst/>
              <a:rect l="l" t="t" r="r" b="b"/>
              <a:pathLst>
                <a:path w="88264" h="99694">
                  <a:moveTo>
                    <a:pt x="87668" y="0"/>
                  </a:moveTo>
                  <a:lnTo>
                    <a:pt x="85102" y="99212"/>
                  </a:lnTo>
                  <a:lnTo>
                    <a:pt x="0" y="48133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581711" y="1659821"/>
              <a:ext cx="405765" cy="984885"/>
            </a:xfrm>
            <a:custGeom>
              <a:avLst/>
              <a:gdLst/>
              <a:ahLst/>
              <a:cxnLst/>
              <a:rect l="l" t="t" r="r" b="b"/>
              <a:pathLst>
                <a:path w="405764" h="984885">
                  <a:moveTo>
                    <a:pt x="0" y="0"/>
                  </a:moveTo>
                  <a:lnTo>
                    <a:pt x="405447" y="984770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908288" y="2546287"/>
              <a:ext cx="92710" cy="98425"/>
            </a:xfrm>
            <a:custGeom>
              <a:avLst/>
              <a:gdLst/>
              <a:ahLst/>
              <a:cxnLst/>
              <a:rect l="l" t="t" r="r" b="b"/>
              <a:pathLst>
                <a:path w="92710" h="98425">
                  <a:moveTo>
                    <a:pt x="92481" y="0"/>
                  </a:moveTo>
                  <a:lnTo>
                    <a:pt x="78867" y="98310"/>
                  </a:lnTo>
                  <a:lnTo>
                    <a:pt x="0" y="38074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581711" y="1678920"/>
              <a:ext cx="400685" cy="597535"/>
            </a:xfrm>
            <a:custGeom>
              <a:avLst/>
              <a:gdLst/>
              <a:ahLst/>
              <a:cxnLst/>
              <a:rect l="l" t="t" r="r" b="b"/>
              <a:pathLst>
                <a:path w="400685" h="597535">
                  <a:moveTo>
                    <a:pt x="0" y="597293"/>
                  </a:moveTo>
                  <a:lnTo>
                    <a:pt x="400469" y="0"/>
                  </a:lnTo>
                </a:path>
              </a:pathLst>
            </a:custGeom>
            <a:ln w="2857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92899" y="1678924"/>
              <a:ext cx="89535" cy="99060"/>
            </a:xfrm>
            <a:custGeom>
              <a:avLst/>
              <a:gdLst/>
              <a:ahLst/>
              <a:cxnLst/>
              <a:rect l="l" t="t" r="r" b="b"/>
              <a:pathLst>
                <a:path w="89535" h="99060">
                  <a:moveTo>
                    <a:pt x="0" y="43345"/>
                  </a:moveTo>
                  <a:lnTo>
                    <a:pt x="89281" y="0"/>
                  </a:lnTo>
                  <a:lnTo>
                    <a:pt x="83070" y="99047"/>
                  </a:lnTo>
                </a:path>
              </a:pathLst>
            </a:custGeom>
            <a:ln w="2857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581711" y="2276214"/>
              <a:ext cx="401320" cy="625475"/>
            </a:xfrm>
            <a:custGeom>
              <a:avLst/>
              <a:gdLst/>
              <a:ahLst/>
              <a:cxnLst/>
              <a:rect l="l" t="t" r="r" b="b"/>
              <a:pathLst>
                <a:path w="401319" h="625475">
                  <a:moveTo>
                    <a:pt x="0" y="0"/>
                  </a:moveTo>
                  <a:lnTo>
                    <a:pt x="400951" y="625360"/>
                  </a:lnTo>
                </a:path>
              </a:pathLst>
            </a:custGeom>
            <a:ln w="2857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894292" y="2802412"/>
              <a:ext cx="88900" cy="99695"/>
            </a:xfrm>
            <a:custGeom>
              <a:avLst/>
              <a:gdLst/>
              <a:ahLst/>
              <a:cxnLst/>
              <a:rect l="l" t="t" r="r" b="b"/>
              <a:pathLst>
                <a:path w="88900" h="99694">
                  <a:moveTo>
                    <a:pt x="84200" y="0"/>
                  </a:moveTo>
                  <a:lnTo>
                    <a:pt x="88366" y="99161"/>
                  </a:lnTo>
                  <a:lnTo>
                    <a:pt x="0" y="53975"/>
                  </a:lnTo>
                </a:path>
              </a:pathLst>
            </a:custGeom>
            <a:ln w="2857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81711" y="2929384"/>
              <a:ext cx="392430" cy="234950"/>
            </a:xfrm>
            <a:custGeom>
              <a:avLst/>
              <a:gdLst/>
              <a:ahLst/>
              <a:cxnLst/>
              <a:rect l="l" t="t" r="r" b="b"/>
              <a:pathLst>
                <a:path w="392430" h="234950">
                  <a:moveTo>
                    <a:pt x="0" y="0"/>
                  </a:moveTo>
                  <a:lnTo>
                    <a:pt x="391947" y="234505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874412" y="3076962"/>
              <a:ext cx="99695" cy="86995"/>
            </a:xfrm>
            <a:custGeom>
              <a:avLst/>
              <a:gdLst/>
              <a:ahLst/>
              <a:cxnLst/>
              <a:rect l="l" t="t" r="r" b="b"/>
              <a:pathLst>
                <a:path w="99694" h="86994">
                  <a:moveTo>
                    <a:pt x="51358" y="0"/>
                  </a:moveTo>
                  <a:lnTo>
                    <a:pt x="99237" y="86931"/>
                  </a:lnTo>
                  <a:lnTo>
                    <a:pt x="0" y="85826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81711" y="2685684"/>
              <a:ext cx="392430" cy="243840"/>
            </a:xfrm>
            <a:custGeom>
              <a:avLst/>
              <a:gdLst/>
              <a:ahLst/>
              <a:cxnLst/>
              <a:rect l="l" t="t" r="r" b="b"/>
              <a:pathLst>
                <a:path w="392430" h="243839">
                  <a:moveTo>
                    <a:pt x="0" y="243700"/>
                  </a:moveTo>
                  <a:lnTo>
                    <a:pt x="392188" y="0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874695" y="2685680"/>
              <a:ext cx="99695" cy="88265"/>
            </a:xfrm>
            <a:custGeom>
              <a:avLst/>
              <a:gdLst/>
              <a:ahLst/>
              <a:cxnLst/>
              <a:rect l="l" t="t" r="r" b="b"/>
              <a:pathLst>
                <a:path w="99694" h="88264">
                  <a:moveTo>
                    <a:pt x="0" y="2768"/>
                  </a:moveTo>
                  <a:lnTo>
                    <a:pt x="99199" y="0"/>
                  </a:lnTo>
                  <a:lnTo>
                    <a:pt x="52781" y="87718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533811" y="1151445"/>
              <a:ext cx="2021205" cy="1193165"/>
            </a:xfrm>
            <a:custGeom>
              <a:avLst/>
              <a:gdLst/>
              <a:ahLst/>
              <a:cxnLst/>
              <a:rect l="l" t="t" r="r" b="b"/>
              <a:pathLst>
                <a:path w="2021204" h="1193164">
                  <a:moveTo>
                    <a:pt x="0" y="0"/>
                  </a:moveTo>
                  <a:lnTo>
                    <a:pt x="2021001" y="0"/>
                  </a:lnTo>
                  <a:lnTo>
                    <a:pt x="2021001" y="1192809"/>
                  </a:lnTo>
                  <a:lnTo>
                    <a:pt x="0" y="119280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784606" y="2066749"/>
              <a:ext cx="419734" cy="243840"/>
            </a:xfrm>
            <a:custGeom>
              <a:avLst/>
              <a:gdLst/>
              <a:ahLst/>
              <a:cxnLst/>
              <a:rect l="l" t="t" r="r" b="b"/>
              <a:pathLst>
                <a:path w="419735" h="243839">
                  <a:moveTo>
                    <a:pt x="297383" y="0"/>
                  </a:moveTo>
                  <a:lnTo>
                    <a:pt x="297383" y="60960"/>
                  </a:lnTo>
                  <a:lnTo>
                    <a:pt x="0" y="60960"/>
                  </a:lnTo>
                  <a:lnTo>
                    <a:pt x="0" y="182880"/>
                  </a:lnTo>
                  <a:lnTo>
                    <a:pt x="297383" y="182880"/>
                  </a:lnTo>
                  <a:lnTo>
                    <a:pt x="297383" y="243840"/>
                  </a:lnTo>
                  <a:lnTo>
                    <a:pt x="419303" y="121920"/>
                  </a:lnTo>
                  <a:lnTo>
                    <a:pt x="297383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784606" y="2066749"/>
              <a:ext cx="419734" cy="243840"/>
            </a:xfrm>
            <a:custGeom>
              <a:avLst/>
              <a:gdLst/>
              <a:ahLst/>
              <a:cxnLst/>
              <a:rect l="l" t="t" r="r" b="b"/>
              <a:pathLst>
                <a:path w="419735" h="243839">
                  <a:moveTo>
                    <a:pt x="0" y="60960"/>
                  </a:moveTo>
                  <a:lnTo>
                    <a:pt x="297383" y="60960"/>
                  </a:lnTo>
                  <a:lnTo>
                    <a:pt x="297383" y="0"/>
                  </a:lnTo>
                  <a:lnTo>
                    <a:pt x="419303" y="121920"/>
                  </a:lnTo>
                  <a:lnTo>
                    <a:pt x="297383" y="243840"/>
                  </a:lnTo>
                  <a:lnTo>
                    <a:pt x="297383" y="182880"/>
                  </a:lnTo>
                  <a:lnTo>
                    <a:pt x="0" y="182880"/>
                  </a:lnTo>
                  <a:lnTo>
                    <a:pt x="0" y="6096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273296" y="1123378"/>
              <a:ext cx="4475480" cy="2286000"/>
            </a:xfrm>
            <a:custGeom>
              <a:avLst/>
              <a:gdLst/>
              <a:ahLst/>
              <a:cxnLst/>
              <a:rect l="l" t="t" r="r" b="b"/>
              <a:pathLst>
                <a:path w="4475480" h="2286000">
                  <a:moveTo>
                    <a:pt x="0" y="0"/>
                  </a:moveTo>
                  <a:lnTo>
                    <a:pt x="4475175" y="0"/>
                  </a:lnTo>
                  <a:lnTo>
                    <a:pt x="4475175" y="2285695"/>
                  </a:lnTo>
                  <a:lnTo>
                    <a:pt x="0" y="228569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517920" y="1438362"/>
              <a:ext cx="210185" cy="1717039"/>
            </a:xfrm>
            <a:custGeom>
              <a:avLst/>
              <a:gdLst/>
              <a:ahLst/>
              <a:cxnLst/>
              <a:rect l="l" t="t" r="r" b="b"/>
              <a:pathLst>
                <a:path w="210185" h="1717039">
                  <a:moveTo>
                    <a:pt x="0" y="0"/>
                  </a:moveTo>
                  <a:lnTo>
                    <a:pt x="40805" y="1373"/>
                  </a:lnTo>
                  <a:lnTo>
                    <a:pt x="74125" y="5118"/>
                  </a:lnTo>
                  <a:lnTo>
                    <a:pt x="96588" y="10672"/>
                  </a:lnTo>
                  <a:lnTo>
                    <a:pt x="104825" y="17475"/>
                  </a:lnTo>
                  <a:lnTo>
                    <a:pt x="104825" y="723493"/>
                  </a:lnTo>
                  <a:lnTo>
                    <a:pt x="113064" y="730296"/>
                  </a:lnTo>
                  <a:lnTo>
                    <a:pt x="135531" y="735850"/>
                  </a:lnTo>
                  <a:lnTo>
                    <a:pt x="168851" y="739595"/>
                  </a:lnTo>
                  <a:lnTo>
                    <a:pt x="209651" y="740968"/>
                  </a:lnTo>
                  <a:lnTo>
                    <a:pt x="168851" y="742341"/>
                  </a:lnTo>
                  <a:lnTo>
                    <a:pt x="135531" y="746085"/>
                  </a:lnTo>
                  <a:lnTo>
                    <a:pt x="113064" y="751636"/>
                  </a:lnTo>
                  <a:lnTo>
                    <a:pt x="104825" y="758431"/>
                  </a:lnTo>
                  <a:lnTo>
                    <a:pt x="104825" y="1698993"/>
                  </a:lnTo>
                  <a:lnTo>
                    <a:pt x="96588" y="1705795"/>
                  </a:lnTo>
                  <a:lnTo>
                    <a:pt x="74125" y="1711350"/>
                  </a:lnTo>
                  <a:lnTo>
                    <a:pt x="40805" y="1715095"/>
                  </a:lnTo>
                  <a:lnTo>
                    <a:pt x="0" y="1716468"/>
                  </a:lnTo>
                </a:path>
              </a:pathLst>
            </a:custGeom>
            <a:ln w="381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4546511" y="1127422"/>
            <a:ext cx="1995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276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TDD</a:t>
            </a:r>
            <a:r>
              <a:rPr dirty="0" sz="1200" spc="-15" b="1">
                <a:solidFill>
                  <a:srgbClr val="FF0000"/>
                </a:solidFill>
                <a:latin typeface="Microsoft YaHei"/>
                <a:cs typeface="Microsoft YaHei"/>
              </a:rPr>
              <a:t>优势技术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6751764" y="1161846"/>
            <a:ext cx="1773555" cy="206375"/>
            <a:chOff x="6751764" y="1161846"/>
            <a:chExt cx="1773555" cy="206375"/>
          </a:xfrm>
        </p:grpSpPr>
        <p:sp>
          <p:nvSpPr>
            <p:cNvPr id="65" name="object 65" descr=""/>
            <p:cNvSpPr/>
            <p:nvPr/>
          </p:nvSpPr>
          <p:spPr>
            <a:xfrm>
              <a:off x="6764464" y="1174546"/>
              <a:ext cx="1748155" cy="180975"/>
            </a:xfrm>
            <a:custGeom>
              <a:avLst/>
              <a:gdLst/>
              <a:ahLst/>
              <a:cxnLst/>
              <a:rect l="l" t="t" r="r" b="b"/>
              <a:pathLst>
                <a:path w="1748154" h="180975">
                  <a:moveTo>
                    <a:pt x="1748142" y="0"/>
                  </a:moveTo>
                  <a:lnTo>
                    <a:pt x="0" y="0"/>
                  </a:lnTo>
                  <a:lnTo>
                    <a:pt x="0" y="180682"/>
                  </a:lnTo>
                  <a:lnTo>
                    <a:pt x="1748142" y="180682"/>
                  </a:lnTo>
                  <a:lnTo>
                    <a:pt x="174814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764464" y="1174546"/>
              <a:ext cx="1748155" cy="180975"/>
            </a:xfrm>
            <a:custGeom>
              <a:avLst/>
              <a:gdLst/>
              <a:ahLst/>
              <a:cxnLst/>
              <a:rect l="l" t="t" r="r" b="b"/>
              <a:pathLst>
                <a:path w="1748154" h="180975">
                  <a:moveTo>
                    <a:pt x="0" y="0"/>
                  </a:moveTo>
                  <a:lnTo>
                    <a:pt x="1748142" y="0"/>
                  </a:lnTo>
                  <a:lnTo>
                    <a:pt x="1748142" y="180682"/>
                  </a:lnTo>
                  <a:lnTo>
                    <a:pt x="0" y="18068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7092243" y="1155407"/>
            <a:ext cx="1092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控制与转发分离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6764464" y="1407985"/>
            <a:ext cx="1748155" cy="181610"/>
          </a:xfrm>
          <a:custGeom>
            <a:avLst/>
            <a:gdLst/>
            <a:ahLst/>
            <a:cxnLst/>
            <a:rect l="l" t="t" r="r" b="b"/>
            <a:pathLst>
              <a:path w="1748154" h="181609">
                <a:moveTo>
                  <a:pt x="0" y="0"/>
                </a:moveTo>
                <a:lnTo>
                  <a:pt x="1748142" y="0"/>
                </a:lnTo>
                <a:lnTo>
                  <a:pt x="1748142" y="181483"/>
                </a:lnTo>
                <a:lnTo>
                  <a:pt x="0" y="18148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6777164" y="1394307"/>
            <a:ext cx="1722755" cy="210820"/>
          </a:xfrm>
          <a:prstGeom prst="rect">
            <a:avLst/>
          </a:prstGeom>
          <a:solidFill>
            <a:srgbClr val="FF6600"/>
          </a:solidFill>
        </p:spPr>
        <p:txBody>
          <a:bodyPr wrap="square" lIns="0" tIns="7620" rIns="0" bIns="0" rtlCol="0" vert="horz">
            <a:spAutoFit/>
          </a:bodyPr>
          <a:lstStyle/>
          <a:p>
            <a:pPr marL="403860">
              <a:lnSpc>
                <a:spcPct val="100000"/>
              </a:lnSpc>
              <a:spcBef>
                <a:spcPts val="60"/>
              </a:spcBef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移动边缘计算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6764464" y="1645424"/>
            <a:ext cx="1748155" cy="290830"/>
          </a:xfrm>
          <a:custGeom>
            <a:avLst/>
            <a:gdLst/>
            <a:ahLst/>
            <a:cxnLst/>
            <a:rect l="l" t="t" r="r" b="b"/>
            <a:pathLst>
              <a:path w="1748154" h="290830">
                <a:moveTo>
                  <a:pt x="0" y="0"/>
                </a:moveTo>
                <a:lnTo>
                  <a:pt x="1748142" y="0"/>
                </a:lnTo>
                <a:lnTo>
                  <a:pt x="1748142" y="290207"/>
                </a:lnTo>
                <a:lnTo>
                  <a:pt x="0" y="29020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6777164" y="1630146"/>
            <a:ext cx="1722755" cy="318135"/>
          </a:xfrm>
          <a:prstGeom prst="rect">
            <a:avLst/>
          </a:prstGeom>
          <a:solidFill>
            <a:srgbClr val="FF6600"/>
          </a:solidFill>
        </p:spPr>
        <p:txBody>
          <a:bodyPr wrap="square" lIns="0" tIns="63500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500"/>
              </a:spcBef>
            </a:pPr>
            <a:r>
              <a:rPr dirty="0" sz="1200" spc="-5" b="1">
                <a:solidFill>
                  <a:srgbClr val="FFFFFF"/>
                </a:solidFill>
                <a:latin typeface="Microsoft YaHei"/>
                <a:cs typeface="Microsoft YaHei"/>
              </a:rPr>
              <a:t>新型移动性和连接管理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6764464" y="1985200"/>
            <a:ext cx="1748155" cy="168275"/>
          </a:xfrm>
          <a:custGeom>
            <a:avLst/>
            <a:gdLst/>
            <a:ahLst/>
            <a:cxnLst/>
            <a:rect l="l" t="t" r="r" b="b"/>
            <a:pathLst>
              <a:path w="1748154" h="168275">
                <a:moveTo>
                  <a:pt x="0" y="0"/>
                </a:moveTo>
                <a:lnTo>
                  <a:pt x="1748142" y="0"/>
                </a:lnTo>
                <a:lnTo>
                  <a:pt x="1748142" y="167894"/>
                </a:lnTo>
                <a:lnTo>
                  <a:pt x="0" y="167894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595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6777164" y="1973116"/>
            <a:ext cx="1722755" cy="193675"/>
          </a:xfrm>
          <a:prstGeom prst="rect">
            <a:avLst/>
          </a:prstGeom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403860">
              <a:lnSpc>
                <a:spcPts val="1435"/>
              </a:lnSpc>
            </a:pP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网络功能重构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6764464" y="2205863"/>
            <a:ext cx="1748155" cy="168275"/>
          </a:xfrm>
          <a:custGeom>
            <a:avLst/>
            <a:gdLst/>
            <a:ahLst/>
            <a:cxnLst/>
            <a:rect l="l" t="t" r="r" b="b"/>
            <a:pathLst>
              <a:path w="1748154" h="168275">
                <a:moveTo>
                  <a:pt x="0" y="0"/>
                </a:moveTo>
                <a:lnTo>
                  <a:pt x="1748142" y="0"/>
                </a:lnTo>
                <a:lnTo>
                  <a:pt x="1748142" y="167894"/>
                </a:lnTo>
                <a:lnTo>
                  <a:pt x="0" y="167894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6777164" y="2192178"/>
            <a:ext cx="1722755" cy="128270"/>
          </a:xfrm>
          <a:prstGeom prst="rect">
            <a:avLst/>
          </a:prstGeom>
          <a:solidFill>
            <a:srgbClr val="72BFC5"/>
          </a:solidFill>
        </p:spPr>
        <p:txBody>
          <a:bodyPr wrap="square" lIns="0" tIns="635" rIns="0" bIns="0" rtlCol="0" vert="horz">
            <a:spAutoFit/>
          </a:bodyPr>
          <a:lstStyle/>
          <a:p>
            <a:pPr marL="556260">
              <a:lnSpc>
                <a:spcPts val="1000"/>
              </a:lnSpc>
              <a:spcBef>
                <a:spcPts val="5"/>
              </a:spcBef>
            </a:pPr>
            <a:r>
              <a:rPr dirty="0" sz="1200" spc="-15" b="1">
                <a:solidFill>
                  <a:srgbClr val="FFFFFF"/>
                </a:solidFill>
                <a:latin typeface="Microsoft YaHei"/>
                <a:cs typeface="Microsoft YaHei"/>
              </a:rPr>
              <a:t>网络切片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6764464" y="2423312"/>
            <a:ext cx="1748155" cy="254635"/>
          </a:xfrm>
          <a:custGeom>
            <a:avLst/>
            <a:gdLst/>
            <a:ahLst/>
            <a:cxnLst/>
            <a:rect l="l" t="t" r="r" b="b"/>
            <a:pathLst>
              <a:path w="1748154" h="254635">
                <a:moveTo>
                  <a:pt x="0" y="0"/>
                </a:moveTo>
                <a:lnTo>
                  <a:pt x="1748142" y="0"/>
                </a:lnTo>
                <a:lnTo>
                  <a:pt x="1748142" y="254228"/>
                </a:lnTo>
                <a:lnTo>
                  <a:pt x="0" y="254228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6764464" y="2423312"/>
            <a:ext cx="1748155" cy="25463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29845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235"/>
              </a:spcBef>
            </a:pPr>
            <a:r>
              <a:rPr dirty="0" sz="1200" b="1">
                <a:solidFill>
                  <a:srgbClr val="FFFFFF"/>
                </a:solidFill>
                <a:latin typeface="Microsoft YaHei"/>
                <a:cs typeface="Microsoft YaHei"/>
              </a:rPr>
              <a:t>新型的统一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QoS</a:t>
            </a:r>
            <a:r>
              <a:rPr dirty="0" sz="1200" spc="-25" b="1">
                <a:solidFill>
                  <a:srgbClr val="FFFFFF"/>
                </a:solidFill>
                <a:latin typeface="Microsoft YaHei"/>
                <a:cs typeface="Microsoft YaHei"/>
              </a:rPr>
              <a:t>框架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6764464" y="2733509"/>
            <a:ext cx="1748155" cy="181610"/>
          </a:xfrm>
          <a:custGeom>
            <a:avLst/>
            <a:gdLst/>
            <a:ahLst/>
            <a:cxnLst/>
            <a:rect l="l" t="t" r="r" b="b"/>
            <a:pathLst>
              <a:path w="1748154" h="181610">
                <a:moveTo>
                  <a:pt x="0" y="0"/>
                </a:moveTo>
                <a:lnTo>
                  <a:pt x="1748142" y="0"/>
                </a:lnTo>
                <a:lnTo>
                  <a:pt x="1748142" y="181482"/>
                </a:lnTo>
                <a:lnTo>
                  <a:pt x="0" y="18148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 txBox="1"/>
          <p:nvPr/>
        </p:nvSpPr>
        <p:spPr>
          <a:xfrm>
            <a:off x="6777164" y="2714774"/>
            <a:ext cx="1722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Microsoft YaHei"/>
                <a:cs typeface="Microsoft YaHei"/>
              </a:rPr>
              <a:t>平台及管理编排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764464" y="2987751"/>
            <a:ext cx="1748155" cy="1809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16559">
              <a:lnSpc>
                <a:spcPts val="1390"/>
              </a:lnSpc>
            </a:pPr>
            <a:r>
              <a:rPr dirty="0" sz="1200" spc="-10" b="1">
                <a:latin typeface="Microsoft YaHei"/>
                <a:cs typeface="Microsoft YaHei"/>
              </a:rPr>
              <a:t>网络能力开放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724590" y="3129700"/>
            <a:ext cx="1633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8775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Microsoft YaHei"/>
                <a:cs typeface="Microsoft YaHei"/>
              </a:rPr>
              <a:t>信道</a:t>
            </a:r>
            <a:r>
              <a:rPr dirty="0" baseline="-32407" sz="1800" spc="-1800" b="1">
                <a:latin typeface="Arial"/>
                <a:cs typeface="Arial"/>
              </a:rPr>
              <a:t>…</a:t>
            </a:r>
            <a:r>
              <a:rPr dirty="0" sz="1200" spc="-10" b="1">
                <a:latin typeface="Microsoft YaHei"/>
                <a:cs typeface="Microsoft YaHei"/>
              </a:rPr>
              <a:t>编</a:t>
            </a:r>
            <a:r>
              <a:rPr dirty="0" baseline="-32407" sz="1800" spc="-1800" b="1">
                <a:latin typeface="Arial"/>
                <a:cs typeface="Arial"/>
              </a:rPr>
              <a:t>…</a:t>
            </a:r>
            <a:r>
              <a:rPr dirty="0" sz="1200" spc="-20" b="1">
                <a:latin typeface="Microsoft YaHei"/>
                <a:cs typeface="Microsoft YaHei"/>
              </a:rPr>
              <a:t>码调制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7473701" y="3132440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……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 descr=""/>
          <p:cNvSpPr/>
          <p:nvPr/>
        </p:nvSpPr>
        <p:spPr>
          <a:xfrm>
            <a:off x="4744999" y="2930982"/>
            <a:ext cx="1608455" cy="181610"/>
          </a:xfrm>
          <a:custGeom>
            <a:avLst/>
            <a:gdLst/>
            <a:ahLst/>
            <a:cxnLst/>
            <a:rect l="l" t="t" r="r" b="b"/>
            <a:pathLst>
              <a:path w="1608454" h="181610">
                <a:moveTo>
                  <a:pt x="0" y="0"/>
                </a:moveTo>
                <a:lnTo>
                  <a:pt x="1607858" y="0"/>
                </a:lnTo>
                <a:lnTo>
                  <a:pt x="1607858" y="181482"/>
                </a:lnTo>
                <a:lnTo>
                  <a:pt x="0" y="18148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 txBox="1"/>
          <p:nvPr/>
        </p:nvSpPr>
        <p:spPr>
          <a:xfrm>
            <a:off x="4749990" y="2912244"/>
            <a:ext cx="1583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Microsoft YaHei"/>
                <a:cs typeface="Microsoft YaHei"/>
              </a:rPr>
              <a:t>新波形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85" name="object 8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19" y="3435846"/>
            <a:ext cx="8568947" cy="14141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51" y="133571"/>
            <a:ext cx="50177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工信部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网络整体工作规划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0318" y="3056373"/>
            <a:ext cx="8016875" cy="188912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Times New Roman"/>
                <a:cs typeface="Times New Roman"/>
              </a:rPr>
              <a:t>5G</a:t>
            </a:r>
            <a:r>
              <a:rPr dirty="0" sz="1600" spc="-15">
                <a:latin typeface="SimSun"/>
                <a:cs typeface="SimSun"/>
              </a:rPr>
              <a:t>技术研发试验划分为三个阶段：</a:t>
            </a:r>
            <a:endParaRPr sz="16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800">
                <a:latin typeface="SimSun"/>
                <a:cs typeface="SimSun"/>
              </a:rPr>
              <a:t>阶段</a:t>
            </a:r>
            <a:r>
              <a:rPr dirty="0" sz="1800" b="1">
                <a:latin typeface="Times New Roman"/>
                <a:cs typeface="Times New Roman"/>
              </a:rPr>
              <a:t>1</a:t>
            </a:r>
            <a:r>
              <a:rPr dirty="0" sz="1800">
                <a:latin typeface="SimSun"/>
                <a:cs typeface="SimSun"/>
              </a:rPr>
              <a:t>：关键技术验证</a:t>
            </a:r>
            <a:r>
              <a:rPr dirty="0" sz="1800" spc="-10">
                <a:latin typeface="SimSun"/>
                <a:cs typeface="SimSun"/>
              </a:rPr>
              <a:t>（</a:t>
            </a:r>
            <a:r>
              <a:rPr dirty="0" sz="1800" spc="-10" b="1">
                <a:latin typeface="Times New Roman"/>
                <a:cs typeface="Times New Roman"/>
              </a:rPr>
              <a:t>2016.01-2016.09</a:t>
            </a:r>
            <a:r>
              <a:rPr dirty="0" sz="1800" spc="-10">
                <a:latin typeface="SimSun"/>
                <a:cs typeface="SimSun"/>
              </a:rPr>
              <a:t>）：</a:t>
            </a:r>
            <a:endParaRPr sz="1800">
              <a:latin typeface="SimSun"/>
              <a:cs typeface="SimSun"/>
            </a:endParaRPr>
          </a:p>
          <a:p>
            <a:pPr lvl="1" marL="755015" indent="-285115">
              <a:lnSpc>
                <a:spcPct val="100000"/>
              </a:lnSpc>
              <a:spcBef>
                <a:spcPts val="395"/>
              </a:spcBef>
              <a:buFont typeface="Times New Roman"/>
              <a:buChar char="–"/>
              <a:tabLst>
                <a:tab pos="755015" algn="l"/>
              </a:tabLst>
            </a:pPr>
            <a:r>
              <a:rPr dirty="0" sz="1600">
                <a:latin typeface="SimSun"/>
                <a:cs typeface="SimSun"/>
              </a:rPr>
              <a:t>验证</a:t>
            </a:r>
            <a:r>
              <a:rPr dirty="0" sz="1600">
                <a:latin typeface="Times New Roman"/>
                <a:cs typeface="Times New Roman"/>
              </a:rPr>
              <a:t>5G</a:t>
            </a:r>
            <a:r>
              <a:rPr dirty="0" sz="1600" spc="-10">
                <a:latin typeface="SimSun"/>
                <a:cs typeface="SimSun"/>
              </a:rPr>
              <a:t>关键技术性能，加快推进</a:t>
            </a:r>
            <a:r>
              <a:rPr dirty="0" sz="1600" spc="-10">
                <a:latin typeface="Times New Roman"/>
                <a:cs typeface="Times New Roman"/>
              </a:rPr>
              <a:t>5G</a:t>
            </a:r>
            <a:r>
              <a:rPr dirty="0" sz="1600" spc="-10">
                <a:latin typeface="SimSun"/>
                <a:cs typeface="SimSun"/>
              </a:rPr>
              <a:t>关键技术研发，推劢</a:t>
            </a:r>
            <a:r>
              <a:rPr dirty="0" sz="1600" spc="-10">
                <a:latin typeface="Times New Roman"/>
                <a:cs typeface="Times New Roman"/>
              </a:rPr>
              <a:t>5G</a:t>
            </a:r>
            <a:r>
              <a:rPr dirty="0" sz="1600" spc="-15">
                <a:latin typeface="SimSun"/>
                <a:cs typeface="SimSun"/>
              </a:rPr>
              <a:t>关键技术标准共识形成</a:t>
            </a:r>
            <a:endParaRPr sz="16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800">
                <a:latin typeface="SimSun"/>
                <a:cs typeface="SimSun"/>
              </a:rPr>
              <a:t>阶段</a:t>
            </a:r>
            <a:r>
              <a:rPr dirty="0" sz="1800" b="1">
                <a:latin typeface="Times New Roman"/>
                <a:cs typeface="Times New Roman"/>
              </a:rPr>
              <a:t>2</a:t>
            </a:r>
            <a:r>
              <a:rPr dirty="0" sz="1800">
                <a:latin typeface="SimSun"/>
                <a:cs typeface="SimSun"/>
              </a:rPr>
              <a:t>：技术方案验证</a:t>
            </a:r>
            <a:r>
              <a:rPr dirty="0" sz="1800" spc="-10">
                <a:latin typeface="SimSun"/>
                <a:cs typeface="SimSun"/>
              </a:rPr>
              <a:t>（</a:t>
            </a:r>
            <a:r>
              <a:rPr dirty="0" sz="1800" spc="-10" b="1">
                <a:latin typeface="Times New Roman"/>
                <a:cs typeface="Times New Roman"/>
              </a:rPr>
              <a:t>2016.06-2017.09</a:t>
            </a:r>
            <a:r>
              <a:rPr dirty="0" sz="1800" spc="-10">
                <a:latin typeface="SimSun"/>
                <a:cs typeface="SimSun"/>
              </a:rPr>
              <a:t>）：</a:t>
            </a:r>
            <a:endParaRPr sz="1800">
              <a:latin typeface="SimSun"/>
              <a:cs typeface="SimSun"/>
            </a:endParaRPr>
          </a:p>
          <a:p>
            <a:pPr lvl="1" marL="755015" indent="-285115">
              <a:lnSpc>
                <a:spcPct val="100000"/>
              </a:lnSpc>
              <a:spcBef>
                <a:spcPts val="390"/>
              </a:spcBef>
              <a:buFont typeface="Times New Roman"/>
              <a:buChar char="–"/>
              <a:tabLst>
                <a:tab pos="755015" algn="l"/>
              </a:tabLst>
            </a:pPr>
            <a:r>
              <a:rPr dirty="0" sz="1600">
                <a:latin typeface="SimSun"/>
                <a:cs typeface="SimSun"/>
              </a:rPr>
              <a:t>开展单基站</a:t>
            </a:r>
            <a:r>
              <a:rPr dirty="0" sz="1600" spc="-10">
                <a:latin typeface="Times New Roman"/>
                <a:cs typeface="Times New Roman"/>
              </a:rPr>
              <a:t>5G</a:t>
            </a:r>
            <a:r>
              <a:rPr dirty="0" sz="1600" spc="-10">
                <a:latin typeface="SimSun"/>
                <a:cs typeface="SimSun"/>
              </a:rPr>
              <a:t>概念样机性能测试，验证</a:t>
            </a:r>
            <a:r>
              <a:rPr dirty="0" sz="1600" spc="-10">
                <a:latin typeface="Times New Roman"/>
                <a:cs typeface="Times New Roman"/>
              </a:rPr>
              <a:t>5G</a:t>
            </a:r>
            <a:r>
              <a:rPr dirty="0" sz="1600" spc="-20">
                <a:latin typeface="SimSun"/>
                <a:cs typeface="SimSun"/>
              </a:rPr>
              <a:t>技术方案性能</a:t>
            </a:r>
            <a:endParaRPr sz="1600">
              <a:latin typeface="SimSun"/>
              <a:cs typeface="SimSun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FF0000"/>
                </a:solidFill>
                <a:latin typeface="SimSun"/>
                <a:cs typeface="SimSun"/>
              </a:rPr>
              <a:t>阶段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dirty="0" sz="1800">
                <a:solidFill>
                  <a:srgbClr val="FF0000"/>
                </a:solidFill>
                <a:latin typeface="SimSun"/>
                <a:cs typeface="SimSun"/>
              </a:rPr>
              <a:t>：系统验证</a:t>
            </a:r>
            <a:r>
              <a:rPr dirty="0" sz="1800" spc="-10">
                <a:solidFill>
                  <a:srgbClr val="FF0000"/>
                </a:solidFill>
                <a:latin typeface="SimSun"/>
                <a:cs typeface="SimSun"/>
              </a:rPr>
              <a:t>（</a:t>
            </a:r>
            <a:r>
              <a:rPr dirty="0" sz="1800" spc="-10" b="1">
                <a:solidFill>
                  <a:srgbClr val="FF0000"/>
                </a:solidFill>
                <a:latin typeface="Times New Roman"/>
                <a:cs typeface="Times New Roman"/>
              </a:rPr>
              <a:t>2017.06-2018.10</a:t>
            </a:r>
            <a:r>
              <a:rPr dirty="0" sz="1800" spc="-10">
                <a:solidFill>
                  <a:srgbClr val="FF0000"/>
                </a:solidFill>
                <a:latin typeface="SimSun"/>
                <a:cs typeface="SimSun"/>
              </a:rPr>
              <a:t>）</a:t>
            </a:r>
            <a:endParaRPr sz="1800">
              <a:latin typeface="SimSun"/>
              <a:cs typeface="SimSu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887" y="893679"/>
            <a:ext cx="7596297" cy="20299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2639" y="120627"/>
            <a:ext cx="379920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中国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商用整体规划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43384" y="4338939"/>
            <a:ext cx="5347335" cy="391795"/>
          </a:xfrm>
          <a:prstGeom prst="rect">
            <a:avLst/>
          </a:prstGeom>
          <a:solidFill>
            <a:srgbClr val="A50021"/>
          </a:solidFill>
        </p:spPr>
        <p:txBody>
          <a:bodyPr wrap="square" lIns="0" tIns="501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dirty="0" sz="1800" spc="-5" b="1">
                <a:solidFill>
                  <a:srgbClr val="FFFFFF"/>
                </a:solidFill>
                <a:latin typeface="Microsoft YaHei"/>
                <a:cs typeface="Microsoft YaHei"/>
              </a:rPr>
              <a:t>创新新技术、构建新网络、布局新产业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62939" y="1025855"/>
            <a:ext cx="1125855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95275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202X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9751" y="1025855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92133" y="1025855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24529" y="1025855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55324" y="1025855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87706" y="1025855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2020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8347" y="1304544"/>
            <a:ext cx="8334375" cy="85725"/>
            <a:chOff x="498347" y="1304544"/>
            <a:chExt cx="8334375" cy="857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7" y="1304544"/>
              <a:ext cx="8333992" cy="8534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39301" y="1327341"/>
              <a:ext cx="8251825" cy="0"/>
            </a:xfrm>
            <a:custGeom>
              <a:avLst/>
              <a:gdLst/>
              <a:ahLst/>
              <a:cxnLst/>
              <a:rect l="l" t="t" r="r" b="b"/>
              <a:pathLst>
                <a:path w="8251825" h="0">
                  <a:moveTo>
                    <a:pt x="82517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4BD97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948" y="2778826"/>
            <a:ext cx="2060075" cy="1947392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21481" y="3026045"/>
            <a:ext cx="878840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Microsoft YaHei"/>
                <a:cs typeface="Microsoft YaHei"/>
              </a:rPr>
              <a:t>大规模天线</a:t>
            </a:r>
            <a:endParaRPr sz="105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latin typeface="Arial MT"/>
                <a:cs typeface="Arial MT"/>
              </a:rPr>
              <a:t>MassiveMIMO</a:t>
            </a:r>
            <a:endParaRPr sz="1050">
              <a:latin typeface="Arial MT"/>
              <a:cs typeface="Arial MT"/>
            </a:endParaRPr>
          </a:p>
          <a:p>
            <a:pPr algn="just" marL="695960" marR="34925">
              <a:lnSpc>
                <a:spcPct val="100000"/>
              </a:lnSpc>
              <a:spcBef>
                <a:spcPts val="685"/>
              </a:spcBef>
            </a:pPr>
            <a:r>
              <a:rPr dirty="0" sz="1100" spc="-50">
                <a:solidFill>
                  <a:srgbClr val="FFFFFF"/>
                </a:solidFill>
                <a:latin typeface="Microsoft YaHei"/>
                <a:cs typeface="Microsoft YaHei"/>
              </a:rPr>
              <a:t>无线技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3837" y="3870354"/>
            <a:ext cx="9118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5">
                <a:latin typeface="Microsoft YaHei"/>
                <a:cs typeface="Microsoft YaHei"/>
              </a:rPr>
              <a:t>非正交多址 </a:t>
            </a:r>
            <a:r>
              <a:rPr dirty="0" baseline="-27777" sz="1650" spc="-75">
                <a:solidFill>
                  <a:srgbClr val="FFFFFF"/>
                </a:solidFill>
                <a:latin typeface="Microsoft YaHei"/>
                <a:cs typeface="Microsoft YaHei"/>
              </a:rPr>
              <a:t>术</a:t>
            </a:r>
            <a:endParaRPr baseline="-27777" sz="165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50188" y="4037270"/>
            <a:ext cx="4108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latin typeface="Arial MT"/>
                <a:cs typeface="Arial MT"/>
              </a:rPr>
              <a:t>PDMA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44169" y="2811127"/>
            <a:ext cx="1395730" cy="14871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050" spc="-15">
                <a:latin typeface="Microsoft YaHei"/>
                <a:cs typeface="Microsoft YaHei"/>
              </a:rPr>
              <a:t>网络切片</a:t>
            </a:r>
            <a:endParaRPr sz="1050">
              <a:latin typeface="Microsoft YaHei"/>
              <a:cs typeface="Microsoft YaHei"/>
            </a:endParaRPr>
          </a:p>
          <a:p>
            <a:pPr marL="325120">
              <a:lnSpc>
                <a:spcPct val="100000"/>
              </a:lnSpc>
              <a:spcBef>
                <a:spcPts val="665"/>
              </a:spcBef>
            </a:pPr>
            <a:r>
              <a:rPr dirty="0" sz="1050" spc="-10">
                <a:latin typeface="Microsoft YaHei"/>
                <a:cs typeface="Microsoft YaHei"/>
              </a:rPr>
              <a:t>移动边缘计算</a:t>
            </a:r>
            <a:endParaRPr sz="1050">
              <a:latin typeface="Microsoft YaHei"/>
              <a:cs typeface="Microsoft YaHei"/>
            </a:endParaRPr>
          </a:p>
          <a:p>
            <a:pPr algn="just" marL="425450" marR="822325">
              <a:lnSpc>
                <a:spcPct val="100000"/>
              </a:lnSpc>
              <a:spcBef>
                <a:spcPts val="605"/>
              </a:spcBef>
            </a:pPr>
            <a:r>
              <a:rPr dirty="0" sz="1100" spc="-50">
                <a:solidFill>
                  <a:srgbClr val="FFFFFF"/>
                </a:solidFill>
                <a:latin typeface="Microsoft YaHei"/>
                <a:cs typeface="Microsoft YaHei"/>
              </a:rPr>
              <a:t>网络技术</a:t>
            </a:r>
            <a:endParaRPr sz="1100">
              <a:latin typeface="Microsoft YaHei"/>
              <a:cs typeface="Microsoft YaHei"/>
            </a:endParaRPr>
          </a:p>
          <a:p>
            <a:pPr marL="582295">
              <a:lnSpc>
                <a:spcPct val="100000"/>
              </a:lnSpc>
              <a:spcBef>
                <a:spcPts val="509"/>
              </a:spcBef>
            </a:pPr>
            <a:r>
              <a:rPr dirty="0" sz="1050" spc="-10">
                <a:latin typeface="Microsoft YaHei"/>
                <a:cs typeface="Microsoft YaHei"/>
              </a:rPr>
              <a:t>控制承载分离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52346" y="4328859"/>
            <a:ext cx="1640205" cy="336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25"/>
              </a:lnSpc>
              <a:spcBef>
                <a:spcPts val="100"/>
              </a:spcBef>
              <a:tabLst>
                <a:tab pos="826769" algn="l"/>
              </a:tabLst>
            </a:pPr>
            <a:r>
              <a:rPr dirty="0" baseline="5291" sz="1575">
                <a:latin typeface="Microsoft YaHei"/>
                <a:cs typeface="Microsoft YaHei"/>
              </a:rPr>
              <a:t>超密集组</a:t>
            </a:r>
            <a:r>
              <a:rPr dirty="0" baseline="5291" sz="1575" spc="-75">
                <a:latin typeface="Microsoft YaHei"/>
                <a:cs typeface="Microsoft YaHei"/>
              </a:rPr>
              <a:t>网</a:t>
            </a:r>
            <a:r>
              <a:rPr dirty="0" baseline="5291" sz="1575">
                <a:latin typeface="Microsoft YaHei"/>
                <a:cs typeface="Microsoft YaHei"/>
              </a:rPr>
              <a:t>	</a:t>
            </a:r>
            <a:r>
              <a:rPr dirty="0" sz="1050">
                <a:latin typeface="Microsoft YaHei"/>
                <a:cs typeface="Microsoft YaHei"/>
              </a:rPr>
              <a:t>网络功能重</a:t>
            </a:r>
            <a:r>
              <a:rPr dirty="0" sz="1050" spc="-50">
                <a:latin typeface="Microsoft YaHei"/>
                <a:cs typeface="Microsoft YaHei"/>
              </a:rPr>
              <a:t>构</a:t>
            </a:r>
            <a:endParaRPr sz="1050">
              <a:latin typeface="Microsoft YaHei"/>
              <a:cs typeface="Microsoft YaHei"/>
            </a:endParaRPr>
          </a:p>
          <a:p>
            <a:pPr marL="201930">
              <a:lnSpc>
                <a:spcPts val="1225"/>
              </a:lnSpc>
            </a:pPr>
            <a:r>
              <a:rPr dirty="0" sz="1050" spc="-25">
                <a:latin typeface="Arial MT"/>
                <a:cs typeface="Arial MT"/>
              </a:rPr>
              <a:t>UDN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029383" y="2492382"/>
            <a:ext cx="1604010" cy="1399540"/>
            <a:chOff x="3029383" y="2492382"/>
            <a:chExt cx="1604010" cy="139954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0631" y="2492382"/>
              <a:ext cx="320205" cy="51698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038908" y="2534984"/>
              <a:ext cx="1584960" cy="1347470"/>
            </a:xfrm>
            <a:custGeom>
              <a:avLst/>
              <a:gdLst/>
              <a:ahLst/>
              <a:cxnLst/>
              <a:rect l="l" t="t" r="r" b="b"/>
              <a:pathLst>
                <a:path w="1584960" h="1347470">
                  <a:moveTo>
                    <a:pt x="195541" y="315993"/>
                  </a:moveTo>
                  <a:lnTo>
                    <a:pt x="202954" y="263544"/>
                  </a:lnTo>
                  <a:lnTo>
                    <a:pt x="217655" y="214319"/>
                  </a:lnTo>
                  <a:lnTo>
                    <a:pt x="238893" y="169128"/>
                  </a:lnTo>
                  <a:lnTo>
                    <a:pt x="265918" y="128786"/>
                  </a:lnTo>
                  <a:lnTo>
                    <a:pt x="297977" y="94103"/>
                  </a:lnTo>
                  <a:lnTo>
                    <a:pt x="334320" y="65893"/>
                  </a:lnTo>
                  <a:lnTo>
                    <a:pt x="374197" y="44968"/>
                  </a:lnTo>
                  <a:lnTo>
                    <a:pt x="416854" y="32141"/>
                  </a:lnTo>
                  <a:lnTo>
                    <a:pt x="461543" y="28223"/>
                  </a:lnTo>
                  <a:lnTo>
                    <a:pt x="502279" y="33014"/>
                  </a:lnTo>
                  <a:lnTo>
                    <a:pt x="541099" y="45673"/>
                  </a:lnTo>
                  <a:lnTo>
                    <a:pt x="577218" y="65857"/>
                  </a:lnTo>
                  <a:lnTo>
                    <a:pt x="609853" y="93222"/>
                  </a:lnTo>
                  <a:lnTo>
                    <a:pt x="642722" y="54313"/>
                  </a:lnTo>
                  <a:lnTo>
                    <a:pt x="680515" y="25615"/>
                  </a:lnTo>
                  <a:lnTo>
                    <a:pt x="721578" y="7414"/>
                  </a:lnTo>
                  <a:lnTo>
                    <a:pt x="764258" y="0"/>
                  </a:lnTo>
                  <a:lnTo>
                    <a:pt x="806898" y="3658"/>
                  </a:lnTo>
                  <a:lnTo>
                    <a:pt x="847845" y="18676"/>
                  </a:lnTo>
                  <a:lnTo>
                    <a:pt x="885444" y="45343"/>
                  </a:lnTo>
                  <a:lnTo>
                    <a:pt x="914654" y="79317"/>
                  </a:lnTo>
                  <a:lnTo>
                    <a:pt x="922832" y="92320"/>
                  </a:lnTo>
                  <a:lnTo>
                    <a:pt x="953899" y="55100"/>
                  </a:lnTo>
                  <a:lnTo>
                    <a:pt x="990399" y="29124"/>
                  </a:lnTo>
                  <a:lnTo>
                    <a:pt x="1030187" y="14831"/>
                  </a:lnTo>
                  <a:lnTo>
                    <a:pt x="1071119" y="12658"/>
                  </a:lnTo>
                  <a:lnTo>
                    <a:pt x="1111051" y="23043"/>
                  </a:lnTo>
                  <a:lnTo>
                    <a:pt x="1147838" y="46422"/>
                  </a:lnTo>
                  <a:lnTo>
                    <a:pt x="1173522" y="75045"/>
                  </a:lnTo>
                  <a:lnTo>
                    <a:pt x="1192682" y="110202"/>
                  </a:lnTo>
                  <a:lnTo>
                    <a:pt x="1234083" y="79211"/>
                  </a:lnTo>
                  <a:lnTo>
                    <a:pt x="1278747" y="62223"/>
                  </a:lnTo>
                  <a:lnTo>
                    <a:pt x="1324294" y="59043"/>
                  </a:lnTo>
                  <a:lnTo>
                    <a:pt x="1368343" y="69480"/>
                  </a:lnTo>
                  <a:lnTo>
                    <a:pt x="1408514" y="93341"/>
                  </a:lnTo>
                  <a:lnTo>
                    <a:pt x="1442427" y="130433"/>
                  </a:lnTo>
                  <a:lnTo>
                    <a:pt x="1470815" y="191957"/>
                  </a:lnTo>
                  <a:lnTo>
                    <a:pt x="1479257" y="262462"/>
                  </a:lnTo>
                  <a:lnTo>
                    <a:pt x="1516681" y="289462"/>
                  </a:lnTo>
                  <a:lnTo>
                    <a:pt x="1546443" y="325033"/>
                  </a:lnTo>
                  <a:lnTo>
                    <a:pt x="1568041" y="367345"/>
                  </a:lnTo>
                  <a:lnTo>
                    <a:pt x="1580974" y="414569"/>
                  </a:lnTo>
                  <a:lnTo>
                    <a:pt x="1584741" y="464873"/>
                  </a:lnTo>
                  <a:lnTo>
                    <a:pt x="1578841" y="516427"/>
                  </a:lnTo>
                  <a:lnTo>
                    <a:pt x="1562773" y="567402"/>
                  </a:lnTo>
                  <a:lnTo>
                    <a:pt x="1548587" y="595850"/>
                  </a:lnTo>
                  <a:lnTo>
                    <a:pt x="1562907" y="639328"/>
                  </a:lnTo>
                  <a:lnTo>
                    <a:pt x="1570771" y="684183"/>
                  </a:lnTo>
                  <a:lnTo>
                    <a:pt x="1572424" y="729596"/>
                  </a:lnTo>
                  <a:lnTo>
                    <a:pt x="1568107" y="774747"/>
                  </a:lnTo>
                  <a:lnTo>
                    <a:pt x="1558064" y="818814"/>
                  </a:lnTo>
                  <a:lnTo>
                    <a:pt x="1542539" y="860979"/>
                  </a:lnTo>
                  <a:lnTo>
                    <a:pt x="1521774" y="900421"/>
                  </a:lnTo>
                  <a:lnTo>
                    <a:pt x="1496014" y="936321"/>
                  </a:lnTo>
                  <a:lnTo>
                    <a:pt x="1465500" y="967857"/>
                  </a:lnTo>
                  <a:lnTo>
                    <a:pt x="1430477" y="994211"/>
                  </a:lnTo>
                  <a:lnTo>
                    <a:pt x="1370050" y="1021776"/>
                  </a:lnTo>
                  <a:lnTo>
                    <a:pt x="1306614" y="1030749"/>
                  </a:lnTo>
                  <a:lnTo>
                    <a:pt x="1293066" y="1079729"/>
                  </a:lnTo>
                  <a:lnTo>
                    <a:pt x="1272303" y="1123798"/>
                  </a:lnTo>
                  <a:lnTo>
                    <a:pt x="1245344" y="1162119"/>
                  </a:lnTo>
                  <a:lnTo>
                    <a:pt x="1213208" y="1193858"/>
                  </a:lnTo>
                  <a:lnTo>
                    <a:pt x="1176913" y="1218181"/>
                  </a:lnTo>
                  <a:lnTo>
                    <a:pt x="1137478" y="1234253"/>
                  </a:lnTo>
                  <a:lnTo>
                    <a:pt x="1095921" y="1241239"/>
                  </a:lnTo>
                  <a:lnTo>
                    <a:pt x="1053261" y="1238305"/>
                  </a:lnTo>
                  <a:lnTo>
                    <a:pt x="1025254" y="1230543"/>
                  </a:lnTo>
                  <a:lnTo>
                    <a:pt x="998778" y="1218309"/>
                  </a:lnTo>
                  <a:lnTo>
                    <a:pt x="974198" y="1201807"/>
                  </a:lnTo>
                  <a:lnTo>
                    <a:pt x="951877" y="1181244"/>
                  </a:lnTo>
                  <a:lnTo>
                    <a:pt x="926779" y="1226780"/>
                  </a:lnTo>
                  <a:lnTo>
                    <a:pt x="896383" y="1265701"/>
                  </a:lnTo>
                  <a:lnTo>
                    <a:pt x="861640" y="1297616"/>
                  </a:lnTo>
                  <a:lnTo>
                    <a:pt x="823501" y="1322133"/>
                  </a:lnTo>
                  <a:lnTo>
                    <a:pt x="782918" y="1338859"/>
                  </a:lnTo>
                  <a:lnTo>
                    <a:pt x="740841" y="1347404"/>
                  </a:lnTo>
                  <a:lnTo>
                    <a:pt x="698222" y="1347375"/>
                  </a:lnTo>
                  <a:lnTo>
                    <a:pt x="656012" y="1338381"/>
                  </a:lnTo>
                  <a:lnTo>
                    <a:pt x="615162" y="1320029"/>
                  </a:lnTo>
                  <a:lnTo>
                    <a:pt x="579790" y="1294513"/>
                  </a:lnTo>
                  <a:lnTo>
                    <a:pt x="549240" y="1262155"/>
                  </a:lnTo>
                  <a:lnTo>
                    <a:pt x="524133" y="1223749"/>
                  </a:lnTo>
                  <a:lnTo>
                    <a:pt x="505091" y="1180088"/>
                  </a:lnTo>
                  <a:lnTo>
                    <a:pt x="460421" y="1196779"/>
                  </a:lnTo>
                  <a:lnTo>
                    <a:pt x="415721" y="1204719"/>
                  </a:lnTo>
                  <a:lnTo>
                    <a:pt x="371731" y="1204282"/>
                  </a:lnTo>
                  <a:lnTo>
                    <a:pt x="329192" y="1195844"/>
                  </a:lnTo>
                  <a:lnTo>
                    <a:pt x="288842" y="1179778"/>
                  </a:lnTo>
                  <a:lnTo>
                    <a:pt x="251421" y="1156461"/>
                  </a:lnTo>
                  <a:lnTo>
                    <a:pt x="217669" y="1126265"/>
                  </a:lnTo>
                  <a:lnTo>
                    <a:pt x="188325" y="1089567"/>
                  </a:lnTo>
                  <a:lnTo>
                    <a:pt x="164129" y="1046741"/>
                  </a:lnTo>
                  <a:lnTo>
                    <a:pt x="145821" y="998160"/>
                  </a:lnTo>
                  <a:lnTo>
                    <a:pt x="143967" y="991658"/>
                  </a:lnTo>
                  <a:lnTo>
                    <a:pt x="102205" y="983252"/>
                  </a:lnTo>
                  <a:lnTo>
                    <a:pt x="65720" y="962774"/>
                  </a:lnTo>
                  <a:lnTo>
                    <a:pt x="35883" y="932079"/>
                  </a:lnTo>
                  <a:lnTo>
                    <a:pt x="14069" y="893021"/>
                  </a:lnTo>
                  <a:lnTo>
                    <a:pt x="1650" y="847455"/>
                  </a:lnTo>
                  <a:lnTo>
                    <a:pt x="0" y="797234"/>
                  </a:lnTo>
                  <a:lnTo>
                    <a:pt x="7068" y="756603"/>
                  </a:lnTo>
                  <a:lnTo>
                    <a:pt x="21174" y="718632"/>
                  </a:lnTo>
                  <a:lnTo>
                    <a:pt x="41694" y="684611"/>
                  </a:lnTo>
                  <a:lnTo>
                    <a:pt x="68008" y="655832"/>
                  </a:lnTo>
                  <a:lnTo>
                    <a:pt x="40666" y="619017"/>
                  </a:lnTo>
                  <a:lnTo>
                    <a:pt x="23509" y="575830"/>
                  </a:lnTo>
                  <a:lnTo>
                    <a:pt x="16625" y="528807"/>
                  </a:lnTo>
                  <a:lnTo>
                    <a:pt x="20106" y="480479"/>
                  </a:lnTo>
                  <a:lnTo>
                    <a:pt x="34042" y="433381"/>
                  </a:lnTo>
                  <a:lnTo>
                    <a:pt x="58521" y="390046"/>
                  </a:lnTo>
                  <a:lnTo>
                    <a:pt x="87008" y="358939"/>
                  </a:lnTo>
                  <a:lnTo>
                    <a:pt x="119957" y="336392"/>
                  </a:lnTo>
                  <a:lnTo>
                    <a:pt x="155926" y="323156"/>
                  </a:lnTo>
                  <a:lnTo>
                    <a:pt x="193471" y="319980"/>
                  </a:lnTo>
                  <a:lnTo>
                    <a:pt x="195541" y="315993"/>
                  </a:lnTo>
                  <a:close/>
                </a:path>
              </a:pathLst>
            </a:custGeom>
            <a:ln w="19050">
              <a:solidFill>
                <a:srgbClr val="92D05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09536" y="2624386"/>
              <a:ext cx="1478280" cy="1087120"/>
            </a:xfrm>
            <a:custGeom>
              <a:avLst/>
              <a:gdLst/>
              <a:ahLst/>
              <a:cxnLst/>
              <a:rect l="l" t="t" r="r" b="b"/>
              <a:pathLst>
                <a:path w="1478279" h="1087120">
                  <a:moveTo>
                    <a:pt x="86271" y="602907"/>
                  </a:moveTo>
                  <a:lnTo>
                    <a:pt x="62564" y="598667"/>
                  </a:lnTo>
                  <a:lnTo>
                    <a:pt x="40030" y="590222"/>
                  </a:lnTo>
                  <a:lnTo>
                    <a:pt x="19048" y="577753"/>
                  </a:lnTo>
                  <a:lnTo>
                    <a:pt x="0" y="561441"/>
                  </a:lnTo>
                </a:path>
                <a:path w="1478279" h="1087120">
                  <a:moveTo>
                    <a:pt x="116840" y="891578"/>
                  </a:moveTo>
                  <a:lnTo>
                    <a:pt x="106425" y="893994"/>
                  </a:lnTo>
                  <a:lnTo>
                    <a:pt x="95948" y="895603"/>
                  </a:lnTo>
                  <a:lnTo>
                    <a:pt x="85443" y="896403"/>
                  </a:lnTo>
                  <a:lnTo>
                    <a:pt x="74942" y="896391"/>
                  </a:lnTo>
                </a:path>
                <a:path w="1478279" h="1087120">
                  <a:moveTo>
                    <a:pt x="435368" y="1085189"/>
                  </a:moveTo>
                  <a:lnTo>
                    <a:pt x="430843" y="1070854"/>
                  </a:lnTo>
                  <a:lnTo>
                    <a:pt x="426986" y="1056217"/>
                  </a:lnTo>
                  <a:lnTo>
                    <a:pt x="423806" y="1041309"/>
                  </a:lnTo>
                  <a:lnTo>
                    <a:pt x="421309" y="1026159"/>
                  </a:lnTo>
                </a:path>
                <a:path w="1478279" h="1087120">
                  <a:moveTo>
                    <a:pt x="902677" y="1028763"/>
                  </a:moveTo>
                  <a:lnTo>
                    <a:pt x="898539" y="1043731"/>
                  </a:lnTo>
                  <a:lnTo>
                    <a:pt x="893751" y="1058459"/>
                  </a:lnTo>
                  <a:lnTo>
                    <a:pt x="888327" y="1072915"/>
                  </a:lnTo>
                  <a:lnTo>
                    <a:pt x="882281" y="1087069"/>
                  </a:lnTo>
                </a:path>
                <a:path w="1478279" h="1087120">
                  <a:moveTo>
                    <a:pt x="1477835" y="502996"/>
                  </a:moveTo>
                  <a:lnTo>
                    <a:pt x="1463712" y="524834"/>
                  </a:lnTo>
                  <a:lnTo>
                    <a:pt x="1447706" y="544695"/>
                  </a:lnTo>
                  <a:lnTo>
                    <a:pt x="1429988" y="562391"/>
                  </a:lnTo>
                  <a:lnTo>
                    <a:pt x="1410728" y="577735"/>
                  </a:lnTo>
                </a:path>
                <a:path w="1478279" h="1087120">
                  <a:moveTo>
                    <a:pt x="1409700" y="168376"/>
                  </a:moveTo>
                  <a:lnTo>
                    <a:pt x="1409200" y="178472"/>
                  </a:lnTo>
                  <a:lnTo>
                    <a:pt x="1408291" y="188553"/>
                  </a:lnTo>
                  <a:lnTo>
                    <a:pt x="1406976" y="198601"/>
                  </a:lnTo>
                  <a:lnTo>
                    <a:pt x="1405255" y="208597"/>
                  </a:lnTo>
                </a:path>
                <a:path w="1478279" h="1087120">
                  <a:moveTo>
                    <a:pt x="833602" y="41363"/>
                  </a:moveTo>
                  <a:lnTo>
                    <a:pt x="838000" y="30527"/>
                  </a:lnTo>
                  <a:lnTo>
                    <a:pt x="842938" y="20000"/>
                  </a:lnTo>
                  <a:lnTo>
                    <a:pt x="848402" y="9815"/>
                  </a:lnTo>
                  <a:lnTo>
                    <a:pt x="854379" y="0"/>
                  </a:lnTo>
                </a:path>
                <a:path w="1478279" h="1087120">
                  <a:moveTo>
                    <a:pt x="539102" y="3479"/>
                  </a:moveTo>
                  <a:lnTo>
                    <a:pt x="549856" y="15039"/>
                  </a:lnTo>
                  <a:lnTo>
                    <a:pt x="559946" y="27384"/>
                  </a:lnTo>
                  <a:lnTo>
                    <a:pt x="569345" y="40477"/>
                  </a:lnTo>
                  <a:lnTo>
                    <a:pt x="578027" y="54279"/>
                  </a:lnTo>
                </a:path>
                <a:path w="1478279" h="1087120">
                  <a:moveTo>
                    <a:pt x="124993" y="272668"/>
                  </a:moveTo>
                  <a:lnTo>
                    <a:pt x="124395" y="261203"/>
                  </a:lnTo>
                  <a:lnTo>
                    <a:pt x="124183" y="249694"/>
                  </a:lnTo>
                  <a:lnTo>
                    <a:pt x="124357" y="238157"/>
                  </a:lnTo>
                  <a:lnTo>
                    <a:pt x="124917" y="226606"/>
                  </a:lnTo>
                </a:path>
              </a:pathLst>
            </a:custGeom>
            <a:ln w="19050">
              <a:solidFill>
                <a:srgbClr val="92D05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968457" y="2513774"/>
              <a:ext cx="475615" cy="470534"/>
            </a:xfrm>
            <a:custGeom>
              <a:avLst/>
              <a:gdLst/>
              <a:ahLst/>
              <a:cxnLst/>
              <a:rect l="l" t="t" r="r" b="b"/>
              <a:pathLst>
                <a:path w="475614" h="470535">
                  <a:moveTo>
                    <a:pt x="475576" y="0"/>
                  </a:moveTo>
                  <a:lnTo>
                    <a:pt x="0" y="0"/>
                  </a:lnTo>
                  <a:lnTo>
                    <a:pt x="0" y="470446"/>
                  </a:lnTo>
                  <a:lnTo>
                    <a:pt x="475576" y="470446"/>
                  </a:lnTo>
                  <a:lnTo>
                    <a:pt x="475576" y="0"/>
                  </a:lnTo>
                  <a:close/>
                </a:path>
              </a:pathLst>
            </a:custGeom>
            <a:solidFill>
              <a:srgbClr val="9C9C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968457" y="2513774"/>
              <a:ext cx="475615" cy="470534"/>
            </a:xfrm>
            <a:custGeom>
              <a:avLst/>
              <a:gdLst/>
              <a:ahLst/>
              <a:cxnLst/>
              <a:rect l="l" t="t" r="r" b="b"/>
              <a:pathLst>
                <a:path w="475614" h="470535">
                  <a:moveTo>
                    <a:pt x="0" y="0"/>
                  </a:moveTo>
                  <a:lnTo>
                    <a:pt x="475576" y="0"/>
                  </a:lnTo>
                  <a:lnTo>
                    <a:pt x="475576" y="470446"/>
                  </a:lnTo>
                  <a:lnTo>
                    <a:pt x="0" y="4704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964475" y="2596088"/>
            <a:ext cx="482600" cy="29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ts val="1075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AgileSite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ts val="1075"/>
              </a:lnSpc>
            </a:pPr>
            <a:r>
              <a:rPr dirty="0" sz="900" spc="-15">
                <a:latin typeface="Microsoft YaHei"/>
                <a:cs typeface="Microsoft YaHei"/>
              </a:rPr>
              <a:t>服务平台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501882" y="2622689"/>
            <a:ext cx="1736725" cy="568325"/>
            <a:chOff x="3501882" y="2622689"/>
            <a:chExt cx="1736725" cy="568325"/>
          </a:xfrm>
        </p:grpSpPr>
        <p:sp>
          <p:nvSpPr>
            <p:cNvPr id="27" name="object 27" descr=""/>
            <p:cNvSpPr/>
            <p:nvPr/>
          </p:nvSpPr>
          <p:spPr>
            <a:xfrm>
              <a:off x="4208416" y="2979454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w="0" h="204469">
                  <a:moveTo>
                    <a:pt x="0" y="0"/>
                  </a:moveTo>
                  <a:lnTo>
                    <a:pt x="0" y="204194"/>
                  </a:lnTo>
                </a:path>
              </a:pathLst>
            </a:custGeom>
            <a:ln w="1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06645" y="2716776"/>
              <a:ext cx="462280" cy="32384"/>
            </a:xfrm>
            <a:custGeom>
              <a:avLst/>
              <a:gdLst/>
              <a:ahLst/>
              <a:cxnLst/>
              <a:rect l="l" t="t" r="r" b="b"/>
              <a:pathLst>
                <a:path w="462279" h="32385">
                  <a:moveTo>
                    <a:pt x="461810" y="3221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932387" y="2629039"/>
              <a:ext cx="300355" cy="389890"/>
            </a:xfrm>
            <a:custGeom>
              <a:avLst/>
              <a:gdLst/>
              <a:ahLst/>
              <a:cxnLst/>
              <a:rect l="l" t="t" r="r" b="b"/>
              <a:pathLst>
                <a:path w="300354" h="389889">
                  <a:moveTo>
                    <a:pt x="299770" y="0"/>
                  </a:moveTo>
                  <a:lnTo>
                    <a:pt x="0" y="0"/>
                  </a:lnTo>
                  <a:lnTo>
                    <a:pt x="0" y="389826"/>
                  </a:lnTo>
                  <a:lnTo>
                    <a:pt x="299770" y="389826"/>
                  </a:lnTo>
                  <a:lnTo>
                    <a:pt x="2997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932387" y="2629039"/>
              <a:ext cx="300355" cy="389890"/>
            </a:xfrm>
            <a:custGeom>
              <a:avLst/>
              <a:gdLst/>
              <a:ahLst/>
              <a:cxnLst/>
              <a:rect l="l" t="t" r="r" b="b"/>
              <a:pathLst>
                <a:path w="300354" h="389889">
                  <a:moveTo>
                    <a:pt x="0" y="0"/>
                  </a:moveTo>
                  <a:lnTo>
                    <a:pt x="299770" y="0"/>
                  </a:lnTo>
                  <a:lnTo>
                    <a:pt x="299770" y="389826"/>
                  </a:lnTo>
                  <a:lnTo>
                    <a:pt x="0" y="38982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4926443" y="2555977"/>
            <a:ext cx="3124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latin typeface="Arial MT"/>
                <a:cs typeface="Arial MT"/>
              </a:rPr>
              <a:t>EPC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965348" y="2723592"/>
            <a:ext cx="2343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latin typeface="Arial MT"/>
                <a:cs typeface="Arial MT"/>
              </a:rPr>
              <a:t>NG </a:t>
            </a:r>
            <a:r>
              <a:rPr dirty="0" sz="1100" spc="-50">
                <a:latin typeface="Arial MT"/>
                <a:cs typeface="Arial MT"/>
              </a:rPr>
              <a:t>C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4439270" y="2563237"/>
            <a:ext cx="1403350" cy="584835"/>
            <a:chOff x="4439270" y="2563237"/>
            <a:chExt cx="1403350" cy="584835"/>
          </a:xfrm>
        </p:grpSpPr>
        <p:sp>
          <p:nvSpPr>
            <p:cNvPr id="34" name="object 34" descr=""/>
            <p:cNvSpPr/>
            <p:nvPr/>
          </p:nvSpPr>
          <p:spPr>
            <a:xfrm>
              <a:off x="4444033" y="2748993"/>
              <a:ext cx="488950" cy="75565"/>
            </a:xfrm>
            <a:custGeom>
              <a:avLst/>
              <a:gdLst/>
              <a:ahLst/>
              <a:cxnLst/>
              <a:rect l="l" t="t" r="r" b="b"/>
              <a:pathLst>
                <a:path w="488950" h="75564">
                  <a:moveTo>
                    <a:pt x="488353" y="7495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306199" y="2569587"/>
              <a:ext cx="530225" cy="546100"/>
            </a:xfrm>
            <a:custGeom>
              <a:avLst/>
              <a:gdLst/>
              <a:ahLst/>
              <a:cxnLst/>
              <a:rect l="l" t="t" r="r" b="b"/>
              <a:pathLst>
                <a:path w="530225" h="546100">
                  <a:moveTo>
                    <a:pt x="47882" y="179833"/>
                  </a:moveTo>
                  <a:lnTo>
                    <a:pt x="49988" y="133775"/>
                  </a:lnTo>
                  <a:lnTo>
                    <a:pt x="64041" y="93808"/>
                  </a:lnTo>
                  <a:lnTo>
                    <a:pt x="118862" y="48998"/>
                  </a:lnTo>
                  <a:lnTo>
                    <a:pt x="132658" y="47996"/>
                  </a:lnTo>
                  <a:lnTo>
                    <a:pt x="146291" y="50196"/>
                  </a:lnTo>
                  <a:lnTo>
                    <a:pt x="159482" y="55518"/>
                  </a:lnTo>
                  <a:lnTo>
                    <a:pt x="171948" y="63882"/>
                  </a:lnTo>
                  <a:lnTo>
                    <a:pt x="188450" y="35675"/>
                  </a:lnTo>
                  <a:lnTo>
                    <a:pt x="210606" y="19116"/>
                  </a:lnTo>
                  <a:lnTo>
                    <a:pt x="235569" y="15428"/>
                  </a:lnTo>
                  <a:lnTo>
                    <a:pt x="260493" y="25833"/>
                  </a:lnTo>
                  <a:lnTo>
                    <a:pt x="266068" y="29999"/>
                  </a:lnTo>
                  <a:lnTo>
                    <a:pt x="271199" y="35269"/>
                  </a:lnTo>
                  <a:lnTo>
                    <a:pt x="275707" y="41492"/>
                  </a:lnTo>
                  <a:lnTo>
                    <a:pt x="288785" y="17941"/>
                  </a:lnTo>
                  <a:lnTo>
                    <a:pt x="306665" y="3749"/>
                  </a:lnTo>
                  <a:lnTo>
                    <a:pt x="327033" y="0"/>
                  </a:lnTo>
                  <a:lnTo>
                    <a:pt x="347577" y="7774"/>
                  </a:lnTo>
                  <a:lnTo>
                    <a:pt x="352896" y="12042"/>
                  </a:lnTo>
                  <a:lnTo>
                    <a:pt x="357814" y="17115"/>
                  </a:lnTo>
                  <a:lnTo>
                    <a:pt x="362287" y="22940"/>
                  </a:lnTo>
                  <a:lnTo>
                    <a:pt x="366271" y="29465"/>
                  </a:lnTo>
                  <a:lnTo>
                    <a:pt x="384856" y="8936"/>
                  </a:lnTo>
                  <a:lnTo>
                    <a:pt x="406862" y="270"/>
                  </a:lnTo>
                  <a:lnTo>
                    <a:pt x="429584" y="3778"/>
                  </a:lnTo>
                  <a:lnTo>
                    <a:pt x="457578" y="30004"/>
                  </a:lnTo>
                  <a:lnTo>
                    <a:pt x="470449" y="68607"/>
                  </a:lnTo>
                  <a:lnTo>
                    <a:pt x="493686" y="84989"/>
                  </a:lnTo>
                  <a:lnTo>
                    <a:pt x="510081" y="111693"/>
                  </a:lnTo>
                  <a:lnTo>
                    <a:pt x="518153" y="145086"/>
                  </a:lnTo>
                  <a:lnTo>
                    <a:pt x="516423" y="181535"/>
                  </a:lnTo>
                  <a:lnTo>
                    <a:pt x="515623" y="185650"/>
                  </a:lnTo>
                  <a:lnTo>
                    <a:pt x="514620" y="189688"/>
                  </a:lnTo>
                  <a:lnTo>
                    <a:pt x="513426" y="193613"/>
                  </a:lnTo>
                  <a:lnTo>
                    <a:pt x="527962" y="235194"/>
                  </a:lnTo>
                  <a:lnTo>
                    <a:pt x="529930" y="279812"/>
                  </a:lnTo>
                  <a:lnTo>
                    <a:pt x="519820" y="322209"/>
                  </a:lnTo>
                  <a:lnTo>
                    <a:pt x="498122" y="357125"/>
                  </a:lnTo>
                  <a:lnTo>
                    <a:pt x="459235" y="380087"/>
                  </a:lnTo>
                  <a:lnTo>
                    <a:pt x="453430" y="418748"/>
                  </a:lnTo>
                  <a:lnTo>
                    <a:pt x="438028" y="450202"/>
                  </a:lnTo>
                  <a:lnTo>
                    <a:pt x="415331" y="471271"/>
                  </a:lnTo>
                  <a:lnTo>
                    <a:pt x="387645" y="478779"/>
                  </a:lnTo>
                  <a:lnTo>
                    <a:pt x="377890" y="477723"/>
                  </a:lnTo>
                  <a:lnTo>
                    <a:pt x="368375" y="474819"/>
                  </a:lnTo>
                  <a:lnTo>
                    <a:pt x="359233" y="470120"/>
                  </a:lnTo>
                  <a:lnTo>
                    <a:pt x="350599" y="463678"/>
                  </a:lnTo>
                  <a:lnTo>
                    <a:pt x="335011" y="504445"/>
                  </a:lnTo>
                  <a:lnTo>
                    <a:pt x="310370" y="532665"/>
                  </a:lnTo>
                  <a:lnTo>
                    <a:pt x="280003" y="545835"/>
                  </a:lnTo>
                  <a:lnTo>
                    <a:pt x="247234" y="541453"/>
                  </a:lnTo>
                  <a:lnTo>
                    <a:pt x="233972" y="534004"/>
                  </a:lnTo>
                  <a:lnTo>
                    <a:pt x="221901" y="523548"/>
                  </a:lnTo>
                  <a:lnTo>
                    <a:pt x="211272" y="510351"/>
                  </a:lnTo>
                  <a:lnTo>
                    <a:pt x="202339" y="494679"/>
                  </a:lnTo>
                  <a:lnTo>
                    <a:pt x="166880" y="512442"/>
                  </a:lnTo>
                  <a:lnTo>
                    <a:pt x="130592" y="509789"/>
                  </a:lnTo>
                  <a:lnTo>
                    <a:pt x="97660" y="488185"/>
                  </a:lnTo>
                  <a:lnTo>
                    <a:pt x="72266" y="449099"/>
                  </a:lnTo>
                  <a:lnTo>
                    <a:pt x="71936" y="448299"/>
                  </a:lnTo>
                  <a:lnTo>
                    <a:pt x="71593" y="447498"/>
                  </a:lnTo>
                  <a:lnTo>
                    <a:pt x="71275" y="446698"/>
                  </a:lnTo>
                  <a:lnTo>
                    <a:pt x="50089" y="444250"/>
                  </a:lnTo>
                  <a:lnTo>
                    <a:pt x="31850" y="431090"/>
                  </a:lnTo>
                  <a:lnTo>
                    <a:pt x="18471" y="409329"/>
                  </a:lnTo>
                  <a:lnTo>
                    <a:pt x="11865" y="381077"/>
                  </a:lnTo>
                  <a:lnTo>
                    <a:pt x="11774" y="364754"/>
                  </a:lnTo>
                  <a:lnTo>
                    <a:pt x="14178" y="348972"/>
                  </a:lnTo>
                  <a:lnTo>
                    <a:pt x="18946" y="334275"/>
                  </a:lnTo>
                  <a:lnTo>
                    <a:pt x="25949" y="321210"/>
                  </a:lnTo>
                  <a:lnTo>
                    <a:pt x="10149" y="301323"/>
                  </a:lnTo>
                  <a:lnTo>
                    <a:pt x="1295" y="275340"/>
                  </a:lnTo>
                  <a:lnTo>
                    <a:pt x="0" y="246572"/>
                  </a:lnTo>
                  <a:lnTo>
                    <a:pt x="6874" y="218327"/>
                  </a:lnTo>
                  <a:lnTo>
                    <a:pt x="14457" y="204206"/>
                  </a:lnTo>
                  <a:lnTo>
                    <a:pt x="24036" y="193102"/>
                  </a:lnTo>
                  <a:lnTo>
                    <a:pt x="35176" y="185412"/>
                  </a:lnTo>
                  <a:lnTo>
                    <a:pt x="47438" y="181535"/>
                  </a:lnTo>
                  <a:lnTo>
                    <a:pt x="47882" y="17983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502292" y="303777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5" h="29844">
                  <a:moveTo>
                    <a:pt x="29463" y="14731"/>
                  </a:moveTo>
                  <a:lnTo>
                    <a:pt x="29463" y="22872"/>
                  </a:lnTo>
                  <a:lnTo>
                    <a:pt x="22872" y="29463"/>
                  </a:lnTo>
                  <a:lnTo>
                    <a:pt x="14731" y="29463"/>
                  </a:lnTo>
                  <a:lnTo>
                    <a:pt x="6591" y="29463"/>
                  </a:lnTo>
                  <a:lnTo>
                    <a:pt x="0" y="22872"/>
                  </a:lnTo>
                  <a:lnTo>
                    <a:pt x="0" y="14731"/>
                  </a:lnTo>
                  <a:lnTo>
                    <a:pt x="0" y="6591"/>
                  </a:lnTo>
                  <a:lnTo>
                    <a:pt x="6591" y="0"/>
                  </a:lnTo>
                  <a:lnTo>
                    <a:pt x="14731" y="0"/>
                  </a:lnTo>
                  <a:lnTo>
                    <a:pt x="22872" y="0"/>
                  </a:lnTo>
                  <a:lnTo>
                    <a:pt x="29463" y="6591"/>
                  </a:lnTo>
                  <a:lnTo>
                    <a:pt x="29463" y="1473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485514" y="3031014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58927" y="29463"/>
                  </a:moveTo>
                  <a:lnTo>
                    <a:pt x="56612" y="40931"/>
                  </a:lnTo>
                  <a:lnTo>
                    <a:pt x="50296" y="50296"/>
                  </a:lnTo>
                  <a:lnTo>
                    <a:pt x="40931" y="56612"/>
                  </a:lnTo>
                  <a:lnTo>
                    <a:pt x="29463" y="58927"/>
                  </a:lnTo>
                  <a:lnTo>
                    <a:pt x="17991" y="56612"/>
                  </a:lnTo>
                  <a:lnTo>
                    <a:pt x="8626" y="50296"/>
                  </a:lnTo>
                  <a:lnTo>
                    <a:pt x="2314" y="40931"/>
                  </a:lnTo>
                  <a:lnTo>
                    <a:pt x="0" y="29463"/>
                  </a:lnTo>
                  <a:lnTo>
                    <a:pt x="2314" y="17996"/>
                  </a:lnTo>
                  <a:lnTo>
                    <a:pt x="8626" y="8631"/>
                  </a:lnTo>
                  <a:lnTo>
                    <a:pt x="17991" y="2315"/>
                  </a:lnTo>
                  <a:lnTo>
                    <a:pt x="29463" y="0"/>
                  </a:lnTo>
                  <a:lnTo>
                    <a:pt x="40931" y="2315"/>
                  </a:lnTo>
                  <a:lnTo>
                    <a:pt x="50296" y="8631"/>
                  </a:lnTo>
                  <a:lnTo>
                    <a:pt x="56612" y="17996"/>
                  </a:lnTo>
                  <a:lnTo>
                    <a:pt x="58927" y="294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461405" y="3052791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391" y="44195"/>
                  </a:moveTo>
                  <a:lnTo>
                    <a:pt x="84918" y="61399"/>
                  </a:lnTo>
                  <a:lnTo>
                    <a:pt x="75447" y="75447"/>
                  </a:lnTo>
                  <a:lnTo>
                    <a:pt x="61399" y="84918"/>
                  </a:lnTo>
                  <a:lnTo>
                    <a:pt x="44195" y="88391"/>
                  </a:lnTo>
                  <a:lnTo>
                    <a:pt x="26992" y="84918"/>
                  </a:lnTo>
                  <a:lnTo>
                    <a:pt x="12944" y="75447"/>
                  </a:lnTo>
                  <a:lnTo>
                    <a:pt x="3473" y="61399"/>
                  </a:lnTo>
                  <a:lnTo>
                    <a:pt x="0" y="44195"/>
                  </a:lnTo>
                  <a:lnTo>
                    <a:pt x="3473" y="26992"/>
                  </a:lnTo>
                  <a:lnTo>
                    <a:pt x="12944" y="12944"/>
                  </a:lnTo>
                  <a:lnTo>
                    <a:pt x="26992" y="3473"/>
                  </a:lnTo>
                  <a:lnTo>
                    <a:pt x="44195" y="0"/>
                  </a:lnTo>
                  <a:lnTo>
                    <a:pt x="61399" y="3473"/>
                  </a:lnTo>
                  <a:lnTo>
                    <a:pt x="75447" y="12944"/>
                  </a:lnTo>
                  <a:lnTo>
                    <a:pt x="84918" y="26992"/>
                  </a:lnTo>
                  <a:lnTo>
                    <a:pt x="88391" y="4419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332715" y="2597276"/>
              <a:ext cx="487045" cy="464820"/>
            </a:xfrm>
            <a:custGeom>
              <a:avLst/>
              <a:gdLst/>
              <a:ahLst/>
              <a:cxnLst/>
              <a:rect l="l" t="t" r="r" b="b"/>
              <a:pathLst>
                <a:path w="487045" h="464819">
                  <a:moveTo>
                    <a:pt x="31102" y="301472"/>
                  </a:moveTo>
                  <a:lnTo>
                    <a:pt x="22983" y="301491"/>
                  </a:lnTo>
                  <a:lnTo>
                    <a:pt x="15003" y="299788"/>
                  </a:lnTo>
                  <a:lnTo>
                    <a:pt x="7297" y="296405"/>
                  </a:lnTo>
                  <a:lnTo>
                    <a:pt x="0" y="291388"/>
                  </a:lnTo>
                </a:path>
                <a:path w="487045" h="464819">
                  <a:moveTo>
                    <a:pt x="58547" y="411784"/>
                  </a:moveTo>
                  <a:lnTo>
                    <a:pt x="54178" y="414223"/>
                  </a:lnTo>
                  <a:lnTo>
                    <a:pt x="49606" y="415836"/>
                  </a:lnTo>
                  <a:lnTo>
                    <a:pt x="44932" y="416610"/>
                  </a:lnTo>
                </a:path>
                <a:path w="487045" h="464819">
                  <a:moveTo>
                    <a:pt x="175793" y="464794"/>
                  </a:moveTo>
                  <a:lnTo>
                    <a:pt x="172504" y="457885"/>
                  </a:lnTo>
                  <a:lnTo>
                    <a:pt x="169760" y="450507"/>
                  </a:lnTo>
                  <a:lnTo>
                    <a:pt x="167589" y="442785"/>
                  </a:lnTo>
                </a:path>
                <a:path w="487045" h="464819">
                  <a:moveTo>
                    <a:pt x="327406" y="409905"/>
                  </a:moveTo>
                  <a:lnTo>
                    <a:pt x="326923" y="418096"/>
                  </a:lnTo>
                  <a:lnTo>
                    <a:pt x="325831" y="426199"/>
                  </a:lnTo>
                  <a:lnTo>
                    <a:pt x="324129" y="434060"/>
                  </a:lnTo>
                </a:path>
                <a:path w="487045" h="464819">
                  <a:moveTo>
                    <a:pt x="392506" y="260705"/>
                  </a:moveTo>
                  <a:lnTo>
                    <a:pt x="409151" y="276503"/>
                  </a:lnTo>
                  <a:lnTo>
                    <a:pt x="421770" y="297751"/>
                  </a:lnTo>
                  <a:lnTo>
                    <a:pt x="429735" y="323038"/>
                  </a:lnTo>
                  <a:lnTo>
                    <a:pt x="432422" y="350951"/>
                  </a:lnTo>
                </a:path>
                <a:path w="487045" h="464819">
                  <a:moveTo>
                    <a:pt x="486664" y="164592"/>
                  </a:moveTo>
                  <a:lnTo>
                    <a:pt x="483287" y="174093"/>
                  </a:lnTo>
                  <a:lnTo>
                    <a:pt x="479169" y="182956"/>
                  </a:lnTo>
                  <a:lnTo>
                    <a:pt x="474353" y="191095"/>
                  </a:lnTo>
                  <a:lnTo>
                    <a:pt x="468884" y="198424"/>
                  </a:lnTo>
                </a:path>
                <a:path w="487045" h="464819">
                  <a:moveTo>
                    <a:pt x="444004" y="39027"/>
                  </a:moveTo>
                  <a:lnTo>
                    <a:pt x="444690" y="44297"/>
                  </a:lnTo>
                  <a:lnTo>
                    <a:pt x="444995" y="49644"/>
                  </a:lnTo>
                  <a:lnTo>
                    <a:pt x="444944" y="55003"/>
                  </a:lnTo>
                </a:path>
                <a:path w="487045" h="464819">
                  <a:moveTo>
                    <a:pt x="330492" y="20383"/>
                  </a:moveTo>
                  <a:lnTo>
                    <a:pt x="332803" y="13004"/>
                  </a:lnTo>
                  <a:lnTo>
                    <a:pt x="335876" y="6146"/>
                  </a:lnTo>
                  <a:lnTo>
                    <a:pt x="339598" y="0"/>
                  </a:lnTo>
                </a:path>
                <a:path w="487045" h="464819">
                  <a:moveTo>
                    <a:pt x="245325" y="30099"/>
                  </a:moveTo>
                  <a:lnTo>
                    <a:pt x="246265" y="24003"/>
                  </a:lnTo>
                  <a:lnTo>
                    <a:pt x="247751" y="18097"/>
                  </a:lnTo>
                  <a:lnTo>
                    <a:pt x="249732" y="12522"/>
                  </a:lnTo>
                </a:path>
                <a:path w="487045" h="464819">
                  <a:moveTo>
                    <a:pt x="145364" y="36068"/>
                  </a:moveTo>
                  <a:lnTo>
                    <a:pt x="151155" y="40817"/>
                  </a:lnTo>
                  <a:lnTo>
                    <a:pt x="156514" y="46545"/>
                  </a:lnTo>
                  <a:lnTo>
                    <a:pt x="161328" y="53124"/>
                  </a:lnTo>
                </a:path>
                <a:path w="487045" h="464819">
                  <a:moveTo>
                    <a:pt x="24155" y="170091"/>
                  </a:moveTo>
                  <a:lnTo>
                    <a:pt x="22885" y="164223"/>
                  </a:lnTo>
                  <a:lnTo>
                    <a:pt x="21958" y="158216"/>
                  </a:lnTo>
                  <a:lnTo>
                    <a:pt x="21361" y="1521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5365828" y="2801848"/>
            <a:ext cx="4552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 MT"/>
                <a:cs typeface="Arial MT"/>
              </a:rPr>
              <a:t>Internet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929478" y="2672787"/>
            <a:ext cx="2383155" cy="457200"/>
            <a:chOff x="2929478" y="2672787"/>
            <a:chExt cx="2383155" cy="457200"/>
          </a:xfrm>
        </p:grpSpPr>
        <p:sp>
          <p:nvSpPr>
            <p:cNvPr id="42" name="object 42" descr=""/>
            <p:cNvSpPr/>
            <p:nvPr/>
          </p:nvSpPr>
          <p:spPr>
            <a:xfrm>
              <a:off x="5232158" y="2823949"/>
              <a:ext cx="76200" cy="17145"/>
            </a:xfrm>
            <a:custGeom>
              <a:avLst/>
              <a:gdLst/>
              <a:ahLst/>
              <a:cxnLst/>
              <a:rect l="l" t="t" r="r" b="b"/>
              <a:pathLst>
                <a:path w="76200" h="17144">
                  <a:moveTo>
                    <a:pt x="0" y="0"/>
                  </a:moveTo>
                  <a:lnTo>
                    <a:pt x="75692" y="16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934241" y="3063167"/>
              <a:ext cx="97155" cy="45085"/>
            </a:xfrm>
            <a:custGeom>
              <a:avLst/>
              <a:gdLst/>
              <a:ahLst/>
              <a:cxnLst/>
              <a:rect l="l" t="t" r="r" b="b"/>
              <a:pathLst>
                <a:path w="97155" h="45085">
                  <a:moveTo>
                    <a:pt x="0" y="44500"/>
                  </a:moveTo>
                  <a:lnTo>
                    <a:pt x="9664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967748" y="3068466"/>
              <a:ext cx="66675" cy="55244"/>
            </a:xfrm>
            <a:custGeom>
              <a:avLst/>
              <a:gdLst/>
              <a:ahLst/>
              <a:cxnLst/>
              <a:rect l="l" t="t" r="r" b="b"/>
              <a:pathLst>
                <a:path w="66675" h="55244">
                  <a:moveTo>
                    <a:pt x="66306" y="0"/>
                  </a:moveTo>
                  <a:lnTo>
                    <a:pt x="0" y="5510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964770" y="3069595"/>
              <a:ext cx="120650" cy="55880"/>
            </a:xfrm>
            <a:custGeom>
              <a:avLst/>
              <a:gdLst/>
              <a:ahLst/>
              <a:cxnLst/>
              <a:rect l="l" t="t" r="r" b="b"/>
              <a:pathLst>
                <a:path w="120650" h="55880">
                  <a:moveTo>
                    <a:pt x="0" y="55283"/>
                  </a:moveTo>
                  <a:lnTo>
                    <a:pt x="12005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043346" y="2677549"/>
              <a:ext cx="107314" cy="8890"/>
            </a:xfrm>
            <a:custGeom>
              <a:avLst/>
              <a:gdLst/>
              <a:ahLst/>
              <a:cxnLst/>
              <a:rect l="l" t="t" r="r" b="b"/>
              <a:pathLst>
                <a:path w="107314" h="8889">
                  <a:moveTo>
                    <a:pt x="0" y="8699"/>
                  </a:moveTo>
                  <a:lnTo>
                    <a:pt x="10670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075311" y="2682617"/>
              <a:ext cx="81915" cy="29209"/>
            </a:xfrm>
            <a:custGeom>
              <a:avLst/>
              <a:gdLst/>
              <a:ahLst/>
              <a:cxnLst/>
              <a:rect l="l" t="t" r="r" b="b"/>
              <a:pathLst>
                <a:path w="81914" h="29210">
                  <a:moveTo>
                    <a:pt x="81838" y="0"/>
                  </a:moveTo>
                  <a:lnTo>
                    <a:pt x="0" y="290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064577" y="2695496"/>
              <a:ext cx="132715" cy="10795"/>
            </a:xfrm>
            <a:custGeom>
              <a:avLst/>
              <a:gdLst/>
              <a:ahLst/>
              <a:cxnLst/>
              <a:rect l="l" t="t" r="r" b="b"/>
              <a:pathLst>
                <a:path w="132714" h="10794">
                  <a:moveTo>
                    <a:pt x="0" y="10794"/>
                  </a:moveTo>
                  <a:lnTo>
                    <a:pt x="13239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12599" y="2810595"/>
              <a:ext cx="91440" cy="55244"/>
            </a:xfrm>
            <a:custGeom>
              <a:avLst/>
              <a:gdLst/>
              <a:ahLst/>
              <a:cxnLst/>
              <a:rect l="l" t="t" r="r" b="b"/>
              <a:pathLst>
                <a:path w="91439" h="55244">
                  <a:moveTo>
                    <a:pt x="0" y="54965"/>
                  </a:moveTo>
                  <a:lnTo>
                    <a:pt x="9110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254033" y="2808748"/>
              <a:ext cx="60325" cy="62230"/>
            </a:xfrm>
            <a:custGeom>
              <a:avLst/>
              <a:gdLst/>
              <a:ahLst/>
              <a:cxnLst/>
              <a:rect l="l" t="t" r="r" b="b"/>
              <a:pathLst>
                <a:path w="60325" h="62230">
                  <a:moveTo>
                    <a:pt x="59778" y="0"/>
                  </a:moveTo>
                  <a:lnTo>
                    <a:pt x="0" y="6212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63461" y="2804572"/>
              <a:ext cx="113664" cy="68580"/>
            </a:xfrm>
            <a:custGeom>
              <a:avLst/>
              <a:gdLst/>
              <a:ahLst/>
              <a:cxnLst/>
              <a:rect l="l" t="t" r="r" b="b"/>
              <a:pathLst>
                <a:path w="113664" h="68580">
                  <a:moveTo>
                    <a:pt x="0" y="68275"/>
                  </a:moveTo>
                  <a:lnTo>
                    <a:pt x="11316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3401498" y="3005824"/>
            <a:ext cx="4254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latin typeface="Microsoft YaHei"/>
                <a:cs typeface="Microsoft YaHei"/>
              </a:rPr>
              <a:t>宏基站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3597174" y="2748991"/>
            <a:ext cx="371475" cy="198755"/>
          </a:xfrm>
          <a:custGeom>
            <a:avLst/>
            <a:gdLst/>
            <a:ahLst/>
            <a:cxnLst/>
            <a:rect l="l" t="t" r="r" b="b"/>
            <a:pathLst>
              <a:path w="371475" h="198755">
                <a:moveTo>
                  <a:pt x="0" y="198716"/>
                </a:moveTo>
                <a:lnTo>
                  <a:pt x="37128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3416989" y="3406428"/>
            <a:ext cx="443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>
                <a:latin typeface="Microsoft YaHei"/>
                <a:cs typeface="Microsoft YaHei"/>
              </a:rPr>
              <a:t>小基站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3643212" y="2744236"/>
            <a:ext cx="2252980" cy="999490"/>
            <a:chOff x="3643212" y="2744236"/>
            <a:chExt cx="2252980" cy="999490"/>
          </a:xfrm>
        </p:grpSpPr>
        <p:sp>
          <p:nvSpPr>
            <p:cNvPr id="56" name="object 56" descr=""/>
            <p:cNvSpPr/>
            <p:nvPr/>
          </p:nvSpPr>
          <p:spPr>
            <a:xfrm>
              <a:off x="3647974" y="2748998"/>
              <a:ext cx="320675" cy="507365"/>
            </a:xfrm>
            <a:custGeom>
              <a:avLst/>
              <a:gdLst/>
              <a:ahLst/>
              <a:cxnLst/>
              <a:rect l="l" t="t" r="r" b="b"/>
              <a:pathLst>
                <a:path w="320675" h="507364">
                  <a:moveTo>
                    <a:pt x="0" y="506818"/>
                  </a:moveTo>
                  <a:lnTo>
                    <a:pt x="32048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4271" y="3195828"/>
              <a:ext cx="596645" cy="547877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5147" y="3241548"/>
              <a:ext cx="120446" cy="422147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83885" y="3241548"/>
              <a:ext cx="86131" cy="422147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69941" y="3222091"/>
              <a:ext cx="505294" cy="455841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5269936" y="3222090"/>
              <a:ext cx="505459" cy="455930"/>
            </a:xfrm>
            <a:custGeom>
              <a:avLst/>
              <a:gdLst/>
              <a:ahLst/>
              <a:cxnLst/>
              <a:rect l="l" t="t" r="r" b="b"/>
              <a:pathLst>
                <a:path w="505460" h="455929">
                  <a:moveTo>
                    <a:pt x="0" y="0"/>
                  </a:moveTo>
                  <a:lnTo>
                    <a:pt x="505294" y="0"/>
                  </a:lnTo>
                  <a:lnTo>
                    <a:pt x="505294" y="455841"/>
                  </a:lnTo>
                  <a:lnTo>
                    <a:pt x="0" y="455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F2F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5281095" y="3281097"/>
            <a:ext cx="482600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75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应用服务</a:t>
            </a:r>
            <a:endParaRPr sz="900">
              <a:latin typeface="Microsoft YaHei"/>
              <a:cs typeface="Microsoft YaHei"/>
            </a:endParaRPr>
          </a:p>
          <a:p>
            <a:pPr marL="32384">
              <a:lnSpc>
                <a:spcPts val="1315"/>
              </a:lnSpc>
            </a:pPr>
            <a:r>
              <a:rPr dirty="0" sz="1100" spc="-35" b="1">
                <a:latin typeface="Microsoft YaHei"/>
                <a:cs typeface="Microsoft YaHei"/>
              </a:rPr>
              <a:t>中心云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3139581" y="2628974"/>
            <a:ext cx="2553335" cy="501650"/>
            <a:chOff x="3139581" y="2628974"/>
            <a:chExt cx="2553335" cy="501650"/>
          </a:xfrm>
        </p:grpSpPr>
        <p:sp>
          <p:nvSpPr>
            <p:cNvPr id="64" name="object 64" descr=""/>
            <p:cNvSpPr/>
            <p:nvPr/>
          </p:nvSpPr>
          <p:spPr>
            <a:xfrm>
              <a:off x="3154198" y="2733324"/>
              <a:ext cx="2524125" cy="5715"/>
            </a:xfrm>
            <a:custGeom>
              <a:avLst/>
              <a:gdLst/>
              <a:ahLst/>
              <a:cxnLst/>
              <a:rect l="l" t="t" r="r" b="b"/>
              <a:pathLst>
                <a:path w="2524125" h="5714">
                  <a:moveTo>
                    <a:pt x="0" y="0"/>
                  </a:moveTo>
                  <a:lnTo>
                    <a:pt x="76153" y="10"/>
                  </a:lnTo>
                  <a:lnTo>
                    <a:pt x="151985" y="33"/>
                  </a:lnTo>
                  <a:lnTo>
                    <a:pt x="227259" y="67"/>
                  </a:lnTo>
                  <a:lnTo>
                    <a:pt x="301736" y="112"/>
                  </a:lnTo>
                  <a:lnTo>
                    <a:pt x="375181" y="167"/>
                  </a:lnTo>
                  <a:lnTo>
                    <a:pt x="447356" y="233"/>
                  </a:lnTo>
                  <a:lnTo>
                    <a:pt x="518023" y="308"/>
                  </a:lnTo>
                  <a:lnTo>
                    <a:pt x="586945" y="392"/>
                  </a:lnTo>
                  <a:lnTo>
                    <a:pt x="653885" y="484"/>
                  </a:lnTo>
                  <a:lnTo>
                    <a:pt x="718607" y="584"/>
                  </a:lnTo>
                  <a:lnTo>
                    <a:pt x="780872" y="692"/>
                  </a:lnTo>
                  <a:lnTo>
                    <a:pt x="840443" y="806"/>
                  </a:lnTo>
                  <a:lnTo>
                    <a:pt x="897084" y="928"/>
                  </a:lnTo>
                  <a:lnTo>
                    <a:pt x="950556" y="1055"/>
                  </a:lnTo>
                  <a:lnTo>
                    <a:pt x="1000624" y="1187"/>
                  </a:lnTo>
                  <a:lnTo>
                    <a:pt x="1047049" y="1325"/>
                  </a:lnTo>
                  <a:lnTo>
                    <a:pt x="1089594" y="1467"/>
                  </a:lnTo>
                  <a:lnTo>
                    <a:pt x="1128022" y="1613"/>
                  </a:lnTo>
                  <a:lnTo>
                    <a:pt x="1191579" y="1915"/>
                  </a:lnTo>
                  <a:lnTo>
                    <a:pt x="1235822" y="2227"/>
                  </a:lnTo>
                  <a:lnTo>
                    <a:pt x="1264788" y="2865"/>
                  </a:lnTo>
                  <a:lnTo>
                    <a:pt x="1273534" y="3024"/>
                  </a:lnTo>
                  <a:lnTo>
                    <a:pt x="1332061" y="3494"/>
                  </a:lnTo>
                  <a:lnTo>
                    <a:pt x="1395617" y="3796"/>
                  </a:lnTo>
                  <a:lnTo>
                    <a:pt x="1434045" y="3942"/>
                  </a:lnTo>
                  <a:lnTo>
                    <a:pt x="1476590" y="4084"/>
                  </a:lnTo>
                  <a:lnTo>
                    <a:pt x="1523014" y="4222"/>
                  </a:lnTo>
                  <a:lnTo>
                    <a:pt x="1573081" y="4354"/>
                  </a:lnTo>
                  <a:lnTo>
                    <a:pt x="1626553" y="4482"/>
                  </a:lnTo>
                  <a:lnTo>
                    <a:pt x="1683193" y="4603"/>
                  </a:lnTo>
                  <a:lnTo>
                    <a:pt x="1742764" y="4717"/>
                  </a:lnTo>
                  <a:lnTo>
                    <a:pt x="1805029" y="4825"/>
                  </a:lnTo>
                  <a:lnTo>
                    <a:pt x="1869750" y="4925"/>
                  </a:lnTo>
                  <a:lnTo>
                    <a:pt x="1936691" y="5018"/>
                  </a:lnTo>
                  <a:lnTo>
                    <a:pt x="2005613" y="5101"/>
                  </a:lnTo>
                  <a:lnTo>
                    <a:pt x="2076281" y="5176"/>
                  </a:lnTo>
                  <a:lnTo>
                    <a:pt x="2148455" y="5242"/>
                  </a:lnTo>
                  <a:lnTo>
                    <a:pt x="2221901" y="5297"/>
                  </a:lnTo>
                  <a:lnTo>
                    <a:pt x="2296379" y="5342"/>
                  </a:lnTo>
                  <a:lnTo>
                    <a:pt x="2371654" y="5376"/>
                  </a:lnTo>
                  <a:lnTo>
                    <a:pt x="2447487" y="5399"/>
                  </a:lnTo>
                  <a:lnTo>
                    <a:pt x="2523642" y="5410"/>
                  </a:lnTo>
                </a:path>
              </a:pathLst>
            </a:custGeom>
            <a:ln w="25400">
              <a:solidFill>
                <a:srgbClr val="FFC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603550" y="2694277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12" y="0"/>
                  </a:moveTo>
                  <a:lnTo>
                    <a:pt x="76212" y="44450"/>
                  </a:lnTo>
                  <a:lnTo>
                    <a:pt x="0" y="8890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152281" y="2688871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76200" y="88900"/>
                  </a:moveTo>
                  <a:lnTo>
                    <a:pt x="0" y="44450"/>
                  </a:lnTo>
                  <a:lnTo>
                    <a:pt x="76200" y="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493282" y="2635324"/>
              <a:ext cx="379095" cy="474345"/>
            </a:xfrm>
            <a:custGeom>
              <a:avLst/>
              <a:gdLst/>
              <a:ahLst/>
              <a:cxnLst/>
              <a:rect l="l" t="t" r="r" b="b"/>
              <a:pathLst>
                <a:path w="379095" h="474344">
                  <a:moveTo>
                    <a:pt x="34227" y="156260"/>
                  </a:moveTo>
                  <a:lnTo>
                    <a:pt x="35735" y="116235"/>
                  </a:lnTo>
                  <a:lnTo>
                    <a:pt x="62733" y="55733"/>
                  </a:lnTo>
                  <a:lnTo>
                    <a:pt x="94829" y="41703"/>
                  </a:lnTo>
                  <a:lnTo>
                    <a:pt x="104576" y="43615"/>
                  </a:lnTo>
                  <a:lnTo>
                    <a:pt x="114003" y="48239"/>
                  </a:lnTo>
                  <a:lnTo>
                    <a:pt x="122911" y="55510"/>
                  </a:lnTo>
                  <a:lnTo>
                    <a:pt x="134707" y="31001"/>
                  </a:lnTo>
                  <a:lnTo>
                    <a:pt x="150545" y="16610"/>
                  </a:lnTo>
                  <a:lnTo>
                    <a:pt x="168390" y="13402"/>
                  </a:lnTo>
                  <a:lnTo>
                    <a:pt x="186208" y="22440"/>
                  </a:lnTo>
                  <a:lnTo>
                    <a:pt x="190196" y="26059"/>
                  </a:lnTo>
                  <a:lnTo>
                    <a:pt x="193866" y="30644"/>
                  </a:lnTo>
                  <a:lnTo>
                    <a:pt x="197092" y="36054"/>
                  </a:lnTo>
                  <a:lnTo>
                    <a:pt x="206439" y="15592"/>
                  </a:lnTo>
                  <a:lnTo>
                    <a:pt x="219220" y="3259"/>
                  </a:lnTo>
                  <a:lnTo>
                    <a:pt x="233781" y="0"/>
                  </a:lnTo>
                  <a:lnTo>
                    <a:pt x="248464" y="6755"/>
                  </a:lnTo>
                  <a:lnTo>
                    <a:pt x="253709" y="11213"/>
                  </a:lnTo>
                  <a:lnTo>
                    <a:pt x="258281" y="17664"/>
                  </a:lnTo>
                  <a:lnTo>
                    <a:pt x="261824" y="25602"/>
                  </a:lnTo>
                  <a:lnTo>
                    <a:pt x="275111" y="7766"/>
                  </a:lnTo>
                  <a:lnTo>
                    <a:pt x="290842" y="237"/>
                  </a:lnTo>
                  <a:lnTo>
                    <a:pt x="307085" y="3285"/>
                  </a:lnTo>
                  <a:lnTo>
                    <a:pt x="331279" y="36268"/>
                  </a:lnTo>
                  <a:lnTo>
                    <a:pt x="336297" y="59613"/>
                  </a:lnTo>
                  <a:lnTo>
                    <a:pt x="352911" y="73853"/>
                  </a:lnTo>
                  <a:lnTo>
                    <a:pt x="364632" y="97057"/>
                  </a:lnTo>
                  <a:lnTo>
                    <a:pt x="370403" y="126069"/>
                  </a:lnTo>
                  <a:lnTo>
                    <a:pt x="369164" y="157733"/>
                  </a:lnTo>
                  <a:lnTo>
                    <a:pt x="368593" y="161314"/>
                  </a:lnTo>
                  <a:lnTo>
                    <a:pt x="367882" y="164819"/>
                  </a:lnTo>
                  <a:lnTo>
                    <a:pt x="367018" y="168236"/>
                  </a:lnTo>
                  <a:lnTo>
                    <a:pt x="377411" y="204362"/>
                  </a:lnTo>
                  <a:lnTo>
                    <a:pt x="378820" y="243131"/>
                  </a:lnTo>
                  <a:lnTo>
                    <a:pt x="356083" y="310311"/>
                  </a:lnTo>
                  <a:lnTo>
                    <a:pt x="328283" y="330262"/>
                  </a:lnTo>
                  <a:lnTo>
                    <a:pt x="324133" y="363854"/>
                  </a:lnTo>
                  <a:lnTo>
                    <a:pt x="313123" y="391183"/>
                  </a:lnTo>
                  <a:lnTo>
                    <a:pt x="296897" y="409488"/>
                  </a:lnTo>
                  <a:lnTo>
                    <a:pt x="277102" y="416013"/>
                  </a:lnTo>
                  <a:lnTo>
                    <a:pt x="270129" y="415099"/>
                  </a:lnTo>
                  <a:lnTo>
                    <a:pt x="263329" y="412579"/>
                  </a:lnTo>
                  <a:lnTo>
                    <a:pt x="256796" y="408499"/>
                  </a:lnTo>
                  <a:lnTo>
                    <a:pt x="250623" y="402906"/>
                  </a:lnTo>
                  <a:lnTo>
                    <a:pt x="239479" y="438327"/>
                  </a:lnTo>
                  <a:lnTo>
                    <a:pt x="221865" y="462845"/>
                  </a:lnTo>
                  <a:lnTo>
                    <a:pt x="200157" y="474288"/>
                  </a:lnTo>
                  <a:lnTo>
                    <a:pt x="176734" y="470483"/>
                  </a:lnTo>
                  <a:lnTo>
                    <a:pt x="167251" y="464006"/>
                  </a:lnTo>
                  <a:lnTo>
                    <a:pt x="158621" y="454919"/>
                  </a:lnTo>
                  <a:lnTo>
                    <a:pt x="151024" y="443451"/>
                  </a:lnTo>
                  <a:lnTo>
                    <a:pt x="144641" y="429830"/>
                  </a:lnTo>
                  <a:lnTo>
                    <a:pt x="119296" y="445263"/>
                  </a:lnTo>
                  <a:lnTo>
                    <a:pt x="93357" y="442959"/>
                  </a:lnTo>
                  <a:lnTo>
                    <a:pt x="69816" y="424190"/>
                  </a:lnTo>
                  <a:lnTo>
                    <a:pt x="51664" y="390232"/>
                  </a:lnTo>
                  <a:lnTo>
                    <a:pt x="51423" y="389533"/>
                  </a:lnTo>
                  <a:lnTo>
                    <a:pt x="51182" y="388835"/>
                  </a:lnTo>
                  <a:lnTo>
                    <a:pt x="50941" y="388136"/>
                  </a:lnTo>
                  <a:lnTo>
                    <a:pt x="35802" y="386013"/>
                  </a:lnTo>
                  <a:lnTo>
                    <a:pt x="22769" y="374580"/>
                  </a:lnTo>
                  <a:lnTo>
                    <a:pt x="13207" y="355673"/>
                  </a:lnTo>
                  <a:lnTo>
                    <a:pt x="8484" y="331126"/>
                  </a:lnTo>
                  <a:lnTo>
                    <a:pt x="8417" y="316942"/>
                  </a:lnTo>
                  <a:lnTo>
                    <a:pt x="10132" y="303225"/>
                  </a:lnTo>
                  <a:lnTo>
                    <a:pt x="13539" y="290455"/>
                  </a:lnTo>
                  <a:lnTo>
                    <a:pt x="18543" y="279107"/>
                  </a:lnTo>
                  <a:lnTo>
                    <a:pt x="7250" y="261824"/>
                  </a:lnTo>
                  <a:lnTo>
                    <a:pt x="923" y="239248"/>
                  </a:lnTo>
                  <a:lnTo>
                    <a:pt x="0" y="214252"/>
                  </a:lnTo>
                  <a:lnTo>
                    <a:pt x="4916" y="189711"/>
                  </a:lnTo>
                  <a:lnTo>
                    <a:pt x="10334" y="177441"/>
                  </a:lnTo>
                  <a:lnTo>
                    <a:pt x="17179" y="167793"/>
                  </a:lnTo>
                  <a:lnTo>
                    <a:pt x="25142" y="161110"/>
                  </a:lnTo>
                  <a:lnTo>
                    <a:pt x="33910" y="157733"/>
                  </a:lnTo>
                  <a:lnTo>
                    <a:pt x="34227" y="15626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633451" y="3044414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21069" y="10528"/>
                  </a:moveTo>
                  <a:lnTo>
                    <a:pt x="21069" y="16344"/>
                  </a:lnTo>
                  <a:lnTo>
                    <a:pt x="16357" y="21056"/>
                  </a:lnTo>
                  <a:lnTo>
                    <a:pt x="10540" y="21056"/>
                  </a:lnTo>
                  <a:lnTo>
                    <a:pt x="4724" y="21056"/>
                  </a:lnTo>
                  <a:lnTo>
                    <a:pt x="0" y="16344"/>
                  </a:lnTo>
                  <a:lnTo>
                    <a:pt x="0" y="10528"/>
                  </a:lnTo>
                  <a:lnTo>
                    <a:pt x="0" y="4711"/>
                  </a:lnTo>
                  <a:lnTo>
                    <a:pt x="4724" y="0"/>
                  </a:lnTo>
                  <a:lnTo>
                    <a:pt x="10540" y="0"/>
                  </a:lnTo>
                  <a:lnTo>
                    <a:pt x="16357" y="0"/>
                  </a:lnTo>
                  <a:lnTo>
                    <a:pt x="21069" y="4711"/>
                  </a:lnTo>
                  <a:lnTo>
                    <a:pt x="21069" y="105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621169" y="3042194"/>
              <a:ext cx="42545" cy="42545"/>
            </a:xfrm>
            <a:custGeom>
              <a:avLst/>
              <a:gdLst/>
              <a:ahLst/>
              <a:cxnLst/>
              <a:rect l="l" t="t" r="r" b="b"/>
              <a:pathLst>
                <a:path w="42545" h="42544">
                  <a:moveTo>
                    <a:pt x="42125" y="21069"/>
                  </a:moveTo>
                  <a:lnTo>
                    <a:pt x="40469" y="29269"/>
                  </a:lnTo>
                  <a:lnTo>
                    <a:pt x="35953" y="35966"/>
                  </a:lnTo>
                  <a:lnTo>
                    <a:pt x="29256" y="40482"/>
                  </a:lnTo>
                  <a:lnTo>
                    <a:pt x="21056" y="42138"/>
                  </a:lnTo>
                  <a:lnTo>
                    <a:pt x="12858" y="40482"/>
                  </a:lnTo>
                  <a:lnTo>
                    <a:pt x="6165" y="35966"/>
                  </a:lnTo>
                  <a:lnTo>
                    <a:pt x="1654" y="29269"/>
                  </a:lnTo>
                  <a:lnTo>
                    <a:pt x="0" y="21069"/>
                  </a:lnTo>
                  <a:lnTo>
                    <a:pt x="1654" y="12869"/>
                  </a:lnTo>
                  <a:lnTo>
                    <a:pt x="6165" y="6172"/>
                  </a:lnTo>
                  <a:lnTo>
                    <a:pt x="12858" y="1656"/>
                  </a:lnTo>
                  <a:lnTo>
                    <a:pt x="21056" y="0"/>
                  </a:lnTo>
                  <a:lnTo>
                    <a:pt x="29256" y="1656"/>
                  </a:lnTo>
                  <a:lnTo>
                    <a:pt x="35953" y="6172"/>
                  </a:lnTo>
                  <a:lnTo>
                    <a:pt x="40469" y="12869"/>
                  </a:lnTo>
                  <a:lnTo>
                    <a:pt x="42125" y="210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604518" y="306059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195" y="31597"/>
                  </a:moveTo>
                  <a:lnTo>
                    <a:pt x="60711" y="43896"/>
                  </a:lnTo>
                  <a:lnTo>
                    <a:pt x="53940" y="53940"/>
                  </a:lnTo>
                  <a:lnTo>
                    <a:pt x="43896" y="60711"/>
                  </a:lnTo>
                  <a:lnTo>
                    <a:pt x="31597" y="63195"/>
                  </a:lnTo>
                  <a:lnTo>
                    <a:pt x="19298" y="60711"/>
                  </a:lnTo>
                  <a:lnTo>
                    <a:pt x="9255" y="53940"/>
                  </a:lnTo>
                  <a:lnTo>
                    <a:pt x="2483" y="43896"/>
                  </a:lnTo>
                  <a:lnTo>
                    <a:pt x="0" y="31597"/>
                  </a:lnTo>
                  <a:lnTo>
                    <a:pt x="2483" y="19298"/>
                  </a:lnTo>
                  <a:lnTo>
                    <a:pt x="9255" y="9255"/>
                  </a:lnTo>
                  <a:lnTo>
                    <a:pt x="19298" y="2483"/>
                  </a:lnTo>
                  <a:lnTo>
                    <a:pt x="31597" y="0"/>
                  </a:lnTo>
                  <a:lnTo>
                    <a:pt x="43896" y="2483"/>
                  </a:lnTo>
                  <a:lnTo>
                    <a:pt x="53940" y="9255"/>
                  </a:lnTo>
                  <a:lnTo>
                    <a:pt x="60711" y="19298"/>
                  </a:lnTo>
                  <a:lnTo>
                    <a:pt x="63195" y="3159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512232" y="2659388"/>
              <a:ext cx="347980" cy="403860"/>
            </a:xfrm>
            <a:custGeom>
              <a:avLst/>
              <a:gdLst/>
              <a:ahLst/>
              <a:cxnLst/>
              <a:rect l="l" t="t" r="r" b="b"/>
              <a:pathLst>
                <a:path w="347979" h="403860">
                  <a:moveTo>
                    <a:pt x="22237" y="261950"/>
                  </a:moveTo>
                  <a:lnTo>
                    <a:pt x="14477" y="262991"/>
                  </a:lnTo>
                  <a:lnTo>
                    <a:pt x="6718" y="259930"/>
                  </a:lnTo>
                  <a:lnTo>
                    <a:pt x="0" y="253187"/>
                  </a:lnTo>
                </a:path>
                <a:path w="347979" h="403860">
                  <a:moveTo>
                    <a:pt x="41859" y="357797"/>
                  </a:moveTo>
                  <a:lnTo>
                    <a:pt x="38734" y="359918"/>
                  </a:lnTo>
                  <a:lnTo>
                    <a:pt x="35458" y="361327"/>
                  </a:lnTo>
                  <a:lnTo>
                    <a:pt x="32130" y="361988"/>
                  </a:lnTo>
                </a:path>
                <a:path w="347979" h="403860">
                  <a:moveTo>
                    <a:pt x="125666" y="403860"/>
                  </a:moveTo>
                  <a:lnTo>
                    <a:pt x="123316" y="397865"/>
                  </a:lnTo>
                  <a:lnTo>
                    <a:pt x="121361" y="391452"/>
                  </a:lnTo>
                  <a:lnTo>
                    <a:pt x="119811" y="384733"/>
                  </a:lnTo>
                </a:path>
                <a:path w="347979" h="403860">
                  <a:moveTo>
                    <a:pt x="234048" y="356171"/>
                  </a:moveTo>
                  <a:lnTo>
                    <a:pt x="233705" y="363296"/>
                  </a:lnTo>
                  <a:lnTo>
                    <a:pt x="232917" y="370319"/>
                  </a:lnTo>
                  <a:lnTo>
                    <a:pt x="231711" y="377151"/>
                  </a:lnTo>
                </a:path>
                <a:path w="347979" h="403860">
                  <a:moveTo>
                    <a:pt x="280581" y="226529"/>
                  </a:moveTo>
                  <a:lnTo>
                    <a:pt x="292483" y="240253"/>
                  </a:lnTo>
                  <a:lnTo>
                    <a:pt x="301507" y="258716"/>
                  </a:lnTo>
                  <a:lnTo>
                    <a:pt x="307202" y="280692"/>
                  </a:lnTo>
                  <a:lnTo>
                    <a:pt x="309117" y="304952"/>
                  </a:lnTo>
                </a:path>
                <a:path w="347979" h="403860">
                  <a:moveTo>
                    <a:pt x="347891" y="143014"/>
                  </a:moveTo>
                  <a:lnTo>
                    <a:pt x="345479" y="151267"/>
                  </a:lnTo>
                  <a:lnTo>
                    <a:pt x="342536" y="158967"/>
                  </a:lnTo>
                  <a:lnTo>
                    <a:pt x="339095" y="166040"/>
                  </a:lnTo>
                  <a:lnTo>
                    <a:pt x="335191" y="172415"/>
                  </a:lnTo>
                </a:path>
                <a:path w="347979" h="403860">
                  <a:moveTo>
                    <a:pt x="317398" y="33909"/>
                  </a:moveTo>
                  <a:lnTo>
                    <a:pt x="317893" y="38493"/>
                  </a:lnTo>
                  <a:lnTo>
                    <a:pt x="318109" y="43141"/>
                  </a:lnTo>
                  <a:lnTo>
                    <a:pt x="318071" y="47790"/>
                  </a:lnTo>
                </a:path>
                <a:path w="347979" h="403860">
                  <a:moveTo>
                    <a:pt x="236258" y="17703"/>
                  </a:moveTo>
                  <a:lnTo>
                    <a:pt x="237909" y="11303"/>
                  </a:lnTo>
                  <a:lnTo>
                    <a:pt x="240106" y="5334"/>
                  </a:lnTo>
                  <a:lnTo>
                    <a:pt x="242760" y="0"/>
                  </a:lnTo>
                </a:path>
                <a:path w="347979" h="403860">
                  <a:moveTo>
                    <a:pt x="175374" y="26149"/>
                  </a:moveTo>
                  <a:lnTo>
                    <a:pt x="176047" y="20853"/>
                  </a:lnTo>
                  <a:lnTo>
                    <a:pt x="177101" y="15722"/>
                  </a:lnTo>
                  <a:lnTo>
                    <a:pt x="178523" y="10871"/>
                  </a:lnTo>
                </a:path>
                <a:path w="347979" h="403860">
                  <a:moveTo>
                    <a:pt x="103924" y="31330"/>
                  </a:moveTo>
                  <a:lnTo>
                    <a:pt x="108064" y="35471"/>
                  </a:lnTo>
                  <a:lnTo>
                    <a:pt x="111886" y="40449"/>
                  </a:lnTo>
                  <a:lnTo>
                    <a:pt x="115328" y="46151"/>
                  </a:lnTo>
                </a:path>
                <a:path w="347979" h="403860">
                  <a:moveTo>
                    <a:pt x="17271" y="147789"/>
                  </a:moveTo>
                  <a:lnTo>
                    <a:pt x="16370" y="142697"/>
                  </a:lnTo>
                  <a:lnTo>
                    <a:pt x="15697" y="137477"/>
                  </a:lnTo>
                  <a:lnTo>
                    <a:pt x="15278" y="13219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4583879" y="2867601"/>
            <a:ext cx="1879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Arial MT"/>
                <a:cs typeface="Arial MT"/>
              </a:rPr>
              <a:t>PT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4583879" y="3020051"/>
            <a:ext cx="1174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Arial MT"/>
                <a:cs typeface="Arial MT"/>
              </a:rPr>
              <a:t>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3049723" y="2639268"/>
            <a:ext cx="1287145" cy="564515"/>
            <a:chOff x="3049723" y="2639268"/>
            <a:chExt cx="1287145" cy="564515"/>
          </a:xfrm>
        </p:grpSpPr>
        <p:sp>
          <p:nvSpPr>
            <p:cNvPr id="75" name="object 75" descr=""/>
            <p:cNvSpPr/>
            <p:nvPr/>
          </p:nvSpPr>
          <p:spPr>
            <a:xfrm>
              <a:off x="3069692" y="2724520"/>
              <a:ext cx="1191895" cy="460375"/>
            </a:xfrm>
            <a:custGeom>
              <a:avLst/>
              <a:gdLst/>
              <a:ahLst/>
              <a:cxnLst/>
              <a:rect l="l" t="t" r="r" b="b"/>
              <a:pathLst>
                <a:path w="1191895" h="460375">
                  <a:moveTo>
                    <a:pt x="0" y="0"/>
                  </a:moveTo>
                  <a:lnTo>
                    <a:pt x="69170" y="1096"/>
                  </a:lnTo>
                  <a:lnTo>
                    <a:pt x="138035" y="3188"/>
                  </a:lnTo>
                  <a:lnTo>
                    <a:pt x="206398" y="6237"/>
                  </a:lnTo>
                  <a:lnTo>
                    <a:pt x="274061" y="10203"/>
                  </a:lnTo>
                  <a:lnTo>
                    <a:pt x="340829" y="15046"/>
                  </a:lnTo>
                  <a:lnTo>
                    <a:pt x="406505" y="20725"/>
                  </a:lnTo>
                  <a:lnTo>
                    <a:pt x="470892" y="27202"/>
                  </a:lnTo>
                  <a:lnTo>
                    <a:pt x="533795" y="34436"/>
                  </a:lnTo>
                  <a:lnTo>
                    <a:pt x="595016" y="42387"/>
                  </a:lnTo>
                  <a:lnTo>
                    <a:pt x="654360" y="51016"/>
                  </a:lnTo>
                  <a:lnTo>
                    <a:pt x="711628" y="60283"/>
                  </a:lnTo>
                  <a:lnTo>
                    <a:pt x="766627" y="70147"/>
                  </a:lnTo>
                  <a:lnTo>
                    <a:pt x="819157" y="80570"/>
                  </a:lnTo>
                  <a:lnTo>
                    <a:pt x="869024" y="91510"/>
                  </a:lnTo>
                  <a:lnTo>
                    <a:pt x="916031" y="102929"/>
                  </a:lnTo>
                  <a:lnTo>
                    <a:pt x="959981" y="114787"/>
                  </a:lnTo>
                  <a:lnTo>
                    <a:pt x="1000678" y="127042"/>
                  </a:lnTo>
                  <a:lnTo>
                    <a:pt x="1037925" y="139657"/>
                  </a:lnTo>
                  <a:lnTo>
                    <a:pt x="1101284" y="165803"/>
                  </a:lnTo>
                  <a:lnTo>
                    <a:pt x="1148487" y="192905"/>
                  </a:lnTo>
                  <a:lnTo>
                    <a:pt x="1177961" y="220645"/>
                  </a:lnTo>
                  <a:lnTo>
                    <a:pt x="1188410" y="310011"/>
                  </a:lnTo>
                  <a:lnTo>
                    <a:pt x="1189170" y="367919"/>
                  </a:lnTo>
                  <a:lnTo>
                    <a:pt x="1190321" y="419025"/>
                  </a:lnTo>
                  <a:lnTo>
                    <a:pt x="1191768" y="459930"/>
                  </a:lnTo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184674" y="3064637"/>
              <a:ext cx="133350" cy="120014"/>
            </a:xfrm>
            <a:custGeom>
              <a:avLst/>
              <a:gdLst/>
              <a:ahLst/>
              <a:cxnLst/>
              <a:rect l="l" t="t" r="r" b="b"/>
              <a:pathLst>
                <a:path w="133350" h="120014">
                  <a:moveTo>
                    <a:pt x="132791" y="0"/>
                  </a:moveTo>
                  <a:lnTo>
                    <a:pt x="76784" y="119888"/>
                  </a:lnTo>
                  <a:lnTo>
                    <a:pt x="0" y="12128"/>
                  </a:lnTo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068773" y="2658318"/>
              <a:ext cx="114935" cy="133350"/>
            </a:xfrm>
            <a:custGeom>
              <a:avLst/>
              <a:gdLst/>
              <a:ahLst/>
              <a:cxnLst/>
              <a:rect l="l" t="t" r="r" b="b"/>
              <a:pathLst>
                <a:path w="114935" h="133350">
                  <a:moveTo>
                    <a:pt x="114020" y="133350"/>
                  </a:moveTo>
                  <a:lnTo>
                    <a:pt x="0" y="66192"/>
                  </a:lnTo>
                  <a:lnTo>
                    <a:pt x="114579" y="0"/>
                  </a:lnTo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3977144" y="3183648"/>
            <a:ext cx="467359" cy="398780"/>
          </a:xfrm>
          <a:prstGeom prst="rect">
            <a:avLst/>
          </a:prstGeom>
          <a:solidFill>
            <a:srgbClr val="DAEDEF"/>
          </a:solidFill>
          <a:ln w="25400">
            <a:solidFill>
              <a:srgbClr val="A0AEB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994"/>
              </a:lnSpc>
            </a:pPr>
            <a:r>
              <a:rPr dirty="0" sz="900" spc="-20">
                <a:latin typeface="Microsoft YaHei"/>
                <a:cs typeface="Microsoft YaHei"/>
              </a:rPr>
              <a:t>应用服</a:t>
            </a:r>
            <a:endParaRPr sz="9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900" spc="-50">
                <a:latin typeface="Microsoft YaHei"/>
                <a:cs typeface="Microsoft YaHei"/>
              </a:rPr>
              <a:t>务</a:t>
            </a:r>
            <a:endParaRPr sz="900">
              <a:latin typeface="Microsoft YaHei"/>
              <a:cs typeface="Microsoft YaHei"/>
            </a:endParaRPr>
          </a:p>
          <a:p>
            <a:pPr algn="ctr">
              <a:lnSpc>
                <a:spcPts val="1060"/>
              </a:lnSpc>
            </a:pPr>
            <a:r>
              <a:rPr dirty="0" sz="900" spc="-20" b="1">
                <a:solidFill>
                  <a:srgbClr val="FFFFFF"/>
                </a:solidFill>
                <a:latin typeface="Microsoft YaHei"/>
                <a:cs typeface="Microsoft YaHei"/>
              </a:rPr>
              <a:t>边缘云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2680805" y="2504160"/>
            <a:ext cx="925830" cy="1283335"/>
            <a:chOff x="2680805" y="2504160"/>
            <a:chExt cx="925830" cy="1283335"/>
          </a:xfrm>
        </p:grpSpPr>
        <p:sp>
          <p:nvSpPr>
            <p:cNvPr id="80" name="object 80" descr=""/>
            <p:cNvSpPr/>
            <p:nvPr/>
          </p:nvSpPr>
          <p:spPr>
            <a:xfrm>
              <a:off x="3173649" y="3400757"/>
              <a:ext cx="125730" cy="88265"/>
            </a:xfrm>
            <a:custGeom>
              <a:avLst/>
              <a:gdLst/>
              <a:ahLst/>
              <a:cxnLst/>
              <a:rect l="l" t="t" r="r" b="b"/>
              <a:pathLst>
                <a:path w="125729" h="88264">
                  <a:moveTo>
                    <a:pt x="125336" y="0"/>
                  </a:moveTo>
                  <a:lnTo>
                    <a:pt x="0" y="8773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270628" y="3414815"/>
              <a:ext cx="113664" cy="68580"/>
            </a:xfrm>
            <a:custGeom>
              <a:avLst/>
              <a:gdLst/>
              <a:ahLst/>
              <a:cxnLst/>
              <a:rect l="l" t="t" r="r" b="b"/>
              <a:pathLst>
                <a:path w="113664" h="68579">
                  <a:moveTo>
                    <a:pt x="0" y="68275"/>
                  </a:moveTo>
                  <a:lnTo>
                    <a:pt x="11316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269094" y="3413561"/>
              <a:ext cx="60325" cy="62230"/>
            </a:xfrm>
            <a:custGeom>
              <a:avLst/>
              <a:gdLst/>
              <a:ahLst/>
              <a:cxnLst/>
              <a:rect l="l" t="t" r="r" b="b"/>
              <a:pathLst>
                <a:path w="60325" h="62229">
                  <a:moveTo>
                    <a:pt x="59778" y="0"/>
                  </a:moveTo>
                  <a:lnTo>
                    <a:pt x="0" y="6212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3050" y="2504160"/>
              <a:ext cx="299526" cy="40407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0805" y="2980353"/>
              <a:ext cx="299528" cy="40408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20277" y="3192912"/>
              <a:ext cx="185925" cy="21995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2435" y="3429524"/>
              <a:ext cx="265413" cy="357805"/>
            </a:xfrm>
            <a:prstGeom prst="rect">
              <a:avLst/>
            </a:prstGeom>
          </p:spPr>
        </p:pic>
      </p:grpSp>
      <p:sp>
        <p:nvSpPr>
          <p:cNvPr id="87" name="object 87" descr=""/>
          <p:cNvSpPr txBox="1"/>
          <p:nvPr/>
        </p:nvSpPr>
        <p:spPr>
          <a:xfrm>
            <a:off x="1027469" y="233506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C00000"/>
                </a:solidFill>
                <a:latin typeface="Microsoft YaHei"/>
                <a:cs typeface="Microsoft YaHei"/>
              </a:rPr>
              <a:t>新技术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3764497" y="1922900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C00000"/>
                </a:solidFill>
                <a:latin typeface="Microsoft YaHei"/>
                <a:cs typeface="Microsoft YaHei"/>
              </a:rPr>
              <a:t>新网络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668631" y="1531308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C00000"/>
                </a:solidFill>
                <a:latin typeface="Microsoft YaHei"/>
                <a:cs typeface="Microsoft YaHei"/>
              </a:rPr>
              <a:t>新产业</a:t>
            </a:r>
            <a:endParaRPr sz="1800">
              <a:latin typeface="Microsoft YaHei"/>
              <a:cs typeface="Microsoft YaHei"/>
            </a:endParaRPr>
          </a:p>
        </p:txBody>
      </p:sp>
      <p:pic>
        <p:nvPicPr>
          <p:cNvPr id="90" name="object 9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87706" y="1898319"/>
            <a:ext cx="1229287" cy="659161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34975" y="1911126"/>
            <a:ext cx="1141473" cy="636757"/>
          </a:xfrm>
          <a:prstGeom prst="rect">
            <a:avLst/>
          </a:prstGeom>
        </p:spPr>
      </p:pic>
      <p:grpSp>
        <p:nvGrpSpPr>
          <p:cNvPr id="92" name="object 92" descr=""/>
          <p:cNvGrpSpPr/>
          <p:nvPr/>
        </p:nvGrpSpPr>
        <p:grpSpPr>
          <a:xfrm>
            <a:off x="6160173" y="1898315"/>
            <a:ext cx="2314575" cy="1414145"/>
            <a:chOff x="6160173" y="1898315"/>
            <a:chExt cx="2314575" cy="1414145"/>
          </a:xfrm>
        </p:grpSpPr>
        <p:pic>
          <p:nvPicPr>
            <p:cNvPr id="93" name="object 9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60173" y="2648267"/>
              <a:ext cx="1149355" cy="641641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6358841" y="2629037"/>
              <a:ext cx="2101850" cy="5080"/>
            </a:xfrm>
            <a:custGeom>
              <a:avLst/>
              <a:gdLst/>
              <a:ahLst/>
              <a:cxnLst/>
              <a:rect l="l" t="t" r="r" b="b"/>
              <a:pathLst>
                <a:path w="2101850" h="5080">
                  <a:moveTo>
                    <a:pt x="0" y="0"/>
                  </a:moveTo>
                  <a:lnTo>
                    <a:pt x="2101596" y="4622"/>
                  </a:lnTo>
                </a:path>
              </a:pathLst>
            </a:custGeom>
            <a:ln w="2857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409637" y="1898315"/>
              <a:ext cx="0" cy="1414145"/>
            </a:xfrm>
            <a:custGeom>
              <a:avLst/>
              <a:gdLst/>
              <a:ahLst/>
              <a:cxnLst/>
              <a:rect l="l" t="t" r="r" b="b"/>
              <a:pathLst>
                <a:path w="0" h="1414145">
                  <a:moveTo>
                    <a:pt x="0" y="0"/>
                  </a:moveTo>
                  <a:lnTo>
                    <a:pt x="0" y="1413776"/>
                  </a:lnTo>
                </a:path>
              </a:pathLst>
            </a:custGeom>
            <a:ln w="2857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6" name="object 9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71219" y="2693123"/>
            <a:ext cx="1205236" cy="6633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7465" y="120627"/>
            <a:ext cx="432816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>
                <a:latin typeface="Times New Roman"/>
                <a:cs typeface="Times New Roman"/>
              </a:rPr>
              <a:t>4.5G/5G</a:t>
            </a:r>
            <a:r>
              <a:rPr dirty="0" spc="-45"/>
              <a:t>产业化协同推进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219201" y="4552950"/>
            <a:ext cx="6875145" cy="391795"/>
          </a:xfrm>
          <a:custGeom>
            <a:avLst/>
            <a:gdLst/>
            <a:ahLst/>
            <a:cxnLst/>
            <a:rect l="l" t="t" r="r" b="b"/>
            <a:pathLst>
              <a:path w="6875145" h="391795">
                <a:moveTo>
                  <a:pt x="6874929" y="0"/>
                </a:moveTo>
                <a:lnTo>
                  <a:pt x="0" y="0"/>
                </a:lnTo>
                <a:lnTo>
                  <a:pt x="0" y="391617"/>
                </a:lnTo>
                <a:lnTo>
                  <a:pt x="6874929" y="391617"/>
                </a:lnTo>
                <a:lnTo>
                  <a:pt x="6874929" y="0"/>
                </a:lnTo>
                <a:close/>
              </a:path>
            </a:pathLst>
          </a:custGeom>
          <a:solidFill>
            <a:srgbClr val="A500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396191" y="4590515"/>
            <a:ext cx="452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4G</a:t>
            </a:r>
            <a:r>
              <a:rPr dirty="0" sz="1800" b="1">
                <a:solidFill>
                  <a:srgbClr val="FFFFFF"/>
                </a:solidFill>
                <a:latin typeface="Microsoft YaHei"/>
                <a:cs typeface="Microsoft YaHei"/>
              </a:rPr>
              <a:t>增强与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5G</a:t>
            </a:r>
            <a:r>
              <a:rPr dirty="0" sz="1800" spc="-5" b="1">
                <a:solidFill>
                  <a:srgbClr val="FFFFFF"/>
                </a:solidFill>
                <a:latin typeface="Microsoft YaHei"/>
                <a:cs typeface="Microsoft YaHei"/>
              </a:rPr>
              <a:t>协同规划，平台兼容，平滑演进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27873" y="889203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58668" y="889203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91051" y="889203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23433" y="889203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54241" y="889203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2019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786623" y="889203"/>
            <a:ext cx="1004569" cy="26162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0" rIns="0" bIns="0" rtlCol="0" vert="horz">
            <a:spAutoFit/>
          </a:bodyPr>
          <a:lstStyle/>
          <a:p>
            <a:pPr marL="247650">
              <a:lnSpc>
                <a:spcPts val="2060"/>
              </a:lnSpc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2020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54330" y="1877567"/>
            <a:ext cx="8478520" cy="1600200"/>
            <a:chOff x="354330" y="1877567"/>
            <a:chExt cx="8478520" cy="160020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4069" y="2182367"/>
              <a:ext cx="2100833" cy="31013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1062" y="2169413"/>
              <a:ext cx="1450073" cy="29260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130154" y="2205103"/>
              <a:ext cx="2009139" cy="218440"/>
            </a:xfrm>
            <a:custGeom>
              <a:avLst/>
              <a:gdLst/>
              <a:ahLst/>
              <a:cxnLst/>
              <a:rect l="l" t="t" r="r" b="b"/>
              <a:pathLst>
                <a:path w="2009139" h="218439">
                  <a:moveTo>
                    <a:pt x="0" y="0"/>
                  </a:moveTo>
                  <a:lnTo>
                    <a:pt x="1899539" y="0"/>
                  </a:lnTo>
                  <a:lnTo>
                    <a:pt x="2008657" y="109118"/>
                  </a:lnTo>
                  <a:lnTo>
                    <a:pt x="1899539" y="218236"/>
                  </a:lnTo>
                  <a:lnTo>
                    <a:pt x="0" y="2182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7" y="1877567"/>
              <a:ext cx="8333992" cy="9296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39454" y="1900068"/>
              <a:ext cx="8251825" cy="8255"/>
            </a:xfrm>
            <a:custGeom>
              <a:avLst/>
              <a:gdLst/>
              <a:ahLst/>
              <a:cxnLst/>
              <a:rect l="l" t="t" r="r" b="b"/>
              <a:pathLst>
                <a:path w="8251825" h="8255">
                  <a:moveTo>
                    <a:pt x="8251596" y="768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4BD97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330" y="2961144"/>
              <a:ext cx="8333992" cy="8533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95484" y="2983491"/>
              <a:ext cx="8251825" cy="0"/>
            </a:xfrm>
            <a:custGeom>
              <a:avLst/>
              <a:gdLst/>
              <a:ahLst/>
              <a:cxnLst/>
              <a:rect l="l" t="t" r="r" b="b"/>
              <a:pathLst>
                <a:path w="8251825" h="0">
                  <a:moveTo>
                    <a:pt x="82517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4BD97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45457" y="3122675"/>
              <a:ext cx="2750819" cy="355091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6967" y="3120389"/>
              <a:ext cx="1425701" cy="31241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4091654" y="3145767"/>
              <a:ext cx="2658745" cy="263525"/>
            </a:xfrm>
            <a:custGeom>
              <a:avLst/>
              <a:gdLst/>
              <a:ahLst/>
              <a:cxnLst/>
              <a:rect l="l" t="t" r="r" b="b"/>
              <a:pathLst>
                <a:path w="2658745" h="263525">
                  <a:moveTo>
                    <a:pt x="0" y="0"/>
                  </a:moveTo>
                  <a:lnTo>
                    <a:pt x="2526931" y="0"/>
                  </a:lnTo>
                  <a:lnTo>
                    <a:pt x="2658605" y="131673"/>
                  </a:lnTo>
                  <a:lnTo>
                    <a:pt x="2526931" y="263347"/>
                  </a:lnTo>
                  <a:lnTo>
                    <a:pt x="0" y="26334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30262" y="2198549"/>
            <a:ext cx="794385" cy="450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dirty="0" sz="1400" spc="-10">
                <a:solidFill>
                  <a:srgbClr val="7030A0"/>
                </a:solidFill>
                <a:latin typeface="Arial MT"/>
                <a:cs typeface="Arial MT"/>
              </a:rPr>
              <a:t>4.5G/Pre-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75"/>
              </a:lnSpc>
            </a:pPr>
            <a:r>
              <a:rPr dirty="0" sz="1400" spc="-10">
                <a:solidFill>
                  <a:srgbClr val="7030A0"/>
                </a:solidFill>
                <a:latin typeface="Arial MT"/>
                <a:cs typeface="Arial MT"/>
              </a:rPr>
              <a:t>5G</a:t>
            </a:r>
            <a:r>
              <a:rPr dirty="0" sz="1400" spc="-35">
                <a:solidFill>
                  <a:srgbClr val="7030A0"/>
                </a:solidFill>
                <a:latin typeface="Microsoft YaHei"/>
                <a:cs typeface="Microsoft YaHei"/>
              </a:rPr>
              <a:t>设备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16600" y="3167969"/>
            <a:ext cx="1143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10">
                <a:latin typeface="Microsoft YaHei"/>
                <a:cs typeface="Microsoft YaHei"/>
              </a:rPr>
              <a:t>试验系统开发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98347" y="1168145"/>
            <a:ext cx="8334375" cy="2279650"/>
            <a:chOff x="498347" y="1168145"/>
            <a:chExt cx="8334375" cy="227965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8347" y="1168145"/>
              <a:ext cx="8333992" cy="8534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39297" y="1190685"/>
              <a:ext cx="8251825" cy="0"/>
            </a:xfrm>
            <a:custGeom>
              <a:avLst/>
              <a:gdLst/>
              <a:ahLst/>
              <a:cxnLst/>
              <a:rect l="l" t="t" r="r" b="b"/>
              <a:pathLst>
                <a:path w="8251825" h="0">
                  <a:moveTo>
                    <a:pt x="82517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4BD97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0645" y="3080003"/>
              <a:ext cx="1895855" cy="36728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49423" y="3083813"/>
              <a:ext cx="1611629" cy="31241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2166539" y="3103078"/>
              <a:ext cx="1804670" cy="276225"/>
            </a:xfrm>
            <a:custGeom>
              <a:avLst/>
              <a:gdLst/>
              <a:ahLst/>
              <a:cxnLst/>
              <a:rect l="l" t="t" r="r" b="b"/>
              <a:pathLst>
                <a:path w="1804670" h="276225">
                  <a:moveTo>
                    <a:pt x="0" y="0"/>
                  </a:moveTo>
                  <a:lnTo>
                    <a:pt x="1666443" y="0"/>
                  </a:lnTo>
                  <a:lnTo>
                    <a:pt x="1804276" y="137833"/>
                  </a:lnTo>
                  <a:lnTo>
                    <a:pt x="1666443" y="275666"/>
                  </a:lnTo>
                  <a:lnTo>
                    <a:pt x="0" y="27566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30262" y="3815493"/>
            <a:ext cx="7956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Arial MT"/>
                <a:cs typeface="Arial MT"/>
              </a:rPr>
              <a:t>5G</a:t>
            </a:r>
            <a:r>
              <a:rPr dirty="0" sz="1400" spc="-35">
                <a:latin typeface="Microsoft YaHei"/>
                <a:cs typeface="Microsoft YaHei"/>
              </a:rPr>
              <a:t>产业化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69470" y="3131439"/>
            <a:ext cx="1329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5</a:t>
            </a:r>
            <a:r>
              <a:rPr dirty="0" sz="1200" spc="-15">
                <a:latin typeface="Microsoft YaHei"/>
                <a:cs typeface="Microsoft YaHei"/>
              </a:rPr>
              <a:t>Ｇ样机，原理验证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660700" y="3494836"/>
            <a:ext cx="1315085" cy="1016000"/>
          </a:xfrm>
          <a:custGeom>
            <a:avLst/>
            <a:gdLst/>
            <a:ahLst/>
            <a:cxnLst/>
            <a:rect l="l" t="t" r="r" b="b"/>
            <a:pathLst>
              <a:path w="1315085" h="1016000">
                <a:moveTo>
                  <a:pt x="1314894" y="0"/>
                </a:moveTo>
                <a:lnTo>
                  <a:pt x="0" y="0"/>
                </a:lnTo>
                <a:lnTo>
                  <a:pt x="0" y="1015657"/>
                </a:lnTo>
                <a:lnTo>
                  <a:pt x="1314894" y="1015657"/>
                </a:lnTo>
                <a:lnTo>
                  <a:pt x="131489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2660700" y="3522516"/>
            <a:ext cx="131508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Microsoft YaHei"/>
                <a:cs typeface="Microsoft YaHei"/>
              </a:rPr>
              <a:t>关键技术验证</a:t>
            </a:r>
            <a:endParaRPr sz="1200">
              <a:latin typeface="Microsoft YaHei"/>
              <a:cs typeface="Microsoft YaHei"/>
            </a:endParaRPr>
          </a:p>
          <a:p>
            <a:pPr marL="262255" marR="48514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262255" algn="l"/>
              </a:tabLst>
            </a:pPr>
            <a:r>
              <a:rPr dirty="0" sz="1200" spc="-10">
                <a:latin typeface="Arial MT"/>
                <a:cs typeface="Arial MT"/>
              </a:rPr>
              <a:t>Massive </a:t>
            </a:r>
            <a:r>
              <a:rPr dirty="0" sz="1200" spc="-20">
                <a:latin typeface="Arial MT"/>
                <a:cs typeface="Arial MT"/>
              </a:rPr>
              <a:t>MIMO</a:t>
            </a:r>
            <a:endParaRPr sz="1200">
              <a:latin typeface="Arial MT"/>
              <a:cs typeface="Arial MT"/>
            </a:endParaRPr>
          </a:p>
          <a:p>
            <a:pPr marL="262890" indent="-172085">
              <a:lnSpc>
                <a:spcPct val="100000"/>
              </a:lnSpc>
              <a:buChar char="•"/>
              <a:tabLst>
                <a:tab pos="262890" algn="l"/>
              </a:tabLst>
            </a:pPr>
            <a:r>
              <a:rPr dirty="0" sz="1200" spc="-20">
                <a:latin typeface="Arial MT"/>
                <a:cs typeface="Arial MT"/>
              </a:rPr>
              <a:t>PDMA</a:t>
            </a:r>
            <a:endParaRPr sz="1200">
              <a:latin typeface="Arial MT"/>
              <a:cs typeface="Arial MT"/>
            </a:endParaRPr>
          </a:p>
          <a:p>
            <a:pPr marL="262890" indent="-172085">
              <a:lnSpc>
                <a:spcPct val="100000"/>
              </a:lnSpc>
              <a:buChar char="•"/>
              <a:tabLst>
                <a:tab pos="262890" algn="l"/>
              </a:tabLst>
            </a:pPr>
            <a:r>
              <a:rPr dirty="0" sz="1200" spc="-25">
                <a:latin typeface="Arial MT"/>
                <a:cs typeface="Arial MT"/>
              </a:rPr>
              <a:t>UDN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4120502" y="3562946"/>
            <a:ext cx="1746250" cy="1016000"/>
          </a:xfrm>
          <a:custGeom>
            <a:avLst/>
            <a:gdLst/>
            <a:ahLst/>
            <a:cxnLst/>
            <a:rect l="l" t="t" r="r" b="b"/>
            <a:pathLst>
              <a:path w="1746250" h="1016000">
                <a:moveTo>
                  <a:pt x="1746123" y="0"/>
                </a:moveTo>
                <a:lnTo>
                  <a:pt x="0" y="0"/>
                </a:lnTo>
                <a:lnTo>
                  <a:pt x="0" y="1015657"/>
                </a:lnTo>
                <a:lnTo>
                  <a:pt x="1746123" y="1015657"/>
                </a:lnTo>
                <a:lnTo>
                  <a:pt x="1746123" y="0"/>
                </a:lnTo>
                <a:close/>
              </a:path>
            </a:pathLst>
          </a:custGeom>
          <a:solidFill>
            <a:srgbClr val="DBEE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4199235" y="3590630"/>
            <a:ext cx="11112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Microsoft YaHei"/>
                <a:cs typeface="Microsoft YaHei"/>
              </a:rPr>
              <a:t>系统验证</a:t>
            </a:r>
            <a:endParaRPr sz="1200">
              <a:latin typeface="Microsoft YaHei"/>
              <a:cs typeface="Microsoft YaHei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5">
                <a:latin typeface="Microsoft YaHei"/>
                <a:cs typeface="Microsoft YaHei"/>
              </a:rPr>
              <a:t>广域覆盖</a:t>
            </a:r>
            <a:endParaRPr sz="1200">
              <a:latin typeface="Microsoft YaHei"/>
              <a:cs typeface="Microsoft YaHei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5">
                <a:latin typeface="Microsoft YaHei"/>
                <a:cs typeface="Microsoft YaHei"/>
              </a:rPr>
              <a:t>密集组网</a:t>
            </a:r>
            <a:endParaRPr sz="1200">
              <a:latin typeface="Microsoft YaHei"/>
              <a:cs typeface="Microsoft YaHei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0">
                <a:latin typeface="Microsoft YaHei"/>
                <a:cs typeface="Microsoft YaHei"/>
              </a:rPr>
              <a:t>低时延高可靠</a:t>
            </a:r>
            <a:endParaRPr sz="1200">
              <a:latin typeface="Microsoft YaHei"/>
              <a:cs typeface="Microsoft YaHei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0">
                <a:latin typeface="Microsoft YaHei"/>
                <a:cs typeface="Microsoft YaHei"/>
              </a:rPr>
              <a:t>低功耗大连接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003645" y="3639210"/>
            <a:ext cx="1654175" cy="831215"/>
          </a:xfrm>
          <a:custGeom>
            <a:avLst/>
            <a:gdLst/>
            <a:ahLst/>
            <a:cxnLst/>
            <a:rect l="l" t="t" r="r" b="b"/>
            <a:pathLst>
              <a:path w="1654175" h="831214">
                <a:moveTo>
                  <a:pt x="1653984" y="0"/>
                </a:moveTo>
                <a:lnTo>
                  <a:pt x="0" y="0"/>
                </a:lnTo>
                <a:lnTo>
                  <a:pt x="0" y="830999"/>
                </a:lnTo>
                <a:lnTo>
                  <a:pt x="1653984" y="830999"/>
                </a:lnTo>
                <a:lnTo>
                  <a:pt x="1653984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003645" y="3666894"/>
            <a:ext cx="16541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Microsoft YaHei"/>
                <a:cs typeface="Microsoft YaHei"/>
              </a:rPr>
              <a:t>组网验证</a:t>
            </a:r>
            <a:endParaRPr sz="1200">
              <a:latin typeface="Microsoft YaHei"/>
              <a:cs typeface="Microsoft YaHei"/>
            </a:endParaRPr>
          </a:p>
          <a:p>
            <a:pPr marL="262890" indent="-172085">
              <a:lnSpc>
                <a:spcPct val="100000"/>
              </a:lnSpc>
              <a:buFont typeface="Arial MT"/>
              <a:buChar char="•"/>
              <a:tabLst>
                <a:tab pos="262890" algn="l"/>
              </a:tabLst>
            </a:pPr>
            <a:r>
              <a:rPr dirty="0" sz="1200">
                <a:latin typeface="Microsoft YaHei"/>
                <a:cs typeface="Microsoft YaHei"/>
              </a:rPr>
              <a:t>规模组网</a:t>
            </a:r>
            <a:r>
              <a:rPr dirty="0" sz="1200" spc="-25">
                <a:latin typeface="Arial MT"/>
                <a:cs typeface="Arial MT"/>
              </a:rPr>
              <a:t>KPI</a:t>
            </a:r>
            <a:endParaRPr sz="1200">
              <a:latin typeface="Arial MT"/>
              <a:cs typeface="Arial MT"/>
            </a:endParaRPr>
          </a:p>
          <a:p>
            <a:pPr marL="262890" indent="-172085">
              <a:lnSpc>
                <a:spcPct val="100000"/>
              </a:lnSpc>
              <a:buFont typeface="Arial MT"/>
              <a:buChar char="•"/>
              <a:tabLst>
                <a:tab pos="262890" algn="l"/>
              </a:tabLst>
            </a:pPr>
            <a:r>
              <a:rPr dirty="0" sz="1200" spc="-10">
                <a:latin typeface="Microsoft YaHei"/>
                <a:cs typeface="Microsoft YaHei"/>
              </a:rPr>
              <a:t>全产业链推动</a:t>
            </a:r>
            <a:endParaRPr sz="1200">
              <a:latin typeface="Microsoft YaHei"/>
              <a:cs typeface="Microsoft YaHei"/>
            </a:endParaRPr>
          </a:p>
          <a:p>
            <a:pPr marL="262890" indent="-172085">
              <a:lnSpc>
                <a:spcPct val="100000"/>
              </a:lnSpc>
              <a:buFont typeface="Arial MT"/>
              <a:buChar char="•"/>
              <a:tabLst>
                <a:tab pos="262890" algn="l"/>
              </a:tabLst>
            </a:pPr>
            <a:r>
              <a:rPr dirty="0" sz="1200" spc="-10">
                <a:latin typeface="Microsoft YaHei"/>
                <a:cs typeface="Microsoft YaHei"/>
              </a:rPr>
              <a:t>产业化能力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848093" y="3125723"/>
            <a:ext cx="1988820" cy="341630"/>
            <a:chOff x="6848093" y="3125723"/>
            <a:chExt cx="1988820" cy="341630"/>
          </a:xfrm>
        </p:grpSpPr>
        <p:pic>
          <p:nvPicPr>
            <p:cNvPr id="39" name="object 3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48093" y="3144024"/>
              <a:ext cx="1988818" cy="32307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2412" y="3125723"/>
              <a:ext cx="1425701" cy="31241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6894221" y="3167079"/>
              <a:ext cx="1897380" cy="231775"/>
            </a:xfrm>
            <a:custGeom>
              <a:avLst/>
              <a:gdLst/>
              <a:ahLst/>
              <a:cxnLst/>
              <a:rect l="l" t="t" r="r" b="b"/>
              <a:pathLst>
                <a:path w="1897379" h="231775">
                  <a:moveTo>
                    <a:pt x="0" y="0"/>
                  </a:moveTo>
                  <a:lnTo>
                    <a:pt x="1781111" y="0"/>
                  </a:lnTo>
                  <a:lnTo>
                    <a:pt x="1896821" y="115709"/>
                  </a:lnTo>
                  <a:lnTo>
                    <a:pt x="1781111" y="231419"/>
                  </a:lnTo>
                  <a:lnTo>
                    <a:pt x="0" y="23141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241951" y="3173315"/>
            <a:ext cx="1143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10">
                <a:latin typeface="Microsoft YaHei"/>
                <a:cs typeface="Microsoft YaHei"/>
              </a:rPr>
              <a:t>商用系统开发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461516" y="1281353"/>
            <a:ext cx="3338829" cy="1583055"/>
            <a:chOff x="1461516" y="1281353"/>
            <a:chExt cx="3338829" cy="1583055"/>
          </a:xfrm>
        </p:grpSpPr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62833" y="2403360"/>
              <a:ext cx="1625345" cy="34593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48939" y="2408681"/>
              <a:ext cx="1427987" cy="29260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908537" y="2426590"/>
              <a:ext cx="1534160" cy="254000"/>
            </a:xfrm>
            <a:custGeom>
              <a:avLst/>
              <a:gdLst/>
              <a:ahLst/>
              <a:cxnLst/>
              <a:rect l="l" t="t" r="r" b="b"/>
              <a:pathLst>
                <a:path w="1534160" h="254000">
                  <a:moveTo>
                    <a:pt x="0" y="0"/>
                  </a:moveTo>
                  <a:lnTo>
                    <a:pt x="1406867" y="0"/>
                  </a:lnTo>
                  <a:lnTo>
                    <a:pt x="1533766" y="126898"/>
                  </a:lnTo>
                  <a:lnTo>
                    <a:pt x="1406867" y="253796"/>
                  </a:lnTo>
                  <a:lnTo>
                    <a:pt x="0" y="25379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1516" y="1942337"/>
              <a:ext cx="2100833" cy="31013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82901" y="1930145"/>
              <a:ext cx="1242059" cy="292607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507530" y="1965577"/>
              <a:ext cx="2009139" cy="218440"/>
            </a:xfrm>
            <a:custGeom>
              <a:avLst/>
              <a:gdLst/>
              <a:ahLst/>
              <a:cxnLst/>
              <a:rect l="l" t="t" r="r" b="b"/>
              <a:pathLst>
                <a:path w="2009139" h="218439">
                  <a:moveTo>
                    <a:pt x="0" y="0"/>
                  </a:moveTo>
                  <a:lnTo>
                    <a:pt x="1899539" y="0"/>
                  </a:lnTo>
                  <a:lnTo>
                    <a:pt x="2008657" y="109118"/>
                  </a:lnTo>
                  <a:lnTo>
                    <a:pt x="1899539" y="218236"/>
                  </a:lnTo>
                  <a:lnTo>
                    <a:pt x="0" y="2182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509165" y="2574778"/>
              <a:ext cx="291465" cy="289560"/>
            </a:xfrm>
            <a:custGeom>
              <a:avLst/>
              <a:gdLst/>
              <a:ahLst/>
              <a:cxnLst/>
              <a:rect l="l" t="t" r="r" b="b"/>
              <a:pathLst>
                <a:path w="291464" h="289560">
                  <a:moveTo>
                    <a:pt x="125171" y="0"/>
                  </a:moveTo>
                  <a:lnTo>
                    <a:pt x="0" y="123164"/>
                  </a:lnTo>
                  <a:lnTo>
                    <a:pt x="103085" y="227926"/>
                  </a:lnTo>
                  <a:lnTo>
                    <a:pt x="40500" y="289496"/>
                  </a:lnTo>
                  <a:lnTo>
                    <a:pt x="268757" y="271106"/>
                  </a:lnTo>
                  <a:lnTo>
                    <a:pt x="290842" y="43180"/>
                  </a:lnTo>
                  <a:lnTo>
                    <a:pt x="228257" y="104762"/>
                  </a:lnTo>
                  <a:lnTo>
                    <a:pt x="12517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577873" y="1286116"/>
              <a:ext cx="1556385" cy="252095"/>
            </a:xfrm>
            <a:custGeom>
              <a:avLst/>
              <a:gdLst/>
              <a:ahLst/>
              <a:cxnLst/>
              <a:rect l="l" t="t" r="r" b="b"/>
              <a:pathLst>
                <a:path w="1556385" h="252094">
                  <a:moveTo>
                    <a:pt x="0" y="0"/>
                  </a:moveTo>
                  <a:lnTo>
                    <a:pt x="1556296" y="0"/>
                  </a:lnTo>
                  <a:lnTo>
                    <a:pt x="1556296" y="252095"/>
                  </a:lnTo>
                  <a:lnTo>
                    <a:pt x="0" y="25209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5066563" y="2478062"/>
            <a:ext cx="3027680" cy="33909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8100" rIns="0" bIns="0" rtlCol="0" vert="horz">
            <a:spAutoFit/>
          </a:bodyPr>
          <a:lstStyle/>
          <a:p>
            <a:pPr marL="597535">
              <a:lnSpc>
                <a:spcPct val="100000"/>
              </a:lnSpc>
              <a:spcBef>
                <a:spcPts val="300"/>
              </a:spcBef>
            </a:pPr>
            <a:r>
              <a:rPr dirty="0" sz="1600" spc="-10">
                <a:solidFill>
                  <a:srgbClr val="C00000"/>
                </a:solidFill>
                <a:latin typeface="Microsoft YaHei"/>
                <a:cs typeface="Microsoft YaHei"/>
              </a:rPr>
              <a:t>平台兼容，平滑演进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53992" y="1380651"/>
            <a:ext cx="3810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5">
                <a:solidFill>
                  <a:srgbClr val="7030A0"/>
                </a:solidFill>
                <a:latin typeface="Microsoft YaHei"/>
                <a:cs typeface="Microsoft YaHei"/>
              </a:rPr>
              <a:t>标准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577873" y="1286116"/>
            <a:ext cx="1556385" cy="252095"/>
          </a:xfrm>
          <a:prstGeom prst="rect">
            <a:avLst/>
          </a:prstGeom>
          <a:solidFill>
            <a:srgbClr val="DADADA"/>
          </a:solidFill>
        </p:spPr>
        <p:txBody>
          <a:bodyPr wrap="square" lIns="0" tIns="298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1200" spc="-25">
                <a:solidFill>
                  <a:srgbClr val="0070C0"/>
                </a:solidFill>
                <a:latin typeface="Arial MT"/>
                <a:cs typeface="Arial MT"/>
              </a:rPr>
              <a:t>R13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3164484" y="1278255"/>
            <a:ext cx="1339850" cy="252095"/>
          </a:xfrm>
          <a:custGeom>
            <a:avLst/>
            <a:gdLst/>
            <a:ahLst/>
            <a:cxnLst/>
            <a:rect l="l" t="t" r="r" b="b"/>
            <a:pathLst>
              <a:path w="1339850" h="252094">
                <a:moveTo>
                  <a:pt x="0" y="0"/>
                </a:moveTo>
                <a:lnTo>
                  <a:pt x="1339494" y="0"/>
                </a:lnTo>
                <a:lnTo>
                  <a:pt x="1339494" y="252095"/>
                </a:lnTo>
                <a:lnTo>
                  <a:pt x="0" y="25209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3164484" y="1278255"/>
            <a:ext cx="1339850" cy="252095"/>
          </a:xfrm>
          <a:prstGeom prst="rect">
            <a:avLst/>
          </a:prstGeom>
          <a:solidFill>
            <a:srgbClr val="DADADA"/>
          </a:solidFill>
        </p:spPr>
        <p:txBody>
          <a:bodyPr wrap="square" lIns="0" tIns="298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1200" spc="-25">
                <a:solidFill>
                  <a:srgbClr val="0070C0"/>
                </a:solidFill>
                <a:latin typeface="Arial MT"/>
                <a:cs typeface="Arial MT"/>
              </a:rPr>
              <a:t>R14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4137558" y="1580045"/>
            <a:ext cx="1729105" cy="244475"/>
          </a:xfrm>
          <a:custGeom>
            <a:avLst/>
            <a:gdLst/>
            <a:ahLst/>
            <a:cxnLst/>
            <a:rect l="l" t="t" r="r" b="b"/>
            <a:pathLst>
              <a:path w="1729104" h="244475">
                <a:moveTo>
                  <a:pt x="0" y="0"/>
                </a:moveTo>
                <a:lnTo>
                  <a:pt x="1729066" y="0"/>
                </a:lnTo>
                <a:lnTo>
                  <a:pt x="1729066" y="244195"/>
                </a:lnTo>
                <a:lnTo>
                  <a:pt x="0" y="24419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4142320" y="1593427"/>
            <a:ext cx="1737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70C0"/>
                </a:solidFill>
                <a:latin typeface="Arial MT"/>
                <a:cs typeface="Arial MT"/>
              </a:rPr>
              <a:t>R15,</a:t>
            </a:r>
            <a:r>
              <a:rPr dirty="0" sz="1200" spc="-2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70C0"/>
                </a:solidFill>
                <a:latin typeface="Arial MT"/>
                <a:cs typeface="Arial MT"/>
              </a:rPr>
              <a:t>5G</a:t>
            </a:r>
            <a:r>
              <a:rPr dirty="0" sz="1200" spc="-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0070C0"/>
                </a:solidFill>
                <a:latin typeface="Arial MT"/>
                <a:cs typeface="Arial MT"/>
              </a:rPr>
              <a:t>Ph1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5902413" y="1580045"/>
            <a:ext cx="1740535" cy="249554"/>
          </a:xfrm>
          <a:custGeom>
            <a:avLst/>
            <a:gdLst/>
            <a:ahLst/>
            <a:cxnLst/>
            <a:rect l="l" t="t" r="r" b="b"/>
            <a:pathLst>
              <a:path w="1740534" h="249555">
                <a:moveTo>
                  <a:pt x="0" y="0"/>
                </a:moveTo>
                <a:lnTo>
                  <a:pt x="1740242" y="0"/>
                </a:lnTo>
                <a:lnTo>
                  <a:pt x="1740242" y="249085"/>
                </a:lnTo>
                <a:lnTo>
                  <a:pt x="0" y="24908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5889281" y="1595871"/>
            <a:ext cx="17487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323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70C0"/>
                </a:solidFill>
                <a:latin typeface="Arial MT"/>
                <a:cs typeface="Arial MT"/>
              </a:rPr>
              <a:t>R16,</a:t>
            </a:r>
            <a:r>
              <a:rPr dirty="0" sz="1200" spc="-2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70C0"/>
                </a:solidFill>
                <a:latin typeface="Arial MT"/>
                <a:cs typeface="Arial MT"/>
              </a:rPr>
              <a:t>5G</a:t>
            </a:r>
            <a:r>
              <a:rPr dirty="0" sz="1200" spc="-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0070C0"/>
                </a:solidFill>
                <a:latin typeface="Arial MT"/>
                <a:cs typeface="Arial MT"/>
              </a:rPr>
              <a:t>Ph2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2299183" y="1574586"/>
            <a:ext cx="12122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solidFill>
                  <a:srgbClr val="C00000"/>
                </a:solidFill>
                <a:latin typeface="Arial MT"/>
                <a:cs typeface="Arial MT"/>
              </a:rPr>
              <a:t>LTE-Advanced-</a:t>
            </a:r>
            <a:r>
              <a:rPr dirty="0" sz="1100" spc="-25">
                <a:solidFill>
                  <a:srgbClr val="C00000"/>
                </a:solidFill>
                <a:latin typeface="Arial MT"/>
                <a:cs typeface="Arial MT"/>
              </a:rPr>
              <a:t>Pro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5113874" y="1791542"/>
            <a:ext cx="3783329" cy="2463800"/>
            <a:chOff x="5113874" y="1791542"/>
            <a:chExt cx="3783329" cy="2463800"/>
          </a:xfrm>
        </p:grpSpPr>
        <p:pic>
          <p:nvPicPr>
            <p:cNvPr id="63" name="object 6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13874" y="1791542"/>
              <a:ext cx="174383" cy="192163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33359" y="3678935"/>
              <a:ext cx="1063752" cy="576072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8000038" y="3736524"/>
            <a:ext cx="735965" cy="450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675"/>
              </a:lnSpc>
              <a:spcBef>
                <a:spcPts val="95"/>
              </a:spcBef>
            </a:pPr>
            <a:r>
              <a:rPr dirty="0" sz="1400" spc="-25">
                <a:latin typeface="Arial MT"/>
                <a:cs typeface="Arial MT"/>
              </a:rPr>
              <a:t>5G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ts val="1675"/>
              </a:lnSpc>
            </a:pPr>
            <a:r>
              <a:rPr dirty="0" sz="1400" spc="-30">
                <a:latin typeface="Microsoft YaHei"/>
                <a:cs typeface="Microsoft YaHei"/>
              </a:rPr>
              <a:t>实现商用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2859785" y="2702051"/>
            <a:ext cx="1625600" cy="346075"/>
            <a:chOff x="2859785" y="2702051"/>
            <a:chExt cx="1625600" cy="346075"/>
          </a:xfrm>
        </p:grpSpPr>
        <p:pic>
          <p:nvPicPr>
            <p:cNvPr id="67" name="object 6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59785" y="2702051"/>
              <a:ext cx="1625345" cy="34594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69513" y="2707385"/>
              <a:ext cx="1381505" cy="292607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2905357" y="2725013"/>
              <a:ext cx="1534160" cy="254000"/>
            </a:xfrm>
            <a:custGeom>
              <a:avLst/>
              <a:gdLst/>
              <a:ahLst/>
              <a:cxnLst/>
              <a:rect l="l" t="t" r="r" b="b"/>
              <a:pathLst>
                <a:path w="1534160" h="254000">
                  <a:moveTo>
                    <a:pt x="0" y="0"/>
                  </a:moveTo>
                  <a:lnTo>
                    <a:pt x="1406867" y="0"/>
                  </a:lnTo>
                  <a:lnTo>
                    <a:pt x="1533766" y="126898"/>
                  </a:lnTo>
                  <a:lnTo>
                    <a:pt x="1406867" y="253796"/>
                  </a:lnTo>
                  <a:lnTo>
                    <a:pt x="0" y="25379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1995119" y="1901413"/>
            <a:ext cx="2230755" cy="1042669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100" spc="-10">
                <a:latin typeface="Arial MT"/>
                <a:cs typeface="Arial MT"/>
              </a:rPr>
              <a:t>LTE-A</a:t>
            </a:r>
            <a:r>
              <a:rPr dirty="0" sz="1100" spc="-30">
                <a:latin typeface="Microsoft YaHei"/>
                <a:cs typeface="Microsoft YaHei"/>
              </a:rPr>
              <a:t>特性增强</a:t>
            </a:r>
            <a:endParaRPr sz="1100">
              <a:latin typeface="Microsoft YaHei"/>
              <a:cs typeface="Microsoft YaHei"/>
            </a:endParaRPr>
          </a:p>
          <a:p>
            <a:pPr marL="530860">
              <a:lnSpc>
                <a:spcPct val="100000"/>
              </a:lnSpc>
              <a:spcBef>
                <a:spcPts val="565"/>
              </a:spcBef>
            </a:pPr>
            <a:r>
              <a:rPr dirty="0" sz="1100" spc="-10">
                <a:latin typeface="Arial MT"/>
                <a:cs typeface="Arial MT"/>
              </a:rPr>
              <a:t>3D-MIMO</a:t>
            </a:r>
            <a:r>
              <a:rPr dirty="0" sz="1100" spc="-30">
                <a:latin typeface="Microsoft YaHei"/>
                <a:cs typeface="Microsoft YaHei"/>
              </a:rPr>
              <a:t>设备开发</a:t>
            </a:r>
            <a:endParaRPr sz="1100">
              <a:latin typeface="Microsoft YaHei"/>
              <a:cs typeface="Microsoft YaHei"/>
            </a:endParaRPr>
          </a:p>
          <a:p>
            <a:pPr marL="1078230">
              <a:lnSpc>
                <a:spcPct val="100000"/>
              </a:lnSpc>
              <a:spcBef>
                <a:spcPts val="565"/>
              </a:spcBef>
            </a:pPr>
            <a:r>
              <a:rPr dirty="0" sz="1100" spc="-10">
                <a:latin typeface="Arial MT"/>
                <a:cs typeface="Arial MT"/>
              </a:rPr>
              <a:t>NB-IoT</a:t>
            </a:r>
            <a:r>
              <a:rPr dirty="0" sz="1100" spc="-30">
                <a:latin typeface="Microsoft YaHei"/>
                <a:cs typeface="Microsoft YaHei"/>
              </a:rPr>
              <a:t>开发和试验</a:t>
            </a:r>
            <a:endParaRPr sz="1100">
              <a:latin typeface="Microsoft YaHei"/>
              <a:cs typeface="Microsoft YaHei"/>
            </a:endParaRPr>
          </a:p>
          <a:p>
            <a:pPr marL="1099185">
              <a:lnSpc>
                <a:spcPct val="100000"/>
              </a:lnSpc>
              <a:spcBef>
                <a:spcPts val="1030"/>
              </a:spcBef>
            </a:pPr>
            <a:r>
              <a:rPr dirty="0" sz="1100" spc="-10">
                <a:latin typeface="Arial MT"/>
                <a:cs typeface="Arial MT"/>
              </a:rPr>
              <a:t>LTE-V</a:t>
            </a:r>
            <a:r>
              <a:rPr dirty="0" sz="1100" spc="-30">
                <a:latin typeface="Microsoft YaHei"/>
                <a:cs typeface="Microsoft YaHei"/>
              </a:rPr>
              <a:t>开发与测试</a:t>
            </a:r>
            <a:endParaRPr sz="11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23615" y="742188"/>
            <a:ext cx="5880735" cy="4057015"/>
            <a:chOff x="3023615" y="742188"/>
            <a:chExt cx="5880735" cy="4057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237" y="742188"/>
              <a:ext cx="3951731" cy="40568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3615" y="3293363"/>
              <a:ext cx="2491739" cy="14851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5603" y="3293364"/>
              <a:ext cx="2642615" cy="148132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932045" y="843559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1447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32045" y="843559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0" y="0"/>
                  </a:moveTo>
                  <a:lnTo>
                    <a:pt x="1447800" y="0"/>
                  </a:lnTo>
                  <a:lnTo>
                    <a:pt x="1447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07340" y="737986"/>
            <a:ext cx="4090035" cy="230060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100"/>
              </a:spcBef>
            </a:pPr>
            <a:r>
              <a:rPr dirty="0" sz="2400">
                <a:solidFill>
                  <a:srgbClr val="C00000"/>
                </a:solidFill>
                <a:latin typeface="SimSun"/>
                <a:cs typeface="SimSun"/>
              </a:rPr>
              <a:t>2018年5G</a:t>
            </a:r>
            <a:r>
              <a:rPr dirty="0" sz="2400" spc="-15">
                <a:solidFill>
                  <a:srgbClr val="C00000"/>
                </a:solidFill>
                <a:latin typeface="SimSun"/>
                <a:cs typeface="SimSun"/>
              </a:rPr>
              <a:t>规模试验</a:t>
            </a: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600" spc="-15">
                <a:latin typeface="SimSun"/>
                <a:cs typeface="SimSun"/>
              </a:rPr>
              <a:t>中国移动：上海、杭州、广州、苏州、武汉</a:t>
            </a:r>
            <a:endParaRPr sz="1600">
              <a:latin typeface="SimSun"/>
              <a:cs typeface="SimSun"/>
            </a:endParaRPr>
          </a:p>
          <a:p>
            <a:pPr marL="12700" marR="5080">
              <a:lnSpc>
                <a:spcPct val="100000"/>
              </a:lnSpc>
              <a:spcBef>
                <a:spcPts val="1914"/>
              </a:spcBef>
            </a:pPr>
            <a:r>
              <a:rPr dirty="0" sz="1600" spc="-15">
                <a:latin typeface="SimSun"/>
                <a:cs typeface="SimSun"/>
              </a:rPr>
              <a:t>中国联通：北京、天津、上海、深圳、杭州、南京、雄安</a:t>
            </a:r>
            <a:endParaRPr sz="16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600">
              <a:latin typeface="SimSun"/>
              <a:cs typeface="SimSun"/>
            </a:endParaRPr>
          </a:p>
          <a:p>
            <a:pPr marL="12700" marR="5080">
              <a:lnSpc>
                <a:spcPts val="1839"/>
              </a:lnSpc>
            </a:pPr>
            <a:r>
              <a:rPr dirty="0" sz="1600" spc="-15">
                <a:latin typeface="SimSun"/>
                <a:cs typeface="SimSun"/>
              </a:rPr>
              <a:t>中国电信：成都、雄安、深圳、上海、重庆、苏州、兰州</a:t>
            </a:r>
            <a:endParaRPr sz="1600">
              <a:latin typeface="SimSun"/>
              <a:cs typeface="SimSu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92" y="3295649"/>
            <a:ext cx="2494025" cy="147904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05691" y="162559"/>
            <a:ext cx="59334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/>
                <a:cs typeface="Times New Roman"/>
              </a:rPr>
              <a:t>5G</a:t>
            </a:r>
            <a:r>
              <a:rPr dirty="0" spc="45">
                <a:latin typeface="Times New Roman"/>
                <a:cs typeface="Times New Roman"/>
              </a:rPr>
              <a:t> </a:t>
            </a:r>
            <a:r>
              <a:rPr dirty="0" spc="-45"/>
              <a:t>技术试验第三阶段测试进行时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65211" y="2612017"/>
          <a:ext cx="8140700" cy="184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930"/>
                <a:gridCol w="2206624"/>
                <a:gridCol w="1308100"/>
                <a:gridCol w="2555239"/>
              </a:tblGrid>
              <a:tr h="339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baseline="1984" sz="21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基站功能测试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baseline="1984" sz="21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3.5GHz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射频测试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（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发射机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）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baseline="1984" sz="21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400" spc="-3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核心网测试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73533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baseline="1984" sz="21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400" spc="-3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室外测试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1115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0340" indent="-170815">
                        <a:lnSpc>
                          <a:spcPct val="100000"/>
                        </a:lnSpc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验证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2.5ms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双周期帧结构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  <a:p>
                      <a:pPr marL="180340" indent="-170815">
                        <a:lnSpc>
                          <a:spcPct val="100000"/>
                        </a:lnSpc>
                        <a:spcBef>
                          <a:spcPts val="720"/>
                        </a:spcBef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 spc="-5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单用户峰速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1.55Gbps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80340" indent="-170815">
                        <a:lnSpc>
                          <a:spcPct val="100000"/>
                        </a:lnSpc>
                        <a:spcBef>
                          <a:spcPts val="720"/>
                        </a:spcBef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 spc="-5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小区吞吐量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6.069Gbps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468630" indent="170815">
                        <a:lnSpc>
                          <a:spcPct val="150000"/>
                        </a:lnSpc>
                        <a:spcBef>
                          <a:spcPts val="975"/>
                        </a:spcBef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完成发射功率、</a:t>
                      </a:r>
                      <a:r>
                        <a:rPr dirty="0" baseline="2314" sz="1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EVM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、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占用带宽、</a:t>
                      </a:r>
                      <a:r>
                        <a:rPr dirty="0" baseline="2314" sz="1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ACLR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等全部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指标测试、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238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45085" indent="-171450">
                        <a:lnSpc>
                          <a:spcPct val="150000"/>
                        </a:lnSpc>
                        <a:spcBef>
                          <a:spcPts val="1155"/>
                        </a:spcBef>
                        <a:buFont typeface="Wingdings"/>
                        <a:buChar char=""/>
                        <a:tabLst>
                          <a:tab pos="180975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完成升级</a:t>
                      </a:r>
                      <a:r>
                        <a:rPr dirty="0" baseline="2314" sz="1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EPC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的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功能测试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0340" indent="-170815">
                        <a:lnSpc>
                          <a:spcPct val="100000"/>
                        </a:lnSpc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单用户峰速</a:t>
                      </a:r>
                      <a:r>
                        <a:rPr dirty="0" baseline="2314" sz="1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1.37Gbps</a:t>
                      </a:r>
                      <a:endParaRPr baseline="2314" sz="1800">
                        <a:latin typeface="Arial MT"/>
                        <a:cs typeface="Arial MT"/>
                      </a:endParaRPr>
                    </a:p>
                    <a:p>
                      <a:pPr marL="180340" indent="-170815">
                        <a:lnSpc>
                          <a:spcPct val="100000"/>
                        </a:lnSpc>
                        <a:spcBef>
                          <a:spcPts val="720"/>
                        </a:spcBef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小区吞吐量，下行</a:t>
                      </a:r>
                      <a:r>
                        <a:rPr dirty="0" baseline="2314" sz="1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流 </a:t>
                      </a:r>
                      <a:r>
                        <a:rPr dirty="0" baseline="2314" sz="1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4.8Gbps</a:t>
                      </a:r>
                      <a:endParaRPr baseline="2314" sz="1800">
                        <a:latin typeface="Arial MT"/>
                        <a:cs typeface="Arial MT"/>
                      </a:endParaRPr>
                    </a:p>
                    <a:p>
                      <a:pPr marL="180340" indent="-170815">
                        <a:lnSpc>
                          <a:spcPct val="100000"/>
                        </a:lnSpc>
                        <a:spcBef>
                          <a:spcPts val="720"/>
                        </a:spcBef>
                        <a:buFont typeface="Wingdings"/>
                        <a:buChar char=""/>
                        <a:tabLst>
                          <a:tab pos="18034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切换成功率</a:t>
                      </a:r>
                      <a:r>
                        <a:rPr dirty="0" baseline="2314" sz="180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100%</a:t>
                      </a:r>
                      <a:endParaRPr baseline="2314" sz="1800">
                        <a:latin typeface="Arial MT"/>
                        <a:cs typeface="Arial MT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2557271"/>
            <a:ext cx="432053" cy="43129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1227" y="2698288"/>
            <a:ext cx="150152" cy="1496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0429" y="2561082"/>
            <a:ext cx="432053" cy="43205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81214" y="2702331"/>
            <a:ext cx="150152" cy="14960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0546" y="2561843"/>
            <a:ext cx="432053" cy="43129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71603" y="2702584"/>
            <a:ext cx="150152" cy="1496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33843" y="2557271"/>
            <a:ext cx="432052" cy="43129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4735" y="2698288"/>
            <a:ext cx="150152" cy="149605"/>
          </a:xfrm>
          <a:prstGeom prst="rect">
            <a:avLst/>
          </a:prstGeom>
        </p:spPr>
      </p:pic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727468" y="1053231"/>
          <a:ext cx="7616190" cy="136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144"/>
                <a:gridCol w="1085850"/>
                <a:gridCol w="1009650"/>
                <a:gridCol w="1283334"/>
                <a:gridCol w="1266189"/>
                <a:gridCol w="1024255"/>
                <a:gridCol w="967104"/>
              </a:tblGrid>
              <a:tr h="375285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200" spc="-15">
                          <a:latin typeface="SimSun"/>
                          <a:cs typeface="SimSun"/>
                        </a:rPr>
                        <a:t>系统厂商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94615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200" spc="-20">
                          <a:latin typeface="SimSun"/>
                          <a:cs typeface="SimSun"/>
                        </a:rPr>
                        <a:t>核心网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94615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1945" marR="212090" indent="-16002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200" spc="-25">
                          <a:latin typeface="SimSun"/>
                          <a:cs typeface="SimSun"/>
                        </a:rPr>
                        <a:t>基站功能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3.5GHz</a:t>
                      </a:r>
                      <a:r>
                        <a:rPr dirty="0" sz="1200" spc="-25">
                          <a:latin typeface="SimSun"/>
                          <a:cs typeface="SimSun"/>
                        </a:rPr>
                        <a:t>射频</a:t>
                      </a:r>
                      <a:endParaRPr sz="1200">
                        <a:latin typeface="SimSun"/>
                        <a:cs typeface="SimSun"/>
                      </a:endParaRPr>
                    </a:p>
                    <a:p>
                      <a:pPr marL="249554">
                        <a:lnSpc>
                          <a:spcPts val="1390"/>
                        </a:lnSpc>
                      </a:pPr>
                      <a:r>
                        <a:rPr dirty="0" sz="1200">
                          <a:latin typeface="SimSun"/>
                          <a:cs typeface="SimSun"/>
                        </a:rPr>
                        <a:t>（发射机</a:t>
                      </a:r>
                      <a:r>
                        <a:rPr dirty="0" sz="1200" spc="-50">
                          <a:latin typeface="SimSun"/>
                          <a:cs typeface="SimSun"/>
                        </a:rPr>
                        <a:t>）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3175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4.9GHz</a:t>
                      </a:r>
                      <a:r>
                        <a:rPr dirty="0" sz="1200" spc="-25">
                          <a:latin typeface="SimSun"/>
                          <a:cs typeface="SimSun"/>
                        </a:rPr>
                        <a:t>射频</a:t>
                      </a:r>
                      <a:endParaRPr sz="1200">
                        <a:latin typeface="SimSun"/>
                        <a:cs typeface="SimSun"/>
                      </a:endParaRPr>
                    </a:p>
                    <a:p>
                      <a:pPr marL="268605">
                        <a:lnSpc>
                          <a:spcPts val="1390"/>
                        </a:lnSpc>
                      </a:pPr>
                      <a:r>
                        <a:rPr dirty="0" sz="1200">
                          <a:latin typeface="SimSun"/>
                          <a:cs typeface="SimSun"/>
                        </a:rPr>
                        <a:t>（发射机</a:t>
                      </a:r>
                      <a:r>
                        <a:rPr dirty="0" sz="1200" spc="-50">
                          <a:latin typeface="SimSun"/>
                          <a:cs typeface="SimSun"/>
                        </a:rPr>
                        <a:t>）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3175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200" spc="-25">
                          <a:latin typeface="SimSun"/>
                          <a:cs typeface="SimSun"/>
                        </a:rPr>
                        <a:t>室外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94615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R16</a:t>
                      </a:r>
                      <a:r>
                        <a:rPr dirty="0" sz="1200" spc="-25">
                          <a:latin typeface="SimSun"/>
                          <a:cs typeface="SimSun"/>
                        </a:rPr>
                        <a:t>预研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94615">
                    <a:lnT w="12700">
                      <a:solidFill>
                        <a:srgbClr val="BBE0E3"/>
                      </a:solidFill>
                      <a:prstDash val="solid"/>
                    </a:lnT>
                    <a:lnB w="12700">
                      <a:solidFill>
                        <a:srgbClr val="BBE0E3"/>
                      </a:solidFill>
                      <a:prstDash val="solid"/>
                    </a:lnB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25">
                          <a:latin typeface="SimSun"/>
                          <a:cs typeface="SimSun"/>
                        </a:rPr>
                        <a:t>华为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◎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T w="12700">
                      <a:solidFill>
                        <a:srgbClr val="BBE0E3"/>
                      </a:solidFill>
                      <a:prstDash val="solid"/>
                    </a:lnT>
                    <a:solidFill>
                      <a:srgbClr val="BBE0E3">
                        <a:alpha val="19999"/>
                      </a:srgbClr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20">
                          <a:latin typeface="SimSun"/>
                          <a:cs typeface="SimSun"/>
                        </a:rPr>
                        <a:t>爱立信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○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8755"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25">
                          <a:latin typeface="SimSun"/>
                          <a:cs typeface="SimSun"/>
                        </a:rPr>
                        <a:t>大唐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BBE0E3">
                        <a:alpha val="19999"/>
                      </a:srgbClr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10">
                          <a:latin typeface="SimSun"/>
                          <a:cs typeface="SimSun"/>
                        </a:rPr>
                        <a:t>诺基亚贝尔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○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8755"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25">
                          <a:latin typeface="SimSun"/>
                          <a:cs typeface="SimSun"/>
                        </a:rPr>
                        <a:t>中兴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50">
                          <a:latin typeface="SimSun"/>
                          <a:cs typeface="SimSun"/>
                        </a:rPr>
                        <a:t>●</a:t>
                      </a:r>
                      <a:endParaRPr sz="1000">
                        <a:latin typeface="SimSun"/>
                        <a:cs typeface="SimSun"/>
                      </a:endParaRPr>
                    </a:p>
                  </a:txBody>
                  <a:tcPr marL="0" marR="0" marB="0" marT="2286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BBE0E3"/>
                      </a:solidFill>
                      <a:prstDash val="solid"/>
                    </a:lnB>
                    <a:solidFill>
                      <a:srgbClr val="BBE0E3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90549" y="151160"/>
            <a:ext cx="734377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工信部三阶段</a:t>
            </a:r>
            <a:r>
              <a:rPr dirty="0" spc="-10">
                <a:latin typeface="Times New Roman"/>
                <a:cs typeface="Times New Roman"/>
              </a:rPr>
              <a:t>NSA</a:t>
            </a:r>
            <a:r>
              <a:rPr dirty="0" spc="-45"/>
              <a:t>实验室和外场测试结果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9824" y="98291"/>
            <a:ext cx="564959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移动</a:t>
            </a:r>
            <a:r>
              <a:rPr dirty="0" spc="-10">
                <a:latin typeface="Times New Roman"/>
                <a:cs typeface="Times New Roman"/>
              </a:rPr>
              <a:t>/</a:t>
            </a:r>
            <a:r>
              <a:rPr dirty="0" spc="-35"/>
              <a:t>电信</a:t>
            </a:r>
            <a:r>
              <a:rPr dirty="0" spc="-10">
                <a:latin typeface="Times New Roman"/>
                <a:cs typeface="Times New Roman"/>
              </a:rPr>
              <a:t>/</a:t>
            </a:r>
            <a:r>
              <a:rPr dirty="0" spc="-40"/>
              <a:t>联通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商用整体规划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29412" y="1479803"/>
            <a:ext cx="8262620" cy="2202815"/>
            <a:chOff x="629412" y="1479803"/>
            <a:chExt cx="8262620" cy="2202815"/>
          </a:xfrm>
        </p:grpSpPr>
        <p:sp>
          <p:nvSpPr>
            <p:cNvPr id="4" name="object 4" descr=""/>
            <p:cNvSpPr/>
            <p:nvPr/>
          </p:nvSpPr>
          <p:spPr>
            <a:xfrm>
              <a:off x="4893247" y="3461380"/>
              <a:ext cx="979169" cy="208279"/>
            </a:xfrm>
            <a:custGeom>
              <a:avLst/>
              <a:gdLst/>
              <a:ahLst/>
              <a:cxnLst/>
              <a:rect l="l" t="t" r="r" b="b"/>
              <a:pathLst>
                <a:path w="979170" h="208279">
                  <a:moveTo>
                    <a:pt x="0" y="0"/>
                  </a:moveTo>
                  <a:lnTo>
                    <a:pt x="875080" y="0"/>
                  </a:lnTo>
                  <a:lnTo>
                    <a:pt x="979119" y="104051"/>
                  </a:lnTo>
                  <a:lnTo>
                    <a:pt x="875080" y="208089"/>
                  </a:lnTo>
                  <a:lnTo>
                    <a:pt x="0" y="20808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90749" y="1566955"/>
              <a:ext cx="0" cy="2075180"/>
            </a:xfrm>
            <a:custGeom>
              <a:avLst/>
              <a:gdLst/>
              <a:ahLst/>
              <a:cxnLst/>
              <a:rect l="l" t="t" r="r" b="b"/>
              <a:pathLst>
                <a:path w="0" h="2075179">
                  <a:moveTo>
                    <a:pt x="0" y="0"/>
                  </a:moveTo>
                  <a:lnTo>
                    <a:pt x="0" y="2074989"/>
                  </a:lnTo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54327" y="1513418"/>
              <a:ext cx="0" cy="2082800"/>
            </a:xfrm>
            <a:custGeom>
              <a:avLst/>
              <a:gdLst/>
              <a:ahLst/>
              <a:cxnLst/>
              <a:rect l="l" t="t" r="r" b="b"/>
              <a:pathLst>
                <a:path w="0" h="2082800">
                  <a:moveTo>
                    <a:pt x="0" y="0"/>
                  </a:moveTo>
                  <a:lnTo>
                    <a:pt x="0" y="2082317"/>
                  </a:lnTo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353" y="1479803"/>
              <a:ext cx="7964423" cy="20040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68801" y="1498127"/>
              <a:ext cx="7882255" cy="118110"/>
            </a:xfrm>
            <a:custGeom>
              <a:avLst/>
              <a:gdLst/>
              <a:ahLst/>
              <a:cxnLst/>
              <a:rect l="l" t="t" r="r" b="b"/>
              <a:pathLst>
                <a:path w="7882255" h="118109">
                  <a:moveTo>
                    <a:pt x="7822869" y="0"/>
                  </a:moveTo>
                  <a:lnTo>
                    <a:pt x="0" y="0"/>
                  </a:lnTo>
                  <a:lnTo>
                    <a:pt x="0" y="117716"/>
                  </a:lnTo>
                  <a:lnTo>
                    <a:pt x="7822869" y="117716"/>
                  </a:lnTo>
                  <a:lnTo>
                    <a:pt x="7881734" y="58851"/>
                  </a:lnTo>
                  <a:lnTo>
                    <a:pt x="7822869" y="0"/>
                  </a:lnTo>
                  <a:close/>
                </a:path>
              </a:pathLst>
            </a:custGeom>
            <a:solidFill>
              <a:srgbClr val="9496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412" y="2283713"/>
              <a:ext cx="948689" cy="52806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224" y="2297430"/>
              <a:ext cx="909065" cy="44195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689851" y="2323566"/>
            <a:ext cx="828675" cy="408305"/>
          </a:xfrm>
          <a:prstGeom prst="rect">
            <a:avLst/>
          </a:prstGeom>
          <a:solidFill>
            <a:srgbClr val="92D050"/>
          </a:solidFill>
          <a:ln w="38100">
            <a:solidFill>
              <a:srgbClr val="FFFFFF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280035" marR="72390" indent="-200025">
              <a:lnSpc>
                <a:spcPct val="100000"/>
              </a:lnSpc>
              <a:spcBef>
                <a:spcPts val="225"/>
              </a:spcBef>
            </a:pPr>
            <a:r>
              <a:rPr dirty="0" sz="1050" spc="-10" b="1">
                <a:solidFill>
                  <a:srgbClr val="FFFFFF"/>
                </a:solidFill>
                <a:latin typeface="Microsoft YaHei"/>
                <a:cs typeface="Microsoft YaHei"/>
              </a:rPr>
              <a:t>移动试验及</a:t>
            </a:r>
            <a:r>
              <a:rPr dirty="0" sz="1050" spc="-25" b="1">
                <a:solidFill>
                  <a:srgbClr val="FFFFFF"/>
                </a:solidFill>
                <a:latin typeface="Microsoft YaHei"/>
                <a:cs typeface="Microsoft YaHei"/>
              </a:rPr>
              <a:t>示范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44651" y="3313188"/>
            <a:ext cx="948690" cy="497205"/>
            <a:chOff x="644651" y="3313188"/>
            <a:chExt cx="948690" cy="497205"/>
          </a:xfrm>
        </p:grpSpPr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651" y="3313188"/>
              <a:ext cx="948689" cy="49681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463" y="3326904"/>
              <a:ext cx="909065" cy="441947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704888" y="3353612"/>
            <a:ext cx="828675" cy="376555"/>
          </a:xfrm>
          <a:prstGeom prst="rect">
            <a:avLst/>
          </a:prstGeom>
          <a:solidFill>
            <a:srgbClr val="C00000"/>
          </a:solidFill>
          <a:ln w="38100">
            <a:solidFill>
              <a:srgbClr val="FFFFFF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213995" marR="72390" indent="-133350">
              <a:lnSpc>
                <a:spcPct val="100000"/>
              </a:lnSpc>
              <a:spcBef>
                <a:spcPts val="225"/>
              </a:spcBef>
            </a:pPr>
            <a:r>
              <a:rPr dirty="0" sz="1050" spc="-10" b="1">
                <a:solidFill>
                  <a:srgbClr val="FFFFFF"/>
                </a:solidFill>
                <a:latin typeface="Microsoft YaHei"/>
                <a:cs typeface="Microsoft YaHei"/>
              </a:rPr>
              <a:t>移动预商用</a:t>
            </a:r>
            <a:r>
              <a:rPr dirty="0" sz="1050" spc="-20" b="1">
                <a:solidFill>
                  <a:srgbClr val="FFFFFF"/>
                </a:solidFill>
                <a:latin typeface="Microsoft YaHei"/>
                <a:cs typeface="Microsoft YaHei"/>
              </a:rPr>
              <a:t>及商用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32459" y="1768601"/>
            <a:ext cx="949960" cy="528320"/>
            <a:chOff x="632459" y="1768601"/>
            <a:chExt cx="949960" cy="528320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459" y="1768601"/>
              <a:ext cx="949451" cy="52806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2271" y="1782317"/>
              <a:ext cx="909065" cy="441959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692467" y="1808695"/>
            <a:ext cx="829944" cy="408305"/>
          </a:xfrm>
          <a:prstGeom prst="rect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347345" marR="73660" indent="-266700">
              <a:lnSpc>
                <a:spcPct val="100000"/>
              </a:lnSpc>
              <a:spcBef>
                <a:spcPts val="225"/>
              </a:spcBef>
            </a:pPr>
            <a:r>
              <a:rPr dirty="0" sz="1050" spc="-10" b="1">
                <a:solidFill>
                  <a:srgbClr val="FFFFFF"/>
                </a:solidFill>
                <a:latin typeface="Microsoft YaHei"/>
                <a:cs typeface="Microsoft YaHei"/>
              </a:rPr>
              <a:t>移动技术路</a:t>
            </a:r>
            <a:r>
              <a:rPr dirty="0" sz="1050" spc="-50" b="1">
                <a:solidFill>
                  <a:srgbClr val="FFFFFF"/>
                </a:solidFill>
                <a:latin typeface="Microsoft YaHei"/>
                <a:cs typeface="Microsoft YaHei"/>
              </a:rPr>
              <a:t>线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414891" y="1519665"/>
            <a:ext cx="6759575" cy="1057275"/>
            <a:chOff x="1414891" y="1519665"/>
            <a:chExt cx="6759575" cy="1057275"/>
          </a:xfrm>
        </p:grpSpPr>
        <p:sp>
          <p:nvSpPr>
            <p:cNvPr id="21" name="object 21" descr=""/>
            <p:cNvSpPr/>
            <p:nvPr/>
          </p:nvSpPr>
          <p:spPr>
            <a:xfrm>
              <a:off x="1414891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5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72831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245352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5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303293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075813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5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133754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906273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64214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36735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794675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567196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625137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97658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455599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28118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286058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058580" y="1519665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116522" y="154464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577971" y="2225316"/>
              <a:ext cx="2214245" cy="346710"/>
            </a:xfrm>
            <a:custGeom>
              <a:avLst/>
              <a:gdLst/>
              <a:ahLst/>
              <a:cxnLst/>
              <a:rect l="l" t="t" r="r" b="b"/>
              <a:pathLst>
                <a:path w="2214245" h="346710">
                  <a:moveTo>
                    <a:pt x="2040902" y="0"/>
                  </a:moveTo>
                  <a:lnTo>
                    <a:pt x="2040902" y="70688"/>
                  </a:lnTo>
                  <a:lnTo>
                    <a:pt x="0" y="70688"/>
                  </a:lnTo>
                  <a:lnTo>
                    <a:pt x="102577" y="173266"/>
                  </a:lnTo>
                  <a:lnTo>
                    <a:pt x="0" y="275831"/>
                  </a:lnTo>
                  <a:lnTo>
                    <a:pt x="2040902" y="275831"/>
                  </a:lnTo>
                  <a:lnTo>
                    <a:pt x="2040902" y="346519"/>
                  </a:lnTo>
                  <a:lnTo>
                    <a:pt x="2214168" y="173266"/>
                  </a:lnTo>
                  <a:lnTo>
                    <a:pt x="204090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577971" y="2225316"/>
              <a:ext cx="2214245" cy="346710"/>
            </a:xfrm>
            <a:custGeom>
              <a:avLst/>
              <a:gdLst/>
              <a:ahLst/>
              <a:cxnLst/>
              <a:rect l="l" t="t" r="r" b="b"/>
              <a:pathLst>
                <a:path w="2214245" h="346710">
                  <a:moveTo>
                    <a:pt x="0" y="70688"/>
                  </a:moveTo>
                  <a:lnTo>
                    <a:pt x="2040902" y="70688"/>
                  </a:lnTo>
                  <a:lnTo>
                    <a:pt x="2040902" y="0"/>
                  </a:lnTo>
                  <a:lnTo>
                    <a:pt x="2214168" y="173266"/>
                  </a:lnTo>
                  <a:lnTo>
                    <a:pt x="2040902" y="346519"/>
                  </a:lnTo>
                  <a:lnTo>
                    <a:pt x="2040902" y="275831"/>
                  </a:lnTo>
                  <a:lnTo>
                    <a:pt x="0" y="275831"/>
                  </a:lnTo>
                  <a:lnTo>
                    <a:pt x="102577" y="173266"/>
                  </a:lnTo>
                  <a:lnTo>
                    <a:pt x="0" y="70688"/>
                  </a:lnTo>
                  <a:close/>
                </a:path>
              </a:pathLst>
            </a:custGeom>
            <a:ln w="9524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3099710" y="2304343"/>
            <a:ext cx="11709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试验网和示范网建设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3046578" y="2511234"/>
            <a:ext cx="2842260" cy="389890"/>
            <a:chOff x="3046578" y="2511234"/>
            <a:chExt cx="2842260" cy="389890"/>
          </a:xfrm>
        </p:grpSpPr>
        <p:sp>
          <p:nvSpPr>
            <p:cNvPr id="43" name="object 43" descr=""/>
            <p:cNvSpPr/>
            <p:nvPr/>
          </p:nvSpPr>
          <p:spPr>
            <a:xfrm>
              <a:off x="3051341" y="2515997"/>
              <a:ext cx="2832735" cy="380365"/>
            </a:xfrm>
            <a:custGeom>
              <a:avLst/>
              <a:gdLst/>
              <a:ahLst/>
              <a:cxnLst/>
              <a:rect l="l" t="t" r="r" b="b"/>
              <a:pathLst>
                <a:path w="2832735" h="380364">
                  <a:moveTo>
                    <a:pt x="2642463" y="0"/>
                  </a:moveTo>
                  <a:lnTo>
                    <a:pt x="2642463" y="68757"/>
                  </a:lnTo>
                  <a:lnTo>
                    <a:pt x="0" y="68757"/>
                  </a:lnTo>
                  <a:lnTo>
                    <a:pt x="121196" y="189953"/>
                  </a:lnTo>
                  <a:lnTo>
                    <a:pt x="0" y="311137"/>
                  </a:lnTo>
                  <a:lnTo>
                    <a:pt x="2642463" y="311137"/>
                  </a:lnTo>
                  <a:lnTo>
                    <a:pt x="2642463" y="379907"/>
                  </a:lnTo>
                  <a:lnTo>
                    <a:pt x="2832404" y="189953"/>
                  </a:lnTo>
                  <a:lnTo>
                    <a:pt x="264246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51341" y="2515997"/>
              <a:ext cx="2832735" cy="380365"/>
            </a:xfrm>
            <a:custGeom>
              <a:avLst/>
              <a:gdLst/>
              <a:ahLst/>
              <a:cxnLst/>
              <a:rect l="l" t="t" r="r" b="b"/>
              <a:pathLst>
                <a:path w="2832735" h="380364">
                  <a:moveTo>
                    <a:pt x="0" y="68757"/>
                  </a:moveTo>
                  <a:lnTo>
                    <a:pt x="2642463" y="68757"/>
                  </a:lnTo>
                  <a:lnTo>
                    <a:pt x="2642463" y="0"/>
                  </a:lnTo>
                  <a:lnTo>
                    <a:pt x="2832404" y="189953"/>
                  </a:lnTo>
                  <a:lnTo>
                    <a:pt x="2642463" y="379907"/>
                  </a:lnTo>
                  <a:lnTo>
                    <a:pt x="2642463" y="311137"/>
                  </a:lnTo>
                  <a:lnTo>
                    <a:pt x="0" y="311137"/>
                  </a:lnTo>
                  <a:lnTo>
                    <a:pt x="121196" y="189953"/>
                  </a:lnTo>
                  <a:lnTo>
                    <a:pt x="0" y="68757"/>
                  </a:lnTo>
                  <a:close/>
                </a:path>
              </a:pathLst>
            </a:custGeom>
            <a:ln w="9525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755520" y="2611713"/>
            <a:ext cx="1425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FFFFFF"/>
                </a:solidFill>
                <a:latin typeface="Microsoft YaHei"/>
                <a:cs typeface="Microsoft YaHei"/>
              </a:rPr>
              <a:t>规模试验及业务示范测试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5756306" y="3332411"/>
            <a:ext cx="2299970" cy="454025"/>
            <a:chOff x="5756306" y="3332411"/>
            <a:chExt cx="2299970" cy="454025"/>
          </a:xfrm>
        </p:grpSpPr>
        <p:sp>
          <p:nvSpPr>
            <p:cNvPr id="47" name="object 47" descr=""/>
            <p:cNvSpPr/>
            <p:nvPr/>
          </p:nvSpPr>
          <p:spPr>
            <a:xfrm>
              <a:off x="5761069" y="3337173"/>
              <a:ext cx="2290445" cy="444500"/>
            </a:xfrm>
            <a:custGeom>
              <a:avLst/>
              <a:gdLst/>
              <a:ahLst/>
              <a:cxnLst/>
              <a:rect l="l" t="t" r="r" b="b"/>
              <a:pathLst>
                <a:path w="2290445" h="444500">
                  <a:moveTo>
                    <a:pt x="2067928" y="0"/>
                  </a:moveTo>
                  <a:lnTo>
                    <a:pt x="2067928" y="111010"/>
                  </a:lnTo>
                  <a:lnTo>
                    <a:pt x="0" y="111010"/>
                  </a:lnTo>
                  <a:lnTo>
                    <a:pt x="111023" y="222034"/>
                  </a:lnTo>
                  <a:lnTo>
                    <a:pt x="0" y="333044"/>
                  </a:lnTo>
                  <a:lnTo>
                    <a:pt x="2067928" y="333044"/>
                  </a:lnTo>
                  <a:lnTo>
                    <a:pt x="2067928" y="444068"/>
                  </a:lnTo>
                  <a:lnTo>
                    <a:pt x="2289962" y="222034"/>
                  </a:lnTo>
                  <a:lnTo>
                    <a:pt x="20679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761069" y="3337173"/>
              <a:ext cx="2290445" cy="444500"/>
            </a:xfrm>
            <a:custGeom>
              <a:avLst/>
              <a:gdLst/>
              <a:ahLst/>
              <a:cxnLst/>
              <a:rect l="l" t="t" r="r" b="b"/>
              <a:pathLst>
                <a:path w="2290445" h="444500">
                  <a:moveTo>
                    <a:pt x="0" y="111010"/>
                  </a:moveTo>
                  <a:lnTo>
                    <a:pt x="2067928" y="111010"/>
                  </a:lnTo>
                  <a:lnTo>
                    <a:pt x="2067928" y="0"/>
                  </a:lnTo>
                  <a:lnTo>
                    <a:pt x="2289962" y="222034"/>
                  </a:lnTo>
                  <a:lnTo>
                    <a:pt x="2067928" y="444068"/>
                  </a:lnTo>
                  <a:lnTo>
                    <a:pt x="2067928" y="333044"/>
                  </a:lnTo>
                  <a:lnTo>
                    <a:pt x="0" y="333044"/>
                  </a:lnTo>
                  <a:lnTo>
                    <a:pt x="111023" y="222034"/>
                  </a:lnTo>
                  <a:lnTo>
                    <a:pt x="0" y="111010"/>
                  </a:lnTo>
                  <a:close/>
                </a:path>
              </a:pathLst>
            </a:custGeom>
            <a:ln w="9525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320770" y="3472389"/>
            <a:ext cx="11709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启动网络采购及建设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7929524" y="3689921"/>
            <a:ext cx="490220" cy="433705"/>
            <a:chOff x="7929524" y="3689921"/>
            <a:chExt cx="490220" cy="433705"/>
          </a:xfrm>
        </p:grpSpPr>
        <p:sp>
          <p:nvSpPr>
            <p:cNvPr id="51" name="object 51" descr=""/>
            <p:cNvSpPr/>
            <p:nvPr/>
          </p:nvSpPr>
          <p:spPr>
            <a:xfrm>
              <a:off x="7934287" y="3694684"/>
              <a:ext cx="480695" cy="424180"/>
            </a:xfrm>
            <a:custGeom>
              <a:avLst/>
              <a:gdLst/>
              <a:ahLst/>
              <a:cxnLst/>
              <a:rect l="l" t="t" r="r" b="b"/>
              <a:pathLst>
                <a:path w="480695" h="424179">
                  <a:moveTo>
                    <a:pt x="480352" y="0"/>
                  </a:moveTo>
                  <a:lnTo>
                    <a:pt x="0" y="0"/>
                  </a:lnTo>
                  <a:lnTo>
                    <a:pt x="0" y="423862"/>
                  </a:lnTo>
                  <a:lnTo>
                    <a:pt x="480352" y="423862"/>
                  </a:lnTo>
                  <a:lnTo>
                    <a:pt x="480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934287" y="3694684"/>
              <a:ext cx="480695" cy="424180"/>
            </a:xfrm>
            <a:custGeom>
              <a:avLst/>
              <a:gdLst/>
              <a:ahLst/>
              <a:cxnLst/>
              <a:rect l="l" t="t" r="r" b="b"/>
              <a:pathLst>
                <a:path w="480695" h="424179">
                  <a:moveTo>
                    <a:pt x="0" y="0"/>
                  </a:moveTo>
                  <a:lnTo>
                    <a:pt x="480352" y="0"/>
                  </a:lnTo>
                  <a:lnTo>
                    <a:pt x="480352" y="423862"/>
                  </a:lnTo>
                  <a:lnTo>
                    <a:pt x="0" y="42386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970375" y="3688726"/>
            <a:ext cx="407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FF0000"/>
                </a:solidFill>
                <a:latin typeface="Microsoft YaHei"/>
                <a:cs typeface="Microsoft YaHei"/>
              </a:rPr>
              <a:t>部分城市商用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434892" y="1749403"/>
            <a:ext cx="1015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20000"/>
              </a:lnSpc>
              <a:spcBef>
                <a:spcPts val="100"/>
              </a:spcBef>
            </a:pPr>
            <a:r>
              <a:rPr dirty="0" sz="1000" b="1">
                <a:latin typeface="Microsoft YaHei"/>
                <a:cs typeface="Microsoft YaHei"/>
              </a:rPr>
              <a:t>决策</a:t>
            </a:r>
            <a:r>
              <a:rPr dirty="0" sz="1000" spc="-10" b="1">
                <a:latin typeface="Arial"/>
                <a:cs typeface="Arial"/>
              </a:rPr>
              <a:t>SA/NSA</a:t>
            </a:r>
            <a:r>
              <a:rPr dirty="0" sz="1000" spc="-25" b="1">
                <a:latin typeface="Microsoft YaHei"/>
                <a:cs typeface="Microsoft YaHei"/>
              </a:rPr>
              <a:t>等重</a:t>
            </a:r>
            <a:r>
              <a:rPr dirty="0" sz="1000" spc="-10" b="1">
                <a:latin typeface="Microsoft YaHei"/>
                <a:cs typeface="Microsoft YaHei"/>
              </a:rPr>
              <a:t>大技术方案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881092" y="3879599"/>
            <a:ext cx="10439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0000"/>
                </a:solidFill>
                <a:latin typeface="Microsoft YaHei"/>
                <a:cs typeface="Microsoft YaHei"/>
              </a:rPr>
              <a:t>力争决策建设方案</a:t>
            </a:r>
            <a:endParaRPr sz="1000">
              <a:latin typeface="Microsoft YaHei"/>
              <a:cs typeface="Microsoft YaHei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49989" y="2615789"/>
            <a:ext cx="168503" cy="168008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6030323" y="3873491"/>
            <a:ext cx="916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0000"/>
                </a:solidFill>
                <a:latin typeface="Microsoft YaHei"/>
                <a:cs typeface="Microsoft YaHei"/>
              </a:rPr>
              <a:t>试验城市预商用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5815772" y="2830008"/>
            <a:ext cx="9302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0000"/>
                </a:solidFill>
                <a:latin typeface="Microsoft YaHei"/>
                <a:cs typeface="Microsoft YaHei"/>
              </a:rPr>
              <a:t>国庆</a:t>
            </a:r>
            <a:r>
              <a:rPr dirty="0" sz="1000" b="1">
                <a:solidFill>
                  <a:srgbClr val="FF0000"/>
                </a:solidFill>
                <a:latin typeface="Arial"/>
                <a:cs typeface="Arial"/>
              </a:rPr>
              <a:t>70</a:t>
            </a:r>
            <a:r>
              <a:rPr dirty="0" sz="1000" spc="-20" b="1">
                <a:solidFill>
                  <a:srgbClr val="FF0000"/>
                </a:solidFill>
                <a:latin typeface="Microsoft YaHei"/>
                <a:cs typeface="Microsoft YaHei"/>
              </a:rPr>
              <a:t>周年献礼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800586" y="1788755"/>
            <a:ext cx="1337945" cy="310515"/>
            <a:chOff x="1800586" y="1788755"/>
            <a:chExt cx="1337945" cy="310515"/>
          </a:xfrm>
        </p:grpSpPr>
        <p:sp>
          <p:nvSpPr>
            <p:cNvPr id="60" name="object 60" descr=""/>
            <p:cNvSpPr/>
            <p:nvPr/>
          </p:nvSpPr>
          <p:spPr>
            <a:xfrm>
              <a:off x="1805349" y="1793518"/>
              <a:ext cx="1328420" cy="300990"/>
            </a:xfrm>
            <a:custGeom>
              <a:avLst/>
              <a:gdLst/>
              <a:ahLst/>
              <a:cxnLst/>
              <a:rect l="l" t="t" r="r" b="b"/>
              <a:pathLst>
                <a:path w="1328420" h="300989">
                  <a:moveTo>
                    <a:pt x="1205776" y="0"/>
                  </a:moveTo>
                  <a:lnTo>
                    <a:pt x="1205776" y="47485"/>
                  </a:lnTo>
                  <a:lnTo>
                    <a:pt x="0" y="47485"/>
                  </a:lnTo>
                  <a:lnTo>
                    <a:pt x="83883" y="150279"/>
                  </a:lnTo>
                  <a:lnTo>
                    <a:pt x="0" y="253072"/>
                  </a:lnTo>
                  <a:lnTo>
                    <a:pt x="1205776" y="253072"/>
                  </a:lnTo>
                  <a:lnTo>
                    <a:pt x="1205776" y="300558"/>
                  </a:lnTo>
                  <a:lnTo>
                    <a:pt x="1328407" y="150279"/>
                  </a:lnTo>
                  <a:lnTo>
                    <a:pt x="1205776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805349" y="1793518"/>
              <a:ext cx="1328420" cy="300990"/>
            </a:xfrm>
            <a:custGeom>
              <a:avLst/>
              <a:gdLst/>
              <a:ahLst/>
              <a:cxnLst/>
              <a:rect l="l" t="t" r="r" b="b"/>
              <a:pathLst>
                <a:path w="1328420" h="300989">
                  <a:moveTo>
                    <a:pt x="0" y="47485"/>
                  </a:moveTo>
                  <a:lnTo>
                    <a:pt x="1205776" y="47485"/>
                  </a:lnTo>
                  <a:lnTo>
                    <a:pt x="1205776" y="0"/>
                  </a:lnTo>
                  <a:lnTo>
                    <a:pt x="1328407" y="150279"/>
                  </a:lnTo>
                  <a:lnTo>
                    <a:pt x="1205776" y="300558"/>
                  </a:lnTo>
                  <a:lnTo>
                    <a:pt x="1205776" y="253072"/>
                  </a:lnTo>
                  <a:lnTo>
                    <a:pt x="0" y="253072"/>
                  </a:lnTo>
                  <a:lnTo>
                    <a:pt x="83883" y="150279"/>
                  </a:lnTo>
                  <a:lnTo>
                    <a:pt x="0" y="47485"/>
                  </a:lnTo>
                  <a:close/>
                </a:path>
              </a:pathLst>
            </a:custGeom>
            <a:ln w="9525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1947835" y="1849564"/>
            <a:ext cx="10439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逐步明确技术方案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854026" y="1295032"/>
            <a:ext cx="71367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860" algn="l"/>
                <a:tab pos="1648460" algn="l"/>
                <a:tab pos="2483485" algn="l"/>
                <a:tab pos="3314700" algn="l"/>
                <a:tab pos="4108450" algn="l"/>
                <a:tab pos="4943475" algn="l"/>
                <a:tab pos="5778500" algn="l"/>
                <a:tab pos="6612890" algn="l"/>
              </a:tabLst>
            </a:pPr>
            <a:r>
              <a:rPr dirty="0" sz="1050" spc="-10" b="1" i="1">
                <a:latin typeface="Arial"/>
                <a:cs typeface="Arial"/>
              </a:rPr>
              <a:t>2018.Q2</a:t>
            </a:r>
            <a:r>
              <a:rPr dirty="0" sz="1050" b="1" i="1">
                <a:latin typeface="Arial"/>
                <a:cs typeface="Arial"/>
              </a:rPr>
              <a:t>	</a:t>
            </a:r>
            <a:r>
              <a:rPr dirty="0" baseline="2645" sz="1575" spc="-15" b="1" i="1">
                <a:latin typeface="Arial"/>
                <a:cs typeface="Arial"/>
              </a:rPr>
              <a:t>2018.Q3</a:t>
            </a:r>
            <a:r>
              <a:rPr dirty="0" baseline="2645" sz="1575" b="1" i="1">
                <a:latin typeface="Arial"/>
                <a:cs typeface="Arial"/>
              </a:rPr>
              <a:t>	</a:t>
            </a:r>
            <a:r>
              <a:rPr dirty="0" baseline="5291" sz="1575" spc="-15" b="1" i="1">
                <a:latin typeface="Arial"/>
                <a:cs typeface="Arial"/>
              </a:rPr>
              <a:t>2018.Q4</a:t>
            </a:r>
            <a:r>
              <a:rPr dirty="0" baseline="5291" sz="1575" b="1" i="1">
                <a:latin typeface="Arial"/>
                <a:cs typeface="Arial"/>
              </a:rPr>
              <a:t>	</a:t>
            </a:r>
            <a:r>
              <a:rPr dirty="0" baseline="2645" sz="1575" spc="-15" b="1" i="1">
                <a:latin typeface="Arial"/>
                <a:cs typeface="Arial"/>
              </a:rPr>
              <a:t>2019.Q1</a:t>
            </a:r>
            <a:r>
              <a:rPr dirty="0" baseline="2645" sz="1575" b="1" i="1">
                <a:latin typeface="Arial"/>
                <a:cs typeface="Arial"/>
              </a:rPr>
              <a:t>	</a:t>
            </a:r>
            <a:r>
              <a:rPr dirty="0" baseline="2645" sz="1575" spc="-15" b="1" i="1">
                <a:latin typeface="Arial"/>
                <a:cs typeface="Arial"/>
              </a:rPr>
              <a:t>2019Q2</a:t>
            </a:r>
            <a:r>
              <a:rPr dirty="0" baseline="2645" sz="1575" b="1" i="1">
                <a:latin typeface="Arial"/>
                <a:cs typeface="Arial"/>
              </a:rPr>
              <a:t>	</a:t>
            </a:r>
            <a:r>
              <a:rPr dirty="0" baseline="2645" sz="1575" spc="-15" b="1" i="1">
                <a:latin typeface="Arial"/>
                <a:cs typeface="Arial"/>
              </a:rPr>
              <a:t>2019.Q3</a:t>
            </a:r>
            <a:r>
              <a:rPr dirty="0" baseline="2645" sz="1575" b="1" i="1">
                <a:latin typeface="Arial"/>
                <a:cs typeface="Arial"/>
              </a:rPr>
              <a:t>	</a:t>
            </a:r>
            <a:r>
              <a:rPr dirty="0" baseline="5291" sz="1575" spc="-15" b="1" i="1">
                <a:latin typeface="Arial"/>
                <a:cs typeface="Arial"/>
              </a:rPr>
              <a:t>2019.Q4</a:t>
            </a:r>
            <a:r>
              <a:rPr dirty="0" baseline="5291" sz="1575" b="1" i="1">
                <a:latin typeface="Arial"/>
                <a:cs typeface="Arial"/>
              </a:rPr>
              <a:t>	</a:t>
            </a:r>
            <a:r>
              <a:rPr dirty="0" baseline="2645" sz="1575" spc="-15" b="1" i="1">
                <a:latin typeface="Arial"/>
                <a:cs typeface="Arial"/>
              </a:rPr>
              <a:t>2020.Q1</a:t>
            </a:r>
            <a:r>
              <a:rPr dirty="0" baseline="2645" sz="1575" b="1" i="1">
                <a:latin typeface="Arial"/>
                <a:cs typeface="Arial"/>
              </a:rPr>
              <a:t>	</a:t>
            </a:r>
            <a:r>
              <a:rPr dirty="0" baseline="2645" sz="1575" spc="-15" b="1" i="1">
                <a:latin typeface="Arial"/>
                <a:cs typeface="Arial"/>
              </a:rPr>
              <a:t>2020.Q2</a:t>
            </a:r>
            <a:endParaRPr baseline="2645" sz="1575">
              <a:latin typeface="Arial"/>
              <a:cs typeface="Arial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2754097" y="1521626"/>
            <a:ext cx="5461000" cy="3019425"/>
            <a:chOff x="2754097" y="1521626"/>
            <a:chExt cx="5461000" cy="3019425"/>
          </a:xfrm>
        </p:grpSpPr>
        <p:pic>
          <p:nvPicPr>
            <p:cNvPr id="65" name="object 6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0078" y="3691629"/>
              <a:ext cx="168503" cy="168008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46011" y="3490245"/>
              <a:ext cx="168503" cy="168008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06200" y="3717165"/>
              <a:ext cx="168503" cy="168008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8122872" y="1526388"/>
              <a:ext cx="0" cy="1942464"/>
            </a:xfrm>
            <a:custGeom>
              <a:avLst/>
              <a:gdLst/>
              <a:ahLst/>
              <a:cxnLst/>
              <a:rect l="l" t="t" r="r" b="b"/>
              <a:pathLst>
                <a:path w="0" h="1942464">
                  <a:moveTo>
                    <a:pt x="0" y="0"/>
                  </a:moveTo>
                  <a:lnTo>
                    <a:pt x="0" y="1942223"/>
                  </a:lnTo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4245" y="1865142"/>
              <a:ext cx="168503" cy="16800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2758860" y="4204500"/>
              <a:ext cx="2138680" cy="332105"/>
            </a:xfrm>
            <a:custGeom>
              <a:avLst/>
              <a:gdLst/>
              <a:ahLst/>
              <a:cxnLst/>
              <a:rect l="l" t="t" r="r" b="b"/>
              <a:pathLst>
                <a:path w="2138679" h="332104">
                  <a:moveTo>
                    <a:pt x="1972640" y="0"/>
                  </a:moveTo>
                  <a:lnTo>
                    <a:pt x="1972640" y="60007"/>
                  </a:lnTo>
                  <a:lnTo>
                    <a:pt x="0" y="60007"/>
                  </a:lnTo>
                  <a:lnTo>
                    <a:pt x="105765" y="165773"/>
                  </a:lnTo>
                  <a:lnTo>
                    <a:pt x="0" y="271538"/>
                  </a:lnTo>
                  <a:lnTo>
                    <a:pt x="1972640" y="271538"/>
                  </a:lnTo>
                  <a:lnTo>
                    <a:pt x="1972640" y="331558"/>
                  </a:lnTo>
                  <a:lnTo>
                    <a:pt x="2138413" y="165773"/>
                  </a:lnTo>
                  <a:lnTo>
                    <a:pt x="197264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758860" y="4204500"/>
              <a:ext cx="2138680" cy="332105"/>
            </a:xfrm>
            <a:custGeom>
              <a:avLst/>
              <a:gdLst/>
              <a:ahLst/>
              <a:cxnLst/>
              <a:rect l="l" t="t" r="r" b="b"/>
              <a:pathLst>
                <a:path w="2138679" h="332104">
                  <a:moveTo>
                    <a:pt x="0" y="60007"/>
                  </a:moveTo>
                  <a:lnTo>
                    <a:pt x="1972640" y="60007"/>
                  </a:lnTo>
                  <a:lnTo>
                    <a:pt x="1972640" y="0"/>
                  </a:lnTo>
                  <a:lnTo>
                    <a:pt x="2138413" y="165773"/>
                  </a:lnTo>
                  <a:lnTo>
                    <a:pt x="1972640" y="331558"/>
                  </a:lnTo>
                  <a:lnTo>
                    <a:pt x="1972640" y="271538"/>
                  </a:lnTo>
                  <a:lnTo>
                    <a:pt x="0" y="271538"/>
                  </a:lnTo>
                  <a:lnTo>
                    <a:pt x="105765" y="165773"/>
                  </a:lnTo>
                  <a:lnTo>
                    <a:pt x="0" y="60007"/>
                  </a:lnTo>
                  <a:close/>
                </a:path>
              </a:pathLst>
            </a:custGeom>
            <a:ln w="9525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3115599" y="4276040"/>
            <a:ext cx="1425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FFFFFF"/>
                </a:solidFill>
                <a:latin typeface="Microsoft YaHei"/>
                <a:cs typeface="Microsoft YaHei"/>
              </a:rPr>
              <a:t>规模试验及业务示范测试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4892516" y="4146287"/>
            <a:ext cx="3250565" cy="454025"/>
            <a:chOff x="4892516" y="4146287"/>
            <a:chExt cx="3250565" cy="454025"/>
          </a:xfrm>
        </p:grpSpPr>
        <p:sp>
          <p:nvSpPr>
            <p:cNvPr id="74" name="object 74" descr=""/>
            <p:cNvSpPr/>
            <p:nvPr/>
          </p:nvSpPr>
          <p:spPr>
            <a:xfrm>
              <a:off x="4897278" y="4151049"/>
              <a:ext cx="3241040" cy="444500"/>
            </a:xfrm>
            <a:custGeom>
              <a:avLst/>
              <a:gdLst/>
              <a:ahLst/>
              <a:cxnLst/>
              <a:rect l="l" t="t" r="r" b="b"/>
              <a:pathLst>
                <a:path w="3241040" h="444500">
                  <a:moveTo>
                    <a:pt x="3018866" y="0"/>
                  </a:moveTo>
                  <a:lnTo>
                    <a:pt x="3018866" y="111010"/>
                  </a:lnTo>
                  <a:lnTo>
                    <a:pt x="0" y="111010"/>
                  </a:lnTo>
                  <a:lnTo>
                    <a:pt x="111010" y="222034"/>
                  </a:lnTo>
                  <a:lnTo>
                    <a:pt x="0" y="333044"/>
                  </a:lnTo>
                  <a:lnTo>
                    <a:pt x="3018866" y="333044"/>
                  </a:lnTo>
                  <a:lnTo>
                    <a:pt x="3018866" y="444068"/>
                  </a:lnTo>
                  <a:lnTo>
                    <a:pt x="3240900" y="222034"/>
                  </a:lnTo>
                  <a:lnTo>
                    <a:pt x="30188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897278" y="4151049"/>
              <a:ext cx="3241040" cy="444500"/>
            </a:xfrm>
            <a:custGeom>
              <a:avLst/>
              <a:gdLst/>
              <a:ahLst/>
              <a:cxnLst/>
              <a:rect l="l" t="t" r="r" b="b"/>
              <a:pathLst>
                <a:path w="3241040" h="444500">
                  <a:moveTo>
                    <a:pt x="0" y="111010"/>
                  </a:moveTo>
                  <a:lnTo>
                    <a:pt x="3018866" y="111010"/>
                  </a:lnTo>
                  <a:lnTo>
                    <a:pt x="3018866" y="0"/>
                  </a:lnTo>
                  <a:lnTo>
                    <a:pt x="3240900" y="222034"/>
                  </a:lnTo>
                  <a:lnTo>
                    <a:pt x="3018866" y="444068"/>
                  </a:lnTo>
                  <a:lnTo>
                    <a:pt x="3018866" y="333044"/>
                  </a:lnTo>
                  <a:lnTo>
                    <a:pt x="0" y="333044"/>
                  </a:lnTo>
                  <a:lnTo>
                    <a:pt x="111010" y="222034"/>
                  </a:lnTo>
                  <a:lnTo>
                    <a:pt x="0" y="111010"/>
                  </a:lnTo>
                  <a:close/>
                </a:path>
              </a:pathLst>
            </a:custGeom>
            <a:ln w="9525">
              <a:solidFill>
                <a:srgbClr val="BB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6122822" y="4286266"/>
            <a:ext cx="789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预商用及商用</a:t>
            </a:r>
            <a:endParaRPr sz="1000">
              <a:latin typeface="Microsoft YaHei"/>
              <a:cs typeface="Microsoft YaHei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26417" y="4576073"/>
            <a:ext cx="162001" cy="162001"/>
          </a:xfrm>
          <a:prstGeom prst="rect">
            <a:avLst/>
          </a:prstGeom>
        </p:spPr>
      </p:pic>
      <p:sp>
        <p:nvSpPr>
          <p:cNvPr id="78" name="object 78" descr=""/>
          <p:cNvSpPr txBox="1"/>
          <p:nvPr/>
        </p:nvSpPr>
        <p:spPr>
          <a:xfrm>
            <a:off x="2655239" y="4772371"/>
            <a:ext cx="6642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3.5GHz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SA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9" name="object 7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94468" y="4562478"/>
            <a:ext cx="162001" cy="162001"/>
          </a:xfrm>
          <a:prstGeom prst="rect">
            <a:avLst/>
          </a:prstGeom>
        </p:spPr>
      </p:pic>
      <p:sp>
        <p:nvSpPr>
          <p:cNvPr id="80" name="object 80" descr=""/>
          <p:cNvSpPr txBox="1"/>
          <p:nvPr/>
        </p:nvSpPr>
        <p:spPr>
          <a:xfrm>
            <a:off x="5998870" y="4749349"/>
            <a:ext cx="11696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icrosoft YaHei"/>
                <a:cs typeface="Microsoft YaHei"/>
              </a:rPr>
              <a:t>预商用</a:t>
            </a:r>
            <a:r>
              <a:rPr dirty="0" sz="1000" b="1">
                <a:latin typeface="Arial"/>
                <a:cs typeface="Arial"/>
              </a:rPr>
              <a:t>@3.5GHz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629412" y="4123944"/>
            <a:ext cx="948690" cy="660400"/>
            <a:chOff x="629412" y="4123944"/>
            <a:chExt cx="948690" cy="660400"/>
          </a:xfrm>
        </p:grpSpPr>
        <p:pic>
          <p:nvPicPr>
            <p:cNvPr id="82" name="object 8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9412" y="4123944"/>
              <a:ext cx="948689" cy="659891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9224" y="4136897"/>
              <a:ext cx="909065" cy="602741"/>
            </a:xfrm>
            <a:prstGeom prst="rect">
              <a:avLst/>
            </a:prstGeom>
          </p:spPr>
        </p:pic>
      </p:grpSp>
      <p:sp>
        <p:nvSpPr>
          <p:cNvPr id="84" name="object 84" descr=""/>
          <p:cNvSpPr txBox="1"/>
          <p:nvPr/>
        </p:nvSpPr>
        <p:spPr>
          <a:xfrm>
            <a:off x="689851" y="4164507"/>
            <a:ext cx="828675" cy="539750"/>
          </a:xfrm>
          <a:prstGeom prst="rect">
            <a:avLst/>
          </a:prstGeom>
          <a:solidFill>
            <a:srgbClr val="00B050"/>
          </a:solidFill>
          <a:ln w="38100">
            <a:solidFill>
              <a:srgbClr val="FFFFFF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algn="ctr" marL="80645" marR="72390">
              <a:lnSpc>
                <a:spcPct val="100000"/>
              </a:lnSpc>
              <a:spcBef>
                <a:spcPts val="229"/>
              </a:spcBef>
            </a:pPr>
            <a:r>
              <a:rPr dirty="0" sz="1050" b="1">
                <a:solidFill>
                  <a:srgbClr val="FFFFFF"/>
                </a:solidFill>
                <a:latin typeface="Microsoft YaHei"/>
                <a:cs typeface="Microsoft YaHei"/>
              </a:rPr>
              <a:t>电信</a:t>
            </a:r>
            <a:r>
              <a:rPr dirty="0" sz="105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050" spc="-25" b="1">
                <a:solidFill>
                  <a:srgbClr val="FFFFFF"/>
                </a:solidFill>
                <a:latin typeface="Microsoft YaHei"/>
                <a:cs typeface="Microsoft YaHei"/>
              </a:rPr>
              <a:t>联通</a:t>
            </a:r>
            <a:r>
              <a:rPr dirty="0" sz="1050" spc="-10" b="1">
                <a:solidFill>
                  <a:srgbClr val="FFFFFF"/>
                </a:solidFill>
                <a:latin typeface="Microsoft YaHei"/>
                <a:cs typeface="Microsoft YaHei"/>
              </a:rPr>
              <a:t>试验及预商</a:t>
            </a:r>
            <a:r>
              <a:rPr dirty="0" sz="1050" spc="-20" b="1">
                <a:solidFill>
                  <a:srgbClr val="FFFFFF"/>
                </a:solidFill>
                <a:latin typeface="Microsoft YaHei"/>
                <a:cs typeface="Microsoft YaHei"/>
              </a:rPr>
              <a:t>用预期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3991178" y="3672726"/>
            <a:ext cx="1022350" cy="339090"/>
            <a:chOff x="3991178" y="3672726"/>
            <a:chExt cx="1022350" cy="339090"/>
          </a:xfrm>
        </p:grpSpPr>
        <p:sp>
          <p:nvSpPr>
            <p:cNvPr id="86" name="object 86" descr=""/>
            <p:cNvSpPr/>
            <p:nvPr/>
          </p:nvSpPr>
          <p:spPr>
            <a:xfrm>
              <a:off x="4798699" y="3682251"/>
              <a:ext cx="205104" cy="123189"/>
            </a:xfrm>
            <a:custGeom>
              <a:avLst/>
              <a:gdLst/>
              <a:ahLst/>
              <a:cxnLst/>
              <a:rect l="l" t="t" r="r" b="b"/>
              <a:pathLst>
                <a:path w="205104" h="123189">
                  <a:moveTo>
                    <a:pt x="204787" y="0"/>
                  </a:moveTo>
                  <a:lnTo>
                    <a:pt x="0" y="123113"/>
                  </a:lnTo>
                </a:path>
              </a:pathLst>
            </a:custGeom>
            <a:ln w="1905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744276" y="3766168"/>
              <a:ext cx="85090" cy="72390"/>
            </a:xfrm>
            <a:custGeom>
              <a:avLst/>
              <a:gdLst/>
              <a:ahLst/>
              <a:cxnLst/>
              <a:rect l="l" t="t" r="r" b="b"/>
              <a:pathLst>
                <a:path w="85089" h="72389">
                  <a:moveTo>
                    <a:pt x="45669" y="0"/>
                  </a:moveTo>
                  <a:lnTo>
                    <a:pt x="0" y="71920"/>
                  </a:lnTo>
                  <a:lnTo>
                    <a:pt x="84937" y="65303"/>
                  </a:lnTo>
                  <a:lnTo>
                    <a:pt x="45669" y="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995940" y="3694023"/>
              <a:ext cx="796290" cy="313055"/>
            </a:xfrm>
            <a:custGeom>
              <a:avLst/>
              <a:gdLst/>
              <a:ahLst/>
              <a:cxnLst/>
              <a:rect l="l" t="t" r="r" b="b"/>
              <a:pathLst>
                <a:path w="796289" h="313054">
                  <a:moveTo>
                    <a:pt x="0" y="0"/>
                  </a:moveTo>
                  <a:lnTo>
                    <a:pt x="796201" y="0"/>
                  </a:lnTo>
                  <a:lnTo>
                    <a:pt x="796201" y="312648"/>
                  </a:lnTo>
                  <a:lnTo>
                    <a:pt x="0" y="3126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4076508" y="3634518"/>
            <a:ext cx="661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20000"/>
              </a:lnSpc>
              <a:spcBef>
                <a:spcPts val="100"/>
              </a:spcBef>
            </a:pPr>
            <a:r>
              <a:rPr dirty="0" sz="1000" spc="-15" b="1">
                <a:latin typeface="Microsoft YaHei"/>
                <a:cs typeface="Microsoft YaHei"/>
              </a:rPr>
              <a:t>探讨提前</a:t>
            </a:r>
            <a:r>
              <a:rPr dirty="0" sz="1000" spc="-10" b="1">
                <a:latin typeface="Microsoft YaHei"/>
                <a:cs typeface="Microsoft YaHei"/>
              </a:rPr>
              <a:t>采购可行性</a:t>
            </a:r>
            <a:endParaRPr sz="1000">
              <a:latin typeface="Microsoft YaHei"/>
              <a:cs typeface="Microsoft YaHei"/>
            </a:endParaRPr>
          </a:p>
        </p:txBody>
      </p:sp>
      <p:pic>
        <p:nvPicPr>
          <p:cNvPr id="90" name="object 9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38683" y="4568099"/>
            <a:ext cx="162001" cy="162001"/>
          </a:xfrm>
          <a:prstGeom prst="rect">
            <a:avLst/>
          </a:prstGeom>
        </p:spPr>
      </p:pic>
      <p:sp>
        <p:nvSpPr>
          <p:cNvPr id="91" name="object 91" descr=""/>
          <p:cNvSpPr txBox="1"/>
          <p:nvPr/>
        </p:nvSpPr>
        <p:spPr>
          <a:xfrm>
            <a:off x="7943085" y="4754970"/>
            <a:ext cx="104266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icrosoft YaHei"/>
                <a:cs typeface="Microsoft YaHei"/>
              </a:rPr>
              <a:t>商用</a:t>
            </a:r>
            <a:r>
              <a:rPr dirty="0" sz="1000" b="1">
                <a:latin typeface="Arial"/>
                <a:cs typeface="Arial"/>
              </a:rPr>
              <a:t>@3.5GHz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SA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44945" y="819150"/>
            <a:ext cx="8705850" cy="447675"/>
          </a:xfrm>
          <a:prstGeom prst="rect">
            <a:avLst/>
          </a:prstGeom>
          <a:solidFill>
            <a:srgbClr val="92D050"/>
          </a:solidFill>
        </p:spPr>
        <p:txBody>
          <a:bodyPr wrap="square" lIns="0" tIns="298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dirty="0" sz="1050">
                <a:latin typeface="Microsoft YaHei"/>
                <a:cs typeface="Microsoft YaHei"/>
              </a:rPr>
              <a:t>根据产业进度，</a:t>
            </a:r>
            <a:r>
              <a:rPr dirty="0" sz="1050">
                <a:latin typeface="Arial MT"/>
                <a:cs typeface="Arial MT"/>
              </a:rPr>
              <a:t>5G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2.6GHz</a:t>
            </a:r>
            <a:r>
              <a:rPr dirty="0" sz="1050">
                <a:latin typeface="Microsoft YaHei"/>
                <a:cs typeface="Microsoft YaHei"/>
              </a:rPr>
              <a:t>各城市规模试验将在今年底至</a:t>
            </a:r>
            <a:r>
              <a:rPr dirty="0" sz="1050" spc="-20">
                <a:latin typeface="Arial MT"/>
                <a:cs typeface="Arial MT"/>
              </a:rPr>
              <a:t>19</a:t>
            </a:r>
            <a:r>
              <a:rPr dirty="0" sz="1050">
                <a:latin typeface="Microsoft YaHei"/>
                <a:cs typeface="Microsoft YaHei"/>
              </a:rPr>
              <a:t>年</a:t>
            </a:r>
            <a:r>
              <a:rPr dirty="0" sz="1050" spc="-10">
                <a:latin typeface="Arial MT"/>
                <a:cs typeface="Arial MT"/>
              </a:rPr>
              <a:t>Q1</a:t>
            </a:r>
            <a:r>
              <a:rPr dirty="0" sz="1050" spc="-15">
                <a:latin typeface="Microsoft YaHei"/>
                <a:cs typeface="Microsoft YaHei"/>
              </a:rPr>
              <a:t>陆续启动</a:t>
            </a:r>
            <a:endParaRPr sz="1050">
              <a:latin typeface="Microsoft YaHei"/>
              <a:cs typeface="Microsoft YaHei"/>
            </a:endParaRPr>
          </a:p>
          <a:p>
            <a:pPr marL="90805">
              <a:lnSpc>
                <a:spcPct val="100000"/>
              </a:lnSpc>
              <a:spcBef>
                <a:spcPts val="630"/>
              </a:spcBef>
            </a:pPr>
            <a:r>
              <a:rPr dirty="0" sz="1050">
                <a:latin typeface="Microsoft YaHei"/>
                <a:cs typeface="Microsoft YaHei"/>
              </a:rPr>
              <a:t>电信预计明年</a:t>
            </a:r>
            <a:r>
              <a:rPr dirty="0" sz="1050" spc="-10">
                <a:latin typeface="Arial MT"/>
                <a:cs typeface="Arial MT"/>
              </a:rPr>
              <a:t>Q4</a:t>
            </a:r>
            <a:r>
              <a:rPr dirty="0" sz="1050">
                <a:latin typeface="Microsoft YaHei"/>
                <a:cs typeface="Microsoft YaHei"/>
              </a:rPr>
              <a:t>初预商用</a:t>
            </a:r>
            <a:r>
              <a:rPr dirty="0" sz="1050">
                <a:latin typeface="Arial MT"/>
                <a:cs typeface="Arial MT"/>
              </a:rPr>
              <a:t>3.5GHz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SA</a:t>
            </a:r>
            <a:r>
              <a:rPr dirty="0" sz="1050">
                <a:latin typeface="Microsoft YaHei"/>
                <a:cs typeface="Microsoft YaHei"/>
              </a:rPr>
              <a:t>，联通</a:t>
            </a:r>
            <a:r>
              <a:rPr dirty="0" sz="1050" spc="-10">
                <a:latin typeface="Arial MT"/>
                <a:cs typeface="Arial MT"/>
              </a:rPr>
              <a:t>NSA</a:t>
            </a:r>
            <a:r>
              <a:rPr dirty="0" sz="1050" spc="-10">
                <a:latin typeface="Microsoft YaHei"/>
                <a:cs typeface="Microsoft YaHei"/>
              </a:rPr>
              <a:t>初期组网可能性较大</a:t>
            </a:r>
            <a:endParaRPr sz="10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88775" y="1240972"/>
            <a:ext cx="2018664" cy="933450"/>
            <a:chOff x="4788775" y="1240972"/>
            <a:chExt cx="2018664" cy="933450"/>
          </a:xfrm>
        </p:grpSpPr>
        <p:sp>
          <p:nvSpPr>
            <p:cNvPr id="3" name="object 3" descr=""/>
            <p:cNvSpPr/>
            <p:nvPr/>
          </p:nvSpPr>
          <p:spPr>
            <a:xfrm>
              <a:off x="4790362" y="1242560"/>
              <a:ext cx="2015489" cy="930275"/>
            </a:xfrm>
            <a:custGeom>
              <a:avLst/>
              <a:gdLst/>
              <a:ahLst/>
              <a:cxnLst/>
              <a:rect l="l" t="t" r="r" b="b"/>
              <a:pathLst>
                <a:path w="2015490" h="930275">
                  <a:moveTo>
                    <a:pt x="2014867" y="0"/>
                  </a:moveTo>
                  <a:lnTo>
                    <a:pt x="335813" y="0"/>
                  </a:lnTo>
                  <a:lnTo>
                    <a:pt x="296651" y="3128"/>
                  </a:lnTo>
                  <a:lnTo>
                    <a:pt x="258816" y="12279"/>
                  </a:lnTo>
                  <a:lnTo>
                    <a:pt x="222559" y="27105"/>
                  </a:lnTo>
                  <a:lnTo>
                    <a:pt x="188134" y="47258"/>
                  </a:lnTo>
                  <a:lnTo>
                    <a:pt x="155790" y="72387"/>
                  </a:lnTo>
                  <a:lnTo>
                    <a:pt x="125781" y="102144"/>
                  </a:lnTo>
                  <a:lnTo>
                    <a:pt x="98359" y="136180"/>
                  </a:lnTo>
                  <a:lnTo>
                    <a:pt x="73776" y="174147"/>
                  </a:lnTo>
                  <a:lnTo>
                    <a:pt x="52283" y="215695"/>
                  </a:lnTo>
                  <a:lnTo>
                    <a:pt x="34133" y="260475"/>
                  </a:lnTo>
                  <a:lnTo>
                    <a:pt x="19578" y="308140"/>
                  </a:lnTo>
                  <a:lnTo>
                    <a:pt x="8869" y="358339"/>
                  </a:lnTo>
                  <a:lnTo>
                    <a:pt x="2259" y="410724"/>
                  </a:lnTo>
                  <a:lnTo>
                    <a:pt x="0" y="464947"/>
                  </a:lnTo>
                  <a:lnTo>
                    <a:pt x="2259" y="519171"/>
                  </a:lnTo>
                  <a:lnTo>
                    <a:pt x="8869" y="571559"/>
                  </a:lnTo>
                  <a:lnTo>
                    <a:pt x="19578" y="621760"/>
                  </a:lnTo>
                  <a:lnTo>
                    <a:pt x="34133" y="669426"/>
                  </a:lnTo>
                  <a:lnTo>
                    <a:pt x="52283" y="714208"/>
                  </a:lnTo>
                  <a:lnTo>
                    <a:pt x="73776" y="755757"/>
                  </a:lnTo>
                  <a:lnTo>
                    <a:pt x="98359" y="793724"/>
                  </a:lnTo>
                  <a:lnTo>
                    <a:pt x="125781" y="827761"/>
                  </a:lnTo>
                  <a:lnTo>
                    <a:pt x="155790" y="857519"/>
                  </a:lnTo>
                  <a:lnTo>
                    <a:pt x="188134" y="882648"/>
                  </a:lnTo>
                  <a:lnTo>
                    <a:pt x="222559" y="902800"/>
                  </a:lnTo>
                  <a:lnTo>
                    <a:pt x="258816" y="917626"/>
                  </a:lnTo>
                  <a:lnTo>
                    <a:pt x="296651" y="926778"/>
                  </a:lnTo>
                  <a:lnTo>
                    <a:pt x="335813" y="929906"/>
                  </a:lnTo>
                  <a:lnTo>
                    <a:pt x="2014867" y="929906"/>
                  </a:lnTo>
                  <a:lnTo>
                    <a:pt x="1975705" y="926778"/>
                  </a:lnTo>
                  <a:lnTo>
                    <a:pt x="1937870" y="917626"/>
                  </a:lnTo>
                  <a:lnTo>
                    <a:pt x="1901614" y="902800"/>
                  </a:lnTo>
                  <a:lnTo>
                    <a:pt x="1867188" y="882648"/>
                  </a:lnTo>
                  <a:lnTo>
                    <a:pt x="1834844" y="857519"/>
                  </a:lnTo>
                  <a:lnTo>
                    <a:pt x="1804836" y="827761"/>
                  </a:lnTo>
                  <a:lnTo>
                    <a:pt x="1777414" y="793724"/>
                  </a:lnTo>
                  <a:lnTo>
                    <a:pt x="1752830" y="755757"/>
                  </a:lnTo>
                  <a:lnTo>
                    <a:pt x="1731338" y="714208"/>
                  </a:lnTo>
                  <a:lnTo>
                    <a:pt x="1713187" y="669426"/>
                  </a:lnTo>
                  <a:lnTo>
                    <a:pt x="1698632" y="621760"/>
                  </a:lnTo>
                  <a:lnTo>
                    <a:pt x="1687923" y="571559"/>
                  </a:lnTo>
                  <a:lnTo>
                    <a:pt x="1681313" y="519171"/>
                  </a:lnTo>
                  <a:lnTo>
                    <a:pt x="1679054" y="464947"/>
                  </a:lnTo>
                  <a:lnTo>
                    <a:pt x="1681313" y="410724"/>
                  </a:lnTo>
                  <a:lnTo>
                    <a:pt x="1687923" y="358339"/>
                  </a:lnTo>
                  <a:lnTo>
                    <a:pt x="1698632" y="308140"/>
                  </a:lnTo>
                  <a:lnTo>
                    <a:pt x="1713187" y="260475"/>
                  </a:lnTo>
                  <a:lnTo>
                    <a:pt x="1731338" y="215695"/>
                  </a:lnTo>
                  <a:lnTo>
                    <a:pt x="1752830" y="174147"/>
                  </a:lnTo>
                  <a:lnTo>
                    <a:pt x="1777414" y="136180"/>
                  </a:lnTo>
                  <a:lnTo>
                    <a:pt x="1804836" y="102144"/>
                  </a:lnTo>
                  <a:lnTo>
                    <a:pt x="1834844" y="72387"/>
                  </a:lnTo>
                  <a:lnTo>
                    <a:pt x="1867188" y="47258"/>
                  </a:lnTo>
                  <a:lnTo>
                    <a:pt x="1901614" y="27105"/>
                  </a:lnTo>
                  <a:lnTo>
                    <a:pt x="1937870" y="12279"/>
                  </a:lnTo>
                  <a:lnTo>
                    <a:pt x="1975705" y="3128"/>
                  </a:lnTo>
                  <a:lnTo>
                    <a:pt x="2014867" y="0"/>
                  </a:lnTo>
                  <a:close/>
                </a:path>
              </a:pathLst>
            </a:custGeom>
            <a:solidFill>
              <a:srgbClr val="558ED5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790362" y="1242560"/>
              <a:ext cx="2015489" cy="930275"/>
            </a:xfrm>
            <a:custGeom>
              <a:avLst/>
              <a:gdLst/>
              <a:ahLst/>
              <a:cxnLst/>
              <a:rect l="l" t="t" r="r" b="b"/>
              <a:pathLst>
                <a:path w="2015490" h="930275">
                  <a:moveTo>
                    <a:pt x="335813" y="0"/>
                  </a:moveTo>
                  <a:lnTo>
                    <a:pt x="2014867" y="0"/>
                  </a:lnTo>
                  <a:lnTo>
                    <a:pt x="1975705" y="3128"/>
                  </a:lnTo>
                  <a:lnTo>
                    <a:pt x="1937870" y="12279"/>
                  </a:lnTo>
                  <a:lnTo>
                    <a:pt x="1901614" y="27105"/>
                  </a:lnTo>
                  <a:lnTo>
                    <a:pt x="1867188" y="47258"/>
                  </a:lnTo>
                  <a:lnTo>
                    <a:pt x="1834844" y="72387"/>
                  </a:lnTo>
                  <a:lnTo>
                    <a:pt x="1804836" y="102144"/>
                  </a:lnTo>
                  <a:lnTo>
                    <a:pt x="1777414" y="136180"/>
                  </a:lnTo>
                  <a:lnTo>
                    <a:pt x="1752830" y="174147"/>
                  </a:lnTo>
                  <a:lnTo>
                    <a:pt x="1731338" y="215695"/>
                  </a:lnTo>
                  <a:lnTo>
                    <a:pt x="1713187" y="260475"/>
                  </a:lnTo>
                  <a:lnTo>
                    <a:pt x="1698632" y="308140"/>
                  </a:lnTo>
                  <a:lnTo>
                    <a:pt x="1687923" y="358339"/>
                  </a:lnTo>
                  <a:lnTo>
                    <a:pt x="1681313" y="410724"/>
                  </a:lnTo>
                  <a:lnTo>
                    <a:pt x="1679054" y="464947"/>
                  </a:lnTo>
                  <a:lnTo>
                    <a:pt x="1681313" y="519171"/>
                  </a:lnTo>
                  <a:lnTo>
                    <a:pt x="1687923" y="571559"/>
                  </a:lnTo>
                  <a:lnTo>
                    <a:pt x="1698632" y="621760"/>
                  </a:lnTo>
                  <a:lnTo>
                    <a:pt x="1713187" y="669426"/>
                  </a:lnTo>
                  <a:lnTo>
                    <a:pt x="1731338" y="714208"/>
                  </a:lnTo>
                  <a:lnTo>
                    <a:pt x="1752830" y="755757"/>
                  </a:lnTo>
                  <a:lnTo>
                    <a:pt x="1777414" y="793724"/>
                  </a:lnTo>
                  <a:lnTo>
                    <a:pt x="1804836" y="827761"/>
                  </a:lnTo>
                  <a:lnTo>
                    <a:pt x="1834844" y="857519"/>
                  </a:lnTo>
                  <a:lnTo>
                    <a:pt x="1867188" y="882648"/>
                  </a:lnTo>
                  <a:lnTo>
                    <a:pt x="1901614" y="902800"/>
                  </a:lnTo>
                  <a:lnTo>
                    <a:pt x="1937870" y="917626"/>
                  </a:lnTo>
                  <a:lnTo>
                    <a:pt x="1975705" y="926778"/>
                  </a:lnTo>
                  <a:lnTo>
                    <a:pt x="2014867" y="929906"/>
                  </a:lnTo>
                  <a:lnTo>
                    <a:pt x="335813" y="929906"/>
                  </a:lnTo>
                  <a:lnTo>
                    <a:pt x="296651" y="926778"/>
                  </a:lnTo>
                  <a:lnTo>
                    <a:pt x="258816" y="917626"/>
                  </a:lnTo>
                  <a:lnTo>
                    <a:pt x="222559" y="902800"/>
                  </a:lnTo>
                  <a:lnTo>
                    <a:pt x="188134" y="882648"/>
                  </a:lnTo>
                  <a:lnTo>
                    <a:pt x="155790" y="857519"/>
                  </a:lnTo>
                  <a:lnTo>
                    <a:pt x="125781" y="827761"/>
                  </a:lnTo>
                  <a:lnTo>
                    <a:pt x="98359" y="793724"/>
                  </a:lnTo>
                  <a:lnTo>
                    <a:pt x="73776" y="755757"/>
                  </a:lnTo>
                  <a:lnTo>
                    <a:pt x="52283" y="714208"/>
                  </a:lnTo>
                  <a:lnTo>
                    <a:pt x="34133" y="669426"/>
                  </a:lnTo>
                  <a:lnTo>
                    <a:pt x="19578" y="621760"/>
                  </a:lnTo>
                  <a:lnTo>
                    <a:pt x="8869" y="571559"/>
                  </a:lnTo>
                  <a:lnTo>
                    <a:pt x="2259" y="519171"/>
                  </a:lnTo>
                  <a:lnTo>
                    <a:pt x="0" y="464947"/>
                  </a:lnTo>
                  <a:lnTo>
                    <a:pt x="2259" y="410724"/>
                  </a:lnTo>
                  <a:lnTo>
                    <a:pt x="8869" y="358339"/>
                  </a:lnTo>
                  <a:lnTo>
                    <a:pt x="19578" y="308140"/>
                  </a:lnTo>
                  <a:lnTo>
                    <a:pt x="34133" y="260475"/>
                  </a:lnTo>
                  <a:lnTo>
                    <a:pt x="52283" y="215695"/>
                  </a:lnTo>
                  <a:lnTo>
                    <a:pt x="73776" y="174147"/>
                  </a:lnTo>
                  <a:lnTo>
                    <a:pt x="98359" y="136180"/>
                  </a:lnTo>
                  <a:lnTo>
                    <a:pt x="125781" y="102144"/>
                  </a:lnTo>
                  <a:lnTo>
                    <a:pt x="155790" y="72387"/>
                  </a:lnTo>
                  <a:lnTo>
                    <a:pt x="188134" y="47258"/>
                  </a:lnTo>
                  <a:lnTo>
                    <a:pt x="222559" y="27105"/>
                  </a:lnTo>
                  <a:lnTo>
                    <a:pt x="258816" y="12279"/>
                  </a:lnTo>
                  <a:lnTo>
                    <a:pt x="296651" y="3128"/>
                  </a:lnTo>
                  <a:lnTo>
                    <a:pt x="335813" y="0"/>
                  </a:lnTo>
                  <a:close/>
                </a:path>
              </a:pathLst>
            </a:custGeom>
            <a:ln w="317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686234" y="2390914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10">
                <a:moveTo>
                  <a:pt x="135001" y="0"/>
                </a:moveTo>
                <a:lnTo>
                  <a:pt x="92329" y="6882"/>
                </a:lnTo>
                <a:lnTo>
                  <a:pt x="55269" y="26046"/>
                </a:lnTo>
                <a:lnTo>
                  <a:pt x="26046" y="55269"/>
                </a:lnTo>
                <a:lnTo>
                  <a:pt x="6882" y="92329"/>
                </a:lnTo>
                <a:lnTo>
                  <a:pt x="0" y="135000"/>
                </a:lnTo>
                <a:lnTo>
                  <a:pt x="6882" y="177672"/>
                </a:lnTo>
                <a:lnTo>
                  <a:pt x="26046" y="214732"/>
                </a:lnTo>
                <a:lnTo>
                  <a:pt x="55269" y="243955"/>
                </a:lnTo>
                <a:lnTo>
                  <a:pt x="92329" y="263119"/>
                </a:lnTo>
                <a:lnTo>
                  <a:pt x="135001" y="270002"/>
                </a:lnTo>
                <a:lnTo>
                  <a:pt x="177672" y="263119"/>
                </a:lnTo>
                <a:lnTo>
                  <a:pt x="214732" y="243955"/>
                </a:lnTo>
                <a:lnTo>
                  <a:pt x="243955" y="214732"/>
                </a:lnTo>
                <a:lnTo>
                  <a:pt x="263119" y="177672"/>
                </a:lnTo>
                <a:lnTo>
                  <a:pt x="270002" y="135000"/>
                </a:lnTo>
                <a:lnTo>
                  <a:pt x="263119" y="92329"/>
                </a:lnTo>
                <a:lnTo>
                  <a:pt x="243955" y="55269"/>
                </a:lnTo>
                <a:lnTo>
                  <a:pt x="214732" y="26046"/>
                </a:lnTo>
                <a:lnTo>
                  <a:pt x="177672" y="6882"/>
                </a:lnTo>
                <a:lnTo>
                  <a:pt x="135001" y="0"/>
                </a:lnTo>
                <a:close/>
              </a:path>
            </a:pathLst>
          </a:custGeom>
          <a:solidFill>
            <a:srgbClr val="C0C0C0">
              <a:alpha val="6705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444392" y="2408914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10" h="270510">
                <a:moveTo>
                  <a:pt x="135001" y="0"/>
                </a:moveTo>
                <a:lnTo>
                  <a:pt x="92329" y="6882"/>
                </a:lnTo>
                <a:lnTo>
                  <a:pt x="55269" y="26046"/>
                </a:lnTo>
                <a:lnTo>
                  <a:pt x="26046" y="55269"/>
                </a:lnTo>
                <a:lnTo>
                  <a:pt x="6882" y="92329"/>
                </a:lnTo>
                <a:lnTo>
                  <a:pt x="0" y="135000"/>
                </a:lnTo>
                <a:lnTo>
                  <a:pt x="6882" y="177672"/>
                </a:lnTo>
                <a:lnTo>
                  <a:pt x="26046" y="214732"/>
                </a:lnTo>
                <a:lnTo>
                  <a:pt x="55269" y="243955"/>
                </a:lnTo>
                <a:lnTo>
                  <a:pt x="92329" y="263119"/>
                </a:lnTo>
                <a:lnTo>
                  <a:pt x="135001" y="270002"/>
                </a:lnTo>
                <a:lnTo>
                  <a:pt x="177672" y="263119"/>
                </a:lnTo>
                <a:lnTo>
                  <a:pt x="214732" y="243955"/>
                </a:lnTo>
                <a:lnTo>
                  <a:pt x="243955" y="214732"/>
                </a:lnTo>
                <a:lnTo>
                  <a:pt x="263119" y="177672"/>
                </a:lnTo>
                <a:lnTo>
                  <a:pt x="270002" y="135000"/>
                </a:lnTo>
                <a:lnTo>
                  <a:pt x="263119" y="92329"/>
                </a:lnTo>
                <a:lnTo>
                  <a:pt x="243955" y="55269"/>
                </a:lnTo>
                <a:lnTo>
                  <a:pt x="214732" y="26046"/>
                </a:lnTo>
                <a:lnTo>
                  <a:pt x="177672" y="6882"/>
                </a:lnTo>
                <a:lnTo>
                  <a:pt x="135001" y="0"/>
                </a:lnTo>
                <a:close/>
              </a:path>
            </a:pathLst>
          </a:custGeom>
          <a:solidFill>
            <a:srgbClr val="BBE0E3">
              <a:alpha val="6705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811421" y="2371880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10">
                <a:moveTo>
                  <a:pt x="135001" y="0"/>
                </a:moveTo>
                <a:lnTo>
                  <a:pt x="92329" y="6882"/>
                </a:lnTo>
                <a:lnTo>
                  <a:pt x="55269" y="26046"/>
                </a:lnTo>
                <a:lnTo>
                  <a:pt x="26046" y="55269"/>
                </a:lnTo>
                <a:lnTo>
                  <a:pt x="6882" y="92329"/>
                </a:lnTo>
                <a:lnTo>
                  <a:pt x="0" y="135000"/>
                </a:lnTo>
                <a:lnTo>
                  <a:pt x="6882" y="177672"/>
                </a:lnTo>
                <a:lnTo>
                  <a:pt x="26046" y="214732"/>
                </a:lnTo>
                <a:lnTo>
                  <a:pt x="55269" y="243955"/>
                </a:lnTo>
                <a:lnTo>
                  <a:pt x="92329" y="263119"/>
                </a:lnTo>
                <a:lnTo>
                  <a:pt x="135001" y="270002"/>
                </a:lnTo>
                <a:lnTo>
                  <a:pt x="177672" y="263119"/>
                </a:lnTo>
                <a:lnTo>
                  <a:pt x="214732" y="243955"/>
                </a:lnTo>
                <a:lnTo>
                  <a:pt x="243955" y="214732"/>
                </a:lnTo>
                <a:lnTo>
                  <a:pt x="263119" y="177672"/>
                </a:lnTo>
                <a:lnTo>
                  <a:pt x="270002" y="135000"/>
                </a:lnTo>
                <a:lnTo>
                  <a:pt x="263119" y="92329"/>
                </a:lnTo>
                <a:lnTo>
                  <a:pt x="243955" y="55269"/>
                </a:lnTo>
                <a:lnTo>
                  <a:pt x="214732" y="26046"/>
                </a:lnTo>
                <a:lnTo>
                  <a:pt x="177672" y="6882"/>
                </a:lnTo>
                <a:lnTo>
                  <a:pt x="135001" y="0"/>
                </a:lnTo>
                <a:close/>
              </a:path>
            </a:pathLst>
          </a:custGeom>
          <a:solidFill>
            <a:srgbClr val="333399">
              <a:alpha val="67057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435452" y="1256435"/>
            <a:ext cx="4448810" cy="923925"/>
            <a:chOff x="435452" y="1256435"/>
            <a:chExt cx="4448810" cy="923925"/>
          </a:xfrm>
        </p:grpSpPr>
        <p:sp>
          <p:nvSpPr>
            <p:cNvPr id="9" name="object 9" descr=""/>
            <p:cNvSpPr/>
            <p:nvPr/>
          </p:nvSpPr>
          <p:spPr>
            <a:xfrm>
              <a:off x="2522659" y="1258022"/>
              <a:ext cx="1271905" cy="920750"/>
            </a:xfrm>
            <a:custGeom>
              <a:avLst/>
              <a:gdLst/>
              <a:ahLst/>
              <a:cxnLst/>
              <a:rect l="l" t="t" r="r" b="b"/>
              <a:pathLst>
                <a:path w="1271904" h="920750">
                  <a:moveTo>
                    <a:pt x="1271397" y="0"/>
                  </a:moveTo>
                  <a:lnTo>
                    <a:pt x="211899" y="0"/>
                  </a:lnTo>
                  <a:lnTo>
                    <a:pt x="183145" y="4202"/>
                  </a:lnTo>
                  <a:lnTo>
                    <a:pt x="129417" y="36177"/>
                  </a:lnTo>
                  <a:lnTo>
                    <a:pt x="82413" y="95922"/>
                  </a:lnTo>
                  <a:lnTo>
                    <a:pt x="62063" y="134837"/>
                  </a:lnTo>
                  <a:lnTo>
                    <a:pt x="44151" y="179049"/>
                  </a:lnTo>
                  <a:lnTo>
                    <a:pt x="28930" y="228011"/>
                  </a:lnTo>
                  <a:lnTo>
                    <a:pt x="16651" y="281172"/>
                  </a:lnTo>
                  <a:lnTo>
                    <a:pt x="7569" y="337986"/>
                  </a:lnTo>
                  <a:lnTo>
                    <a:pt x="1934" y="397903"/>
                  </a:lnTo>
                  <a:lnTo>
                    <a:pt x="0" y="460375"/>
                  </a:lnTo>
                  <a:lnTo>
                    <a:pt x="1934" y="522844"/>
                  </a:lnTo>
                  <a:lnTo>
                    <a:pt x="7569" y="582758"/>
                  </a:lnTo>
                  <a:lnTo>
                    <a:pt x="16651" y="639570"/>
                  </a:lnTo>
                  <a:lnTo>
                    <a:pt x="28930" y="692729"/>
                  </a:lnTo>
                  <a:lnTo>
                    <a:pt x="44151" y="741689"/>
                  </a:lnTo>
                  <a:lnTo>
                    <a:pt x="62063" y="785901"/>
                  </a:lnTo>
                  <a:lnTo>
                    <a:pt x="82413" y="824815"/>
                  </a:lnTo>
                  <a:lnTo>
                    <a:pt x="104949" y="857885"/>
                  </a:lnTo>
                  <a:lnTo>
                    <a:pt x="155567" y="904292"/>
                  </a:lnTo>
                  <a:lnTo>
                    <a:pt x="211899" y="920737"/>
                  </a:lnTo>
                  <a:lnTo>
                    <a:pt x="1271397" y="920737"/>
                  </a:lnTo>
                  <a:lnTo>
                    <a:pt x="1242643" y="916534"/>
                  </a:lnTo>
                  <a:lnTo>
                    <a:pt x="1215065" y="904292"/>
                  </a:lnTo>
                  <a:lnTo>
                    <a:pt x="1164446" y="857885"/>
                  </a:lnTo>
                  <a:lnTo>
                    <a:pt x="1141910" y="824815"/>
                  </a:lnTo>
                  <a:lnTo>
                    <a:pt x="1121560" y="785901"/>
                  </a:lnTo>
                  <a:lnTo>
                    <a:pt x="1103648" y="741689"/>
                  </a:lnTo>
                  <a:lnTo>
                    <a:pt x="1088427" y="692729"/>
                  </a:lnTo>
                  <a:lnTo>
                    <a:pt x="1076149" y="639570"/>
                  </a:lnTo>
                  <a:lnTo>
                    <a:pt x="1067066" y="582758"/>
                  </a:lnTo>
                  <a:lnTo>
                    <a:pt x="1061431" y="522844"/>
                  </a:lnTo>
                  <a:lnTo>
                    <a:pt x="1059497" y="460375"/>
                  </a:lnTo>
                  <a:lnTo>
                    <a:pt x="1061431" y="397903"/>
                  </a:lnTo>
                  <a:lnTo>
                    <a:pt x="1067066" y="337986"/>
                  </a:lnTo>
                  <a:lnTo>
                    <a:pt x="1076149" y="281172"/>
                  </a:lnTo>
                  <a:lnTo>
                    <a:pt x="1088427" y="228011"/>
                  </a:lnTo>
                  <a:lnTo>
                    <a:pt x="1103648" y="179049"/>
                  </a:lnTo>
                  <a:lnTo>
                    <a:pt x="1121560" y="134837"/>
                  </a:lnTo>
                  <a:lnTo>
                    <a:pt x="1141910" y="95922"/>
                  </a:lnTo>
                  <a:lnTo>
                    <a:pt x="1164446" y="62852"/>
                  </a:lnTo>
                  <a:lnTo>
                    <a:pt x="1215065" y="16444"/>
                  </a:lnTo>
                  <a:lnTo>
                    <a:pt x="1242643" y="4202"/>
                  </a:lnTo>
                  <a:lnTo>
                    <a:pt x="1271397" y="0"/>
                  </a:lnTo>
                  <a:close/>
                </a:path>
              </a:pathLst>
            </a:custGeom>
            <a:solidFill>
              <a:srgbClr val="558ED5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22659" y="1258022"/>
              <a:ext cx="1271905" cy="920750"/>
            </a:xfrm>
            <a:custGeom>
              <a:avLst/>
              <a:gdLst/>
              <a:ahLst/>
              <a:cxnLst/>
              <a:rect l="l" t="t" r="r" b="b"/>
              <a:pathLst>
                <a:path w="1271904" h="920750">
                  <a:moveTo>
                    <a:pt x="211899" y="0"/>
                  </a:moveTo>
                  <a:lnTo>
                    <a:pt x="1271397" y="0"/>
                  </a:lnTo>
                  <a:lnTo>
                    <a:pt x="1242643" y="4202"/>
                  </a:lnTo>
                  <a:lnTo>
                    <a:pt x="1215065" y="16444"/>
                  </a:lnTo>
                  <a:lnTo>
                    <a:pt x="1164446" y="62852"/>
                  </a:lnTo>
                  <a:lnTo>
                    <a:pt x="1141910" y="95922"/>
                  </a:lnTo>
                  <a:lnTo>
                    <a:pt x="1121560" y="134837"/>
                  </a:lnTo>
                  <a:lnTo>
                    <a:pt x="1103648" y="179049"/>
                  </a:lnTo>
                  <a:lnTo>
                    <a:pt x="1088427" y="228011"/>
                  </a:lnTo>
                  <a:lnTo>
                    <a:pt x="1076149" y="281172"/>
                  </a:lnTo>
                  <a:lnTo>
                    <a:pt x="1067066" y="337986"/>
                  </a:lnTo>
                  <a:lnTo>
                    <a:pt x="1061431" y="397903"/>
                  </a:lnTo>
                  <a:lnTo>
                    <a:pt x="1059497" y="460375"/>
                  </a:lnTo>
                  <a:lnTo>
                    <a:pt x="1061431" y="522844"/>
                  </a:lnTo>
                  <a:lnTo>
                    <a:pt x="1067066" y="582758"/>
                  </a:lnTo>
                  <a:lnTo>
                    <a:pt x="1076149" y="639570"/>
                  </a:lnTo>
                  <a:lnTo>
                    <a:pt x="1088427" y="692729"/>
                  </a:lnTo>
                  <a:lnTo>
                    <a:pt x="1103648" y="741689"/>
                  </a:lnTo>
                  <a:lnTo>
                    <a:pt x="1121560" y="785901"/>
                  </a:lnTo>
                  <a:lnTo>
                    <a:pt x="1141910" y="824815"/>
                  </a:lnTo>
                  <a:lnTo>
                    <a:pt x="1164446" y="857885"/>
                  </a:lnTo>
                  <a:lnTo>
                    <a:pt x="1215065" y="904292"/>
                  </a:lnTo>
                  <a:lnTo>
                    <a:pt x="1271397" y="920737"/>
                  </a:lnTo>
                  <a:lnTo>
                    <a:pt x="211899" y="920737"/>
                  </a:lnTo>
                  <a:lnTo>
                    <a:pt x="155567" y="904292"/>
                  </a:lnTo>
                  <a:lnTo>
                    <a:pt x="104949" y="857885"/>
                  </a:lnTo>
                  <a:lnTo>
                    <a:pt x="82413" y="824815"/>
                  </a:lnTo>
                  <a:lnTo>
                    <a:pt x="62063" y="785901"/>
                  </a:lnTo>
                  <a:lnTo>
                    <a:pt x="44151" y="741689"/>
                  </a:lnTo>
                  <a:lnTo>
                    <a:pt x="28930" y="692729"/>
                  </a:lnTo>
                  <a:lnTo>
                    <a:pt x="16651" y="639570"/>
                  </a:lnTo>
                  <a:lnTo>
                    <a:pt x="7569" y="582758"/>
                  </a:lnTo>
                  <a:lnTo>
                    <a:pt x="1934" y="522844"/>
                  </a:lnTo>
                  <a:lnTo>
                    <a:pt x="0" y="460375"/>
                  </a:lnTo>
                  <a:lnTo>
                    <a:pt x="1934" y="397903"/>
                  </a:lnTo>
                  <a:lnTo>
                    <a:pt x="7569" y="337986"/>
                  </a:lnTo>
                  <a:lnTo>
                    <a:pt x="16651" y="281172"/>
                  </a:lnTo>
                  <a:lnTo>
                    <a:pt x="28930" y="228011"/>
                  </a:lnTo>
                  <a:lnTo>
                    <a:pt x="44151" y="179049"/>
                  </a:lnTo>
                  <a:lnTo>
                    <a:pt x="62063" y="134837"/>
                  </a:lnTo>
                  <a:lnTo>
                    <a:pt x="82413" y="95922"/>
                  </a:lnTo>
                  <a:lnTo>
                    <a:pt x="104949" y="62852"/>
                  </a:lnTo>
                  <a:lnTo>
                    <a:pt x="155567" y="16444"/>
                  </a:lnTo>
                  <a:lnTo>
                    <a:pt x="211899" y="0"/>
                  </a:lnTo>
                  <a:close/>
                </a:path>
              </a:pathLst>
            </a:custGeom>
            <a:ln w="317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5444" y="1258023"/>
              <a:ext cx="2042160" cy="920750"/>
            </a:xfrm>
            <a:custGeom>
              <a:avLst/>
              <a:gdLst/>
              <a:ahLst/>
              <a:cxnLst/>
              <a:rect l="l" t="t" r="r" b="b"/>
              <a:pathLst>
                <a:path w="2042160" h="920750">
                  <a:moveTo>
                    <a:pt x="946391" y="0"/>
                  </a:moveTo>
                  <a:lnTo>
                    <a:pt x="157734" y="0"/>
                  </a:lnTo>
                  <a:lnTo>
                    <a:pt x="134429" y="4991"/>
                  </a:lnTo>
                  <a:lnTo>
                    <a:pt x="91236" y="42786"/>
                  </a:lnTo>
                  <a:lnTo>
                    <a:pt x="54254" y="112928"/>
                  </a:lnTo>
                  <a:lnTo>
                    <a:pt x="38696" y="158330"/>
                  </a:lnTo>
                  <a:lnTo>
                    <a:pt x="25412" y="209702"/>
                  </a:lnTo>
                  <a:lnTo>
                    <a:pt x="14668" y="266293"/>
                  </a:lnTo>
                  <a:lnTo>
                    <a:pt x="6680" y="327418"/>
                  </a:lnTo>
                  <a:lnTo>
                    <a:pt x="1714" y="392341"/>
                  </a:lnTo>
                  <a:lnTo>
                    <a:pt x="0" y="460375"/>
                  </a:lnTo>
                  <a:lnTo>
                    <a:pt x="1714" y="528408"/>
                  </a:lnTo>
                  <a:lnTo>
                    <a:pt x="6680" y="593344"/>
                  </a:lnTo>
                  <a:lnTo>
                    <a:pt x="14668" y="654456"/>
                  </a:lnTo>
                  <a:lnTo>
                    <a:pt x="25412" y="711047"/>
                  </a:lnTo>
                  <a:lnTo>
                    <a:pt x="38696" y="762406"/>
                  </a:lnTo>
                  <a:lnTo>
                    <a:pt x="54254" y="807821"/>
                  </a:lnTo>
                  <a:lnTo>
                    <a:pt x="71843" y="846582"/>
                  </a:lnTo>
                  <a:lnTo>
                    <a:pt x="112179" y="901255"/>
                  </a:lnTo>
                  <a:lnTo>
                    <a:pt x="157734" y="920737"/>
                  </a:lnTo>
                  <a:lnTo>
                    <a:pt x="946391" y="920737"/>
                  </a:lnTo>
                  <a:lnTo>
                    <a:pt x="923086" y="915746"/>
                  </a:lnTo>
                  <a:lnTo>
                    <a:pt x="900836" y="901255"/>
                  </a:lnTo>
                  <a:lnTo>
                    <a:pt x="860501" y="846582"/>
                  </a:lnTo>
                  <a:lnTo>
                    <a:pt x="842899" y="807821"/>
                  </a:lnTo>
                  <a:lnTo>
                    <a:pt x="827341" y="762406"/>
                  </a:lnTo>
                  <a:lnTo>
                    <a:pt x="814070" y="711047"/>
                  </a:lnTo>
                  <a:lnTo>
                    <a:pt x="803313" y="654456"/>
                  </a:lnTo>
                  <a:lnTo>
                    <a:pt x="795337" y="593344"/>
                  </a:lnTo>
                  <a:lnTo>
                    <a:pt x="790371" y="528408"/>
                  </a:lnTo>
                  <a:lnTo>
                    <a:pt x="788657" y="460375"/>
                  </a:lnTo>
                  <a:lnTo>
                    <a:pt x="790371" y="392341"/>
                  </a:lnTo>
                  <a:lnTo>
                    <a:pt x="795337" y="327418"/>
                  </a:lnTo>
                  <a:lnTo>
                    <a:pt x="803313" y="266293"/>
                  </a:lnTo>
                  <a:lnTo>
                    <a:pt x="814070" y="209702"/>
                  </a:lnTo>
                  <a:lnTo>
                    <a:pt x="827341" y="158330"/>
                  </a:lnTo>
                  <a:lnTo>
                    <a:pt x="842899" y="112928"/>
                  </a:lnTo>
                  <a:lnTo>
                    <a:pt x="860501" y="74168"/>
                  </a:lnTo>
                  <a:lnTo>
                    <a:pt x="900836" y="19494"/>
                  </a:lnTo>
                  <a:lnTo>
                    <a:pt x="923086" y="4991"/>
                  </a:lnTo>
                  <a:lnTo>
                    <a:pt x="946391" y="0"/>
                  </a:lnTo>
                  <a:close/>
                </a:path>
                <a:path w="2042160" h="920750">
                  <a:moveTo>
                    <a:pt x="2041613" y="0"/>
                  </a:moveTo>
                  <a:lnTo>
                    <a:pt x="1052156" y="0"/>
                  </a:lnTo>
                  <a:lnTo>
                    <a:pt x="1025296" y="4203"/>
                  </a:lnTo>
                  <a:lnTo>
                    <a:pt x="975131" y="36182"/>
                  </a:lnTo>
                  <a:lnTo>
                    <a:pt x="931227" y="95923"/>
                  </a:lnTo>
                  <a:lnTo>
                    <a:pt x="912228" y="134848"/>
                  </a:lnTo>
                  <a:lnTo>
                    <a:pt x="895502" y="179057"/>
                  </a:lnTo>
                  <a:lnTo>
                    <a:pt x="881278" y="228015"/>
                  </a:lnTo>
                  <a:lnTo>
                    <a:pt x="869810" y="281178"/>
                  </a:lnTo>
                  <a:lnTo>
                    <a:pt x="861326" y="337985"/>
                  </a:lnTo>
                  <a:lnTo>
                    <a:pt x="856068" y="397903"/>
                  </a:lnTo>
                  <a:lnTo>
                    <a:pt x="854265" y="460375"/>
                  </a:lnTo>
                  <a:lnTo>
                    <a:pt x="856068" y="522846"/>
                  </a:lnTo>
                  <a:lnTo>
                    <a:pt x="861326" y="582764"/>
                  </a:lnTo>
                  <a:lnTo>
                    <a:pt x="869810" y="639572"/>
                  </a:lnTo>
                  <a:lnTo>
                    <a:pt x="881278" y="692734"/>
                  </a:lnTo>
                  <a:lnTo>
                    <a:pt x="895502" y="741692"/>
                  </a:lnTo>
                  <a:lnTo>
                    <a:pt x="912228" y="785901"/>
                  </a:lnTo>
                  <a:lnTo>
                    <a:pt x="931227" y="824826"/>
                  </a:lnTo>
                  <a:lnTo>
                    <a:pt x="952271" y="857885"/>
                  </a:lnTo>
                  <a:lnTo>
                    <a:pt x="999540" y="904303"/>
                  </a:lnTo>
                  <a:lnTo>
                    <a:pt x="1052156" y="920737"/>
                  </a:lnTo>
                  <a:lnTo>
                    <a:pt x="2041613" y="920737"/>
                  </a:lnTo>
                  <a:lnTo>
                    <a:pt x="2014766" y="916533"/>
                  </a:lnTo>
                  <a:lnTo>
                    <a:pt x="1989010" y="904303"/>
                  </a:lnTo>
                  <a:lnTo>
                    <a:pt x="1941741" y="857885"/>
                  </a:lnTo>
                  <a:lnTo>
                    <a:pt x="1920697" y="824826"/>
                  </a:lnTo>
                  <a:lnTo>
                    <a:pt x="1901685" y="785901"/>
                  </a:lnTo>
                  <a:lnTo>
                    <a:pt x="1884959" y="741692"/>
                  </a:lnTo>
                  <a:lnTo>
                    <a:pt x="1870735" y="692734"/>
                  </a:lnTo>
                  <a:lnTo>
                    <a:pt x="1859280" y="639572"/>
                  </a:lnTo>
                  <a:lnTo>
                    <a:pt x="1850796" y="582764"/>
                  </a:lnTo>
                  <a:lnTo>
                    <a:pt x="1845525" y="522846"/>
                  </a:lnTo>
                  <a:lnTo>
                    <a:pt x="1843722" y="460375"/>
                  </a:lnTo>
                  <a:lnTo>
                    <a:pt x="1845525" y="397903"/>
                  </a:lnTo>
                  <a:lnTo>
                    <a:pt x="1850796" y="337985"/>
                  </a:lnTo>
                  <a:lnTo>
                    <a:pt x="1859280" y="281178"/>
                  </a:lnTo>
                  <a:lnTo>
                    <a:pt x="1870735" y="228015"/>
                  </a:lnTo>
                  <a:lnTo>
                    <a:pt x="1884959" y="179057"/>
                  </a:lnTo>
                  <a:lnTo>
                    <a:pt x="1901685" y="134848"/>
                  </a:lnTo>
                  <a:lnTo>
                    <a:pt x="1920697" y="95923"/>
                  </a:lnTo>
                  <a:lnTo>
                    <a:pt x="1941741" y="62852"/>
                  </a:lnTo>
                  <a:lnTo>
                    <a:pt x="1989010" y="16446"/>
                  </a:lnTo>
                  <a:lnTo>
                    <a:pt x="2014766" y="4203"/>
                  </a:lnTo>
                  <a:lnTo>
                    <a:pt x="2041613" y="0"/>
                  </a:lnTo>
                  <a:close/>
                </a:path>
              </a:pathLst>
            </a:custGeom>
            <a:solidFill>
              <a:srgbClr val="92D050">
                <a:alpha val="6705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62527" y="1258022"/>
              <a:ext cx="1220470" cy="920750"/>
            </a:xfrm>
            <a:custGeom>
              <a:avLst/>
              <a:gdLst/>
              <a:ahLst/>
              <a:cxnLst/>
              <a:rect l="l" t="t" r="r" b="b"/>
              <a:pathLst>
                <a:path w="1220470" h="920750">
                  <a:moveTo>
                    <a:pt x="1219961" y="0"/>
                  </a:moveTo>
                  <a:lnTo>
                    <a:pt x="203326" y="0"/>
                  </a:lnTo>
                  <a:lnTo>
                    <a:pt x="175736" y="4202"/>
                  </a:lnTo>
                  <a:lnTo>
                    <a:pt x="124183" y="36177"/>
                  </a:lnTo>
                  <a:lnTo>
                    <a:pt x="79080" y="95922"/>
                  </a:lnTo>
                  <a:lnTo>
                    <a:pt x="59553" y="134837"/>
                  </a:lnTo>
                  <a:lnTo>
                    <a:pt x="42366" y="179049"/>
                  </a:lnTo>
                  <a:lnTo>
                    <a:pt x="27760" y="228011"/>
                  </a:lnTo>
                  <a:lnTo>
                    <a:pt x="15978" y="281172"/>
                  </a:lnTo>
                  <a:lnTo>
                    <a:pt x="7263" y="337986"/>
                  </a:lnTo>
                  <a:lnTo>
                    <a:pt x="1856" y="397903"/>
                  </a:lnTo>
                  <a:lnTo>
                    <a:pt x="0" y="460375"/>
                  </a:lnTo>
                  <a:lnTo>
                    <a:pt x="1856" y="522844"/>
                  </a:lnTo>
                  <a:lnTo>
                    <a:pt x="7263" y="582758"/>
                  </a:lnTo>
                  <a:lnTo>
                    <a:pt x="15978" y="639570"/>
                  </a:lnTo>
                  <a:lnTo>
                    <a:pt x="27760" y="692729"/>
                  </a:lnTo>
                  <a:lnTo>
                    <a:pt x="42366" y="741689"/>
                  </a:lnTo>
                  <a:lnTo>
                    <a:pt x="59553" y="785901"/>
                  </a:lnTo>
                  <a:lnTo>
                    <a:pt x="79080" y="824815"/>
                  </a:lnTo>
                  <a:lnTo>
                    <a:pt x="100704" y="857885"/>
                  </a:lnTo>
                  <a:lnTo>
                    <a:pt x="149274" y="904292"/>
                  </a:lnTo>
                  <a:lnTo>
                    <a:pt x="203326" y="920737"/>
                  </a:lnTo>
                  <a:lnTo>
                    <a:pt x="1219961" y="920737"/>
                  </a:lnTo>
                  <a:lnTo>
                    <a:pt x="1192371" y="916534"/>
                  </a:lnTo>
                  <a:lnTo>
                    <a:pt x="1165909" y="904292"/>
                  </a:lnTo>
                  <a:lnTo>
                    <a:pt x="1117339" y="857885"/>
                  </a:lnTo>
                  <a:lnTo>
                    <a:pt x="1095715" y="824815"/>
                  </a:lnTo>
                  <a:lnTo>
                    <a:pt x="1076188" y="785901"/>
                  </a:lnTo>
                  <a:lnTo>
                    <a:pt x="1059001" y="741689"/>
                  </a:lnTo>
                  <a:lnTo>
                    <a:pt x="1044395" y="692729"/>
                  </a:lnTo>
                  <a:lnTo>
                    <a:pt x="1032613" y="639570"/>
                  </a:lnTo>
                  <a:lnTo>
                    <a:pt x="1023898" y="582758"/>
                  </a:lnTo>
                  <a:lnTo>
                    <a:pt x="1018491" y="522844"/>
                  </a:lnTo>
                  <a:lnTo>
                    <a:pt x="1016635" y="460375"/>
                  </a:lnTo>
                  <a:lnTo>
                    <a:pt x="1018491" y="397903"/>
                  </a:lnTo>
                  <a:lnTo>
                    <a:pt x="1023898" y="337986"/>
                  </a:lnTo>
                  <a:lnTo>
                    <a:pt x="1032613" y="281172"/>
                  </a:lnTo>
                  <a:lnTo>
                    <a:pt x="1044395" y="228011"/>
                  </a:lnTo>
                  <a:lnTo>
                    <a:pt x="1059001" y="179049"/>
                  </a:lnTo>
                  <a:lnTo>
                    <a:pt x="1076188" y="134837"/>
                  </a:lnTo>
                  <a:lnTo>
                    <a:pt x="1095715" y="95922"/>
                  </a:lnTo>
                  <a:lnTo>
                    <a:pt x="1117339" y="62852"/>
                  </a:lnTo>
                  <a:lnTo>
                    <a:pt x="1165909" y="16444"/>
                  </a:lnTo>
                  <a:lnTo>
                    <a:pt x="1192371" y="4202"/>
                  </a:lnTo>
                  <a:lnTo>
                    <a:pt x="1219961" y="0"/>
                  </a:lnTo>
                  <a:close/>
                </a:path>
              </a:pathLst>
            </a:custGeom>
            <a:solidFill>
              <a:srgbClr val="558ED5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62527" y="1258022"/>
              <a:ext cx="1220470" cy="920750"/>
            </a:xfrm>
            <a:custGeom>
              <a:avLst/>
              <a:gdLst/>
              <a:ahLst/>
              <a:cxnLst/>
              <a:rect l="l" t="t" r="r" b="b"/>
              <a:pathLst>
                <a:path w="1220470" h="920750">
                  <a:moveTo>
                    <a:pt x="203326" y="0"/>
                  </a:moveTo>
                  <a:lnTo>
                    <a:pt x="1219961" y="0"/>
                  </a:lnTo>
                  <a:lnTo>
                    <a:pt x="1192371" y="4202"/>
                  </a:lnTo>
                  <a:lnTo>
                    <a:pt x="1165909" y="16444"/>
                  </a:lnTo>
                  <a:lnTo>
                    <a:pt x="1117339" y="62852"/>
                  </a:lnTo>
                  <a:lnTo>
                    <a:pt x="1095715" y="95922"/>
                  </a:lnTo>
                  <a:lnTo>
                    <a:pt x="1076188" y="134837"/>
                  </a:lnTo>
                  <a:lnTo>
                    <a:pt x="1059001" y="179049"/>
                  </a:lnTo>
                  <a:lnTo>
                    <a:pt x="1044395" y="228011"/>
                  </a:lnTo>
                  <a:lnTo>
                    <a:pt x="1032613" y="281172"/>
                  </a:lnTo>
                  <a:lnTo>
                    <a:pt x="1023898" y="337986"/>
                  </a:lnTo>
                  <a:lnTo>
                    <a:pt x="1018491" y="397903"/>
                  </a:lnTo>
                  <a:lnTo>
                    <a:pt x="1016635" y="460375"/>
                  </a:lnTo>
                  <a:lnTo>
                    <a:pt x="1018491" y="522844"/>
                  </a:lnTo>
                  <a:lnTo>
                    <a:pt x="1023898" y="582758"/>
                  </a:lnTo>
                  <a:lnTo>
                    <a:pt x="1032613" y="639570"/>
                  </a:lnTo>
                  <a:lnTo>
                    <a:pt x="1044395" y="692729"/>
                  </a:lnTo>
                  <a:lnTo>
                    <a:pt x="1059001" y="741689"/>
                  </a:lnTo>
                  <a:lnTo>
                    <a:pt x="1076188" y="785901"/>
                  </a:lnTo>
                  <a:lnTo>
                    <a:pt x="1095715" y="824815"/>
                  </a:lnTo>
                  <a:lnTo>
                    <a:pt x="1117339" y="857885"/>
                  </a:lnTo>
                  <a:lnTo>
                    <a:pt x="1165909" y="904292"/>
                  </a:lnTo>
                  <a:lnTo>
                    <a:pt x="1219961" y="920737"/>
                  </a:lnTo>
                  <a:lnTo>
                    <a:pt x="203326" y="920737"/>
                  </a:lnTo>
                  <a:lnTo>
                    <a:pt x="149274" y="904292"/>
                  </a:lnTo>
                  <a:lnTo>
                    <a:pt x="100704" y="857885"/>
                  </a:lnTo>
                  <a:lnTo>
                    <a:pt x="79080" y="824815"/>
                  </a:lnTo>
                  <a:lnTo>
                    <a:pt x="59553" y="785901"/>
                  </a:lnTo>
                  <a:lnTo>
                    <a:pt x="42366" y="741689"/>
                  </a:lnTo>
                  <a:lnTo>
                    <a:pt x="27760" y="692729"/>
                  </a:lnTo>
                  <a:lnTo>
                    <a:pt x="15978" y="639570"/>
                  </a:lnTo>
                  <a:lnTo>
                    <a:pt x="7263" y="582758"/>
                  </a:lnTo>
                  <a:lnTo>
                    <a:pt x="1856" y="522844"/>
                  </a:lnTo>
                  <a:lnTo>
                    <a:pt x="0" y="460375"/>
                  </a:lnTo>
                  <a:lnTo>
                    <a:pt x="1856" y="397903"/>
                  </a:lnTo>
                  <a:lnTo>
                    <a:pt x="7263" y="337986"/>
                  </a:lnTo>
                  <a:lnTo>
                    <a:pt x="15978" y="281172"/>
                  </a:lnTo>
                  <a:lnTo>
                    <a:pt x="27760" y="228011"/>
                  </a:lnTo>
                  <a:lnTo>
                    <a:pt x="42366" y="179049"/>
                  </a:lnTo>
                  <a:lnTo>
                    <a:pt x="59553" y="134837"/>
                  </a:lnTo>
                  <a:lnTo>
                    <a:pt x="79080" y="95922"/>
                  </a:lnTo>
                  <a:lnTo>
                    <a:pt x="100704" y="62852"/>
                  </a:lnTo>
                  <a:lnTo>
                    <a:pt x="149274" y="16444"/>
                  </a:lnTo>
                  <a:lnTo>
                    <a:pt x="203326" y="0"/>
                  </a:lnTo>
                  <a:close/>
                </a:path>
              </a:pathLst>
            </a:custGeom>
            <a:ln w="317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55785" y="1509113"/>
            <a:ext cx="607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latin typeface="Microsoft YaHei"/>
                <a:cs typeface="Microsoft YaHei"/>
              </a:rPr>
              <a:t>芯片</a:t>
            </a:r>
            <a:r>
              <a:rPr dirty="0" sz="1400">
                <a:latin typeface="Arial MT"/>
                <a:cs typeface="Arial MT"/>
              </a:rPr>
              <a:t>/</a:t>
            </a:r>
            <a:r>
              <a:rPr dirty="0" sz="1400" spc="-50">
                <a:latin typeface="Microsoft YaHei"/>
                <a:cs typeface="Microsoft YaHei"/>
              </a:rPr>
              <a:t>模组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73082" y="1616883"/>
            <a:ext cx="3810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5">
                <a:latin typeface="Microsoft YaHei"/>
                <a:cs typeface="Microsoft YaHei"/>
              </a:rPr>
              <a:t>终端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19141" y="1616883"/>
            <a:ext cx="66548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latin typeface="Arial MT"/>
                <a:cs typeface="Arial MT"/>
              </a:rPr>
              <a:t>5G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35">
                <a:latin typeface="Microsoft YaHei"/>
                <a:cs typeface="Microsoft YaHei"/>
              </a:rPr>
              <a:t>网络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00355" y="1616883"/>
            <a:ext cx="5581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5">
                <a:latin typeface="Microsoft YaHei"/>
                <a:cs typeface="Microsoft YaHei"/>
              </a:rPr>
              <a:t>大数据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149924" y="1616883"/>
            <a:ext cx="7359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0">
                <a:latin typeface="Microsoft YaHei"/>
                <a:cs typeface="Microsoft YaHei"/>
              </a:rPr>
              <a:t>业务管理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919661" y="2457777"/>
            <a:ext cx="1092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Microsoft YaHei"/>
                <a:cs typeface="Microsoft YaHei"/>
              </a:rPr>
              <a:t>运营商集成方案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48750" y="2457777"/>
            <a:ext cx="1244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Microsoft YaHei"/>
                <a:cs typeface="Microsoft YaHei"/>
              </a:rPr>
              <a:t>芯片模组终端厂商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318859" y="1277848"/>
            <a:ext cx="984885" cy="203835"/>
            <a:chOff x="6318859" y="1277848"/>
            <a:chExt cx="984885" cy="203835"/>
          </a:xfrm>
        </p:grpSpPr>
        <p:sp>
          <p:nvSpPr>
            <p:cNvPr id="22" name="object 22" descr=""/>
            <p:cNvSpPr/>
            <p:nvPr/>
          </p:nvSpPr>
          <p:spPr>
            <a:xfrm>
              <a:off x="6320447" y="1279436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59">
                  <a:moveTo>
                    <a:pt x="981405" y="0"/>
                  </a:moveTo>
                  <a:lnTo>
                    <a:pt x="163563" y="0"/>
                  </a:lnTo>
                  <a:lnTo>
                    <a:pt x="111864" y="5107"/>
                  </a:lnTo>
                  <a:lnTo>
                    <a:pt x="66964" y="19330"/>
                  </a:lnTo>
                  <a:lnTo>
                    <a:pt x="31557" y="41019"/>
                  </a:lnTo>
                  <a:lnTo>
                    <a:pt x="8338" y="68522"/>
                  </a:lnTo>
                  <a:lnTo>
                    <a:pt x="0" y="100190"/>
                  </a:lnTo>
                  <a:lnTo>
                    <a:pt x="8338" y="131864"/>
                  </a:lnTo>
                  <a:lnTo>
                    <a:pt x="31557" y="159371"/>
                  </a:lnTo>
                  <a:lnTo>
                    <a:pt x="66964" y="181061"/>
                  </a:lnTo>
                  <a:lnTo>
                    <a:pt x="111864" y="195285"/>
                  </a:lnTo>
                  <a:lnTo>
                    <a:pt x="163563" y="200393"/>
                  </a:lnTo>
                  <a:lnTo>
                    <a:pt x="981392" y="200393"/>
                  </a:lnTo>
                  <a:lnTo>
                    <a:pt x="929693" y="195285"/>
                  </a:lnTo>
                  <a:lnTo>
                    <a:pt x="884793" y="181061"/>
                  </a:lnTo>
                  <a:lnTo>
                    <a:pt x="849386" y="159371"/>
                  </a:lnTo>
                  <a:lnTo>
                    <a:pt x="826167" y="131864"/>
                  </a:lnTo>
                  <a:lnTo>
                    <a:pt x="817829" y="100190"/>
                  </a:lnTo>
                  <a:lnTo>
                    <a:pt x="826168" y="68522"/>
                  </a:lnTo>
                  <a:lnTo>
                    <a:pt x="849391" y="41019"/>
                  </a:lnTo>
                  <a:lnTo>
                    <a:pt x="884801" y="19330"/>
                  </a:lnTo>
                  <a:lnTo>
                    <a:pt x="929704" y="5107"/>
                  </a:lnTo>
                  <a:lnTo>
                    <a:pt x="981405" y="0"/>
                  </a:lnTo>
                  <a:close/>
                </a:path>
              </a:pathLst>
            </a:custGeom>
            <a:solidFill>
              <a:srgbClr val="558ED5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20447" y="1279436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59">
                  <a:moveTo>
                    <a:pt x="163563" y="0"/>
                  </a:moveTo>
                  <a:lnTo>
                    <a:pt x="981405" y="0"/>
                  </a:lnTo>
                  <a:lnTo>
                    <a:pt x="929704" y="5107"/>
                  </a:lnTo>
                  <a:lnTo>
                    <a:pt x="884801" y="19330"/>
                  </a:lnTo>
                  <a:lnTo>
                    <a:pt x="849391" y="41019"/>
                  </a:lnTo>
                  <a:lnTo>
                    <a:pt x="826168" y="68522"/>
                  </a:lnTo>
                  <a:lnTo>
                    <a:pt x="817829" y="100190"/>
                  </a:lnTo>
                  <a:lnTo>
                    <a:pt x="826167" y="131864"/>
                  </a:lnTo>
                  <a:lnTo>
                    <a:pt x="849386" y="159371"/>
                  </a:lnTo>
                  <a:lnTo>
                    <a:pt x="884793" y="181061"/>
                  </a:lnTo>
                  <a:lnTo>
                    <a:pt x="929693" y="195285"/>
                  </a:lnTo>
                  <a:lnTo>
                    <a:pt x="981392" y="200393"/>
                  </a:lnTo>
                  <a:lnTo>
                    <a:pt x="163563" y="200393"/>
                  </a:lnTo>
                  <a:lnTo>
                    <a:pt x="111864" y="195285"/>
                  </a:lnTo>
                  <a:lnTo>
                    <a:pt x="66964" y="181061"/>
                  </a:lnTo>
                  <a:lnTo>
                    <a:pt x="31557" y="159371"/>
                  </a:lnTo>
                  <a:lnTo>
                    <a:pt x="0" y="100190"/>
                  </a:lnTo>
                  <a:lnTo>
                    <a:pt x="8338" y="68522"/>
                  </a:lnTo>
                  <a:lnTo>
                    <a:pt x="31557" y="41019"/>
                  </a:lnTo>
                  <a:lnTo>
                    <a:pt x="66964" y="19330"/>
                  </a:lnTo>
                  <a:lnTo>
                    <a:pt x="111864" y="5107"/>
                  </a:lnTo>
                  <a:lnTo>
                    <a:pt x="163563" y="0"/>
                  </a:lnTo>
                  <a:close/>
                </a:path>
              </a:pathLst>
            </a:custGeom>
            <a:ln w="317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704909" y="1304447"/>
            <a:ext cx="212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latin typeface="Arial"/>
                <a:cs typeface="Arial"/>
              </a:rPr>
              <a:t>API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318859" y="1497110"/>
            <a:ext cx="984885" cy="642620"/>
            <a:chOff x="6318859" y="1497110"/>
            <a:chExt cx="984885" cy="642620"/>
          </a:xfrm>
        </p:grpSpPr>
        <p:sp>
          <p:nvSpPr>
            <p:cNvPr id="26" name="object 26" descr=""/>
            <p:cNvSpPr/>
            <p:nvPr/>
          </p:nvSpPr>
          <p:spPr>
            <a:xfrm>
              <a:off x="6320447" y="1498697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60">
                  <a:moveTo>
                    <a:pt x="981405" y="0"/>
                  </a:moveTo>
                  <a:lnTo>
                    <a:pt x="163563" y="0"/>
                  </a:lnTo>
                  <a:lnTo>
                    <a:pt x="111864" y="5107"/>
                  </a:lnTo>
                  <a:lnTo>
                    <a:pt x="66964" y="19330"/>
                  </a:lnTo>
                  <a:lnTo>
                    <a:pt x="31557" y="41019"/>
                  </a:lnTo>
                  <a:lnTo>
                    <a:pt x="8338" y="68522"/>
                  </a:lnTo>
                  <a:lnTo>
                    <a:pt x="0" y="100190"/>
                  </a:lnTo>
                  <a:lnTo>
                    <a:pt x="8338" y="131864"/>
                  </a:lnTo>
                  <a:lnTo>
                    <a:pt x="31557" y="159371"/>
                  </a:lnTo>
                  <a:lnTo>
                    <a:pt x="66964" y="181061"/>
                  </a:lnTo>
                  <a:lnTo>
                    <a:pt x="111864" y="195285"/>
                  </a:lnTo>
                  <a:lnTo>
                    <a:pt x="163563" y="200393"/>
                  </a:lnTo>
                  <a:lnTo>
                    <a:pt x="981392" y="200393"/>
                  </a:lnTo>
                  <a:lnTo>
                    <a:pt x="929693" y="195285"/>
                  </a:lnTo>
                  <a:lnTo>
                    <a:pt x="884793" y="181061"/>
                  </a:lnTo>
                  <a:lnTo>
                    <a:pt x="849386" y="159371"/>
                  </a:lnTo>
                  <a:lnTo>
                    <a:pt x="826167" y="131864"/>
                  </a:lnTo>
                  <a:lnTo>
                    <a:pt x="817829" y="100190"/>
                  </a:lnTo>
                  <a:lnTo>
                    <a:pt x="826168" y="68522"/>
                  </a:lnTo>
                  <a:lnTo>
                    <a:pt x="849391" y="41019"/>
                  </a:lnTo>
                  <a:lnTo>
                    <a:pt x="884801" y="19330"/>
                  </a:lnTo>
                  <a:lnTo>
                    <a:pt x="929704" y="5107"/>
                  </a:lnTo>
                  <a:lnTo>
                    <a:pt x="981405" y="0"/>
                  </a:lnTo>
                  <a:close/>
                </a:path>
              </a:pathLst>
            </a:custGeom>
            <a:solidFill>
              <a:srgbClr val="C0C0C0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320447" y="1498697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60">
                  <a:moveTo>
                    <a:pt x="163563" y="0"/>
                  </a:moveTo>
                  <a:lnTo>
                    <a:pt x="981405" y="0"/>
                  </a:lnTo>
                  <a:lnTo>
                    <a:pt x="929704" y="5107"/>
                  </a:lnTo>
                  <a:lnTo>
                    <a:pt x="884801" y="19330"/>
                  </a:lnTo>
                  <a:lnTo>
                    <a:pt x="849391" y="41019"/>
                  </a:lnTo>
                  <a:lnTo>
                    <a:pt x="826168" y="68522"/>
                  </a:lnTo>
                  <a:lnTo>
                    <a:pt x="817829" y="100190"/>
                  </a:lnTo>
                  <a:lnTo>
                    <a:pt x="826167" y="131864"/>
                  </a:lnTo>
                  <a:lnTo>
                    <a:pt x="849386" y="159371"/>
                  </a:lnTo>
                  <a:lnTo>
                    <a:pt x="884793" y="181061"/>
                  </a:lnTo>
                  <a:lnTo>
                    <a:pt x="929693" y="195285"/>
                  </a:lnTo>
                  <a:lnTo>
                    <a:pt x="981392" y="200393"/>
                  </a:lnTo>
                  <a:lnTo>
                    <a:pt x="163563" y="200393"/>
                  </a:lnTo>
                  <a:lnTo>
                    <a:pt x="111864" y="195285"/>
                  </a:lnTo>
                  <a:lnTo>
                    <a:pt x="66964" y="181061"/>
                  </a:lnTo>
                  <a:lnTo>
                    <a:pt x="31557" y="159371"/>
                  </a:lnTo>
                  <a:lnTo>
                    <a:pt x="0" y="100190"/>
                  </a:lnTo>
                  <a:lnTo>
                    <a:pt x="8338" y="68522"/>
                  </a:lnTo>
                  <a:lnTo>
                    <a:pt x="31557" y="41019"/>
                  </a:lnTo>
                  <a:lnTo>
                    <a:pt x="66964" y="19330"/>
                  </a:lnTo>
                  <a:lnTo>
                    <a:pt x="111864" y="5107"/>
                  </a:lnTo>
                  <a:lnTo>
                    <a:pt x="163563" y="0"/>
                  </a:lnTo>
                  <a:close/>
                </a:path>
              </a:pathLst>
            </a:custGeom>
            <a:ln w="317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20447" y="1717960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60">
                  <a:moveTo>
                    <a:pt x="981405" y="0"/>
                  </a:moveTo>
                  <a:lnTo>
                    <a:pt x="163563" y="0"/>
                  </a:lnTo>
                  <a:lnTo>
                    <a:pt x="111864" y="5107"/>
                  </a:lnTo>
                  <a:lnTo>
                    <a:pt x="66964" y="19330"/>
                  </a:lnTo>
                  <a:lnTo>
                    <a:pt x="31557" y="41019"/>
                  </a:lnTo>
                  <a:lnTo>
                    <a:pt x="8338" y="68522"/>
                  </a:lnTo>
                  <a:lnTo>
                    <a:pt x="0" y="100190"/>
                  </a:lnTo>
                  <a:lnTo>
                    <a:pt x="8338" y="131864"/>
                  </a:lnTo>
                  <a:lnTo>
                    <a:pt x="31557" y="159371"/>
                  </a:lnTo>
                  <a:lnTo>
                    <a:pt x="66964" y="181061"/>
                  </a:lnTo>
                  <a:lnTo>
                    <a:pt x="111864" y="195285"/>
                  </a:lnTo>
                  <a:lnTo>
                    <a:pt x="163563" y="200393"/>
                  </a:lnTo>
                  <a:lnTo>
                    <a:pt x="981392" y="200393"/>
                  </a:lnTo>
                  <a:lnTo>
                    <a:pt x="929693" y="195285"/>
                  </a:lnTo>
                  <a:lnTo>
                    <a:pt x="884793" y="181061"/>
                  </a:lnTo>
                  <a:lnTo>
                    <a:pt x="849386" y="159371"/>
                  </a:lnTo>
                  <a:lnTo>
                    <a:pt x="826167" y="131864"/>
                  </a:lnTo>
                  <a:lnTo>
                    <a:pt x="817829" y="100190"/>
                  </a:lnTo>
                  <a:lnTo>
                    <a:pt x="826168" y="68522"/>
                  </a:lnTo>
                  <a:lnTo>
                    <a:pt x="849391" y="41019"/>
                  </a:lnTo>
                  <a:lnTo>
                    <a:pt x="884801" y="19330"/>
                  </a:lnTo>
                  <a:lnTo>
                    <a:pt x="929704" y="5107"/>
                  </a:lnTo>
                  <a:lnTo>
                    <a:pt x="981405" y="0"/>
                  </a:lnTo>
                  <a:close/>
                </a:path>
              </a:pathLst>
            </a:custGeom>
            <a:solidFill>
              <a:srgbClr val="333399">
                <a:alpha val="6705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320447" y="1937224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60">
                  <a:moveTo>
                    <a:pt x="981405" y="0"/>
                  </a:moveTo>
                  <a:lnTo>
                    <a:pt x="163563" y="0"/>
                  </a:lnTo>
                  <a:lnTo>
                    <a:pt x="111864" y="5107"/>
                  </a:lnTo>
                  <a:lnTo>
                    <a:pt x="66964" y="19330"/>
                  </a:lnTo>
                  <a:lnTo>
                    <a:pt x="31557" y="41019"/>
                  </a:lnTo>
                  <a:lnTo>
                    <a:pt x="8338" y="68522"/>
                  </a:lnTo>
                  <a:lnTo>
                    <a:pt x="0" y="100190"/>
                  </a:lnTo>
                  <a:lnTo>
                    <a:pt x="8338" y="131864"/>
                  </a:lnTo>
                  <a:lnTo>
                    <a:pt x="31557" y="159371"/>
                  </a:lnTo>
                  <a:lnTo>
                    <a:pt x="66964" y="181061"/>
                  </a:lnTo>
                  <a:lnTo>
                    <a:pt x="111864" y="195285"/>
                  </a:lnTo>
                  <a:lnTo>
                    <a:pt x="163563" y="200393"/>
                  </a:lnTo>
                  <a:lnTo>
                    <a:pt x="981392" y="200393"/>
                  </a:lnTo>
                  <a:lnTo>
                    <a:pt x="929693" y="195285"/>
                  </a:lnTo>
                  <a:lnTo>
                    <a:pt x="884793" y="181061"/>
                  </a:lnTo>
                  <a:lnTo>
                    <a:pt x="849386" y="159371"/>
                  </a:lnTo>
                  <a:lnTo>
                    <a:pt x="826167" y="131864"/>
                  </a:lnTo>
                  <a:lnTo>
                    <a:pt x="817829" y="100190"/>
                  </a:lnTo>
                  <a:lnTo>
                    <a:pt x="826168" y="68522"/>
                  </a:lnTo>
                  <a:lnTo>
                    <a:pt x="849391" y="41019"/>
                  </a:lnTo>
                  <a:lnTo>
                    <a:pt x="884801" y="19330"/>
                  </a:lnTo>
                  <a:lnTo>
                    <a:pt x="929704" y="5107"/>
                  </a:lnTo>
                  <a:lnTo>
                    <a:pt x="981405" y="0"/>
                  </a:lnTo>
                  <a:close/>
                </a:path>
              </a:pathLst>
            </a:custGeom>
            <a:solidFill>
              <a:srgbClr val="FFC000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320447" y="1937224"/>
              <a:ext cx="981710" cy="200660"/>
            </a:xfrm>
            <a:custGeom>
              <a:avLst/>
              <a:gdLst/>
              <a:ahLst/>
              <a:cxnLst/>
              <a:rect l="l" t="t" r="r" b="b"/>
              <a:pathLst>
                <a:path w="981709" h="200660">
                  <a:moveTo>
                    <a:pt x="163563" y="0"/>
                  </a:moveTo>
                  <a:lnTo>
                    <a:pt x="981405" y="0"/>
                  </a:lnTo>
                  <a:lnTo>
                    <a:pt x="929704" y="5107"/>
                  </a:lnTo>
                  <a:lnTo>
                    <a:pt x="884801" y="19330"/>
                  </a:lnTo>
                  <a:lnTo>
                    <a:pt x="849391" y="41019"/>
                  </a:lnTo>
                  <a:lnTo>
                    <a:pt x="826168" y="68522"/>
                  </a:lnTo>
                  <a:lnTo>
                    <a:pt x="817829" y="100190"/>
                  </a:lnTo>
                  <a:lnTo>
                    <a:pt x="826167" y="131864"/>
                  </a:lnTo>
                  <a:lnTo>
                    <a:pt x="849386" y="159371"/>
                  </a:lnTo>
                  <a:lnTo>
                    <a:pt x="884793" y="181061"/>
                  </a:lnTo>
                  <a:lnTo>
                    <a:pt x="929693" y="195285"/>
                  </a:lnTo>
                  <a:lnTo>
                    <a:pt x="981392" y="200393"/>
                  </a:lnTo>
                  <a:lnTo>
                    <a:pt x="163563" y="200393"/>
                  </a:lnTo>
                  <a:lnTo>
                    <a:pt x="111864" y="195285"/>
                  </a:lnTo>
                  <a:lnTo>
                    <a:pt x="66964" y="181061"/>
                  </a:lnTo>
                  <a:lnTo>
                    <a:pt x="31557" y="159371"/>
                  </a:lnTo>
                  <a:lnTo>
                    <a:pt x="0" y="100190"/>
                  </a:lnTo>
                  <a:lnTo>
                    <a:pt x="8338" y="68522"/>
                  </a:lnTo>
                  <a:lnTo>
                    <a:pt x="31557" y="41019"/>
                  </a:lnTo>
                  <a:lnTo>
                    <a:pt x="66964" y="19330"/>
                  </a:lnTo>
                  <a:lnTo>
                    <a:pt x="111864" y="5107"/>
                  </a:lnTo>
                  <a:lnTo>
                    <a:pt x="163563" y="0"/>
                  </a:lnTo>
                  <a:close/>
                </a:path>
              </a:pathLst>
            </a:custGeom>
            <a:ln w="317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685539" y="1486791"/>
            <a:ext cx="250190" cy="63817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390"/>
              </a:spcBef>
            </a:pPr>
            <a:r>
              <a:rPr dirty="0" sz="900" spc="-25" b="1">
                <a:latin typeface="Arial"/>
                <a:cs typeface="Arial"/>
              </a:rPr>
              <a:t>API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100" spc="-25">
                <a:latin typeface="Arial MT"/>
                <a:cs typeface="Arial MT"/>
              </a:rPr>
              <a:t>API</a:t>
            </a:r>
            <a:endParaRPr sz="110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  <a:spcBef>
                <a:spcPts val="700"/>
              </a:spcBef>
            </a:pPr>
            <a:r>
              <a:rPr dirty="0" sz="900" spc="-25" b="1">
                <a:latin typeface="Arial"/>
                <a:cs typeface="Arial"/>
              </a:rPr>
              <a:t>API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485170" y="1169692"/>
            <a:ext cx="4864100" cy="1131570"/>
          </a:xfrm>
          <a:custGeom>
            <a:avLst/>
            <a:gdLst/>
            <a:ahLst/>
            <a:cxnLst/>
            <a:rect l="l" t="t" r="r" b="b"/>
            <a:pathLst>
              <a:path w="4864100" h="1131570">
                <a:moveTo>
                  <a:pt x="0" y="77203"/>
                </a:moveTo>
                <a:lnTo>
                  <a:pt x="6067" y="47154"/>
                </a:lnTo>
                <a:lnTo>
                  <a:pt x="22613" y="22613"/>
                </a:lnTo>
                <a:lnTo>
                  <a:pt x="47154" y="6067"/>
                </a:lnTo>
                <a:lnTo>
                  <a:pt x="77203" y="0"/>
                </a:lnTo>
                <a:lnTo>
                  <a:pt x="4786769" y="0"/>
                </a:lnTo>
                <a:lnTo>
                  <a:pt x="4816818" y="6067"/>
                </a:lnTo>
                <a:lnTo>
                  <a:pt x="4841359" y="22613"/>
                </a:lnTo>
                <a:lnTo>
                  <a:pt x="4857905" y="47154"/>
                </a:lnTo>
                <a:lnTo>
                  <a:pt x="4863973" y="77203"/>
                </a:lnTo>
                <a:lnTo>
                  <a:pt x="4863973" y="1053769"/>
                </a:lnTo>
                <a:lnTo>
                  <a:pt x="4857905" y="1083818"/>
                </a:lnTo>
                <a:lnTo>
                  <a:pt x="4841359" y="1108359"/>
                </a:lnTo>
                <a:lnTo>
                  <a:pt x="4816818" y="1124905"/>
                </a:lnTo>
                <a:lnTo>
                  <a:pt x="4786769" y="1130973"/>
                </a:lnTo>
                <a:lnTo>
                  <a:pt x="77203" y="1130973"/>
                </a:lnTo>
                <a:lnTo>
                  <a:pt x="47154" y="1124905"/>
                </a:lnTo>
                <a:lnTo>
                  <a:pt x="22613" y="1108359"/>
                </a:lnTo>
                <a:lnTo>
                  <a:pt x="6067" y="1083818"/>
                </a:lnTo>
                <a:lnTo>
                  <a:pt x="0" y="1053769"/>
                </a:lnTo>
                <a:lnTo>
                  <a:pt x="0" y="77203"/>
                </a:lnTo>
                <a:close/>
              </a:path>
            </a:pathLst>
          </a:custGeom>
          <a:ln w="28574">
            <a:solidFill>
              <a:srgbClr val="DADAD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7459280" y="1203148"/>
            <a:ext cx="1167130" cy="930275"/>
          </a:xfrm>
          <a:custGeom>
            <a:avLst/>
            <a:gdLst/>
            <a:ahLst/>
            <a:cxnLst/>
            <a:rect l="l" t="t" r="r" b="b"/>
            <a:pathLst>
              <a:path w="1167129" h="930275">
                <a:moveTo>
                  <a:pt x="1166875" y="0"/>
                </a:moveTo>
                <a:lnTo>
                  <a:pt x="194475" y="0"/>
                </a:lnTo>
                <a:lnTo>
                  <a:pt x="168086" y="4244"/>
                </a:lnTo>
                <a:lnTo>
                  <a:pt x="118777" y="36538"/>
                </a:lnTo>
                <a:lnTo>
                  <a:pt x="75637" y="96878"/>
                </a:lnTo>
                <a:lnTo>
                  <a:pt x="56961" y="136180"/>
                </a:lnTo>
                <a:lnTo>
                  <a:pt x="40521" y="180832"/>
                </a:lnTo>
                <a:lnTo>
                  <a:pt x="26551" y="230280"/>
                </a:lnTo>
                <a:lnTo>
                  <a:pt x="15283" y="283969"/>
                </a:lnTo>
                <a:lnTo>
                  <a:pt x="6946" y="341346"/>
                </a:lnTo>
                <a:lnTo>
                  <a:pt x="1775" y="401856"/>
                </a:lnTo>
                <a:lnTo>
                  <a:pt x="0" y="464947"/>
                </a:lnTo>
                <a:lnTo>
                  <a:pt x="1775" y="528040"/>
                </a:lnTo>
                <a:lnTo>
                  <a:pt x="6946" y="588553"/>
                </a:lnTo>
                <a:lnTo>
                  <a:pt x="15283" y="645931"/>
                </a:lnTo>
                <a:lnTo>
                  <a:pt x="26551" y="699622"/>
                </a:lnTo>
                <a:lnTo>
                  <a:pt x="40521" y="749071"/>
                </a:lnTo>
                <a:lnTo>
                  <a:pt x="56961" y="793724"/>
                </a:lnTo>
                <a:lnTo>
                  <a:pt x="75637" y="833027"/>
                </a:lnTo>
                <a:lnTo>
                  <a:pt x="96320" y="866426"/>
                </a:lnTo>
                <a:lnTo>
                  <a:pt x="142776" y="913298"/>
                </a:lnTo>
                <a:lnTo>
                  <a:pt x="194475" y="929906"/>
                </a:lnTo>
                <a:lnTo>
                  <a:pt x="1166875" y="929906"/>
                </a:lnTo>
                <a:lnTo>
                  <a:pt x="1140484" y="925662"/>
                </a:lnTo>
                <a:lnTo>
                  <a:pt x="1115172" y="913298"/>
                </a:lnTo>
                <a:lnTo>
                  <a:pt x="1068712" y="866426"/>
                </a:lnTo>
                <a:lnTo>
                  <a:pt x="1048028" y="833027"/>
                </a:lnTo>
                <a:lnTo>
                  <a:pt x="1029350" y="793724"/>
                </a:lnTo>
                <a:lnTo>
                  <a:pt x="1012910" y="749071"/>
                </a:lnTo>
                <a:lnTo>
                  <a:pt x="998940" y="699622"/>
                </a:lnTo>
                <a:lnTo>
                  <a:pt x="987671" y="645931"/>
                </a:lnTo>
                <a:lnTo>
                  <a:pt x="979335" y="588553"/>
                </a:lnTo>
                <a:lnTo>
                  <a:pt x="974163" y="528040"/>
                </a:lnTo>
                <a:lnTo>
                  <a:pt x="972388" y="464947"/>
                </a:lnTo>
                <a:lnTo>
                  <a:pt x="974163" y="401856"/>
                </a:lnTo>
                <a:lnTo>
                  <a:pt x="979335" y="341346"/>
                </a:lnTo>
                <a:lnTo>
                  <a:pt x="987671" y="283969"/>
                </a:lnTo>
                <a:lnTo>
                  <a:pt x="998940" y="230280"/>
                </a:lnTo>
                <a:lnTo>
                  <a:pt x="1012910" y="180832"/>
                </a:lnTo>
                <a:lnTo>
                  <a:pt x="1029350" y="136180"/>
                </a:lnTo>
                <a:lnTo>
                  <a:pt x="1048028" y="96878"/>
                </a:lnTo>
                <a:lnTo>
                  <a:pt x="1068712" y="63479"/>
                </a:lnTo>
                <a:lnTo>
                  <a:pt x="1115172" y="16608"/>
                </a:lnTo>
                <a:lnTo>
                  <a:pt x="1140484" y="4244"/>
                </a:lnTo>
                <a:lnTo>
                  <a:pt x="1166875" y="0"/>
                </a:lnTo>
                <a:close/>
              </a:path>
            </a:pathLst>
          </a:custGeom>
          <a:solidFill>
            <a:srgbClr val="333399">
              <a:alpha val="6705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768843" y="150911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35">
                <a:latin typeface="Microsoft YaHei"/>
                <a:cs typeface="Microsoft YaHei"/>
              </a:rPr>
              <a:t>业务运营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53862" y="2364684"/>
            <a:ext cx="109220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Microsoft YaHei"/>
                <a:cs typeface="Microsoft YaHei"/>
              </a:rPr>
              <a:t>垂直行业及业务解决方案提供商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20261" y="2903135"/>
            <a:ext cx="2128520" cy="2098040"/>
            <a:chOff x="520261" y="2903135"/>
            <a:chExt cx="2128520" cy="2098040"/>
          </a:xfrm>
        </p:grpSpPr>
        <p:sp>
          <p:nvSpPr>
            <p:cNvPr id="37" name="object 37" descr=""/>
            <p:cNvSpPr/>
            <p:nvPr/>
          </p:nvSpPr>
          <p:spPr>
            <a:xfrm>
              <a:off x="520261" y="2903135"/>
              <a:ext cx="2128520" cy="1986914"/>
            </a:xfrm>
            <a:custGeom>
              <a:avLst/>
              <a:gdLst/>
              <a:ahLst/>
              <a:cxnLst/>
              <a:rect l="l" t="t" r="r" b="b"/>
              <a:pathLst>
                <a:path w="2128520" h="1986914">
                  <a:moveTo>
                    <a:pt x="2071636" y="0"/>
                  </a:moveTo>
                  <a:lnTo>
                    <a:pt x="56718" y="0"/>
                  </a:lnTo>
                  <a:lnTo>
                    <a:pt x="34638" y="4458"/>
                  </a:lnTo>
                  <a:lnTo>
                    <a:pt x="16610" y="16614"/>
                  </a:lnTo>
                  <a:lnTo>
                    <a:pt x="4456" y="34643"/>
                  </a:lnTo>
                  <a:lnTo>
                    <a:pt x="0" y="56718"/>
                  </a:lnTo>
                  <a:lnTo>
                    <a:pt x="0" y="1929752"/>
                  </a:lnTo>
                  <a:lnTo>
                    <a:pt x="4456" y="1951824"/>
                  </a:lnTo>
                  <a:lnTo>
                    <a:pt x="16610" y="1969849"/>
                  </a:lnTo>
                  <a:lnTo>
                    <a:pt x="34638" y="1982001"/>
                  </a:lnTo>
                  <a:lnTo>
                    <a:pt x="56718" y="1986457"/>
                  </a:lnTo>
                  <a:lnTo>
                    <a:pt x="2071636" y="1986457"/>
                  </a:lnTo>
                  <a:lnTo>
                    <a:pt x="2093709" y="1982001"/>
                  </a:lnTo>
                  <a:lnTo>
                    <a:pt x="2111733" y="1969849"/>
                  </a:lnTo>
                  <a:lnTo>
                    <a:pt x="2123886" y="1951824"/>
                  </a:lnTo>
                  <a:lnTo>
                    <a:pt x="2128342" y="1929752"/>
                  </a:lnTo>
                  <a:lnTo>
                    <a:pt x="2128342" y="56718"/>
                  </a:lnTo>
                  <a:lnTo>
                    <a:pt x="2123886" y="34643"/>
                  </a:lnTo>
                  <a:lnTo>
                    <a:pt x="2111733" y="16614"/>
                  </a:lnTo>
                  <a:lnTo>
                    <a:pt x="2093709" y="4458"/>
                  </a:lnTo>
                  <a:lnTo>
                    <a:pt x="2071636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3113" y="3685793"/>
              <a:ext cx="378713" cy="323849"/>
            </a:xfrm>
            <a:prstGeom prst="rect">
              <a:avLst/>
            </a:prstGeom>
          </p:spPr>
        </p:pic>
        <p:pic>
          <p:nvPicPr>
            <p:cNvPr id="39" name="object 39" descr="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7001" y="3397229"/>
              <a:ext cx="351002" cy="29700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8447" y="4102607"/>
              <a:ext cx="377951" cy="32461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1902" y="3814673"/>
              <a:ext cx="351002" cy="29700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3550" y="3685794"/>
              <a:ext cx="377939" cy="32384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6910" y="3397229"/>
              <a:ext cx="351002" cy="29700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73223" y="3685793"/>
              <a:ext cx="377951" cy="323849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86819" y="3397229"/>
              <a:ext cx="351002" cy="29700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89987" y="4102607"/>
              <a:ext cx="378713" cy="32461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03649" y="3814673"/>
              <a:ext cx="351002" cy="29700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44217" y="4102607"/>
              <a:ext cx="377951" cy="324611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7775" y="3814673"/>
              <a:ext cx="351002" cy="29700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0173" y="3378707"/>
              <a:ext cx="486155" cy="32461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3977" y="3090263"/>
              <a:ext cx="459003" cy="29700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0173" y="4054601"/>
              <a:ext cx="486155" cy="29717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0173" y="3729989"/>
              <a:ext cx="486155" cy="333261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3977" y="3441754"/>
              <a:ext cx="459003" cy="29700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0173" y="4379213"/>
              <a:ext cx="486155" cy="29717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3977" y="4117741"/>
              <a:ext cx="459003" cy="2700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0173" y="4703825"/>
              <a:ext cx="486155" cy="297179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3977" y="4442231"/>
              <a:ext cx="459003" cy="27000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98219" y="4202779"/>
              <a:ext cx="792749" cy="350780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2979686" y="2863719"/>
            <a:ext cx="3105785" cy="2276475"/>
            <a:chOff x="2979686" y="2863719"/>
            <a:chExt cx="3105785" cy="2276475"/>
          </a:xfrm>
        </p:grpSpPr>
        <p:sp>
          <p:nvSpPr>
            <p:cNvPr id="61" name="object 61" descr=""/>
            <p:cNvSpPr/>
            <p:nvPr/>
          </p:nvSpPr>
          <p:spPr>
            <a:xfrm>
              <a:off x="2979686" y="2863719"/>
              <a:ext cx="3105785" cy="1986914"/>
            </a:xfrm>
            <a:custGeom>
              <a:avLst/>
              <a:gdLst/>
              <a:ahLst/>
              <a:cxnLst/>
              <a:rect l="l" t="t" r="r" b="b"/>
              <a:pathLst>
                <a:path w="3105785" h="1986914">
                  <a:moveTo>
                    <a:pt x="3048520" y="0"/>
                  </a:moveTo>
                  <a:lnTo>
                    <a:pt x="56718" y="0"/>
                  </a:lnTo>
                  <a:lnTo>
                    <a:pt x="34638" y="4458"/>
                  </a:lnTo>
                  <a:lnTo>
                    <a:pt x="16610" y="16614"/>
                  </a:lnTo>
                  <a:lnTo>
                    <a:pt x="4456" y="34643"/>
                  </a:lnTo>
                  <a:lnTo>
                    <a:pt x="0" y="56718"/>
                  </a:lnTo>
                  <a:lnTo>
                    <a:pt x="0" y="1929752"/>
                  </a:lnTo>
                  <a:lnTo>
                    <a:pt x="4456" y="1951824"/>
                  </a:lnTo>
                  <a:lnTo>
                    <a:pt x="16610" y="1969849"/>
                  </a:lnTo>
                  <a:lnTo>
                    <a:pt x="34638" y="1982001"/>
                  </a:lnTo>
                  <a:lnTo>
                    <a:pt x="56718" y="1986457"/>
                  </a:lnTo>
                  <a:lnTo>
                    <a:pt x="3048520" y="1986457"/>
                  </a:lnTo>
                  <a:lnTo>
                    <a:pt x="3070595" y="1982001"/>
                  </a:lnTo>
                  <a:lnTo>
                    <a:pt x="3088624" y="1969849"/>
                  </a:lnTo>
                  <a:lnTo>
                    <a:pt x="3100780" y="1951824"/>
                  </a:lnTo>
                  <a:lnTo>
                    <a:pt x="3105238" y="1929752"/>
                  </a:lnTo>
                  <a:lnTo>
                    <a:pt x="3105238" y="56718"/>
                  </a:lnTo>
                  <a:lnTo>
                    <a:pt x="3100780" y="34643"/>
                  </a:lnTo>
                  <a:lnTo>
                    <a:pt x="3088624" y="16614"/>
                  </a:lnTo>
                  <a:lnTo>
                    <a:pt x="3070595" y="4458"/>
                  </a:lnTo>
                  <a:lnTo>
                    <a:pt x="3048520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>
              <a:hlinkClick r:id="rId25"/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61153" y="4706873"/>
              <a:ext cx="459485" cy="432815"/>
            </a:xfrm>
            <a:prstGeom prst="rect">
              <a:avLst/>
            </a:prstGeom>
          </p:spPr>
        </p:pic>
        <p:pic>
          <p:nvPicPr>
            <p:cNvPr id="63" name="object 63" descr="">
              <a:hlinkClick r:id="rId25"/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75090" y="4310941"/>
              <a:ext cx="432003" cy="40500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96689" y="4706873"/>
              <a:ext cx="458723" cy="43281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010036" y="4310941"/>
              <a:ext cx="432003" cy="405003"/>
            </a:xfrm>
            <a:prstGeom prst="rect">
              <a:avLst/>
            </a:prstGeom>
          </p:spPr>
        </p:pic>
        <p:pic>
          <p:nvPicPr>
            <p:cNvPr id="66" name="object 66">
              <a:hlinkClick r:id="rId30"/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05377" y="4046981"/>
              <a:ext cx="459485" cy="432053"/>
            </a:xfrm>
            <a:prstGeom prst="rect">
              <a:avLst/>
            </a:prstGeom>
          </p:spPr>
        </p:pic>
        <p:pic>
          <p:nvPicPr>
            <p:cNvPr id="67" name="object 67" descr="">
              <a:hlinkClick r:id="rId30"/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419290" y="3650388"/>
              <a:ext cx="432003" cy="40500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322063" y="3455669"/>
              <a:ext cx="459485" cy="432053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335551" y="3059023"/>
              <a:ext cx="432003" cy="40500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09187" y="3433571"/>
              <a:ext cx="459485" cy="432053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22599" y="3037202"/>
              <a:ext cx="432003" cy="405003"/>
            </a:xfrm>
            <a:prstGeom prst="rect">
              <a:avLst/>
            </a:prstGeom>
          </p:spPr>
        </p:pic>
        <p:pic>
          <p:nvPicPr>
            <p:cNvPr id="72" name="object 72">
              <a:hlinkClick r:id="rId37"/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234939" y="3463289"/>
              <a:ext cx="459485" cy="432815"/>
            </a:xfrm>
            <a:prstGeom prst="rect">
              <a:avLst/>
            </a:prstGeom>
          </p:spPr>
        </p:pic>
        <p:pic>
          <p:nvPicPr>
            <p:cNvPr id="73" name="object 73" descr="">
              <a:hlinkClick r:id="rId37"/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48502" y="3067335"/>
              <a:ext cx="432003" cy="40500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238749" y="4046981"/>
              <a:ext cx="459485" cy="432053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52656" y="3650388"/>
              <a:ext cx="432003" cy="405003"/>
            </a:xfrm>
            <a:prstGeom prst="rect">
              <a:avLst/>
            </a:prstGeom>
          </p:spPr>
        </p:pic>
        <p:pic>
          <p:nvPicPr>
            <p:cNvPr id="76" name="object 76">
              <a:hlinkClick r:id="rId42"/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322063" y="4046981"/>
              <a:ext cx="459485" cy="432053"/>
            </a:xfrm>
            <a:prstGeom prst="rect">
              <a:avLst/>
            </a:prstGeom>
          </p:spPr>
        </p:pic>
        <p:pic>
          <p:nvPicPr>
            <p:cNvPr id="77" name="object 77" descr="">
              <a:hlinkClick r:id="rId42"/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335974" y="3650388"/>
              <a:ext cx="432003" cy="40500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403853" y="4706873"/>
              <a:ext cx="459485" cy="432815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417550" y="4310941"/>
              <a:ext cx="432003" cy="405003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253989" y="4706873"/>
              <a:ext cx="459485" cy="432815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267575" y="4310941"/>
              <a:ext cx="432003" cy="405003"/>
            </a:xfrm>
            <a:prstGeom prst="rect">
              <a:avLst/>
            </a:prstGeom>
          </p:spPr>
        </p:pic>
      </p:grpSp>
      <p:sp>
        <p:nvSpPr>
          <p:cNvPr id="82" name="object 82" descr=""/>
          <p:cNvSpPr/>
          <p:nvPr/>
        </p:nvSpPr>
        <p:spPr>
          <a:xfrm>
            <a:off x="6346771" y="2859777"/>
            <a:ext cx="2178685" cy="1986914"/>
          </a:xfrm>
          <a:custGeom>
            <a:avLst/>
            <a:gdLst/>
            <a:ahLst/>
            <a:cxnLst/>
            <a:rect l="l" t="t" r="r" b="b"/>
            <a:pathLst>
              <a:path w="2178684" h="1986914">
                <a:moveTo>
                  <a:pt x="2121738" y="0"/>
                </a:moveTo>
                <a:lnTo>
                  <a:pt x="56718" y="0"/>
                </a:lnTo>
                <a:lnTo>
                  <a:pt x="34638" y="4458"/>
                </a:lnTo>
                <a:lnTo>
                  <a:pt x="16610" y="16614"/>
                </a:lnTo>
                <a:lnTo>
                  <a:pt x="4456" y="34643"/>
                </a:lnTo>
                <a:lnTo>
                  <a:pt x="0" y="56718"/>
                </a:lnTo>
                <a:lnTo>
                  <a:pt x="0" y="1929752"/>
                </a:lnTo>
                <a:lnTo>
                  <a:pt x="4456" y="1951824"/>
                </a:lnTo>
                <a:lnTo>
                  <a:pt x="16610" y="1969849"/>
                </a:lnTo>
                <a:lnTo>
                  <a:pt x="34638" y="1982001"/>
                </a:lnTo>
                <a:lnTo>
                  <a:pt x="56718" y="1986457"/>
                </a:lnTo>
                <a:lnTo>
                  <a:pt x="2121738" y="1986457"/>
                </a:lnTo>
                <a:lnTo>
                  <a:pt x="2143810" y="1982001"/>
                </a:lnTo>
                <a:lnTo>
                  <a:pt x="2161835" y="1969849"/>
                </a:lnTo>
                <a:lnTo>
                  <a:pt x="2173987" y="1951824"/>
                </a:lnTo>
                <a:lnTo>
                  <a:pt x="2178443" y="1929752"/>
                </a:lnTo>
                <a:lnTo>
                  <a:pt x="2178443" y="56718"/>
                </a:lnTo>
                <a:lnTo>
                  <a:pt x="2173987" y="34643"/>
                </a:lnTo>
                <a:lnTo>
                  <a:pt x="2161835" y="16614"/>
                </a:lnTo>
                <a:lnTo>
                  <a:pt x="2143810" y="4458"/>
                </a:lnTo>
                <a:lnTo>
                  <a:pt x="2121738" y="0"/>
                </a:lnTo>
                <a:close/>
              </a:path>
            </a:pathLst>
          </a:custGeom>
          <a:solidFill>
            <a:srgbClr val="A7A8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6802490" y="4465223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6748868" y="3085909"/>
            <a:ext cx="1362075" cy="1459230"/>
            <a:chOff x="6748868" y="3085909"/>
            <a:chExt cx="1362075" cy="1459230"/>
          </a:xfrm>
        </p:grpSpPr>
        <p:pic>
          <p:nvPicPr>
            <p:cNvPr id="85" name="object 8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760933" y="3449040"/>
              <a:ext cx="350989" cy="32398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254358" y="3449040"/>
              <a:ext cx="350998" cy="32399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747787" y="3449040"/>
              <a:ext cx="352435" cy="32275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748868" y="3085909"/>
              <a:ext cx="485998" cy="216557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624677" y="3085909"/>
              <a:ext cx="485999" cy="218200"/>
            </a:xfrm>
            <a:prstGeom prst="rect">
              <a:avLst/>
            </a:prstGeom>
          </p:spPr>
        </p:pic>
        <p:pic>
          <p:nvPicPr>
            <p:cNvPr id="90" name="object 90">
              <a:hlinkClick r:id="rId54"/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750556" y="4219955"/>
              <a:ext cx="486155" cy="324611"/>
            </a:xfrm>
            <a:prstGeom prst="rect">
              <a:avLst/>
            </a:prstGeom>
          </p:spPr>
        </p:pic>
        <p:pic>
          <p:nvPicPr>
            <p:cNvPr id="91" name="object 91" descr="">
              <a:hlinkClick r:id="rId54"/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763996" y="3932048"/>
              <a:ext cx="459003" cy="297002"/>
            </a:xfrm>
            <a:prstGeom prst="rect">
              <a:avLst/>
            </a:prstGeom>
          </p:spPr>
        </p:pic>
      </p:grpSp>
      <p:sp>
        <p:nvSpPr>
          <p:cNvPr id="92" name="object 92" descr=""/>
          <p:cNvSpPr txBox="1"/>
          <p:nvPr/>
        </p:nvSpPr>
        <p:spPr>
          <a:xfrm>
            <a:off x="3050539" y="843788"/>
            <a:ext cx="2616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5G</a:t>
            </a:r>
            <a:r>
              <a:rPr dirty="0" sz="1800" spc="-5">
                <a:latin typeface="Microsoft YaHei"/>
                <a:cs typeface="Microsoft YaHei"/>
              </a:rPr>
              <a:t>产业生态已经完备成熟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xfrm>
            <a:off x="3028346" y="98291"/>
            <a:ext cx="33915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</a:t>
            </a:r>
          </a:p>
        </p:txBody>
      </p:sp>
      <p:sp>
        <p:nvSpPr>
          <p:cNvPr id="94" name="object 94" descr=""/>
          <p:cNvSpPr txBox="1"/>
          <p:nvPr/>
        </p:nvSpPr>
        <p:spPr>
          <a:xfrm>
            <a:off x="153319" y="4826418"/>
            <a:ext cx="152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808080"/>
                </a:solidFill>
                <a:latin typeface="Arial MT"/>
                <a:cs typeface="Arial MT"/>
              </a:rPr>
              <a:t>24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725" y="115315"/>
            <a:ext cx="502856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5"/>
              <a:t>网络 </a:t>
            </a:r>
            <a:r>
              <a:rPr dirty="0" spc="-20">
                <a:latin typeface="Times New Roman"/>
                <a:cs typeface="Times New Roman"/>
              </a:rPr>
              <a:t>2.6/3.5GH</a:t>
            </a:r>
            <a:r>
              <a:rPr dirty="0" spc="-20" b="0">
                <a:latin typeface="Times New Roman"/>
                <a:cs typeface="Times New Roman"/>
              </a:rPr>
              <a:t>z</a:t>
            </a:r>
            <a:r>
              <a:rPr dirty="0" spc="-40"/>
              <a:t>产业进度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43256" y="2614789"/>
            <a:ext cx="8540115" cy="1986280"/>
            <a:chOff x="143256" y="2614789"/>
            <a:chExt cx="8540115" cy="1986280"/>
          </a:xfrm>
        </p:grpSpPr>
        <p:sp>
          <p:nvSpPr>
            <p:cNvPr id="4" name="object 4" descr=""/>
            <p:cNvSpPr/>
            <p:nvPr/>
          </p:nvSpPr>
          <p:spPr>
            <a:xfrm>
              <a:off x="787077" y="3687869"/>
              <a:ext cx="7867650" cy="900430"/>
            </a:xfrm>
            <a:custGeom>
              <a:avLst/>
              <a:gdLst/>
              <a:ahLst/>
              <a:cxnLst/>
              <a:rect l="l" t="t" r="r" b="b"/>
              <a:pathLst>
                <a:path w="7867650" h="900429">
                  <a:moveTo>
                    <a:pt x="0" y="150025"/>
                  </a:moveTo>
                  <a:lnTo>
                    <a:pt x="7648" y="102606"/>
                  </a:lnTo>
                  <a:lnTo>
                    <a:pt x="28946" y="61422"/>
                  </a:lnTo>
                  <a:lnTo>
                    <a:pt x="61422" y="28946"/>
                  </a:lnTo>
                  <a:lnTo>
                    <a:pt x="102606" y="7648"/>
                  </a:lnTo>
                  <a:lnTo>
                    <a:pt x="150025" y="0"/>
                  </a:lnTo>
                  <a:lnTo>
                    <a:pt x="7717053" y="0"/>
                  </a:lnTo>
                  <a:lnTo>
                    <a:pt x="7764472" y="7648"/>
                  </a:lnTo>
                  <a:lnTo>
                    <a:pt x="7805655" y="28946"/>
                  </a:lnTo>
                  <a:lnTo>
                    <a:pt x="7838131" y="61422"/>
                  </a:lnTo>
                  <a:lnTo>
                    <a:pt x="7859429" y="102606"/>
                  </a:lnTo>
                  <a:lnTo>
                    <a:pt x="7867078" y="150025"/>
                  </a:lnTo>
                  <a:lnTo>
                    <a:pt x="7867078" y="750087"/>
                  </a:lnTo>
                  <a:lnTo>
                    <a:pt x="7859429" y="797504"/>
                  </a:lnTo>
                  <a:lnTo>
                    <a:pt x="7838131" y="838685"/>
                  </a:lnTo>
                  <a:lnTo>
                    <a:pt x="7805655" y="871157"/>
                  </a:lnTo>
                  <a:lnTo>
                    <a:pt x="7764472" y="892452"/>
                  </a:lnTo>
                  <a:lnTo>
                    <a:pt x="7717053" y="900099"/>
                  </a:lnTo>
                  <a:lnTo>
                    <a:pt x="150025" y="900099"/>
                  </a:lnTo>
                  <a:lnTo>
                    <a:pt x="102606" y="892452"/>
                  </a:lnTo>
                  <a:lnTo>
                    <a:pt x="61422" y="871157"/>
                  </a:lnTo>
                  <a:lnTo>
                    <a:pt x="28946" y="838685"/>
                  </a:lnTo>
                  <a:lnTo>
                    <a:pt x="7648" y="797504"/>
                  </a:lnTo>
                  <a:lnTo>
                    <a:pt x="0" y="750087"/>
                  </a:lnTo>
                  <a:lnTo>
                    <a:pt x="0" y="150025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3170" y="2627489"/>
              <a:ext cx="7867650" cy="942340"/>
            </a:xfrm>
            <a:custGeom>
              <a:avLst/>
              <a:gdLst/>
              <a:ahLst/>
              <a:cxnLst/>
              <a:rect l="l" t="t" r="r" b="b"/>
              <a:pathLst>
                <a:path w="7867650" h="942339">
                  <a:moveTo>
                    <a:pt x="0" y="157010"/>
                  </a:moveTo>
                  <a:lnTo>
                    <a:pt x="8004" y="107382"/>
                  </a:lnTo>
                  <a:lnTo>
                    <a:pt x="30293" y="64281"/>
                  </a:lnTo>
                  <a:lnTo>
                    <a:pt x="64281" y="30293"/>
                  </a:lnTo>
                  <a:lnTo>
                    <a:pt x="107382" y="8004"/>
                  </a:lnTo>
                  <a:lnTo>
                    <a:pt x="157010" y="0"/>
                  </a:lnTo>
                  <a:lnTo>
                    <a:pt x="7710068" y="0"/>
                  </a:lnTo>
                  <a:lnTo>
                    <a:pt x="7759696" y="8004"/>
                  </a:lnTo>
                  <a:lnTo>
                    <a:pt x="7802797" y="30293"/>
                  </a:lnTo>
                  <a:lnTo>
                    <a:pt x="7836785" y="64281"/>
                  </a:lnTo>
                  <a:lnTo>
                    <a:pt x="7859074" y="107382"/>
                  </a:lnTo>
                  <a:lnTo>
                    <a:pt x="7867078" y="157010"/>
                  </a:lnTo>
                  <a:lnTo>
                    <a:pt x="7867078" y="785012"/>
                  </a:lnTo>
                  <a:lnTo>
                    <a:pt x="7859074" y="834640"/>
                  </a:lnTo>
                  <a:lnTo>
                    <a:pt x="7836785" y="877741"/>
                  </a:lnTo>
                  <a:lnTo>
                    <a:pt x="7802797" y="911729"/>
                  </a:lnTo>
                  <a:lnTo>
                    <a:pt x="7759696" y="934018"/>
                  </a:lnTo>
                  <a:lnTo>
                    <a:pt x="7710068" y="942022"/>
                  </a:lnTo>
                  <a:lnTo>
                    <a:pt x="157010" y="942022"/>
                  </a:lnTo>
                  <a:lnTo>
                    <a:pt x="107382" y="934018"/>
                  </a:lnTo>
                  <a:lnTo>
                    <a:pt x="64281" y="911729"/>
                  </a:lnTo>
                  <a:lnTo>
                    <a:pt x="30293" y="877741"/>
                  </a:lnTo>
                  <a:lnTo>
                    <a:pt x="8004" y="834640"/>
                  </a:lnTo>
                  <a:lnTo>
                    <a:pt x="0" y="785012"/>
                  </a:lnTo>
                  <a:lnTo>
                    <a:pt x="0" y="15701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742" y="3035808"/>
              <a:ext cx="373379" cy="142036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256" y="3028188"/>
              <a:ext cx="590549" cy="1362455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762000" y="2359913"/>
            <a:ext cx="8171815" cy="176530"/>
            <a:chOff x="762000" y="2359913"/>
            <a:chExt cx="8171815" cy="1765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2359913"/>
              <a:ext cx="8171687" cy="17602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03169" y="2378221"/>
              <a:ext cx="8089900" cy="93980"/>
            </a:xfrm>
            <a:custGeom>
              <a:avLst/>
              <a:gdLst/>
              <a:ahLst/>
              <a:cxnLst/>
              <a:rect l="l" t="t" r="r" b="b"/>
              <a:pathLst>
                <a:path w="8089900" h="93980">
                  <a:moveTo>
                    <a:pt x="8042363" y="0"/>
                  </a:moveTo>
                  <a:lnTo>
                    <a:pt x="0" y="0"/>
                  </a:lnTo>
                  <a:lnTo>
                    <a:pt x="0" y="93903"/>
                  </a:lnTo>
                  <a:lnTo>
                    <a:pt x="8042363" y="93903"/>
                  </a:lnTo>
                  <a:lnTo>
                    <a:pt x="8089315" y="46951"/>
                  </a:lnTo>
                  <a:lnTo>
                    <a:pt x="8042363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0670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5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68611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741132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5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99073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71594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29535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402053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459994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32515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290456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62977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20918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893438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51379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723899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781839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554361" y="2399758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57937" y="0"/>
                  </a:moveTo>
                  <a:lnTo>
                    <a:pt x="35388" y="1858"/>
                  </a:lnTo>
                  <a:lnTo>
                    <a:pt x="16971" y="6927"/>
                  </a:lnTo>
                  <a:lnTo>
                    <a:pt x="4553" y="14444"/>
                  </a:lnTo>
                  <a:lnTo>
                    <a:pt x="0" y="23647"/>
                  </a:lnTo>
                  <a:lnTo>
                    <a:pt x="4553" y="32850"/>
                  </a:lnTo>
                  <a:lnTo>
                    <a:pt x="16971" y="40366"/>
                  </a:lnTo>
                  <a:lnTo>
                    <a:pt x="35388" y="45435"/>
                  </a:lnTo>
                  <a:lnTo>
                    <a:pt x="57937" y="47294"/>
                  </a:lnTo>
                  <a:lnTo>
                    <a:pt x="80493" y="45435"/>
                  </a:lnTo>
                  <a:lnTo>
                    <a:pt x="98913" y="40366"/>
                  </a:lnTo>
                  <a:lnTo>
                    <a:pt x="111333" y="32850"/>
                  </a:lnTo>
                  <a:lnTo>
                    <a:pt x="115887" y="23647"/>
                  </a:lnTo>
                  <a:lnTo>
                    <a:pt x="111333" y="14444"/>
                  </a:lnTo>
                  <a:lnTo>
                    <a:pt x="98913" y="6927"/>
                  </a:lnTo>
                  <a:lnTo>
                    <a:pt x="80493" y="1858"/>
                  </a:lnTo>
                  <a:lnTo>
                    <a:pt x="57937" y="0"/>
                  </a:lnTo>
                  <a:close/>
                </a:path>
              </a:pathLst>
            </a:custGeom>
            <a:solidFill>
              <a:srgbClr val="CEC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612302" y="242473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w="0" h="111125">
                  <a:moveTo>
                    <a:pt x="0" y="0"/>
                  </a:moveTo>
                  <a:lnTo>
                    <a:pt x="0" y="1107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81863" y="3075800"/>
            <a:ext cx="253365" cy="1300480"/>
          </a:xfrm>
          <a:prstGeom prst="rect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algn="just" marL="24765" marR="16510">
              <a:lnSpc>
                <a:spcPct val="100000"/>
              </a:lnSpc>
              <a:spcBef>
                <a:spcPts val="210"/>
              </a:spcBef>
            </a:pPr>
            <a:r>
              <a:rPr dirty="0" sz="1600" spc="-50" b="1">
                <a:solidFill>
                  <a:srgbClr val="FFFFFF"/>
                </a:solidFill>
                <a:latin typeface="Microsoft YaHei"/>
                <a:cs typeface="Microsoft YaHei"/>
              </a:rPr>
              <a:t>端到端产业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667003" y="2170081"/>
            <a:ext cx="46735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2019Q2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37626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2019.Q1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462661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2019.Q3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139204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2018.Q3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132317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2020.Q1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967141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2020.Q2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002798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2018.Q4</a:t>
            </a:r>
            <a:endParaRPr sz="950">
              <a:latin typeface="Microsoft YaHei"/>
              <a:cs typeface="Microsoft YaHe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297489" y="2170081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2019.Q4</a:t>
            </a:r>
            <a:endParaRPr sz="950">
              <a:latin typeface="Microsoft YaHei"/>
              <a:cs typeface="Microsoft YaHe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703069" y="2708909"/>
            <a:ext cx="1096645" cy="287020"/>
            <a:chOff x="1703069" y="2708909"/>
            <a:chExt cx="1096645" cy="287020"/>
          </a:xfrm>
        </p:grpSpPr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2119" y="2734055"/>
              <a:ext cx="1019555" cy="26136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3069" y="2708909"/>
              <a:ext cx="1096517" cy="272795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763005" y="2751951"/>
              <a:ext cx="937894" cy="179705"/>
            </a:xfrm>
            <a:custGeom>
              <a:avLst/>
              <a:gdLst/>
              <a:ahLst/>
              <a:cxnLst/>
              <a:rect l="l" t="t" r="r" b="b"/>
              <a:pathLst>
                <a:path w="937894" h="179705">
                  <a:moveTo>
                    <a:pt x="907897" y="0"/>
                  </a:moveTo>
                  <a:lnTo>
                    <a:pt x="29845" y="0"/>
                  </a:lnTo>
                  <a:lnTo>
                    <a:pt x="18227" y="2345"/>
                  </a:lnTo>
                  <a:lnTo>
                    <a:pt x="8740" y="8740"/>
                  </a:lnTo>
                  <a:lnTo>
                    <a:pt x="2345" y="18227"/>
                  </a:lnTo>
                  <a:lnTo>
                    <a:pt x="0" y="29844"/>
                  </a:lnTo>
                  <a:lnTo>
                    <a:pt x="0" y="149237"/>
                  </a:lnTo>
                  <a:lnTo>
                    <a:pt x="2345" y="160855"/>
                  </a:lnTo>
                  <a:lnTo>
                    <a:pt x="8740" y="170341"/>
                  </a:lnTo>
                  <a:lnTo>
                    <a:pt x="18227" y="176737"/>
                  </a:lnTo>
                  <a:lnTo>
                    <a:pt x="29845" y="179082"/>
                  </a:lnTo>
                  <a:lnTo>
                    <a:pt x="907897" y="179082"/>
                  </a:lnTo>
                  <a:lnTo>
                    <a:pt x="919515" y="176737"/>
                  </a:lnTo>
                  <a:lnTo>
                    <a:pt x="929001" y="170341"/>
                  </a:lnTo>
                  <a:lnTo>
                    <a:pt x="935397" y="160855"/>
                  </a:lnTo>
                  <a:lnTo>
                    <a:pt x="937742" y="149237"/>
                  </a:lnTo>
                  <a:lnTo>
                    <a:pt x="937742" y="29844"/>
                  </a:lnTo>
                  <a:lnTo>
                    <a:pt x="935397" y="18227"/>
                  </a:lnTo>
                  <a:lnTo>
                    <a:pt x="929001" y="8740"/>
                  </a:lnTo>
                  <a:lnTo>
                    <a:pt x="919515" y="2345"/>
                  </a:lnTo>
                  <a:lnTo>
                    <a:pt x="9078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807439" y="2747256"/>
            <a:ext cx="8496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5" b="1">
                <a:latin typeface="Microsoft YaHei"/>
                <a:cs typeface="Microsoft YaHei"/>
              </a:rPr>
              <a:t>基站/终端样机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2734817" y="3141738"/>
            <a:ext cx="1145540" cy="307975"/>
            <a:chOff x="2734817" y="3141738"/>
            <a:chExt cx="1145540" cy="307975"/>
          </a:xfrm>
        </p:grpSpPr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4629" y="3155441"/>
              <a:ext cx="1066037" cy="29413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34817" y="3141738"/>
              <a:ext cx="1145285" cy="281926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795681" y="3173287"/>
              <a:ext cx="984250" cy="212725"/>
            </a:xfrm>
            <a:custGeom>
              <a:avLst/>
              <a:gdLst/>
              <a:ahLst/>
              <a:cxnLst/>
              <a:rect l="l" t="t" r="r" b="b"/>
              <a:pathLst>
                <a:path w="984250" h="212725">
                  <a:moveTo>
                    <a:pt x="948715" y="0"/>
                  </a:moveTo>
                  <a:lnTo>
                    <a:pt x="35369" y="0"/>
                  </a:lnTo>
                  <a:lnTo>
                    <a:pt x="21602" y="2779"/>
                  </a:lnTo>
                  <a:lnTo>
                    <a:pt x="10360" y="10360"/>
                  </a:lnTo>
                  <a:lnTo>
                    <a:pt x="2779" y="21602"/>
                  </a:lnTo>
                  <a:lnTo>
                    <a:pt x="0" y="35369"/>
                  </a:lnTo>
                  <a:lnTo>
                    <a:pt x="0" y="176822"/>
                  </a:lnTo>
                  <a:lnTo>
                    <a:pt x="2779" y="190588"/>
                  </a:lnTo>
                  <a:lnTo>
                    <a:pt x="10360" y="201831"/>
                  </a:lnTo>
                  <a:lnTo>
                    <a:pt x="21602" y="209411"/>
                  </a:lnTo>
                  <a:lnTo>
                    <a:pt x="35369" y="212191"/>
                  </a:lnTo>
                  <a:lnTo>
                    <a:pt x="948715" y="212191"/>
                  </a:lnTo>
                  <a:lnTo>
                    <a:pt x="962482" y="209411"/>
                  </a:lnTo>
                  <a:lnTo>
                    <a:pt x="973724" y="201831"/>
                  </a:lnTo>
                  <a:lnTo>
                    <a:pt x="981305" y="190588"/>
                  </a:lnTo>
                  <a:lnTo>
                    <a:pt x="984084" y="176822"/>
                  </a:lnTo>
                  <a:lnTo>
                    <a:pt x="984084" y="35369"/>
                  </a:lnTo>
                  <a:lnTo>
                    <a:pt x="981305" y="21602"/>
                  </a:lnTo>
                  <a:lnTo>
                    <a:pt x="973724" y="10360"/>
                  </a:lnTo>
                  <a:lnTo>
                    <a:pt x="962482" y="2779"/>
                  </a:lnTo>
                  <a:lnTo>
                    <a:pt x="9487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2843098" y="3181341"/>
            <a:ext cx="889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5" b="1">
                <a:latin typeface="Microsoft YaHei"/>
                <a:cs typeface="Microsoft YaHei"/>
              </a:rPr>
              <a:t>基站/终端样机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143250" y="2728721"/>
            <a:ext cx="2188845" cy="306705"/>
            <a:chOff x="3143250" y="2728721"/>
            <a:chExt cx="2188845" cy="306705"/>
          </a:xfrm>
        </p:grpSpPr>
        <p:pic>
          <p:nvPicPr>
            <p:cNvPr id="49" name="object 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3250" y="2734055"/>
              <a:ext cx="2188463" cy="30098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65625" y="2728721"/>
              <a:ext cx="781811" cy="272795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3184514" y="2751951"/>
              <a:ext cx="2106295" cy="219075"/>
            </a:xfrm>
            <a:custGeom>
              <a:avLst/>
              <a:gdLst/>
              <a:ahLst/>
              <a:cxnLst/>
              <a:rect l="l" t="t" r="r" b="b"/>
              <a:pathLst>
                <a:path w="2106295" h="219075">
                  <a:moveTo>
                    <a:pt x="2069490" y="0"/>
                  </a:moveTo>
                  <a:lnTo>
                    <a:pt x="36449" y="0"/>
                  </a:lnTo>
                  <a:lnTo>
                    <a:pt x="22261" y="2864"/>
                  </a:lnTo>
                  <a:lnTo>
                    <a:pt x="10675" y="10675"/>
                  </a:lnTo>
                  <a:lnTo>
                    <a:pt x="2864" y="22261"/>
                  </a:lnTo>
                  <a:lnTo>
                    <a:pt x="0" y="36449"/>
                  </a:lnTo>
                  <a:lnTo>
                    <a:pt x="0" y="182245"/>
                  </a:lnTo>
                  <a:lnTo>
                    <a:pt x="2864" y="196432"/>
                  </a:lnTo>
                  <a:lnTo>
                    <a:pt x="10675" y="208018"/>
                  </a:lnTo>
                  <a:lnTo>
                    <a:pt x="22261" y="215829"/>
                  </a:lnTo>
                  <a:lnTo>
                    <a:pt x="36449" y="218694"/>
                  </a:lnTo>
                  <a:lnTo>
                    <a:pt x="2069490" y="218694"/>
                  </a:lnTo>
                  <a:lnTo>
                    <a:pt x="2083677" y="215829"/>
                  </a:lnTo>
                  <a:lnTo>
                    <a:pt x="2095263" y="208018"/>
                  </a:lnTo>
                  <a:lnTo>
                    <a:pt x="2103074" y="196432"/>
                  </a:lnTo>
                  <a:lnTo>
                    <a:pt x="2105939" y="182245"/>
                  </a:lnTo>
                  <a:lnTo>
                    <a:pt x="2105939" y="36449"/>
                  </a:lnTo>
                  <a:lnTo>
                    <a:pt x="2103074" y="22261"/>
                  </a:lnTo>
                  <a:lnTo>
                    <a:pt x="2095263" y="10675"/>
                  </a:lnTo>
                  <a:lnTo>
                    <a:pt x="2083677" y="2864"/>
                  </a:lnTo>
                  <a:lnTo>
                    <a:pt x="2069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3970214" y="2767064"/>
            <a:ext cx="5346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5" b="1">
                <a:latin typeface="Microsoft YaHei"/>
                <a:cs typeface="Microsoft YaHei"/>
              </a:rPr>
              <a:t>终端芯片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4264913" y="3149345"/>
            <a:ext cx="1602105" cy="313690"/>
            <a:chOff x="4264913" y="3149345"/>
            <a:chExt cx="1602105" cy="313690"/>
          </a:xfrm>
        </p:grpSpPr>
        <p:pic>
          <p:nvPicPr>
            <p:cNvPr id="54" name="object 5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64913" y="3158489"/>
              <a:ext cx="1601723" cy="304037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77917" y="3149345"/>
              <a:ext cx="815339" cy="28193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4306230" y="3176365"/>
              <a:ext cx="1519555" cy="222250"/>
            </a:xfrm>
            <a:custGeom>
              <a:avLst/>
              <a:gdLst/>
              <a:ahLst/>
              <a:cxnLst/>
              <a:rect l="l" t="t" r="r" b="b"/>
              <a:pathLst>
                <a:path w="1519554" h="222250">
                  <a:moveTo>
                    <a:pt x="1482204" y="0"/>
                  </a:moveTo>
                  <a:lnTo>
                    <a:pt x="36944" y="0"/>
                  </a:lnTo>
                  <a:lnTo>
                    <a:pt x="22561" y="2904"/>
                  </a:lnTo>
                  <a:lnTo>
                    <a:pt x="10818" y="10823"/>
                  </a:lnTo>
                  <a:lnTo>
                    <a:pt x="2902" y="22567"/>
                  </a:lnTo>
                  <a:lnTo>
                    <a:pt x="0" y="36944"/>
                  </a:lnTo>
                  <a:lnTo>
                    <a:pt x="0" y="184696"/>
                  </a:lnTo>
                  <a:lnTo>
                    <a:pt x="2902" y="199078"/>
                  </a:lnTo>
                  <a:lnTo>
                    <a:pt x="10818" y="210821"/>
                  </a:lnTo>
                  <a:lnTo>
                    <a:pt x="22561" y="218737"/>
                  </a:lnTo>
                  <a:lnTo>
                    <a:pt x="36944" y="221640"/>
                  </a:lnTo>
                  <a:lnTo>
                    <a:pt x="1482204" y="221640"/>
                  </a:lnTo>
                  <a:lnTo>
                    <a:pt x="1496581" y="218737"/>
                  </a:lnTo>
                  <a:lnTo>
                    <a:pt x="1508325" y="210821"/>
                  </a:lnTo>
                  <a:lnTo>
                    <a:pt x="1516244" y="199078"/>
                  </a:lnTo>
                  <a:lnTo>
                    <a:pt x="1519148" y="184696"/>
                  </a:lnTo>
                  <a:lnTo>
                    <a:pt x="1519148" y="36944"/>
                  </a:lnTo>
                  <a:lnTo>
                    <a:pt x="1516244" y="22567"/>
                  </a:lnTo>
                  <a:lnTo>
                    <a:pt x="1508325" y="10823"/>
                  </a:lnTo>
                  <a:lnTo>
                    <a:pt x="1496581" y="2904"/>
                  </a:lnTo>
                  <a:lnTo>
                    <a:pt x="14822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4786339" y="3189142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5" b="1">
                <a:latin typeface="Microsoft YaHei"/>
                <a:cs typeface="Microsoft YaHei"/>
              </a:rPr>
              <a:t>终端芯片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4459985" y="2783069"/>
            <a:ext cx="2333625" cy="497840"/>
            <a:chOff x="4459985" y="2783069"/>
            <a:chExt cx="2333625" cy="497840"/>
          </a:xfrm>
        </p:grpSpPr>
        <p:pic>
          <p:nvPicPr>
            <p:cNvPr id="59" name="object 5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42859" y="2783069"/>
              <a:ext cx="155511" cy="160667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9985" y="2967989"/>
              <a:ext cx="2306573" cy="31241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72939" y="2963430"/>
              <a:ext cx="2320288" cy="281926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4501286" y="2985770"/>
            <a:ext cx="2224405" cy="23114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298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35"/>
              </a:spcBef>
            </a:pPr>
            <a:r>
              <a:rPr dirty="0" sz="1050" spc="-20" b="1">
                <a:latin typeface="Microsoft YaHei"/>
                <a:cs typeface="Microsoft YaHei"/>
              </a:rPr>
              <a:t>NSA</a:t>
            </a:r>
            <a:r>
              <a:rPr dirty="0" sz="1050" b="1">
                <a:latin typeface="Microsoft YaHei"/>
                <a:cs typeface="Microsoft YaHei"/>
              </a:rPr>
              <a:t>终端产品（最早</a:t>
            </a:r>
            <a:r>
              <a:rPr dirty="0" sz="1050" spc="-10" b="1">
                <a:latin typeface="Microsoft YaHei"/>
                <a:cs typeface="Microsoft YaHei"/>
              </a:rPr>
              <a:t>2019</a:t>
            </a:r>
            <a:r>
              <a:rPr dirty="0" sz="1050" b="1">
                <a:latin typeface="Microsoft YaHei"/>
                <a:cs typeface="Microsoft YaHei"/>
              </a:rPr>
              <a:t>年</a:t>
            </a:r>
            <a:r>
              <a:rPr dirty="0" sz="1050" spc="-10" b="1">
                <a:latin typeface="Microsoft YaHei"/>
                <a:cs typeface="Microsoft YaHei"/>
              </a:rPr>
              <a:t>4</a:t>
            </a:r>
            <a:r>
              <a:rPr dirty="0" sz="1050" b="1">
                <a:latin typeface="Microsoft YaHei"/>
                <a:cs typeface="Microsoft YaHei"/>
              </a:rPr>
              <a:t>月</a:t>
            </a:r>
            <a:r>
              <a:rPr dirty="0" sz="1050" spc="-50" b="1">
                <a:latin typeface="Microsoft YaHei"/>
                <a:cs typeface="Microsoft YaHei"/>
              </a:rPr>
              <a:t>）</a:t>
            </a:r>
            <a:endParaRPr sz="1050">
              <a:latin typeface="Microsoft YaHei"/>
              <a:cs typeface="Microsoft YaHei"/>
            </a:endParaRPr>
          </a:p>
        </p:txBody>
      </p:sp>
      <p:pic>
        <p:nvPicPr>
          <p:cNvPr id="63" name="object 6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37653" y="3200300"/>
            <a:ext cx="155511" cy="160667"/>
          </a:xfrm>
          <a:prstGeom prst="rect">
            <a:avLst/>
          </a:prstGeom>
        </p:spPr>
      </p:pic>
      <p:sp>
        <p:nvSpPr>
          <p:cNvPr id="64" name="object 64" descr=""/>
          <p:cNvSpPr txBox="1"/>
          <p:nvPr/>
        </p:nvSpPr>
        <p:spPr>
          <a:xfrm>
            <a:off x="6079719" y="3370854"/>
            <a:ext cx="1833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Microsoft YaHei"/>
                <a:cs typeface="Microsoft YaHei"/>
              </a:rPr>
              <a:t>SA</a:t>
            </a:r>
            <a:r>
              <a:rPr dirty="0" sz="1000">
                <a:latin typeface="Microsoft YaHei"/>
                <a:cs typeface="Microsoft YaHei"/>
              </a:rPr>
              <a:t>终端产品（</a:t>
            </a:r>
            <a:r>
              <a:rPr dirty="0" sz="1000" spc="-5">
                <a:latin typeface="Microsoft YaHei"/>
                <a:cs typeface="Microsoft YaHei"/>
              </a:rPr>
              <a:t>最早</a:t>
            </a:r>
            <a:r>
              <a:rPr dirty="0" sz="1000">
                <a:latin typeface="Microsoft YaHei"/>
                <a:cs typeface="Microsoft YaHei"/>
              </a:rPr>
              <a:t>2019年</a:t>
            </a:r>
            <a:r>
              <a:rPr dirty="0" sz="1000" spc="-10">
                <a:latin typeface="Microsoft YaHei"/>
                <a:cs typeface="Microsoft YaHei"/>
              </a:rPr>
              <a:t>9</a:t>
            </a:r>
            <a:r>
              <a:rPr dirty="0" sz="1000">
                <a:latin typeface="Microsoft YaHei"/>
                <a:cs typeface="Microsoft YaHei"/>
              </a:rPr>
              <a:t>月</a:t>
            </a:r>
            <a:r>
              <a:rPr dirty="0" sz="1000" spc="-50">
                <a:latin typeface="Microsoft YaHei"/>
                <a:cs typeface="Microsoft YaHei"/>
              </a:rPr>
              <a:t>）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839724" y="2716542"/>
            <a:ext cx="958850" cy="315595"/>
            <a:chOff x="839724" y="2716542"/>
            <a:chExt cx="958850" cy="315595"/>
          </a:xfrm>
        </p:grpSpPr>
        <p:pic>
          <p:nvPicPr>
            <p:cNvPr id="66" name="object 6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3825" y="2722625"/>
              <a:ext cx="811529" cy="309371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9724" y="2716542"/>
              <a:ext cx="958583" cy="28192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935054" y="2740493"/>
              <a:ext cx="729615" cy="227965"/>
            </a:xfrm>
            <a:custGeom>
              <a:avLst/>
              <a:gdLst/>
              <a:ahLst/>
              <a:cxnLst/>
              <a:rect l="l" t="t" r="r" b="b"/>
              <a:pathLst>
                <a:path w="729614" h="227964">
                  <a:moveTo>
                    <a:pt x="642124" y="0"/>
                  </a:moveTo>
                  <a:lnTo>
                    <a:pt x="86868" y="0"/>
                  </a:lnTo>
                  <a:lnTo>
                    <a:pt x="53053" y="6825"/>
                  </a:lnTo>
                  <a:lnTo>
                    <a:pt x="25441" y="25441"/>
                  </a:lnTo>
                  <a:lnTo>
                    <a:pt x="6825" y="53053"/>
                  </a:lnTo>
                  <a:lnTo>
                    <a:pt x="0" y="86868"/>
                  </a:lnTo>
                  <a:lnTo>
                    <a:pt x="0" y="140512"/>
                  </a:lnTo>
                  <a:lnTo>
                    <a:pt x="6825" y="174329"/>
                  </a:lnTo>
                  <a:lnTo>
                    <a:pt x="25441" y="201945"/>
                  </a:lnTo>
                  <a:lnTo>
                    <a:pt x="53053" y="220565"/>
                  </a:lnTo>
                  <a:lnTo>
                    <a:pt x="86868" y="227393"/>
                  </a:lnTo>
                  <a:lnTo>
                    <a:pt x="642124" y="227393"/>
                  </a:lnTo>
                  <a:lnTo>
                    <a:pt x="675941" y="220565"/>
                  </a:lnTo>
                  <a:lnTo>
                    <a:pt x="703557" y="201945"/>
                  </a:lnTo>
                  <a:lnTo>
                    <a:pt x="722177" y="174329"/>
                  </a:lnTo>
                  <a:lnTo>
                    <a:pt x="729005" y="140512"/>
                  </a:lnTo>
                  <a:lnTo>
                    <a:pt x="729005" y="86868"/>
                  </a:lnTo>
                  <a:lnTo>
                    <a:pt x="722177" y="53053"/>
                  </a:lnTo>
                  <a:lnTo>
                    <a:pt x="703557" y="25441"/>
                  </a:lnTo>
                  <a:lnTo>
                    <a:pt x="675941" y="6825"/>
                  </a:lnTo>
                  <a:lnTo>
                    <a:pt x="642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948557" y="2756142"/>
            <a:ext cx="7016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3.5G</a:t>
            </a:r>
            <a:r>
              <a:rPr dirty="0" sz="1050" spc="265" b="1">
                <a:latin typeface="Microsoft YaHei"/>
                <a:cs typeface="Microsoft YaHei"/>
              </a:rPr>
              <a:t> </a:t>
            </a:r>
            <a:r>
              <a:rPr dirty="0" sz="1050" spc="-25" b="1">
                <a:latin typeface="Microsoft YaHei"/>
                <a:cs typeface="Microsoft YaHei"/>
              </a:rPr>
              <a:t>NSA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893825" y="3137915"/>
            <a:ext cx="862965" cy="311785"/>
            <a:chOff x="893825" y="3137915"/>
            <a:chExt cx="862965" cy="311785"/>
          </a:xfrm>
        </p:grpSpPr>
        <p:pic>
          <p:nvPicPr>
            <p:cNvPr id="71" name="object 7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3825" y="3147059"/>
              <a:ext cx="840485" cy="302513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0589" y="3137915"/>
              <a:ext cx="845819" cy="281939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935054" y="3165210"/>
              <a:ext cx="758190" cy="220345"/>
            </a:xfrm>
            <a:custGeom>
              <a:avLst/>
              <a:gdLst/>
              <a:ahLst/>
              <a:cxnLst/>
              <a:rect l="l" t="t" r="r" b="b"/>
              <a:pathLst>
                <a:path w="758189" h="220345">
                  <a:moveTo>
                    <a:pt x="688708" y="0"/>
                  </a:moveTo>
                  <a:lnTo>
                    <a:pt x="69176" y="0"/>
                  </a:lnTo>
                  <a:lnTo>
                    <a:pt x="42251" y="5436"/>
                  </a:lnTo>
                  <a:lnTo>
                    <a:pt x="20262" y="20262"/>
                  </a:lnTo>
                  <a:lnTo>
                    <a:pt x="5436" y="42251"/>
                  </a:lnTo>
                  <a:lnTo>
                    <a:pt x="0" y="69176"/>
                  </a:lnTo>
                  <a:lnTo>
                    <a:pt x="0" y="151091"/>
                  </a:lnTo>
                  <a:lnTo>
                    <a:pt x="5436" y="178017"/>
                  </a:lnTo>
                  <a:lnTo>
                    <a:pt x="20262" y="200005"/>
                  </a:lnTo>
                  <a:lnTo>
                    <a:pt x="42251" y="214832"/>
                  </a:lnTo>
                  <a:lnTo>
                    <a:pt x="69176" y="220268"/>
                  </a:lnTo>
                  <a:lnTo>
                    <a:pt x="688708" y="220268"/>
                  </a:lnTo>
                  <a:lnTo>
                    <a:pt x="715638" y="214832"/>
                  </a:lnTo>
                  <a:lnTo>
                    <a:pt x="737627" y="200005"/>
                  </a:lnTo>
                  <a:lnTo>
                    <a:pt x="752450" y="178017"/>
                  </a:lnTo>
                  <a:lnTo>
                    <a:pt x="757885" y="151091"/>
                  </a:lnTo>
                  <a:lnTo>
                    <a:pt x="757885" y="69176"/>
                  </a:lnTo>
                  <a:lnTo>
                    <a:pt x="752450" y="42251"/>
                  </a:lnTo>
                  <a:lnTo>
                    <a:pt x="737627" y="20262"/>
                  </a:lnTo>
                  <a:lnTo>
                    <a:pt x="715638" y="5436"/>
                  </a:lnTo>
                  <a:lnTo>
                    <a:pt x="68870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1018912" y="3177301"/>
            <a:ext cx="5892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3.5G</a:t>
            </a:r>
            <a:r>
              <a:rPr dirty="0" sz="1050" spc="265" b="1">
                <a:latin typeface="Microsoft YaHei"/>
                <a:cs typeface="Microsoft YaHei"/>
              </a:rPr>
              <a:t> </a:t>
            </a:r>
            <a:r>
              <a:rPr dirty="0" sz="1050" spc="-35" b="1">
                <a:latin typeface="Microsoft YaHei"/>
                <a:cs typeface="Microsoft YaHei"/>
              </a:rPr>
              <a:t>SA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366348" y="2179609"/>
            <a:ext cx="5010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Microsoft YaHei"/>
                <a:cs typeface="Microsoft YaHei"/>
              </a:rPr>
              <a:t>2018.Q2</a:t>
            </a:r>
            <a:endParaRPr sz="950">
              <a:latin typeface="Microsoft YaHei"/>
              <a:cs typeface="Microsoft YaHei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3274314" y="4091177"/>
            <a:ext cx="2109470" cy="311785"/>
            <a:chOff x="3274314" y="4091177"/>
            <a:chExt cx="2109470" cy="311785"/>
          </a:xfrm>
        </p:grpSpPr>
        <p:pic>
          <p:nvPicPr>
            <p:cNvPr id="77" name="object 7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74314" y="4101845"/>
              <a:ext cx="2109215" cy="300989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76471" y="4091177"/>
              <a:ext cx="1145285" cy="281939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3315641" y="4119919"/>
              <a:ext cx="2026920" cy="219075"/>
            </a:xfrm>
            <a:custGeom>
              <a:avLst/>
              <a:gdLst/>
              <a:ahLst/>
              <a:cxnLst/>
              <a:rect l="l" t="t" r="r" b="b"/>
              <a:pathLst>
                <a:path w="2026920" h="219075">
                  <a:moveTo>
                    <a:pt x="1990242" y="0"/>
                  </a:moveTo>
                  <a:lnTo>
                    <a:pt x="36436" y="0"/>
                  </a:lnTo>
                  <a:lnTo>
                    <a:pt x="22250" y="2864"/>
                  </a:lnTo>
                  <a:lnTo>
                    <a:pt x="10669" y="10674"/>
                  </a:lnTo>
                  <a:lnTo>
                    <a:pt x="2862" y="22256"/>
                  </a:lnTo>
                  <a:lnTo>
                    <a:pt x="0" y="36436"/>
                  </a:lnTo>
                  <a:lnTo>
                    <a:pt x="0" y="182168"/>
                  </a:lnTo>
                  <a:lnTo>
                    <a:pt x="2862" y="196348"/>
                  </a:lnTo>
                  <a:lnTo>
                    <a:pt x="10669" y="207930"/>
                  </a:lnTo>
                  <a:lnTo>
                    <a:pt x="22250" y="215740"/>
                  </a:lnTo>
                  <a:lnTo>
                    <a:pt x="36436" y="218605"/>
                  </a:lnTo>
                  <a:lnTo>
                    <a:pt x="1990242" y="218605"/>
                  </a:lnTo>
                  <a:lnTo>
                    <a:pt x="2004420" y="215740"/>
                  </a:lnTo>
                  <a:lnTo>
                    <a:pt x="2015997" y="207930"/>
                  </a:lnTo>
                  <a:lnTo>
                    <a:pt x="2023803" y="196348"/>
                  </a:lnTo>
                  <a:lnTo>
                    <a:pt x="2026666" y="182168"/>
                  </a:lnTo>
                  <a:lnTo>
                    <a:pt x="2026666" y="36436"/>
                  </a:lnTo>
                  <a:lnTo>
                    <a:pt x="2023803" y="22256"/>
                  </a:lnTo>
                  <a:lnTo>
                    <a:pt x="2015998" y="10674"/>
                  </a:lnTo>
                  <a:lnTo>
                    <a:pt x="2004420" y="2864"/>
                  </a:lnTo>
                  <a:lnTo>
                    <a:pt x="19902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3884667" y="4131178"/>
            <a:ext cx="889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5" b="1">
                <a:latin typeface="Microsoft YaHei"/>
                <a:cs typeface="Microsoft YaHei"/>
              </a:rPr>
              <a:t>基站/终端样机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4386833" y="3753611"/>
            <a:ext cx="1602105" cy="308610"/>
            <a:chOff x="4386833" y="3753611"/>
            <a:chExt cx="1602105" cy="308610"/>
          </a:xfrm>
        </p:grpSpPr>
        <p:pic>
          <p:nvPicPr>
            <p:cNvPr id="82" name="object 8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86833" y="3766565"/>
              <a:ext cx="1601723" cy="295655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99837" y="3753611"/>
              <a:ext cx="815339" cy="281939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4427984" y="3784832"/>
              <a:ext cx="1519555" cy="213360"/>
            </a:xfrm>
            <a:custGeom>
              <a:avLst/>
              <a:gdLst/>
              <a:ahLst/>
              <a:cxnLst/>
              <a:rect l="l" t="t" r="r" b="b"/>
              <a:pathLst>
                <a:path w="1519554" h="213360">
                  <a:moveTo>
                    <a:pt x="1483588" y="0"/>
                  </a:moveTo>
                  <a:lnTo>
                    <a:pt x="35560" y="0"/>
                  </a:lnTo>
                  <a:lnTo>
                    <a:pt x="21715" y="2795"/>
                  </a:lnTo>
                  <a:lnTo>
                    <a:pt x="10412" y="10417"/>
                  </a:lnTo>
                  <a:lnTo>
                    <a:pt x="2793" y="21720"/>
                  </a:lnTo>
                  <a:lnTo>
                    <a:pt x="0" y="35559"/>
                  </a:lnTo>
                  <a:lnTo>
                    <a:pt x="0" y="177774"/>
                  </a:lnTo>
                  <a:lnTo>
                    <a:pt x="2793" y="191619"/>
                  </a:lnTo>
                  <a:lnTo>
                    <a:pt x="10412" y="202922"/>
                  </a:lnTo>
                  <a:lnTo>
                    <a:pt x="21715" y="210541"/>
                  </a:lnTo>
                  <a:lnTo>
                    <a:pt x="35560" y="213334"/>
                  </a:lnTo>
                  <a:lnTo>
                    <a:pt x="1483588" y="213334"/>
                  </a:lnTo>
                  <a:lnTo>
                    <a:pt x="1497428" y="210541"/>
                  </a:lnTo>
                  <a:lnTo>
                    <a:pt x="1508731" y="202922"/>
                  </a:lnTo>
                  <a:lnTo>
                    <a:pt x="1516353" y="191619"/>
                  </a:lnTo>
                  <a:lnTo>
                    <a:pt x="1519148" y="177774"/>
                  </a:lnTo>
                  <a:lnTo>
                    <a:pt x="1519148" y="35559"/>
                  </a:lnTo>
                  <a:lnTo>
                    <a:pt x="1516353" y="21720"/>
                  </a:lnTo>
                  <a:lnTo>
                    <a:pt x="1508731" y="10417"/>
                  </a:lnTo>
                  <a:lnTo>
                    <a:pt x="1497428" y="2795"/>
                  </a:lnTo>
                  <a:lnTo>
                    <a:pt x="14835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4908092" y="3793456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5" b="1">
                <a:latin typeface="Microsoft YaHei"/>
                <a:cs typeface="Microsoft YaHei"/>
              </a:rPr>
              <a:t>终端芯片</a:t>
            </a:r>
            <a:endParaRPr sz="1050">
              <a:latin typeface="Microsoft YaHei"/>
              <a:cs typeface="Microsoft YaHei"/>
            </a:endParaRPr>
          </a:p>
        </p:txBody>
      </p:sp>
      <p:pic>
        <p:nvPicPr>
          <p:cNvPr id="86" name="object 8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12974" y="3826566"/>
            <a:ext cx="155511" cy="160667"/>
          </a:xfrm>
          <a:prstGeom prst="rect">
            <a:avLst/>
          </a:prstGeom>
        </p:spPr>
      </p:pic>
      <p:sp>
        <p:nvSpPr>
          <p:cNvPr id="87" name="object 87" descr=""/>
          <p:cNvSpPr txBox="1"/>
          <p:nvPr/>
        </p:nvSpPr>
        <p:spPr>
          <a:xfrm>
            <a:off x="6877519" y="3807552"/>
            <a:ext cx="1574800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10">
                <a:latin typeface="Microsoft YaHei"/>
                <a:cs typeface="Microsoft YaHei"/>
              </a:rPr>
              <a:t>SA</a:t>
            </a:r>
            <a:r>
              <a:rPr dirty="0" sz="1000">
                <a:latin typeface="Microsoft YaHei"/>
                <a:cs typeface="Microsoft YaHei"/>
              </a:rPr>
              <a:t>终端产品（</a:t>
            </a:r>
            <a:r>
              <a:rPr dirty="0" sz="1000" spc="-5">
                <a:latin typeface="Microsoft YaHei"/>
                <a:cs typeface="Microsoft YaHei"/>
              </a:rPr>
              <a:t>最早</a:t>
            </a:r>
            <a:r>
              <a:rPr dirty="0" sz="1000">
                <a:latin typeface="Microsoft YaHei"/>
                <a:cs typeface="Microsoft YaHei"/>
              </a:rPr>
              <a:t>19年</a:t>
            </a:r>
            <a:r>
              <a:rPr dirty="0" sz="1000" spc="-25">
                <a:latin typeface="Microsoft YaHei"/>
                <a:cs typeface="Microsoft YaHei"/>
              </a:rPr>
              <a:t>12</a:t>
            </a:r>
            <a:endParaRPr sz="10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latin typeface="Microsoft YaHei"/>
                <a:cs typeface="Microsoft YaHei"/>
              </a:rPr>
              <a:t>月，大力推动10月可推出</a:t>
            </a:r>
            <a:r>
              <a:rPr dirty="0" sz="1000" spc="-50">
                <a:latin typeface="Microsoft YaHei"/>
                <a:cs typeface="Microsoft YaHei"/>
              </a:rPr>
              <a:t>）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908303" y="3944873"/>
            <a:ext cx="815340" cy="311150"/>
            <a:chOff x="908303" y="3944873"/>
            <a:chExt cx="815340" cy="311150"/>
          </a:xfrm>
        </p:grpSpPr>
        <p:pic>
          <p:nvPicPr>
            <p:cNvPr id="89" name="object 8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8303" y="3956303"/>
              <a:ext cx="785621" cy="299465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7447" y="3944873"/>
              <a:ext cx="806195" cy="281939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949793" y="3974086"/>
              <a:ext cx="702945" cy="218440"/>
            </a:xfrm>
            <a:custGeom>
              <a:avLst/>
              <a:gdLst/>
              <a:ahLst/>
              <a:cxnLst/>
              <a:rect l="l" t="t" r="r" b="b"/>
              <a:pathLst>
                <a:path w="702944" h="218439">
                  <a:moveTo>
                    <a:pt x="666496" y="0"/>
                  </a:moveTo>
                  <a:lnTo>
                    <a:pt x="36309" y="0"/>
                  </a:lnTo>
                  <a:lnTo>
                    <a:pt x="22175" y="2853"/>
                  </a:lnTo>
                  <a:lnTo>
                    <a:pt x="10634" y="10634"/>
                  </a:lnTo>
                  <a:lnTo>
                    <a:pt x="2853" y="22175"/>
                  </a:lnTo>
                  <a:lnTo>
                    <a:pt x="0" y="36309"/>
                  </a:lnTo>
                  <a:lnTo>
                    <a:pt x="0" y="181533"/>
                  </a:lnTo>
                  <a:lnTo>
                    <a:pt x="2853" y="195667"/>
                  </a:lnTo>
                  <a:lnTo>
                    <a:pt x="10634" y="207208"/>
                  </a:lnTo>
                  <a:lnTo>
                    <a:pt x="22175" y="214989"/>
                  </a:lnTo>
                  <a:lnTo>
                    <a:pt x="36309" y="217843"/>
                  </a:lnTo>
                  <a:lnTo>
                    <a:pt x="666496" y="217843"/>
                  </a:lnTo>
                  <a:lnTo>
                    <a:pt x="680629" y="214989"/>
                  </a:lnTo>
                  <a:lnTo>
                    <a:pt x="692170" y="207208"/>
                  </a:lnTo>
                  <a:lnTo>
                    <a:pt x="699951" y="195667"/>
                  </a:lnTo>
                  <a:lnTo>
                    <a:pt x="702805" y="181533"/>
                  </a:lnTo>
                  <a:lnTo>
                    <a:pt x="702805" y="36309"/>
                  </a:lnTo>
                  <a:lnTo>
                    <a:pt x="699951" y="22175"/>
                  </a:lnTo>
                  <a:lnTo>
                    <a:pt x="692170" y="10634"/>
                  </a:lnTo>
                  <a:lnTo>
                    <a:pt x="680629" y="2853"/>
                  </a:lnTo>
                  <a:lnTo>
                    <a:pt x="6664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1025892" y="3984964"/>
            <a:ext cx="5492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Microsoft YaHei"/>
                <a:cs typeface="Microsoft YaHei"/>
              </a:rPr>
              <a:t>2.6G</a:t>
            </a:r>
            <a:r>
              <a:rPr dirty="0" sz="1050" spc="-45" b="1">
                <a:latin typeface="Microsoft YaHei"/>
                <a:cs typeface="Microsoft YaHei"/>
              </a:rPr>
              <a:t> </a:t>
            </a:r>
            <a:r>
              <a:rPr dirty="0" sz="1050" spc="-35" b="1">
                <a:latin typeface="Microsoft YaHei"/>
                <a:cs typeface="Microsoft YaHei"/>
              </a:rPr>
              <a:t>SA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28600" y="895350"/>
            <a:ext cx="8611235" cy="982344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90805" marR="1328420">
              <a:lnSpc>
                <a:spcPct val="150000"/>
              </a:lnSpc>
              <a:spcBef>
                <a:spcPts val="765"/>
              </a:spcBef>
            </a:pPr>
            <a:r>
              <a:rPr dirty="0" sz="1050" b="1">
                <a:latin typeface="Microsoft YaHei"/>
                <a:cs typeface="Microsoft YaHei"/>
              </a:rPr>
              <a:t>产业进度上，若近期明确</a:t>
            </a:r>
            <a:r>
              <a:rPr dirty="0" sz="1050" spc="-10" b="1">
                <a:latin typeface="Microsoft YaHei"/>
                <a:cs typeface="Microsoft YaHei"/>
              </a:rPr>
              <a:t>2.6GHz</a:t>
            </a:r>
            <a:r>
              <a:rPr dirty="0" sz="1050" b="1">
                <a:latin typeface="Microsoft YaHei"/>
                <a:cs typeface="Microsoft YaHei"/>
              </a:rPr>
              <a:t>详细需求（频谱、产品规格和指标等</a:t>
            </a:r>
            <a:r>
              <a:rPr dirty="0" sz="1050" spc="-10" b="1">
                <a:latin typeface="Microsoft YaHei"/>
                <a:cs typeface="Microsoft YaHei"/>
              </a:rPr>
              <a:t>），2.6GHz</a:t>
            </a:r>
            <a:r>
              <a:rPr dirty="0" sz="1050" b="1">
                <a:latin typeface="Microsoft YaHei"/>
                <a:cs typeface="Microsoft YaHei"/>
              </a:rPr>
              <a:t>和</a:t>
            </a:r>
            <a:r>
              <a:rPr dirty="0" sz="1050" spc="-10" b="1">
                <a:latin typeface="Microsoft YaHei"/>
                <a:cs typeface="Microsoft YaHei"/>
              </a:rPr>
              <a:t>3.5GHz</a:t>
            </a:r>
            <a:r>
              <a:rPr dirty="0" sz="1050" spc="-5" b="1">
                <a:latin typeface="Microsoft YaHei"/>
                <a:cs typeface="Microsoft YaHei"/>
              </a:rPr>
              <a:t>频段端到端成熟度对比如下：</a:t>
            </a:r>
            <a:r>
              <a:rPr dirty="0" sz="1050" b="1">
                <a:latin typeface="Microsoft YaHei"/>
                <a:cs typeface="Microsoft YaHei"/>
              </a:rPr>
              <a:t>若采用</a:t>
            </a:r>
            <a:r>
              <a:rPr dirty="0" sz="1050" spc="-20" b="1">
                <a:latin typeface="Microsoft YaHei"/>
                <a:cs typeface="Microsoft YaHei"/>
              </a:rPr>
              <a:t>NSA</a:t>
            </a:r>
            <a:r>
              <a:rPr dirty="0" sz="1050" spc="-5" b="1">
                <a:latin typeface="Microsoft YaHei"/>
                <a:cs typeface="Microsoft YaHei"/>
              </a:rPr>
              <a:t>方案，</a:t>
            </a:r>
            <a:r>
              <a:rPr dirty="0" sz="1050" spc="-10" b="1">
                <a:latin typeface="Microsoft YaHei"/>
                <a:cs typeface="Microsoft YaHei"/>
              </a:rPr>
              <a:t>2.6GHz</a:t>
            </a:r>
            <a:r>
              <a:rPr dirty="0" sz="1050" b="1">
                <a:latin typeface="Microsoft YaHei"/>
                <a:cs typeface="Microsoft YaHei"/>
              </a:rPr>
              <a:t>整体比</a:t>
            </a:r>
            <a:r>
              <a:rPr dirty="0" sz="1050" spc="-10" b="1">
                <a:latin typeface="Microsoft YaHei"/>
                <a:cs typeface="Microsoft YaHei"/>
              </a:rPr>
              <a:t>3.5GHz</a:t>
            </a:r>
            <a:r>
              <a:rPr dirty="0" sz="1050" b="1">
                <a:latin typeface="Microsoft YaHei"/>
                <a:cs typeface="Microsoft YaHei"/>
              </a:rPr>
              <a:t>晚</a:t>
            </a:r>
            <a:r>
              <a:rPr dirty="0" sz="1050" spc="-10" b="1">
                <a:latin typeface="Microsoft YaHei"/>
                <a:cs typeface="Microsoft YaHei"/>
              </a:rPr>
              <a:t>1</a:t>
            </a:r>
            <a:r>
              <a:rPr dirty="0" sz="1050" b="1">
                <a:latin typeface="Microsoft YaHei"/>
                <a:cs typeface="Microsoft YaHei"/>
              </a:rPr>
              <a:t>个季度，预计</a:t>
            </a:r>
            <a:r>
              <a:rPr dirty="0" sz="1050" spc="-10" b="1">
                <a:latin typeface="Microsoft YaHei"/>
                <a:cs typeface="Microsoft YaHei"/>
              </a:rPr>
              <a:t>19</a:t>
            </a:r>
            <a:r>
              <a:rPr dirty="0" sz="1050" b="1">
                <a:latin typeface="Microsoft YaHei"/>
                <a:cs typeface="Microsoft YaHei"/>
              </a:rPr>
              <a:t>年</a:t>
            </a:r>
            <a:r>
              <a:rPr dirty="0" sz="1050" spc="-10" b="1">
                <a:latin typeface="Microsoft YaHei"/>
                <a:cs typeface="Microsoft YaHei"/>
              </a:rPr>
              <a:t>6月具备预商用条件</a:t>
            </a:r>
            <a:endParaRPr sz="1050">
              <a:latin typeface="Microsoft YaHei"/>
              <a:cs typeface="Microsoft YaHei"/>
            </a:endParaRPr>
          </a:p>
          <a:p>
            <a:pPr marL="90805">
              <a:lnSpc>
                <a:spcPct val="100000"/>
              </a:lnSpc>
              <a:spcBef>
                <a:spcPts val="630"/>
              </a:spcBef>
            </a:pPr>
            <a:r>
              <a:rPr dirty="0" sz="1050" b="1">
                <a:latin typeface="Microsoft YaHei"/>
                <a:cs typeface="Microsoft YaHei"/>
              </a:rPr>
              <a:t>若采用</a:t>
            </a:r>
            <a:r>
              <a:rPr dirty="0" sz="1050" spc="-10" b="1">
                <a:latin typeface="Microsoft YaHei"/>
                <a:cs typeface="Microsoft YaHei"/>
              </a:rPr>
              <a:t>SA</a:t>
            </a:r>
            <a:r>
              <a:rPr dirty="0" sz="1050" spc="-5" b="1">
                <a:latin typeface="Microsoft YaHei"/>
                <a:cs typeface="Microsoft YaHei"/>
              </a:rPr>
              <a:t>方案，</a:t>
            </a:r>
            <a:r>
              <a:rPr dirty="0" sz="1050" spc="-10" b="1">
                <a:latin typeface="Microsoft YaHei"/>
                <a:cs typeface="Microsoft YaHei"/>
              </a:rPr>
              <a:t>2.6GHz</a:t>
            </a:r>
            <a:r>
              <a:rPr dirty="0" sz="1050" b="1">
                <a:latin typeface="Microsoft YaHei"/>
                <a:cs typeface="Microsoft YaHei"/>
              </a:rPr>
              <a:t>整体比</a:t>
            </a:r>
            <a:r>
              <a:rPr dirty="0" sz="1050" spc="-10" b="1">
                <a:latin typeface="Microsoft YaHei"/>
                <a:cs typeface="Microsoft YaHei"/>
              </a:rPr>
              <a:t>3.5GHz</a:t>
            </a:r>
            <a:r>
              <a:rPr dirty="0" sz="1050" b="1">
                <a:latin typeface="Microsoft YaHei"/>
                <a:cs typeface="Microsoft YaHei"/>
              </a:rPr>
              <a:t>晚</a:t>
            </a:r>
            <a:r>
              <a:rPr dirty="0" sz="1050" spc="-10" b="1">
                <a:latin typeface="Microsoft YaHei"/>
                <a:cs typeface="Microsoft YaHei"/>
              </a:rPr>
              <a:t>1</a:t>
            </a:r>
            <a:r>
              <a:rPr dirty="0" sz="1050" b="1">
                <a:latin typeface="Microsoft YaHei"/>
                <a:cs typeface="Microsoft YaHei"/>
              </a:rPr>
              <a:t>个季度，预计</a:t>
            </a:r>
            <a:r>
              <a:rPr dirty="0" sz="1050" spc="-10" b="1">
                <a:latin typeface="Microsoft YaHei"/>
                <a:cs typeface="Microsoft YaHei"/>
              </a:rPr>
              <a:t>19</a:t>
            </a:r>
            <a:r>
              <a:rPr dirty="0" sz="1050" b="1">
                <a:latin typeface="Microsoft YaHei"/>
                <a:cs typeface="Microsoft YaHei"/>
              </a:rPr>
              <a:t>年底具备商用条件，但大力推动可与</a:t>
            </a:r>
            <a:r>
              <a:rPr dirty="0" sz="1050" spc="-10" b="1">
                <a:latin typeface="Microsoft YaHei"/>
                <a:cs typeface="Microsoft YaHei"/>
              </a:rPr>
              <a:t>3.5GHz</a:t>
            </a:r>
            <a:r>
              <a:rPr dirty="0" sz="1050" b="1">
                <a:latin typeface="Microsoft YaHei"/>
                <a:cs typeface="Microsoft YaHei"/>
              </a:rPr>
              <a:t>基本同步</a:t>
            </a:r>
            <a:r>
              <a:rPr dirty="0" sz="1050" spc="-10" b="1">
                <a:latin typeface="Microsoft YaHei"/>
                <a:cs typeface="Microsoft YaHei"/>
              </a:rPr>
              <a:t>（10</a:t>
            </a:r>
            <a:r>
              <a:rPr dirty="0" sz="1050" b="1">
                <a:latin typeface="Microsoft YaHei"/>
                <a:cs typeface="Microsoft YaHei"/>
              </a:rPr>
              <a:t>月</a:t>
            </a:r>
            <a:r>
              <a:rPr dirty="0" sz="1050" spc="-50" b="1">
                <a:latin typeface="Microsoft YaHei"/>
                <a:cs typeface="Microsoft YaHei"/>
              </a:rPr>
              <a:t>）</a:t>
            </a:r>
            <a:endParaRPr sz="10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8746" y="77561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芯片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71493" y="1035861"/>
            <a:ext cx="8375015" cy="1960880"/>
          </a:xfrm>
          <a:custGeom>
            <a:avLst/>
            <a:gdLst/>
            <a:ahLst/>
            <a:cxnLst/>
            <a:rect l="l" t="t" r="r" b="b"/>
            <a:pathLst>
              <a:path w="8375015" h="1960880">
                <a:moveTo>
                  <a:pt x="0" y="326809"/>
                </a:moveTo>
                <a:lnTo>
                  <a:pt x="3543" y="278515"/>
                </a:lnTo>
                <a:lnTo>
                  <a:pt x="13836" y="232422"/>
                </a:lnTo>
                <a:lnTo>
                  <a:pt x="30374" y="189034"/>
                </a:lnTo>
                <a:lnTo>
                  <a:pt x="52650" y="148857"/>
                </a:lnTo>
                <a:lnTo>
                  <a:pt x="80160" y="112398"/>
                </a:lnTo>
                <a:lnTo>
                  <a:pt x="112398" y="80160"/>
                </a:lnTo>
                <a:lnTo>
                  <a:pt x="148857" y="52650"/>
                </a:lnTo>
                <a:lnTo>
                  <a:pt x="189034" y="30374"/>
                </a:lnTo>
                <a:lnTo>
                  <a:pt x="232422" y="13836"/>
                </a:lnTo>
                <a:lnTo>
                  <a:pt x="278515" y="3543"/>
                </a:lnTo>
                <a:lnTo>
                  <a:pt x="326809" y="0"/>
                </a:lnTo>
                <a:lnTo>
                  <a:pt x="8048180" y="0"/>
                </a:lnTo>
                <a:lnTo>
                  <a:pt x="8096474" y="3543"/>
                </a:lnTo>
                <a:lnTo>
                  <a:pt x="8142567" y="13836"/>
                </a:lnTo>
                <a:lnTo>
                  <a:pt x="8185955" y="30374"/>
                </a:lnTo>
                <a:lnTo>
                  <a:pt x="8226131" y="52650"/>
                </a:lnTo>
                <a:lnTo>
                  <a:pt x="8262591" y="80160"/>
                </a:lnTo>
                <a:lnTo>
                  <a:pt x="8294829" y="112398"/>
                </a:lnTo>
                <a:lnTo>
                  <a:pt x="8322338" y="148857"/>
                </a:lnTo>
                <a:lnTo>
                  <a:pt x="8344615" y="189034"/>
                </a:lnTo>
                <a:lnTo>
                  <a:pt x="8361152" y="232422"/>
                </a:lnTo>
                <a:lnTo>
                  <a:pt x="8371446" y="278515"/>
                </a:lnTo>
                <a:lnTo>
                  <a:pt x="8374989" y="326809"/>
                </a:lnTo>
                <a:lnTo>
                  <a:pt x="8374989" y="1633994"/>
                </a:lnTo>
                <a:lnTo>
                  <a:pt x="8371446" y="1682288"/>
                </a:lnTo>
                <a:lnTo>
                  <a:pt x="8361152" y="1728381"/>
                </a:lnTo>
                <a:lnTo>
                  <a:pt x="8344615" y="1771769"/>
                </a:lnTo>
                <a:lnTo>
                  <a:pt x="8322338" y="1811945"/>
                </a:lnTo>
                <a:lnTo>
                  <a:pt x="8294829" y="1848405"/>
                </a:lnTo>
                <a:lnTo>
                  <a:pt x="8262591" y="1880643"/>
                </a:lnTo>
                <a:lnTo>
                  <a:pt x="8226131" y="1908153"/>
                </a:lnTo>
                <a:lnTo>
                  <a:pt x="8185955" y="1930429"/>
                </a:lnTo>
                <a:lnTo>
                  <a:pt x="8142567" y="1946967"/>
                </a:lnTo>
                <a:lnTo>
                  <a:pt x="8096474" y="1957260"/>
                </a:lnTo>
                <a:lnTo>
                  <a:pt x="8048180" y="1960803"/>
                </a:lnTo>
                <a:lnTo>
                  <a:pt x="326809" y="1960803"/>
                </a:lnTo>
                <a:lnTo>
                  <a:pt x="278515" y="1957260"/>
                </a:lnTo>
                <a:lnTo>
                  <a:pt x="232422" y="1946967"/>
                </a:lnTo>
                <a:lnTo>
                  <a:pt x="189034" y="1930429"/>
                </a:lnTo>
                <a:lnTo>
                  <a:pt x="148857" y="1908153"/>
                </a:lnTo>
                <a:lnTo>
                  <a:pt x="112398" y="1880643"/>
                </a:lnTo>
                <a:lnTo>
                  <a:pt x="80160" y="1848405"/>
                </a:lnTo>
                <a:lnTo>
                  <a:pt x="52650" y="1811945"/>
                </a:lnTo>
                <a:lnTo>
                  <a:pt x="30374" y="1771769"/>
                </a:lnTo>
                <a:lnTo>
                  <a:pt x="13836" y="1728381"/>
                </a:lnTo>
                <a:lnTo>
                  <a:pt x="3543" y="1682288"/>
                </a:lnTo>
                <a:lnTo>
                  <a:pt x="0" y="1633994"/>
                </a:lnTo>
                <a:lnTo>
                  <a:pt x="0" y="326809"/>
                </a:lnTo>
                <a:close/>
              </a:path>
            </a:pathLst>
          </a:custGeom>
          <a:ln w="25400">
            <a:solidFill>
              <a:srgbClr val="89A4A7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024583" y="789558"/>
            <a:ext cx="5117465" cy="49275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116839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919"/>
              </a:spcBef>
            </a:pPr>
            <a:r>
              <a:rPr dirty="0" sz="1600">
                <a:latin typeface="Microsoft YaHei"/>
                <a:cs typeface="Microsoft YaHei"/>
              </a:rPr>
              <a:t>多数芯片厂家已经于2019NWC</a:t>
            </a:r>
            <a:r>
              <a:rPr dirty="0" sz="1600" spc="-25">
                <a:latin typeface="Microsoft YaHei"/>
                <a:cs typeface="Microsoft YaHei"/>
              </a:rPr>
              <a:t> 巴展发布终端芯片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08126" y="1251703"/>
            <a:ext cx="6868795" cy="1266190"/>
            <a:chOff x="1208126" y="1251703"/>
            <a:chExt cx="6868795" cy="12661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6570" y="1952917"/>
              <a:ext cx="674992" cy="5254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3299" y="1897049"/>
              <a:ext cx="674999" cy="62062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5651" y="2010130"/>
              <a:ext cx="674995" cy="4110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0667" y="2004377"/>
              <a:ext cx="674987" cy="4225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5626" y="2004377"/>
              <a:ext cx="674991" cy="5132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7661" y="1392520"/>
              <a:ext cx="805423" cy="1748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8150" y="1442911"/>
              <a:ext cx="809993" cy="1757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8126" y="1251703"/>
              <a:ext cx="809999" cy="5345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13174" y="1401310"/>
              <a:ext cx="809993" cy="3321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67498" y="1494962"/>
              <a:ext cx="709317" cy="193118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2679975" y="2695816"/>
            <a:ext cx="592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X50/X55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04357" y="2671279"/>
            <a:ext cx="841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Exynos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5100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82125" y="2665336"/>
            <a:ext cx="708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Helio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M70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23150" y="2665336"/>
            <a:ext cx="807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balong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5000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42615" y="4456036"/>
            <a:ext cx="1069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5G</a:t>
            </a:r>
            <a:r>
              <a:rPr dirty="0" sz="1200">
                <a:latin typeface="SimSun"/>
                <a:cs typeface="SimSun"/>
              </a:rPr>
              <a:t>到</a:t>
            </a:r>
            <a:r>
              <a:rPr dirty="0" sz="1200" spc="-10" b="1">
                <a:latin typeface="Times New Roman"/>
                <a:cs typeface="Times New Roman"/>
              </a:rPr>
              <a:t>2G</a:t>
            </a:r>
            <a:r>
              <a:rPr dirty="0" sz="1200" spc="-25">
                <a:latin typeface="SimSun"/>
                <a:cs typeface="SimSun"/>
              </a:rPr>
              <a:t>多模</a:t>
            </a:r>
            <a:r>
              <a:rPr dirty="0" sz="1200" spc="500">
                <a:latin typeface="SimSun"/>
                <a:cs typeface="SimSun"/>
              </a:rPr>
              <a:t> </a:t>
            </a:r>
            <a:r>
              <a:rPr dirty="0" sz="1200">
                <a:latin typeface="SimSun"/>
                <a:cs typeface="SimSun"/>
              </a:rPr>
              <a:t>毫米波</a:t>
            </a:r>
            <a:r>
              <a:rPr dirty="0" sz="1200" b="1">
                <a:latin typeface="Times New Roman"/>
                <a:cs typeface="Times New Roman"/>
              </a:rPr>
              <a:t>&amp;sub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6G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09951" y="2665331"/>
            <a:ext cx="766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XMM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8060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886762" y="3680486"/>
            <a:ext cx="8060055" cy="0"/>
          </a:xfrm>
          <a:custGeom>
            <a:avLst/>
            <a:gdLst/>
            <a:ahLst/>
            <a:cxnLst/>
            <a:rect l="l" t="t" r="r" b="b"/>
            <a:pathLst>
              <a:path w="8060055" h="0">
                <a:moveTo>
                  <a:pt x="0" y="0"/>
                </a:moveTo>
                <a:lnTo>
                  <a:pt x="8059724" y="0"/>
                </a:lnTo>
              </a:path>
            </a:pathLst>
          </a:custGeom>
          <a:ln w="25400">
            <a:solidFill>
              <a:srgbClr val="B6DCD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86762" y="4353942"/>
            <a:ext cx="8124190" cy="635"/>
          </a:xfrm>
          <a:custGeom>
            <a:avLst/>
            <a:gdLst/>
            <a:ahLst/>
            <a:cxnLst/>
            <a:rect l="l" t="t" r="r" b="b"/>
            <a:pathLst>
              <a:path w="8124190" h="635">
                <a:moveTo>
                  <a:pt x="0" y="584"/>
                </a:moveTo>
                <a:lnTo>
                  <a:pt x="8123897" y="0"/>
                </a:lnTo>
              </a:path>
            </a:pathLst>
          </a:custGeom>
          <a:ln w="25400">
            <a:solidFill>
              <a:srgbClr val="B6DCD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886762" y="5050438"/>
            <a:ext cx="8060055" cy="5715"/>
          </a:xfrm>
          <a:custGeom>
            <a:avLst/>
            <a:gdLst/>
            <a:ahLst/>
            <a:cxnLst/>
            <a:rect l="l" t="t" r="r" b="b"/>
            <a:pathLst>
              <a:path w="8060055" h="5714">
                <a:moveTo>
                  <a:pt x="0" y="5587"/>
                </a:moveTo>
                <a:lnTo>
                  <a:pt x="8059724" y="0"/>
                </a:lnTo>
              </a:path>
            </a:pathLst>
          </a:custGeom>
          <a:ln w="25400">
            <a:solidFill>
              <a:srgbClr val="B6DCD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069883" y="3318154"/>
            <a:ext cx="7905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19</a:t>
            </a:r>
            <a:r>
              <a:rPr dirty="0" sz="1200" spc="-15">
                <a:latin typeface="SimSun"/>
                <a:cs typeface="SimSun"/>
              </a:rPr>
              <a:t>年下半年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21172" y="3939442"/>
            <a:ext cx="485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未商用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435904" y="3189244"/>
            <a:ext cx="1051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X50</a:t>
            </a:r>
            <a:r>
              <a:rPr dirty="0" sz="1200" spc="-10">
                <a:latin typeface="SimSun"/>
                <a:cs typeface="SimSun"/>
              </a:rPr>
              <a:t>：</a:t>
            </a:r>
            <a:r>
              <a:rPr dirty="0" sz="1200" spc="-10" b="1">
                <a:latin typeface="Times New Roman"/>
                <a:cs typeface="Times New Roman"/>
              </a:rPr>
              <a:t>17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b="1">
                <a:latin typeface="Times New Roman"/>
                <a:cs typeface="Times New Roman"/>
              </a:rPr>
              <a:t>10</a:t>
            </a:r>
            <a:r>
              <a:rPr dirty="0" sz="1200" spc="-50">
                <a:latin typeface="SimSun"/>
                <a:cs typeface="SimSun"/>
              </a:rPr>
              <a:t>月 </a:t>
            </a:r>
            <a:r>
              <a:rPr dirty="0" sz="1200" spc="-10" b="1">
                <a:latin typeface="Times New Roman"/>
                <a:cs typeface="Times New Roman"/>
              </a:rPr>
              <a:t>X55:19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b="1">
                <a:latin typeface="Times New Roman"/>
                <a:cs typeface="Times New Roman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409544" y="3838340"/>
            <a:ext cx="1132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X50</a:t>
            </a:r>
            <a:r>
              <a:rPr dirty="0" sz="1200" spc="-20">
                <a:latin typeface="SimSun"/>
                <a:cs typeface="SimSun"/>
              </a:rPr>
              <a:t>已商用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X55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Times New Roman"/>
                <a:cs typeface="Times New Roman"/>
              </a:rPr>
              <a:t>Q3</a:t>
            </a:r>
            <a:r>
              <a:rPr dirty="0" sz="1200" spc="-25">
                <a:latin typeface="SimSun"/>
                <a:cs typeface="SimSun"/>
              </a:rPr>
              <a:t>量产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448360" y="4444847"/>
            <a:ext cx="594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X50</a:t>
            </a:r>
            <a:r>
              <a:rPr dirty="0" sz="1200" spc="-25">
                <a:latin typeface="SimSun"/>
                <a:cs typeface="SimSun"/>
              </a:rPr>
              <a:t>单模</a:t>
            </a:r>
            <a:r>
              <a:rPr dirty="0" sz="1200" spc="-50">
                <a:latin typeface="SimSun"/>
                <a:cs typeface="SimSu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X55</a:t>
            </a:r>
            <a:r>
              <a:rPr dirty="0" sz="1200" spc="-25">
                <a:latin typeface="SimSun"/>
                <a:cs typeface="SimSun"/>
              </a:rPr>
              <a:t>多模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767052" y="4397268"/>
            <a:ext cx="1069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5G</a:t>
            </a:r>
            <a:r>
              <a:rPr dirty="0" sz="1200">
                <a:latin typeface="SimSun"/>
                <a:cs typeface="SimSun"/>
              </a:rPr>
              <a:t>到</a:t>
            </a:r>
            <a:r>
              <a:rPr dirty="0" sz="1200" spc="-10" b="1">
                <a:latin typeface="Times New Roman"/>
                <a:cs typeface="Times New Roman"/>
              </a:rPr>
              <a:t>2G</a:t>
            </a:r>
            <a:r>
              <a:rPr dirty="0" sz="1200" spc="-25">
                <a:latin typeface="SimSun"/>
                <a:cs typeface="SimSun"/>
              </a:rPr>
              <a:t>多模</a:t>
            </a:r>
            <a:r>
              <a:rPr dirty="0" sz="1200" spc="500">
                <a:latin typeface="SimSun"/>
                <a:cs typeface="SimSun"/>
              </a:rPr>
              <a:t> </a:t>
            </a:r>
            <a:r>
              <a:rPr dirty="0" sz="1200">
                <a:latin typeface="SimSun"/>
                <a:cs typeface="SimSun"/>
              </a:rPr>
              <a:t>毫米波</a:t>
            </a:r>
            <a:r>
              <a:rPr dirty="0" sz="1200" b="1">
                <a:latin typeface="Times New Roman"/>
                <a:cs typeface="Times New Roman"/>
              </a:rPr>
              <a:t>&amp;sub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6G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94306" y="3259449"/>
            <a:ext cx="560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18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b="1">
                <a:latin typeface="Times New Roman"/>
                <a:cs typeface="Times New Roman"/>
              </a:rPr>
              <a:t>8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945583" y="3880676"/>
            <a:ext cx="485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已商用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395958" y="4397268"/>
            <a:ext cx="1069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5G</a:t>
            </a:r>
            <a:r>
              <a:rPr dirty="0" sz="1200">
                <a:latin typeface="SimSun"/>
                <a:cs typeface="SimSun"/>
              </a:rPr>
              <a:t>到</a:t>
            </a:r>
            <a:r>
              <a:rPr dirty="0" sz="1200" spc="-10" b="1">
                <a:latin typeface="Times New Roman"/>
                <a:cs typeface="Times New Roman"/>
              </a:rPr>
              <a:t>2G</a:t>
            </a:r>
            <a:r>
              <a:rPr dirty="0" sz="1200" spc="-25">
                <a:latin typeface="SimSun"/>
                <a:cs typeface="SimSun"/>
              </a:rPr>
              <a:t>多模</a:t>
            </a:r>
            <a:r>
              <a:rPr dirty="0" sz="1200" spc="500">
                <a:latin typeface="SimSun"/>
                <a:cs typeface="SimSun"/>
              </a:rPr>
              <a:t> </a:t>
            </a:r>
            <a:r>
              <a:rPr dirty="0" sz="1200">
                <a:latin typeface="SimSun"/>
                <a:cs typeface="SimSun"/>
              </a:rPr>
              <a:t>毫米波</a:t>
            </a:r>
            <a:r>
              <a:rPr dirty="0" sz="1200" b="1">
                <a:latin typeface="Times New Roman"/>
                <a:cs typeface="Times New Roman"/>
              </a:rPr>
              <a:t>&amp;sub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6G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523212" y="3259449"/>
            <a:ext cx="560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b="1">
                <a:latin typeface="Times New Roman"/>
                <a:cs typeface="Times New Roman"/>
              </a:rPr>
              <a:t>1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574488" y="3880676"/>
            <a:ext cx="485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已商用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219482" y="4373067"/>
            <a:ext cx="1069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5G</a:t>
            </a:r>
            <a:r>
              <a:rPr dirty="0" sz="1200">
                <a:latin typeface="SimSun"/>
                <a:cs typeface="SimSun"/>
              </a:rPr>
              <a:t>到</a:t>
            </a:r>
            <a:r>
              <a:rPr dirty="0" sz="1200" spc="-10" b="1">
                <a:latin typeface="Times New Roman"/>
                <a:cs typeface="Times New Roman"/>
              </a:rPr>
              <a:t>2G</a:t>
            </a:r>
            <a:r>
              <a:rPr dirty="0" sz="1200" spc="-25">
                <a:latin typeface="SimSun"/>
                <a:cs typeface="SimSun"/>
              </a:rPr>
              <a:t>多模</a:t>
            </a:r>
            <a:r>
              <a:rPr dirty="0" sz="1200" spc="500">
                <a:latin typeface="SimSun"/>
                <a:cs typeface="SimSun"/>
              </a:rPr>
              <a:t> </a:t>
            </a:r>
            <a:r>
              <a:rPr dirty="0" sz="1200">
                <a:latin typeface="SimSun"/>
                <a:cs typeface="SimSun"/>
              </a:rPr>
              <a:t>毫米波</a:t>
            </a:r>
            <a:r>
              <a:rPr dirty="0" sz="1200" b="1">
                <a:latin typeface="Times New Roman"/>
                <a:cs typeface="Times New Roman"/>
              </a:rPr>
              <a:t>&amp;sub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6G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346736" y="3235248"/>
            <a:ext cx="560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b="1">
                <a:latin typeface="Times New Roman"/>
                <a:cs typeface="Times New Roman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328179" y="3856477"/>
            <a:ext cx="832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Times New Roman"/>
                <a:cs typeface="Times New Roman"/>
              </a:rPr>
              <a:t>Q2</a:t>
            </a:r>
            <a:r>
              <a:rPr dirty="0" sz="1200" spc="-25">
                <a:latin typeface="SimSun"/>
                <a:cs typeface="SimSun"/>
              </a:rPr>
              <a:t>供货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40063" y="3102684"/>
            <a:ext cx="601345" cy="565785"/>
            <a:chOff x="140063" y="3102684"/>
            <a:chExt cx="601345" cy="565785"/>
          </a:xfrm>
        </p:grpSpPr>
        <p:sp>
          <p:nvSpPr>
            <p:cNvPr id="40" name="object 40" descr=""/>
            <p:cNvSpPr/>
            <p:nvPr/>
          </p:nvSpPr>
          <p:spPr>
            <a:xfrm>
              <a:off x="152763" y="3115384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485546" y="0"/>
                  </a:moveTo>
                  <a:lnTo>
                    <a:pt x="90017" y="0"/>
                  </a:lnTo>
                  <a:lnTo>
                    <a:pt x="54976" y="7075"/>
                  </a:lnTo>
                  <a:lnTo>
                    <a:pt x="26363" y="26368"/>
                  </a:lnTo>
                  <a:lnTo>
                    <a:pt x="7073" y="54981"/>
                  </a:lnTo>
                  <a:lnTo>
                    <a:pt x="0" y="90017"/>
                  </a:lnTo>
                  <a:lnTo>
                    <a:pt x="0" y="450049"/>
                  </a:lnTo>
                  <a:lnTo>
                    <a:pt x="7073" y="485090"/>
                  </a:lnTo>
                  <a:lnTo>
                    <a:pt x="26363" y="513703"/>
                  </a:lnTo>
                  <a:lnTo>
                    <a:pt x="54976" y="532994"/>
                  </a:lnTo>
                  <a:lnTo>
                    <a:pt x="90017" y="540067"/>
                  </a:lnTo>
                  <a:lnTo>
                    <a:pt x="485546" y="540067"/>
                  </a:lnTo>
                  <a:lnTo>
                    <a:pt x="520580" y="532994"/>
                  </a:lnTo>
                  <a:lnTo>
                    <a:pt x="549189" y="513703"/>
                  </a:lnTo>
                  <a:lnTo>
                    <a:pt x="568478" y="485090"/>
                  </a:lnTo>
                  <a:lnTo>
                    <a:pt x="575551" y="450049"/>
                  </a:lnTo>
                  <a:lnTo>
                    <a:pt x="575551" y="90017"/>
                  </a:lnTo>
                  <a:lnTo>
                    <a:pt x="568478" y="54981"/>
                  </a:lnTo>
                  <a:lnTo>
                    <a:pt x="549189" y="26368"/>
                  </a:lnTo>
                  <a:lnTo>
                    <a:pt x="520580" y="7075"/>
                  </a:lnTo>
                  <a:lnTo>
                    <a:pt x="48554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52763" y="3115384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0" y="90017"/>
                  </a:moveTo>
                  <a:lnTo>
                    <a:pt x="7073" y="54981"/>
                  </a:lnTo>
                  <a:lnTo>
                    <a:pt x="26363" y="26368"/>
                  </a:lnTo>
                  <a:lnTo>
                    <a:pt x="54976" y="7075"/>
                  </a:lnTo>
                  <a:lnTo>
                    <a:pt x="90017" y="0"/>
                  </a:lnTo>
                  <a:lnTo>
                    <a:pt x="485546" y="0"/>
                  </a:lnTo>
                  <a:lnTo>
                    <a:pt x="520580" y="7075"/>
                  </a:lnTo>
                  <a:lnTo>
                    <a:pt x="549189" y="26368"/>
                  </a:lnTo>
                  <a:lnTo>
                    <a:pt x="568478" y="54981"/>
                  </a:lnTo>
                  <a:lnTo>
                    <a:pt x="575551" y="90017"/>
                  </a:lnTo>
                  <a:lnTo>
                    <a:pt x="575551" y="450049"/>
                  </a:lnTo>
                  <a:lnTo>
                    <a:pt x="568478" y="485090"/>
                  </a:lnTo>
                  <a:lnTo>
                    <a:pt x="549189" y="513703"/>
                  </a:lnTo>
                  <a:lnTo>
                    <a:pt x="520580" y="532994"/>
                  </a:lnTo>
                  <a:lnTo>
                    <a:pt x="485546" y="540067"/>
                  </a:lnTo>
                  <a:lnTo>
                    <a:pt x="90017" y="540067"/>
                  </a:lnTo>
                  <a:lnTo>
                    <a:pt x="54976" y="532994"/>
                  </a:lnTo>
                  <a:lnTo>
                    <a:pt x="26363" y="513703"/>
                  </a:lnTo>
                  <a:lnTo>
                    <a:pt x="7073" y="485090"/>
                  </a:lnTo>
                  <a:lnTo>
                    <a:pt x="0" y="450049"/>
                  </a:lnTo>
                  <a:lnTo>
                    <a:pt x="0" y="9001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274614" y="3194411"/>
            <a:ext cx="332105" cy="3848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25">
                <a:solidFill>
                  <a:srgbClr val="FFFFFF"/>
                </a:solidFill>
                <a:latin typeface="SimSun"/>
                <a:cs typeface="SimSun"/>
              </a:rPr>
              <a:t>发布时间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49317" y="3745854"/>
            <a:ext cx="601345" cy="565785"/>
            <a:chOff x="149317" y="3745854"/>
            <a:chExt cx="601345" cy="565785"/>
          </a:xfrm>
        </p:grpSpPr>
        <p:sp>
          <p:nvSpPr>
            <p:cNvPr id="44" name="object 44" descr=""/>
            <p:cNvSpPr/>
            <p:nvPr/>
          </p:nvSpPr>
          <p:spPr>
            <a:xfrm>
              <a:off x="162017" y="3758554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485546" y="0"/>
                  </a:moveTo>
                  <a:lnTo>
                    <a:pt x="90017" y="0"/>
                  </a:lnTo>
                  <a:lnTo>
                    <a:pt x="54976" y="7075"/>
                  </a:lnTo>
                  <a:lnTo>
                    <a:pt x="26363" y="26368"/>
                  </a:lnTo>
                  <a:lnTo>
                    <a:pt x="7073" y="54981"/>
                  </a:lnTo>
                  <a:lnTo>
                    <a:pt x="0" y="90017"/>
                  </a:lnTo>
                  <a:lnTo>
                    <a:pt x="0" y="450049"/>
                  </a:lnTo>
                  <a:lnTo>
                    <a:pt x="7073" y="485090"/>
                  </a:lnTo>
                  <a:lnTo>
                    <a:pt x="26363" y="513703"/>
                  </a:lnTo>
                  <a:lnTo>
                    <a:pt x="54976" y="532994"/>
                  </a:lnTo>
                  <a:lnTo>
                    <a:pt x="90017" y="540067"/>
                  </a:lnTo>
                  <a:lnTo>
                    <a:pt x="485546" y="540067"/>
                  </a:lnTo>
                  <a:lnTo>
                    <a:pt x="520580" y="532994"/>
                  </a:lnTo>
                  <a:lnTo>
                    <a:pt x="549189" y="513703"/>
                  </a:lnTo>
                  <a:lnTo>
                    <a:pt x="568478" y="485090"/>
                  </a:lnTo>
                  <a:lnTo>
                    <a:pt x="575551" y="450049"/>
                  </a:lnTo>
                  <a:lnTo>
                    <a:pt x="575551" y="90017"/>
                  </a:lnTo>
                  <a:lnTo>
                    <a:pt x="568478" y="54981"/>
                  </a:lnTo>
                  <a:lnTo>
                    <a:pt x="549189" y="26368"/>
                  </a:lnTo>
                  <a:lnTo>
                    <a:pt x="520580" y="7075"/>
                  </a:lnTo>
                  <a:lnTo>
                    <a:pt x="485546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62017" y="3758554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0" y="90017"/>
                  </a:moveTo>
                  <a:lnTo>
                    <a:pt x="7073" y="54981"/>
                  </a:lnTo>
                  <a:lnTo>
                    <a:pt x="26363" y="26368"/>
                  </a:lnTo>
                  <a:lnTo>
                    <a:pt x="54976" y="7075"/>
                  </a:lnTo>
                  <a:lnTo>
                    <a:pt x="90017" y="0"/>
                  </a:lnTo>
                  <a:lnTo>
                    <a:pt x="485546" y="0"/>
                  </a:lnTo>
                  <a:lnTo>
                    <a:pt x="520580" y="7075"/>
                  </a:lnTo>
                  <a:lnTo>
                    <a:pt x="549189" y="26368"/>
                  </a:lnTo>
                  <a:lnTo>
                    <a:pt x="568478" y="54981"/>
                  </a:lnTo>
                  <a:lnTo>
                    <a:pt x="575551" y="90017"/>
                  </a:lnTo>
                  <a:lnTo>
                    <a:pt x="575551" y="450049"/>
                  </a:lnTo>
                  <a:lnTo>
                    <a:pt x="568478" y="485090"/>
                  </a:lnTo>
                  <a:lnTo>
                    <a:pt x="549189" y="513703"/>
                  </a:lnTo>
                  <a:lnTo>
                    <a:pt x="520580" y="532994"/>
                  </a:lnTo>
                  <a:lnTo>
                    <a:pt x="485546" y="540067"/>
                  </a:lnTo>
                  <a:lnTo>
                    <a:pt x="90017" y="540067"/>
                  </a:lnTo>
                  <a:lnTo>
                    <a:pt x="54976" y="532994"/>
                  </a:lnTo>
                  <a:lnTo>
                    <a:pt x="26363" y="513703"/>
                  </a:lnTo>
                  <a:lnTo>
                    <a:pt x="7073" y="485090"/>
                  </a:lnTo>
                  <a:lnTo>
                    <a:pt x="0" y="450049"/>
                  </a:lnTo>
                  <a:lnTo>
                    <a:pt x="0" y="9001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283870" y="3837582"/>
            <a:ext cx="332105" cy="3848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25">
                <a:solidFill>
                  <a:srgbClr val="FFFFFF"/>
                </a:solidFill>
                <a:latin typeface="SimSun"/>
                <a:cs typeface="SimSun"/>
              </a:rPr>
              <a:t>商用进展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40063" y="4413175"/>
            <a:ext cx="601345" cy="565785"/>
            <a:chOff x="140063" y="4413175"/>
            <a:chExt cx="601345" cy="565785"/>
          </a:xfrm>
        </p:grpSpPr>
        <p:sp>
          <p:nvSpPr>
            <p:cNvPr id="48" name="object 48" descr=""/>
            <p:cNvSpPr/>
            <p:nvPr/>
          </p:nvSpPr>
          <p:spPr>
            <a:xfrm>
              <a:off x="152763" y="4425875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485546" y="0"/>
                  </a:moveTo>
                  <a:lnTo>
                    <a:pt x="90017" y="0"/>
                  </a:lnTo>
                  <a:lnTo>
                    <a:pt x="54976" y="7075"/>
                  </a:lnTo>
                  <a:lnTo>
                    <a:pt x="26363" y="26368"/>
                  </a:lnTo>
                  <a:lnTo>
                    <a:pt x="7073" y="54981"/>
                  </a:lnTo>
                  <a:lnTo>
                    <a:pt x="0" y="90017"/>
                  </a:lnTo>
                  <a:lnTo>
                    <a:pt x="0" y="450049"/>
                  </a:lnTo>
                  <a:lnTo>
                    <a:pt x="7073" y="485090"/>
                  </a:lnTo>
                  <a:lnTo>
                    <a:pt x="26363" y="513703"/>
                  </a:lnTo>
                  <a:lnTo>
                    <a:pt x="54976" y="532994"/>
                  </a:lnTo>
                  <a:lnTo>
                    <a:pt x="90017" y="540067"/>
                  </a:lnTo>
                  <a:lnTo>
                    <a:pt x="485546" y="540067"/>
                  </a:lnTo>
                  <a:lnTo>
                    <a:pt x="520580" y="532994"/>
                  </a:lnTo>
                  <a:lnTo>
                    <a:pt x="549189" y="513703"/>
                  </a:lnTo>
                  <a:lnTo>
                    <a:pt x="568478" y="485090"/>
                  </a:lnTo>
                  <a:lnTo>
                    <a:pt x="575551" y="450049"/>
                  </a:lnTo>
                  <a:lnTo>
                    <a:pt x="575551" y="90017"/>
                  </a:lnTo>
                  <a:lnTo>
                    <a:pt x="568478" y="54981"/>
                  </a:lnTo>
                  <a:lnTo>
                    <a:pt x="549189" y="26368"/>
                  </a:lnTo>
                  <a:lnTo>
                    <a:pt x="520580" y="7075"/>
                  </a:lnTo>
                  <a:lnTo>
                    <a:pt x="485546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52763" y="4425875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0" y="90017"/>
                  </a:moveTo>
                  <a:lnTo>
                    <a:pt x="7073" y="54981"/>
                  </a:lnTo>
                  <a:lnTo>
                    <a:pt x="26363" y="26368"/>
                  </a:lnTo>
                  <a:lnTo>
                    <a:pt x="54976" y="7075"/>
                  </a:lnTo>
                  <a:lnTo>
                    <a:pt x="90017" y="0"/>
                  </a:lnTo>
                  <a:lnTo>
                    <a:pt x="485546" y="0"/>
                  </a:lnTo>
                  <a:lnTo>
                    <a:pt x="520580" y="7075"/>
                  </a:lnTo>
                  <a:lnTo>
                    <a:pt x="549189" y="26368"/>
                  </a:lnTo>
                  <a:lnTo>
                    <a:pt x="568478" y="54981"/>
                  </a:lnTo>
                  <a:lnTo>
                    <a:pt x="575551" y="90017"/>
                  </a:lnTo>
                  <a:lnTo>
                    <a:pt x="575551" y="450049"/>
                  </a:lnTo>
                  <a:lnTo>
                    <a:pt x="568478" y="485090"/>
                  </a:lnTo>
                  <a:lnTo>
                    <a:pt x="549189" y="513703"/>
                  </a:lnTo>
                  <a:lnTo>
                    <a:pt x="520580" y="532994"/>
                  </a:lnTo>
                  <a:lnTo>
                    <a:pt x="485546" y="540067"/>
                  </a:lnTo>
                  <a:lnTo>
                    <a:pt x="90017" y="540067"/>
                  </a:lnTo>
                  <a:lnTo>
                    <a:pt x="54976" y="532994"/>
                  </a:lnTo>
                  <a:lnTo>
                    <a:pt x="26363" y="513703"/>
                  </a:lnTo>
                  <a:lnTo>
                    <a:pt x="7073" y="485090"/>
                  </a:lnTo>
                  <a:lnTo>
                    <a:pt x="0" y="450049"/>
                  </a:lnTo>
                  <a:lnTo>
                    <a:pt x="0" y="9001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274614" y="4504903"/>
            <a:ext cx="332105" cy="3848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25">
                <a:solidFill>
                  <a:srgbClr val="FFFFFF"/>
                </a:solidFill>
                <a:latin typeface="SimSun"/>
                <a:cs typeface="SimSun"/>
              </a:rPr>
              <a:t>技术规格</a:t>
            </a:r>
            <a:endParaRPr sz="12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58793" y="965865"/>
            <a:ext cx="8400415" cy="2941955"/>
            <a:chOff x="558793" y="965865"/>
            <a:chExt cx="8400415" cy="2941955"/>
          </a:xfrm>
        </p:grpSpPr>
        <p:sp>
          <p:nvSpPr>
            <p:cNvPr id="3" name="object 3" descr=""/>
            <p:cNvSpPr/>
            <p:nvPr/>
          </p:nvSpPr>
          <p:spPr>
            <a:xfrm>
              <a:off x="571493" y="978565"/>
              <a:ext cx="8375015" cy="2916555"/>
            </a:xfrm>
            <a:custGeom>
              <a:avLst/>
              <a:gdLst/>
              <a:ahLst/>
              <a:cxnLst/>
              <a:rect l="l" t="t" r="r" b="b"/>
              <a:pathLst>
                <a:path w="8375015" h="2916554">
                  <a:moveTo>
                    <a:pt x="0" y="486067"/>
                  </a:moveTo>
                  <a:lnTo>
                    <a:pt x="2225" y="439256"/>
                  </a:lnTo>
                  <a:lnTo>
                    <a:pt x="8764" y="393705"/>
                  </a:lnTo>
                  <a:lnTo>
                    <a:pt x="19414" y="349615"/>
                  </a:lnTo>
                  <a:lnTo>
                    <a:pt x="33971" y="307192"/>
                  </a:lnTo>
                  <a:lnTo>
                    <a:pt x="52231" y="266639"/>
                  </a:lnTo>
                  <a:lnTo>
                    <a:pt x="73990" y="228159"/>
                  </a:lnTo>
                  <a:lnTo>
                    <a:pt x="99046" y="191956"/>
                  </a:lnTo>
                  <a:lnTo>
                    <a:pt x="127194" y="158235"/>
                  </a:lnTo>
                  <a:lnTo>
                    <a:pt x="158230" y="127198"/>
                  </a:lnTo>
                  <a:lnTo>
                    <a:pt x="191951" y="99050"/>
                  </a:lnTo>
                  <a:lnTo>
                    <a:pt x="228153" y="73993"/>
                  </a:lnTo>
                  <a:lnTo>
                    <a:pt x="266633" y="52233"/>
                  </a:lnTo>
                  <a:lnTo>
                    <a:pt x="307187" y="33972"/>
                  </a:lnTo>
                  <a:lnTo>
                    <a:pt x="349611" y="19415"/>
                  </a:lnTo>
                  <a:lnTo>
                    <a:pt x="393701" y="8764"/>
                  </a:lnTo>
                  <a:lnTo>
                    <a:pt x="439254" y="2225"/>
                  </a:lnTo>
                  <a:lnTo>
                    <a:pt x="486067" y="0"/>
                  </a:lnTo>
                  <a:lnTo>
                    <a:pt x="7888922" y="0"/>
                  </a:lnTo>
                  <a:lnTo>
                    <a:pt x="7935734" y="2225"/>
                  </a:lnTo>
                  <a:lnTo>
                    <a:pt x="7981287" y="8764"/>
                  </a:lnTo>
                  <a:lnTo>
                    <a:pt x="8025378" y="19415"/>
                  </a:lnTo>
                  <a:lnTo>
                    <a:pt x="8067802" y="33972"/>
                  </a:lnTo>
                  <a:lnTo>
                    <a:pt x="8108355" y="52233"/>
                  </a:lnTo>
                  <a:lnTo>
                    <a:pt x="8146835" y="73993"/>
                  </a:lnTo>
                  <a:lnTo>
                    <a:pt x="8183038" y="99050"/>
                  </a:lnTo>
                  <a:lnTo>
                    <a:pt x="8216759" y="127198"/>
                  </a:lnTo>
                  <a:lnTo>
                    <a:pt x="8247795" y="158235"/>
                  </a:lnTo>
                  <a:lnTo>
                    <a:pt x="8275943" y="191956"/>
                  </a:lnTo>
                  <a:lnTo>
                    <a:pt x="8300998" y="228159"/>
                  </a:lnTo>
                  <a:lnTo>
                    <a:pt x="8322758" y="266639"/>
                  </a:lnTo>
                  <a:lnTo>
                    <a:pt x="8341018" y="307192"/>
                  </a:lnTo>
                  <a:lnTo>
                    <a:pt x="8355575" y="349615"/>
                  </a:lnTo>
                  <a:lnTo>
                    <a:pt x="8366225" y="393705"/>
                  </a:lnTo>
                  <a:lnTo>
                    <a:pt x="8372764" y="439256"/>
                  </a:lnTo>
                  <a:lnTo>
                    <a:pt x="8374989" y="486067"/>
                  </a:lnTo>
                  <a:lnTo>
                    <a:pt x="8374989" y="2430259"/>
                  </a:lnTo>
                  <a:lnTo>
                    <a:pt x="8372764" y="2477071"/>
                  </a:lnTo>
                  <a:lnTo>
                    <a:pt x="8366225" y="2522624"/>
                  </a:lnTo>
                  <a:lnTo>
                    <a:pt x="8355575" y="2566715"/>
                  </a:lnTo>
                  <a:lnTo>
                    <a:pt x="8341018" y="2609139"/>
                  </a:lnTo>
                  <a:lnTo>
                    <a:pt x="8322758" y="2649692"/>
                  </a:lnTo>
                  <a:lnTo>
                    <a:pt x="8300998" y="2688172"/>
                  </a:lnTo>
                  <a:lnTo>
                    <a:pt x="8275943" y="2724374"/>
                  </a:lnTo>
                  <a:lnTo>
                    <a:pt x="8247795" y="2758096"/>
                  </a:lnTo>
                  <a:lnTo>
                    <a:pt x="8216759" y="2789132"/>
                  </a:lnTo>
                  <a:lnTo>
                    <a:pt x="8183038" y="2817280"/>
                  </a:lnTo>
                  <a:lnTo>
                    <a:pt x="8146835" y="2842335"/>
                  </a:lnTo>
                  <a:lnTo>
                    <a:pt x="8108355" y="2864095"/>
                  </a:lnTo>
                  <a:lnTo>
                    <a:pt x="8067802" y="2882355"/>
                  </a:lnTo>
                  <a:lnTo>
                    <a:pt x="8025378" y="2896912"/>
                  </a:lnTo>
                  <a:lnTo>
                    <a:pt x="7981287" y="2907562"/>
                  </a:lnTo>
                  <a:lnTo>
                    <a:pt x="7935734" y="2914101"/>
                  </a:lnTo>
                  <a:lnTo>
                    <a:pt x="7888922" y="2916326"/>
                  </a:lnTo>
                  <a:lnTo>
                    <a:pt x="486067" y="2916326"/>
                  </a:lnTo>
                  <a:lnTo>
                    <a:pt x="439254" y="2914101"/>
                  </a:lnTo>
                  <a:lnTo>
                    <a:pt x="393701" y="2907562"/>
                  </a:lnTo>
                  <a:lnTo>
                    <a:pt x="349611" y="2896912"/>
                  </a:lnTo>
                  <a:lnTo>
                    <a:pt x="307187" y="2882355"/>
                  </a:lnTo>
                  <a:lnTo>
                    <a:pt x="266633" y="2864095"/>
                  </a:lnTo>
                  <a:lnTo>
                    <a:pt x="228153" y="2842335"/>
                  </a:lnTo>
                  <a:lnTo>
                    <a:pt x="191951" y="2817280"/>
                  </a:lnTo>
                  <a:lnTo>
                    <a:pt x="158230" y="2789132"/>
                  </a:lnTo>
                  <a:lnTo>
                    <a:pt x="127194" y="2758096"/>
                  </a:lnTo>
                  <a:lnTo>
                    <a:pt x="99046" y="2724374"/>
                  </a:lnTo>
                  <a:lnTo>
                    <a:pt x="73990" y="2688172"/>
                  </a:lnTo>
                  <a:lnTo>
                    <a:pt x="52231" y="2649692"/>
                  </a:lnTo>
                  <a:lnTo>
                    <a:pt x="33971" y="2609139"/>
                  </a:lnTo>
                  <a:lnTo>
                    <a:pt x="19414" y="2566715"/>
                  </a:lnTo>
                  <a:lnTo>
                    <a:pt x="8764" y="2522624"/>
                  </a:lnTo>
                  <a:lnTo>
                    <a:pt x="2225" y="2477071"/>
                  </a:lnTo>
                  <a:lnTo>
                    <a:pt x="0" y="2430259"/>
                  </a:lnTo>
                  <a:lnTo>
                    <a:pt x="0" y="48606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8300" y="1300867"/>
              <a:ext cx="696575" cy="2945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7357" y="1219105"/>
              <a:ext cx="1000124" cy="410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471" y="1928520"/>
              <a:ext cx="687081" cy="9492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9652" y="1865483"/>
              <a:ext cx="640724" cy="9984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8283" y="1853044"/>
              <a:ext cx="890177" cy="10237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4468" y="1865490"/>
              <a:ext cx="581883" cy="9482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9355" y="1313446"/>
              <a:ext cx="828697" cy="2820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51339" y="1300873"/>
              <a:ext cx="834606" cy="294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3380" y="1072263"/>
              <a:ext cx="666853" cy="5967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86333" y="2066645"/>
              <a:ext cx="842957" cy="59650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9795" y="3104106"/>
            <a:ext cx="533400" cy="572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05"/>
              </a:spcBef>
            </a:pPr>
            <a:r>
              <a:rPr dirty="0" sz="1200">
                <a:latin typeface="SimSun"/>
                <a:cs typeface="SimSun"/>
              </a:rPr>
              <a:t>华为</a:t>
            </a:r>
            <a:r>
              <a:rPr dirty="0" sz="1200" spc="-25">
                <a:latin typeface="Arial MT"/>
                <a:cs typeface="Arial MT"/>
              </a:rPr>
              <a:t>5G CPE PRO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35968" y="3143120"/>
            <a:ext cx="507365" cy="38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05"/>
              </a:lnSpc>
              <a:spcBef>
                <a:spcPts val="100"/>
              </a:spcBef>
            </a:pPr>
            <a:r>
              <a:rPr dirty="0" sz="1200" spc="-25">
                <a:latin typeface="SimSun"/>
                <a:cs typeface="SimSun"/>
              </a:rPr>
              <a:t>华为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ts val="1405"/>
              </a:lnSpc>
            </a:pPr>
            <a:r>
              <a:rPr dirty="0" sz="1200">
                <a:latin typeface="Arial MT"/>
                <a:cs typeface="Arial MT"/>
              </a:rPr>
              <a:t>mate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304191" y="3108678"/>
            <a:ext cx="381635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 spc="-25">
                <a:latin typeface="SimSun"/>
                <a:cs typeface="SimSun"/>
              </a:rPr>
              <a:t>小米</a:t>
            </a:r>
            <a:r>
              <a:rPr dirty="0" sz="1200" spc="-50">
                <a:latin typeface="SimSun"/>
                <a:cs typeface="SimSun"/>
              </a:rPr>
              <a:t> </a:t>
            </a:r>
            <a:r>
              <a:rPr dirty="0" sz="1200" spc="-20">
                <a:latin typeface="Arial MT"/>
                <a:cs typeface="Arial MT"/>
              </a:rPr>
              <a:t>MIX3 </a:t>
            </a:r>
            <a:r>
              <a:rPr dirty="0" sz="1200" spc="-25">
                <a:latin typeface="Arial MT"/>
                <a:cs typeface="Arial MT"/>
              </a:rPr>
              <a:t>5G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752600" y="843559"/>
            <a:ext cx="7039609" cy="2052320"/>
            <a:chOff x="1752600" y="843559"/>
            <a:chExt cx="7039609" cy="205232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26181" y="1910605"/>
              <a:ext cx="1068842" cy="9851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11038" y="1865490"/>
              <a:ext cx="809043" cy="9357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03099" y="1853044"/>
              <a:ext cx="642160" cy="93047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36397" y="1853045"/>
              <a:ext cx="655630" cy="9843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17671" y="1268026"/>
              <a:ext cx="594829" cy="3652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74942" y="1174156"/>
              <a:ext cx="1464463" cy="46434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752600" y="843559"/>
              <a:ext cx="6172200" cy="204470"/>
            </a:xfrm>
            <a:custGeom>
              <a:avLst/>
              <a:gdLst/>
              <a:ahLst/>
              <a:cxnLst/>
              <a:rect l="l" t="t" r="r" b="b"/>
              <a:pathLst>
                <a:path w="6172200" h="204469">
                  <a:moveTo>
                    <a:pt x="6172200" y="0"/>
                  </a:moveTo>
                  <a:lnTo>
                    <a:pt x="0" y="0"/>
                  </a:lnTo>
                  <a:lnTo>
                    <a:pt x="0" y="204190"/>
                  </a:lnTo>
                  <a:lnTo>
                    <a:pt x="6172200" y="204190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297885" y="3076426"/>
            <a:ext cx="609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 MT"/>
                <a:cs typeface="Arial MT"/>
              </a:rPr>
              <a:t>OPPO </a:t>
            </a:r>
            <a:r>
              <a:rPr dirty="0" sz="1200" spc="-10">
                <a:latin typeface="Arial MT"/>
                <a:cs typeface="Arial MT"/>
              </a:rPr>
              <a:t>R15(5G)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377182" y="3074140"/>
            <a:ext cx="431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 MT"/>
                <a:cs typeface="Arial MT"/>
              </a:rPr>
              <a:t>VIVO APEX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081465" y="3104106"/>
            <a:ext cx="600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imSun"/>
                <a:cs typeface="SimSun"/>
              </a:rPr>
              <a:t>三星</a:t>
            </a:r>
            <a:r>
              <a:rPr dirty="0" sz="1200" spc="-25">
                <a:latin typeface="Arial MT"/>
                <a:cs typeface="Arial MT"/>
              </a:rPr>
              <a:t>S10 </a:t>
            </a: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50">
                <a:latin typeface="SimSun"/>
                <a:cs typeface="SimSun"/>
              </a:rPr>
              <a:t>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40290" y="3108653"/>
            <a:ext cx="499109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 spc="-25">
                <a:latin typeface="SimSun"/>
                <a:cs typeface="SimSun"/>
              </a:rPr>
              <a:t>三星</a:t>
            </a:r>
            <a:r>
              <a:rPr dirty="0" sz="1200" spc="-50">
                <a:latin typeface="SimSun"/>
                <a:cs typeface="SimSun"/>
              </a:rPr>
              <a:t> </a:t>
            </a:r>
            <a:r>
              <a:rPr dirty="0" sz="1200" spc="-10">
                <a:latin typeface="Arial MT"/>
                <a:cs typeface="Arial MT"/>
              </a:rPr>
              <a:t>Galaxy </a:t>
            </a:r>
            <a:r>
              <a:rPr dirty="0" sz="1200" spc="-20">
                <a:latin typeface="Arial MT"/>
                <a:cs typeface="Arial MT"/>
              </a:rPr>
              <a:t>Fold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010595" y="3047389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先行者</a:t>
            </a:r>
            <a:r>
              <a:rPr dirty="0" sz="1200" spc="-25">
                <a:latin typeface="SimSun"/>
                <a:cs typeface="SimSun"/>
              </a:rPr>
              <a:t>一号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095226" y="3024376"/>
            <a:ext cx="676275" cy="38925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dirty="0" sz="1200">
                <a:latin typeface="SimSun"/>
                <a:cs typeface="SimSun"/>
              </a:rPr>
              <a:t>天机</a:t>
            </a:r>
            <a:r>
              <a:rPr dirty="0" sz="1200" spc="-20">
                <a:latin typeface="Arial MT"/>
                <a:cs typeface="Arial MT"/>
              </a:rPr>
              <a:t>Axon </a:t>
            </a:r>
            <a:r>
              <a:rPr dirty="0" sz="1200">
                <a:latin typeface="Arial MT"/>
                <a:cs typeface="Arial MT"/>
              </a:rPr>
              <a:t>10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Pro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894140" y="803414"/>
            <a:ext cx="58896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0000"/>
                </a:solidFill>
                <a:latin typeface="Microsoft YaHei"/>
                <a:cs typeface="Microsoft YaHei"/>
              </a:rPr>
              <a:t>终端比芯片晚</a:t>
            </a:r>
            <a:r>
              <a:rPr dirty="0" sz="1600" spc="-10" b="1">
                <a:solidFill>
                  <a:srgbClr val="FF0000"/>
                </a:solidFill>
                <a:latin typeface="Microsoft YaHei"/>
                <a:cs typeface="Microsoft YaHei"/>
              </a:rPr>
              <a:t>1~2个季度，2019年年中主流终端厂商5G</a:t>
            </a:r>
            <a:r>
              <a:rPr dirty="0" sz="1600" spc="-20" b="1">
                <a:solidFill>
                  <a:srgbClr val="FF0000"/>
                </a:solidFill>
                <a:latin typeface="Microsoft YaHei"/>
                <a:cs typeface="Microsoft YaHei"/>
              </a:rPr>
              <a:t>终端上市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31564" y="4503266"/>
            <a:ext cx="8713470" cy="619760"/>
            <a:chOff x="131564" y="4503266"/>
            <a:chExt cx="8713470" cy="619760"/>
          </a:xfrm>
        </p:grpSpPr>
        <p:sp>
          <p:nvSpPr>
            <p:cNvPr id="33" name="object 33" descr=""/>
            <p:cNvSpPr/>
            <p:nvPr/>
          </p:nvSpPr>
          <p:spPr>
            <a:xfrm>
              <a:off x="533999" y="4515966"/>
              <a:ext cx="8310880" cy="0"/>
            </a:xfrm>
            <a:custGeom>
              <a:avLst/>
              <a:gdLst/>
              <a:ahLst/>
              <a:cxnLst/>
              <a:rect l="l" t="t" r="r" b="b"/>
              <a:pathLst>
                <a:path w="8310880" h="0">
                  <a:moveTo>
                    <a:pt x="0" y="0"/>
                  </a:moveTo>
                  <a:lnTo>
                    <a:pt x="8310816" y="0"/>
                  </a:lnTo>
                </a:path>
              </a:pathLst>
            </a:custGeom>
            <a:ln w="25400">
              <a:solidFill>
                <a:srgbClr val="B6DCD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4264" y="4569966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485546" y="0"/>
                  </a:moveTo>
                  <a:lnTo>
                    <a:pt x="90017" y="0"/>
                  </a:lnTo>
                  <a:lnTo>
                    <a:pt x="54976" y="7075"/>
                  </a:lnTo>
                  <a:lnTo>
                    <a:pt x="26363" y="26368"/>
                  </a:lnTo>
                  <a:lnTo>
                    <a:pt x="7073" y="54981"/>
                  </a:lnTo>
                  <a:lnTo>
                    <a:pt x="0" y="90017"/>
                  </a:lnTo>
                  <a:lnTo>
                    <a:pt x="0" y="450049"/>
                  </a:lnTo>
                  <a:lnTo>
                    <a:pt x="7073" y="485090"/>
                  </a:lnTo>
                  <a:lnTo>
                    <a:pt x="26363" y="513703"/>
                  </a:lnTo>
                  <a:lnTo>
                    <a:pt x="54976" y="532994"/>
                  </a:lnTo>
                  <a:lnTo>
                    <a:pt x="90017" y="540067"/>
                  </a:lnTo>
                  <a:lnTo>
                    <a:pt x="485546" y="540067"/>
                  </a:lnTo>
                  <a:lnTo>
                    <a:pt x="520580" y="532994"/>
                  </a:lnTo>
                  <a:lnTo>
                    <a:pt x="549189" y="513703"/>
                  </a:lnTo>
                  <a:lnTo>
                    <a:pt x="568478" y="485090"/>
                  </a:lnTo>
                  <a:lnTo>
                    <a:pt x="575551" y="450049"/>
                  </a:lnTo>
                  <a:lnTo>
                    <a:pt x="575551" y="90017"/>
                  </a:lnTo>
                  <a:lnTo>
                    <a:pt x="568478" y="54981"/>
                  </a:lnTo>
                  <a:lnTo>
                    <a:pt x="549189" y="26368"/>
                  </a:lnTo>
                  <a:lnTo>
                    <a:pt x="520580" y="7075"/>
                  </a:lnTo>
                  <a:lnTo>
                    <a:pt x="485546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4264" y="4569966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0" y="90017"/>
                  </a:moveTo>
                  <a:lnTo>
                    <a:pt x="7073" y="54981"/>
                  </a:lnTo>
                  <a:lnTo>
                    <a:pt x="26363" y="26368"/>
                  </a:lnTo>
                  <a:lnTo>
                    <a:pt x="54976" y="7075"/>
                  </a:lnTo>
                  <a:lnTo>
                    <a:pt x="90017" y="0"/>
                  </a:lnTo>
                  <a:lnTo>
                    <a:pt x="485546" y="0"/>
                  </a:lnTo>
                  <a:lnTo>
                    <a:pt x="520580" y="7075"/>
                  </a:lnTo>
                  <a:lnTo>
                    <a:pt x="549189" y="26368"/>
                  </a:lnTo>
                  <a:lnTo>
                    <a:pt x="568478" y="54981"/>
                  </a:lnTo>
                  <a:lnTo>
                    <a:pt x="575551" y="90017"/>
                  </a:lnTo>
                  <a:lnTo>
                    <a:pt x="575551" y="450049"/>
                  </a:lnTo>
                  <a:lnTo>
                    <a:pt x="568478" y="485090"/>
                  </a:lnTo>
                  <a:lnTo>
                    <a:pt x="549189" y="513703"/>
                  </a:lnTo>
                  <a:lnTo>
                    <a:pt x="520580" y="532994"/>
                  </a:lnTo>
                  <a:lnTo>
                    <a:pt x="485546" y="540067"/>
                  </a:lnTo>
                  <a:lnTo>
                    <a:pt x="90017" y="540067"/>
                  </a:lnTo>
                  <a:lnTo>
                    <a:pt x="54976" y="532994"/>
                  </a:lnTo>
                  <a:lnTo>
                    <a:pt x="26363" y="513703"/>
                  </a:lnTo>
                  <a:lnTo>
                    <a:pt x="7073" y="485090"/>
                  </a:lnTo>
                  <a:lnTo>
                    <a:pt x="0" y="450049"/>
                  </a:lnTo>
                  <a:lnTo>
                    <a:pt x="0" y="9001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957077" y="4043226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304163" y="4033859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57077" y="4690319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6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305621" y="4690319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5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348259" y="4019995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354924" y="4690319"/>
            <a:ext cx="551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25" b="1">
                <a:latin typeface="Arial"/>
                <a:cs typeface="Arial"/>
              </a:rPr>
              <a:t>Q2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308643" y="4020064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1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375930" y="4690319"/>
            <a:ext cx="332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SimSun"/>
                <a:cs typeface="SimSun"/>
              </a:rPr>
              <a:t>未知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094276" y="4019995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905761" y="4014754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102227" y="4690319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4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886558" y="4683452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5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953761" y="4014754"/>
            <a:ext cx="669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18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12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967988" y="4674961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131960" y="4014754"/>
            <a:ext cx="584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50">
                <a:latin typeface="SimSun"/>
                <a:cs typeface="SimSun"/>
              </a:rPr>
              <a:t>月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8192274" y="4676057"/>
            <a:ext cx="551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19</a:t>
            </a:r>
            <a:r>
              <a:rPr dirty="0" sz="1200">
                <a:latin typeface="SimSun"/>
                <a:cs typeface="SimSun"/>
              </a:rPr>
              <a:t>年</a:t>
            </a:r>
            <a:r>
              <a:rPr dirty="0" sz="1200" spc="-25" b="1">
                <a:latin typeface="Arial"/>
                <a:cs typeface="Arial"/>
              </a:rPr>
              <a:t>Q2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40063" y="3882186"/>
            <a:ext cx="601345" cy="565785"/>
            <a:chOff x="140063" y="3882186"/>
            <a:chExt cx="601345" cy="565785"/>
          </a:xfrm>
        </p:grpSpPr>
        <p:sp>
          <p:nvSpPr>
            <p:cNvPr id="53" name="object 53" descr=""/>
            <p:cNvSpPr/>
            <p:nvPr/>
          </p:nvSpPr>
          <p:spPr>
            <a:xfrm>
              <a:off x="152763" y="3894886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485546" y="0"/>
                  </a:moveTo>
                  <a:lnTo>
                    <a:pt x="90017" y="0"/>
                  </a:lnTo>
                  <a:lnTo>
                    <a:pt x="54976" y="7075"/>
                  </a:lnTo>
                  <a:lnTo>
                    <a:pt x="26363" y="26368"/>
                  </a:lnTo>
                  <a:lnTo>
                    <a:pt x="7073" y="54981"/>
                  </a:lnTo>
                  <a:lnTo>
                    <a:pt x="0" y="90017"/>
                  </a:lnTo>
                  <a:lnTo>
                    <a:pt x="0" y="450049"/>
                  </a:lnTo>
                  <a:lnTo>
                    <a:pt x="7073" y="485090"/>
                  </a:lnTo>
                  <a:lnTo>
                    <a:pt x="26363" y="513703"/>
                  </a:lnTo>
                  <a:lnTo>
                    <a:pt x="54976" y="532994"/>
                  </a:lnTo>
                  <a:lnTo>
                    <a:pt x="90017" y="540067"/>
                  </a:lnTo>
                  <a:lnTo>
                    <a:pt x="485546" y="540067"/>
                  </a:lnTo>
                  <a:lnTo>
                    <a:pt x="520580" y="532994"/>
                  </a:lnTo>
                  <a:lnTo>
                    <a:pt x="549189" y="513703"/>
                  </a:lnTo>
                  <a:lnTo>
                    <a:pt x="568478" y="485090"/>
                  </a:lnTo>
                  <a:lnTo>
                    <a:pt x="575551" y="450049"/>
                  </a:lnTo>
                  <a:lnTo>
                    <a:pt x="575551" y="90017"/>
                  </a:lnTo>
                  <a:lnTo>
                    <a:pt x="568478" y="54981"/>
                  </a:lnTo>
                  <a:lnTo>
                    <a:pt x="549189" y="26368"/>
                  </a:lnTo>
                  <a:lnTo>
                    <a:pt x="520580" y="7075"/>
                  </a:lnTo>
                  <a:lnTo>
                    <a:pt x="48554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2763" y="3894886"/>
              <a:ext cx="575945" cy="540385"/>
            </a:xfrm>
            <a:custGeom>
              <a:avLst/>
              <a:gdLst/>
              <a:ahLst/>
              <a:cxnLst/>
              <a:rect l="l" t="t" r="r" b="b"/>
              <a:pathLst>
                <a:path w="575945" h="540385">
                  <a:moveTo>
                    <a:pt x="0" y="90017"/>
                  </a:moveTo>
                  <a:lnTo>
                    <a:pt x="7073" y="54981"/>
                  </a:lnTo>
                  <a:lnTo>
                    <a:pt x="26363" y="26368"/>
                  </a:lnTo>
                  <a:lnTo>
                    <a:pt x="54976" y="7075"/>
                  </a:lnTo>
                  <a:lnTo>
                    <a:pt x="90017" y="0"/>
                  </a:lnTo>
                  <a:lnTo>
                    <a:pt x="485546" y="0"/>
                  </a:lnTo>
                  <a:lnTo>
                    <a:pt x="520580" y="7075"/>
                  </a:lnTo>
                  <a:lnTo>
                    <a:pt x="549189" y="26368"/>
                  </a:lnTo>
                  <a:lnTo>
                    <a:pt x="568478" y="54981"/>
                  </a:lnTo>
                  <a:lnTo>
                    <a:pt x="575551" y="90017"/>
                  </a:lnTo>
                  <a:lnTo>
                    <a:pt x="575551" y="450049"/>
                  </a:lnTo>
                  <a:lnTo>
                    <a:pt x="568478" y="485090"/>
                  </a:lnTo>
                  <a:lnTo>
                    <a:pt x="549189" y="513703"/>
                  </a:lnTo>
                  <a:lnTo>
                    <a:pt x="520580" y="532994"/>
                  </a:lnTo>
                  <a:lnTo>
                    <a:pt x="485546" y="540067"/>
                  </a:lnTo>
                  <a:lnTo>
                    <a:pt x="90017" y="540067"/>
                  </a:lnTo>
                  <a:lnTo>
                    <a:pt x="54976" y="532994"/>
                  </a:lnTo>
                  <a:lnTo>
                    <a:pt x="26363" y="513703"/>
                  </a:lnTo>
                  <a:lnTo>
                    <a:pt x="7073" y="485090"/>
                  </a:lnTo>
                  <a:lnTo>
                    <a:pt x="0" y="450049"/>
                  </a:lnTo>
                  <a:lnTo>
                    <a:pt x="0" y="9001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274614" y="3973914"/>
            <a:ext cx="332105" cy="3848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25">
                <a:solidFill>
                  <a:srgbClr val="FFFFFF"/>
                </a:solidFill>
                <a:latin typeface="SimSun"/>
                <a:cs typeface="SimSun"/>
              </a:rPr>
              <a:t>发布时间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266115" y="4648993"/>
            <a:ext cx="332105" cy="3848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25">
                <a:solidFill>
                  <a:srgbClr val="FFFFFF"/>
                </a:solidFill>
                <a:latin typeface="SimSun"/>
                <a:cs typeface="SimSun"/>
              </a:rPr>
              <a:t>商用供货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2404250" y="77561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终端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534" y="1198246"/>
            <a:ext cx="2479827" cy="122919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17453" y="1243076"/>
            <a:ext cx="989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002C7E"/>
                </a:solidFill>
                <a:latin typeface="Microsoft YaHei"/>
                <a:cs typeface="Microsoft YaHei"/>
              </a:rPr>
              <a:t>大容量紧凑型 </a:t>
            </a:r>
            <a:r>
              <a:rPr dirty="0" sz="900" spc="-25" b="1">
                <a:solidFill>
                  <a:srgbClr val="002C7E"/>
                </a:solidFill>
                <a:latin typeface="Microsoft YaHei"/>
                <a:cs typeface="Microsoft YaHei"/>
              </a:rPr>
              <a:t>BBU</a:t>
            </a:r>
            <a:endParaRPr sz="900">
              <a:latin typeface="Microsoft YaHei"/>
              <a:cs typeface="Microsoft Ya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8032" y="1198246"/>
            <a:ext cx="2479827" cy="122919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253071" y="1243076"/>
            <a:ext cx="5422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2C7E"/>
                </a:solidFill>
                <a:latin typeface="Microsoft YaHei"/>
                <a:cs typeface="Microsoft YaHei"/>
              </a:rPr>
              <a:t>OMC</a:t>
            </a:r>
            <a:r>
              <a:rPr dirty="0" sz="900" spc="-25" b="1">
                <a:solidFill>
                  <a:srgbClr val="002C7E"/>
                </a:solidFill>
                <a:latin typeface="Microsoft YaHei"/>
                <a:cs typeface="Microsoft YaHei"/>
              </a:rPr>
              <a:t>网管</a:t>
            </a:r>
            <a:endParaRPr sz="900">
              <a:latin typeface="Microsoft YaHei"/>
              <a:cs typeface="Microsoft YaHe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7902" y="1198246"/>
            <a:ext cx="2479828" cy="122919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022941" y="1243076"/>
            <a:ext cx="603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2C7E"/>
                </a:solidFill>
                <a:latin typeface="Microsoft YaHei"/>
                <a:cs typeface="Microsoft YaHei"/>
              </a:rPr>
              <a:t>5GC</a:t>
            </a:r>
            <a:r>
              <a:rPr dirty="0" sz="900" spc="-20" b="1">
                <a:solidFill>
                  <a:srgbClr val="002C7E"/>
                </a:solidFill>
                <a:latin typeface="Microsoft YaHei"/>
                <a:cs typeface="Microsoft YaHei"/>
              </a:rPr>
              <a:t>核心网</a:t>
            </a:r>
            <a:endParaRPr sz="900">
              <a:latin typeface="Microsoft YaHei"/>
              <a:cs typeface="Microsoft YaHe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6" y="2588895"/>
            <a:ext cx="4160996" cy="174212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121559" y="2656495"/>
            <a:ext cx="825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2C7E"/>
                </a:solidFill>
                <a:latin typeface="Microsoft YaHei"/>
                <a:cs typeface="Microsoft YaHei"/>
              </a:rPr>
              <a:t>室外宏覆盖产品</a:t>
            </a:r>
            <a:endParaRPr sz="900">
              <a:latin typeface="Microsoft YaHei"/>
              <a:cs typeface="Microsoft YaHe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9647" y="2597467"/>
            <a:ext cx="3708082" cy="174212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284753" y="2616580"/>
            <a:ext cx="711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2C7E"/>
                </a:solidFill>
                <a:latin typeface="Microsoft YaHei"/>
                <a:cs typeface="Microsoft YaHei"/>
              </a:rPr>
              <a:t>室内覆盖产品</a:t>
            </a:r>
            <a:endParaRPr sz="900">
              <a:latin typeface="Microsoft YaHei"/>
              <a:cs typeface="Microsoft YaHe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515" y="1540192"/>
            <a:ext cx="2049297" cy="6010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5214" y="1640205"/>
            <a:ext cx="1538280" cy="50101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8880" y="1640206"/>
            <a:ext cx="2123593" cy="39481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008811" y="2894968"/>
            <a:ext cx="2478405" cy="1130300"/>
            <a:chOff x="1008811" y="2894968"/>
            <a:chExt cx="2478405" cy="113030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5666" y="2985033"/>
              <a:ext cx="620976" cy="98863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8811" y="2894968"/>
              <a:ext cx="753313" cy="1129975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5170490" y="2985033"/>
            <a:ext cx="2319655" cy="680720"/>
            <a:chOff x="5170490" y="2985033"/>
            <a:chExt cx="2319655" cy="68072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0490" y="2985033"/>
              <a:ext cx="866057" cy="6802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54297" y="2985033"/>
              <a:ext cx="735667" cy="660767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327785" y="2184082"/>
            <a:ext cx="679450" cy="22161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42544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334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EMB6116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783088" y="2184082"/>
            <a:ext cx="1385570" cy="217170"/>
          </a:xfrm>
          <a:prstGeom prst="rect">
            <a:avLst/>
          </a:prstGeom>
          <a:solidFill>
            <a:srgbClr val="72BFC5"/>
          </a:solidFill>
        </p:spPr>
        <p:txBody>
          <a:bodyPr wrap="square" lIns="0" tIns="42544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334"/>
              </a:spcBef>
            </a:pP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UEM5000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 (</a:t>
            </a: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X86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通用服务器)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630111" y="2184082"/>
            <a:ext cx="1345565" cy="217170"/>
          </a:xfrm>
          <a:prstGeom prst="rect">
            <a:avLst/>
          </a:prstGeom>
          <a:solidFill>
            <a:srgbClr val="72BFC5"/>
          </a:solidFill>
        </p:spPr>
        <p:txBody>
          <a:bodyPr wrap="square" lIns="0" tIns="42544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334"/>
              </a:spcBef>
            </a:pP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UCC9500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 (</a:t>
            </a: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X86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通用服务器)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37639" y="3285185"/>
            <a:ext cx="730250" cy="340360"/>
          </a:xfrm>
          <a:prstGeom prst="rect">
            <a:avLst/>
          </a:prstGeom>
          <a:solidFill>
            <a:srgbClr val="72BFC5"/>
          </a:solidFill>
        </p:spPr>
        <p:txBody>
          <a:bodyPr wrap="square" lIns="0" tIns="3302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60"/>
              </a:spcBef>
            </a:pP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3.5GHz</a:t>
            </a:r>
            <a:r>
              <a:rPr dirty="0" sz="800" spc="-30" b="1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64TR</a:t>
            </a:r>
            <a:endParaRPr sz="800">
              <a:latin typeface="Microsoft YaHei"/>
              <a:cs typeface="Microsoft YaHei"/>
            </a:endParaRPr>
          </a:p>
          <a:p>
            <a:pPr marL="68580" marR="3175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100M/200W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444531" y="3275736"/>
            <a:ext cx="730250" cy="340360"/>
          </a:xfrm>
          <a:prstGeom prst="rect">
            <a:avLst/>
          </a:prstGeom>
          <a:solidFill>
            <a:srgbClr val="72BFC5"/>
          </a:solidFill>
        </p:spPr>
        <p:txBody>
          <a:bodyPr wrap="square" lIns="0" tIns="3302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60"/>
              </a:spcBef>
            </a:pP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3.5GHz</a:t>
            </a:r>
            <a:r>
              <a:rPr dirty="0" sz="800" spc="-40" b="1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16TR</a:t>
            </a:r>
            <a:endParaRPr sz="800">
              <a:latin typeface="Microsoft YaHei"/>
              <a:cs typeface="Microsoft YaHei"/>
            </a:endParaRPr>
          </a:p>
          <a:p>
            <a:pPr marL="68580" marR="3175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100M/200W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170487" y="3835285"/>
            <a:ext cx="1058545" cy="340360"/>
          </a:xfrm>
          <a:prstGeom prst="rect">
            <a:avLst/>
          </a:prstGeom>
          <a:solidFill>
            <a:srgbClr val="72BFC5"/>
          </a:solidFill>
        </p:spPr>
        <p:txBody>
          <a:bodyPr wrap="square" lIns="0" tIns="33020" rIns="0" bIns="0" rtlCol="0" vert="horz">
            <a:spAutoFit/>
          </a:bodyPr>
          <a:lstStyle/>
          <a:p>
            <a:pPr marL="309880">
              <a:lnSpc>
                <a:spcPct val="100000"/>
              </a:lnSpc>
              <a:spcBef>
                <a:spcPts val="260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pRU5211</a:t>
            </a:r>
            <a:endParaRPr sz="800">
              <a:latin typeface="Microsoft YaHei"/>
              <a:cs typeface="Microsoft YaHei"/>
            </a:endParaRPr>
          </a:p>
          <a:p>
            <a:pPr marL="278765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5G</a:t>
            </a:r>
            <a:r>
              <a:rPr dirty="0" sz="800" spc="-5" b="1">
                <a:solidFill>
                  <a:srgbClr val="FFFFFF"/>
                </a:solidFill>
                <a:latin typeface="Microsoft YaHei"/>
                <a:cs typeface="Microsoft YaHei"/>
              </a:rPr>
              <a:t>单模 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pico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009828" y="3815816"/>
            <a:ext cx="561975" cy="34861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3302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260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pRU5227</a:t>
            </a:r>
            <a:endParaRPr sz="800">
              <a:latin typeface="Microsoft YaHei"/>
              <a:cs typeface="Microsoft YaHei"/>
            </a:endParaRPr>
          </a:p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双模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pico</a:t>
            </a:r>
            <a:endParaRPr sz="800">
              <a:latin typeface="Microsoft YaHei"/>
              <a:cs typeface="Microsoft YaHe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0534" y="4531250"/>
            <a:ext cx="8128632" cy="327183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480377" y="4562364"/>
            <a:ext cx="810895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002F86"/>
                </a:solidFill>
                <a:latin typeface="Microsoft YaHei"/>
                <a:cs typeface="Microsoft YaHei"/>
              </a:rPr>
              <a:t>面向中国运营商</a:t>
            </a:r>
            <a:r>
              <a:rPr dirty="0" sz="1600" spc="-10" b="1">
                <a:solidFill>
                  <a:srgbClr val="002F86"/>
                </a:solidFill>
                <a:latin typeface="Microsoft YaHei"/>
                <a:cs typeface="Microsoft YaHei"/>
              </a:rPr>
              <a:t>5G产品经过试验网规模验证，性能稳定，设备可靠，达到5G</a:t>
            </a:r>
            <a:r>
              <a:rPr dirty="0" sz="1600" spc="-15" b="1">
                <a:solidFill>
                  <a:srgbClr val="002F86"/>
                </a:solidFill>
                <a:latin typeface="Microsoft YaHei"/>
                <a:cs typeface="Microsoft YaHei"/>
              </a:rPr>
              <a:t>商用建网需求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644237" y="141258"/>
            <a:ext cx="62369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无线网络设备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954887" y="4048277"/>
            <a:ext cx="837565" cy="19240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2984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3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TDAU5164N78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740825" y="4024947"/>
            <a:ext cx="837565" cy="19240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2984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23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TDAU5116N78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869051" y="3234893"/>
            <a:ext cx="577850" cy="47561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20955" rIns="0" bIns="0" rtlCol="0" vert="horz">
            <a:spAutoFit/>
          </a:bodyPr>
          <a:lstStyle/>
          <a:p>
            <a:pPr marL="67945" marR="133985">
              <a:lnSpc>
                <a:spcPct val="110000"/>
              </a:lnSpc>
              <a:spcBef>
                <a:spcPts val="16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3.5GHz </a:t>
            </a:r>
            <a:r>
              <a:rPr dirty="0" sz="800" spc="-25" b="1">
                <a:solidFill>
                  <a:srgbClr val="FFFFFF"/>
                </a:solidFill>
                <a:latin typeface="Microsoft YaHei"/>
                <a:cs typeface="Microsoft YaHei"/>
              </a:rPr>
              <a:t>NR</a:t>
            </a:r>
            <a:endParaRPr sz="800">
              <a:latin typeface="Microsoft YaHei"/>
              <a:cs typeface="Microsoft YaHei"/>
            </a:endParaRPr>
          </a:p>
          <a:p>
            <a:pPr marL="67945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4</a:t>
            </a:r>
            <a:r>
              <a:rPr dirty="0" sz="800" spc="-30" b="1">
                <a:solidFill>
                  <a:srgbClr val="FFFFFF"/>
                </a:solidFill>
                <a:latin typeface="Microsoft YaHei"/>
                <a:cs typeface="Microsoft YaHei"/>
              </a:rPr>
              <a:t>通道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421003" y="3195675"/>
            <a:ext cx="680085" cy="475615"/>
          </a:xfrm>
          <a:prstGeom prst="rect">
            <a:avLst/>
          </a:prstGeom>
          <a:solidFill>
            <a:srgbClr val="72BFC5"/>
          </a:solidFill>
        </p:spPr>
        <p:txBody>
          <a:bodyPr wrap="square" lIns="0" tIns="20955" rIns="0" bIns="0" rtlCol="0" vert="horz">
            <a:spAutoFit/>
          </a:bodyPr>
          <a:lstStyle/>
          <a:p>
            <a:pPr marL="67945">
              <a:lnSpc>
                <a:spcPct val="110000"/>
              </a:lnSpc>
              <a:spcBef>
                <a:spcPts val="16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3.5+2.1GHz </a:t>
            </a: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NR</a:t>
            </a:r>
            <a:r>
              <a:rPr dirty="0" sz="800" spc="-15" b="1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+ </a:t>
            </a:r>
            <a:r>
              <a:rPr dirty="0" sz="800" spc="-25" b="1">
                <a:solidFill>
                  <a:srgbClr val="FFFFFF"/>
                </a:solidFill>
                <a:latin typeface="Microsoft YaHei"/>
                <a:cs typeface="Microsoft YaHei"/>
              </a:rPr>
              <a:t>FDD</a:t>
            </a:r>
            <a:endParaRPr sz="800">
              <a:latin typeface="Microsoft YaHei"/>
              <a:cs typeface="Microsoft YaHei"/>
            </a:endParaRPr>
          </a:p>
          <a:p>
            <a:pPr marL="67945" marR="2159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4+2</a:t>
            </a:r>
            <a:r>
              <a:rPr dirty="0" sz="800" spc="-35" b="1">
                <a:solidFill>
                  <a:srgbClr val="FFFFFF"/>
                </a:solidFill>
                <a:latin typeface="Microsoft YaHei"/>
                <a:cs typeface="Microsoft YaHei"/>
              </a:rPr>
              <a:t> 通道</a:t>
            </a:r>
            <a:endParaRPr sz="8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基站设备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636" y="777397"/>
            <a:ext cx="6090748" cy="144173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80039" y="2310641"/>
            <a:ext cx="1122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Microsoft YaHei"/>
                <a:cs typeface="Microsoft YaHei"/>
              </a:rPr>
              <a:t>BBU</a:t>
            </a:r>
            <a:r>
              <a:rPr dirty="0" sz="1200" spc="-20" b="1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Microsoft YaHei"/>
                <a:cs typeface="Microsoft YaHei"/>
              </a:rPr>
              <a:t>EMB6116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686" y="2627350"/>
            <a:ext cx="1154769" cy="177432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74139" y="4427473"/>
            <a:ext cx="1353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Microsoft YaHei"/>
                <a:cs typeface="Microsoft YaHei"/>
              </a:rPr>
              <a:t>3.5GHz</a:t>
            </a:r>
            <a:r>
              <a:rPr dirty="0" sz="1200" spc="-50" b="1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Microsoft YaHei"/>
                <a:cs typeface="Microsoft YaHei"/>
              </a:rPr>
              <a:t>64TRAAU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0" y="2571750"/>
            <a:ext cx="1154769" cy="193556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635681" y="4531541"/>
            <a:ext cx="1353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Microsoft YaHei"/>
                <a:cs typeface="Microsoft YaHei"/>
              </a:rPr>
              <a:t>3.5GHz</a:t>
            </a:r>
            <a:r>
              <a:rPr dirty="0" sz="1200" spc="-50" b="1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Microsoft YaHei"/>
                <a:cs typeface="Microsoft YaHei"/>
              </a:rPr>
              <a:t>16TRAAU</a:t>
            </a:r>
            <a:endParaRPr sz="12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9146" y="108672"/>
            <a:ext cx="58299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50">
                <a:solidFill>
                  <a:srgbClr val="FF0000"/>
                </a:solidFill>
              </a:rPr>
              <a:t>分布式皮站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14884" y="896111"/>
            <a:ext cx="4373880" cy="433070"/>
            <a:chOff x="214884" y="896111"/>
            <a:chExt cx="4373880" cy="4330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84" y="896111"/>
              <a:ext cx="4373879" cy="4328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111" y="919251"/>
              <a:ext cx="4281919" cy="34051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61106" y="919243"/>
              <a:ext cx="4282440" cy="340995"/>
            </a:xfrm>
            <a:custGeom>
              <a:avLst/>
              <a:gdLst/>
              <a:ahLst/>
              <a:cxnLst/>
              <a:rect l="l" t="t" r="r" b="b"/>
              <a:pathLst>
                <a:path w="4282440" h="340994">
                  <a:moveTo>
                    <a:pt x="0" y="56756"/>
                  </a:moveTo>
                  <a:lnTo>
                    <a:pt x="4460" y="34665"/>
                  </a:lnTo>
                  <a:lnTo>
                    <a:pt x="16624" y="16624"/>
                  </a:lnTo>
                  <a:lnTo>
                    <a:pt x="34665" y="4460"/>
                  </a:lnTo>
                  <a:lnTo>
                    <a:pt x="56756" y="0"/>
                  </a:lnTo>
                  <a:lnTo>
                    <a:pt x="4225175" y="0"/>
                  </a:lnTo>
                  <a:lnTo>
                    <a:pt x="4247266" y="4460"/>
                  </a:lnTo>
                  <a:lnTo>
                    <a:pt x="4265307" y="16624"/>
                  </a:lnTo>
                  <a:lnTo>
                    <a:pt x="4277471" y="34665"/>
                  </a:lnTo>
                  <a:lnTo>
                    <a:pt x="4281932" y="56756"/>
                  </a:lnTo>
                  <a:lnTo>
                    <a:pt x="4281932" y="283768"/>
                  </a:lnTo>
                  <a:lnTo>
                    <a:pt x="4277471" y="305860"/>
                  </a:lnTo>
                  <a:lnTo>
                    <a:pt x="4265307" y="323900"/>
                  </a:lnTo>
                  <a:lnTo>
                    <a:pt x="4247266" y="336064"/>
                  </a:lnTo>
                  <a:lnTo>
                    <a:pt x="4225175" y="340525"/>
                  </a:lnTo>
                  <a:lnTo>
                    <a:pt x="56756" y="340525"/>
                  </a:lnTo>
                  <a:lnTo>
                    <a:pt x="34665" y="336064"/>
                  </a:lnTo>
                  <a:lnTo>
                    <a:pt x="16624" y="323900"/>
                  </a:lnTo>
                  <a:lnTo>
                    <a:pt x="4460" y="305860"/>
                  </a:lnTo>
                  <a:lnTo>
                    <a:pt x="0" y="283768"/>
                  </a:lnTo>
                  <a:lnTo>
                    <a:pt x="0" y="56756"/>
                  </a:lnTo>
                  <a:close/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724243" y="965841"/>
            <a:ext cx="13550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solidFill>
                  <a:srgbClr val="FFFFFF"/>
                </a:solidFill>
                <a:latin typeface="SimSun"/>
                <a:cs typeface="SimSun"/>
              </a:rPr>
              <a:t>新一代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pico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RRU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339352" y="1399882"/>
            <a:ext cx="2818765" cy="600710"/>
          </a:xfrm>
          <a:custGeom>
            <a:avLst/>
            <a:gdLst/>
            <a:ahLst/>
            <a:cxnLst/>
            <a:rect l="l" t="t" r="r" b="b"/>
            <a:pathLst>
              <a:path w="2818765" h="600710">
                <a:moveTo>
                  <a:pt x="0" y="0"/>
                </a:moveTo>
                <a:lnTo>
                  <a:pt x="2818295" y="0"/>
                </a:lnTo>
                <a:lnTo>
                  <a:pt x="2818295" y="600163"/>
                </a:lnTo>
                <a:lnTo>
                  <a:pt x="0" y="60016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DA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418095" y="1398302"/>
            <a:ext cx="2217420" cy="5283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760"/>
              </a:spcBef>
              <a:buFont typeface="Wingdings"/>
              <a:buChar char=""/>
              <a:tabLst>
                <a:tab pos="284480" algn="l"/>
              </a:tabLst>
            </a:pPr>
            <a:r>
              <a:rPr dirty="0" sz="1100" spc="-10">
                <a:solidFill>
                  <a:srgbClr val="333399"/>
                </a:solidFill>
                <a:latin typeface="SimSun"/>
                <a:cs typeface="SimSun"/>
              </a:rPr>
              <a:t>内置</a:t>
            </a:r>
            <a:r>
              <a:rPr dirty="0" sz="1100" spc="-10" b="1">
                <a:solidFill>
                  <a:srgbClr val="333399"/>
                </a:solidFill>
                <a:latin typeface="Arial"/>
                <a:cs typeface="Arial"/>
              </a:rPr>
              <a:t>4</a:t>
            </a:r>
            <a:r>
              <a:rPr dirty="0" sz="1100" spc="-25">
                <a:solidFill>
                  <a:srgbClr val="333399"/>
                </a:solidFill>
                <a:latin typeface="SimSun"/>
                <a:cs typeface="SimSun"/>
              </a:rPr>
              <a:t>路天线通道</a:t>
            </a:r>
            <a:endParaRPr sz="1100">
              <a:latin typeface="SimSun"/>
              <a:cs typeface="SimSun"/>
            </a:endParaRPr>
          </a:p>
          <a:p>
            <a:pPr marL="284480" indent="-271780">
              <a:lnSpc>
                <a:spcPct val="100000"/>
              </a:lnSpc>
              <a:spcBef>
                <a:spcPts val="660"/>
              </a:spcBef>
              <a:buFont typeface="Wingdings"/>
              <a:buChar char=""/>
              <a:tabLst>
                <a:tab pos="284480" algn="l"/>
              </a:tabLst>
            </a:pPr>
            <a:r>
              <a:rPr dirty="0" sz="1100" spc="-10">
                <a:solidFill>
                  <a:srgbClr val="333399"/>
                </a:solidFill>
                <a:latin typeface="SimSun"/>
                <a:cs typeface="SimSun"/>
              </a:rPr>
              <a:t>支持一个</a:t>
            </a:r>
            <a:r>
              <a:rPr dirty="0" sz="1100" spc="-10" b="1">
                <a:solidFill>
                  <a:srgbClr val="333399"/>
                </a:solidFill>
                <a:latin typeface="Arial"/>
                <a:cs typeface="Arial"/>
              </a:rPr>
              <a:t>100MHz</a:t>
            </a:r>
            <a:r>
              <a:rPr dirty="0" sz="1100" spc="-25">
                <a:solidFill>
                  <a:srgbClr val="333399"/>
                </a:solidFill>
                <a:latin typeface="SimSun"/>
                <a:cs typeface="SimSun"/>
              </a:rPr>
              <a:t>带宽小区配置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339352" y="4136186"/>
            <a:ext cx="2818765" cy="431165"/>
          </a:xfrm>
          <a:custGeom>
            <a:avLst/>
            <a:gdLst/>
            <a:ahLst/>
            <a:cxnLst/>
            <a:rect l="l" t="t" r="r" b="b"/>
            <a:pathLst>
              <a:path w="2818765" h="431164">
                <a:moveTo>
                  <a:pt x="0" y="0"/>
                </a:moveTo>
                <a:lnTo>
                  <a:pt x="2818295" y="0"/>
                </a:lnTo>
                <a:lnTo>
                  <a:pt x="2818295" y="430885"/>
                </a:lnTo>
                <a:lnTo>
                  <a:pt x="0" y="43088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DA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418095" y="4173772"/>
            <a:ext cx="253492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84480" marR="5080" indent="-272415">
              <a:lnSpc>
                <a:spcPts val="1270"/>
              </a:lnSpc>
              <a:spcBef>
                <a:spcPts val="180"/>
              </a:spcBef>
              <a:buFont typeface="Wingdings"/>
              <a:buChar char=""/>
              <a:tabLst>
                <a:tab pos="284480" algn="l"/>
              </a:tabLst>
            </a:pPr>
            <a:r>
              <a:rPr dirty="0" sz="1100" spc="-25">
                <a:solidFill>
                  <a:srgbClr val="333399"/>
                </a:solidFill>
                <a:latin typeface="SimSun"/>
                <a:cs typeface="SimSun"/>
              </a:rPr>
              <a:t>支持灵活的小区分裂和合并，便于精</a:t>
            </a:r>
            <a:r>
              <a:rPr dirty="0" sz="1100" spc="-30">
                <a:solidFill>
                  <a:srgbClr val="333399"/>
                </a:solidFill>
                <a:latin typeface="SimSun"/>
                <a:cs typeface="SimSun"/>
              </a:rPr>
              <a:t>确优化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339771" y="2708795"/>
            <a:ext cx="2818130" cy="854075"/>
          </a:xfrm>
          <a:custGeom>
            <a:avLst/>
            <a:gdLst/>
            <a:ahLst/>
            <a:cxnLst/>
            <a:rect l="l" t="t" r="r" b="b"/>
            <a:pathLst>
              <a:path w="2818129" h="854075">
                <a:moveTo>
                  <a:pt x="0" y="0"/>
                </a:moveTo>
                <a:lnTo>
                  <a:pt x="2817888" y="0"/>
                </a:lnTo>
                <a:lnTo>
                  <a:pt x="2817888" y="854075"/>
                </a:lnTo>
                <a:lnTo>
                  <a:pt x="0" y="85407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DA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418506" y="2707220"/>
            <a:ext cx="2598420" cy="7797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760"/>
              </a:spcBef>
              <a:buFont typeface="Wingdings"/>
              <a:buChar char=""/>
              <a:tabLst>
                <a:tab pos="284480" algn="l"/>
              </a:tabLst>
            </a:pPr>
            <a:r>
              <a:rPr dirty="0" sz="1100" spc="-10" b="1">
                <a:solidFill>
                  <a:srgbClr val="333399"/>
                </a:solidFill>
                <a:latin typeface="Arial"/>
                <a:cs typeface="Arial"/>
              </a:rPr>
              <a:t>RHub</a:t>
            </a:r>
            <a:r>
              <a:rPr dirty="0" sz="1100" spc="-10">
                <a:solidFill>
                  <a:srgbClr val="333399"/>
                </a:solidFill>
                <a:latin typeface="SimSun"/>
                <a:cs typeface="SimSun"/>
              </a:rPr>
              <a:t>支持</a:t>
            </a:r>
            <a:r>
              <a:rPr dirty="0" sz="1100" b="1">
                <a:solidFill>
                  <a:srgbClr val="333399"/>
                </a:solidFill>
                <a:latin typeface="Arial"/>
                <a:cs typeface="Arial"/>
              </a:rPr>
              <a:t>8*10GE</a:t>
            </a:r>
            <a:r>
              <a:rPr dirty="0" sz="1100" spc="25" b="1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33399"/>
                </a:solidFill>
                <a:latin typeface="SimSun"/>
                <a:cs typeface="SimSun"/>
              </a:rPr>
              <a:t>以太接口，可连接</a:t>
            </a:r>
            <a:endParaRPr sz="1100">
              <a:latin typeface="SimSun"/>
              <a:cs typeface="SimSun"/>
            </a:endParaRPr>
          </a:p>
          <a:p>
            <a:pPr marL="284480">
              <a:lnSpc>
                <a:spcPct val="100000"/>
              </a:lnSpc>
              <a:spcBef>
                <a:spcPts val="660"/>
              </a:spcBef>
            </a:pPr>
            <a:r>
              <a:rPr dirty="0" sz="1100" spc="-10" b="1">
                <a:solidFill>
                  <a:srgbClr val="333399"/>
                </a:solidFill>
                <a:latin typeface="Arial"/>
                <a:cs typeface="Arial"/>
              </a:rPr>
              <a:t>8</a:t>
            </a:r>
            <a:r>
              <a:rPr dirty="0" sz="1100" spc="-10">
                <a:solidFill>
                  <a:srgbClr val="333399"/>
                </a:solidFill>
                <a:latin typeface="SimSun"/>
                <a:cs typeface="SimSun"/>
              </a:rPr>
              <a:t>个</a:t>
            </a:r>
            <a:r>
              <a:rPr dirty="0" sz="1100" spc="-20" b="1">
                <a:solidFill>
                  <a:srgbClr val="333399"/>
                </a:solidFill>
                <a:latin typeface="Arial"/>
                <a:cs typeface="Arial"/>
              </a:rPr>
              <a:t>Pico</a:t>
            </a:r>
            <a:endParaRPr sz="1100">
              <a:latin typeface="Arial"/>
              <a:cs typeface="Arial"/>
            </a:endParaRPr>
          </a:p>
          <a:p>
            <a:pPr marL="284480" indent="-271780">
              <a:lnSpc>
                <a:spcPct val="100000"/>
              </a:lnSpc>
              <a:spcBef>
                <a:spcPts val="660"/>
              </a:spcBef>
              <a:buFont typeface="Wingdings"/>
              <a:buChar char=""/>
              <a:tabLst>
                <a:tab pos="284480" algn="l"/>
              </a:tabLst>
            </a:pPr>
            <a:r>
              <a:rPr dirty="0" sz="1100" spc="-20" b="1">
                <a:solidFill>
                  <a:srgbClr val="333399"/>
                </a:solidFill>
                <a:latin typeface="Arial"/>
                <a:cs typeface="Arial"/>
              </a:rPr>
              <a:t>POE</a:t>
            </a:r>
            <a:r>
              <a:rPr dirty="0" sz="1100" spc="-30">
                <a:solidFill>
                  <a:srgbClr val="333399"/>
                </a:solidFill>
                <a:latin typeface="SimSun"/>
                <a:cs typeface="SimSun"/>
              </a:rPr>
              <a:t>供电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47958" y="2055128"/>
            <a:ext cx="726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333399"/>
                </a:solidFill>
                <a:latin typeface="Microsoft YaHei"/>
                <a:cs typeface="Microsoft YaHei"/>
              </a:rPr>
              <a:t>Pico</a:t>
            </a:r>
            <a:r>
              <a:rPr dirty="0" sz="1200" spc="-30" b="1">
                <a:solidFill>
                  <a:srgbClr val="333399"/>
                </a:solidFill>
                <a:latin typeface="Microsoft YaHei"/>
                <a:cs typeface="Microsoft YaHei"/>
              </a:rPr>
              <a:t> </a:t>
            </a:r>
            <a:r>
              <a:rPr dirty="0" sz="1200" spc="-25" b="1">
                <a:solidFill>
                  <a:srgbClr val="333399"/>
                </a:solidFill>
                <a:latin typeface="Microsoft YaHei"/>
                <a:cs typeface="Microsoft YaHei"/>
              </a:rPr>
              <a:t>RRU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63020" y="3495307"/>
            <a:ext cx="4578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333399"/>
                </a:solidFill>
                <a:latin typeface="Microsoft YaHei"/>
                <a:cs typeface="Microsoft YaHei"/>
              </a:rPr>
              <a:t>RHub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12042" y="1886521"/>
            <a:ext cx="241935" cy="2350135"/>
            <a:chOff x="1112042" y="1886521"/>
            <a:chExt cx="241935" cy="2350135"/>
          </a:xfrm>
        </p:grpSpPr>
        <p:sp>
          <p:nvSpPr>
            <p:cNvPr id="17" name="object 17" descr=""/>
            <p:cNvSpPr/>
            <p:nvPr/>
          </p:nvSpPr>
          <p:spPr>
            <a:xfrm>
              <a:off x="1124742" y="3272086"/>
              <a:ext cx="216535" cy="951865"/>
            </a:xfrm>
            <a:custGeom>
              <a:avLst/>
              <a:gdLst/>
              <a:ahLst/>
              <a:cxnLst/>
              <a:rect l="l" t="t" r="r" b="b"/>
              <a:pathLst>
                <a:path w="216534" h="951864">
                  <a:moveTo>
                    <a:pt x="216484" y="0"/>
                  </a:moveTo>
                  <a:lnTo>
                    <a:pt x="213347" y="9066"/>
                  </a:lnTo>
                  <a:lnTo>
                    <a:pt x="210373" y="18146"/>
                  </a:lnTo>
                  <a:lnTo>
                    <a:pt x="207074" y="27205"/>
                  </a:lnTo>
                  <a:lnTo>
                    <a:pt x="202958" y="36207"/>
                  </a:lnTo>
                  <a:lnTo>
                    <a:pt x="200152" y="41554"/>
                  </a:lnTo>
                  <a:lnTo>
                    <a:pt x="191592" y="46342"/>
                  </a:lnTo>
                  <a:lnTo>
                    <a:pt x="189420" y="51727"/>
                  </a:lnTo>
                  <a:lnTo>
                    <a:pt x="185305" y="64626"/>
                  </a:lnTo>
                  <a:lnTo>
                    <a:pt x="182481" y="77585"/>
                  </a:lnTo>
                  <a:lnTo>
                    <a:pt x="179746" y="90548"/>
                  </a:lnTo>
                  <a:lnTo>
                    <a:pt x="175895" y="103454"/>
                  </a:lnTo>
                  <a:lnTo>
                    <a:pt x="173266" y="110502"/>
                  </a:lnTo>
                  <a:lnTo>
                    <a:pt x="165684" y="117157"/>
                  </a:lnTo>
                  <a:lnTo>
                    <a:pt x="162356" y="124155"/>
                  </a:lnTo>
                  <a:lnTo>
                    <a:pt x="158575" y="133179"/>
                  </a:lnTo>
                  <a:lnTo>
                    <a:pt x="155422" y="142244"/>
                  </a:lnTo>
                  <a:lnTo>
                    <a:pt x="152355" y="151317"/>
                  </a:lnTo>
                  <a:lnTo>
                    <a:pt x="148831" y="160362"/>
                  </a:lnTo>
                  <a:lnTo>
                    <a:pt x="145755" y="166849"/>
                  </a:lnTo>
                  <a:lnTo>
                    <a:pt x="142340" y="173310"/>
                  </a:lnTo>
                  <a:lnTo>
                    <a:pt x="138788" y="179761"/>
                  </a:lnTo>
                  <a:lnTo>
                    <a:pt x="135305" y="186220"/>
                  </a:lnTo>
                  <a:lnTo>
                    <a:pt x="138444" y="209506"/>
                  </a:lnTo>
                  <a:lnTo>
                    <a:pt x="141420" y="232797"/>
                  </a:lnTo>
                  <a:lnTo>
                    <a:pt x="144721" y="256078"/>
                  </a:lnTo>
                  <a:lnTo>
                    <a:pt x="155546" y="303906"/>
                  </a:lnTo>
                  <a:lnTo>
                    <a:pt x="176082" y="347632"/>
                  </a:lnTo>
                  <a:lnTo>
                    <a:pt x="189420" y="372452"/>
                  </a:lnTo>
                  <a:lnTo>
                    <a:pt x="186440" y="407378"/>
                  </a:lnTo>
                  <a:lnTo>
                    <a:pt x="180481" y="477224"/>
                  </a:lnTo>
                  <a:lnTo>
                    <a:pt x="170795" y="529202"/>
                  </a:lnTo>
                  <a:lnTo>
                    <a:pt x="135305" y="574192"/>
                  </a:lnTo>
                  <a:lnTo>
                    <a:pt x="81178" y="636270"/>
                  </a:lnTo>
                  <a:lnTo>
                    <a:pt x="76951" y="641118"/>
                  </a:lnTo>
                  <a:lnTo>
                    <a:pt x="67651" y="651784"/>
                  </a:lnTo>
                  <a:lnTo>
                    <a:pt x="58348" y="662453"/>
                  </a:lnTo>
                  <a:lnTo>
                    <a:pt x="54114" y="667308"/>
                  </a:lnTo>
                  <a:lnTo>
                    <a:pt x="48677" y="680001"/>
                  </a:lnTo>
                  <a:lnTo>
                    <a:pt x="27063" y="724204"/>
                  </a:lnTo>
                  <a:lnTo>
                    <a:pt x="18034" y="734555"/>
                  </a:lnTo>
                  <a:lnTo>
                    <a:pt x="13525" y="739724"/>
                  </a:lnTo>
                  <a:lnTo>
                    <a:pt x="9413" y="792746"/>
                  </a:lnTo>
                  <a:lnTo>
                    <a:pt x="4986" y="845764"/>
                  </a:lnTo>
                  <a:lnTo>
                    <a:pt x="1447" y="898785"/>
                  </a:lnTo>
                  <a:lnTo>
                    <a:pt x="0" y="951814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25206" y="1899221"/>
              <a:ext cx="157480" cy="1012825"/>
            </a:xfrm>
            <a:custGeom>
              <a:avLst/>
              <a:gdLst/>
              <a:ahLst/>
              <a:cxnLst/>
              <a:rect l="l" t="t" r="r" b="b"/>
              <a:pathLst>
                <a:path w="157480" h="1012825">
                  <a:moveTo>
                    <a:pt x="157225" y="0"/>
                  </a:moveTo>
                  <a:lnTo>
                    <a:pt x="154947" y="9647"/>
                  </a:lnTo>
                  <a:lnTo>
                    <a:pt x="152787" y="19308"/>
                  </a:lnTo>
                  <a:lnTo>
                    <a:pt x="150389" y="28948"/>
                  </a:lnTo>
                  <a:lnTo>
                    <a:pt x="147396" y="38531"/>
                  </a:lnTo>
                  <a:lnTo>
                    <a:pt x="145364" y="44221"/>
                  </a:lnTo>
                  <a:lnTo>
                    <a:pt x="139153" y="49314"/>
                  </a:lnTo>
                  <a:lnTo>
                    <a:pt x="137566" y="55041"/>
                  </a:lnTo>
                  <a:lnTo>
                    <a:pt x="134575" y="68764"/>
                  </a:lnTo>
                  <a:lnTo>
                    <a:pt x="132524" y="82553"/>
                  </a:lnTo>
                  <a:lnTo>
                    <a:pt x="130540" y="96346"/>
                  </a:lnTo>
                  <a:lnTo>
                    <a:pt x="127749" y="110083"/>
                  </a:lnTo>
                  <a:lnTo>
                    <a:pt x="125831" y="117576"/>
                  </a:lnTo>
                  <a:lnTo>
                    <a:pt x="120332" y="124663"/>
                  </a:lnTo>
                  <a:lnTo>
                    <a:pt x="117919" y="132105"/>
                  </a:lnTo>
                  <a:lnTo>
                    <a:pt x="115172" y="141710"/>
                  </a:lnTo>
                  <a:lnTo>
                    <a:pt x="112880" y="151357"/>
                  </a:lnTo>
                  <a:lnTo>
                    <a:pt x="110650" y="161010"/>
                  </a:lnTo>
                  <a:lnTo>
                    <a:pt x="108089" y="170637"/>
                  </a:lnTo>
                  <a:lnTo>
                    <a:pt x="105857" y="177543"/>
                  </a:lnTo>
                  <a:lnTo>
                    <a:pt x="103374" y="184421"/>
                  </a:lnTo>
                  <a:lnTo>
                    <a:pt x="100792" y="191287"/>
                  </a:lnTo>
                  <a:lnTo>
                    <a:pt x="98259" y="198158"/>
                  </a:lnTo>
                  <a:lnTo>
                    <a:pt x="100542" y="222937"/>
                  </a:lnTo>
                  <a:lnTo>
                    <a:pt x="102708" y="247719"/>
                  </a:lnTo>
                  <a:lnTo>
                    <a:pt x="105107" y="272492"/>
                  </a:lnTo>
                  <a:lnTo>
                    <a:pt x="112970" y="323387"/>
                  </a:lnTo>
                  <a:lnTo>
                    <a:pt x="127885" y="369907"/>
                  </a:lnTo>
                  <a:lnTo>
                    <a:pt x="137566" y="396316"/>
                  </a:lnTo>
                  <a:lnTo>
                    <a:pt x="135407" y="433482"/>
                  </a:lnTo>
                  <a:lnTo>
                    <a:pt x="131079" y="507814"/>
                  </a:lnTo>
                  <a:lnTo>
                    <a:pt x="124043" y="563126"/>
                  </a:lnTo>
                  <a:lnTo>
                    <a:pt x="98259" y="610997"/>
                  </a:lnTo>
                  <a:lnTo>
                    <a:pt x="58953" y="677049"/>
                  </a:lnTo>
                  <a:lnTo>
                    <a:pt x="39306" y="710082"/>
                  </a:lnTo>
                  <a:lnTo>
                    <a:pt x="35352" y="723583"/>
                  </a:lnTo>
                  <a:lnTo>
                    <a:pt x="30410" y="740100"/>
                  </a:lnTo>
                  <a:lnTo>
                    <a:pt x="25001" y="756743"/>
                  </a:lnTo>
                  <a:lnTo>
                    <a:pt x="19646" y="770623"/>
                  </a:lnTo>
                  <a:lnTo>
                    <a:pt x="17144" y="776249"/>
                  </a:lnTo>
                  <a:lnTo>
                    <a:pt x="13093" y="781634"/>
                  </a:lnTo>
                  <a:lnTo>
                    <a:pt x="9829" y="787146"/>
                  </a:lnTo>
                  <a:lnTo>
                    <a:pt x="6836" y="843560"/>
                  </a:lnTo>
                  <a:lnTo>
                    <a:pt x="3619" y="899975"/>
                  </a:lnTo>
                  <a:lnTo>
                    <a:pt x="1050" y="956395"/>
                  </a:lnTo>
                  <a:lnTo>
                    <a:pt x="0" y="1012825"/>
                  </a:lnTo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82203" y="4739170"/>
            <a:ext cx="352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333399"/>
                </a:solidFill>
                <a:latin typeface="Microsoft YaHei"/>
                <a:cs typeface="Microsoft YaHei"/>
              </a:rPr>
              <a:t>BBU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5831" y="2029249"/>
            <a:ext cx="9194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333399"/>
                </a:solidFill>
                <a:latin typeface="Microsoft YaHei"/>
                <a:cs typeface="Microsoft YaHei"/>
              </a:rPr>
              <a:t>Cat6A</a:t>
            </a:r>
            <a:r>
              <a:rPr dirty="0" sz="1050" spc="-25">
                <a:solidFill>
                  <a:srgbClr val="333399"/>
                </a:solidFill>
                <a:latin typeface="Microsoft YaHei"/>
                <a:cs typeface="Microsoft YaHei"/>
              </a:rPr>
              <a:t>网线</a:t>
            </a:r>
            <a:endParaRPr sz="105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333399"/>
                </a:solidFill>
                <a:latin typeface="Microsoft YaHei"/>
                <a:cs typeface="Microsoft YaHei"/>
              </a:rPr>
              <a:t>最大拉远</a:t>
            </a:r>
            <a:r>
              <a:rPr dirty="0" sz="1050" spc="-20">
                <a:solidFill>
                  <a:srgbClr val="333399"/>
                </a:solidFill>
                <a:latin typeface="Microsoft YaHei"/>
                <a:cs typeface="Microsoft YaHei"/>
              </a:rPr>
              <a:t>100m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99010" y="1398388"/>
            <a:ext cx="1877060" cy="3529965"/>
            <a:chOff x="399010" y="1398388"/>
            <a:chExt cx="1877060" cy="35299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010" y="3992168"/>
              <a:ext cx="1876790" cy="9360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427" y="2582214"/>
              <a:ext cx="1682894" cy="11219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491" y="1398388"/>
              <a:ext cx="966780" cy="721559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5554712" y="806443"/>
            <a:ext cx="3524250" cy="2632710"/>
            <a:chOff x="5554712" y="806443"/>
            <a:chExt cx="3524250" cy="2632710"/>
          </a:xfrm>
        </p:grpSpPr>
        <p:sp>
          <p:nvSpPr>
            <p:cNvPr id="26" name="object 26" descr=""/>
            <p:cNvSpPr/>
            <p:nvPr/>
          </p:nvSpPr>
          <p:spPr>
            <a:xfrm>
              <a:off x="5580113" y="819149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33"/>
                  </a:lnTo>
                  <a:lnTo>
                    <a:pt x="1171168" y="217233"/>
                  </a:lnTo>
                  <a:lnTo>
                    <a:pt x="3473246" y="217233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580113" y="1036383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80113" y="1253629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80113" y="1470863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580113" y="1688109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580113" y="1905342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580113" y="2122588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580113" y="2339822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580113" y="2557068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580113" y="2774302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33"/>
                  </a:lnTo>
                  <a:lnTo>
                    <a:pt x="1171168" y="217233"/>
                  </a:lnTo>
                  <a:lnTo>
                    <a:pt x="3473246" y="217233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580113" y="2991548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5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580113" y="3208781"/>
              <a:ext cx="3473450" cy="217804"/>
            </a:xfrm>
            <a:custGeom>
              <a:avLst/>
              <a:gdLst/>
              <a:ahLst/>
              <a:cxnLst/>
              <a:rect l="l" t="t" r="r" b="b"/>
              <a:pathLst>
                <a:path w="3473450" h="217804">
                  <a:moveTo>
                    <a:pt x="3473246" y="0"/>
                  </a:moveTo>
                  <a:lnTo>
                    <a:pt x="1171168" y="0"/>
                  </a:lnTo>
                  <a:lnTo>
                    <a:pt x="0" y="0"/>
                  </a:lnTo>
                  <a:lnTo>
                    <a:pt x="0" y="217246"/>
                  </a:lnTo>
                  <a:lnTo>
                    <a:pt x="1171168" y="217246"/>
                  </a:lnTo>
                  <a:lnTo>
                    <a:pt x="3473246" y="217246"/>
                  </a:lnTo>
                  <a:lnTo>
                    <a:pt x="3473246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751281" y="812793"/>
              <a:ext cx="0" cy="2620010"/>
            </a:xfrm>
            <a:custGeom>
              <a:avLst/>
              <a:gdLst/>
              <a:ahLst/>
              <a:cxnLst/>
              <a:rect l="l" t="t" r="r" b="b"/>
              <a:pathLst>
                <a:path w="0" h="2620010">
                  <a:moveTo>
                    <a:pt x="0" y="0"/>
                  </a:moveTo>
                  <a:lnTo>
                    <a:pt x="0" y="26195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573762" y="103638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573762" y="125362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573762" y="147086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573762" y="168810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573762" y="190534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573762" y="212258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573762" y="233982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573762" y="255706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573762" y="277430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573762" y="299154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573762" y="320878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580112" y="812793"/>
              <a:ext cx="0" cy="2620010"/>
            </a:xfrm>
            <a:custGeom>
              <a:avLst/>
              <a:gdLst/>
              <a:ahLst/>
              <a:cxnLst/>
              <a:rect l="l" t="t" r="r" b="b"/>
              <a:pathLst>
                <a:path w="0" h="2620010">
                  <a:moveTo>
                    <a:pt x="0" y="0"/>
                  </a:moveTo>
                  <a:lnTo>
                    <a:pt x="0" y="26195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053362" y="812793"/>
              <a:ext cx="0" cy="2620010"/>
            </a:xfrm>
            <a:custGeom>
              <a:avLst/>
              <a:gdLst/>
              <a:ahLst/>
              <a:cxnLst/>
              <a:rect l="l" t="t" r="r" b="b"/>
              <a:pathLst>
                <a:path w="0" h="2620010">
                  <a:moveTo>
                    <a:pt x="0" y="0"/>
                  </a:moveTo>
                  <a:lnTo>
                    <a:pt x="0" y="26195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573762" y="819143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573762" y="342602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6019330" y="839054"/>
            <a:ext cx="2921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FFFFFF"/>
                </a:solidFill>
                <a:latin typeface="Microsoft YaHei"/>
                <a:cs typeface="Microsoft YaHei"/>
              </a:rPr>
              <a:t>名称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7602461" y="839054"/>
            <a:ext cx="6000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FFFFF"/>
                </a:solidFill>
                <a:latin typeface="Microsoft YaHei"/>
                <a:cs typeface="Microsoft YaHei"/>
              </a:rPr>
              <a:t>picoRRU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5576937" y="1068486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体积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780858" y="1068486"/>
            <a:ext cx="330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&lt;2.6L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5576937" y="1285770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重量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748054" y="1285770"/>
            <a:ext cx="4171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&lt;2.6Kg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576937" y="1503055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射频带宽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6748054" y="1503055"/>
            <a:ext cx="93154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3400～3600MHz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5576937" y="1720339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输出功率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748054" y="1720339"/>
            <a:ext cx="5695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4*250mW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576822" y="1937623"/>
            <a:ext cx="306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OBW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6747940" y="1937623"/>
            <a:ext cx="483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200MHz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5576822" y="2154908"/>
            <a:ext cx="2470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IBW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6747940" y="2154908"/>
            <a:ext cx="483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100MHz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5576822" y="2372192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天线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6747940" y="2372192"/>
            <a:ext cx="7600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内置/外接天线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5576822" y="2589476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外部接口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6747940" y="2589476"/>
            <a:ext cx="4267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1*10GE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576822" y="2806761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供电方式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6747940" y="2806761"/>
            <a:ext cx="2514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POE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5576708" y="3024045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防护等级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6747826" y="3024045"/>
            <a:ext cx="263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IP31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5576708" y="3241329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散热方式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6747826" y="3241329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latin typeface="Microsoft YaHei"/>
                <a:cs typeface="Microsoft YaHei"/>
              </a:rPr>
              <a:t>自然散热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5520019" y="3457301"/>
            <a:ext cx="3486150" cy="1483360"/>
            <a:chOff x="5520019" y="3457301"/>
            <a:chExt cx="3486150" cy="1483360"/>
          </a:xfrm>
        </p:grpSpPr>
        <p:sp>
          <p:nvSpPr>
            <p:cNvPr id="79" name="object 79" descr=""/>
            <p:cNvSpPr/>
            <p:nvPr/>
          </p:nvSpPr>
          <p:spPr>
            <a:xfrm>
              <a:off x="5526366" y="3463645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58"/>
                  </a:lnTo>
                  <a:lnTo>
                    <a:pt x="1143444" y="210058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58"/>
                  </a:lnTo>
                  <a:lnTo>
                    <a:pt x="3473259" y="210058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526366" y="3673690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45"/>
                  </a:lnTo>
                  <a:lnTo>
                    <a:pt x="1143444" y="210045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45"/>
                  </a:lnTo>
                  <a:lnTo>
                    <a:pt x="3473259" y="210045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526366" y="3883735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45"/>
                  </a:lnTo>
                  <a:lnTo>
                    <a:pt x="1143444" y="210045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45"/>
                  </a:lnTo>
                  <a:lnTo>
                    <a:pt x="3473259" y="210045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526366" y="4093781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45"/>
                  </a:lnTo>
                  <a:lnTo>
                    <a:pt x="1143444" y="210045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45"/>
                  </a:lnTo>
                  <a:lnTo>
                    <a:pt x="3473259" y="210045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526366" y="4303826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45"/>
                  </a:lnTo>
                  <a:lnTo>
                    <a:pt x="1143444" y="210045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45"/>
                  </a:lnTo>
                  <a:lnTo>
                    <a:pt x="3473259" y="210045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526366" y="4513871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45"/>
                  </a:lnTo>
                  <a:lnTo>
                    <a:pt x="1143444" y="210045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45"/>
                  </a:lnTo>
                  <a:lnTo>
                    <a:pt x="3473259" y="210045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E7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526366" y="4723904"/>
              <a:ext cx="3473450" cy="210185"/>
            </a:xfrm>
            <a:custGeom>
              <a:avLst/>
              <a:gdLst/>
              <a:ahLst/>
              <a:cxnLst/>
              <a:rect l="l" t="t" r="r" b="b"/>
              <a:pathLst>
                <a:path w="3473450" h="210185">
                  <a:moveTo>
                    <a:pt x="1143444" y="0"/>
                  </a:moveTo>
                  <a:lnTo>
                    <a:pt x="0" y="0"/>
                  </a:lnTo>
                  <a:lnTo>
                    <a:pt x="0" y="210045"/>
                  </a:lnTo>
                  <a:lnTo>
                    <a:pt x="1143444" y="210045"/>
                  </a:lnTo>
                  <a:lnTo>
                    <a:pt x="1143444" y="0"/>
                  </a:lnTo>
                  <a:close/>
                </a:path>
                <a:path w="3473450" h="210185">
                  <a:moveTo>
                    <a:pt x="3473259" y="0"/>
                  </a:moveTo>
                  <a:lnTo>
                    <a:pt x="1143457" y="0"/>
                  </a:lnTo>
                  <a:lnTo>
                    <a:pt x="1143457" y="210045"/>
                  </a:lnTo>
                  <a:lnTo>
                    <a:pt x="3473259" y="210045"/>
                  </a:lnTo>
                  <a:lnTo>
                    <a:pt x="3473259" y="0"/>
                  </a:lnTo>
                  <a:close/>
                </a:path>
              </a:pathLst>
            </a:custGeom>
            <a:solidFill>
              <a:srgbClr val="F3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669818" y="3457301"/>
              <a:ext cx="0" cy="1483360"/>
            </a:xfrm>
            <a:custGeom>
              <a:avLst/>
              <a:gdLst/>
              <a:ahLst/>
              <a:cxnLst/>
              <a:rect l="l" t="t" r="r" b="b"/>
              <a:pathLst>
                <a:path w="0" h="1483360">
                  <a:moveTo>
                    <a:pt x="0" y="0"/>
                  </a:moveTo>
                  <a:lnTo>
                    <a:pt x="0" y="148300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520019" y="367369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520019" y="3883737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520019" y="4093780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520019" y="430382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520019" y="4513866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520019" y="4723909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526369" y="3457301"/>
              <a:ext cx="0" cy="1483360"/>
            </a:xfrm>
            <a:custGeom>
              <a:avLst/>
              <a:gdLst/>
              <a:ahLst/>
              <a:cxnLst/>
              <a:rect l="l" t="t" r="r" b="b"/>
              <a:pathLst>
                <a:path w="0" h="1483360">
                  <a:moveTo>
                    <a:pt x="0" y="0"/>
                  </a:moveTo>
                  <a:lnTo>
                    <a:pt x="0" y="148300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999621" y="3457301"/>
              <a:ext cx="0" cy="1483360"/>
            </a:xfrm>
            <a:custGeom>
              <a:avLst/>
              <a:gdLst/>
              <a:ahLst/>
              <a:cxnLst/>
              <a:rect l="l" t="t" r="r" b="b"/>
              <a:pathLst>
                <a:path w="0" h="1483360">
                  <a:moveTo>
                    <a:pt x="0" y="0"/>
                  </a:moveTo>
                  <a:lnTo>
                    <a:pt x="0" y="148300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520019" y="3463651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520019" y="4933952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 h="0">
                  <a:moveTo>
                    <a:pt x="0" y="0"/>
                  </a:moveTo>
                  <a:lnTo>
                    <a:pt x="348594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5951663" y="3479963"/>
            <a:ext cx="2921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FFFFFF"/>
                </a:solidFill>
                <a:latin typeface="Microsoft YaHei"/>
                <a:cs typeface="Microsoft YaHei"/>
              </a:rPr>
              <a:t>名称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7631739" y="3479963"/>
            <a:ext cx="4057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 b="1">
                <a:solidFill>
                  <a:srgbClr val="FFFFFF"/>
                </a:solidFill>
                <a:latin typeface="Microsoft YaHei"/>
                <a:cs typeface="Microsoft YaHei"/>
              </a:rPr>
              <a:t>RHuB</a:t>
            </a:r>
            <a:endParaRPr sz="1050">
              <a:latin typeface="Microsoft YaHei"/>
              <a:cs typeface="Microsoft YaHei"/>
            </a:endParaRPr>
          </a:p>
        </p:txBody>
      </p:sp>
      <p:graphicFrame>
        <p:nvGraphicFramePr>
          <p:cNvPr id="99" name="object 99" descr=""/>
          <p:cNvGraphicFramePr>
            <a:graphicFrameLocks noGrp="1"/>
          </p:cNvGraphicFramePr>
          <p:nvPr/>
        </p:nvGraphicFramePr>
        <p:xfrm>
          <a:off x="5520217" y="3708256"/>
          <a:ext cx="2112645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9350"/>
                <a:gridCol w="886460"/>
              </a:tblGrid>
              <a:tr h="175260"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00" spc="-25">
                          <a:latin typeface="Microsoft YaHei"/>
                          <a:cs typeface="Microsoft YaHei"/>
                        </a:rPr>
                        <a:t>尺寸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350"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00" spc="-25">
                          <a:latin typeface="Microsoft YaHei"/>
                          <a:cs typeface="Microsoft YaHei"/>
                        </a:rPr>
                        <a:t>1U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350">
                    <a:solidFill>
                      <a:srgbClr val="E7F3F4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>
                          <a:latin typeface="Microsoft YaHei"/>
                          <a:cs typeface="Microsoft YaHei"/>
                        </a:rPr>
                        <a:t>支持</a:t>
                      </a:r>
                      <a:r>
                        <a:rPr dirty="0" sz="900" spc="-10">
                          <a:latin typeface="Microsoft YaHei"/>
                          <a:cs typeface="Microsoft YaHei"/>
                        </a:rPr>
                        <a:t>Pico</a:t>
                      </a:r>
                      <a:r>
                        <a:rPr dirty="0" sz="900" spc="-25">
                          <a:latin typeface="Microsoft YaHei"/>
                          <a:cs typeface="Microsoft YaHei"/>
                        </a:rPr>
                        <a:t>数量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50">
                          <a:latin typeface="Microsoft YaHei"/>
                          <a:cs typeface="Microsoft YaHei"/>
                        </a:rPr>
                        <a:t>8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F3F9FA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10">
                          <a:latin typeface="Microsoft YaHei"/>
                          <a:cs typeface="Microsoft YaHei"/>
                        </a:rPr>
                        <a:t>Pico</a:t>
                      </a:r>
                      <a:r>
                        <a:rPr dirty="0" sz="900" spc="-25">
                          <a:latin typeface="Microsoft YaHei"/>
                          <a:cs typeface="Microsoft YaHei"/>
                        </a:rPr>
                        <a:t>接口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10">
                          <a:latin typeface="Microsoft YaHei"/>
                          <a:cs typeface="Microsoft YaHei"/>
                        </a:rPr>
                        <a:t>Cat6A：8*10GE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E7F3F4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10">
                          <a:latin typeface="Microsoft YaHei"/>
                          <a:cs typeface="Microsoft YaHei"/>
                        </a:rPr>
                        <a:t>BBU</a:t>
                      </a:r>
                      <a:r>
                        <a:rPr dirty="0" sz="900" spc="-25">
                          <a:latin typeface="Microsoft YaHei"/>
                          <a:cs typeface="Microsoft YaHei"/>
                        </a:rPr>
                        <a:t>接口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5">
                          <a:latin typeface="Microsoft YaHei"/>
                          <a:cs typeface="Microsoft YaHei"/>
                        </a:rPr>
                        <a:t>光口：</a:t>
                      </a:r>
                      <a:r>
                        <a:rPr dirty="0" sz="900" spc="-10">
                          <a:latin typeface="Microsoft YaHei"/>
                          <a:cs typeface="Microsoft YaHei"/>
                        </a:rPr>
                        <a:t>4*25GE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F3F9FA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25">
                          <a:latin typeface="Microsoft YaHei"/>
                          <a:cs typeface="Microsoft YaHei"/>
                        </a:rPr>
                        <a:t>制式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>
                          <a:latin typeface="Microsoft YaHei"/>
                          <a:cs typeface="Microsoft YaHei"/>
                        </a:rPr>
                        <a:t>5G</a:t>
                      </a:r>
                      <a:r>
                        <a:rPr dirty="0" sz="900" spc="-20">
                          <a:latin typeface="Microsoft YaHei"/>
                          <a:cs typeface="Microsoft YaHei"/>
                        </a:rPr>
                        <a:t> </a:t>
                      </a:r>
                      <a:r>
                        <a:rPr dirty="0" sz="900" spc="-25">
                          <a:latin typeface="Microsoft YaHei"/>
                          <a:cs typeface="Microsoft YaHei"/>
                        </a:rPr>
                        <a:t>NR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E7F3F4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25">
                          <a:latin typeface="Microsoft YaHei"/>
                          <a:cs typeface="Microsoft YaHei"/>
                        </a:rPr>
                        <a:t>供电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>
                          <a:latin typeface="Microsoft YaHei"/>
                          <a:cs typeface="Microsoft YaHei"/>
                        </a:rPr>
                        <a:t>220V</a:t>
                      </a:r>
                      <a:r>
                        <a:rPr dirty="0" sz="900" spc="-30">
                          <a:latin typeface="Microsoft YaHei"/>
                          <a:cs typeface="Microsoft YaHei"/>
                        </a:rPr>
                        <a:t> </a:t>
                      </a:r>
                      <a:r>
                        <a:rPr dirty="0" sz="900" spc="-25">
                          <a:latin typeface="Microsoft YaHei"/>
                          <a:cs typeface="Microsoft YaHei"/>
                        </a:rPr>
                        <a:t>AC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1275"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916" y="1433372"/>
            <a:ext cx="7350059" cy="34653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传输网络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90024" y="865124"/>
            <a:ext cx="259524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7815" algn="l"/>
              </a:tabLst>
            </a:pPr>
            <a:r>
              <a:rPr dirty="0" sz="2000" spc="-25">
                <a:latin typeface="Microsoft YaHei"/>
                <a:cs typeface="Microsoft YaHei"/>
              </a:rPr>
              <a:t>大容量传输网络设备</a:t>
            </a:r>
            <a:endParaRPr sz="20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967" y="1370477"/>
            <a:ext cx="7764716" cy="33999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传输网络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90024" y="941324"/>
            <a:ext cx="259524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7815" algn="l"/>
              </a:tabLst>
            </a:pPr>
            <a:r>
              <a:rPr dirty="0" sz="2000" spc="-25">
                <a:latin typeface="Microsoft YaHei"/>
                <a:cs typeface="Microsoft YaHei"/>
              </a:rPr>
              <a:t>多业务传输网络设备</a:t>
            </a:r>
            <a:endParaRPr sz="20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636383" y="2740399"/>
            <a:ext cx="739140" cy="308610"/>
          </a:xfrm>
          <a:custGeom>
            <a:avLst/>
            <a:gdLst/>
            <a:ahLst/>
            <a:cxnLst/>
            <a:rect l="l" t="t" r="r" b="b"/>
            <a:pathLst>
              <a:path w="739139" h="308610">
                <a:moveTo>
                  <a:pt x="0" y="154172"/>
                </a:moveTo>
                <a:lnTo>
                  <a:pt x="23106" y="100376"/>
                </a:lnTo>
                <a:lnTo>
                  <a:pt x="86864" y="54840"/>
                </a:lnTo>
                <a:lnTo>
                  <a:pt x="131379" y="36258"/>
                </a:lnTo>
                <a:lnTo>
                  <a:pt x="182927" y="21048"/>
                </a:lnTo>
                <a:lnTo>
                  <a:pt x="240465" y="9645"/>
                </a:lnTo>
                <a:lnTo>
                  <a:pt x="302951" y="2483"/>
                </a:lnTo>
                <a:lnTo>
                  <a:pt x="369341" y="0"/>
                </a:lnTo>
                <a:lnTo>
                  <a:pt x="435730" y="2483"/>
                </a:lnTo>
                <a:lnTo>
                  <a:pt x="498216" y="9645"/>
                </a:lnTo>
                <a:lnTo>
                  <a:pt x="555754" y="21048"/>
                </a:lnTo>
                <a:lnTo>
                  <a:pt x="607303" y="36258"/>
                </a:lnTo>
                <a:lnTo>
                  <a:pt x="651818" y="54840"/>
                </a:lnTo>
                <a:lnTo>
                  <a:pt x="688256" y="76358"/>
                </a:lnTo>
                <a:lnTo>
                  <a:pt x="732731" y="126459"/>
                </a:lnTo>
                <a:lnTo>
                  <a:pt x="738682" y="154172"/>
                </a:lnTo>
                <a:lnTo>
                  <a:pt x="732731" y="181885"/>
                </a:lnTo>
                <a:lnTo>
                  <a:pt x="688256" y="231987"/>
                </a:lnTo>
                <a:lnTo>
                  <a:pt x="651818" y="253504"/>
                </a:lnTo>
                <a:lnTo>
                  <a:pt x="607303" y="272086"/>
                </a:lnTo>
                <a:lnTo>
                  <a:pt x="555754" y="287296"/>
                </a:lnTo>
                <a:lnTo>
                  <a:pt x="498216" y="298699"/>
                </a:lnTo>
                <a:lnTo>
                  <a:pt x="435730" y="305861"/>
                </a:lnTo>
                <a:lnTo>
                  <a:pt x="369341" y="308345"/>
                </a:lnTo>
                <a:lnTo>
                  <a:pt x="302951" y="305861"/>
                </a:lnTo>
                <a:lnTo>
                  <a:pt x="240465" y="298699"/>
                </a:lnTo>
                <a:lnTo>
                  <a:pt x="182927" y="287296"/>
                </a:lnTo>
                <a:lnTo>
                  <a:pt x="131379" y="272086"/>
                </a:lnTo>
                <a:lnTo>
                  <a:pt x="86864" y="253504"/>
                </a:lnTo>
                <a:lnTo>
                  <a:pt x="50425" y="231987"/>
                </a:lnTo>
                <a:lnTo>
                  <a:pt x="5950" y="181885"/>
                </a:lnTo>
                <a:lnTo>
                  <a:pt x="0" y="154172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482167" y="2180786"/>
            <a:ext cx="626745" cy="361950"/>
            <a:chOff x="5482167" y="2180786"/>
            <a:chExt cx="626745" cy="361950"/>
          </a:xfrm>
        </p:grpSpPr>
        <p:sp>
          <p:nvSpPr>
            <p:cNvPr id="4" name="object 4" descr=""/>
            <p:cNvSpPr/>
            <p:nvPr/>
          </p:nvSpPr>
          <p:spPr>
            <a:xfrm>
              <a:off x="5697624" y="2185864"/>
              <a:ext cx="268605" cy="145415"/>
            </a:xfrm>
            <a:custGeom>
              <a:avLst/>
              <a:gdLst/>
              <a:ahLst/>
              <a:cxnLst/>
              <a:rect l="l" t="t" r="r" b="b"/>
              <a:pathLst>
                <a:path w="268604" h="145414">
                  <a:moveTo>
                    <a:pt x="134208" y="145012"/>
                  </a:moveTo>
                  <a:lnTo>
                    <a:pt x="81967" y="139314"/>
                  </a:lnTo>
                  <a:lnTo>
                    <a:pt x="39307" y="123776"/>
                  </a:lnTo>
                  <a:lnTo>
                    <a:pt x="10546" y="100729"/>
                  </a:lnTo>
                  <a:lnTo>
                    <a:pt x="0" y="72506"/>
                  </a:lnTo>
                  <a:lnTo>
                    <a:pt x="10546" y="44283"/>
                  </a:lnTo>
                  <a:lnTo>
                    <a:pt x="39307" y="21236"/>
                  </a:lnTo>
                  <a:lnTo>
                    <a:pt x="81967" y="5697"/>
                  </a:lnTo>
                  <a:lnTo>
                    <a:pt x="134208" y="0"/>
                  </a:lnTo>
                  <a:lnTo>
                    <a:pt x="186451" y="5697"/>
                  </a:lnTo>
                  <a:lnTo>
                    <a:pt x="229114" y="21236"/>
                  </a:lnTo>
                  <a:lnTo>
                    <a:pt x="257877" y="44283"/>
                  </a:lnTo>
                  <a:lnTo>
                    <a:pt x="268425" y="72506"/>
                  </a:lnTo>
                  <a:lnTo>
                    <a:pt x="257877" y="100729"/>
                  </a:lnTo>
                  <a:lnTo>
                    <a:pt x="229114" y="123776"/>
                  </a:lnTo>
                  <a:lnTo>
                    <a:pt x="186451" y="139314"/>
                  </a:lnTo>
                  <a:lnTo>
                    <a:pt x="134208" y="1450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173" y="2224249"/>
              <a:ext cx="268432" cy="26869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676625" y="2386319"/>
              <a:ext cx="312420" cy="152400"/>
            </a:xfrm>
            <a:custGeom>
              <a:avLst/>
              <a:gdLst/>
              <a:ahLst/>
              <a:cxnLst/>
              <a:rect l="l" t="t" r="r" b="b"/>
              <a:pathLst>
                <a:path w="312420" h="152400">
                  <a:moveTo>
                    <a:pt x="155963" y="152119"/>
                  </a:moveTo>
                  <a:lnTo>
                    <a:pt x="95254" y="146142"/>
                  </a:lnTo>
                  <a:lnTo>
                    <a:pt x="45679" y="129842"/>
                  </a:lnTo>
                  <a:lnTo>
                    <a:pt x="12256" y="105665"/>
                  </a:lnTo>
                  <a:lnTo>
                    <a:pt x="0" y="76059"/>
                  </a:lnTo>
                  <a:lnTo>
                    <a:pt x="12256" y="46453"/>
                  </a:lnTo>
                  <a:lnTo>
                    <a:pt x="45679" y="22276"/>
                  </a:lnTo>
                  <a:lnTo>
                    <a:pt x="95254" y="5976"/>
                  </a:lnTo>
                  <a:lnTo>
                    <a:pt x="155963" y="0"/>
                  </a:lnTo>
                  <a:lnTo>
                    <a:pt x="216667" y="5976"/>
                  </a:lnTo>
                  <a:lnTo>
                    <a:pt x="266239" y="22276"/>
                  </a:lnTo>
                  <a:lnTo>
                    <a:pt x="299662" y="46453"/>
                  </a:lnTo>
                  <a:lnTo>
                    <a:pt x="311918" y="76059"/>
                  </a:lnTo>
                  <a:lnTo>
                    <a:pt x="299662" y="105665"/>
                  </a:lnTo>
                  <a:lnTo>
                    <a:pt x="266239" y="129842"/>
                  </a:lnTo>
                  <a:lnTo>
                    <a:pt x="216667" y="146142"/>
                  </a:lnTo>
                  <a:lnTo>
                    <a:pt x="155963" y="15211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6072" y="2228517"/>
              <a:ext cx="227941" cy="28575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611012" y="2184463"/>
              <a:ext cx="400685" cy="274320"/>
            </a:xfrm>
            <a:custGeom>
              <a:avLst/>
              <a:gdLst/>
              <a:ahLst/>
              <a:cxnLst/>
              <a:rect l="l" t="t" r="r" b="b"/>
              <a:pathLst>
                <a:path w="400685" h="274319">
                  <a:moveTo>
                    <a:pt x="348780" y="46634"/>
                  </a:moveTo>
                  <a:lnTo>
                    <a:pt x="319671" y="22161"/>
                  </a:lnTo>
                  <a:lnTo>
                    <a:pt x="276910" y="6172"/>
                  </a:lnTo>
                  <a:lnTo>
                    <a:pt x="226161" y="0"/>
                  </a:lnTo>
                  <a:lnTo>
                    <a:pt x="173062" y="4978"/>
                  </a:lnTo>
                  <a:lnTo>
                    <a:pt x="146456" y="12484"/>
                  </a:lnTo>
                  <a:lnTo>
                    <a:pt x="123812" y="22834"/>
                  </a:lnTo>
                  <a:lnTo>
                    <a:pt x="105879" y="35585"/>
                  </a:lnTo>
                  <a:lnTo>
                    <a:pt x="93395" y="50330"/>
                  </a:lnTo>
                  <a:lnTo>
                    <a:pt x="222313" y="73202"/>
                  </a:lnTo>
                  <a:lnTo>
                    <a:pt x="348780" y="46634"/>
                  </a:lnTo>
                  <a:close/>
                </a:path>
                <a:path w="400685" h="274319">
                  <a:moveTo>
                    <a:pt x="400392" y="180327"/>
                  </a:moveTo>
                  <a:lnTo>
                    <a:pt x="361772" y="124904"/>
                  </a:lnTo>
                  <a:lnTo>
                    <a:pt x="318427" y="104597"/>
                  </a:lnTo>
                  <a:lnTo>
                    <a:pt x="263474" y="91274"/>
                  </a:lnTo>
                  <a:lnTo>
                    <a:pt x="200202" y="86487"/>
                  </a:lnTo>
                  <a:lnTo>
                    <a:pt x="136918" y="91274"/>
                  </a:lnTo>
                  <a:lnTo>
                    <a:pt x="81965" y="104597"/>
                  </a:lnTo>
                  <a:lnTo>
                    <a:pt x="38620" y="124904"/>
                  </a:lnTo>
                  <a:lnTo>
                    <a:pt x="10210" y="150660"/>
                  </a:lnTo>
                  <a:lnTo>
                    <a:pt x="0" y="180327"/>
                  </a:lnTo>
                  <a:lnTo>
                    <a:pt x="10210" y="209981"/>
                  </a:lnTo>
                  <a:lnTo>
                    <a:pt x="38620" y="235737"/>
                  </a:lnTo>
                  <a:lnTo>
                    <a:pt x="81965" y="256044"/>
                  </a:lnTo>
                  <a:lnTo>
                    <a:pt x="136918" y="269367"/>
                  </a:lnTo>
                  <a:lnTo>
                    <a:pt x="200202" y="274154"/>
                  </a:lnTo>
                  <a:lnTo>
                    <a:pt x="263474" y="269367"/>
                  </a:lnTo>
                  <a:lnTo>
                    <a:pt x="318427" y="256044"/>
                  </a:lnTo>
                  <a:lnTo>
                    <a:pt x="361772" y="235737"/>
                  </a:lnTo>
                  <a:lnTo>
                    <a:pt x="390182" y="209981"/>
                  </a:lnTo>
                  <a:lnTo>
                    <a:pt x="400392" y="180327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704414" y="2184454"/>
              <a:ext cx="255904" cy="50800"/>
            </a:xfrm>
            <a:custGeom>
              <a:avLst/>
              <a:gdLst/>
              <a:ahLst/>
              <a:cxnLst/>
              <a:rect l="l" t="t" r="r" b="b"/>
              <a:pathLst>
                <a:path w="255904" h="50800">
                  <a:moveTo>
                    <a:pt x="255383" y="46636"/>
                  </a:moveTo>
                  <a:lnTo>
                    <a:pt x="226273" y="22166"/>
                  </a:lnTo>
                  <a:lnTo>
                    <a:pt x="183516" y="6174"/>
                  </a:lnTo>
                  <a:lnTo>
                    <a:pt x="132766" y="0"/>
                  </a:lnTo>
                  <a:lnTo>
                    <a:pt x="79672" y="4982"/>
                  </a:lnTo>
                  <a:lnTo>
                    <a:pt x="53066" y="12494"/>
                  </a:lnTo>
                  <a:lnTo>
                    <a:pt x="30418" y="22840"/>
                  </a:lnTo>
                  <a:lnTo>
                    <a:pt x="12479" y="35595"/>
                  </a:lnTo>
                  <a:lnTo>
                    <a:pt x="0" y="50330"/>
                  </a:lnTo>
                </a:path>
              </a:pathLst>
            </a:custGeom>
            <a:ln w="7319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49196" y="2223784"/>
              <a:ext cx="158750" cy="88900"/>
            </a:xfrm>
            <a:custGeom>
              <a:avLst/>
              <a:gdLst/>
              <a:ahLst/>
              <a:cxnLst/>
              <a:rect l="l" t="t" r="r" b="b"/>
              <a:pathLst>
                <a:path w="158750" h="88900">
                  <a:moveTo>
                    <a:pt x="2550" y="88526"/>
                  </a:moveTo>
                  <a:lnTo>
                    <a:pt x="0" y="74190"/>
                  </a:lnTo>
                  <a:lnTo>
                    <a:pt x="1446" y="59913"/>
                  </a:lnTo>
                  <a:lnTo>
                    <a:pt x="6790" y="46107"/>
                  </a:lnTo>
                  <a:lnTo>
                    <a:pt x="15931" y="33187"/>
                  </a:lnTo>
                  <a:lnTo>
                    <a:pt x="44301" y="12155"/>
                  </a:lnTo>
                  <a:lnTo>
                    <a:pt x="80607" y="848"/>
                  </a:lnTo>
                  <a:lnTo>
                    <a:pt x="120256" y="0"/>
                  </a:lnTo>
                  <a:lnTo>
                    <a:pt x="158656" y="10342"/>
                  </a:lnTo>
                  <a:lnTo>
                    <a:pt x="103436" y="72260"/>
                  </a:lnTo>
                  <a:lnTo>
                    <a:pt x="2550" y="88526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49197" y="2223782"/>
              <a:ext cx="158750" cy="88900"/>
            </a:xfrm>
            <a:custGeom>
              <a:avLst/>
              <a:gdLst/>
              <a:ahLst/>
              <a:cxnLst/>
              <a:rect l="l" t="t" r="r" b="b"/>
              <a:pathLst>
                <a:path w="158750" h="88900">
                  <a:moveTo>
                    <a:pt x="158657" y="10345"/>
                  </a:moveTo>
                  <a:lnTo>
                    <a:pt x="120257" y="0"/>
                  </a:lnTo>
                  <a:lnTo>
                    <a:pt x="80608" y="849"/>
                  </a:lnTo>
                  <a:lnTo>
                    <a:pt x="44302" y="12157"/>
                  </a:lnTo>
                  <a:lnTo>
                    <a:pt x="15932" y="33190"/>
                  </a:lnTo>
                  <a:lnTo>
                    <a:pt x="6788" y="46110"/>
                  </a:lnTo>
                  <a:lnTo>
                    <a:pt x="1445" y="59915"/>
                  </a:lnTo>
                  <a:lnTo>
                    <a:pt x="0" y="74193"/>
                  </a:lnTo>
                  <a:lnTo>
                    <a:pt x="2552" y="88529"/>
                  </a:lnTo>
                </a:path>
              </a:pathLst>
            </a:custGeom>
            <a:ln w="7563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26748" y="2425678"/>
              <a:ext cx="160020" cy="69215"/>
            </a:xfrm>
            <a:custGeom>
              <a:avLst/>
              <a:gdLst/>
              <a:ahLst/>
              <a:cxnLst/>
              <a:rect l="l" t="t" r="r" b="b"/>
              <a:pathLst>
                <a:path w="160020" h="69214">
                  <a:moveTo>
                    <a:pt x="102960" y="68637"/>
                  </a:moveTo>
                  <a:lnTo>
                    <a:pt x="61584" y="62443"/>
                  </a:lnTo>
                  <a:lnTo>
                    <a:pt x="28424" y="47467"/>
                  </a:lnTo>
                  <a:lnTo>
                    <a:pt x="6792" y="25916"/>
                  </a:lnTo>
                  <a:lnTo>
                    <a:pt x="0" y="0"/>
                  </a:lnTo>
                  <a:lnTo>
                    <a:pt x="107140" y="2581"/>
                  </a:lnTo>
                  <a:lnTo>
                    <a:pt x="159405" y="60301"/>
                  </a:lnTo>
                  <a:lnTo>
                    <a:pt x="146094" y="64172"/>
                  </a:lnTo>
                  <a:lnTo>
                    <a:pt x="132116" y="66871"/>
                  </a:lnTo>
                  <a:lnTo>
                    <a:pt x="117671" y="68369"/>
                  </a:lnTo>
                  <a:lnTo>
                    <a:pt x="102960" y="68637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26748" y="2425681"/>
              <a:ext cx="160020" cy="69215"/>
            </a:xfrm>
            <a:custGeom>
              <a:avLst/>
              <a:gdLst/>
              <a:ahLst/>
              <a:cxnLst/>
              <a:rect l="l" t="t" r="r" b="b"/>
              <a:pathLst>
                <a:path w="160020" h="69214">
                  <a:moveTo>
                    <a:pt x="0" y="0"/>
                  </a:moveTo>
                  <a:lnTo>
                    <a:pt x="6792" y="25915"/>
                  </a:lnTo>
                  <a:lnTo>
                    <a:pt x="28424" y="47464"/>
                  </a:lnTo>
                  <a:lnTo>
                    <a:pt x="61584" y="62440"/>
                  </a:lnTo>
                  <a:lnTo>
                    <a:pt x="102960" y="68637"/>
                  </a:lnTo>
                  <a:lnTo>
                    <a:pt x="117671" y="68366"/>
                  </a:lnTo>
                  <a:lnTo>
                    <a:pt x="132116" y="66866"/>
                  </a:lnTo>
                  <a:lnTo>
                    <a:pt x="146094" y="64168"/>
                  </a:lnTo>
                  <a:lnTo>
                    <a:pt x="159405" y="60301"/>
                  </a:lnTo>
                </a:path>
              </a:pathLst>
            </a:custGeom>
            <a:ln w="7464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139" y="2223213"/>
              <a:ext cx="158605" cy="29760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486293" y="2311065"/>
              <a:ext cx="73025" cy="116205"/>
            </a:xfrm>
            <a:custGeom>
              <a:avLst/>
              <a:gdLst/>
              <a:ahLst/>
              <a:cxnLst/>
              <a:rect l="l" t="t" r="r" b="b"/>
              <a:pathLst>
                <a:path w="73025" h="116205">
                  <a:moveTo>
                    <a:pt x="43583" y="115724"/>
                  </a:moveTo>
                  <a:lnTo>
                    <a:pt x="26366" y="106960"/>
                  </a:lnTo>
                  <a:lnTo>
                    <a:pt x="12926" y="94852"/>
                  </a:lnTo>
                  <a:lnTo>
                    <a:pt x="3918" y="80180"/>
                  </a:lnTo>
                  <a:lnTo>
                    <a:pt x="0" y="63726"/>
                  </a:lnTo>
                  <a:lnTo>
                    <a:pt x="4111" y="39980"/>
                  </a:lnTo>
                  <a:lnTo>
                    <a:pt x="18372" y="20076"/>
                  </a:lnTo>
                  <a:lnTo>
                    <a:pt x="40578" y="6065"/>
                  </a:lnTo>
                  <a:lnTo>
                    <a:pt x="68525" y="0"/>
                  </a:lnTo>
                  <a:lnTo>
                    <a:pt x="72614" y="60327"/>
                  </a:lnTo>
                  <a:lnTo>
                    <a:pt x="43583" y="11572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486290" y="2311068"/>
              <a:ext cx="68580" cy="116205"/>
            </a:xfrm>
            <a:custGeom>
              <a:avLst/>
              <a:gdLst/>
              <a:ahLst/>
              <a:cxnLst/>
              <a:rect l="l" t="t" r="r" b="b"/>
              <a:pathLst>
                <a:path w="68579" h="116205">
                  <a:moveTo>
                    <a:pt x="68525" y="0"/>
                  </a:moveTo>
                  <a:lnTo>
                    <a:pt x="40582" y="6064"/>
                  </a:lnTo>
                  <a:lnTo>
                    <a:pt x="18378" y="20073"/>
                  </a:lnTo>
                  <a:lnTo>
                    <a:pt x="4116" y="39977"/>
                  </a:lnTo>
                  <a:lnTo>
                    <a:pt x="0" y="63726"/>
                  </a:lnTo>
                  <a:lnTo>
                    <a:pt x="3923" y="80177"/>
                  </a:lnTo>
                  <a:lnTo>
                    <a:pt x="12932" y="94850"/>
                  </a:lnTo>
                  <a:lnTo>
                    <a:pt x="26370" y="106959"/>
                  </a:lnTo>
                  <a:lnTo>
                    <a:pt x="43583" y="115724"/>
                  </a:lnTo>
                </a:path>
              </a:pathLst>
            </a:custGeom>
            <a:ln w="8177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681655" y="2469487"/>
              <a:ext cx="274320" cy="69215"/>
            </a:xfrm>
            <a:custGeom>
              <a:avLst/>
              <a:gdLst/>
              <a:ahLst/>
              <a:cxnLst/>
              <a:rect l="l" t="t" r="r" b="b"/>
              <a:pathLst>
                <a:path w="274320" h="69214">
                  <a:moveTo>
                    <a:pt x="121359" y="69195"/>
                  </a:moveTo>
                  <a:lnTo>
                    <a:pt x="66860" y="59238"/>
                  </a:lnTo>
                  <a:lnTo>
                    <a:pt x="24454" y="40605"/>
                  </a:lnTo>
                  <a:lnTo>
                    <a:pt x="0" y="15023"/>
                  </a:lnTo>
                  <a:lnTo>
                    <a:pt x="149430" y="0"/>
                  </a:lnTo>
                  <a:lnTo>
                    <a:pt x="274296" y="40649"/>
                  </a:lnTo>
                  <a:lnTo>
                    <a:pt x="255833" y="50558"/>
                  </a:lnTo>
                  <a:lnTo>
                    <a:pt x="233908" y="58666"/>
                  </a:lnTo>
                  <a:lnTo>
                    <a:pt x="209125" y="64791"/>
                  </a:lnTo>
                  <a:lnTo>
                    <a:pt x="182092" y="68747"/>
                  </a:lnTo>
                  <a:lnTo>
                    <a:pt x="121359" y="6919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681653" y="2484512"/>
              <a:ext cx="274320" cy="54610"/>
            </a:xfrm>
            <a:custGeom>
              <a:avLst/>
              <a:gdLst/>
              <a:ahLst/>
              <a:cxnLst/>
              <a:rect l="l" t="t" r="r" b="b"/>
              <a:pathLst>
                <a:path w="274320" h="54610">
                  <a:moveTo>
                    <a:pt x="0" y="0"/>
                  </a:moveTo>
                  <a:lnTo>
                    <a:pt x="24454" y="25580"/>
                  </a:lnTo>
                  <a:lnTo>
                    <a:pt x="66860" y="44212"/>
                  </a:lnTo>
                  <a:lnTo>
                    <a:pt x="121359" y="54169"/>
                  </a:lnTo>
                  <a:lnTo>
                    <a:pt x="182092" y="53723"/>
                  </a:lnTo>
                  <a:lnTo>
                    <a:pt x="209125" y="49767"/>
                  </a:lnTo>
                  <a:lnTo>
                    <a:pt x="233908" y="43642"/>
                  </a:lnTo>
                  <a:lnTo>
                    <a:pt x="255833" y="35531"/>
                  </a:lnTo>
                  <a:lnTo>
                    <a:pt x="274296" y="25619"/>
                  </a:lnTo>
                </a:path>
              </a:pathLst>
            </a:custGeom>
            <a:ln w="7319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3606006" y="2226807"/>
            <a:ext cx="423545" cy="245110"/>
            <a:chOff x="3606006" y="2226807"/>
            <a:chExt cx="423545" cy="245110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0048" y="2231424"/>
              <a:ext cx="414628" cy="236612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693829" y="2288525"/>
              <a:ext cx="269240" cy="126364"/>
            </a:xfrm>
            <a:custGeom>
              <a:avLst/>
              <a:gdLst/>
              <a:ahLst/>
              <a:cxnLst/>
              <a:rect l="l" t="t" r="r" b="b"/>
              <a:pathLst>
                <a:path w="269239" h="126364">
                  <a:moveTo>
                    <a:pt x="134351" y="125933"/>
                  </a:moveTo>
                  <a:lnTo>
                    <a:pt x="82055" y="120985"/>
                  </a:lnTo>
                  <a:lnTo>
                    <a:pt x="39350" y="107492"/>
                  </a:lnTo>
                  <a:lnTo>
                    <a:pt x="10558" y="87477"/>
                  </a:lnTo>
                  <a:lnTo>
                    <a:pt x="0" y="62966"/>
                  </a:lnTo>
                  <a:lnTo>
                    <a:pt x="10558" y="38455"/>
                  </a:lnTo>
                  <a:lnTo>
                    <a:pt x="39350" y="18441"/>
                  </a:lnTo>
                  <a:lnTo>
                    <a:pt x="82055" y="4947"/>
                  </a:lnTo>
                  <a:lnTo>
                    <a:pt x="134351" y="0"/>
                  </a:lnTo>
                  <a:lnTo>
                    <a:pt x="186647" y="4947"/>
                  </a:lnTo>
                  <a:lnTo>
                    <a:pt x="229352" y="18441"/>
                  </a:lnTo>
                  <a:lnTo>
                    <a:pt x="258145" y="38455"/>
                  </a:lnTo>
                  <a:lnTo>
                    <a:pt x="268703" y="62966"/>
                  </a:lnTo>
                  <a:lnTo>
                    <a:pt x="258145" y="87477"/>
                  </a:lnTo>
                  <a:lnTo>
                    <a:pt x="229352" y="107492"/>
                  </a:lnTo>
                  <a:lnTo>
                    <a:pt x="186647" y="120985"/>
                  </a:lnTo>
                  <a:lnTo>
                    <a:pt x="134351" y="125933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6006" y="2226807"/>
              <a:ext cx="423213" cy="245057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4287865" y="2809744"/>
            <a:ext cx="423545" cy="245110"/>
            <a:chOff x="4287865" y="2809744"/>
            <a:chExt cx="423545" cy="245110"/>
          </a:xfrm>
        </p:grpSpPr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1906" y="2814361"/>
              <a:ext cx="414628" cy="236611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375687" y="2871461"/>
              <a:ext cx="269240" cy="126364"/>
            </a:xfrm>
            <a:custGeom>
              <a:avLst/>
              <a:gdLst/>
              <a:ahLst/>
              <a:cxnLst/>
              <a:rect l="l" t="t" r="r" b="b"/>
              <a:pathLst>
                <a:path w="269239" h="126364">
                  <a:moveTo>
                    <a:pt x="134351" y="125933"/>
                  </a:moveTo>
                  <a:lnTo>
                    <a:pt x="82055" y="120985"/>
                  </a:lnTo>
                  <a:lnTo>
                    <a:pt x="39350" y="107492"/>
                  </a:lnTo>
                  <a:lnTo>
                    <a:pt x="10558" y="87477"/>
                  </a:lnTo>
                  <a:lnTo>
                    <a:pt x="0" y="62966"/>
                  </a:lnTo>
                  <a:lnTo>
                    <a:pt x="10558" y="38455"/>
                  </a:lnTo>
                  <a:lnTo>
                    <a:pt x="39350" y="18441"/>
                  </a:lnTo>
                  <a:lnTo>
                    <a:pt x="82055" y="4947"/>
                  </a:lnTo>
                  <a:lnTo>
                    <a:pt x="134351" y="0"/>
                  </a:lnTo>
                  <a:lnTo>
                    <a:pt x="186647" y="4947"/>
                  </a:lnTo>
                  <a:lnTo>
                    <a:pt x="229352" y="18441"/>
                  </a:lnTo>
                  <a:lnTo>
                    <a:pt x="258145" y="38455"/>
                  </a:lnTo>
                  <a:lnTo>
                    <a:pt x="268703" y="62966"/>
                  </a:lnTo>
                  <a:lnTo>
                    <a:pt x="258145" y="87477"/>
                  </a:lnTo>
                  <a:lnTo>
                    <a:pt x="229352" y="107492"/>
                  </a:lnTo>
                  <a:lnTo>
                    <a:pt x="186647" y="120985"/>
                  </a:lnTo>
                  <a:lnTo>
                    <a:pt x="134351" y="125933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7865" y="2809744"/>
              <a:ext cx="423212" cy="245057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5626811" y="2271127"/>
            <a:ext cx="38671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120">
                <a:latin typeface="SimSun"/>
                <a:cs typeface="SimSun"/>
              </a:rPr>
              <a:t>城域网</a:t>
            </a:r>
            <a:endParaRPr sz="800">
              <a:latin typeface="SimSun"/>
              <a:cs typeface="SimSu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642189" y="2276997"/>
            <a:ext cx="38671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120">
                <a:latin typeface="SimSun"/>
                <a:cs typeface="SimSun"/>
              </a:rPr>
              <a:t>回传网</a:t>
            </a:r>
            <a:endParaRPr sz="80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295631" y="2850257"/>
            <a:ext cx="38671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120">
                <a:latin typeface="SimSun"/>
                <a:cs typeface="SimSun"/>
              </a:rPr>
              <a:t>回传网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179456" y="2148329"/>
            <a:ext cx="3460750" cy="748665"/>
            <a:chOff x="4179456" y="2148329"/>
            <a:chExt cx="3460750" cy="748665"/>
          </a:xfrm>
        </p:grpSpPr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79456" y="2594180"/>
              <a:ext cx="343026" cy="30221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18136" y="2586249"/>
              <a:ext cx="343026" cy="30221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95862" y="2148329"/>
              <a:ext cx="343026" cy="30221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91564" y="2508541"/>
              <a:ext cx="343026" cy="302212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930669" y="2284806"/>
              <a:ext cx="529590" cy="233045"/>
            </a:xfrm>
            <a:custGeom>
              <a:avLst/>
              <a:gdLst/>
              <a:ahLst/>
              <a:cxnLst/>
              <a:rect l="l" t="t" r="r" b="b"/>
              <a:pathLst>
                <a:path w="529590" h="233044">
                  <a:moveTo>
                    <a:pt x="529170" y="92024"/>
                  </a:moveTo>
                  <a:lnTo>
                    <a:pt x="496303" y="37680"/>
                  </a:lnTo>
                  <a:lnTo>
                    <a:pt x="459422" y="17754"/>
                  </a:lnTo>
                  <a:lnTo>
                    <a:pt x="412648" y="4686"/>
                  </a:lnTo>
                  <a:lnTo>
                    <a:pt x="358800" y="0"/>
                  </a:lnTo>
                  <a:lnTo>
                    <a:pt x="304965" y="4686"/>
                  </a:lnTo>
                  <a:lnTo>
                    <a:pt x="258191" y="17754"/>
                  </a:lnTo>
                  <a:lnTo>
                    <a:pt x="221322" y="37680"/>
                  </a:lnTo>
                  <a:lnTo>
                    <a:pt x="197129" y="62941"/>
                  </a:lnTo>
                  <a:lnTo>
                    <a:pt x="196964" y="63487"/>
                  </a:lnTo>
                  <a:lnTo>
                    <a:pt x="181140" y="55956"/>
                  </a:lnTo>
                  <a:lnTo>
                    <a:pt x="130390" y="48717"/>
                  </a:lnTo>
                  <a:lnTo>
                    <a:pt x="79629" y="55956"/>
                  </a:lnTo>
                  <a:lnTo>
                    <a:pt x="38188" y="75679"/>
                  </a:lnTo>
                  <a:lnTo>
                    <a:pt x="10248" y="104927"/>
                  </a:lnTo>
                  <a:lnTo>
                    <a:pt x="0" y="140754"/>
                  </a:lnTo>
                  <a:lnTo>
                    <a:pt x="10248" y="176568"/>
                  </a:lnTo>
                  <a:lnTo>
                    <a:pt x="38188" y="205828"/>
                  </a:lnTo>
                  <a:lnTo>
                    <a:pt x="79629" y="225552"/>
                  </a:lnTo>
                  <a:lnTo>
                    <a:pt x="130390" y="232778"/>
                  </a:lnTo>
                  <a:lnTo>
                    <a:pt x="181140" y="225552"/>
                  </a:lnTo>
                  <a:lnTo>
                    <a:pt x="222592" y="205828"/>
                  </a:lnTo>
                  <a:lnTo>
                    <a:pt x="250532" y="176568"/>
                  </a:lnTo>
                  <a:lnTo>
                    <a:pt x="254101" y="164096"/>
                  </a:lnTo>
                  <a:lnTo>
                    <a:pt x="258191" y="166293"/>
                  </a:lnTo>
                  <a:lnTo>
                    <a:pt x="304965" y="179362"/>
                  </a:lnTo>
                  <a:lnTo>
                    <a:pt x="358800" y="184061"/>
                  </a:lnTo>
                  <a:lnTo>
                    <a:pt x="412648" y="179362"/>
                  </a:lnTo>
                  <a:lnTo>
                    <a:pt x="459422" y="166293"/>
                  </a:lnTo>
                  <a:lnTo>
                    <a:pt x="496303" y="146380"/>
                  </a:lnTo>
                  <a:lnTo>
                    <a:pt x="520484" y="121119"/>
                  </a:lnTo>
                  <a:lnTo>
                    <a:pt x="529170" y="9202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0726" y="2445400"/>
              <a:ext cx="175124" cy="14977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6904025" y="2512174"/>
              <a:ext cx="584835" cy="220345"/>
            </a:xfrm>
            <a:custGeom>
              <a:avLst/>
              <a:gdLst/>
              <a:ahLst/>
              <a:cxnLst/>
              <a:rect l="l" t="t" r="r" b="b"/>
              <a:pathLst>
                <a:path w="584834" h="220344">
                  <a:moveTo>
                    <a:pt x="584365" y="123609"/>
                  </a:moveTo>
                  <a:lnTo>
                    <a:pt x="546176" y="66598"/>
                  </a:lnTo>
                  <a:lnTo>
                    <a:pt x="503313" y="45694"/>
                  </a:lnTo>
                  <a:lnTo>
                    <a:pt x="448983" y="31991"/>
                  </a:lnTo>
                  <a:lnTo>
                    <a:pt x="386410" y="27076"/>
                  </a:lnTo>
                  <a:lnTo>
                    <a:pt x="323837" y="31991"/>
                  </a:lnTo>
                  <a:lnTo>
                    <a:pt x="269494" y="45694"/>
                  </a:lnTo>
                  <a:lnTo>
                    <a:pt x="255193" y="52666"/>
                  </a:lnTo>
                  <a:lnTo>
                    <a:pt x="254190" y="49593"/>
                  </a:lnTo>
                  <a:lnTo>
                    <a:pt x="225831" y="23787"/>
                  </a:lnTo>
                  <a:lnTo>
                    <a:pt x="183781" y="6388"/>
                  </a:lnTo>
                  <a:lnTo>
                    <a:pt x="132295" y="0"/>
                  </a:lnTo>
                  <a:lnTo>
                    <a:pt x="80797" y="6388"/>
                  </a:lnTo>
                  <a:lnTo>
                    <a:pt x="38747" y="23787"/>
                  </a:lnTo>
                  <a:lnTo>
                    <a:pt x="10388" y="49593"/>
                  </a:lnTo>
                  <a:lnTo>
                    <a:pt x="0" y="81203"/>
                  </a:lnTo>
                  <a:lnTo>
                    <a:pt x="10388" y="112814"/>
                  </a:lnTo>
                  <a:lnTo>
                    <a:pt x="38747" y="138620"/>
                  </a:lnTo>
                  <a:lnTo>
                    <a:pt x="80797" y="156032"/>
                  </a:lnTo>
                  <a:lnTo>
                    <a:pt x="132295" y="162407"/>
                  </a:lnTo>
                  <a:lnTo>
                    <a:pt x="183781" y="156032"/>
                  </a:lnTo>
                  <a:lnTo>
                    <a:pt x="197294" y="150444"/>
                  </a:lnTo>
                  <a:lnTo>
                    <a:pt x="198526" y="154127"/>
                  </a:lnTo>
                  <a:lnTo>
                    <a:pt x="226631" y="180632"/>
                  </a:lnTo>
                  <a:lnTo>
                    <a:pt x="269494" y="201523"/>
                  </a:lnTo>
                  <a:lnTo>
                    <a:pt x="323837" y="215226"/>
                  </a:lnTo>
                  <a:lnTo>
                    <a:pt x="386410" y="220154"/>
                  </a:lnTo>
                  <a:lnTo>
                    <a:pt x="448983" y="215226"/>
                  </a:lnTo>
                  <a:lnTo>
                    <a:pt x="503313" y="201523"/>
                  </a:lnTo>
                  <a:lnTo>
                    <a:pt x="546176" y="180632"/>
                  </a:lnTo>
                  <a:lnTo>
                    <a:pt x="574281" y="154127"/>
                  </a:lnTo>
                  <a:lnTo>
                    <a:pt x="584365" y="12360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45636" y="2338927"/>
              <a:ext cx="289332" cy="36272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7009193" y="2283091"/>
              <a:ext cx="508634" cy="347980"/>
            </a:xfrm>
            <a:custGeom>
              <a:avLst/>
              <a:gdLst/>
              <a:ahLst/>
              <a:cxnLst/>
              <a:rect l="l" t="t" r="r" b="b"/>
              <a:pathLst>
                <a:path w="508634" h="347980">
                  <a:moveTo>
                    <a:pt x="442709" y="59118"/>
                  </a:moveTo>
                  <a:lnTo>
                    <a:pt x="414769" y="33464"/>
                  </a:lnTo>
                  <a:lnTo>
                    <a:pt x="374815" y="14478"/>
                  </a:lnTo>
                  <a:lnTo>
                    <a:pt x="326529" y="3035"/>
                  </a:lnTo>
                  <a:lnTo>
                    <a:pt x="273596" y="0"/>
                  </a:lnTo>
                  <a:lnTo>
                    <a:pt x="219671" y="6235"/>
                  </a:lnTo>
                  <a:lnTo>
                    <a:pt x="185902" y="15773"/>
                  </a:lnTo>
                  <a:lnTo>
                    <a:pt x="157149" y="28905"/>
                  </a:lnTo>
                  <a:lnTo>
                    <a:pt x="134378" y="45097"/>
                  </a:lnTo>
                  <a:lnTo>
                    <a:pt x="118541" y="63804"/>
                  </a:lnTo>
                  <a:lnTo>
                    <a:pt x="282194" y="92837"/>
                  </a:lnTo>
                  <a:lnTo>
                    <a:pt x="442709" y="59118"/>
                  </a:lnTo>
                  <a:close/>
                </a:path>
                <a:path w="508634" h="347980">
                  <a:moveTo>
                    <a:pt x="508228" y="228803"/>
                  </a:moveTo>
                  <a:lnTo>
                    <a:pt x="482396" y="176428"/>
                  </a:lnTo>
                  <a:lnTo>
                    <a:pt x="413054" y="135864"/>
                  </a:lnTo>
                  <a:lnTo>
                    <a:pt x="365861" y="121805"/>
                  </a:lnTo>
                  <a:lnTo>
                    <a:pt x="312381" y="112852"/>
                  </a:lnTo>
                  <a:lnTo>
                    <a:pt x="254114" y="109702"/>
                  </a:lnTo>
                  <a:lnTo>
                    <a:pt x="195846" y="112852"/>
                  </a:lnTo>
                  <a:lnTo>
                    <a:pt x="142354" y="121805"/>
                  </a:lnTo>
                  <a:lnTo>
                    <a:pt x="95173" y="135864"/>
                  </a:lnTo>
                  <a:lnTo>
                    <a:pt x="55816" y="154317"/>
                  </a:lnTo>
                  <a:lnTo>
                    <a:pt x="6705" y="201498"/>
                  </a:lnTo>
                  <a:lnTo>
                    <a:pt x="0" y="228803"/>
                  </a:lnTo>
                  <a:lnTo>
                    <a:pt x="6705" y="256120"/>
                  </a:lnTo>
                  <a:lnTo>
                    <a:pt x="55816" y="303301"/>
                  </a:lnTo>
                  <a:lnTo>
                    <a:pt x="95173" y="321741"/>
                  </a:lnTo>
                  <a:lnTo>
                    <a:pt x="142354" y="335800"/>
                  </a:lnTo>
                  <a:lnTo>
                    <a:pt x="195846" y="344766"/>
                  </a:lnTo>
                  <a:lnTo>
                    <a:pt x="254114" y="347916"/>
                  </a:lnTo>
                  <a:lnTo>
                    <a:pt x="312381" y="344766"/>
                  </a:lnTo>
                  <a:lnTo>
                    <a:pt x="365861" y="335800"/>
                  </a:lnTo>
                  <a:lnTo>
                    <a:pt x="413054" y="321741"/>
                  </a:lnTo>
                  <a:lnTo>
                    <a:pt x="452399" y="303301"/>
                  </a:lnTo>
                  <a:lnTo>
                    <a:pt x="501510" y="256120"/>
                  </a:lnTo>
                  <a:lnTo>
                    <a:pt x="508228" y="228803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127746" y="2283077"/>
              <a:ext cx="324485" cy="64135"/>
            </a:xfrm>
            <a:custGeom>
              <a:avLst/>
              <a:gdLst/>
              <a:ahLst/>
              <a:cxnLst/>
              <a:rect l="l" t="t" r="r" b="b"/>
              <a:pathLst>
                <a:path w="324484" h="64135">
                  <a:moveTo>
                    <a:pt x="324163" y="59119"/>
                  </a:moveTo>
                  <a:lnTo>
                    <a:pt x="296221" y="33466"/>
                  </a:lnTo>
                  <a:lnTo>
                    <a:pt x="256272" y="14481"/>
                  </a:lnTo>
                  <a:lnTo>
                    <a:pt x="207991" y="3035"/>
                  </a:lnTo>
                  <a:lnTo>
                    <a:pt x="155051" y="0"/>
                  </a:lnTo>
                  <a:lnTo>
                    <a:pt x="101126" y="6245"/>
                  </a:lnTo>
                  <a:lnTo>
                    <a:pt x="67354" y="15781"/>
                  </a:lnTo>
                  <a:lnTo>
                    <a:pt x="38608" y="28914"/>
                  </a:lnTo>
                  <a:lnTo>
                    <a:pt x="15840" y="45105"/>
                  </a:lnTo>
                  <a:lnTo>
                    <a:pt x="0" y="63812"/>
                  </a:lnTo>
                </a:path>
              </a:pathLst>
            </a:custGeom>
            <a:ln w="7319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930718" y="2332923"/>
              <a:ext cx="201930" cy="112395"/>
            </a:xfrm>
            <a:custGeom>
              <a:avLst/>
              <a:gdLst/>
              <a:ahLst/>
              <a:cxnLst/>
              <a:rect l="l" t="t" r="r" b="b"/>
              <a:pathLst>
                <a:path w="201929" h="112394">
                  <a:moveTo>
                    <a:pt x="3238" y="112373"/>
                  </a:moveTo>
                  <a:lnTo>
                    <a:pt x="0" y="94175"/>
                  </a:lnTo>
                  <a:lnTo>
                    <a:pt x="1835" y="76052"/>
                  </a:lnTo>
                  <a:lnTo>
                    <a:pt x="8620" y="58528"/>
                  </a:lnTo>
                  <a:lnTo>
                    <a:pt x="20227" y="42126"/>
                  </a:lnTo>
                  <a:lnTo>
                    <a:pt x="56239" y="15432"/>
                  </a:lnTo>
                  <a:lnTo>
                    <a:pt x="102323" y="1079"/>
                  </a:lnTo>
                  <a:lnTo>
                    <a:pt x="152650" y="0"/>
                  </a:lnTo>
                  <a:lnTo>
                    <a:pt x="201394" y="13127"/>
                  </a:lnTo>
                  <a:lnTo>
                    <a:pt x="131298" y="91723"/>
                  </a:lnTo>
                  <a:lnTo>
                    <a:pt x="3238" y="112373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930718" y="2332925"/>
              <a:ext cx="201930" cy="112395"/>
            </a:xfrm>
            <a:custGeom>
              <a:avLst/>
              <a:gdLst/>
              <a:ahLst/>
              <a:cxnLst/>
              <a:rect l="l" t="t" r="r" b="b"/>
              <a:pathLst>
                <a:path w="201929" h="112394">
                  <a:moveTo>
                    <a:pt x="201394" y="13128"/>
                  </a:moveTo>
                  <a:lnTo>
                    <a:pt x="152650" y="0"/>
                  </a:lnTo>
                  <a:lnTo>
                    <a:pt x="102323" y="1076"/>
                  </a:lnTo>
                  <a:lnTo>
                    <a:pt x="56239" y="15427"/>
                  </a:lnTo>
                  <a:lnTo>
                    <a:pt x="20227" y="42120"/>
                  </a:lnTo>
                  <a:lnTo>
                    <a:pt x="8620" y="58522"/>
                  </a:lnTo>
                  <a:lnTo>
                    <a:pt x="1835" y="76047"/>
                  </a:lnTo>
                  <a:lnTo>
                    <a:pt x="0" y="94172"/>
                  </a:lnTo>
                  <a:lnTo>
                    <a:pt x="3238" y="112374"/>
                  </a:lnTo>
                </a:path>
              </a:pathLst>
            </a:custGeom>
            <a:ln w="7563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902225" y="2589201"/>
              <a:ext cx="202565" cy="87630"/>
            </a:xfrm>
            <a:custGeom>
              <a:avLst/>
              <a:gdLst/>
              <a:ahLst/>
              <a:cxnLst/>
              <a:rect l="l" t="t" r="r" b="b"/>
              <a:pathLst>
                <a:path w="202565" h="87630">
                  <a:moveTo>
                    <a:pt x="130690" y="87118"/>
                  </a:moveTo>
                  <a:lnTo>
                    <a:pt x="78171" y="79255"/>
                  </a:lnTo>
                  <a:lnTo>
                    <a:pt x="36079" y="60246"/>
                  </a:lnTo>
                  <a:lnTo>
                    <a:pt x="8621" y="32893"/>
                  </a:lnTo>
                  <a:lnTo>
                    <a:pt x="0" y="0"/>
                  </a:lnTo>
                  <a:lnTo>
                    <a:pt x="135997" y="3269"/>
                  </a:lnTo>
                  <a:lnTo>
                    <a:pt x="202343" y="76535"/>
                  </a:lnTo>
                  <a:lnTo>
                    <a:pt x="185445" y="81448"/>
                  </a:lnTo>
                  <a:lnTo>
                    <a:pt x="167700" y="84873"/>
                  </a:lnTo>
                  <a:lnTo>
                    <a:pt x="149364" y="86775"/>
                  </a:lnTo>
                  <a:lnTo>
                    <a:pt x="130690" y="871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902226" y="2589198"/>
              <a:ext cx="202565" cy="87630"/>
            </a:xfrm>
            <a:custGeom>
              <a:avLst/>
              <a:gdLst/>
              <a:ahLst/>
              <a:cxnLst/>
              <a:rect l="l" t="t" r="r" b="b"/>
              <a:pathLst>
                <a:path w="202565" h="87630">
                  <a:moveTo>
                    <a:pt x="0" y="0"/>
                  </a:moveTo>
                  <a:lnTo>
                    <a:pt x="8621" y="32894"/>
                  </a:lnTo>
                  <a:lnTo>
                    <a:pt x="36079" y="60248"/>
                  </a:lnTo>
                  <a:lnTo>
                    <a:pt x="78171" y="79257"/>
                  </a:lnTo>
                  <a:lnTo>
                    <a:pt x="130690" y="87118"/>
                  </a:lnTo>
                  <a:lnTo>
                    <a:pt x="149360" y="86778"/>
                  </a:lnTo>
                  <a:lnTo>
                    <a:pt x="167694" y="84876"/>
                  </a:lnTo>
                  <a:lnTo>
                    <a:pt x="185438" y="81451"/>
                  </a:lnTo>
                  <a:lnTo>
                    <a:pt x="202335" y="76542"/>
                  </a:lnTo>
                </a:path>
              </a:pathLst>
            </a:custGeom>
            <a:ln w="7464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40717" y="2333245"/>
              <a:ext cx="199138" cy="375654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850875" y="2443714"/>
              <a:ext cx="92710" cy="147320"/>
            </a:xfrm>
            <a:custGeom>
              <a:avLst/>
              <a:gdLst/>
              <a:ahLst/>
              <a:cxnLst/>
              <a:rect l="l" t="t" r="r" b="b"/>
              <a:pathLst>
                <a:path w="92709" h="147319">
                  <a:moveTo>
                    <a:pt x="55317" y="146892"/>
                  </a:moveTo>
                  <a:lnTo>
                    <a:pt x="33469" y="135768"/>
                  </a:lnTo>
                  <a:lnTo>
                    <a:pt x="16411" y="120398"/>
                  </a:lnTo>
                  <a:lnTo>
                    <a:pt x="4977" y="101776"/>
                  </a:lnTo>
                  <a:lnTo>
                    <a:pt x="0" y="80893"/>
                  </a:lnTo>
                  <a:lnTo>
                    <a:pt x="5220" y="50748"/>
                  </a:lnTo>
                  <a:lnTo>
                    <a:pt x="23323" y="25483"/>
                  </a:lnTo>
                  <a:lnTo>
                    <a:pt x="51509" y="7699"/>
                  </a:lnTo>
                  <a:lnTo>
                    <a:pt x="86979" y="0"/>
                  </a:lnTo>
                  <a:lnTo>
                    <a:pt x="92173" y="76574"/>
                  </a:lnTo>
                  <a:lnTo>
                    <a:pt x="55317" y="14689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850873" y="2443715"/>
              <a:ext cx="86995" cy="147320"/>
            </a:xfrm>
            <a:custGeom>
              <a:avLst/>
              <a:gdLst/>
              <a:ahLst/>
              <a:cxnLst/>
              <a:rect l="l" t="t" r="r" b="b"/>
              <a:pathLst>
                <a:path w="86995" h="147319">
                  <a:moveTo>
                    <a:pt x="86979" y="0"/>
                  </a:moveTo>
                  <a:lnTo>
                    <a:pt x="51510" y="7696"/>
                  </a:lnTo>
                  <a:lnTo>
                    <a:pt x="23326" y="25477"/>
                  </a:lnTo>
                  <a:lnTo>
                    <a:pt x="5223" y="50742"/>
                  </a:lnTo>
                  <a:lnTo>
                    <a:pt x="0" y="80887"/>
                  </a:lnTo>
                  <a:lnTo>
                    <a:pt x="4977" y="101773"/>
                  </a:lnTo>
                  <a:lnTo>
                    <a:pt x="16412" y="120397"/>
                  </a:lnTo>
                  <a:lnTo>
                    <a:pt x="33472" y="135768"/>
                  </a:lnTo>
                  <a:lnTo>
                    <a:pt x="55325" y="146892"/>
                  </a:lnTo>
                </a:path>
              </a:pathLst>
            </a:custGeom>
            <a:ln w="8177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098855" y="2644803"/>
              <a:ext cx="348615" cy="88900"/>
            </a:xfrm>
            <a:custGeom>
              <a:avLst/>
              <a:gdLst/>
              <a:ahLst/>
              <a:cxnLst/>
              <a:rect l="l" t="t" r="r" b="b"/>
              <a:pathLst>
                <a:path w="348615" h="88900">
                  <a:moveTo>
                    <a:pt x="169066" y="88844"/>
                  </a:moveTo>
                  <a:lnTo>
                    <a:pt x="111111" y="81691"/>
                  </a:lnTo>
                  <a:lnTo>
                    <a:pt x="61077" y="66929"/>
                  </a:lnTo>
                  <a:lnTo>
                    <a:pt x="22770" y="45682"/>
                  </a:lnTo>
                  <a:lnTo>
                    <a:pt x="0" y="19072"/>
                  </a:lnTo>
                  <a:lnTo>
                    <a:pt x="189676" y="0"/>
                  </a:lnTo>
                  <a:lnTo>
                    <a:pt x="348173" y="51592"/>
                  </a:lnTo>
                  <a:lnTo>
                    <a:pt x="324736" y="64171"/>
                  </a:lnTo>
                  <a:lnTo>
                    <a:pt x="296906" y="74467"/>
                  </a:lnTo>
                  <a:lnTo>
                    <a:pt x="265449" y="82243"/>
                  </a:lnTo>
                  <a:lnTo>
                    <a:pt x="231133" y="87266"/>
                  </a:lnTo>
                  <a:lnTo>
                    <a:pt x="169066" y="8884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098853" y="2663874"/>
              <a:ext cx="348615" cy="69850"/>
            </a:xfrm>
            <a:custGeom>
              <a:avLst/>
              <a:gdLst/>
              <a:ahLst/>
              <a:cxnLst/>
              <a:rect l="l" t="t" r="r" b="b"/>
              <a:pathLst>
                <a:path w="348615" h="69850">
                  <a:moveTo>
                    <a:pt x="0" y="0"/>
                  </a:moveTo>
                  <a:lnTo>
                    <a:pt x="22773" y="26609"/>
                  </a:lnTo>
                  <a:lnTo>
                    <a:pt x="61080" y="47856"/>
                  </a:lnTo>
                  <a:lnTo>
                    <a:pt x="111113" y="62618"/>
                  </a:lnTo>
                  <a:lnTo>
                    <a:pt x="169066" y="69771"/>
                  </a:lnTo>
                  <a:lnTo>
                    <a:pt x="231133" y="68193"/>
                  </a:lnTo>
                  <a:lnTo>
                    <a:pt x="265449" y="63170"/>
                  </a:lnTo>
                  <a:lnTo>
                    <a:pt x="296906" y="55394"/>
                  </a:lnTo>
                  <a:lnTo>
                    <a:pt x="324736" y="45099"/>
                  </a:lnTo>
                  <a:lnTo>
                    <a:pt x="348173" y="32519"/>
                  </a:lnTo>
                </a:path>
              </a:pathLst>
            </a:custGeom>
            <a:ln w="7320">
              <a:solidFill>
                <a:srgbClr val="6C8F9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7051444" y="2446312"/>
            <a:ext cx="38671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120">
                <a:latin typeface="SimSun"/>
                <a:cs typeface="SimSun"/>
              </a:rPr>
              <a:t>广域网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4061274" y="1855367"/>
            <a:ext cx="4325620" cy="1041400"/>
            <a:chOff x="4061274" y="1855367"/>
            <a:chExt cx="4325620" cy="1041400"/>
          </a:xfrm>
        </p:grpSpPr>
        <p:pic>
          <p:nvPicPr>
            <p:cNvPr id="52" name="object 5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03527" y="2286444"/>
              <a:ext cx="231386" cy="22061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43322" y="2156261"/>
              <a:ext cx="343026" cy="302212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21053" y="2594180"/>
              <a:ext cx="343021" cy="302211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13647" y="2315524"/>
              <a:ext cx="231386" cy="220614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95880" y="2216594"/>
              <a:ext cx="343026" cy="30221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95506" y="2315524"/>
              <a:ext cx="231387" cy="220618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6250104" y="2359769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5" h="0">
                  <a:moveTo>
                    <a:pt x="0" y="0"/>
                  </a:moveTo>
                  <a:lnTo>
                    <a:pt x="99329" y="0"/>
                  </a:lnTo>
                </a:path>
              </a:pathLst>
            </a:custGeom>
            <a:ln w="102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188029" y="2540493"/>
              <a:ext cx="104139" cy="145415"/>
            </a:xfrm>
            <a:custGeom>
              <a:avLst/>
              <a:gdLst/>
              <a:ahLst/>
              <a:cxnLst/>
              <a:rect l="l" t="t" r="r" b="b"/>
              <a:pathLst>
                <a:path w="104139" h="145414">
                  <a:moveTo>
                    <a:pt x="0" y="0"/>
                  </a:moveTo>
                  <a:lnTo>
                    <a:pt x="0" y="145083"/>
                  </a:lnTo>
                  <a:lnTo>
                    <a:pt x="103569" y="145083"/>
                  </a:lnTo>
                </a:path>
              </a:pathLst>
            </a:custGeom>
            <a:ln w="114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642102" y="2416358"/>
              <a:ext cx="53975" cy="0"/>
            </a:xfrm>
            <a:custGeom>
              <a:avLst/>
              <a:gdLst/>
              <a:ahLst/>
              <a:cxnLst/>
              <a:rect l="l" t="t" r="r" b="b"/>
              <a:pathLst>
                <a:path w="53975" h="0">
                  <a:moveTo>
                    <a:pt x="0" y="0"/>
                  </a:moveTo>
                  <a:lnTo>
                    <a:pt x="53513" y="0"/>
                  </a:lnTo>
                </a:path>
              </a:pathLst>
            </a:custGeom>
            <a:ln w="102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637858" y="2540557"/>
              <a:ext cx="123825" cy="94615"/>
            </a:xfrm>
            <a:custGeom>
              <a:avLst/>
              <a:gdLst/>
              <a:ahLst/>
              <a:cxnLst/>
              <a:rect l="l" t="t" r="r" b="b"/>
              <a:pathLst>
                <a:path w="123825" h="94614">
                  <a:moveTo>
                    <a:pt x="0" y="94598"/>
                  </a:moveTo>
                  <a:lnTo>
                    <a:pt x="123715" y="94598"/>
                  </a:lnTo>
                  <a:lnTo>
                    <a:pt x="123715" y="0"/>
                  </a:lnTo>
                </a:path>
              </a:pathLst>
            </a:custGeom>
            <a:ln w="1093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583463" y="2445678"/>
              <a:ext cx="220345" cy="0"/>
            </a:xfrm>
            <a:custGeom>
              <a:avLst/>
              <a:gdLst/>
              <a:ahLst/>
              <a:cxnLst/>
              <a:rect l="l" t="t" r="r" b="b"/>
              <a:pathLst>
                <a:path w="220345" h="0">
                  <a:moveTo>
                    <a:pt x="0" y="0"/>
                  </a:moveTo>
                  <a:lnTo>
                    <a:pt x="220173" y="0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910342" y="2217749"/>
              <a:ext cx="133350" cy="69215"/>
            </a:xfrm>
            <a:custGeom>
              <a:avLst/>
              <a:gdLst/>
              <a:ahLst/>
              <a:cxnLst/>
              <a:rect l="l" t="t" r="r" b="b"/>
              <a:pathLst>
                <a:path w="133350" h="69214">
                  <a:moveTo>
                    <a:pt x="0" y="68779"/>
                  </a:moveTo>
                  <a:lnTo>
                    <a:pt x="0" y="0"/>
                  </a:lnTo>
                  <a:lnTo>
                    <a:pt x="133013" y="0"/>
                  </a:lnTo>
                </a:path>
              </a:pathLst>
            </a:custGeom>
            <a:ln w="106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978919" y="2511411"/>
              <a:ext cx="0" cy="83185"/>
            </a:xfrm>
            <a:custGeom>
              <a:avLst/>
              <a:gdLst/>
              <a:ahLst/>
              <a:cxnLst/>
              <a:rect l="l" t="t" r="r" b="b"/>
              <a:pathLst>
                <a:path w="0" h="83185">
                  <a:moveTo>
                    <a:pt x="0" y="0"/>
                  </a:moveTo>
                  <a:lnTo>
                    <a:pt x="0" y="82792"/>
                  </a:lnTo>
                </a:path>
              </a:pathLst>
            </a:custGeom>
            <a:ln w="1202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127951" y="2355374"/>
              <a:ext cx="241935" cy="0"/>
            </a:xfrm>
            <a:custGeom>
              <a:avLst/>
              <a:gdLst/>
              <a:ahLst/>
              <a:cxnLst/>
              <a:rect l="l" t="t" r="r" b="b"/>
              <a:pathLst>
                <a:path w="241935" h="0">
                  <a:moveTo>
                    <a:pt x="241491" y="0"/>
                  </a:moveTo>
                  <a:lnTo>
                    <a:pt x="0" y="0"/>
                  </a:lnTo>
                </a:path>
              </a:pathLst>
            </a:custGeom>
            <a:ln w="102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264359" y="2499667"/>
              <a:ext cx="190500" cy="238125"/>
            </a:xfrm>
            <a:custGeom>
              <a:avLst/>
              <a:gdLst/>
              <a:ahLst/>
              <a:cxnLst/>
              <a:rect l="l" t="t" r="r" b="b"/>
              <a:pathLst>
                <a:path w="190500" h="238125">
                  <a:moveTo>
                    <a:pt x="190315" y="0"/>
                  </a:moveTo>
                  <a:lnTo>
                    <a:pt x="190315" y="237686"/>
                  </a:lnTo>
                  <a:lnTo>
                    <a:pt x="0" y="237686"/>
                  </a:lnTo>
                </a:path>
              </a:pathLst>
            </a:custGeom>
            <a:ln w="113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664191" y="28508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 h="0">
                  <a:moveTo>
                    <a:pt x="253977" y="0"/>
                  </a:moveTo>
                  <a:lnTo>
                    <a:pt x="0" y="0"/>
                  </a:lnTo>
                </a:path>
              </a:pathLst>
            </a:custGeom>
            <a:ln w="61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062544" y="1856631"/>
              <a:ext cx="1108075" cy="109220"/>
            </a:xfrm>
            <a:custGeom>
              <a:avLst/>
              <a:gdLst/>
              <a:ahLst/>
              <a:cxnLst/>
              <a:rect l="l" t="t" r="r" b="b"/>
              <a:pathLst>
                <a:path w="1108075" h="109219">
                  <a:moveTo>
                    <a:pt x="1108023" y="109139"/>
                  </a:moveTo>
                  <a:lnTo>
                    <a:pt x="0" y="109139"/>
                  </a:lnTo>
                  <a:lnTo>
                    <a:pt x="0" y="0"/>
                  </a:lnTo>
                  <a:lnTo>
                    <a:pt x="1108023" y="0"/>
                  </a:lnTo>
                  <a:lnTo>
                    <a:pt x="1108023" y="109139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062544" y="1856637"/>
              <a:ext cx="1108075" cy="109220"/>
            </a:xfrm>
            <a:custGeom>
              <a:avLst/>
              <a:gdLst/>
              <a:ahLst/>
              <a:cxnLst/>
              <a:rect l="l" t="t" r="r" b="b"/>
              <a:pathLst>
                <a:path w="1108075" h="109219">
                  <a:moveTo>
                    <a:pt x="0" y="109139"/>
                  </a:moveTo>
                  <a:lnTo>
                    <a:pt x="1108023" y="109139"/>
                  </a:lnTo>
                  <a:lnTo>
                    <a:pt x="1108023" y="0"/>
                  </a:lnTo>
                  <a:lnTo>
                    <a:pt x="0" y="0"/>
                  </a:lnTo>
                  <a:lnTo>
                    <a:pt x="0" y="10913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4063585" y="1829398"/>
            <a:ext cx="1106170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10"/>
              </a:spcBef>
            </a:pPr>
            <a:r>
              <a:rPr dirty="0" sz="800" spc="130">
                <a:latin typeface="SimSun"/>
                <a:cs typeface="SimSun"/>
              </a:rPr>
              <a:t>通用硬件资源池</a:t>
            </a:r>
            <a:endParaRPr sz="800">
              <a:latin typeface="SimSun"/>
              <a:cs typeface="SimSun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5198976" y="1856631"/>
            <a:ext cx="681990" cy="109855"/>
          </a:xfrm>
          <a:custGeom>
            <a:avLst/>
            <a:gdLst/>
            <a:ahLst/>
            <a:cxnLst/>
            <a:rect l="l" t="t" r="r" b="b"/>
            <a:pathLst>
              <a:path w="681989" h="109855">
                <a:moveTo>
                  <a:pt x="0" y="109480"/>
                </a:moveTo>
                <a:lnTo>
                  <a:pt x="681861" y="109480"/>
                </a:lnTo>
                <a:lnTo>
                  <a:pt x="681861" y="0"/>
                </a:lnTo>
                <a:lnTo>
                  <a:pt x="0" y="0"/>
                </a:lnTo>
                <a:lnTo>
                  <a:pt x="0" y="1094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5214220" y="1842381"/>
            <a:ext cx="658495" cy="122555"/>
          </a:xfrm>
          <a:prstGeom prst="rect">
            <a:avLst/>
          </a:prstGeom>
          <a:solidFill>
            <a:srgbClr val="C1C1C1"/>
          </a:solidFill>
        </p:spPr>
        <p:txBody>
          <a:bodyPr wrap="square" lIns="0" tIns="1270" rIns="0" bIns="0" rtlCol="0" vert="horz">
            <a:spAutoFit/>
          </a:bodyPr>
          <a:lstStyle/>
          <a:p>
            <a:pPr marL="24765">
              <a:lnSpc>
                <a:spcPts val="955"/>
              </a:lnSpc>
              <a:spcBef>
                <a:spcPts val="10"/>
              </a:spcBef>
            </a:pPr>
            <a:r>
              <a:rPr dirty="0" sz="800" spc="95">
                <a:latin typeface="Times New Roman"/>
                <a:cs typeface="Times New Roman"/>
              </a:rPr>
              <a:t>SDN</a:t>
            </a:r>
            <a:r>
              <a:rPr dirty="0" sz="800" spc="120">
                <a:latin typeface="SimSun"/>
                <a:cs typeface="SimSun"/>
              </a:rPr>
              <a:t>控制器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4000327" y="1201655"/>
            <a:ext cx="1943100" cy="798830"/>
            <a:chOff x="4000327" y="1201655"/>
            <a:chExt cx="1943100" cy="798830"/>
          </a:xfrm>
        </p:grpSpPr>
        <p:sp>
          <p:nvSpPr>
            <p:cNvPr id="74" name="object 74" descr=""/>
            <p:cNvSpPr/>
            <p:nvPr/>
          </p:nvSpPr>
          <p:spPr>
            <a:xfrm>
              <a:off x="4005725" y="1207053"/>
              <a:ext cx="1932305" cy="788035"/>
            </a:xfrm>
            <a:custGeom>
              <a:avLst/>
              <a:gdLst/>
              <a:ahLst/>
              <a:cxnLst/>
              <a:rect l="l" t="t" r="r" b="b"/>
              <a:pathLst>
                <a:path w="1932304" h="788035">
                  <a:moveTo>
                    <a:pt x="0" y="788011"/>
                  </a:moveTo>
                  <a:lnTo>
                    <a:pt x="1931934" y="788011"/>
                  </a:lnTo>
                  <a:lnTo>
                    <a:pt x="1931934" y="0"/>
                  </a:lnTo>
                  <a:lnTo>
                    <a:pt x="0" y="0"/>
                  </a:lnTo>
                  <a:lnTo>
                    <a:pt x="0" y="788011"/>
                  </a:lnTo>
                  <a:close/>
                </a:path>
              </a:pathLst>
            </a:custGeom>
            <a:ln w="1054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213184" y="1730124"/>
              <a:ext cx="668020" cy="97790"/>
            </a:xfrm>
            <a:custGeom>
              <a:avLst/>
              <a:gdLst/>
              <a:ahLst/>
              <a:cxnLst/>
              <a:rect l="l" t="t" r="r" b="b"/>
              <a:pathLst>
                <a:path w="668020" h="97789">
                  <a:moveTo>
                    <a:pt x="0" y="97314"/>
                  </a:moveTo>
                  <a:lnTo>
                    <a:pt x="667654" y="97314"/>
                  </a:lnTo>
                  <a:lnTo>
                    <a:pt x="667654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5213184" y="1730124"/>
            <a:ext cx="668020" cy="97790"/>
          </a:xfrm>
          <a:prstGeom prst="rect">
            <a:avLst/>
          </a:prstGeom>
          <a:solidFill>
            <a:srgbClr val="C1C1C1"/>
          </a:solidFill>
        </p:spPr>
        <p:txBody>
          <a:bodyPr wrap="square" lIns="0" tIns="0" rIns="0" bIns="0" rtlCol="0" vert="horz">
            <a:spAutoFit/>
          </a:bodyPr>
          <a:lstStyle/>
          <a:p>
            <a:pPr marL="216535">
              <a:lnSpc>
                <a:spcPts val="765"/>
              </a:lnSpc>
            </a:pPr>
            <a:r>
              <a:rPr dirty="0" sz="800" spc="65">
                <a:latin typeface="Times New Roman"/>
                <a:cs typeface="Times New Roman"/>
              </a:rPr>
              <a:t>VIM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5213184" y="1601177"/>
            <a:ext cx="654050" cy="97790"/>
          </a:xfrm>
          <a:custGeom>
            <a:avLst/>
            <a:gdLst/>
            <a:ahLst/>
            <a:cxnLst/>
            <a:rect l="l" t="t" r="r" b="b"/>
            <a:pathLst>
              <a:path w="654050" h="97789">
                <a:moveTo>
                  <a:pt x="0" y="97314"/>
                </a:moveTo>
                <a:lnTo>
                  <a:pt x="653446" y="97314"/>
                </a:lnTo>
                <a:lnTo>
                  <a:pt x="653446" y="0"/>
                </a:lnTo>
                <a:lnTo>
                  <a:pt x="0" y="0"/>
                </a:lnTo>
                <a:lnTo>
                  <a:pt x="0" y="9731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5213184" y="1601177"/>
            <a:ext cx="654050" cy="97790"/>
          </a:xfrm>
          <a:prstGeom prst="rect">
            <a:avLst/>
          </a:prstGeom>
          <a:solidFill>
            <a:srgbClr val="C1C1C1"/>
          </a:solidFill>
        </p:spPr>
        <p:txBody>
          <a:bodyPr wrap="square" lIns="0" tIns="0" rIns="0" bIns="0" rtlCol="0" vert="horz">
            <a:spAutoFit/>
          </a:bodyPr>
          <a:lstStyle/>
          <a:p>
            <a:pPr marL="152400">
              <a:lnSpc>
                <a:spcPts val="765"/>
              </a:lnSpc>
            </a:pPr>
            <a:r>
              <a:rPr dirty="0" sz="800" spc="80">
                <a:latin typeface="Times New Roman"/>
                <a:cs typeface="Times New Roman"/>
              </a:rPr>
              <a:t>VNFM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4062547" y="1734989"/>
            <a:ext cx="1108075" cy="91440"/>
          </a:xfrm>
          <a:custGeom>
            <a:avLst/>
            <a:gdLst/>
            <a:ahLst/>
            <a:cxnLst/>
            <a:rect l="l" t="t" r="r" b="b"/>
            <a:pathLst>
              <a:path w="1108075" h="91439">
                <a:moveTo>
                  <a:pt x="0" y="91064"/>
                </a:moveTo>
                <a:lnTo>
                  <a:pt x="1108023" y="91064"/>
                </a:lnTo>
                <a:lnTo>
                  <a:pt x="1108023" y="0"/>
                </a:lnTo>
                <a:lnTo>
                  <a:pt x="0" y="0"/>
                </a:lnTo>
                <a:lnTo>
                  <a:pt x="0" y="9106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4062547" y="1734989"/>
            <a:ext cx="1108075" cy="9144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 marL="219710">
              <a:lnSpc>
                <a:spcPts val="715"/>
              </a:lnSpc>
            </a:pPr>
            <a:r>
              <a:rPr dirty="0" sz="800" spc="140">
                <a:latin typeface="SimSun"/>
                <a:cs typeface="SimSun"/>
              </a:rPr>
              <a:t>虚拟层</a:t>
            </a: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140">
                <a:latin typeface="SimSun"/>
                <a:cs typeface="SimSun"/>
              </a:rPr>
              <a:t>云</a:t>
            </a:r>
            <a:r>
              <a:rPr dirty="0" sz="800" spc="65">
                <a:latin typeface="Times New Roman"/>
                <a:cs typeface="Times New Roman"/>
              </a:rPr>
              <a:t>OS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3948907" y="1085406"/>
            <a:ext cx="2045970" cy="941705"/>
          </a:xfrm>
          <a:custGeom>
            <a:avLst/>
            <a:gdLst/>
            <a:ahLst/>
            <a:cxnLst/>
            <a:rect l="l" t="t" r="r" b="b"/>
            <a:pathLst>
              <a:path w="2045970" h="941705">
                <a:moveTo>
                  <a:pt x="0" y="941527"/>
                </a:moveTo>
                <a:lnTo>
                  <a:pt x="2045576" y="941527"/>
                </a:lnTo>
                <a:lnTo>
                  <a:pt x="2045576" y="0"/>
                </a:lnTo>
                <a:lnTo>
                  <a:pt x="0" y="0"/>
                </a:lnTo>
                <a:lnTo>
                  <a:pt x="0" y="941527"/>
                </a:lnTo>
                <a:close/>
              </a:path>
            </a:pathLst>
          </a:custGeom>
          <a:ln w="10601">
            <a:solidFill>
              <a:srgbClr val="9797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3954250" y="1066867"/>
            <a:ext cx="203517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191135">
              <a:lnSpc>
                <a:spcPct val="100000"/>
              </a:lnSpc>
              <a:spcBef>
                <a:spcPts val="110"/>
              </a:spcBef>
            </a:pPr>
            <a:r>
              <a:rPr dirty="0" sz="800" spc="140">
                <a:latin typeface="SimSun"/>
                <a:cs typeface="SimSun"/>
              </a:rPr>
              <a:t>边缘</a:t>
            </a:r>
            <a:r>
              <a:rPr dirty="0" sz="800" spc="65">
                <a:latin typeface="Times New Roman"/>
                <a:cs typeface="Times New Roman"/>
              </a:rPr>
              <a:t>DC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4965666" y="1989030"/>
            <a:ext cx="2568575" cy="1990089"/>
            <a:chOff x="4965666" y="1989030"/>
            <a:chExt cx="2568575" cy="1990089"/>
          </a:xfrm>
        </p:grpSpPr>
        <p:sp>
          <p:nvSpPr>
            <p:cNvPr id="84" name="object 84" descr=""/>
            <p:cNvSpPr/>
            <p:nvPr/>
          </p:nvSpPr>
          <p:spPr>
            <a:xfrm>
              <a:off x="4971698" y="1995062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69">
                  <a:moveTo>
                    <a:pt x="0" y="153290"/>
                  </a:moveTo>
                  <a:lnTo>
                    <a:pt x="0" y="0"/>
                  </a:lnTo>
                </a:path>
              </a:pathLst>
            </a:custGeom>
            <a:ln w="12027">
              <a:solidFill>
                <a:srgbClr val="4677B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738786" y="3778608"/>
              <a:ext cx="937894" cy="109855"/>
            </a:xfrm>
            <a:custGeom>
              <a:avLst/>
              <a:gdLst/>
              <a:ahLst/>
              <a:cxnLst/>
              <a:rect l="l" t="t" r="r" b="b"/>
              <a:pathLst>
                <a:path w="937895" h="109854">
                  <a:moveTo>
                    <a:pt x="937552" y="109480"/>
                  </a:moveTo>
                  <a:lnTo>
                    <a:pt x="0" y="109480"/>
                  </a:lnTo>
                  <a:lnTo>
                    <a:pt x="0" y="0"/>
                  </a:lnTo>
                  <a:lnTo>
                    <a:pt x="937552" y="0"/>
                  </a:lnTo>
                  <a:lnTo>
                    <a:pt x="937552" y="10948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738786" y="3778608"/>
              <a:ext cx="937894" cy="109855"/>
            </a:xfrm>
            <a:custGeom>
              <a:avLst/>
              <a:gdLst/>
              <a:ahLst/>
              <a:cxnLst/>
              <a:rect l="l" t="t" r="r" b="b"/>
              <a:pathLst>
                <a:path w="937895" h="109854">
                  <a:moveTo>
                    <a:pt x="0" y="109480"/>
                  </a:moveTo>
                  <a:lnTo>
                    <a:pt x="937552" y="109480"/>
                  </a:lnTo>
                  <a:lnTo>
                    <a:pt x="937552" y="0"/>
                  </a:lnTo>
                  <a:lnTo>
                    <a:pt x="0" y="0"/>
                  </a:lnTo>
                  <a:lnTo>
                    <a:pt x="0" y="1094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733169" y="3778608"/>
              <a:ext cx="681990" cy="109855"/>
            </a:xfrm>
            <a:custGeom>
              <a:avLst/>
              <a:gdLst/>
              <a:ahLst/>
              <a:cxnLst/>
              <a:rect l="l" t="t" r="r" b="b"/>
              <a:pathLst>
                <a:path w="681990" h="109854">
                  <a:moveTo>
                    <a:pt x="681861" y="109480"/>
                  </a:moveTo>
                  <a:lnTo>
                    <a:pt x="0" y="109480"/>
                  </a:lnTo>
                  <a:lnTo>
                    <a:pt x="0" y="0"/>
                  </a:lnTo>
                  <a:lnTo>
                    <a:pt x="681861" y="0"/>
                  </a:lnTo>
                  <a:lnTo>
                    <a:pt x="681861" y="10948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733169" y="3778608"/>
              <a:ext cx="681990" cy="109855"/>
            </a:xfrm>
            <a:custGeom>
              <a:avLst/>
              <a:gdLst/>
              <a:ahLst/>
              <a:cxnLst/>
              <a:rect l="l" t="t" r="r" b="b"/>
              <a:pathLst>
                <a:path w="681990" h="109854">
                  <a:moveTo>
                    <a:pt x="0" y="109480"/>
                  </a:moveTo>
                  <a:lnTo>
                    <a:pt x="681861" y="109480"/>
                  </a:lnTo>
                  <a:lnTo>
                    <a:pt x="681861" y="0"/>
                  </a:lnTo>
                  <a:lnTo>
                    <a:pt x="0" y="0"/>
                  </a:lnTo>
                  <a:lnTo>
                    <a:pt x="0" y="1094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733171" y="3632636"/>
              <a:ext cx="681990" cy="97790"/>
            </a:xfrm>
            <a:custGeom>
              <a:avLst/>
              <a:gdLst/>
              <a:ahLst/>
              <a:cxnLst/>
              <a:rect l="l" t="t" r="r" b="b"/>
              <a:pathLst>
                <a:path w="681990" h="97789">
                  <a:moveTo>
                    <a:pt x="681861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681861" y="0"/>
                  </a:lnTo>
                  <a:lnTo>
                    <a:pt x="681861" y="9731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733171" y="3632636"/>
              <a:ext cx="681990" cy="97790"/>
            </a:xfrm>
            <a:custGeom>
              <a:avLst/>
              <a:gdLst/>
              <a:ahLst/>
              <a:cxnLst/>
              <a:rect l="l" t="t" r="r" b="b"/>
              <a:pathLst>
                <a:path w="681990" h="97789">
                  <a:moveTo>
                    <a:pt x="0" y="97314"/>
                  </a:moveTo>
                  <a:lnTo>
                    <a:pt x="681861" y="97314"/>
                  </a:lnTo>
                  <a:lnTo>
                    <a:pt x="681861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733172" y="3474498"/>
              <a:ext cx="681990" cy="97790"/>
            </a:xfrm>
            <a:custGeom>
              <a:avLst/>
              <a:gdLst/>
              <a:ahLst/>
              <a:cxnLst/>
              <a:rect l="l" t="t" r="r" b="b"/>
              <a:pathLst>
                <a:path w="681990" h="97789">
                  <a:moveTo>
                    <a:pt x="681861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681861" y="0"/>
                  </a:lnTo>
                  <a:lnTo>
                    <a:pt x="681861" y="9731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733172" y="3474498"/>
              <a:ext cx="681990" cy="97790"/>
            </a:xfrm>
            <a:custGeom>
              <a:avLst/>
              <a:gdLst/>
              <a:ahLst/>
              <a:cxnLst/>
              <a:rect l="l" t="t" r="r" b="b"/>
              <a:pathLst>
                <a:path w="681990" h="97789">
                  <a:moveTo>
                    <a:pt x="0" y="97314"/>
                  </a:moveTo>
                  <a:lnTo>
                    <a:pt x="681861" y="97314"/>
                  </a:lnTo>
                  <a:lnTo>
                    <a:pt x="681861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738791" y="3632636"/>
              <a:ext cx="937894" cy="97790"/>
            </a:xfrm>
            <a:custGeom>
              <a:avLst/>
              <a:gdLst/>
              <a:ahLst/>
              <a:cxnLst/>
              <a:rect l="l" t="t" r="r" b="b"/>
              <a:pathLst>
                <a:path w="937895" h="97789">
                  <a:moveTo>
                    <a:pt x="937552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937552" y="0"/>
                  </a:lnTo>
                  <a:lnTo>
                    <a:pt x="937552" y="973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738791" y="3632636"/>
              <a:ext cx="937894" cy="97790"/>
            </a:xfrm>
            <a:custGeom>
              <a:avLst/>
              <a:gdLst/>
              <a:ahLst/>
              <a:cxnLst/>
              <a:rect l="l" t="t" r="r" b="b"/>
              <a:pathLst>
                <a:path w="937895" h="97789">
                  <a:moveTo>
                    <a:pt x="0" y="97314"/>
                  </a:moveTo>
                  <a:lnTo>
                    <a:pt x="937552" y="97314"/>
                  </a:lnTo>
                  <a:lnTo>
                    <a:pt x="937552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625150" y="2983052"/>
              <a:ext cx="1903730" cy="990600"/>
            </a:xfrm>
            <a:custGeom>
              <a:avLst/>
              <a:gdLst/>
              <a:ahLst/>
              <a:cxnLst/>
              <a:rect l="l" t="t" r="r" b="b"/>
              <a:pathLst>
                <a:path w="1903729" h="990600">
                  <a:moveTo>
                    <a:pt x="0" y="990184"/>
                  </a:moveTo>
                  <a:lnTo>
                    <a:pt x="1903519" y="990184"/>
                  </a:lnTo>
                  <a:lnTo>
                    <a:pt x="1903519" y="0"/>
                  </a:lnTo>
                  <a:lnTo>
                    <a:pt x="0" y="0"/>
                  </a:lnTo>
                  <a:lnTo>
                    <a:pt x="0" y="990184"/>
                  </a:lnTo>
                  <a:close/>
                </a:path>
              </a:pathLst>
            </a:custGeom>
            <a:ln w="10667">
              <a:solidFill>
                <a:srgbClr val="9797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6314470" y="2974237"/>
            <a:ext cx="553720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140">
                <a:latin typeface="SimSun"/>
                <a:cs typeface="SimSun"/>
              </a:rPr>
              <a:t>汇聚层</a:t>
            </a:r>
            <a:r>
              <a:rPr dirty="0" sz="800" spc="75">
                <a:latin typeface="Times New Roman"/>
                <a:cs typeface="Times New Roman"/>
              </a:rPr>
              <a:t>DC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3494344" y="1618322"/>
            <a:ext cx="4726305" cy="1605915"/>
            <a:chOff x="3494344" y="1618322"/>
            <a:chExt cx="4726305" cy="1605915"/>
          </a:xfrm>
        </p:grpSpPr>
        <p:sp>
          <p:nvSpPr>
            <p:cNvPr id="98" name="object 98" descr=""/>
            <p:cNvSpPr/>
            <p:nvPr/>
          </p:nvSpPr>
          <p:spPr>
            <a:xfrm>
              <a:off x="7997449" y="2026933"/>
              <a:ext cx="217804" cy="129539"/>
            </a:xfrm>
            <a:custGeom>
              <a:avLst/>
              <a:gdLst/>
              <a:ahLst/>
              <a:cxnLst/>
              <a:rect l="l" t="t" r="r" b="b"/>
              <a:pathLst>
                <a:path w="217804" h="129539">
                  <a:moveTo>
                    <a:pt x="217399" y="129351"/>
                  </a:moveTo>
                  <a:lnTo>
                    <a:pt x="217399" y="72989"/>
                  </a:lnTo>
                  <a:lnTo>
                    <a:pt x="0" y="72989"/>
                  </a:lnTo>
                  <a:lnTo>
                    <a:pt x="0" y="0"/>
                  </a:lnTo>
                </a:path>
              </a:pathLst>
            </a:custGeom>
            <a:ln w="10751">
              <a:solidFill>
                <a:srgbClr val="4677B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576914" y="2813485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w="0" h="170180">
                  <a:moveTo>
                    <a:pt x="0" y="169569"/>
                  </a:moveTo>
                  <a:lnTo>
                    <a:pt x="0" y="0"/>
                  </a:lnTo>
                </a:path>
              </a:pathLst>
            </a:custGeom>
            <a:ln w="12027">
              <a:solidFill>
                <a:srgbClr val="4677B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517133" y="305084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w="0" h="144144">
                  <a:moveTo>
                    <a:pt x="0" y="143873"/>
                  </a:moveTo>
                  <a:lnTo>
                    <a:pt x="0" y="0"/>
                  </a:lnTo>
                </a:path>
              </a:pathLst>
            </a:custGeom>
            <a:ln w="12027">
              <a:solidFill>
                <a:srgbClr val="4677B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51165" y="1880960"/>
              <a:ext cx="574969" cy="492379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20506" y="2829784"/>
              <a:ext cx="397706" cy="340578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06862" y="2567051"/>
              <a:ext cx="397706" cy="340578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94344" y="2640037"/>
              <a:ext cx="397706" cy="34057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94344" y="2883325"/>
              <a:ext cx="397706" cy="340578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4431899" y="1619592"/>
              <a:ext cx="369570" cy="85090"/>
            </a:xfrm>
            <a:custGeom>
              <a:avLst/>
              <a:gdLst/>
              <a:ahLst/>
              <a:cxnLst/>
              <a:rect l="l" t="t" r="r" b="b"/>
              <a:pathLst>
                <a:path w="369570" h="85089">
                  <a:moveTo>
                    <a:pt x="0" y="84813"/>
                  </a:moveTo>
                  <a:lnTo>
                    <a:pt x="369341" y="84813"/>
                  </a:lnTo>
                  <a:lnTo>
                    <a:pt x="369341" y="0"/>
                  </a:lnTo>
                  <a:lnTo>
                    <a:pt x="0" y="0"/>
                  </a:lnTo>
                  <a:lnTo>
                    <a:pt x="0" y="8481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 descr=""/>
          <p:cNvSpPr txBox="1"/>
          <p:nvPr/>
        </p:nvSpPr>
        <p:spPr>
          <a:xfrm>
            <a:off x="4431898" y="1619592"/>
            <a:ext cx="369570" cy="850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670"/>
              </a:lnSpc>
            </a:pPr>
            <a:r>
              <a:rPr dirty="0" sz="800" spc="55">
                <a:latin typeface="Times New Roman"/>
                <a:cs typeface="Times New Roman"/>
              </a:rPr>
              <a:t>UPF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/>
          <p:nvPr/>
        </p:nvSpPr>
        <p:spPr>
          <a:xfrm>
            <a:off x="4062558" y="1619592"/>
            <a:ext cx="340995" cy="85090"/>
          </a:xfrm>
          <a:custGeom>
            <a:avLst/>
            <a:gdLst/>
            <a:ahLst/>
            <a:cxnLst/>
            <a:rect l="l" t="t" r="r" b="b"/>
            <a:pathLst>
              <a:path w="340995" h="85089">
                <a:moveTo>
                  <a:pt x="0" y="84813"/>
                </a:moveTo>
                <a:lnTo>
                  <a:pt x="340926" y="84813"/>
                </a:lnTo>
                <a:lnTo>
                  <a:pt x="340926" y="0"/>
                </a:lnTo>
                <a:lnTo>
                  <a:pt x="0" y="0"/>
                </a:lnTo>
                <a:lnTo>
                  <a:pt x="0" y="8481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 txBox="1"/>
          <p:nvPr/>
        </p:nvSpPr>
        <p:spPr>
          <a:xfrm>
            <a:off x="4062558" y="1619592"/>
            <a:ext cx="340995" cy="850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670"/>
              </a:lnSpc>
            </a:pPr>
            <a:r>
              <a:rPr dirty="0" sz="800" spc="75">
                <a:latin typeface="Times New Roman"/>
                <a:cs typeface="Times New Roman"/>
              </a:rPr>
              <a:t>CU</a:t>
            </a:r>
            <a:endParaRPr sz="800">
              <a:latin typeface="Times New Roman"/>
              <a:cs typeface="Times New Roman"/>
            </a:endParaRPr>
          </a:p>
        </p:txBody>
      </p:sp>
      <p:graphicFrame>
        <p:nvGraphicFramePr>
          <p:cNvPr id="110" name="object 110" descr=""/>
          <p:cNvGraphicFramePr>
            <a:graphicFrameLocks noGrp="1"/>
          </p:cNvGraphicFramePr>
          <p:nvPr/>
        </p:nvGraphicFramePr>
        <p:xfrm>
          <a:off x="4061515" y="1468766"/>
          <a:ext cx="1186815" cy="84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965"/>
                <a:gridCol w="397510"/>
                <a:gridCol w="354965"/>
              </a:tblGrid>
              <a:tr h="84455">
                <a:tc>
                  <a:txBody>
                    <a:bodyPr/>
                    <a:lstStyle/>
                    <a:p>
                      <a:pPr marL="49530">
                        <a:lnSpc>
                          <a:spcPts val="570"/>
                        </a:lnSpc>
                      </a:pPr>
                      <a:r>
                        <a:rPr dirty="0" sz="800" spc="65">
                          <a:latin typeface="Times New Roman"/>
                          <a:cs typeface="Times New Roman"/>
                        </a:rPr>
                        <a:t>SMF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570"/>
                        </a:lnSpc>
                      </a:pPr>
                      <a:r>
                        <a:rPr dirty="0" sz="800" spc="55">
                          <a:latin typeface="Times New Roman"/>
                          <a:cs typeface="Times New Roman"/>
                        </a:rPr>
                        <a:t>PCF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570"/>
                        </a:lnSpc>
                      </a:pPr>
                      <a:r>
                        <a:rPr dirty="0" sz="800" spc="60">
                          <a:latin typeface="Times New Roman"/>
                          <a:cs typeface="Times New Roman"/>
                        </a:rPr>
                        <a:t>NRF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111" name="object 111" descr=""/>
          <p:cNvGrpSpPr/>
          <p:nvPr/>
        </p:nvGrpSpPr>
        <p:grpSpPr>
          <a:xfrm>
            <a:off x="4544274" y="1266938"/>
            <a:ext cx="287020" cy="87630"/>
            <a:chOff x="4544274" y="1266938"/>
            <a:chExt cx="287020" cy="87630"/>
          </a:xfrm>
        </p:grpSpPr>
        <p:sp>
          <p:nvSpPr>
            <p:cNvPr id="112" name="object 112" descr=""/>
            <p:cNvSpPr/>
            <p:nvPr/>
          </p:nvSpPr>
          <p:spPr>
            <a:xfrm>
              <a:off x="4545544" y="1268208"/>
              <a:ext cx="284480" cy="85090"/>
            </a:xfrm>
            <a:custGeom>
              <a:avLst/>
              <a:gdLst/>
              <a:ahLst/>
              <a:cxnLst/>
              <a:rect l="l" t="t" r="r" b="b"/>
              <a:pathLst>
                <a:path w="284479" h="85090">
                  <a:moveTo>
                    <a:pt x="284105" y="84813"/>
                  </a:moveTo>
                  <a:lnTo>
                    <a:pt x="0" y="84813"/>
                  </a:lnTo>
                  <a:lnTo>
                    <a:pt x="0" y="0"/>
                  </a:lnTo>
                  <a:lnTo>
                    <a:pt x="284105" y="0"/>
                  </a:lnTo>
                  <a:lnTo>
                    <a:pt x="284105" y="84813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4545544" y="1268208"/>
              <a:ext cx="284480" cy="85090"/>
            </a:xfrm>
            <a:custGeom>
              <a:avLst/>
              <a:gdLst/>
              <a:ahLst/>
              <a:cxnLst/>
              <a:rect l="l" t="t" r="r" b="b"/>
              <a:pathLst>
                <a:path w="284479" h="85090">
                  <a:moveTo>
                    <a:pt x="0" y="84813"/>
                  </a:moveTo>
                  <a:lnTo>
                    <a:pt x="284105" y="84813"/>
                  </a:lnTo>
                  <a:lnTo>
                    <a:pt x="284105" y="0"/>
                  </a:lnTo>
                  <a:lnTo>
                    <a:pt x="0" y="0"/>
                  </a:lnTo>
                  <a:lnTo>
                    <a:pt x="0" y="8481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4601355" y="1249855"/>
            <a:ext cx="172720" cy="107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25">
                <a:latin typeface="Times New Roman"/>
                <a:cs typeface="Times New Roman"/>
              </a:rPr>
              <a:t>APP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115" name="object 115" descr=""/>
          <p:cNvGrpSpPr/>
          <p:nvPr/>
        </p:nvGrpSpPr>
        <p:grpSpPr>
          <a:xfrm>
            <a:off x="4316990" y="1332628"/>
            <a:ext cx="287020" cy="87630"/>
            <a:chOff x="4316990" y="1332628"/>
            <a:chExt cx="287020" cy="87630"/>
          </a:xfrm>
        </p:grpSpPr>
        <p:sp>
          <p:nvSpPr>
            <p:cNvPr id="116" name="object 116" descr=""/>
            <p:cNvSpPr/>
            <p:nvPr/>
          </p:nvSpPr>
          <p:spPr>
            <a:xfrm>
              <a:off x="4318260" y="1333898"/>
              <a:ext cx="284480" cy="85090"/>
            </a:xfrm>
            <a:custGeom>
              <a:avLst/>
              <a:gdLst/>
              <a:ahLst/>
              <a:cxnLst/>
              <a:rect l="l" t="t" r="r" b="b"/>
              <a:pathLst>
                <a:path w="284479" h="85090">
                  <a:moveTo>
                    <a:pt x="284105" y="84813"/>
                  </a:moveTo>
                  <a:lnTo>
                    <a:pt x="0" y="84813"/>
                  </a:lnTo>
                  <a:lnTo>
                    <a:pt x="0" y="0"/>
                  </a:lnTo>
                  <a:lnTo>
                    <a:pt x="284105" y="0"/>
                  </a:lnTo>
                  <a:lnTo>
                    <a:pt x="284105" y="84813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318260" y="1333898"/>
              <a:ext cx="284480" cy="85090"/>
            </a:xfrm>
            <a:custGeom>
              <a:avLst/>
              <a:gdLst/>
              <a:ahLst/>
              <a:cxnLst/>
              <a:rect l="l" t="t" r="r" b="b"/>
              <a:pathLst>
                <a:path w="284479" h="85090">
                  <a:moveTo>
                    <a:pt x="0" y="84813"/>
                  </a:moveTo>
                  <a:lnTo>
                    <a:pt x="284105" y="84813"/>
                  </a:lnTo>
                  <a:lnTo>
                    <a:pt x="284105" y="0"/>
                  </a:lnTo>
                  <a:lnTo>
                    <a:pt x="0" y="0"/>
                  </a:lnTo>
                  <a:lnTo>
                    <a:pt x="0" y="8481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 txBox="1"/>
          <p:nvPr/>
        </p:nvSpPr>
        <p:spPr>
          <a:xfrm>
            <a:off x="4374070" y="1315543"/>
            <a:ext cx="172720" cy="107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25">
                <a:latin typeface="Times New Roman"/>
                <a:cs typeface="Times New Roman"/>
              </a:rPr>
              <a:t>APP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3607992" y="3919711"/>
            <a:ext cx="1022985" cy="121920"/>
          </a:xfrm>
          <a:prstGeom prst="rect">
            <a:avLst/>
          </a:prstGeom>
          <a:solidFill>
            <a:srgbClr val="99CC00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905"/>
              </a:lnSpc>
            </a:pPr>
            <a:r>
              <a:rPr dirty="0" sz="800" spc="130">
                <a:latin typeface="SimSun"/>
                <a:cs typeface="SimSun"/>
              </a:rPr>
              <a:t>通用硬件资源池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20" name="object 120" descr=""/>
          <p:cNvSpPr/>
          <p:nvPr/>
        </p:nvSpPr>
        <p:spPr>
          <a:xfrm>
            <a:off x="4687602" y="3919711"/>
            <a:ext cx="681990" cy="121920"/>
          </a:xfrm>
          <a:custGeom>
            <a:avLst/>
            <a:gdLst/>
            <a:ahLst/>
            <a:cxnLst/>
            <a:rect l="l" t="t" r="r" b="b"/>
            <a:pathLst>
              <a:path w="681989" h="121920">
                <a:moveTo>
                  <a:pt x="0" y="121646"/>
                </a:moveTo>
                <a:lnTo>
                  <a:pt x="681861" y="121646"/>
                </a:lnTo>
                <a:lnTo>
                  <a:pt x="681861" y="0"/>
                </a:lnTo>
                <a:lnTo>
                  <a:pt x="0" y="0"/>
                </a:lnTo>
                <a:lnTo>
                  <a:pt x="0" y="12164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 txBox="1"/>
          <p:nvPr/>
        </p:nvSpPr>
        <p:spPr>
          <a:xfrm>
            <a:off x="4695743" y="3902503"/>
            <a:ext cx="673100" cy="138430"/>
          </a:xfrm>
          <a:prstGeom prst="rect">
            <a:avLst/>
          </a:prstGeom>
          <a:solidFill>
            <a:srgbClr val="C1C1C1"/>
          </a:solidFill>
        </p:spPr>
        <p:txBody>
          <a:bodyPr wrap="square" lIns="0" tIns="101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80"/>
              </a:spcBef>
            </a:pPr>
            <a:r>
              <a:rPr dirty="0" sz="800" spc="95">
                <a:latin typeface="Times New Roman"/>
                <a:cs typeface="Times New Roman"/>
              </a:rPr>
              <a:t>SDN</a:t>
            </a:r>
            <a:r>
              <a:rPr dirty="0" sz="800" spc="120">
                <a:latin typeface="SimSun"/>
                <a:cs typeface="SimSun"/>
              </a:rPr>
              <a:t>控制器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122" name="object 122" descr=""/>
          <p:cNvGrpSpPr/>
          <p:nvPr/>
        </p:nvGrpSpPr>
        <p:grpSpPr>
          <a:xfrm>
            <a:off x="3545775" y="3359618"/>
            <a:ext cx="1885950" cy="723900"/>
            <a:chOff x="3545775" y="3359618"/>
            <a:chExt cx="1885950" cy="723900"/>
          </a:xfrm>
        </p:grpSpPr>
        <p:sp>
          <p:nvSpPr>
            <p:cNvPr id="123" name="object 123" descr=""/>
            <p:cNvSpPr/>
            <p:nvPr/>
          </p:nvSpPr>
          <p:spPr>
            <a:xfrm>
              <a:off x="3551172" y="3365016"/>
              <a:ext cx="1875155" cy="713105"/>
            </a:xfrm>
            <a:custGeom>
              <a:avLst/>
              <a:gdLst/>
              <a:ahLst/>
              <a:cxnLst/>
              <a:rect l="l" t="t" r="r" b="b"/>
              <a:pathLst>
                <a:path w="1875154" h="713104">
                  <a:moveTo>
                    <a:pt x="0" y="712833"/>
                  </a:moveTo>
                  <a:lnTo>
                    <a:pt x="1875112" y="712833"/>
                  </a:lnTo>
                  <a:lnTo>
                    <a:pt x="1875112" y="0"/>
                  </a:lnTo>
                  <a:lnTo>
                    <a:pt x="0" y="0"/>
                  </a:lnTo>
                  <a:lnTo>
                    <a:pt x="0" y="712833"/>
                  </a:lnTo>
                  <a:close/>
                </a:path>
              </a:pathLst>
            </a:custGeom>
            <a:ln w="10517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4701810" y="3761573"/>
              <a:ext cx="668020" cy="121920"/>
            </a:xfrm>
            <a:custGeom>
              <a:avLst/>
              <a:gdLst/>
              <a:ahLst/>
              <a:cxnLst/>
              <a:rect l="l" t="t" r="r" b="b"/>
              <a:pathLst>
                <a:path w="668020" h="121920">
                  <a:moveTo>
                    <a:pt x="0" y="121646"/>
                  </a:moveTo>
                  <a:lnTo>
                    <a:pt x="667654" y="121646"/>
                  </a:lnTo>
                  <a:lnTo>
                    <a:pt x="667654" y="0"/>
                  </a:lnTo>
                  <a:lnTo>
                    <a:pt x="0" y="0"/>
                  </a:lnTo>
                  <a:lnTo>
                    <a:pt x="0" y="12164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 descr=""/>
          <p:cNvSpPr txBox="1"/>
          <p:nvPr/>
        </p:nvSpPr>
        <p:spPr>
          <a:xfrm>
            <a:off x="4701810" y="3761573"/>
            <a:ext cx="668020" cy="121920"/>
          </a:xfrm>
          <a:prstGeom prst="rect">
            <a:avLst/>
          </a:prstGeom>
          <a:solidFill>
            <a:srgbClr val="C1C1C1"/>
          </a:solidFill>
        </p:spPr>
        <p:txBody>
          <a:bodyPr wrap="square" lIns="0" tIns="0" rIns="0" bIns="0" rtlCol="0" vert="horz">
            <a:spAutoFit/>
          </a:bodyPr>
          <a:lstStyle/>
          <a:p>
            <a:pPr marL="216535">
              <a:lnSpc>
                <a:spcPts val="880"/>
              </a:lnSpc>
            </a:pPr>
            <a:r>
              <a:rPr dirty="0" sz="800" spc="65">
                <a:latin typeface="Times New Roman"/>
                <a:cs typeface="Times New Roman"/>
              </a:rPr>
              <a:t>VIM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6" name="object 126" descr=""/>
          <p:cNvSpPr txBox="1"/>
          <p:nvPr/>
        </p:nvSpPr>
        <p:spPr>
          <a:xfrm>
            <a:off x="4701811" y="3583970"/>
            <a:ext cx="654050" cy="121920"/>
          </a:xfrm>
          <a:prstGeom prst="rect">
            <a:avLst/>
          </a:prstGeom>
          <a:solidFill>
            <a:srgbClr val="C1C1C1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0">
              <a:lnSpc>
                <a:spcPts val="880"/>
              </a:lnSpc>
            </a:pPr>
            <a:r>
              <a:rPr dirty="0" sz="800" spc="80">
                <a:latin typeface="Times New Roman"/>
                <a:cs typeface="Times New Roman"/>
              </a:rPr>
              <a:t>VNFM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7" name="object 127" descr=""/>
          <p:cNvSpPr txBox="1"/>
          <p:nvPr/>
        </p:nvSpPr>
        <p:spPr>
          <a:xfrm>
            <a:off x="3607995" y="3761579"/>
            <a:ext cx="1022985" cy="115570"/>
          </a:xfrm>
          <a:prstGeom prst="rect">
            <a:avLst/>
          </a:prstGeom>
          <a:solidFill>
            <a:srgbClr val="FF0000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77165">
              <a:lnSpc>
                <a:spcPts val="880"/>
              </a:lnSpc>
            </a:pPr>
            <a:r>
              <a:rPr dirty="0" sz="800" spc="140">
                <a:latin typeface="SimSun"/>
                <a:cs typeface="SimSun"/>
              </a:rPr>
              <a:t>虚拟层</a:t>
            </a: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140">
                <a:latin typeface="SimSun"/>
                <a:cs typeface="SimSun"/>
              </a:rPr>
              <a:t>云</a:t>
            </a:r>
            <a:r>
              <a:rPr dirty="0" sz="800" spc="65">
                <a:latin typeface="Times New Roman"/>
                <a:cs typeface="Times New Roman"/>
              </a:rPr>
              <a:t>OS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8" name="object 128" descr=""/>
          <p:cNvSpPr/>
          <p:nvPr/>
        </p:nvSpPr>
        <p:spPr>
          <a:xfrm>
            <a:off x="3494353" y="3194717"/>
            <a:ext cx="1988820" cy="908050"/>
          </a:xfrm>
          <a:custGeom>
            <a:avLst/>
            <a:gdLst/>
            <a:ahLst/>
            <a:cxnLst/>
            <a:rect l="l" t="t" r="r" b="b"/>
            <a:pathLst>
              <a:path w="1988820" h="908050">
                <a:moveTo>
                  <a:pt x="0" y="907462"/>
                </a:moveTo>
                <a:lnTo>
                  <a:pt x="1988755" y="907462"/>
                </a:lnTo>
                <a:lnTo>
                  <a:pt x="1988755" y="0"/>
                </a:lnTo>
                <a:lnTo>
                  <a:pt x="0" y="0"/>
                </a:lnTo>
                <a:lnTo>
                  <a:pt x="0" y="907462"/>
                </a:lnTo>
                <a:close/>
              </a:path>
            </a:pathLst>
          </a:custGeom>
          <a:ln w="10596">
            <a:solidFill>
              <a:srgbClr val="9797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 txBox="1"/>
          <p:nvPr/>
        </p:nvSpPr>
        <p:spPr>
          <a:xfrm>
            <a:off x="3735992" y="3207800"/>
            <a:ext cx="1449070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140">
                <a:latin typeface="SimSun"/>
                <a:cs typeface="SimSun"/>
              </a:rPr>
              <a:t>无线接入云</a:t>
            </a: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140">
                <a:latin typeface="SimSun"/>
                <a:cs typeface="SimSun"/>
              </a:rPr>
              <a:t>企业</a:t>
            </a: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140">
                <a:latin typeface="SimSun"/>
                <a:cs typeface="SimSun"/>
              </a:rPr>
              <a:t>场馆</a:t>
            </a: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114">
                <a:latin typeface="SimSun"/>
                <a:cs typeface="SimSun"/>
              </a:rPr>
              <a:t>热点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130" name="object 130" descr=""/>
          <p:cNvGrpSpPr/>
          <p:nvPr/>
        </p:nvGrpSpPr>
        <p:grpSpPr>
          <a:xfrm>
            <a:off x="4118119" y="3582700"/>
            <a:ext cx="514350" cy="124460"/>
            <a:chOff x="4118119" y="3582700"/>
            <a:chExt cx="514350" cy="124460"/>
          </a:xfrm>
        </p:grpSpPr>
        <p:sp>
          <p:nvSpPr>
            <p:cNvPr id="131" name="object 131" descr=""/>
            <p:cNvSpPr/>
            <p:nvPr/>
          </p:nvSpPr>
          <p:spPr>
            <a:xfrm>
              <a:off x="4119389" y="3583976"/>
              <a:ext cx="511809" cy="121920"/>
            </a:xfrm>
            <a:custGeom>
              <a:avLst/>
              <a:gdLst/>
              <a:ahLst/>
              <a:cxnLst/>
              <a:rect l="l" t="t" r="r" b="b"/>
              <a:pathLst>
                <a:path w="511810" h="121920">
                  <a:moveTo>
                    <a:pt x="511390" y="121646"/>
                  </a:moveTo>
                  <a:lnTo>
                    <a:pt x="0" y="121646"/>
                  </a:lnTo>
                  <a:lnTo>
                    <a:pt x="0" y="0"/>
                  </a:lnTo>
                  <a:lnTo>
                    <a:pt x="511390" y="0"/>
                  </a:lnTo>
                  <a:lnTo>
                    <a:pt x="511390" y="121646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4119389" y="3583970"/>
              <a:ext cx="511809" cy="121920"/>
            </a:xfrm>
            <a:custGeom>
              <a:avLst/>
              <a:gdLst/>
              <a:ahLst/>
              <a:cxnLst/>
              <a:rect l="l" t="t" r="r" b="b"/>
              <a:pathLst>
                <a:path w="511810" h="121920">
                  <a:moveTo>
                    <a:pt x="0" y="121646"/>
                  </a:moveTo>
                  <a:lnTo>
                    <a:pt x="511390" y="121646"/>
                  </a:lnTo>
                  <a:lnTo>
                    <a:pt x="511390" y="0"/>
                  </a:lnTo>
                  <a:lnTo>
                    <a:pt x="0" y="0"/>
                  </a:lnTo>
                  <a:lnTo>
                    <a:pt x="0" y="12164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 descr=""/>
          <p:cNvSpPr txBox="1"/>
          <p:nvPr/>
        </p:nvSpPr>
        <p:spPr>
          <a:xfrm>
            <a:off x="4288844" y="3584035"/>
            <a:ext cx="172720" cy="107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25">
                <a:latin typeface="Times New Roman"/>
                <a:cs typeface="Times New Roman"/>
              </a:rPr>
              <a:t>UPF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3608000" y="3583969"/>
            <a:ext cx="454659" cy="121920"/>
          </a:xfrm>
          <a:prstGeom prst="rect">
            <a:avLst/>
          </a:prstGeom>
          <a:solidFill>
            <a:srgbClr val="FFFF00"/>
          </a:solidFill>
          <a:ln w="3175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550" spc="30">
                <a:latin typeface="Times New Roman"/>
                <a:cs typeface="Times New Roman"/>
              </a:rPr>
              <a:t>CU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135" name="object 135" descr=""/>
          <p:cNvGrpSpPr/>
          <p:nvPr/>
        </p:nvGrpSpPr>
        <p:grpSpPr>
          <a:xfrm>
            <a:off x="4288591" y="3388077"/>
            <a:ext cx="315595" cy="111760"/>
            <a:chOff x="4288591" y="3388077"/>
            <a:chExt cx="315595" cy="111760"/>
          </a:xfrm>
        </p:grpSpPr>
        <p:sp>
          <p:nvSpPr>
            <p:cNvPr id="136" name="object 136" descr=""/>
            <p:cNvSpPr/>
            <p:nvPr/>
          </p:nvSpPr>
          <p:spPr>
            <a:xfrm>
              <a:off x="4289861" y="3389347"/>
              <a:ext cx="313055" cy="109220"/>
            </a:xfrm>
            <a:custGeom>
              <a:avLst/>
              <a:gdLst/>
              <a:ahLst/>
              <a:cxnLst/>
              <a:rect l="l" t="t" r="r" b="b"/>
              <a:pathLst>
                <a:path w="313054" h="109220">
                  <a:moveTo>
                    <a:pt x="312520" y="109139"/>
                  </a:moveTo>
                  <a:lnTo>
                    <a:pt x="0" y="109139"/>
                  </a:lnTo>
                  <a:lnTo>
                    <a:pt x="0" y="0"/>
                  </a:lnTo>
                  <a:lnTo>
                    <a:pt x="312520" y="0"/>
                  </a:lnTo>
                  <a:lnTo>
                    <a:pt x="312520" y="1091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4289861" y="3389347"/>
              <a:ext cx="313055" cy="109220"/>
            </a:xfrm>
            <a:custGeom>
              <a:avLst/>
              <a:gdLst/>
              <a:ahLst/>
              <a:cxnLst/>
              <a:rect l="l" t="t" r="r" b="b"/>
              <a:pathLst>
                <a:path w="313054" h="109220">
                  <a:moveTo>
                    <a:pt x="0" y="109139"/>
                  </a:moveTo>
                  <a:lnTo>
                    <a:pt x="312520" y="109139"/>
                  </a:lnTo>
                  <a:lnTo>
                    <a:pt x="312520" y="0"/>
                  </a:lnTo>
                  <a:lnTo>
                    <a:pt x="0" y="0"/>
                  </a:lnTo>
                  <a:lnTo>
                    <a:pt x="0" y="10913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 txBox="1"/>
          <p:nvPr/>
        </p:nvSpPr>
        <p:spPr>
          <a:xfrm>
            <a:off x="4359873" y="3383153"/>
            <a:ext cx="172720" cy="107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25">
                <a:latin typeface="Times New Roman"/>
                <a:cs typeface="Times New Roman"/>
              </a:rPr>
              <a:t>APP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139" name="object 139" descr=""/>
          <p:cNvGrpSpPr/>
          <p:nvPr/>
        </p:nvGrpSpPr>
        <p:grpSpPr>
          <a:xfrm>
            <a:off x="4032893" y="3436734"/>
            <a:ext cx="315595" cy="100330"/>
            <a:chOff x="4032893" y="3436734"/>
            <a:chExt cx="315595" cy="100330"/>
          </a:xfrm>
        </p:grpSpPr>
        <p:sp>
          <p:nvSpPr>
            <p:cNvPr id="140" name="object 140" descr=""/>
            <p:cNvSpPr/>
            <p:nvPr/>
          </p:nvSpPr>
          <p:spPr>
            <a:xfrm>
              <a:off x="4034163" y="3438004"/>
              <a:ext cx="313055" cy="97790"/>
            </a:xfrm>
            <a:custGeom>
              <a:avLst/>
              <a:gdLst/>
              <a:ahLst/>
              <a:cxnLst/>
              <a:rect l="l" t="t" r="r" b="b"/>
              <a:pathLst>
                <a:path w="313054" h="97789">
                  <a:moveTo>
                    <a:pt x="312520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312520" y="0"/>
                  </a:lnTo>
                  <a:lnTo>
                    <a:pt x="312520" y="97314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4034163" y="3438004"/>
              <a:ext cx="313055" cy="97790"/>
            </a:xfrm>
            <a:custGeom>
              <a:avLst/>
              <a:gdLst/>
              <a:ahLst/>
              <a:cxnLst/>
              <a:rect l="l" t="t" r="r" b="b"/>
              <a:pathLst>
                <a:path w="313054" h="97789">
                  <a:moveTo>
                    <a:pt x="0" y="97314"/>
                  </a:moveTo>
                  <a:lnTo>
                    <a:pt x="312520" y="97314"/>
                  </a:lnTo>
                  <a:lnTo>
                    <a:pt x="312520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 txBox="1"/>
          <p:nvPr/>
        </p:nvSpPr>
        <p:spPr>
          <a:xfrm>
            <a:off x="4104176" y="3425898"/>
            <a:ext cx="172720" cy="107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25">
                <a:latin typeface="Times New Roman"/>
                <a:cs typeface="Times New Roman"/>
              </a:rPr>
              <a:t>APP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143" name="object 143" descr=""/>
          <p:cNvGrpSpPr/>
          <p:nvPr/>
        </p:nvGrpSpPr>
        <p:grpSpPr>
          <a:xfrm>
            <a:off x="5737765" y="3485621"/>
            <a:ext cx="939800" cy="99695"/>
            <a:chOff x="5737765" y="3485621"/>
            <a:chExt cx="939800" cy="99695"/>
          </a:xfrm>
        </p:grpSpPr>
        <p:sp>
          <p:nvSpPr>
            <p:cNvPr id="144" name="object 144" descr=""/>
            <p:cNvSpPr/>
            <p:nvPr/>
          </p:nvSpPr>
          <p:spPr>
            <a:xfrm>
              <a:off x="5738805" y="3486661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60" h="97789">
                  <a:moveTo>
                    <a:pt x="454569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454569" y="0"/>
                  </a:lnTo>
                  <a:lnTo>
                    <a:pt x="454569" y="9731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738805" y="3486661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60" h="97789">
                  <a:moveTo>
                    <a:pt x="0" y="97314"/>
                  </a:moveTo>
                  <a:lnTo>
                    <a:pt x="454569" y="97314"/>
                  </a:lnTo>
                  <a:lnTo>
                    <a:pt x="454569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221790" y="3486661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59" h="97789">
                  <a:moveTo>
                    <a:pt x="454569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454569" y="0"/>
                  </a:lnTo>
                  <a:lnTo>
                    <a:pt x="454569" y="9731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221790" y="3486661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59" h="97789">
                  <a:moveTo>
                    <a:pt x="0" y="97314"/>
                  </a:moveTo>
                  <a:lnTo>
                    <a:pt x="454569" y="97314"/>
                  </a:lnTo>
                  <a:lnTo>
                    <a:pt x="454569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5737766" y="3339650"/>
            <a:ext cx="939800" cy="99695"/>
            <a:chOff x="5737766" y="3339650"/>
            <a:chExt cx="939800" cy="99695"/>
          </a:xfrm>
        </p:grpSpPr>
        <p:sp>
          <p:nvSpPr>
            <p:cNvPr id="149" name="object 149" descr=""/>
            <p:cNvSpPr/>
            <p:nvPr/>
          </p:nvSpPr>
          <p:spPr>
            <a:xfrm>
              <a:off x="6221790" y="3340690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59" h="97789">
                  <a:moveTo>
                    <a:pt x="454569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454569" y="0"/>
                  </a:lnTo>
                  <a:lnTo>
                    <a:pt x="454569" y="9731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221790" y="3340690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59" h="97789">
                  <a:moveTo>
                    <a:pt x="0" y="97314"/>
                  </a:moveTo>
                  <a:lnTo>
                    <a:pt x="454569" y="97314"/>
                  </a:lnTo>
                  <a:lnTo>
                    <a:pt x="454569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738806" y="3340690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60" h="97789">
                  <a:moveTo>
                    <a:pt x="454569" y="97314"/>
                  </a:moveTo>
                  <a:lnTo>
                    <a:pt x="0" y="97314"/>
                  </a:lnTo>
                  <a:lnTo>
                    <a:pt x="0" y="0"/>
                  </a:lnTo>
                  <a:lnTo>
                    <a:pt x="454569" y="0"/>
                  </a:lnTo>
                  <a:lnTo>
                    <a:pt x="454569" y="9731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738806" y="3340690"/>
              <a:ext cx="454659" cy="97790"/>
            </a:xfrm>
            <a:custGeom>
              <a:avLst/>
              <a:gdLst/>
              <a:ahLst/>
              <a:cxnLst/>
              <a:rect l="l" t="t" r="r" b="b"/>
              <a:pathLst>
                <a:path w="454660" h="97789">
                  <a:moveTo>
                    <a:pt x="0" y="97314"/>
                  </a:moveTo>
                  <a:lnTo>
                    <a:pt x="454569" y="97314"/>
                  </a:lnTo>
                  <a:lnTo>
                    <a:pt x="454569" y="0"/>
                  </a:lnTo>
                  <a:lnTo>
                    <a:pt x="0" y="0"/>
                  </a:lnTo>
                  <a:lnTo>
                    <a:pt x="0" y="973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3" name="object 153" descr=""/>
          <p:cNvGrpSpPr/>
          <p:nvPr/>
        </p:nvGrpSpPr>
        <p:grpSpPr>
          <a:xfrm>
            <a:off x="6732152" y="3290989"/>
            <a:ext cx="684530" cy="123825"/>
            <a:chOff x="6732152" y="3290989"/>
            <a:chExt cx="684530" cy="123825"/>
          </a:xfrm>
        </p:grpSpPr>
        <p:sp>
          <p:nvSpPr>
            <p:cNvPr id="154" name="object 154" descr=""/>
            <p:cNvSpPr/>
            <p:nvPr/>
          </p:nvSpPr>
          <p:spPr>
            <a:xfrm>
              <a:off x="6733189" y="3292026"/>
              <a:ext cx="681990" cy="121920"/>
            </a:xfrm>
            <a:custGeom>
              <a:avLst/>
              <a:gdLst/>
              <a:ahLst/>
              <a:cxnLst/>
              <a:rect l="l" t="t" r="r" b="b"/>
              <a:pathLst>
                <a:path w="681990" h="121920">
                  <a:moveTo>
                    <a:pt x="681861" y="121646"/>
                  </a:moveTo>
                  <a:lnTo>
                    <a:pt x="0" y="121646"/>
                  </a:lnTo>
                  <a:lnTo>
                    <a:pt x="0" y="0"/>
                  </a:lnTo>
                  <a:lnTo>
                    <a:pt x="681861" y="0"/>
                  </a:lnTo>
                  <a:lnTo>
                    <a:pt x="681861" y="121646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733189" y="3292026"/>
              <a:ext cx="681990" cy="121920"/>
            </a:xfrm>
            <a:custGeom>
              <a:avLst/>
              <a:gdLst/>
              <a:ahLst/>
              <a:cxnLst/>
              <a:rect l="l" t="t" r="r" b="b"/>
              <a:pathLst>
                <a:path w="681990" h="121920">
                  <a:moveTo>
                    <a:pt x="0" y="121646"/>
                  </a:moveTo>
                  <a:lnTo>
                    <a:pt x="681861" y="121646"/>
                  </a:lnTo>
                  <a:lnTo>
                    <a:pt x="681861" y="0"/>
                  </a:lnTo>
                  <a:lnTo>
                    <a:pt x="0" y="0"/>
                  </a:lnTo>
                  <a:lnTo>
                    <a:pt x="0" y="12164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6" name="object 156" descr=""/>
          <p:cNvGraphicFramePr>
            <a:graphicFrameLocks noGrp="1"/>
          </p:cNvGraphicFramePr>
          <p:nvPr/>
        </p:nvGraphicFramePr>
        <p:xfrm>
          <a:off x="5676635" y="3123691"/>
          <a:ext cx="1922780" cy="795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55"/>
                <a:gridCol w="287020"/>
                <a:gridCol w="99059"/>
                <a:gridCol w="326389"/>
                <a:gridCol w="923290"/>
              </a:tblGrid>
              <a:tr h="774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3366FF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3366F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800" spc="55">
                          <a:latin typeface="Times New Roman"/>
                          <a:cs typeface="Times New Roman"/>
                        </a:rPr>
                        <a:t>APP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3366FF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</a:tcPr>
                </a:tc>
              </a:tr>
              <a:tr h="641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3366FF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409"/>
                        </a:lnSpc>
                      </a:pPr>
                      <a:r>
                        <a:rPr dirty="0" sz="800" spc="55">
                          <a:latin typeface="Times New Roman"/>
                          <a:cs typeface="Times New Roman"/>
                        </a:rPr>
                        <a:t>APP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3366FF"/>
                      </a:solidFill>
                      <a:prstDash val="solid"/>
                    </a:lnR>
                    <a:lnT w="12700">
                      <a:solidFill>
                        <a:srgbClr val="3366FF"/>
                      </a:solidFill>
                      <a:prstDash val="solid"/>
                    </a:lnT>
                  </a:tcPr>
                </a:tc>
              </a:tr>
              <a:tr h="653415">
                <a:tc gridSpan="5"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649605" algn="l"/>
                          <a:tab pos="1211580" algn="l"/>
                        </a:tabLst>
                      </a:pPr>
                      <a:r>
                        <a:rPr dirty="0" sz="800" spc="55">
                          <a:latin typeface="Times New Roman"/>
                          <a:cs typeface="Times New Roman"/>
                        </a:rPr>
                        <a:t>PCF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 spc="60">
                          <a:latin typeface="Times New Roman"/>
                          <a:cs typeface="Times New Roman"/>
                        </a:rPr>
                        <a:t>NRF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7361" sz="1200" spc="179">
                          <a:latin typeface="SimSun"/>
                          <a:cs typeface="SimSun"/>
                        </a:rPr>
                        <a:t>编排器</a:t>
                      </a:r>
                      <a:endParaRPr baseline="17361" sz="1200">
                        <a:latin typeface="SimSun"/>
                        <a:cs typeface="SimSun"/>
                      </a:endParaRPr>
                    </a:p>
                    <a:p>
                      <a:pPr marL="173355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646430" algn="l"/>
                          <a:tab pos="1217930" algn="l"/>
                        </a:tabLst>
                      </a:pPr>
                      <a:r>
                        <a:rPr dirty="0" sz="800" spc="55">
                          <a:latin typeface="Times New Roman"/>
                          <a:cs typeface="Times New Roman"/>
                        </a:rPr>
                        <a:t>UPF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 spc="65">
                          <a:latin typeface="Times New Roman"/>
                          <a:cs typeface="Times New Roman"/>
                        </a:rPr>
                        <a:t>SMF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6944" sz="1200" spc="120">
                          <a:latin typeface="Times New Roman"/>
                          <a:cs typeface="Times New Roman"/>
                        </a:rPr>
                        <a:t>VNFM</a:t>
                      </a:r>
                      <a:endParaRPr baseline="6944" sz="1200">
                        <a:latin typeface="Times New Roman"/>
                        <a:cs typeface="Times New Roman"/>
                      </a:endParaRPr>
                    </a:p>
                    <a:p>
                      <a:pPr marL="344805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1275080" algn="l"/>
                        </a:tabLst>
                      </a:pPr>
                      <a:r>
                        <a:rPr dirty="0" sz="800" spc="140">
                          <a:latin typeface="SimSun"/>
                          <a:cs typeface="SimSun"/>
                        </a:rPr>
                        <a:t>虚拟</a:t>
                      </a:r>
                      <a:r>
                        <a:rPr dirty="0" sz="800" spc="90">
                          <a:latin typeface="SimSun"/>
                          <a:cs typeface="SimSun"/>
                        </a:rPr>
                        <a:t>层</a:t>
                      </a:r>
                      <a:r>
                        <a:rPr dirty="0" sz="800">
                          <a:latin typeface="SimSun"/>
                          <a:cs typeface="SimSun"/>
                        </a:rPr>
                        <a:t>	</a:t>
                      </a:r>
                      <a:r>
                        <a:rPr dirty="0" sz="800" spc="65">
                          <a:latin typeface="Times New Roman"/>
                          <a:cs typeface="Times New Roman"/>
                        </a:rPr>
                        <a:t>VIM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8448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1090930" algn="l"/>
                        </a:tabLst>
                      </a:pPr>
                      <a:r>
                        <a:rPr dirty="0" sz="800" spc="140">
                          <a:latin typeface="SimSun"/>
                          <a:cs typeface="SimSun"/>
                        </a:rPr>
                        <a:t>通用硬</a:t>
                      </a:r>
                      <a:r>
                        <a:rPr dirty="0" sz="800" spc="90">
                          <a:latin typeface="SimSun"/>
                          <a:cs typeface="SimSun"/>
                        </a:rPr>
                        <a:t>件</a:t>
                      </a:r>
                      <a:r>
                        <a:rPr dirty="0" sz="800">
                          <a:latin typeface="SimSun"/>
                          <a:cs typeface="SimSun"/>
                        </a:rPr>
                        <a:t>	</a:t>
                      </a:r>
                      <a:r>
                        <a:rPr dirty="0" sz="800" spc="95">
                          <a:latin typeface="Times New Roman"/>
                          <a:cs typeface="Times New Roman"/>
                        </a:rPr>
                        <a:t>SDN</a:t>
                      </a:r>
                      <a:r>
                        <a:rPr dirty="0" sz="800" spc="140">
                          <a:latin typeface="SimSun"/>
                          <a:cs typeface="SimSun"/>
                        </a:rPr>
                        <a:t>控制</a:t>
                      </a:r>
                      <a:r>
                        <a:rPr dirty="0" sz="800" spc="90">
                          <a:latin typeface="SimSun"/>
                          <a:cs typeface="SimSun"/>
                        </a:rPr>
                        <a:t>器</a:t>
                      </a:r>
                      <a:endParaRPr sz="800">
                        <a:latin typeface="SimSun"/>
                        <a:cs typeface="SimSun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3366FF"/>
                      </a:solidFill>
                      <a:prstDash val="solid"/>
                    </a:lnL>
                    <a:lnR w="12700">
                      <a:solidFill>
                        <a:srgbClr val="3366FF"/>
                      </a:solidFill>
                      <a:prstDash val="solid"/>
                    </a:lnR>
                    <a:lnB w="12700">
                      <a:solidFill>
                        <a:srgbClr val="3366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157" name="object 157" descr=""/>
          <p:cNvGrpSpPr/>
          <p:nvPr/>
        </p:nvGrpSpPr>
        <p:grpSpPr>
          <a:xfrm>
            <a:off x="4059397" y="2274631"/>
            <a:ext cx="3592195" cy="1308735"/>
            <a:chOff x="4059397" y="2274631"/>
            <a:chExt cx="3592195" cy="1308735"/>
          </a:xfrm>
        </p:grpSpPr>
        <p:sp>
          <p:nvSpPr>
            <p:cNvPr id="158" name="object 158" descr=""/>
            <p:cNvSpPr/>
            <p:nvPr/>
          </p:nvSpPr>
          <p:spPr>
            <a:xfrm>
              <a:off x="4389299" y="3510988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60823"/>
                  </a:moveTo>
                  <a:lnTo>
                    <a:pt x="0" y="0"/>
                  </a:lnTo>
                </a:path>
              </a:pathLst>
            </a:custGeom>
            <a:ln w="21649">
              <a:solidFill>
                <a:srgbClr val="C050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4062572" y="2318876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 h="0">
                  <a:moveTo>
                    <a:pt x="730052" y="0"/>
                  </a:moveTo>
                  <a:lnTo>
                    <a:pt x="0" y="0"/>
                  </a:lnTo>
                </a:path>
              </a:pathLst>
            </a:custGeom>
            <a:ln w="61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4612" y="2274631"/>
              <a:ext cx="231387" cy="220618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20188" y="2323289"/>
              <a:ext cx="231387" cy="220618"/>
            </a:xfrm>
            <a:prstGeom prst="rect">
              <a:avLst/>
            </a:prstGeom>
          </p:spPr>
        </p:pic>
      </p:grpSp>
      <p:sp>
        <p:nvSpPr>
          <p:cNvPr id="162" name="object 162" descr=""/>
          <p:cNvSpPr txBox="1"/>
          <p:nvPr/>
        </p:nvSpPr>
        <p:spPr>
          <a:xfrm>
            <a:off x="7159351" y="1832301"/>
            <a:ext cx="937894" cy="109855"/>
          </a:xfrm>
          <a:prstGeom prst="rect">
            <a:avLst/>
          </a:prstGeom>
          <a:solidFill>
            <a:srgbClr val="99CC00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27965">
              <a:lnSpc>
                <a:spcPts val="860"/>
              </a:lnSpc>
            </a:pPr>
            <a:r>
              <a:rPr dirty="0" sz="800" spc="125">
                <a:latin typeface="SimSun"/>
                <a:cs typeface="SimSun"/>
              </a:rPr>
              <a:t>通用硬件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63" name="object 163" descr=""/>
          <p:cNvSpPr txBox="1"/>
          <p:nvPr/>
        </p:nvSpPr>
        <p:spPr>
          <a:xfrm>
            <a:off x="8153725" y="1832301"/>
            <a:ext cx="681990" cy="109855"/>
          </a:xfrm>
          <a:prstGeom prst="rect">
            <a:avLst/>
          </a:prstGeom>
          <a:solidFill>
            <a:srgbClr val="C1C1C1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860"/>
              </a:lnSpc>
            </a:pPr>
            <a:r>
              <a:rPr dirty="0" sz="800" spc="95">
                <a:latin typeface="Times New Roman"/>
                <a:cs typeface="Times New Roman"/>
              </a:rPr>
              <a:t>SDN</a:t>
            </a:r>
            <a:r>
              <a:rPr dirty="0" sz="800" spc="120">
                <a:latin typeface="SimSun"/>
                <a:cs typeface="SimSun"/>
              </a:rPr>
              <a:t>控制器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64" name="object 164" descr=""/>
          <p:cNvSpPr/>
          <p:nvPr/>
        </p:nvSpPr>
        <p:spPr>
          <a:xfrm>
            <a:off x="7102530" y="1297064"/>
            <a:ext cx="1790064" cy="681355"/>
          </a:xfrm>
          <a:custGeom>
            <a:avLst/>
            <a:gdLst/>
            <a:ahLst/>
            <a:cxnLst/>
            <a:rect l="l" t="t" r="r" b="b"/>
            <a:pathLst>
              <a:path w="1790065" h="681355">
                <a:moveTo>
                  <a:pt x="0" y="681208"/>
                </a:moveTo>
                <a:lnTo>
                  <a:pt x="1789877" y="681208"/>
                </a:lnTo>
                <a:lnTo>
                  <a:pt x="1789877" y="0"/>
                </a:lnTo>
                <a:lnTo>
                  <a:pt x="0" y="0"/>
                </a:lnTo>
                <a:lnTo>
                  <a:pt x="0" y="681208"/>
                </a:lnTo>
                <a:close/>
              </a:path>
            </a:pathLst>
          </a:custGeom>
          <a:ln w="10517">
            <a:solidFill>
              <a:srgbClr val="33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 txBox="1"/>
          <p:nvPr/>
        </p:nvSpPr>
        <p:spPr>
          <a:xfrm>
            <a:off x="8153726" y="1686328"/>
            <a:ext cx="681990" cy="97790"/>
          </a:xfrm>
          <a:prstGeom prst="rect">
            <a:avLst/>
          </a:prstGeom>
          <a:solidFill>
            <a:srgbClr val="C1C1C1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23520">
              <a:lnSpc>
                <a:spcPts val="765"/>
              </a:lnSpc>
            </a:pPr>
            <a:r>
              <a:rPr dirty="0" sz="800" spc="65">
                <a:latin typeface="Times New Roman"/>
                <a:cs typeface="Times New Roman"/>
              </a:rPr>
              <a:t>VIM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6" name="object 166" descr=""/>
          <p:cNvSpPr txBox="1"/>
          <p:nvPr/>
        </p:nvSpPr>
        <p:spPr>
          <a:xfrm>
            <a:off x="8153727" y="1528191"/>
            <a:ext cx="681990" cy="97790"/>
          </a:xfrm>
          <a:prstGeom prst="rect">
            <a:avLst/>
          </a:prstGeom>
          <a:solidFill>
            <a:srgbClr val="C1C1C1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7005">
              <a:lnSpc>
                <a:spcPts val="765"/>
              </a:lnSpc>
            </a:pPr>
            <a:r>
              <a:rPr dirty="0" sz="800" spc="80">
                <a:latin typeface="Times New Roman"/>
                <a:cs typeface="Times New Roman"/>
              </a:rPr>
              <a:t>VNFM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7" name="object 167" descr=""/>
          <p:cNvSpPr txBox="1"/>
          <p:nvPr/>
        </p:nvSpPr>
        <p:spPr>
          <a:xfrm>
            <a:off x="7159355" y="1686328"/>
            <a:ext cx="937894" cy="97790"/>
          </a:xfrm>
          <a:prstGeom prst="rect">
            <a:avLst/>
          </a:prstGeom>
          <a:solidFill>
            <a:srgbClr val="FF0000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88290">
              <a:lnSpc>
                <a:spcPts val="765"/>
              </a:lnSpc>
            </a:pPr>
            <a:r>
              <a:rPr dirty="0" sz="800" spc="120">
                <a:latin typeface="SimSun"/>
                <a:cs typeface="SimSun"/>
              </a:rPr>
              <a:t>虚拟层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68" name="object 168" descr=""/>
          <p:cNvSpPr txBox="1"/>
          <p:nvPr/>
        </p:nvSpPr>
        <p:spPr>
          <a:xfrm>
            <a:off x="7045714" y="1126760"/>
            <a:ext cx="1903730" cy="900430"/>
          </a:xfrm>
          <a:prstGeom prst="rect">
            <a:avLst/>
          </a:prstGeom>
          <a:ln w="10703">
            <a:solidFill>
              <a:srgbClr val="979797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algn="ctr" marL="27940">
              <a:lnSpc>
                <a:spcPct val="100000"/>
              </a:lnSpc>
              <a:spcBef>
                <a:spcPts val="155"/>
              </a:spcBef>
            </a:pPr>
            <a:r>
              <a:rPr dirty="0" sz="800" spc="140">
                <a:latin typeface="SimSun"/>
                <a:cs typeface="SimSun"/>
              </a:rPr>
              <a:t>核心</a:t>
            </a:r>
            <a:r>
              <a:rPr dirty="0" sz="800" spc="65">
                <a:latin typeface="Times New Roman"/>
                <a:cs typeface="Times New Roman"/>
              </a:rPr>
              <a:t>DC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9" name="object 169" descr=""/>
          <p:cNvSpPr txBox="1"/>
          <p:nvPr/>
        </p:nvSpPr>
        <p:spPr>
          <a:xfrm>
            <a:off x="7159359" y="1540355"/>
            <a:ext cx="937894" cy="97790"/>
          </a:xfrm>
          <a:prstGeom prst="rect">
            <a:avLst/>
          </a:prstGeom>
          <a:solidFill>
            <a:srgbClr val="FFFF00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14629">
              <a:lnSpc>
                <a:spcPts val="765"/>
              </a:lnSpc>
            </a:pPr>
            <a:r>
              <a:rPr dirty="0" sz="800" spc="85">
                <a:latin typeface="Times New Roman"/>
                <a:cs typeface="Times New Roman"/>
              </a:rPr>
              <a:t>5G</a:t>
            </a:r>
            <a:r>
              <a:rPr dirty="0" sz="800" spc="120">
                <a:latin typeface="SimSun"/>
                <a:cs typeface="SimSun"/>
              </a:rPr>
              <a:t>核心网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70" name="object 170" descr=""/>
          <p:cNvSpPr txBox="1"/>
          <p:nvPr/>
        </p:nvSpPr>
        <p:spPr>
          <a:xfrm>
            <a:off x="8153735" y="1345720"/>
            <a:ext cx="681990" cy="121920"/>
          </a:xfrm>
          <a:prstGeom prst="rect">
            <a:avLst/>
          </a:prstGeom>
          <a:solidFill>
            <a:srgbClr val="C1C1C1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0020">
              <a:lnSpc>
                <a:spcPts val="905"/>
              </a:lnSpc>
            </a:pPr>
            <a:r>
              <a:rPr dirty="0" sz="800" spc="120">
                <a:latin typeface="SimSun"/>
                <a:cs typeface="SimSun"/>
              </a:rPr>
              <a:t>编排器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71" name="object 171" descr=""/>
          <p:cNvSpPr txBox="1"/>
          <p:nvPr/>
        </p:nvSpPr>
        <p:spPr>
          <a:xfrm>
            <a:off x="7159361" y="1357885"/>
            <a:ext cx="937894" cy="121920"/>
          </a:xfrm>
          <a:prstGeom prst="rect">
            <a:avLst/>
          </a:prstGeom>
          <a:solidFill>
            <a:srgbClr val="C1C1C1"/>
          </a:solidFill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880"/>
              </a:lnSpc>
            </a:pPr>
            <a:r>
              <a:rPr dirty="0" sz="800" spc="55">
                <a:latin typeface="Times New Roman"/>
                <a:cs typeface="Times New Roman"/>
              </a:rPr>
              <a:t>OSS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2" name="object 172" descr=""/>
          <p:cNvSpPr txBox="1"/>
          <p:nvPr/>
        </p:nvSpPr>
        <p:spPr>
          <a:xfrm>
            <a:off x="785517" y="2068972"/>
            <a:ext cx="165290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Microsoft YaHei"/>
                <a:cs typeface="Microsoft YaHei"/>
              </a:rPr>
              <a:t>物理网元设备</a:t>
            </a:r>
            <a:r>
              <a:rPr dirty="0" sz="1600" spc="-20">
                <a:latin typeface="Arial MT"/>
                <a:cs typeface="Arial MT"/>
              </a:rPr>
              <a:t>(4G)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73" name="object 173" descr=""/>
          <p:cNvGrpSpPr/>
          <p:nvPr/>
        </p:nvGrpSpPr>
        <p:grpSpPr>
          <a:xfrm>
            <a:off x="1306901" y="2481729"/>
            <a:ext cx="553085" cy="191135"/>
            <a:chOff x="1306901" y="2481729"/>
            <a:chExt cx="553085" cy="191135"/>
          </a:xfrm>
        </p:grpSpPr>
        <p:sp>
          <p:nvSpPr>
            <p:cNvPr id="174" name="object 174" descr=""/>
            <p:cNvSpPr/>
            <p:nvPr/>
          </p:nvSpPr>
          <p:spPr>
            <a:xfrm>
              <a:off x="1313251" y="2488079"/>
              <a:ext cx="540385" cy="178435"/>
            </a:xfrm>
            <a:custGeom>
              <a:avLst/>
              <a:gdLst/>
              <a:ahLst/>
              <a:cxnLst/>
              <a:rect l="l" t="t" r="r" b="b"/>
              <a:pathLst>
                <a:path w="540385" h="178435">
                  <a:moveTo>
                    <a:pt x="405244" y="0"/>
                  </a:moveTo>
                  <a:lnTo>
                    <a:pt x="135077" y="0"/>
                  </a:lnTo>
                  <a:lnTo>
                    <a:pt x="135077" y="88912"/>
                  </a:lnTo>
                  <a:lnTo>
                    <a:pt x="0" y="88912"/>
                  </a:lnTo>
                  <a:lnTo>
                    <a:pt x="270154" y="177825"/>
                  </a:lnTo>
                  <a:lnTo>
                    <a:pt x="540321" y="88912"/>
                  </a:lnTo>
                  <a:lnTo>
                    <a:pt x="405244" y="88912"/>
                  </a:lnTo>
                  <a:lnTo>
                    <a:pt x="405244" y="0"/>
                  </a:lnTo>
                  <a:close/>
                </a:path>
              </a:pathLst>
            </a:custGeom>
            <a:solidFill>
              <a:srgbClr val="2544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313251" y="2488079"/>
              <a:ext cx="540385" cy="178435"/>
            </a:xfrm>
            <a:custGeom>
              <a:avLst/>
              <a:gdLst/>
              <a:ahLst/>
              <a:cxnLst/>
              <a:rect l="l" t="t" r="r" b="b"/>
              <a:pathLst>
                <a:path w="540385" h="178435">
                  <a:moveTo>
                    <a:pt x="0" y="88912"/>
                  </a:moveTo>
                  <a:lnTo>
                    <a:pt x="135077" y="88912"/>
                  </a:lnTo>
                  <a:lnTo>
                    <a:pt x="135077" y="0"/>
                  </a:lnTo>
                  <a:lnTo>
                    <a:pt x="405244" y="0"/>
                  </a:lnTo>
                  <a:lnTo>
                    <a:pt x="405244" y="88912"/>
                  </a:lnTo>
                  <a:lnTo>
                    <a:pt x="540321" y="88912"/>
                  </a:lnTo>
                  <a:lnTo>
                    <a:pt x="270154" y="177825"/>
                  </a:lnTo>
                  <a:lnTo>
                    <a:pt x="0" y="88912"/>
                  </a:lnTo>
                  <a:close/>
                </a:path>
              </a:pathLst>
            </a:custGeom>
            <a:ln w="127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6" name="object 17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18196" y="1295590"/>
            <a:ext cx="837412" cy="813502"/>
          </a:xfrm>
          <a:prstGeom prst="rect">
            <a:avLst/>
          </a:prstGeom>
        </p:spPr>
      </p:pic>
      <p:grpSp>
        <p:nvGrpSpPr>
          <p:cNvPr id="177" name="object 177" descr=""/>
          <p:cNvGrpSpPr/>
          <p:nvPr/>
        </p:nvGrpSpPr>
        <p:grpSpPr>
          <a:xfrm>
            <a:off x="267328" y="2831131"/>
            <a:ext cx="2905760" cy="1290955"/>
            <a:chOff x="267328" y="2831131"/>
            <a:chExt cx="2905760" cy="1290955"/>
          </a:xfrm>
        </p:grpSpPr>
        <p:sp>
          <p:nvSpPr>
            <p:cNvPr id="178" name="object 178" descr=""/>
            <p:cNvSpPr/>
            <p:nvPr/>
          </p:nvSpPr>
          <p:spPr>
            <a:xfrm>
              <a:off x="267328" y="2831131"/>
              <a:ext cx="2905760" cy="1290955"/>
            </a:xfrm>
            <a:custGeom>
              <a:avLst/>
              <a:gdLst/>
              <a:ahLst/>
              <a:cxnLst/>
              <a:rect l="l" t="t" r="r" b="b"/>
              <a:pathLst>
                <a:path w="2905760" h="1290954">
                  <a:moveTo>
                    <a:pt x="2690507" y="0"/>
                  </a:moveTo>
                  <a:lnTo>
                    <a:pt x="215112" y="0"/>
                  </a:lnTo>
                  <a:lnTo>
                    <a:pt x="165787" y="5681"/>
                  </a:lnTo>
                  <a:lnTo>
                    <a:pt x="120509" y="21865"/>
                  </a:lnTo>
                  <a:lnTo>
                    <a:pt x="80568" y="47260"/>
                  </a:lnTo>
                  <a:lnTo>
                    <a:pt x="47256" y="80573"/>
                  </a:lnTo>
                  <a:lnTo>
                    <a:pt x="21863" y="120514"/>
                  </a:lnTo>
                  <a:lnTo>
                    <a:pt x="5681" y="165791"/>
                  </a:lnTo>
                  <a:lnTo>
                    <a:pt x="0" y="215112"/>
                  </a:lnTo>
                  <a:lnTo>
                    <a:pt x="0" y="1075524"/>
                  </a:lnTo>
                  <a:lnTo>
                    <a:pt x="5681" y="1124849"/>
                  </a:lnTo>
                  <a:lnTo>
                    <a:pt x="21863" y="1170128"/>
                  </a:lnTo>
                  <a:lnTo>
                    <a:pt x="47256" y="1210068"/>
                  </a:lnTo>
                  <a:lnTo>
                    <a:pt x="80568" y="1243381"/>
                  </a:lnTo>
                  <a:lnTo>
                    <a:pt x="120509" y="1268774"/>
                  </a:lnTo>
                  <a:lnTo>
                    <a:pt x="165787" y="1284956"/>
                  </a:lnTo>
                  <a:lnTo>
                    <a:pt x="215112" y="1290637"/>
                  </a:lnTo>
                  <a:lnTo>
                    <a:pt x="2690507" y="1290637"/>
                  </a:lnTo>
                  <a:lnTo>
                    <a:pt x="2739832" y="1284956"/>
                  </a:lnTo>
                  <a:lnTo>
                    <a:pt x="2785110" y="1268774"/>
                  </a:lnTo>
                  <a:lnTo>
                    <a:pt x="2825051" y="1243381"/>
                  </a:lnTo>
                  <a:lnTo>
                    <a:pt x="2858364" y="1210068"/>
                  </a:lnTo>
                  <a:lnTo>
                    <a:pt x="2883756" y="1170128"/>
                  </a:lnTo>
                  <a:lnTo>
                    <a:pt x="2899939" y="1124849"/>
                  </a:lnTo>
                  <a:lnTo>
                    <a:pt x="2905620" y="1075524"/>
                  </a:lnTo>
                  <a:lnTo>
                    <a:pt x="2905620" y="215112"/>
                  </a:lnTo>
                  <a:lnTo>
                    <a:pt x="2899939" y="165791"/>
                  </a:lnTo>
                  <a:lnTo>
                    <a:pt x="2883756" y="120514"/>
                  </a:lnTo>
                  <a:lnTo>
                    <a:pt x="2858364" y="80573"/>
                  </a:lnTo>
                  <a:lnTo>
                    <a:pt x="2825051" y="47260"/>
                  </a:lnTo>
                  <a:lnTo>
                    <a:pt x="2785110" y="21865"/>
                  </a:lnTo>
                  <a:lnTo>
                    <a:pt x="2739832" y="5681"/>
                  </a:lnTo>
                  <a:lnTo>
                    <a:pt x="2690507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9560" y="3505200"/>
              <a:ext cx="1429512" cy="539496"/>
            </a:xfrm>
            <a:prstGeom prst="rect">
              <a:avLst/>
            </a:prstGeom>
          </p:spPr>
        </p:pic>
        <p:sp>
          <p:nvSpPr>
            <p:cNvPr id="180" name="object 180" descr=""/>
            <p:cNvSpPr/>
            <p:nvPr/>
          </p:nvSpPr>
          <p:spPr>
            <a:xfrm>
              <a:off x="400051" y="3304366"/>
              <a:ext cx="2640330" cy="215265"/>
            </a:xfrm>
            <a:custGeom>
              <a:avLst/>
              <a:gdLst/>
              <a:ahLst/>
              <a:cxnLst/>
              <a:rect l="l" t="t" r="r" b="b"/>
              <a:pathLst>
                <a:path w="2640330" h="215264">
                  <a:moveTo>
                    <a:pt x="2604312" y="0"/>
                  </a:moveTo>
                  <a:lnTo>
                    <a:pt x="35877" y="0"/>
                  </a:lnTo>
                  <a:lnTo>
                    <a:pt x="21913" y="2819"/>
                  </a:lnTo>
                  <a:lnTo>
                    <a:pt x="10509" y="10509"/>
                  </a:lnTo>
                  <a:lnTo>
                    <a:pt x="2819" y="21913"/>
                  </a:lnTo>
                  <a:lnTo>
                    <a:pt x="0" y="35877"/>
                  </a:lnTo>
                  <a:lnTo>
                    <a:pt x="0" y="179374"/>
                  </a:lnTo>
                  <a:lnTo>
                    <a:pt x="2819" y="193336"/>
                  </a:lnTo>
                  <a:lnTo>
                    <a:pt x="10509" y="204736"/>
                  </a:lnTo>
                  <a:lnTo>
                    <a:pt x="21913" y="212421"/>
                  </a:lnTo>
                  <a:lnTo>
                    <a:pt x="35877" y="215239"/>
                  </a:lnTo>
                  <a:lnTo>
                    <a:pt x="2604312" y="215239"/>
                  </a:lnTo>
                  <a:lnTo>
                    <a:pt x="2618282" y="212421"/>
                  </a:lnTo>
                  <a:lnTo>
                    <a:pt x="2629685" y="204736"/>
                  </a:lnTo>
                  <a:lnTo>
                    <a:pt x="2637372" y="193336"/>
                  </a:lnTo>
                  <a:lnTo>
                    <a:pt x="2640190" y="179374"/>
                  </a:lnTo>
                  <a:lnTo>
                    <a:pt x="2640190" y="35877"/>
                  </a:lnTo>
                  <a:lnTo>
                    <a:pt x="2637372" y="21913"/>
                  </a:lnTo>
                  <a:lnTo>
                    <a:pt x="2629685" y="10509"/>
                  </a:lnTo>
                  <a:lnTo>
                    <a:pt x="2618282" y="2819"/>
                  </a:lnTo>
                  <a:lnTo>
                    <a:pt x="2604312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400051" y="3304366"/>
              <a:ext cx="2640330" cy="215265"/>
            </a:xfrm>
            <a:custGeom>
              <a:avLst/>
              <a:gdLst/>
              <a:ahLst/>
              <a:cxnLst/>
              <a:rect l="l" t="t" r="r" b="b"/>
              <a:pathLst>
                <a:path w="2640330" h="215264">
                  <a:moveTo>
                    <a:pt x="0" y="35877"/>
                  </a:moveTo>
                  <a:lnTo>
                    <a:pt x="2819" y="21913"/>
                  </a:lnTo>
                  <a:lnTo>
                    <a:pt x="10509" y="10509"/>
                  </a:lnTo>
                  <a:lnTo>
                    <a:pt x="21913" y="2819"/>
                  </a:lnTo>
                  <a:lnTo>
                    <a:pt x="35877" y="0"/>
                  </a:lnTo>
                  <a:lnTo>
                    <a:pt x="2604312" y="0"/>
                  </a:lnTo>
                  <a:lnTo>
                    <a:pt x="2618282" y="2819"/>
                  </a:lnTo>
                  <a:lnTo>
                    <a:pt x="2629685" y="10509"/>
                  </a:lnTo>
                  <a:lnTo>
                    <a:pt x="2637372" y="21913"/>
                  </a:lnTo>
                  <a:lnTo>
                    <a:pt x="2640190" y="35877"/>
                  </a:lnTo>
                  <a:lnTo>
                    <a:pt x="2640190" y="179374"/>
                  </a:lnTo>
                  <a:lnTo>
                    <a:pt x="2637372" y="193336"/>
                  </a:lnTo>
                  <a:lnTo>
                    <a:pt x="2629685" y="204736"/>
                  </a:lnTo>
                  <a:lnTo>
                    <a:pt x="2618282" y="212421"/>
                  </a:lnTo>
                  <a:lnTo>
                    <a:pt x="2604312" y="215239"/>
                  </a:lnTo>
                  <a:lnTo>
                    <a:pt x="35877" y="215239"/>
                  </a:lnTo>
                  <a:lnTo>
                    <a:pt x="21913" y="212421"/>
                  </a:lnTo>
                  <a:lnTo>
                    <a:pt x="10509" y="204736"/>
                  </a:lnTo>
                  <a:lnTo>
                    <a:pt x="2819" y="193336"/>
                  </a:lnTo>
                  <a:lnTo>
                    <a:pt x="0" y="179374"/>
                  </a:lnTo>
                  <a:lnTo>
                    <a:pt x="0" y="3587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 descr=""/>
          <p:cNvSpPr txBox="1"/>
          <p:nvPr/>
        </p:nvSpPr>
        <p:spPr>
          <a:xfrm>
            <a:off x="1507611" y="3314706"/>
            <a:ext cx="4254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 b="1">
                <a:solidFill>
                  <a:srgbClr val="FFFFFF"/>
                </a:solidFill>
                <a:latin typeface="Microsoft YaHei"/>
                <a:cs typeface="Microsoft YaHei"/>
              </a:rPr>
              <a:t>云平台</a:t>
            </a:r>
            <a:endParaRPr sz="1050">
              <a:latin typeface="Microsoft YaHei"/>
              <a:cs typeface="Microsoft YaHei"/>
            </a:endParaRPr>
          </a:p>
        </p:txBody>
      </p:sp>
      <p:grpSp>
        <p:nvGrpSpPr>
          <p:cNvPr id="183" name="object 183" descr=""/>
          <p:cNvGrpSpPr/>
          <p:nvPr/>
        </p:nvGrpSpPr>
        <p:grpSpPr>
          <a:xfrm>
            <a:off x="421546" y="2864634"/>
            <a:ext cx="616585" cy="406400"/>
            <a:chOff x="421546" y="2864634"/>
            <a:chExt cx="616585" cy="406400"/>
          </a:xfrm>
        </p:grpSpPr>
        <p:sp>
          <p:nvSpPr>
            <p:cNvPr id="184" name="object 184" descr=""/>
            <p:cNvSpPr/>
            <p:nvPr/>
          </p:nvSpPr>
          <p:spPr>
            <a:xfrm>
              <a:off x="431071" y="2874159"/>
              <a:ext cx="597535" cy="387350"/>
            </a:xfrm>
            <a:custGeom>
              <a:avLst/>
              <a:gdLst/>
              <a:ahLst/>
              <a:cxnLst/>
              <a:rect l="l" t="t" r="r" b="b"/>
              <a:pathLst>
                <a:path w="597535" h="387350">
                  <a:moveTo>
                    <a:pt x="532688" y="0"/>
                  </a:moveTo>
                  <a:lnTo>
                    <a:pt x="64528" y="0"/>
                  </a:lnTo>
                  <a:lnTo>
                    <a:pt x="39412" y="5071"/>
                  </a:lnTo>
                  <a:lnTo>
                    <a:pt x="18900" y="18900"/>
                  </a:lnTo>
                  <a:lnTo>
                    <a:pt x="5071" y="39412"/>
                  </a:lnTo>
                  <a:lnTo>
                    <a:pt x="0" y="64528"/>
                  </a:lnTo>
                  <a:lnTo>
                    <a:pt x="0" y="322656"/>
                  </a:lnTo>
                  <a:lnTo>
                    <a:pt x="5071" y="347772"/>
                  </a:lnTo>
                  <a:lnTo>
                    <a:pt x="18900" y="368284"/>
                  </a:lnTo>
                  <a:lnTo>
                    <a:pt x="39412" y="382113"/>
                  </a:lnTo>
                  <a:lnTo>
                    <a:pt x="64528" y="387184"/>
                  </a:lnTo>
                  <a:lnTo>
                    <a:pt x="532688" y="387184"/>
                  </a:lnTo>
                  <a:lnTo>
                    <a:pt x="557805" y="382113"/>
                  </a:lnTo>
                  <a:lnTo>
                    <a:pt x="578316" y="368284"/>
                  </a:lnTo>
                  <a:lnTo>
                    <a:pt x="592146" y="347772"/>
                  </a:lnTo>
                  <a:lnTo>
                    <a:pt x="597217" y="322656"/>
                  </a:lnTo>
                  <a:lnTo>
                    <a:pt x="597217" y="64528"/>
                  </a:lnTo>
                  <a:lnTo>
                    <a:pt x="592146" y="39412"/>
                  </a:lnTo>
                  <a:lnTo>
                    <a:pt x="578316" y="18900"/>
                  </a:lnTo>
                  <a:lnTo>
                    <a:pt x="557805" y="5071"/>
                  </a:lnTo>
                  <a:lnTo>
                    <a:pt x="532688" y="0"/>
                  </a:lnTo>
                  <a:close/>
                </a:path>
              </a:pathLst>
            </a:custGeom>
            <a:solidFill>
              <a:srgbClr val="DA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431071" y="2874159"/>
              <a:ext cx="597535" cy="387350"/>
            </a:xfrm>
            <a:custGeom>
              <a:avLst/>
              <a:gdLst/>
              <a:ahLst/>
              <a:cxnLst/>
              <a:rect l="l" t="t" r="r" b="b"/>
              <a:pathLst>
                <a:path w="597535" h="387350">
                  <a:moveTo>
                    <a:pt x="0" y="64528"/>
                  </a:moveTo>
                  <a:lnTo>
                    <a:pt x="5071" y="39412"/>
                  </a:lnTo>
                  <a:lnTo>
                    <a:pt x="18900" y="18900"/>
                  </a:lnTo>
                  <a:lnTo>
                    <a:pt x="39412" y="5071"/>
                  </a:lnTo>
                  <a:lnTo>
                    <a:pt x="64528" y="0"/>
                  </a:lnTo>
                  <a:lnTo>
                    <a:pt x="532688" y="0"/>
                  </a:lnTo>
                  <a:lnTo>
                    <a:pt x="557805" y="5071"/>
                  </a:lnTo>
                  <a:lnTo>
                    <a:pt x="578316" y="18900"/>
                  </a:lnTo>
                  <a:lnTo>
                    <a:pt x="592146" y="39412"/>
                  </a:lnTo>
                  <a:lnTo>
                    <a:pt x="597217" y="64528"/>
                  </a:lnTo>
                  <a:lnTo>
                    <a:pt x="597217" y="322656"/>
                  </a:lnTo>
                  <a:lnTo>
                    <a:pt x="592146" y="347772"/>
                  </a:lnTo>
                  <a:lnTo>
                    <a:pt x="578316" y="368284"/>
                  </a:lnTo>
                  <a:lnTo>
                    <a:pt x="557805" y="382113"/>
                  </a:lnTo>
                  <a:lnTo>
                    <a:pt x="532688" y="387184"/>
                  </a:lnTo>
                  <a:lnTo>
                    <a:pt x="64528" y="387184"/>
                  </a:lnTo>
                  <a:lnTo>
                    <a:pt x="39412" y="382113"/>
                  </a:lnTo>
                  <a:lnTo>
                    <a:pt x="18900" y="368284"/>
                  </a:lnTo>
                  <a:lnTo>
                    <a:pt x="5071" y="347772"/>
                  </a:lnTo>
                  <a:lnTo>
                    <a:pt x="0" y="322656"/>
                  </a:lnTo>
                  <a:lnTo>
                    <a:pt x="0" y="6452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 descr=""/>
          <p:cNvSpPr txBox="1"/>
          <p:nvPr/>
        </p:nvSpPr>
        <p:spPr>
          <a:xfrm>
            <a:off x="553786" y="2974278"/>
            <a:ext cx="3511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Microsoft YaHei"/>
                <a:cs typeface="Microsoft YaHei"/>
              </a:rPr>
              <a:t>网元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7" name="object 187" descr=""/>
          <p:cNvGrpSpPr/>
          <p:nvPr/>
        </p:nvGrpSpPr>
        <p:grpSpPr>
          <a:xfrm>
            <a:off x="1030157" y="2864634"/>
            <a:ext cx="616585" cy="406400"/>
            <a:chOff x="1030157" y="2864634"/>
            <a:chExt cx="616585" cy="406400"/>
          </a:xfrm>
        </p:grpSpPr>
        <p:sp>
          <p:nvSpPr>
            <p:cNvPr id="188" name="object 188" descr=""/>
            <p:cNvSpPr/>
            <p:nvPr/>
          </p:nvSpPr>
          <p:spPr>
            <a:xfrm>
              <a:off x="1039682" y="2874159"/>
              <a:ext cx="597535" cy="387350"/>
            </a:xfrm>
            <a:custGeom>
              <a:avLst/>
              <a:gdLst/>
              <a:ahLst/>
              <a:cxnLst/>
              <a:rect l="l" t="t" r="r" b="b"/>
              <a:pathLst>
                <a:path w="597535" h="387350">
                  <a:moveTo>
                    <a:pt x="532688" y="0"/>
                  </a:moveTo>
                  <a:lnTo>
                    <a:pt x="64528" y="0"/>
                  </a:lnTo>
                  <a:lnTo>
                    <a:pt x="39412" y="5071"/>
                  </a:lnTo>
                  <a:lnTo>
                    <a:pt x="18900" y="18900"/>
                  </a:lnTo>
                  <a:lnTo>
                    <a:pt x="5071" y="39412"/>
                  </a:lnTo>
                  <a:lnTo>
                    <a:pt x="0" y="64528"/>
                  </a:lnTo>
                  <a:lnTo>
                    <a:pt x="0" y="322656"/>
                  </a:lnTo>
                  <a:lnTo>
                    <a:pt x="5071" y="347772"/>
                  </a:lnTo>
                  <a:lnTo>
                    <a:pt x="18900" y="368284"/>
                  </a:lnTo>
                  <a:lnTo>
                    <a:pt x="39412" y="382113"/>
                  </a:lnTo>
                  <a:lnTo>
                    <a:pt x="64528" y="387184"/>
                  </a:lnTo>
                  <a:lnTo>
                    <a:pt x="532688" y="387184"/>
                  </a:lnTo>
                  <a:lnTo>
                    <a:pt x="557805" y="382113"/>
                  </a:lnTo>
                  <a:lnTo>
                    <a:pt x="578316" y="368284"/>
                  </a:lnTo>
                  <a:lnTo>
                    <a:pt x="592146" y="347772"/>
                  </a:lnTo>
                  <a:lnTo>
                    <a:pt x="597217" y="322656"/>
                  </a:lnTo>
                  <a:lnTo>
                    <a:pt x="597217" y="64528"/>
                  </a:lnTo>
                  <a:lnTo>
                    <a:pt x="592146" y="39412"/>
                  </a:lnTo>
                  <a:lnTo>
                    <a:pt x="578316" y="18900"/>
                  </a:lnTo>
                  <a:lnTo>
                    <a:pt x="557805" y="5071"/>
                  </a:lnTo>
                  <a:lnTo>
                    <a:pt x="532688" y="0"/>
                  </a:lnTo>
                  <a:close/>
                </a:path>
              </a:pathLst>
            </a:custGeom>
            <a:solidFill>
              <a:srgbClr val="DA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039682" y="2874159"/>
              <a:ext cx="597535" cy="387350"/>
            </a:xfrm>
            <a:custGeom>
              <a:avLst/>
              <a:gdLst/>
              <a:ahLst/>
              <a:cxnLst/>
              <a:rect l="l" t="t" r="r" b="b"/>
              <a:pathLst>
                <a:path w="597535" h="387350">
                  <a:moveTo>
                    <a:pt x="0" y="64528"/>
                  </a:moveTo>
                  <a:lnTo>
                    <a:pt x="5071" y="39412"/>
                  </a:lnTo>
                  <a:lnTo>
                    <a:pt x="18900" y="18900"/>
                  </a:lnTo>
                  <a:lnTo>
                    <a:pt x="39412" y="5071"/>
                  </a:lnTo>
                  <a:lnTo>
                    <a:pt x="64528" y="0"/>
                  </a:lnTo>
                  <a:lnTo>
                    <a:pt x="532688" y="0"/>
                  </a:lnTo>
                  <a:lnTo>
                    <a:pt x="557805" y="5071"/>
                  </a:lnTo>
                  <a:lnTo>
                    <a:pt x="578316" y="18900"/>
                  </a:lnTo>
                  <a:lnTo>
                    <a:pt x="592146" y="39412"/>
                  </a:lnTo>
                  <a:lnTo>
                    <a:pt x="597217" y="64528"/>
                  </a:lnTo>
                  <a:lnTo>
                    <a:pt x="597217" y="322656"/>
                  </a:lnTo>
                  <a:lnTo>
                    <a:pt x="592146" y="347772"/>
                  </a:lnTo>
                  <a:lnTo>
                    <a:pt x="578316" y="368284"/>
                  </a:lnTo>
                  <a:lnTo>
                    <a:pt x="557805" y="382113"/>
                  </a:lnTo>
                  <a:lnTo>
                    <a:pt x="532688" y="387184"/>
                  </a:lnTo>
                  <a:lnTo>
                    <a:pt x="64528" y="387184"/>
                  </a:lnTo>
                  <a:lnTo>
                    <a:pt x="39412" y="382113"/>
                  </a:lnTo>
                  <a:lnTo>
                    <a:pt x="18900" y="368284"/>
                  </a:lnTo>
                  <a:lnTo>
                    <a:pt x="5071" y="347772"/>
                  </a:lnTo>
                  <a:lnTo>
                    <a:pt x="0" y="322656"/>
                  </a:lnTo>
                  <a:lnTo>
                    <a:pt x="0" y="6452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 descr=""/>
          <p:cNvSpPr txBox="1"/>
          <p:nvPr/>
        </p:nvSpPr>
        <p:spPr>
          <a:xfrm>
            <a:off x="1162397" y="2974278"/>
            <a:ext cx="3511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Microsoft YaHei"/>
                <a:cs typeface="Microsoft YaHei"/>
              </a:rPr>
              <a:t>网元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1" name="object 191" descr=""/>
          <p:cNvGrpSpPr/>
          <p:nvPr/>
        </p:nvGrpSpPr>
        <p:grpSpPr>
          <a:xfrm>
            <a:off x="2351858" y="2864634"/>
            <a:ext cx="616585" cy="406400"/>
            <a:chOff x="2351858" y="2864634"/>
            <a:chExt cx="616585" cy="406400"/>
          </a:xfrm>
        </p:grpSpPr>
        <p:sp>
          <p:nvSpPr>
            <p:cNvPr id="192" name="object 192" descr=""/>
            <p:cNvSpPr/>
            <p:nvPr/>
          </p:nvSpPr>
          <p:spPr>
            <a:xfrm>
              <a:off x="2361383" y="2874159"/>
              <a:ext cx="597535" cy="387350"/>
            </a:xfrm>
            <a:custGeom>
              <a:avLst/>
              <a:gdLst/>
              <a:ahLst/>
              <a:cxnLst/>
              <a:rect l="l" t="t" r="r" b="b"/>
              <a:pathLst>
                <a:path w="597535" h="387350">
                  <a:moveTo>
                    <a:pt x="532688" y="0"/>
                  </a:moveTo>
                  <a:lnTo>
                    <a:pt x="64528" y="0"/>
                  </a:lnTo>
                  <a:lnTo>
                    <a:pt x="39412" y="5071"/>
                  </a:lnTo>
                  <a:lnTo>
                    <a:pt x="18900" y="18900"/>
                  </a:lnTo>
                  <a:lnTo>
                    <a:pt x="5071" y="39412"/>
                  </a:lnTo>
                  <a:lnTo>
                    <a:pt x="0" y="64528"/>
                  </a:lnTo>
                  <a:lnTo>
                    <a:pt x="0" y="322656"/>
                  </a:lnTo>
                  <a:lnTo>
                    <a:pt x="5071" y="347772"/>
                  </a:lnTo>
                  <a:lnTo>
                    <a:pt x="18900" y="368284"/>
                  </a:lnTo>
                  <a:lnTo>
                    <a:pt x="39412" y="382113"/>
                  </a:lnTo>
                  <a:lnTo>
                    <a:pt x="64528" y="387184"/>
                  </a:lnTo>
                  <a:lnTo>
                    <a:pt x="532688" y="387184"/>
                  </a:lnTo>
                  <a:lnTo>
                    <a:pt x="557805" y="382113"/>
                  </a:lnTo>
                  <a:lnTo>
                    <a:pt x="578316" y="368284"/>
                  </a:lnTo>
                  <a:lnTo>
                    <a:pt x="592146" y="347772"/>
                  </a:lnTo>
                  <a:lnTo>
                    <a:pt x="597217" y="322656"/>
                  </a:lnTo>
                  <a:lnTo>
                    <a:pt x="597217" y="64528"/>
                  </a:lnTo>
                  <a:lnTo>
                    <a:pt x="592146" y="39412"/>
                  </a:lnTo>
                  <a:lnTo>
                    <a:pt x="578316" y="18900"/>
                  </a:lnTo>
                  <a:lnTo>
                    <a:pt x="557805" y="5071"/>
                  </a:lnTo>
                  <a:lnTo>
                    <a:pt x="532688" y="0"/>
                  </a:lnTo>
                  <a:close/>
                </a:path>
              </a:pathLst>
            </a:custGeom>
            <a:solidFill>
              <a:srgbClr val="DA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2361383" y="2874159"/>
              <a:ext cx="597535" cy="387350"/>
            </a:xfrm>
            <a:custGeom>
              <a:avLst/>
              <a:gdLst/>
              <a:ahLst/>
              <a:cxnLst/>
              <a:rect l="l" t="t" r="r" b="b"/>
              <a:pathLst>
                <a:path w="597535" h="387350">
                  <a:moveTo>
                    <a:pt x="0" y="64528"/>
                  </a:moveTo>
                  <a:lnTo>
                    <a:pt x="5071" y="39412"/>
                  </a:lnTo>
                  <a:lnTo>
                    <a:pt x="18900" y="18900"/>
                  </a:lnTo>
                  <a:lnTo>
                    <a:pt x="39412" y="5071"/>
                  </a:lnTo>
                  <a:lnTo>
                    <a:pt x="64528" y="0"/>
                  </a:lnTo>
                  <a:lnTo>
                    <a:pt x="532688" y="0"/>
                  </a:lnTo>
                  <a:lnTo>
                    <a:pt x="557805" y="5071"/>
                  </a:lnTo>
                  <a:lnTo>
                    <a:pt x="578316" y="18900"/>
                  </a:lnTo>
                  <a:lnTo>
                    <a:pt x="592146" y="39412"/>
                  </a:lnTo>
                  <a:lnTo>
                    <a:pt x="597217" y="64528"/>
                  </a:lnTo>
                  <a:lnTo>
                    <a:pt x="597217" y="322656"/>
                  </a:lnTo>
                  <a:lnTo>
                    <a:pt x="592146" y="347772"/>
                  </a:lnTo>
                  <a:lnTo>
                    <a:pt x="578316" y="368284"/>
                  </a:lnTo>
                  <a:lnTo>
                    <a:pt x="557805" y="382113"/>
                  </a:lnTo>
                  <a:lnTo>
                    <a:pt x="532688" y="387184"/>
                  </a:lnTo>
                  <a:lnTo>
                    <a:pt x="64528" y="387184"/>
                  </a:lnTo>
                  <a:lnTo>
                    <a:pt x="39412" y="382113"/>
                  </a:lnTo>
                  <a:lnTo>
                    <a:pt x="18900" y="368284"/>
                  </a:lnTo>
                  <a:lnTo>
                    <a:pt x="5071" y="347772"/>
                  </a:lnTo>
                  <a:lnTo>
                    <a:pt x="0" y="322656"/>
                  </a:lnTo>
                  <a:lnTo>
                    <a:pt x="0" y="6452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 descr=""/>
          <p:cNvSpPr txBox="1"/>
          <p:nvPr/>
        </p:nvSpPr>
        <p:spPr>
          <a:xfrm>
            <a:off x="2481080" y="2974278"/>
            <a:ext cx="3581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Microsoft YaHei"/>
                <a:cs typeface="Microsoft YaHei"/>
              </a:rPr>
              <a:t>网元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5" name="object 195" descr=""/>
          <p:cNvSpPr txBox="1"/>
          <p:nvPr/>
        </p:nvSpPr>
        <p:spPr>
          <a:xfrm>
            <a:off x="1897940" y="2939981"/>
            <a:ext cx="2032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96" name="object 19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88008" y="3511296"/>
            <a:ext cx="1429512" cy="536448"/>
          </a:xfrm>
          <a:prstGeom prst="rect">
            <a:avLst/>
          </a:prstGeom>
        </p:spPr>
      </p:pic>
      <p:sp>
        <p:nvSpPr>
          <p:cNvPr id="197" name="object 197" descr=""/>
          <p:cNvSpPr txBox="1"/>
          <p:nvPr/>
        </p:nvSpPr>
        <p:spPr>
          <a:xfrm>
            <a:off x="785517" y="3889787"/>
            <a:ext cx="1718945" cy="9620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429259">
              <a:lnSpc>
                <a:spcPct val="100000"/>
              </a:lnSpc>
              <a:spcBef>
                <a:spcPts val="505"/>
              </a:spcBef>
            </a:pPr>
            <a:r>
              <a:rPr dirty="0" sz="1000" spc="-10">
                <a:latin typeface="Microsoft YaHei"/>
                <a:cs typeface="Microsoft YaHei"/>
              </a:rPr>
              <a:t>通用服务器平台</a:t>
            </a:r>
            <a:endParaRPr sz="1000">
              <a:latin typeface="Microsoft YaHei"/>
              <a:cs typeface="Microsoft YaHei"/>
            </a:endParaRPr>
          </a:p>
          <a:p>
            <a:pPr algn="r" marR="70485">
              <a:lnSpc>
                <a:spcPct val="100000"/>
              </a:lnSpc>
              <a:spcBef>
                <a:spcPts val="655"/>
              </a:spcBef>
            </a:pPr>
            <a:r>
              <a:rPr dirty="0" sz="1600">
                <a:latin typeface="Microsoft YaHei"/>
                <a:cs typeface="Microsoft YaHei"/>
              </a:rPr>
              <a:t>虚拟网元设备</a:t>
            </a:r>
            <a:r>
              <a:rPr dirty="0" sz="1600" spc="-20">
                <a:latin typeface="Arial MT"/>
                <a:cs typeface="Arial MT"/>
              </a:rPr>
              <a:t>(5G)</a:t>
            </a:r>
            <a:endParaRPr sz="1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270"/>
              </a:spcBef>
            </a:pPr>
            <a:r>
              <a:rPr dirty="0" sz="1600" spc="-10" b="1">
                <a:latin typeface="Microsoft YaHei"/>
                <a:cs typeface="Microsoft YaHei"/>
              </a:rPr>
              <a:t>基于虚拟化平台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98" name="object 198" descr=""/>
          <p:cNvSpPr txBox="1"/>
          <p:nvPr/>
        </p:nvSpPr>
        <p:spPr>
          <a:xfrm>
            <a:off x="4118595" y="4400357"/>
            <a:ext cx="12465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Microsoft YaHei"/>
                <a:cs typeface="Microsoft YaHei"/>
              </a:rPr>
              <a:t>支持灵活部署及网络切片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99" name="object 199" descr=""/>
          <p:cNvSpPr txBox="1"/>
          <p:nvPr/>
        </p:nvSpPr>
        <p:spPr>
          <a:xfrm>
            <a:off x="6772043" y="4358446"/>
            <a:ext cx="17208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latin typeface="Arial"/>
                <a:cs typeface="Arial"/>
              </a:rPr>
              <a:t>5G</a:t>
            </a:r>
            <a:r>
              <a:rPr dirty="0" sz="1600" spc="-10" b="1">
                <a:latin typeface="Microsoft YaHei"/>
                <a:cs typeface="Microsoft YaHei"/>
              </a:rPr>
              <a:t>网络设备新形态</a:t>
            </a:r>
            <a:r>
              <a:rPr dirty="0" sz="1600" spc="-50" b="1">
                <a:latin typeface="Microsoft YaHei"/>
                <a:cs typeface="Microsoft YaHei"/>
              </a:rPr>
              <a:t> </a:t>
            </a:r>
            <a:r>
              <a:rPr dirty="0" sz="1600" spc="-10" b="1">
                <a:latin typeface="Arial"/>
                <a:cs typeface="Arial"/>
              </a:rPr>
              <a:t>MEC</a:t>
            </a:r>
            <a:r>
              <a:rPr dirty="0" sz="1600" spc="-15" b="1">
                <a:latin typeface="Microsoft YaHei"/>
                <a:cs typeface="Microsoft YaHei"/>
              </a:rPr>
              <a:t>边缘计算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00" name="object 20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产业现状与趋势：</a:t>
            </a:r>
            <a:r>
              <a:rPr dirty="0" spc="-45">
                <a:solidFill>
                  <a:srgbClr val="FF0000"/>
                </a:solidFill>
              </a:rPr>
              <a:t>核心网络</a:t>
            </a:r>
          </a:p>
        </p:txBody>
      </p:sp>
      <p:sp>
        <p:nvSpPr>
          <p:cNvPr id="201" name="object 201" descr=""/>
          <p:cNvSpPr txBox="1"/>
          <p:nvPr/>
        </p:nvSpPr>
        <p:spPr>
          <a:xfrm>
            <a:off x="390024" y="769490"/>
            <a:ext cx="21723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7815" algn="l"/>
              </a:tabLst>
            </a:pPr>
            <a:r>
              <a:rPr dirty="0" sz="2000" spc="-20">
                <a:latin typeface="Arial MT"/>
                <a:cs typeface="Arial MT"/>
              </a:rPr>
              <a:t>5G</a:t>
            </a:r>
            <a:r>
              <a:rPr dirty="0" sz="2000" spc="-25">
                <a:latin typeface="Microsoft YaHei"/>
                <a:cs typeface="Microsoft YaHei"/>
              </a:rPr>
              <a:t>核心网络设备</a:t>
            </a:r>
            <a:endParaRPr sz="20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0002" y="1788414"/>
            <a:ext cx="4737100" cy="3361690"/>
            <a:chOff x="170002" y="1788414"/>
            <a:chExt cx="4737100" cy="3361690"/>
          </a:xfrm>
        </p:grpSpPr>
        <p:sp>
          <p:nvSpPr>
            <p:cNvPr id="3" name="object 3" descr=""/>
            <p:cNvSpPr/>
            <p:nvPr/>
          </p:nvSpPr>
          <p:spPr>
            <a:xfrm>
              <a:off x="1139571" y="1793176"/>
              <a:ext cx="2736850" cy="1529080"/>
            </a:xfrm>
            <a:custGeom>
              <a:avLst/>
              <a:gdLst/>
              <a:ahLst/>
              <a:cxnLst/>
              <a:rect l="l" t="t" r="r" b="b"/>
              <a:pathLst>
                <a:path w="2736850" h="1529079">
                  <a:moveTo>
                    <a:pt x="0" y="0"/>
                  </a:moveTo>
                  <a:lnTo>
                    <a:pt x="2736303" y="0"/>
                  </a:lnTo>
                  <a:lnTo>
                    <a:pt x="2736303" y="1528724"/>
                  </a:lnTo>
                  <a:lnTo>
                    <a:pt x="0" y="15287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6352" y="3512286"/>
              <a:ext cx="4724400" cy="1631314"/>
            </a:xfrm>
            <a:custGeom>
              <a:avLst/>
              <a:gdLst/>
              <a:ahLst/>
              <a:cxnLst/>
              <a:rect l="l" t="t" r="r" b="b"/>
              <a:pathLst>
                <a:path w="4724400" h="1631314">
                  <a:moveTo>
                    <a:pt x="0" y="0"/>
                  </a:moveTo>
                  <a:lnTo>
                    <a:pt x="4724400" y="0"/>
                  </a:lnTo>
                  <a:lnTo>
                    <a:pt x="4724400" y="1631213"/>
                  </a:lnTo>
                  <a:lnTo>
                    <a:pt x="0" y="163121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796" y="3653253"/>
              <a:ext cx="101345" cy="8915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72591" y="137032"/>
            <a:ext cx="25800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核心网产品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40846" y="3608549"/>
            <a:ext cx="2187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5">
                <a:solidFill>
                  <a:srgbClr val="002060"/>
                </a:solidFill>
                <a:latin typeface="SimSun"/>
                <a:cs typeface="SimSun"/>
              </a:rPr>
              <a:t>高性能：高性能虚拟网络，低时延内核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67796" y="3253168"/>
            <a:ext cx="7278370" cy="1759585"/>
            <a:chOff x="267796" y="3253168"/>
            <a:chExt cx="7278370" cy="175958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796" y="3906999"/>
              <a:ext cx="101345" cy="8915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796" y="4415253"/>
              <a:ext cx="101345" cy="8915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796" y="4923507"/>
              <a:ext cx="101345" cy="891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7632" y="3253168"/>
              <a:ext cx="2448500" cy="87948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540846" y="3862296"/>
            <a:ext cx="4257675" cy="1195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002060"/>
                </a:solidFill>
                <a:latin typeface="SimSun"/>
                <a:cs typeface="SimSun"/>
              </a:rPr>
              <a:t>电信级可靠性和可用性：快速故障检测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（</a:t>
            </a:r>
            <a:r>
              <a:rPr dirty="0" sz="1000" spc="-5">
                <a:solidFill>
                  <a:srgbClr val="002060"/>
                </a:solidFill>
                <a:latin typeface="SimSun"/>
                <a:cs typeface="SimSun"/>
              </a:rPr>
              <a:t>秒级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），</a:t>
            </a:r>
            <a:r>
              <a:rPr dirty="0" sz="1000" spc="-15">
                <a:solidFill>
                  <a:srgbClr val="002060"/>
                </a:solidFill>
                <a:latin typeface="SimSun"/>
                <a:cs typeface="SimSun"/>
              </a:rPr>
              <a:t>自愈，主备控制节点，电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 spc="-10">
                <a:solidFill>
                  <a:srgbClr val="002060"/>
                </a:solidFill>
                <a:latin typeface="SimSun"/>
                <a:cs typeface="SimSun"/>
              </a:rPr>
              <a:t>信级运维增强，网络切片管理和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SDN</a:t>
            </a:r>
            <a:r>
              <a:rPr dirty="0" sz="1000" spc="-20">
                <a:solidFill>
                  <a:srgbClr val="002060"/>
                </a:solidFill>
                <a:latin typeface="SimSun"/>
                <a:cs typeface="SimSun"/>
              </a:rPr>
              <a:t>云网协同</a:t>
            </a:r>
            <a:endParaRPr sz="1000">
              <a:latin typeface="SimSun"/>
              <a:cs typeface="SimSun"/>
            </a:endParaRPr>
          </a:p>
          <a:p>
            <a:pPr marL="12700" marR="17145">
              <a:lnSpc>
                <a:spcPct val="166500"/>
              </a:lnSpc>
            </a:pPr>
            <a:r>
              <a:rPr dirty="0" sz="1000" spc="-10">
                <a:solidFill>
                  <a:srgbClr val="002060"/>
                </a:solidFill>
                <a:latin typeface="SimSun"/>
                <a:cs typeface="SimSun"/>
              </a:rPr>
              <a:t>全方位安全防护：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Host/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网络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/VM</a:t>
            </a:r>
            <a:r>
              <a:rPr dirty="0" sz="1000" spc="-10">
                <a:solidFill>
                  <a:srgbClr val="002060"/>
                </a:solidFill>
                <a:latin typeface="SimSun"/>
                <a:cs typeface="SimSun"/>
              </a:rPr>
              <a:t>（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Guest</a:t>
            </a:r>
            <a:r>
              <a:rPr dirty="0" sz="1000" spc="-10">
                <a:solidFill>
                  <a:srgbClr val="002060"/>
                </a:solidFill>
                <a:latin typeface="SimSun"/>
                <a:cs typeface="SimSun"/>
              </a:rPr>
              <a:t>）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/</a:t>
            </a:r>
            <a:r>
              <a:rPr dirty="0" sz="1000" spc="-5">
                <a:solidFill>
                  <a:srgbClr val="002060"/>
                </a:solidFill>
                <a:latin typeface="SimSun"/>
                <a:cs typeface="SimSun"/>
              </a:rPr>
              <a:t>配置数据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/</a:t>
            </a:r>
            <a:r>
              <a:rPr dirty="0" sz="1000" spc="-5">
                <a:solidFill>
                  <a:srgbClr val="002060"/>
                </a:solidFill>
                <a:latin typeface="SimSun"/>
                <a:cs typeface="SimSun"/>
              </a:rPr>
              <a:t>租户隔离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/</a:t>
            </a:r>
            <a:r>
              <a:rPr dirty="0" sz="1000" spc="-5">
                <a:solidFill>
                  <a:srgbClr val="002060"/>
                </a:solidFill>
                <a:latin typeface="SimSun"/>
                <a:cs typeface="SimSun"/>
              </a:rPr>
              <a:t>访问控制</a:t>
            </a:r>
            <a:r>
              <a:rPr dirty="0" sz="1000" spc="-50">
                <a:solidFill>
                  <a:srgbClr val="002060"/>
                </a:solidFill>
                <a:latin typeface="Microsoft YaHei"/>
                <a:cs typeface="Microsoft YaHei"/>
              </a:rPr>
              <a:t>/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传输层加密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/</a:t>
            </a:r>
            <a:r>
              <a:rPr dirty="0" sz="1000" spc="-15">
                <a:solidFill>
                  <a:srgbClr val="002060"/>
                </a:solidFill>
                <a:latin typeface="SimSun"/>
                <a:cs typeface="SimSun"/>
              </a:rPr>
              <a:t>用户认证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 spc="-5">
                <a:solidFill>
                  <a:srgbClr val="002060"/>
                </a:solidFill>
                <a:latin typeface="SimSun"/>
                <a:cs typeface="SimSun"/>
              </a:rPr>
              <a:t>开放性：第三方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NFVO</a:t>
            </a:r>
            <a:r>
              <a:rPr dirty="0" sz="1000" spc="-10">
                <a:solidFill>
                  <a:srgbClr val="002060"/>
                </a:solidFill>
                <a:latin typeface="SimSun"/>
                <a:cs typeface="SimSun"/>
              </a:rPr>
              <a:t>和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VNF</a:t>
            </a:r>
            <a:r>
              <a:rPr dirty="0" sz="1000" spc="-5">
                <a:solidFill>
                  <a:srgbClr val="002060"/>
                </a:solidFill>
                <a:latin typeface="SimSun"/>
                <a:cs typeface="SimSun"/>
              </a:rPr>
              <a:t>对接，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OPNFV</a:t>
            </a:r>
            <a:r>
              <a:rPr dirty="0" sz="1000" spc="-15">
                <a:solidFill>
                  <a:srgbClr val="002060"/>
                </a:solidFill>
                <a:latin typeface="SimSun"/>
                <a:cs typeface="SimSun"/>
              </a:rPr>
              <a:t>集成测试，开源社区参与和贡献</a:t>
            </a:r>
            <a:endParaRPr sz="1000">
              <a:latin typeface="SimSun"/>
              <a:cs typeface="SimSun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5446179" y="3301669"/>
          <a:ext cx="1093470" cy="755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"/>
                <a:gridCol w="87630"/>
                <a:gridCol w="146684"/>
                <a:gridCol w="180975"/>
                <a:gridCol w="248919"/>
              </a:tblGrid>
              <a:tr h="1314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8745">
                        <a:lnSpc>
                          <a:spcPts val="869"/>
                        </a:lnSpc>
                        <a:spcBef>
                          <a:spcPts val="6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APP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38100">
                      <a:solidFill>
                        <a:srgbClr val="89A4A7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4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lnB w="28575">
                      <a:solidFill>
                        <a:srgbClr val="89A4A7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APP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38100">
                      <a:solidFill>
                        <a:srgbClr val="89A4A7"/>
                      </a:solidFill>
                      <a:prstDash val="soli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</a:tcPr>
                </a:tc>
              </a:tr>
              <a:tr h="167640">
                <a:tc grid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MEC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38100">
                      <a:solidFill>
                        <a:srgbClr val="89A4A7"/>
                      </a:solidFill>
                      <a:prstDash val="solid"/>
                    </a:lnB>
                    <a:solidFill>
                      <a:srgbClr val="CECE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ts val="940"/>
                        </a:lnSpc>
                        <a:spcBef>
                          <a:spcPts val="28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UPF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6685">
                <a:tc gridSpan="5"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CloudOS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38100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4780">
                <a:tc gridSpan="5"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800" spc="-20">
                          <a:latin typeface="SimSun"/>
                          <a:cs typeface="SimSun"/>
                        </a:rPr>
                        <a:t>通用硬件资源</a:t>
                      </a:r>
                      <a:endParaRPr sz="800">
                        <a:latin typeface="SimSun"/>
                        <a:cs typeface="SimSun"/>
                      </a:endParaRPr>
                    </a:p>
                  </a:txBody>
                  <a:tcPr marL="0" marR="0" marB="0" marT="101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 descr=""/>
          <p:cNvSpPr/>
          <p:nvPr/>
        </p:nvSpPr>
        <p:spPr>
          <a:xfrm>
            <a:off x="6539001" y="3620896"/>
            <a:ext cx="559435" cy="144145"/>
          </a:xfrm>
          <a:custGeom>
            <a:avLst/>
            <a:gdLst/>
            <a:ahLst/>
            <a:cxnLst/>
            <a:rect l="l" t="t" r="r" b="b"/>
            <a:pathLst>
              <a:path w="559434" h="144145">
                <a:moveTo>
                  <a:pt x="0" y="0"/>
                </a:moveTo>
                <a:lnTo>
                  <a:pt x="559041" y="0"/>
                </a:lnTo>
                <a:lnTo>
                  <a:pt x="559041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551701" y="3633596"/>
            <a:ext cx="534035" cy="118745"/>
          </a:xfrm>
          <a:prstGeom prst="rect">
            <a:avLst/>
          </a:prstGeom>
          <a:solidFill>
            <a:srgbClr val="808080"/>
          </a:solidFill>
        </p:spPr>
        <p:txBody>
          <a:bodyPr wrap="square" lIns="0" tIns="0" rIns="0" bIns="0" rtlCol="0" vert="horz">
            <a:spAutoFit/>
          </a:bodyPr>
          <a:lstStyle/>
          <a:p>
            <a:pPr marL="175895">
              <a:lnSpc>
                <a:spcPts val="925"/>
              </a:lnSpc>
            </a:pPr>
            <a:r>
              <a:rPr dirty="0" sz="800" spc="-25" b="1">
                <a:latin typeface="Arial"/>
                <a:cs typeface="Arial"/>
              </a:rPr>
              <a:t>VIM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539001" y="3782415"/>
            <a:ext cx="559435" cy="288290"/>
          </a:xfrm>
          <a:custGeom>
            <a:avLst/>
            <a:gdLst/>
            <a:ahLst/>
            <a:cxnLst/>
            <a:rect l="l" t="t" r="r" b="b"/>
            <a:pathLst>
              <a:path w="559434" h="288289">
                <a:moveTo>
                  <a:pt x="0" y="0"/>
                </a:moveTo>
                <a:lnTo>
                  <a:pt x="559041" y="0"/>
                </a:lnTo>
                <a:lnTo>
                  <a:pt x="559041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551701" y="3795115"/>
            <a:ext cx="534035" cy="262890"/>
          </a:xfrm>
          <a:prstGeom prst="rect">
            <a:avLst/>
          </a:prstGeom>
          <a:solidFill>
            <a:srgbClr val="808080"/>
          </a:solidFill>
        </p:spPr>
        <p:txBody>
          <a:bodyPr wrap="square" lIns="0" tIns="762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0"/>
              </a:spcBef>
            </a:pPr>
            <a:r>
              <a:rPr dirty="0" sz="800" spc="-10" b="1">
                <a:latin typeface="Arial"/>
                <a:cs typeface="Arial"/>
              </a:rPr>
              <a:t>SDN</a:t>
            </a:r>
            <a:r>
              <a:rPr dirty="0" sz="800" spc="-50">
                <a:latin typeface="SimSun"/>
                <a:cs typeface="SimSun"/>
              </a:rPr>
              <a:t>控</a:t>
            </a:r>
            <a:endParaRPr sz="8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</a:pPr>
            <a:r>
              <a:rPr dirty="0" sz="800" spc="-30">
                <a:latin typeface="SimSun"/>
                <a:cs typeface="SimSun"/>
              </a:rPr>
              <a:t>制器</a:t>
            </a:r>
            <a:endParaRPr sz="80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063001" y="4209867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边缘云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09883" y="1224984"/>
            <a:ext cx="2759075" cy="1147445"/>
            <a:chOff x="4909883" y="1224984"/>
            <a:chExt cx="2759075" cy="114744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9883" y="1224984"/>
              <a:ext cx="2758704" cy="1147184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730111" y="1814995"/>
              <a:ext cx="559435" cy="144145"/>
            </a:xfrm>
            <a:custGeom>
              <a:avLst/>
              <a:gdLst/>
              <a:ahLst/>
              <a:cxnLst/>
              <a:rect l="l" t="t" r="r" b="b"/>
              <a:pathLst>
                <a:path w="559434" h="144144">
                  <a:moveTo>
                    <a:pt x="0" y="0"/>
                  </a:moveTo>
                  <a:lnTo>
                    <a:pt x="559028" y="0"/>
                  </a:lnTo>
                  <a:lnTo>
                    <a:pt x="559028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742810" y="1827695"/>
            <a:ext cx="534035" cy="118745"/>
          </a:xfrm>
          <a:prstGeom prst="rect">
            <a:avLst/>
          </a:prstGeom>
          <a:solidFill>
            <a:srgbClr val="808080"/>
          </a:solidFill>
        </p:spPr>
        <p:txBody>
          <a:bodyPr wrap="square" lIns="0" tIns="0" rIns="0" bIns="0" rtlCol="0" vert="horz">
            <a:spAutoFit/>
          </a:bodyPr>
          <a:lstStyle/>
          <a:p>
            <a:pPr marL="175895">
              <a:lnSpc>
                <a:spcPts val="925"/>
              </a:lnSpc>
            </a:pPr>
            <a:r>
              <a:rPr dirty="0" sz="800" spc="-25" b="1">
                <a:latin typeface="Arial"/>
                <a:cs typeface="Arial"/>
              </a:rPr>
              <a:t>VIM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730110" y="1976501"/>
            <a:ext cx="559435" cy="288290"/>
          </a:xfrm>
          <a:custGeom>
            <a:avLst/>
            <a:gdLst/>
            <a:ahLst/>
            <a:cxnLst/>
            <a:rect l="l" t="t" r="r" b="b"/>
            <a:pathLst>
              <a:path w="559434" h="288289">
                <a:moveTo>
                  <a:pt x="0" y="0"/>
                </a:moveTo>
                <a:lnTo>
                  <a:pt x="559028" y="0"/>
                </a:lnTo>
                <a:lnTo>
                  <a:pt x="559028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742810" y="1989201"/>
            <a:ext cx="534035" cy="262890"/>
          </a:xfrm>
          <a:prstGeom prst="rect">
            <a:avLst/>
          </a:prstGeom>
          <a:solidFill>
            <a:srgbClr val="808080"/>
          </a:solidFill>
        </p:spPr>
        <p:txBody>
          <a:bodyPr wrap="square" lIns="0" tIns="762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0"/>
              </a:spcBef>
            </a:pPr>
            <a:r>
              <a:rPr dirty="0" sz="800" spc="-10" b="1">
                <a:latin typeface="Arial"/>
                <a:cs typeface="Arial"/>
              </a:rPr>
              <a:t>SDN</a:t>
            </a:r>
            <a:r>
              <a:rPr dirty="0" sz="800" spc="-50">
                <a:latin typeface="SimSun"/>
                <a:cs typeface="SimSun"/>
              </a:rPr>
              <a:t>控</a:t>
            </a:r>
            <a:endParaRPr sz="8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</a:pPr>
            <a:r>
              <a:rPr dirty="0" sz="800" spc="-30">
                <a:latin typeface="SimSun"/>
                <a:cs typeface="SimSun"/>
              </a:rPr>
              <a:t>制器</a:t>
            </a:r>
            <a:endParaRPr sz="800">
              <a:latin typeface="SimSun"/>
              <a:cs typeface="SimSun"/>
            </a:endParaRPr>
          </a:p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5639663" y="1514805"/>
          <a:ext cx="1064260" cy="736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020"/>
                <a:gridCol w="421005"/>
              </a:tblGrid>
              <a:tr h="140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800" spc="-20" b="1">
                          <a:latin typeface="Arial"/>
                          <a:cs typeface="Arial"/>
                        </a:rPr>
                        <a:t>vEPC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L w="28575">
                      <a:solidFill>
                        <a:srgbClr val="89A4A7"/>
                      </a:solidFill>
                      <a:prstDash val="solid"/>
                    </a:lnL>
                    <a:lnR w="38100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38100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940"/>
                        </a:lnSpc>
                        <a:spcBef>
                          <a:spcPts val="6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NRF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38100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SMF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28575">
                      <a:solidFill>
                        <a:srgbClr val="89A4A7"/>
                      </a:solidFill>
                      <a:prstDash val="solid"/>
                    </a:lnL>
                    <a:lnR w="38100">
                      <a:solidFill>
                        <a:srgbClr val="89A4A7"/>
                      </a:solidFill>
                      <a:prstDash val="solid"/>
                    </a:lnR>
                    <a:lnT w="38100">
                      <a:solidFill>
                        <a:srgbClr val="89A4A7"/>
                      </a:solidFill>
                      <a:prstDash val="solid"/>
                    </a:lnT>
                    <a:lnB w="57150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PCF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38100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57150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 marR="374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AMF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6350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57150">
                      <a:solidFill>
                        <a:srgbClr val="89A4A7"/>
                      </a:solidFill>
                      <a:prstDash val="solid"/>
                    </a:lnT>
                    <a:lnB w="38100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940"/>
                        </a:lnSpc>
                        <a:spcBef>
                          <a:spcPts val="160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UPF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57150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146685">
                <a:tc gridSpan="2"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CloudOS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38100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4780"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800" spc="-20">
                          <a:latin typeface="SimSun"/>
                          <a:cs typeface="SimSun"/>
                        </a:rPr>
                        <a:t>通用硬件资源</a:t>
                      </a:r>
                      <a:endParaRPr sz="800">
                        <a:latin typeface="SimSun"/>
                        <a:cs typeface="SimSun"/>
                      </a:endParaRPr>
                    </a:p>
                  </a:txBody>
                  <a:tcPr marL="0" marR="0" marB="0" marT="101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7" name="object 27" descr=""/>
          <p:cNvSpPr txBox="1"/>
          <p:nvPr/>
        </p:nvSpPr>
        <p:spPr>
          <a:xfrm>
            <a:off x="6063001" y="2449776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核心云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419492" y="1667713"/>
            <a:ext cx="4023995" cy="0"/>
          </a:xfrm>
          <a:custGeom>
            <a:avLst/>
            <a:gdLst/>
            <a:ahLst/>
            <a:cxnLst/>
            <a:rect l="l" t="t" r="r" b="b"/>
            <a:pathLst>
              <a:path w="4023995" h="0">
                <a:moveTo>
                  <a:pt x="0" y="0"/>
                </a:moveTo>
                <a:lnTo>
                  <a:pt x="4023575" y="0"/>
                </a:lnTo>
              </a:path>
            </a:pathLst>
          </a:custGeom>
          <a:ln w="38100">
            <a:solidFill>
              <a:srgbClr val="B6DCD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7529" y="966139"/>
            <a:ext cx="576058" cy="401583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664466" y="1412283"/>
            <a:ext cx="6616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SimSun"/>
                <a:cs typeface="SimSun"/>
              </a:rPr>
              <a:t>智能车联网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1801" y="941464"/>
            <a:ext cx="467891" cy="41541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1680235" y="1412281"/>
            <a:ext cx="6616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SimSun"/>
                <a:cs typeface="SimSun"/>
              </a:rPr>
              <a:t>工业自动化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8413" y="941464"/>
            <a:ext cx="439380" cy="390738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2770592" y="1410610"/>
            <a:ext cx="4140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 MT"/>
                <a:cs typeface="Arial MT"/>
              </a:rPr>
              <a:t>AR/VR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87851" y="876477"/>
            <a:ext cx="576056" cy="545384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3660837" y="1421447"/>
            <a:ext cx="4076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SimSun"/>
                <a:cs typeface="SimSun"/>
              </a:rPr>
              <a:t>物联网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771039" y="1112575"/>
            <a:ext cx="12636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184150" algn="l"/>
              </a:tabLst>
            </a:pPr>
            <a:r>
              <a:rPr dirty="0" sz="1200" spc="-10">
                <a:solidFill>
                  <a:srgbClr val="17375E"/>
                </a:solidFill>
                <a:latin typeface="Arial MT"/>
                <a:cs typeface="Arial MT"/>
              </a:rPr>
              <a:t>SA</a:t>
            </a:r>
            <a:r>
              <a:rPr dirty="0" sz="1200">
                <a:solidFill>
                  <a:srgbClr val="17375E"/>
                </a:solidFill>
                <a:latin typeface="SimSun"/>
                <a:cs typeface="SimSun"/>
              </a:rPr>
              <a:t>组网支持</a:t>
            </a:r>
            <a:r>
              <a:rPr dirty="0" sz="1200" spc="-25">
                <a:solidFill>
                  <a:srgbClr val="17375E"/>
                </a:solidFill>
                <a:latin typeface="Arial MT"/>
                <a:cs typeface="Arial MT"/>
              </a:rPr>
              <a:t>5G</a:t>
            </a:r>
            <a:r>
              <a:rPr dirty="0" sz="1200" spc="-10">
                <a:solidFill>
                  <a:srgbClr val="17375E"/>
                </a:solidFill>
                <a:latin typeface="SimSun"/>
                <a:cs typeface="SimSun"/>
              </a:rPr>
              <a:t>所有新功能，是网络发展方向；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771039" y="1850953"/>
            <a:ext cx="1263650" cy="7505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4150" marR="5080" indent="-171450">
              <a:lnSpc>
                <a:spcPct val="98800"/>
              </a:lnSpc>
              <a:spcBef>
                <a:spcPts val="114"/>
              </a:spcBef>
              <a:buFont typeface="Wingdings"/>
              <a:buChar char=""/>
              <a:tabLst>
                <a:tab pos="184150" algn="l"/>
              </a:tabLst>
            </a:pPr>
            <a:r>
              <a:rPr dirty="0" sz="1200" spc="-10">
                <a:solidFill>
                  <a:srgbClr val="17375E"/>
                </a:solidFill>
                <a:latin typeface="SimSun"/>
                <a:cs typeface="SimSun"/>
              </a:rPr>
              <a:t>通过规模实验网</a:t>
            </a:r>
            <a:r>
              <a:rPr dirty="0" sz="1200">
                <a:solidFill>
                  <a:srgbClr val="17375E"/>
                </a:solidFill>
                <a:latin typeface="SimSun"/>
                <a:cs typeface="SimSun"/>
              </a:rPr>
              <a:t>加快</a:t>
            </a:r>
            <a:r>
              <a:rPr dirty="0" sz="1200" spc="-10">
                <a:solidFill>
                  <a:srgbClr val="17375E"/>
                </a:solidFill>
                <a:latin typeface="Arial MT"/>
                <a:cs typeface="Arial MT"/>
              </a:rPr>
              <a:t>SA</a:t>
            </a:r>
            <a:r>
              <a:rPr dirty="0" sz="1200" spc="-20">
                <a:solidFill>
                  <a:srgbClr val="17375E"/>
                </a:solidFill>
                <a:latin typeface="SimSun"/>
                <a:cs typeface="SimSun"/>
              </a:rPr>
              <a:t>组网的</a:t>
            </a:r>
            <a:r>
              <a:rPr dirty="0" sz="1200" spc="-10">
                <a:solidFill>
                  <a:srgbClr val="17375E"/>
                </a:solidFill>
                <a:latin typeface="SimSun"/>
                <a:cs typeface="SimSun"/>
              </a:rPr>
              <a:t>核心网产品商用</a:t>
            </a:r>
            <a:r>
              <a:rPr dirty="0" sz="1200" spc="-25">
                <a:solidFill>
                  <a:srgbClr val="17375E"/>
                </a:solidFill>
                <a:latin typeface="SimSun"/>
                <a:cs typeface="SimSun"/>
              </a:rPr>
              <a:t>进度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3951550" y="1077079"/>
            <a:ext cx="3775075" cy="3992879"/>
            <a:chOff x="3951550" y="1077079"/>
            <a:chExt cx="3775075" cy="3992879"/>
          </a:xfrm>
        </p:grpSpPr>
        <p:sp>
          <p:nvSpPr>
            <p:cNvPr id="40" name="object 40" descr=""/>
            <p:cNvSpPr/>
            <p:nvPr/>
          </p:nvSpPr>
          <p:spPr>
            <a:xfrm>
              <a:off x="7692301" y="1081841"/>
              <a:ext cx="0" cy="1754505"/>
            </a:xfrm>
            <a:custGeom>
              <a:avLst/>
              <a:gdLst/>
              <a:ahLst/>
              <a:cxnLst/>
              <a:rect l="l" t="t" r="r" b="b"/>
              <a:pathLst>
                <a:path w="0" h="1754505">
                  <a:moveTo>
                    <a:pt x="0" y="0"/>
                  </a:moveTo>
                  <a:lnTo>
                    <a:pt x="0" y="1754327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964250" y="1820353"/>
              <a:ext cx="1018540" cy="488950"/>
            </a:xfrm>
            <a:custGeom>
              <a:avLst/>
              <a:gdLst/>
              <a:ahLst/>
              <a:cxnLst/>
              <a:rect l="l" t="t" r="r" b="b"/>
              <a:pathLst>
                <a:path w="1018539" h="488950">
                  <a:moveTo>
                    <a:pt x="929246" y="0"/>
                  </a:moveTo>
                  <a:lnTo>
                    <a:pt x="942340" y="31241"/>
                  </a:lnTo>
                  <a:lnTo>
                    <a:pt x="0" y="426046"/>
                  </a:lnTo>
                  <a:lnTo>
                    <a:pt x="26187" y="488543"/>
                  </a:lnTo>
                  <a:lnTo>
                    <a:pt x="968527" y="93738"/>
                  </a:lnTo>
                  <a:lnTo>
                    <a:pt x="981621" y="124980"/>
                  </a:lnTo>
                  <a:lnTo>
                    <a:pt x="1017930" y="36309"/>
                  </a:lnTo>
                  <a:lnTo>
                    <a:pt x="929246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964250" y="1820353"/>
              <a:ext cx="1018540" cy="488950"/>
            </a:xfrm>
            <a:custGeom>
              <a:avLst/>
              <a:gdLst/>
              <a:ahLst/>
              <a:cxnLst/>
              <a:rect l="l" t="t" r="r" b="b"/>
              <a:pathLst>
                <a:path w="1018539" h="488950">
                  <a:moveTo>
                    <a:pt x="0" y="426046"/>
                  </a:moveTo>
                  <a:lnTo>
                    <a:pt x="942340" y="31241"/>
                  </a:lnTo>
                  <a:lnTo>
                    <a:pt x="929246" y="0"/>
                  </a:lnTo>
                  <a:lnTo>
                    <a:pt x="1017930" y="36309"/>
                  </a:lnTo>
                  <a:lnTo>
                    <a:pt x="981621" y="124980"/>
                  </a:lnTo>
                  <a:lnTo>
                    <a:pt x="968527" y="93738"/>
                  </a:lnTo>
                  <a:lnTo>
                    <a:pt x="26187" y="488543"/>
                  </a:lnTo>
                  <a:lnTo>
                    <a:pt x="0" y="426046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983659" y="2843303"/>
              <a:ext cx="1082040" cy="822960"/>
            </a:xfrm>
            <a:custGeom>
              <a:avLst/>
              <a:gdLst/>
              <a:ahLst/>
              <a:cxnLst/>
              <a:rect l="l" t="t" r="r" b="b"/>
              <a:pathLst>
                <a:path w="1082039" h="822960">
                  <a:moveTo>
                    <a:pt x="37147" y="0"/>
                  </a:moveTo>
                  <a:lnTo>
                    <a:pt x="0" y="50355"/>
                  </a:lnTo>
                  <a:lnTo>
                    <a:pt x="1012571" y="797483"/>
                  </a:lnTo>
                  <a:lnTo>
                    <a:pt x="993990" y="822655"/>
                  </a:lnTo>
                  <a:lnTo>
                    <a:pt x="1081493" y="809459"/>
                  </a:lnTo>
                  <a:lnTo>
                    <a:pt x="1068298" y="721944"/>
                  </a:lnTo>
                  <a:lnTo>
                    <a:pt x="1049718" y="747128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983659" y="2843303"/>
              <a:ext cx="1082040" cy="822960"/>
            </a:xfrm>
            <a:custGeom>
              <a:avLst/>
              <a:gdLst/>
              <a:ahLst/>
              <a:cxnLst/>
              <a:rect l="l" t="t" r="r" b="b"/>
              <a:pathLst>
                <a:path w="1082039" h="822960">
                  <a:moveTo>
                    <a:pt x="37147" y="0"/>
                  </a:moveTo>
                  <a:lnTo>
                    <a:pt x="1049718" y="747128"/>
                  </a:lnTo>
                  <a:lnTo>
                    <a:pt x="1068298" y="721944"/>
                  </a:lnTo>
                  <a:lnTo>
                    <a:pt x="1081493" y="809459"/>
                  </a:lnTo>
                  <a:lnTo>
                    <a:pt x="993990" y="822655"/>
                  </a:lnTo>
                  <a:lnTo>
                    <a:pt x="1012571" y="797483"/>
                  </a:lnTo>
                  <a:lnTo>
                    <a:pt x="0" y="50355"/>
                  </a:lnTo>
                  <a:lnTo>
                    <a:pt x="37147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692299" y="3193286"/>
              <a:ext cx="0" cy="1754505"/>
            </a:xfrm>
            <a:custGeom>
              <a:avLst/>
              <a:gdLst/>
              <a:ahLst/>
              <a:cxnLst/>
              <a:rect l="l" t="t" r="r" b="b"/>
              <a:pathLst>
                <a:path w="0" h="1754504">
                  <a:moveTo>
                    <a:pt x="0" y="0"/>
                  </a:moveTo>
                  <a:lnTo>
                    <a:pt x="0" y="1754327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168493" y="4457852"/>
              <a:ext cx="2552065" cy="605790"/>
            </a:xfrm>
            <a:custGeom>
              <a:avLst/>
              <a:gdLst/>
              <a:ahLst/>
              <a:cxnLst/>
              <a:rect l="l" t="t" r="r" b="b"/>
              <a:pathLst>
                <a:path w="2552065" h="605789">
                  <a:moveTo>
                    <a:pt x="0" y="0"/>
                  </a:moveTo>
                  <a:lnTo>
                    <a:pt x="2551671" y="0"/>
                  </a:lnTo>
                  <a:lnTo>
                    <a:pt x="2551671" y="605294"/>
                  </a:lnTo>
                  <a:lnTo>
                    <a:pt x="0" y="60529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9927" y="4598825"/>
              <a:ext cx="101339" cy="89151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7771039" y="3483695"/>
            <a:ext cx="1263650" cy="567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84150" marR="5080" indent="-171450">
              <a:lnSpc>
                <a:spcPct val="98100"/>
              </a:lnSpc>
              <a:spcBef>
                <a:spcPts val="125"/>
              </a:spcBef>
              <a:buFont typeface="Wingdings"/>
              <a:buChar char=""/>
              <a:tabLst>
                <a:tab pos="184150" algn="l"/>
              </a:tabLst>
            </a:pPr>
            <a:r>
              <a:rPr dirty="0" sz="1200" spc="-10">
                <a:solidFill>
                  <a:srgbClr val="10253F"/>
                </a:solidFill>
                <a:latin typeface="SimSun"/>
                <a:cs typeface="SimSun"/>
              </a:rPr>
              <a:t>边缘云部署可支持多种低时延要求的业务；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7771039" y="4208357"/>
            <a:ext cx="1263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183515" algn="l"/>
              </a:tabLst>
            </a:pPr>
            <a:r>
              <a:rPr dirty="0" sz="1200" spc="-10">
                <a:solidFill>
                  <a:srgbClr val="17375E"/>
                </a:solidFill>
                <a:latin typeface="SimSun"/>
                <a:cs typeface="SimSun"/>
              </a:rPr>
              <a:t>支持能力开放。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395146" y="2282207"/>
            <a:ext cx="534670" cy="3244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75565" marR="5080" indent="-63500">
              <a:lnSpc>
                <a:spcPts val="1150"/>
              </a:lnSpc>
              <a:spcBef>
                <a:spcPts val="180"/>
              </a:spcBef>
            </a:pPr>
            <a:r>
              <a:rPr dirty="0" sz="1000" spc="-15">
                <a:latin typeface="SimSun"/>
                <a:cs typeface="SimSun"/>
              </a:rPr>
              <a:t>电信云平</a:t>
            </a:r>
            <a:r>
              <a:rPr dirty="0" sz="1000" spc="-20">
                <a:latin typeface="SimSun"/>
                <a:cs typeface="SimSun"/>
              </a:rPr>
              <a:t>台产品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174843" y="4554120"/>
            <a:ext cx="2512695" cy="4324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0205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2060"/>
                </a:solidFill>
                <a:latin typeface="Microsoft YaHei"/>
                <a:cs typeface="Microsoft YaHei"/>
              </a:rPr>
              <a:t>MEC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产品支持（</a:t>
            </a:r>
            <a:r>
              <a:rPr dirty="0" sz="1000" spc="-225">
                <a:solidFill>
                  <a:srgbClr val="002060"/>
                </a:solidFill>
                <a:latin typeface="SimSun"/>
                <a:cs typeface="SimSun"/>
              </a:rPr>
              <a:t> </a:t>
            </a:r>
            <a:r>
              <a:rPr dirty="0" sz="1000">
                <a:solidFill>
                  <a:srgbClr val="002060"/>
                </a:solidFill>
                <a:latin typeface="Microsoft YaHei"/>
                <a:cs typeface="Microsoft YaHei"/>
              </a:rPr>
              <a:t>RNIS 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）、</a:t>
            </a:r>
            <a:r>
              <a:rPr dirty="0" sz="1000" spc="-10">
                <a:solidFill>
                  <a:srgbClr val="002060"/>
                </a:solidFill>
                <a:latin typeface="Microsoft YaHei"/>
                <a:cs typeface="Microsoft YaHei"/>
              </a:rPr>
              <a:t>CS</a:t>
            </a: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、</a:t>
            </a:r>
            <a:r>
              <a:rPr dirty="0" sz="1000" spc="-25">
                <a:solidFill>
                  <a:srgbClr val="002060"/>
                </a:solidFill>
                <a:latin typeface="Microsoft YaHei"/>
                <a:cs typeface="Microsoft YaHei"/>
              </a:rPr>
              <a:t>SR</a:t>
            </a:r>
            <a:endParaRPr sz="1000">
              <a:latin typeface="Microsoft YaHei"/>
              <a:cs typeface="Microsoft YaHei"/>
            </a:endParaRPr>
          </a:p>
          <a:p>
            <a:pPr marL="370840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002060"/>
                </a:solidFill>
                <a:latin typeface="SimSun"/>
                <a:cs typeface="SimSun"/>
              </a:rPr>
              <a:t>功能，支持第</a:t>
            </a:r>
            <a:r>
              <a:rPr dirty="0" sz="1000">
                <a:solidFill>
                  <a:srgbClr val="002060"/>
                </a:solidFill>
                <a:latin typeface="Microsoft YaHei"/>
                <a:cs typeface="Microsoft YaHei"/>
              </a:rPr>
              <a:t>3</a:t>
            </a:r>
            <a:r>
              <a:rPr dirty="0" sz="1000" spc="-15">
                <a:solidFill>
                  <a:srgbClr val="002060"/>
                </a:solidFill>
                <a:latin typeface="SimSun"/>
                <a:cs typeface="SimSun"/>
              </a:rPr>
              <a:t>方软件直接部署；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192453" y="1866176"/>
            <a:ext cx="2611755" cy="1669414"/>
            <a:chOff x="1192453" y="1866176"/>
            <a:chExt cx="2611755" cy="1669414"/>
          </a:xfrm>
        </p:grpSpPr>
        <p:pic>
          <p:nvPicPr>
            <p:cNvPr id="53" name="object 5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9302" y="3341499"/>
              <a:ext cx="71119" cy="19356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2453" y="1866176"/>
              <a:ext cx="2611412" cy="13640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592" y="137032"/>
            <a:ext cx="25800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核心网产品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994659" y="774953"/>
            <a:ext cx="2837180" cy="2441575"/>
            <a:chOff x="2994659" y="774953"/>
            <a:chExt cx="2837180" cy="2441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5149" y="1190244"/>
              <a:ext cx="946403" cy="18882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8138" y="1272506"/>
              <a:ext cx="800466" cy="17241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076" y="1194054"/>
              <a:ext cx="869429" cy="18943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0824" y="1276502"/>
              <a:ext cx="725390" cy="17296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2399" y="1200150"/>
              <a:ext cx="902969" cy="19004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5009" y="1282014"/>
              <a:ext cx="758385" cy="17366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4659" y="774953"/>
              <a:ext cx="2836925" cy="24414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45714" y="864107"/>
              <a:ext cx="2734805" cy="2339339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5925349" y="668464"/>
            <a:ext cx="2592070" cy="2730500"/>
            <a:chOff x="5925349" y="668464"/>
            <a:chExt cx="2592070" cy="273050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6162" y="819149"/>
              <a:ext cx="1171111" cy="241947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25349" y="668464"/>
              <a:ext cx="1476375" cy="27305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117037" y="935062"/>
            <a:ext cx="2592705" cy="2197100"/>
          </a:xfrm>
          <a:prstGeom prst="rect">
            <a:avLst/>
          </a:prstGeom>
          <a:ln w="12700">
            <a:solidFill>
              <a:srgbClr val="89A4A7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540"/>
              </a:spcBef>
            </a:pPr>
            <a:r>
              <a:rPr dirty="0" sz="1800" spc="-10" b="1">
                <a:latin typeface="Arial"/>
                <a:cs typeface="Arial"/>
              </a:rPr>
              <a:t>UGC9500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7839" y="3156527"/>
            <a:ext cx="2642870" cy="17449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26060" indent="-213360">
              <a:lnSpc>
                <a:spcPct val="100000"/>
              </a:lnSpc>
              <a:spcBef>
                <a:spcPts val="770"/>
              </a:spcBef>
              <a:buFont typeface="Wingdings"/>
              <a:buChar char=""/>
              <a:tabLst>
                <a:tab pos="226060" algn="l"/>
              </a:tabLst>
            </a:pPr>
            <a:r>
              <a:rPr dirty="0" sz="1600">
                <a:latin typeface="SimSun"/>
                <a:cs typeface="SimSun"/>
              </a:rPr>
              <a:t>基于通用</a:t>
            </a:r>
            <a:r>
              <a:rPr dirty="0" sz="1600" spc="-10">
                <a:latin typeface="Microsoft YaHei"/>
                <a:cs typeface="Microsoft YaHei"/>
              </a:rPr>
              <a:t>X86</a:t>
            </a:r>
            <a:r>
              <a:rPr dirty="0" sz="1600" spc="-15">
                <a:latin typeface="SimSun"/>
                <a:cs typeface="SimSun"/>
              </a:rPr>
              <a:t>处理器平台：</a:t>
            </a:r>
            <a:endParaRPr sz="1600">
              <a:latin typeface="SimSun"/>
              <a:cs typeface="SimSun"/>
            </a:endParaRPr>
          </a:p>
          <a:p>
            <a:pPr marL="378460" marR="828040" indent="-5080">
              <a:lnSpc>
                <a:spcPct val="124300"/>
              </a:lnSpc>
              <a:spcBef>
                <a:spcPts val="175"/>
              </a:spcBef>
            </a:pPr>
            <a:r>
              <a:rPr dirty="0" sz="1400">
                <a:solidFill>
                  <a:srgbClr val="002060"/>
                </a:solidFill>
                <a:latin typeface="Microsoft YaHei"/>
                <a:cs typeface="Microsoft YaHei"/>
              </a:rPr>
              <a:t>CPU</a:t>
            </a:r>
            <a:r>
              <a:rPr dirty="0" sz="1400" spc="355">
                <a:solidFill>
                  <a:srgbClr val="00206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002060"/>
                </a:solidFill>
                <a:latin typeface="Microsoft YaHei"/>
                <a:cs typeface="Microsoft YaHei"/>
              </a:rPr>
              <a:t>E5</a:t>
            </a:r>
            <a:r>
              <a:rPr dirty="0" sz="1400" spc="-30">
                <a:solidFill>
                  <a:srgbClr val="002060"/>
                </a:solidFill>
                <a:latin typeface="Microsoft YaHei"/>
                <a:cs typeface="Microsoft YaHei"/>
              </a:rPr>
              <a:t> </a:t>
            </a:r>
            <a:r>
              <a:rPr dirty="0" sz="1400" spc="-30">
                <a:solidFill>
                  <a:srgbClr val="002060"/>
                </a:solidFill>
                <a:latin typeface="SimSun"/>
                <a:cs typeface="SimSun"/>
              </a:rPr>
              <a:t>双十二核</a:t>
            </a:r>
            <a:r>
              <a:rPr dirty="0" sz="1400" spc="30">
                <a:solidFill>
                  <a:srgbClr val="002060"/>
                </a:solidFill>
                <a:latin typeface="SimSun"/>
                <a:cs typeface="SimSun"/>
              </a:rPr>
              <a:t>内存 </a:t>
            </a:r>
            <a:r>
              <a:rPr dirty="0" sz="1400" spc="-20">
                <a:solidFill>
                  <a:srgbClr val="002060"/>
                </a:solidFill>
                <a:latin typeface="Microsoft YaHei"/>
                <a:cs typeface="Microsoft YaHei"/>
              </a:rPr>
              <a:t>256G</a:t>
            </a:r>
            <a:endParaRPr sz="1400">
              <a:latin typeface="Microsoft YaHei"/>
              <a:cs typeface="Microsoft YaHei"/>
            </a:endParaRPr>
          </a:p>
          <a:p>
            <a:pPr marL="377825">
              <a:lnSpc>
                <a:spcPct val="100000"/>
              </a:lnSpc>
              <a:spcBef>
                <a:spcPts val="340"/>
              </a:spcBef>
            </a:pPr>
            <a:r>
              <a:rPr dirty="0" sz="1400" spc="30">
                <a:solidFill>
                  <a:srgbClr val="002060"/>
                </a:solidFill>
                <a:latin typeface="SimSun"/>
                <a:cs typeface="SimSun"/>
              </a:rPr>
              <a:t>硬盘 </a:t>
            </a:r>
            <a:r>
              <a:rPr dirty="0" sz="1400" spc="-10">
                <a:solidFill>
                  <a:srgbClr val="002060"/>
                </a:solidFill>
                <a:latin typeface="Microsoft YaHei"/>
                <a:cs typeface="Microsoft YaHei"/>
              </a:rPr>
              <a:t>1.2Tx2</a:t>
            </a:r>
            <a:endParaRPr sz="1400">
              <a:latin typeface="Microsoft YaHei"/>
              <a:cs typeface="Microsoft YaHei"/>
            </a:endParaRPr>
          </a:p>
          <a:p>
            <a:pPr marL="226060" indent="-213360">
              <a:lnSpc>
                <a:spcPct val="100000"/>
              </a:lnSpc>
              <a:spcBef>
                <a:spcPts val="350"/>
              </a:spcBef>
              <a:buFont typeface="Wingdings"/>
              <a:buChar char=""/>
              <a:tabLst>
                <a:tab pos="226060" algn="l"/>
              </a:tabLst>
            </a:pPr>
            <a:r>
              <a:rPr dirty="0" sz="1600">
                <a:latin typeface="SimSun"/>
                <a:cs typeface="SimSun"/>
              </a:rPr>
              <a:t>符合</a:t>
            </a:r>
            <a:r>
              <a:rPr dirty="0" sz="1600">
                <a:latin typeface="Microsoft YaHei"/>
                <a:cs typeface="Microsoft YaHei"/>
              </a:rPr>
              <a:t>3GPP</a:t>
            </a:r>
            <a:r>
              <a:rPr dirty="0" sz="1600" spc="-30">
                <a:latin typeface="Microsoft YaHei"/>
                <a:cs typeface="Microsoft YaHei"/>
              </a:rPr>
              <a:t> </a:t>
            </a:r>
            <a:r>
              <a:rPr dirty="0" sz="1600" spc="-10">
                <a:latin typeface="Microsoft YaHei"/>
                <a:cs typeface="Microsoft YaHei"/>
              </a:rPr>
              <a:t>R15</a:t>
            </a:r>
            <a:r>
              <a:rPr dirty="0" sz="1600" spc="-15">
                <a:latin typeface="SimSun"/>
                <a:cs typeface="SimSun"/>
              </a:rPr>
              <a:t>技术标准</a:t>
            </a:r>
            <a:endParaRPr sz="1600">
              <a:latin typeface="SimSun"/>
              <a:cs typeface="SimSun"/>
            </a:endParaRPr>
          </a:p>
          <a:p>
            <a:pPr marL="226060" indent="-213360">
              <a:lnSpc>
                <a:spcPct val="100000"/>
              </a:lnSpc>
              <a:spcBef>
                <a:spcPts val="385"/>
              </a:spcBef>
              <a:buFont typeface="Wingdings"/>
              <a:buChar char=""/>
              <a:tabLst>
                <a:tab pos="226060" algn="l"/>
              </a:tabLst>
            </a:pPr>
            <a:r>
              <a:rPr dirty="0" sz="1600" spc="-10">
                <a:latin typeface="SimSun"/>
                <a:cs typeface="SimSun"/>
              </a:rPr>
              <a:t>服务化架构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82842" y="1831706"/>
            <a:ext cx="635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solidFill>
                  <a:srgbClr val="002060"/>
                </a:solidFill>
                <a:latin typeface="Microsoft YaHei"/>
                <a:cs typeface="Microsoft YaHei"/>
              </a:rPr>
              <a:t>支持三大典型场景网络切片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55159" y="3593536"/>
            <a:ext cx="89535" cy="1103630"/>
            <a:chOff x="6155159" y="3593536"/>
            <a:chExt cx="89535" cy="1103630"/>
          </a:xfrm>
        </p:grpSpPr>
        <p:pic>
          <p:nvPicPr>
            <p:cNvPr id="19" name="object 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5159" y="3593536"/>
              <a:ext cx="89153" cy="9753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5159" y="3844996"/>
              <a:ext cx="89153" cy="9753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5159" y="4096456"/>
              <a:ext cx="89153" cy="9753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5159" y="4347916"/>
              <a:ext cx="89153" cy="9753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5159" y="4599376"/>
              <a:ext cx="89153" cy="97535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6342865" y="3454040"/>
            <a:ext cx="115125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AMF</a:t>
            </a:r>
            <a:r>
              <a:rPr dirty="0" sz="1100" spc="-20">
                <a:latin typeface="Microsoft YaHei"/>
                <a:cs typeface="Microsoft YaHei"/>
              </a:rPr>
              <a:t>用户数</a:t>
            </a:r>
            <a:r>
              <a:rPr dirty="0" sz="1100" spc="-10">
                <a:latin typeface="Times New Roman"/>
                <a:cs typeface="Times New Roman"/>
              </a:rPr>
              <a:t>20</a:t>
            </a:r>
            <a:r>
              <a:rPr dirty="0" sz="1100" spc="-50">
                <a:latin typeface="Microsoft YaHei"/>
                <a:cs typeface="Microsoft YaHei"/>
              </a:rPr>
              <a:t>万 </a:t>
            </a:r>
            <a:r>
              <a:rPr dirty="0" sz="1100" spc="-10">
                <a:latin typeface="Times New Roman"/>
                <a:cs typeface="Times New Roman"/>
              </a:rPr>
              <a:t>SMF</a:t>
            </a:r>
            <a:r>
              <a:rPr dirty="0" sz="1100" spc="-20">
                <a:latin typeface="Microsoft YaHei"/>
                <a:cs typeface="Microsoft YaHei"/>
              </a:rPr>
              <a:t>连接数</a:t>
            </a:r>
            <a:r>
              <a:rPr dirty="0" sz="1100" spc="-10">
                <a:latin typeface="Times New Roman"/>
                <a:cs typeface="Times New Roman"/>
              </a:rPr>
              <a:t>20</a:t>
            </a:r>
            <a:r>
              <a:rPr dirty="0" sz="1100" spc="-50">
                <a:latin typeface="Microsoft YaHei"/>
                <a:cs typeface="Microsoft YaHei"/>
              </a:rPr>
              <a:t>万 </a:t>
            </a:r>
            <a:r>
              <a:rPr dirty="0" sz="1100" spc="-10">
                <a:latin typeface="Times New Roman"/>
                <a:cs typeface="Times New Roman"/>
              </a:rPr>
              <a:t>UPF</a:t>
            </a:r>
            <a:r>
              <a:rPr dirty="0" sz="1100" spc="-20">
                <a:latin typeface="Microsoft YaHei"/>
                <a:cs typeface="Microsoft YaHei"/>
              </a:rPr>
              <a:t>处理流量</a:t>
            </a:r>
            <a:r>
              <a:rPr dirty="0" sz="1100" spc="-20">
                <a:latin typeface="Times New Roman"/>
                <a:cs typeface="Times New Roman"/>
              </a:rPr>
              <a:t>100G </a:t>
            </a:r>
            <a:r>
              <a:rPr dirty="0" sz="1100" spc="-10">
                <a:latin typeface="Times New Roman"/>
                <a:cs typeface="Times New Roman"/>
              </a:rPr>
              <a:t>PCF</a:t>
            </a:r>
            <a:r>
              <a:rPr dirty="0" sz="1100" spc="-20">
                <a:latin typeface="Microsoft YaHei"/>
                <a:cs typeface="Microsoft YaHei"/>
              </a:rPr>
              <a:t>用户数</a:t>
            </a:r>
            <a:r>
              <a:rPr dirty="0" sz="1100" spc="-10">
                <a:latin typeface="Times New Roman"/>
                <a:cs typeface="Times New Roman"/>
              </a:rPr>
              <a:t>20</a:t>
            </a:r>
            <a:r>
              <a:rPr dirty="0" sz="1100" spc="-60">
                <a:latin typeface="Microsoft YaHei"/>
                <a:cs typeface="Microsoft YaHei"/>
              </a:rPr>
              <a:t>万 </a:t>
            </a:r>
            <a:r>
              <a:rPr dirty="0" sz="1100" spc="-20">
                <a:latin typeface="Times New Roman"/>
                <a:cs typeface="Times New Roman"/>
              </a:rPr>
              <a:t>NRF</a:t>
            </a:r>
            <a:r>
              <a:rPr dirty="0" sz="1100" spc="-20">
                <a:latin typeface="Microsoft YaHei"/>
                <a:cs typeface="Microsoft YaHei"/>
              </a:rPr>
              <a:t>用户数</a:t>
            </a:r>
            <a:r>
              <a:rPr dirty="0" sz="1100" spc="-10">
                <a:latin typeface="Times New Roman"/>
                <a:cs typeface="Times New Roman"/>
              </a:rPr>
              <a:t>20</a:t>
            </a:r>
            <a:r>
              <a:rPr dirty="0" sz="1100" spc="-50">
                <a:latin typeface="Microsoft YaHei"/>
                <a:cs typeface="Microsoft YaHei"/>
              </a:rPr>
              <a:t>万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011343" y="3165347"/>
            <a:ext cx="2663825" cy="1781810"/>
            <a:chOff x="6011343" y="3165347"/>
            <a:chExt cx="2663825" cy="1781810"/>
          </a:xfrm>
        </p:grpSpPr>
        <p:sp>
          <p:nvSpPr>
            <p:cNvPr id="26" name="object 26" descr=""/>
            <p:cNvSpPr/>
            <p:nvPr/>
          </p:nvSpPr>
          <p:spPr>
            <a:xfrm>
              <a:off x="6025630" y="3333755"/>
              <a:ext cx="2635250" cy="1598930"/>
            </a:xfrm>
            <a:custGeom>
              <a:avLst/>
              <a:gdLst/>
              <a:ahLst/>
              <a:cxnLst/>
              <a:rect l="l" t="t" r="r" b="b"/>
              <a:pathLst>
                <a:path w="2635250" h="1598929">
                  <a:moveTo>
                    <a:pt x="0" y="18491"/>
                  </a:moveTo>
                  <a:lnTo>
                    <a:pt x="1453" y="11294"/>
                  </a:lnTo>
                  <a:lnTo>
                    <a:pt x="5416" y="5416"/>
                  </a:lnTo>
                  <a:lnTo>
                    <a:pt x="11294" y="1453"/>
                  </a:lnTo>
                  <a:lnTo>
                    <a:pt x="18491" y="0"/>
                  </a:lnTo>
                  <a:lnTo>
                    <a:pt x="2616758" y="0"/>
                  </a:lnTo>
                  <a:lnTo>
                    <a:pt x="2623955" y="1453"/>
                  </a:lnTo>
                  <a:lnTo>
                    <a:pt x="2629833" y="5416"/>
                  </a:lnTo>
                  <a:lnTo>
                    <a:pt x="2633796" y="11294"/>
                  </a:lnTo>
                  <a:lnTo>
                    <a:pt x="2635250" y="18491"/>
                  </a:lnTo>
                  <a:lnTo>
                    <a:pt x="2635250" y="1580108"/>
                  </a:lnTo>
                  <a:lnTo>
                    <a:pt x="2633796" y="1587312"/>
                  </a:lnTo>
                  <a:lnTo>
                    <a:pt x="2629833" y="1593194"/>
                  </a:lnTo>
                  <a:lnTo>
                    <a:pt x="2623955" y="1597158"/>
                  </a:lnTo>
                  <a:lnTo>
                    <a:pt x="2616758" y="1598612"/>
                  </a:lnTo>
                  <a:lnTo>
                    <a:pt x="18491" y="1598612"/>
                  </a:lnTo>
                  <a:lnTo>
                    <a:pt x="11294" y="1597158"/>
                  </a:lnTo>
                  <a:lnTo>
                    <a:pt x="5416" y="1593194"/>
                  </a:lnTo>
                  <a:lnTo>
                    <a:pt x="1453" y="1587312"/>
                  </a:lnTo>
                  <a:lnTo>
                    <a:pt x="0" y="1580108"/>
                  </a:lnTo>
                  <a:lnTo>
                    <a:pt x="0" y="18491"/>
                  </a:lnTo>
                  <a:close/>
                </a:path>
              </a:pathLst>
            </a:custGeom>
            <a:ln w="28575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79236" y="3165347"/>
              <a:ext cx="1815833" cy="35509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25375" y="3192576"/>
              <a:ext cx="1724012" cy="26195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125370" y="3192580"/>
              <a:ext cx="1724025" cy="262255"/>
            </a:xfrm>
            <a:custGeom>
              <a:avLst/>
              <a:gdLst/>
              <a:ahLst/>
              <a:cxnLst/>
              <a:rect l="l" t="t" r="r" b="b"/>
              <a:pathLst>
                <a:path w="1724025" h="262254">
                  <a:moveTo>
                    <a:pt x="0" y="43662"/>
                  </a:moveTo>
                  <a:lnTo>
                    <a:pt x="3430" y="26671"/>
                  </a:lnTo>
                  <a:lnTo>
                    <a:pt x="12787" y="12792"/>
                  </a:lnTo>
                  <a:lnTo>
                    <a:pt x="26665" y="3432"/>
                  </a:lnTo>
                  <a:lnTo>
                    <a:pt x="43662" y="0"/>
                  </a:lnTo>
                  <a:lnTo>
                    <a:pt x="1680362" y="0"/>
                  </a:lnTo>
                  <a:lnTo>
                    <a:pt x="1697359" y="3432"/>
                  </a:lnTo>
                  <a:lnTo>
                    <a:pt x="1711237" y="12792"/>
                  </a:lnTo>
                  <a:lnTo>
                    <a:pt x="1720594" y="26671"/>
                  </a:lnTo>
                  <a:lnTo>
                    <a:pt x="1724025" y="43662"/>
                  </a:lnTo>
                  <a:lnTo>
                    <a:pt x="1724025" y="218287"/>
                  </a:lnTo>
                  <a:lnTo>
                    <a:pt x="1720594" y="235277"/>
                  </a:lnTo>
                  <a:lnTo>
                    <a:pt x="1711237" y="249151"/>
                  </a:lnTo>
                  <a:lnTo>
                    <a:pt x="1697359" y="258506"/>
                  </a:lnTo>
                  <a:lnTo>
                    <a:pt x="1680362" y="261937"/>
                  </a:lnTo>
                  <a:lnTo>
                    <a:pt x="43662" y="261937"/>
                  </a:lnTo>
                  <a:lnTo>
                    <a:pt x="26665" y="258506"/>
                  </a:lnTo>
                  <a:lnTo>
                    <a:pt x="12787" y="249151"/>
                  </a:lnTo>
                  <a:lnTo>
                    <a:pt x="3430" y="235277"/>
                  </a:lnTo>
                  <a:lnTo>
                    <a:pt x="0" y="218287"/>
                  </a:lnTo>
                  <a:lnTo>
                    <a:pt x="0" y="43662"/>
                  </a:lnTo>
                  <a:close/>
                </a:path>
              </a:pathLst>
            </a:custGeom>
            <a:ln w="9525">
              <a:solidFill>
                <a:srgbClr val="D5E8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131847" y="3214080"/>
            <a:ext cx="1711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Microsoft YaHei"/>
                <a:cs typeface="Microsoft YaHei"/>
              </a:rPr>
              <a:t>试验网设备指标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0791" y="1347117"/>
            <a:ext cx="735012" cy="766759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280766" y="2217310"/>
            <a:ext cx="721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4</a:t>
            </a:r>
            <a:r>
              <a:rPr dirty="0" sz="1200" spc="-15">
                <a:latin typeface="SimSun"/>
                <a:cs typeface="SimSun"/>
              </a:rPr>
              <a:t>Ｇ核心网</a:t>
            </a:r>
            <a:endParaRPr sz="1200">
              <a:latin typeface="SimSun"/>
              <a:cs typeface="SimSun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09166" y="831176"/>
            <a:ext cx="1477962" cy="1989137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1606327" y="1622952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solidFill>
                  <a:srgbClr val="002060"/>
                </a:solidFill>
                <a:latin typeface="Microsoft YaHei"/>
                <a:cs typeface="Microsoft YaHei"/>
              </a:rPr>
              <a:t>专用设备</a:t>
            </a:r>
            <a:r>
              <a:rPr dirty="0" sz="1200" spc="-20">
                <a:solidFill>
                  <a:srgbClr val="002060"/>
                </a:solidFill>
                <a:latin typeface="Microsoft YaHei"/>
                <a:cs typeface="Microsoft YaHei"/>
              </a:rPr>
              <a:t>虚拟化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62890" y="3080004"/>
            <a:ext cx="1816100" cy="356235"/>
            <a:chOff x="262890" y="3080004"/>
            <a:chExt cx="1816100" cy="356235"/>
          </a:xfrm>
        </p:grpSpPr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2890" y="3080004"/>
              <a:ext cx="1815845" cy="35585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8724" y="3107651"/>
              <a:ext cx="1724025" cy="261950"/>
            </a:xfrm>
            <a:prstGeom prst="rect">
              <a:avLst/>
            </a:prstGeom>
          </p:spPr>
        </p:pic>
      </p:grpSp>
      <p:graphicFrame>
        <p:nvGraphicFramePr>
          <p:cNvPr id="38" name="object 38" descr=""/>
          <p:cNvGraphicFramePr>
            <a:graphicFrameLocks noGrp="1"/>
          </p:cNvGraphicFramePr>
          <p:nvPr/>
        </p:nvGraphicFramePr>
        <p:xfrm>
          <a:off x="129654" y="3094949"/>
          <a:ext cx="2806700" cy="182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"/>
                <a:gridCol w="1724025"/>
                <a:gridCol w="814705"/>
              </a:tblGrid>
              <a:tr h="11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D5E8EA"/>
                      </a:solidFill>
                      <a:prstDash val="solid"/>
                    </a:lnR>
                    <a:lnB w="28575">
                      <a:solidFill>
                        <a:srgbClr val="00B0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D5E8EA"/>
                      </a:solidFill>
                      <a:prstDash val="solid"/>
                    </a:lnL>
                    <a:lnR w="19050">
                      <a:solidFill>
                        <a:srgbClr val="D5E8EA"/>
                      </a:solidFill>
                      <a:prstDash val="solid"/>
                    </a:lnR>
                    <a:lnT w="9525">
                      <a:solidFill>
                        <a:srgbClr val="D5E8EA"/>
                      </a:solidFill>
                      <a:prstDash val="solid"/>
                    </a:lnT>
                    <a:lnB w="28575">
                      <a:solidFill>
                        <a:srgbClr val="00B0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D5E8EA"/>
                      </a:solidFill>
                      <a:prstDash val="solid"/>
                    </a:lnL>
                    <a:lnB w="28575">
                      <a:solidFill>
                        <a:srgbClr val="00B0F0"/>
                      </a:solidFill>
                      <a:prstDash val="solid"/>
                    </a:lnB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D5E8EA"/>
                      </a:solidFill>
                      <a:prstDash val="solid"/>
                    </a:lnR>
                    <a:lnT w="28575">
                      <a:solidFill>
                        <a:srgbClr val="00B0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830"/>
                        </a:lnSpc>
                      </a:pPr>
                      <a:r>
                        <a:rPr dirty="0" baseline="1984" sz="2100" spc="-682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支持</a:t>
                      </a:r>
                      <a:r>
                        <a:rPr dirty="0" sz="1200" spc="-335" b="1">
                          <a:latin typeface="Microsoft YaHei"/>
                          <a:cs typeface="Microsoft YaHei"/>
                        </a:rPr>
                        <a:t>全</a:t>
                      </a:r>
                      <a:r>
                        <a:rPr dirty="0" baseline="1984" sz="2100" spc="-562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200" spc="-835" b="1">
                          <a:latin typeface="Microsoft YaHei"/>
                          <a:cs typeface="Microsoft YaHei"/>
                        </a:rPr>
                        <a:t>面</a:t>
                      </a:r>
                      <a:r>
                        <a:rPr dirty="0" baseline="1984" sz="2100" spc="-382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dirty="0" sz="1200" spc="-950" b="1">
                          <a:latin typeface="Microsoft YaHei"/>
                          <a:cs typeface="Microsoft YaHei"/>
                        </a:rPr>
                        <a:t>支</a:t>
                      </a:r>
                      <a:r>
                        <a:rPr dirty="0" baseline="1984" sz="2100" spc="-70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功</a:t>
                      </a:r>
                      <a:r>
                        <a:rPr dirty="0" sz="1200" spc="-750" b="1">
                          <a:latin typeface="Microsoft YaHei"/>
                          <a:cs typeface="Microsoft YaHei"/>
                        </a:rPr>
                        <a:t>持</a:t>
                      </a:r>
                      <a:r>
                        <a:rPr dirty="0" baseline="1984" sz="2100" spc="-997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能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5G</a:t>
                      </a:r>
                      <a:r>
                        <a:rPr dirty="0" sz="1200" spc="-25" b="1">
                          <a:latin typeface="Microsoft YaHei"/>
                          <a:cs typeface="Microsoft YaHei"/>
                        </a:rPr>
                        <a:t>功能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0">
                    <a:lnL w="19050">
                      <a:solidFill>
                        <a:srgbClr val="D5E8EA"/>
                      </a:solidFill>
                      <a:prstDash val="solid"/>
                    </a:lnL>
                    <a:lnR w="19050">
                      <a:solidFill>
                        <a:srgbClr val="D5E8EA"/>
                      </a:solidFill>
                      <a:prstDash val="solid"/>
                    </a:lnR>
                    <a:lnT w="28575">
                      <a:solidFill>
                        <a:srgbClr val="00B0F0"/>
                      </a:solidFill>
                      <a:prstDash val="solid"/>
                    </a:lnT>
                    <a:lnB w="9525">
                      <a:solidFill>
                        <a:srgbClr val="D5E8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D5E8EA"/>
                      </a:solidFill>
                      <a:prstDash val="solid"/>
                    </a:lnL>
                    <a:lnR w="28575">
                      <a:solidFill>
                        <a:srgbClr val="00B0F0"/>
                      </a:solidFill>
                      <a:prstDash val="solid"/>
                    </a:lnR>
                    <a:lnT w="28575">
                      <a:solidFill>
                        <a:srgbClr val="00B0F0"/>
                      </a:solidFill>
                      <a:prstDash val="solid"/>
                    </a:lnT>
                  </a:tcPr>
                </a:tc>
              </a:tr>
              <a:tr h="1562735">
                <a:tc gridSpan="3">
                  <a:txBody>
                    <a:bodyPr/>
                    <a:lstStyle/>
                    <a:p>
                      <a:pPr marL="226695" marR="20955" indent="-130175">
                        <a:lnSpc>
                          <a:spcPct val="130000"/>
                        </a:lnSpc>
                        <a:spcBef>
                          <a:spcPts val="85"/>
                        </a:spcBef>
                        <a:buFont typeface="Times New Roman"/>
                        <a:buAutoNum type="arabicPeriod"/>
                        <a:tabLst>
                          <a:tab pos="227965" algn="l"/>
                        </a:tabLst>
                      </a:pPr>
                      <a:r>
                        <a:rPr dirty="0" sz="1000" spc="-10" b="1">
                          <a:solidFill>
                            <a:srgbClr val="0F1FC0"/>
                          </a:solidFill>
                          <a:latin typeface="Microsoft YaHei"/>
                          <a:cs typeface="Microsoft YaHei"/>
                        </a:rPr>
                        <a:t>服务化架构：</a:t>
                      </a:r>
                      <a:r>
                        <a:rPr dirty="0" sz="1000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服务注册</a:t>
                      </a:r>
                      <a:r>
                        <a:rPr dirty="0" sz="1000" spc="-10" b="1">
                          <a:solidFill>
                            <a:srgbClr val="80808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000" spc="-15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去注册，服务发现，</a:t>
                      </a:r>
                      <a:r>
                        <a:rPr dirty="0" sz="1000" spc="-15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	</a:t>
                      </a:r>
                      <a:r>
                        <a:rPr dirty="0" sz="1000" spc="-10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服务选择等</a:t>
                      </a:r>
                      <a:endParaRPr sz="1000">
                        <a:latin typeface="Microsoft YaHei"/>
                        <a:cs typeface="Microsoft YaHei"/>
                      </a:endParaRPr>
                    </a:p>
                    <a:p>
                      <a:pPr marL="226695" marR="180975" indent="-130175">
                        <a:lnSpc>
                          <a:spcPct val="130000"/>
                        </a:lnSpc>
                        <a:spcBef>
                          <a:spcPts val="240"/>
                        </a:spcBef>
                        <a:buFont typeface="Times New Roman"/>
                        <a:buAutoNum type="arabicPeriod"/>
                        <a:tabLst>
                          <a:tab pos="227965" algn="l"/>
                        </a:tabLst>
                      </a:pPr>
                      <a:r>
                        <a:rPr dirty="0" sz="1000" b="1">
                          <a:solidFill>
                            <a:srgbClr val="0F1FC0"/>
                          </a:solidFill>
                          <a:latin typeface="Microsoft YaHei"/>
                          <a:cs typeface="Microsoft YaHei"/>
                        </a:rPr>
                        <a:t>业务流程：</a:t>
                      </a:r>
                      <a:r>
                        <a:rPr dirty="0" sz="1000" spc="-15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终端注册、会话管理、移动性</a:t>
                      </a:r>
                      <a:r>
                        <a:rPr dirty="0" sz="1000" spc="-15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	</a:t>
                      </a:r>
                      <a:r>
                        <a:rPr dirty="0" sz="1000" spc="-10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管理、业务连续性等</a:t>
                      </a:r>
                      <a:endParaRPr sz="1000">
                        <a:latin typeface="Microsoft YaHei"/>
                        <a:cs typeface="Microsoft YaHei"/>
                      </a:endParaRPr>
                    </a:p>
                    <a:p>
                      <a:pPr marL="226695" indent="-130175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Times New Roman"/>
                        <a:buAutoNum type="arabicPeriod"/>
                        <a:tabLst>
                          <a:tab pos="226695" algn="l"/>
                        </a:tabLst>
                      </a:pPr>
                      <a:r>
                        <a:rPr dirty="0" sz="1000" b="1">
                          <a:solidFill>
                            <a:srgbClr val="0F1FC0"/>
                          </a:solidFill>
                          <a:latin typeface="Microsoft YaHei"/>
                          <a:cs typeface="Microsoft YaHei"/>
                        </a:rPr>
                        <a:t>网络切片</a:t>
                      </a:r>
                      <a:r>
                        <a:rPr dirty="0" sz="1000" spc="-10" b="1">
                          <a:solidFill>
                            <a:srgbClr val="0F1FC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1000" spc="-10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切片编排、扩展、选择等</a:t>
                      </a:r>
                      <a:endParaRPr sz="1000">
                        <a:latin typeface="Microsoft YaHei"/>
                        <a:cs typeface="Microsoft YaHei"/>
                      </a:endParaRPr>
                    </a:p>
                    <a:p>
                      <a:pPr marL="226695" marR="180975" indent="-130175">
                        <a:lnSpc>
                          <a:spcPct val="130000"/>
                        </a:lnSpc>
                        <a:spcBef>
                          <a:spcPts val="240"/>
                        </a:spcBef>
                        <a:buFont typeface="Times New Roman"/>
                        <a:buAutoNum type="arabicPeriod"/>
                        <a:tabLst>
                          <a:tab pos="227965" algn="l"/>
                        </a:tabLst>
                      </a:pPr>
                      <a:r>
                        <a:rPr dirty="0" sz="1000" b="1">
                          <a:solidFill>
                            <a:srgbClr val="0F1FC0"/>
                          </a:solidFill>
                          <a:latin typeface="Microsoft YaHei"/>
                          <a:cs typeface="Microsoft YaHei"/>
                        </a:rPr>
                        <a:t>边缘计算：</a:t>
                      </a:r>
                      <a:r>
                        <a:rPr dirty="0" sz="1000" spc="-15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业务边缘分流能力、用户面重</a:t>
                      </a:r>
                      <a:r>
                        <a:rPr dirty="0" sz="1000" spc="-15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	</a:t>
                      </a:r>
                      <a:r>
                        <a:rPr dirty="0" sz="1000" spc="-10" b="1">
                          <a:solidFill>
                            <a:srgbClr val="808080"/>
                          </a:solidFill>
                          <a:latin typeface="Microsoft YaHei"/>
                          <a:cs typeface="Microsoft YaHei"/>
                        </a:rPr>
                        <a:t>选、本地寻呼</a:t>
                      </a:r>
                      <a:endParaRPr sz="10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0795">
                    <a:lnL w="28575">
                      <a:solidFill>
                        <a:srgbClr val="00B0F0"/>
                      </a:solidFill>
                      <a:prstDash val="solid"/>
                    </a:lnL>
                    <a:lnR w="28575">
                      <a:solidFill>
                        <a:srgbClr val="00B0F0"/>
                      </a:solidFill>
                      <a:prstDash val="solid"/>
                    </a:lnR>
                    <a:lnB w="28575">
                      <a:solidFill>
                        <a:srgbClr val="00B0F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2400" y="133350"/>
            <a:ext cx="8366125" cy="4806950"/>
            <a:chOff x="152400" y="133350"/>
            <a:chExt cx="8366125" cy="4806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762" y="4330700"/>
              <a:ext cx="7878761" cy="6096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5" y="3162300"/>
              <a:ext cx="7042150" cy="11684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66775" y="714375"/>
              <a:ext cx="0" cy="3545204"/>
            </a:xfrm>
            <a:custGeom>
              <a:avLst/>
              <a:gdLst/>
              <a:ahLst/>
              <a:cxnLst/>
              <a:rect l="l" t="t" r="r" b="b"/>
              <a:pathLst>
                <a:path w="0" h="3545204">
                  <a:moveTo>
                    <a:pt x="0" y="0"/>
                  </a:moveTo>
                  <a:lnTo>
                    <a:pt x="0" y="3544887"/>
                  </a:lnTo>
                </a:path>
              </a:pathLst>
            </a:custGeom>
            <a:ln w="9525">
              <a:solidFill>
                <a:srgbClr val="B6DCDF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06750" y="730250"/>
              <a:ext cx="0" cy="3545204"/>
            </a:xfrm>
            <a:custGeom>
              <a:avLst/>
              <a:gdLst/>
              <a:ahLst/>
              <a:cxnLst/>
              <a:rect l="l" t="t" r="r" b="b"/>
              <a:pathLst>
                <a:path w="0" h="3545204">
                  <a:moveTo>
                    <a:pt x="0" y="0"/>
                  </a:moveTo>
                  <a:lnTo>
                    <a:pt x="0" y="3544887"/>
                  </a:lnTo>
                </a:path>
              </a:pathLst>
            </a:custGeom>
            <a:ln w="9525">
              <a:solidFill>
                <a:srgbClr val="B6DCDF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46725" y="730250"/>
              <a:ext cx="0" cy="3545204"/>
            </a:xfrm>
            <a:custGeom>
              <a:avLst/>
              <a:gdLst/>
              <a:ahLst/>
              <a:cxnLst/>
              <a:rect l="l" t="t" r="r" b="b"/>
              <a:pathLst>
                <a:path w="0" h="3545204">
                  <a:moveTo>
                    <a:pt x="0" y="0"/>
                  </a:moveTo>
                  <a:lnTo>
                    <a:pt x="0" y="3544887"/>
                  </a:lnTo>
                </a:path>
              </a:pathLst>
            </a:custGeom>
            <a:ln w="9525">
              <a:solidFill>
                <a:srgbClr val="B6DCDF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888289" y="730250"/>
              <a:ext cx="0" cy="3545204"/>
            </a:xfrm>
            <a:custGeom>
              <a:avLst/>
              <a:gdLst/>
              <a:ahLst/>
              <a:cxnLst/>
              <a:rect l="l" t="t" r="r" b="b"/>
              <a:pathLst>
                <a:path w="0" h="3545204">
                  <a:moveTo>
                    <a:pt x="0" y="0"/>
                  </a:moveTo>
                  <a:lnTo>
                    <a:pt x="0" y="3544887"/>
                  </a:lnTo>
                </a:path>
              </a:pathLst>
            </a:custGeom>
            <a:ln w="9525">
              <a:solidFill>
                <a:srgbClr val="B6DCDF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39621" y="137032"/>
            <a:ext cx="62369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部署电信云是引入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核心网的前提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792061" y="3774185"/>
            <a:ext cx="1172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SimSun"/>
                <a:cs typeface="SimSun"/>
              </a:rPr>
              <a:t>引入电信云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83652" y="2324036"/>
            <a:ext cx="155448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7815" algn="l"/>
              </a:tabLst>
            </a:pPr>
            <a:r>
              <a:rPr dirty="0" sz="1400" spc="-30">
                <a:latin typeface="Microsoft YaHei"/>
                <a:cs typeface="Microsoft YaHei"/>
              </a:rPr>
              <a:t>网元虚拟化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25">
                <a:latin typeface="Microsoft YaHei"/>
                <a:cs typeface="Microsoft YaHei"/>
              </a:rPr>
              <a:t>引入通用服务器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30">
                <a:latin typeface="Microsoft YaHei"/>
                <a:cs typeface="Microsoft YaHei"/>
              </a:rPr>
              <a:t>机房改造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49027" y="2233549"/>
            <a:ext cx="137668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7815" algn="l"/>
              </a:tabLst>
            </a:pPr>
            <a:r>
              <a:rPr dirty="0" sz="1400" spc="-25">
                <a:latin typeface="Microsoft YaHei"/>
                <a:cs typeface="Microsoft YaHei"/>
              </a:rPr>
              <a:t>电信云的建设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20">
                <a:latin typeface="Microsoft YaHei"/>
                <a:cs typeface="Microsoft YaHei"/>
              </a:rPr>
              <a:t>NFVI</a:t>
            </a:r>
            <a:r>
              <a:rPr dirty="0" sz="1400" spc="-35">
                <a:latin typeface="Microsoft YaHei"/>
                <a:cs typeface="Microsoft YaHei"/>
              </a:rPr>
              <a:t>层收敛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20">
                <a:latin typeface="Microsoft YaHei"/>
                <a:cs typeface="Microsoft YaHei"/>
              </a:rPr>
              <a:t>引入MANO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30">
                <a:latin typeface="Microsoft YaHei"/>
                <a:cs typeface="Microsoft YaHei"/>
              </a:rPr>
              <a:t>自动化运维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9315" y="2338324"/>
            <a:ext cx="155448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7815" algn="l"/>
              </a:tabLst>
            </a:pPr>
            <a:r>
              <a:rPr dirty="0" sz="1400" spc="-25">
                <a:latin typeface="Microsoft YaHei"/>
                <a:cs typeface="Microsoft YaHei"/>
              </a:rPr>
              <a:t>部署服务化架构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30">
                <a:latin typeface="Microsoft YaHei"/>
                <a:cs typeface="Microsoft YaHei"/>
              </a:rPr>
              <a:t>引入切片</a:t>
            </a:r>
            <a:endParaRPr sz="1400">
              <a:latin typeface="Microsoft YaHei"/>
              <a:cs typeface="Microsoft YaHe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"/>
              <a:tabLst>
                <a:tab pos="297815" algn="l"/>
              </a:tabLst>
            </a:pPr>
            <a:r>
              <a:rPr dirty="0" sz="1400" spc="-25">
                <a:latin typeface="Microsoft YaHei"/>
                <a:cs typeface="Microsoft YaHei"/>
              </a:rPr>
              <a:t>引入边缘计算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108075" y="865187"/>
            <a:ext cx="6635750" cy="1262380"/>
            <a:chOff x="1108075" y="865187"/>
            <a:chExt cx="6635750" cy="126238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075" y="933450"/>
              <a:ext cx="1873249" cy="11937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6600" y="895350"/>
              <a:ext cx="2232024" cy="11667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7125" y="865187"/>
              <a:ext cx="2006699" cy="1203146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420145" y="3181728"/>
            <a:ext cx="1277620" cy="89217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0"/>
              </a:spcBef>
            </a:pPr>
            <a:r>
              <a:rPr dirty="0" sz="1800" spc="-10">
                <a:solidFill>
                  <a:srgbClr val="FFFFFF"/>
                </a:solidFill>
                <a:latin typeface="SimSun"/>
                <a:cs typeface="SimSun"/>
              </a:rPr>
              <a:t>软硬件解耦</a:t>
            </a:r>
            <a:endParaRPr sz="1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800" spc="-25" b="1">
                <a:solidFill>
                  <a:srgbClr val="FFFFFF"/>
                </a:solidFill>
                <a:latin typeface="Microsoft YaHei"/>
                <a:cs typeface="Microsoft YaHei"/>
              </a:rPr>
              <a:t>DC</a:t>
            </a:r>
            <a:r>
              <a:rPr dirty="0" sz="1800" spc="-15">
                <a:solidFill>
                  <a:srgbClr val="FFFFFF"/>
                </a:solidFill>
                <a:latin typeface="SimSun"/>
                <a:cs typeface="SimSun"/>
              </a:rPr>
              <a:t>机房建设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06348" y="3340797"/>
            <a:ext cx="1172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SimSun"/>
                <a:cs typeface="SimSun"/>
              </a:rPr>
              <a:t>统一虚拟层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955887" y="3181728"/>
            <a:ext cx="1632585" cy="892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105" marR="5080" indent="-66040">
              <a:lnSpc>
                <a:spcPct val="158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SimSun"/>
                <a:cs typeface="SimSun"/>
              </a:rPr>
              <a:t>引入服务化架构</a:t>
            </a:r>
            <a:r>
              <a:rPr dirty="0" sz="1800">
                <a:solidFill>
                  <a:srgbClr val="FFFFFF"/>
                </a:solidFill>
                <a:latin typeface="SimSun"/>
                <a:cs typeface="SimSun"/>
              </a:rPr>
              <a:t>建设</a:t>
            </a:r>
            <a:r>
              <a:rPr dirty="0" sz="1800" spc="-10" b="1">
                <a:solidFill>
                  <a:srgbClr val="FFFFFF"/>
                </a:solidFill>
                <a:latin typeface="Microsoft YaHei"/>
                <a:cs typeface="Microsoft YaHei"/>
              </a:rPr>
              <a:t>5G</a:t>
            </a:r>
            <a:r>
              <a:rPr dirty="0" sz="1800" spc="-20">
                <a:solidFill>
                  <a:srgbClr val="FFFFFF"/>
                </a:solidFill>
                <a:latin typeface="SimSun"/>
                <a:cs typeface="SimSun"/>
              </a:rPr>
              <a:t>核心网</a:t>
            </a:r>
            <a:endParaRPr sz="1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759" y="158369"/>
            <a:ext cx="42062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云网一体的目标架构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2012" y="2235836"/>
            <a:ext cx="7310755" cy="1980564"/>
            <a:chOff x="102012" y="2235836"/>
            <a:chExt cx="7310755" cy="1980564"/>
          </a:xfrm>
        </p:grpSpPr>
        <p:sp>
          <p:nvSpPr>
            <p:cNvPr id="4" name="object 4" descr=""/>
            <p:cNvSpPr/>
            <p:nvPr/>
          </p:nvSpPr>
          <p:spPr>
            <a:xfrm>
              <a:off x="102006" y="2235847"/>
              <a:ext cx="7310755" cy="1980564"/>
            </a:xfrm>
            <a:custGeom>
              <a:avLst/>
              <a:gdLst/>
              <a:ahLst/>
              <a:cxnLst/>
              <a:rect l="l" t="t" r="r" b="b"/>
              <a:pathLst>
                <a:path w="7310755" h="1980564">
                  <a:moveTo>
                    <a:pt x="2364549" y="1406321"/>
                  </a:moveTo>
                  <a:lnTo>
                    <a:pt x="368503" y="1406321"/>
                  </a:lnTo>
                  <a:lnTo>
                    <a:pt x="0" y="1980133"/>
                  </a:lnTo>
                  <a:lnTo>
                    <a:pt x="1996046" y="1980133"/>
                  </a:lnTo>
                  <a:lnTo>
                    <a:pt x="2364549" y="1406321"/>
                  </a:lnTo>
                  <a:close/>
                </a:path>
                <a:path w="7310755" h="1980564">
                  <a:moveTo>
                    <a:pt x="2763482" y="781177"/>
                  </a:moveTo>
                  <a:lnTo>
                    <a:pt x="764857" y="781177"/>
                  </a:lnTo>
                  <a:lnTo>
                    <a:pt x="396354" y="1354988"/>
                  </a:lnTo>
                  <a:lnTo>
                    <a:pt x="2394991" y="1354988"/>
                  </a:lnTo>
                  <a:lnTo>
                    <a:pt x="2763482" y="781177"/>
                  </a:lnTo>
                  <a:close/>
                </a:path>
                <a:path w="7310755" h="1980564">
                  <a:moveTo>
                    <a:pt x="3287064" y="0"/>
                  </a:moveTo>
                  <a:lnTo>
                    <a:pt x="1237564" y="0"/>
                  </a:lnTo>
                  <a:lnTo>
                    <a:pt x="782243" y="708990"/>
                  </a:lnTo>
                  <a:lnTo>
                    <a:pt x="2831744" y="708990"/>
                  </a:lnTo>
                  <a:lnTo>
                    <a:pt x="3287064" y="0"/>
                  </a:lnTo>
                  <a:close/>
                </a:path>
                <a:path w="7310755" h="1980564">
                  <a:moveTo>
                    <a:pt x="7310209" y="528878"/>
                  </a:moveTo>
                  <a:lnTo>
                    <a:pt x="3102457" y="528878"/>
                  </a:lnTo>
                  <a:lnTo>
                    <a:pt x="2368054" y="1672450"/>
                  </a:lnTo>
                  <a:lnTo>
                    <a:pt x="6575806" y="1672450"/>
                  </a:lnTo>
                  <a:lnTo>
                    <a:pt x="7310209" y="528878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8668" y="3188538"/>
              <a:ext cx="1055662" cy="539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6910" y="2491478"/>
              <a:ext cx="410110" cy="11631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169158" y="2776847"/>
              <a:ext cx="161925" cy="6985"/>
            </a:xfrm>
            <a:custGeom>
              <a:avLst/>
              <a:gdLst/>
              <a:ahLst/>
              <a:cxnLst/>
              <a:rect l="l" t="t" r="r" b="b"/>
              <a:pathLst>
                <a:path w="161925" h="6985">
                  <a:moveTo>
                    <a:pt x="0" y="6388"/>
                  </a:moveTo>
                  <a:lnTo>
                    <a:pt x="161315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1323" y="2620543"/>
              <a:ext cx="538861" cy="175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858" y="2549067"/>
              <a:ext cx="219600" cy="107994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3098999" y="1425562"/>
            <a:ext cx="3930650" cy="606425"/>
            <a:chOff x="3098999" y="1425562"/>
            <a:chExt cx="3930650" cy="606425"/>
          </a:xfrm>
        </p:grpSpPr>
        <p:sp>
          <p:nvSpPr>
            <p:cNvPr id="11" name="object 11" descr=""/>
            <p:cNvSpPr/>
            <p:nvPr/>
          </p:nvSpPr>
          <p:spPr>
            <a:xfrm>
              <a:off x="3098999" y="1491736"/>
              <a:ext cx="3930650" cy="540385"/>
            </a:xfrm>
            <a:custGeom>
              <a:avLst/>
              <a:gdLst/>
              <a:ahLst/>
              <a:cxnLst/>
              <a:rect l="l" t="t" r="r" b="b"/>
              <a:pathLst>
                <a:path w="3930650" h="540385">
                  <a:moveTo>
                    <a:pt x="3930065" y="0"/>
                  </a:moveTo>
                  <a:lnTo>
                    <a:pt x="346887" y="0"/>
                  </a:lnTo>
                  <a:lnTo>
                    <a:pt x="0" y="540156"/>
                  </a:lnTo>
                  <a:lnTo>
                    <a:pt x="3583178" y="540156"/>
                  </a:lnTo>
                  <a:lnTo>
                    <a:pt x="3930065" y="0"/>
                  </a:lnTo>
                  <a:close/>
                </a:path>
              </a:pathLst>
            </a:custGeom>
            <a:solidFill>
              <a:srgbClr val="8181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4555" y="1432509"/>
              <a:ext cx="809997" cy="5046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6251" y="1425562"/>
              <a:ext cx="809999" cy="506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0254" y="1431182"/>
              <a:ext cx="809986" cy="50461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523739" y="2650317"/>
            <a:ext cx="1778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Microsoft YaHei"/>
                <a:cs typeface="Microsoft YaHei"/>
              </a:rPr>
              <a:t>前传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241696" y="2653289"/>
            <a:ext cx="1778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Microsoft YaHei"/>
                <a:cs typeface="Microsoft YaHei"/>
              </a:rPr>
              <a:t>中传</a:t>
            </a:r>
            <a:endParaRPr sz="600">
              <a:latin typeface="Microsoft YaHei"/>
              <a:cs typeface="Microsoft YaHe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70025" y="2643377"/>
            <a:ext cx="2044064" cy="1011555"/>
            <a:chOff x="970025" y="2643377"/>
            <a:chExt cx="2044064" cy="101155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0477" y="2722841"/>
              <a:ext cx="219607" cy="1079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0025" y="2643377"/>
              <a:ext cx="252209" cy="2880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1473" y="2657068"/>
              <a:ext cx="148856" cy="18408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6788" y="3208566"/>
              <a:ext cx="1227239" cy="44576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2243134" y="3336517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接入层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033681" y="3103498"/>
            <a:ext cx="3188335" cy="678180"/>
            <a:chOff x="2033681" y="3103498"/>
            <a:chExt cx="3188335" cy="67818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33681" y="3103498"/>
              <a:ext cx="198077" cy="2159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45824" y="3167151"/>
              <a:ext cx="247597" cy="26999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4354" y="3511118"/>
              <a:ext cx="247593" cy="269997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3402559" y="3344190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汇聚层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474465" y="3397454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核心层</a:t>
            </a:r>
            <a:endParaRPr sz="900">
              <a:latin typeface="Microsoft YaHei"/>
              <a:cs typeface="Microsoft YaHe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01483" y="3404971"/>
            <a:ext cx="353527" cy="324341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6316294" y="3397454"/>
            <a:ext cx="9982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4885" algn="l"/>
              </a:tabLst>
            </a:pPr>
            <a:r>
              <a:rPr dirty="0" u="sng" sz="900">
                <a:uFill>
                  <a:solidFill>
                    <a:srgbClr val="B6DCDF"/>
                  </a:solidFill>
                </a:uFill>
                <a:latin typeface="Times New Roman"/>
                <a:cs typeface="Times New Roman"/>
              </a:rPr>
              <a:t>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328671" y="3722540"/>
            <a:ext cx="257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b="1">
                <a:latin typeface="Microsoft YaHei"/>
                <a:cs typeface="Microsoft YaHei"/>
              </a:rPr>
              <a:t>NGC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28066" y="3072383"/>
            <a:ext cx="6068060" cy="734695"/>
            <a:chOff x="528066" y="3072383"/>
            <a:chExt cx="6068060" cy="734695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4756" y="3225728"/>
              <a:ext cx="219607" cy="10799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16211" y="3276813"/>
              <a:ext cx="497205" cy="2540"/>
            </a:xfrm>
            <a:custGeom>
              <a:avLst/>
              <a:gdLst/>
              <a:ahLst/>
              <a:cxnLst/>
              <a:rect l="l" t="t" r="r" b="b"/>
              <a:pathLst>
                <a:path w="497205" h="2539">
                  <a:moveTo>
                    <a:pt x="0" y="0"/>
                  </a:moveTo>
                  <a:lnTo>
                    <a:pt x="497090" y="2273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8066" y="3203460"/>
              <a:ext cx="243077" cy="24077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097" y="3216884"/>
              <a:ext cx="139086" cy="13721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27320" y="3072383"/>
              <a:ext cx="1368551" cy="734568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5807565" y="3633303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省干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122451" y="3103498"/>
            <a:ext cx="5209540" cy="1028065"/>
            <a:chOff x="1122451" y="3103498"/>
            <a:chExt cx="5209540" cy="1028065"/>
          </a:xfrm>
        </p:grpSpPr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95607" y="3283724"/>
              <a:ext cx="524916" cy="3397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14536" y="3103498"/>
              <a:ext cx="198077" cy="2159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74488" y="3175190"/>
              <a:ext cx="223882" cy="21599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08001" y="3179343"/>
              <a:ext cx="223879" cy="21599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66244" y="3467214"/>
              <a:ext cx="223880" cy="21599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05110" y="3484854"/>
              <a:ext cx="223882" cy="21599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2451" y="3810318"/>
              <a:ext cx="224553" cy="32096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347005" y="3584418"/>
              <a:ext cx="624205" cy="386715"/>
            </a:xfrm>
            <a:custGeom>
              <a:avLst/>
              <a:gdLst/>
              <a:ahLst/>
              <a:cxnLst/>
              <a:rect l="l" t="t" r="r" b="b"/>
              <a:pathLst>
                <a:path w="624205" h="386714">
                  <a:moveTo>
                    <a:pt x="0" y="386384"/>
                  </a:moveTo>
                  <a:lnTo>
                    <a:pt x="623963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128344" y="2247261"/>
            <a:ext cx="1301115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65">
                <a:solidFill>
                  <a:srgbClr val="C00000"/>
                </a:solidFill>
                <a:latin typeface="Microsoft YaHei"/>
                <a:cs typeface="Microsoft YaHei"/>
              </a:rPr>
              <a:t>场景</a:t>
            </a:r>
            <a:r>
              <a:rPr dirty="0" sz="850" spc="-50">
                <a:solidFill>
                  <a:srgbClr val="C00000"/>
                </a:solidFill>
                <a:latin typeface="Microsoft YaHei"/>
                <a:cs typeface="Microsoft YaHei"/>
              </a:rPr>
              <a:t>1：RRU→DU→CU</a:t>
            </a:r>
            <a:r>
              <a:rPr dirty="0" sz="850" spc="-60">
                <a:solidFill>
                  <a:srgbClr val="C00000"/>
                </a:solidFill>
                <a:latin typeface="Microsoft YaHei"/>
                <a:cs typeface="Microsoft YaHei"/>
              </a:rPr>
              <a:t>两级</a:t>
            </a:r>
            <a:endParaRPr sz="850">
              <a:latin typeface="Microsoft YaHei"/>
              <a:cs typeface="Microsoft YaHei"/>
            </a:endParaRPr>
          </a:p>
          <a:p>
            <a:pPr marL="693420">
              <a:lnSpc>
                <a:spcPct val="100000"/>
              </a:lnSpc>
              <a:spcBef>
                <a:spcPts val="5"/>
              </a:spcBef>
            </a:pPr>
            <a:r>
              <a:rPr dirty="0" sz="800" b="1">
                <a:latin typeface="Microsoft YaHei"/>
                <a:cs typeface="Microsoft YaHei"/>
              </a:rPr>
              <a:t>DU</a:t>
            </a:r>
            <a:r>
              <a:rPr dirty="0" sz="800" spc="-15" b="1">
                <a:latin typeface="Microsoft YaHei"/>
                <a:cs typeface="Microsoft YaHei"/>
              </a:rPr>
              <a:t> </a:t>
            </a:r>
            <a:r>
              <a:rPr dirty="0" sz="800" spc="-20" b="1">
                <a:latin typeface="Microsoft YaHei"/>
                <a:cs typeface="Microsoft YaHei"/>
              </a:rPr>
              <a:t>pool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66713" y="2781768"/>
            <a:ext cx="1242695" cy="36385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91795">
              <a:lnSpc>
                <a:spcPct val="100000"/>
              </a:lnSpc>
              <a:spcBef>
                <a:spcPts val="470"/>
              </a:spcBef>
            </a:pPr>
            <a:r>
              <a:rPr dirty="0" sz="700" spc="-25" b="1">
                <a:latin typeface="Microsoft YaHei"/>
                <a:cs typeface="Microsoft YaHei"/>
              </a:rPr>
              <a:t>RRU</a:t>
            </a:r>
            <a:endParaRPr sz="7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850" spc="-65">
                <a:solidFill>
                  <a:srgbClr val="C00000"/>
                </a:solidFill>
                <a:latin typeface="Microsoft YaHei"/>
                <a:cs typeface="Microsoft YaHei"/>
              </a:rPr>
              <a:t>场景</a:t>
            </a:r>
            <a:r>
              <a:rPr dirty="0" sz="850" spc="-50">
                <a:solidFill>
                  <a:srgbClr val="C00000"/>
                </a:solidFill>
                <a:latin typeface="Microsoft YaHei"/>
                <a:cs typeface="Microsoft YaHei"/>
              </a:rPr>
              <a:t>2：RRU/DU→CU</a:t>
            </a:r>
            <a:r>
              <a:rPr dirty="0" sz="850" spc="-60">
                <a:solidFill>
                  <a:srgbClr val="C00000"/>
                </a:solidFill>
                <a:latin typeface="Microsoft YaHei"/>
                <a:cs typeface="Microsoft YaHei"/>
              </a:rPr>
              <a:t>一级</a:t>
            </a:r>
            <a:endParaRPr sz="850">
              <a:latin typeface="Microsoft YaHei"/>
              <a:cs typeface="Microsoft YaHe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49678" y="3365077"/>
            <a:ext cx="1203960" cy="466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270">
              <a:lnSpc>
                <a:spcPts val="835"/>
              </a:lnSpc>
              <a:spcBef>
                <a:spcPts val="100"/>
              </a:spcBef>
            </a:pPr>
            <a:r>
              <a:rPr dirty="0" sz="700" b="1">
                <a:latin typeface="Microsoft YaHei"/>
                <a:cs typeface="Microsoft YaHei"/>
              </a:rPr>
              <a:t>RRU</a:t>
            </a:r>
            <a:r>
              <a:rPr dirty="0" sz="700" spc="125" b="1">
                <a:latin typeface="Microsoft YaHei"/>
                <a:cs typeface="Microsoft YaHei"/>
              </a:rPr>
              <a:t>/  </a:t>
            </a:r>
            <a:r>
              <a:rPr dirty="0" baseline="41666" sz="900" spc="209">
                <a:latin typeface="Microsoft YaHei"/>
                <a:cs typeface="Microsoft YaHei"/>
              </a:rPr>
              <a:t>中传 </a:t>
            </a:r>
            <a:r>
              <a:rPr dirty="0" sz="600" spc="-20">
                <a:latin typeface="Microsoft YaHei"/>
                <a:cs typeface="Microsoft YaHei"/>
              </a:rPr>
              <a:t>FTN-</a:t>
            </a:r>
            <a:r>
              <a:rPr dirty="0" sz="600" spc="-25">
                <a:latin typeface="Microsoft YaHei"/>
                <a:cs typeface="Microsoft YaHei"/>
              </a:rPr>
              <a:t>II</a:t>
            </a:r>
            <a:endParaRPr sz="600">
              <a:latin typeface="Microsoft YaHei"/>
              <a:cs typeface="Microsoft YaHei"/>
            </a:endParaRPr>
          </a:p>
          <a:p>
            <a:pPr marL="382270">
              <a:lnSpc>
                <a:spcPts val="835"/>
              </a:lnSpc>
            </a:pPr>
            <a:r>
              <a:rPr dirty="0" sz="700" spc="-25" b="1">
                <a:latin typeface="Microsoft YaHei"/>
                <a:cs typeface="Microsoft YaHei"/>
              </a:rPr>
              <a:t>DU</a:t>
            </a:r>
            <a:endParaRPr sz="700">
              <a:latin typeface="Microsoft YaHei"/>
              <a:cs typeface="Microsoft YaHei"/>
            </a:endParaRPr>
          </a:p>
          <a:p>
            <a:pPr marL="38100">
              <a:lnSpc>
                <a:spcPct val="100000"/>
              </a:lnSpc>
              <a:spcBef>
                <a:spcPts val="780"/>
              </a:spcBef>
            </a:pPr>
            <a:r>
              <a:rPr dirty="0" sz="850" spc="-65">
                <a:solidFill>
                  <a:srgbClr val="C00000"/>
                </a:solidFill>
                <a:latin typeface="Microsoft YaHei"/>
                <a:cs typeface="Microsoft YaHei"/>
              </a:rPr>
              <a:t>场景</a:t>
            </a:r>
            <a:r>
              <a:rPr dirty="0" sz="850" spc="-50">
                <a:solidFill>
                  <a:srgbClr val="C00000"/>
                </a:solidFill>
                <a:latin typeface="Microsoft YaHei"/>
                <a:cs typeface="Microsoft YaHei"/>
              </a:rPr>
              <a:t>3：RRU/BBU</a:t>
            </a:r>
            <a:r>
              <a:rPr dirty="0" sz="850" spc="-60">
                <a:solidFill>
                  <a:srgbClr val="C00000"/>
                </a:solidFill>
                <a:latin typeface="Microsoft YaHei"/>
                <a:cs typeface="Microsoft YaHei"/>
              </a:rPr>
              <a:t>→回传</a:t>
            </a:r>
            <a:endParaRPr sz="850">
              <a:latin typeface="Microsoft YaHei"/>
              <a:cs typeface="Microsoft YaHe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429600" y="1362459"/>
            <a:ext cx="7553959" cy="1922145"/>
            <a:chOff x="1429600" y="1362459"/>
            <a:chExt cx="7553959" cy="1922145"/>
          </a:xfrm>
        </p:grpSpPr>
        <p:sp>
          <p:nvSpPr>
            <p:cNvPr id="52" name="object 52" descr=""/>
            <p:cNvSpPr/>
            <p:nvPr/>
          </p:nvSpPr>
          <p:spPr>
            <a:xfrm>
              <a:off x="1434363" y="3223849"/>
              <a:ext cx="561975" cy="55880"/>
            </a:xfrm>
            <a:custGeom>
              <a:avLst/>
              <a:gdLst/>
              <a:ahLst/>
              <a:cxnLst/>
              <a:rect l="l" t="t" r="r" b="b"/>
              <a:pathLst>
                <a:path w="561975" h="55879">
                  <a:moveTo>
                    <a:pt x="0" y="55880"/>
                  </a:moveTo>
                  <a:lnTo>
                    <a:pt x="561822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332343" y="1362459"/>
              <a:ext cx="650875" cy="1506855"/>
            </a:xfrm>
            <a:custGeom>
              <a:avLst/>
              <a:gdLst/>
              <a:ahLst/>
              <a:cxnLst/>
              <a:rect l="l" t="t" r="r" b="b"/>
              <a:pathLst>
                <a:path w="650875" h="1506855">
                  <a:moveTo>
                    <a:pt x="542188" y="0"/>
                  </a:moveTo>
                  <a:lnTo>
                    <a:pt x="108445" y="0"/>
                  </a:lnTo>
                  <a:lnTo>
                    <a:pt x="66233" y="8522"/>
                  </a:lnTo>
                  <a:lnTo>
                    <a:pt x="31762" y="31762"/>
                  </a:lnTo>
                  <a:lnTo>
                    <a:pt x="8522" y="66233"/>
                  </a:lnTo>
                  <a:lnTo>
                    <a:pt x="0" y="108445"/>
                  </a:lnTo>
                  <a:lnTo>
                    <a:pt x="0" y="1398117"/>
                  </a:lnTo>
                  <a:lnTo>
                    <a:pt x="8522" y="1440322"/>
                  </a:lnTo>
                  <a:lnTo>
                    <a:pt x="31762" y="1474789"/>
                  </a:lnTo>
                  <a:lnTo>
                    <a:pt x="66233" y="1498028"/>
                  </a:lnTo>
                  <a:lnTo>
                    <a:pt x="108445" y="1506550"/>
                  </a:lnTo>
                  <a:lnTo>
                    <a:pt x="542188" y="1506550"/>
                  </a:lnTo>
                  <a:lnTo>
                    <a:pt x="584400" y="1498028"/>
                  </a:lnTo>
                  <a:lnTo>
                    <a:pt x="618870" y="1474789"/>
                  </a:lnTo>
                  <a:lnTo>
                    <a:pt x="642111" y="1440322"/>
                  </a:lnTo>
                  <a:lnTo>
                    <a:pt x="650633" y="1398117"/>
                  </a:lnTo>
                  <a:lnTo>
                    <a:pt x="650633" y="108445"/>
                  </a:lnTo>
                  <a:lnTo>
                    <a:pt x="642111" y="66233"/>
                  </a:lnTo>
                  <a:lnTo>
                    <a:pt x="618871" y="31762"/>
                  </a:lnTo>
                  <a:lnTo>
                    <a:pt x="584400" y="8522"/>
                  </a:lnTo>
                  <a:lnTo>
                    <a:pt x="542188" y="0"/>
                  </a:lnTo>
                  <a:close/>
                </a:path>
              </a:pathLst>
            </a:custGeom>
            <a:solidFill>
              <a:srgbClr val="E9F4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8574855" y="2181421"/>
            <a:ext cx="165100" cy="528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100" spc="-50" b="1">
                <a:latin typeface="Microsoft YaHei"/>
                <a:cs typeface="Microsoft YaHei"/>
              </a:rPr>
              <a:t>协同器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7127111" y="1474346"/>
            <a:ext cx="890905" cy="452755"/>
          </a:xfrm>
          <a:custGeom>
            <a:avLst/>
            <a:gdLst/>
            <a:ahLst/>
            <a:cxnLst/>
            <a:rect l="l" t="t" r="r" b="b"/>
            <a:pathLst>
              <a:path w="890904" h="452755">
                <a:moveTo>
                  <a:pt x="815136" y="0"/>
                </a:moveTo>
                <a:lnTo>
                  <a:pt x="75399" y="0"/>
                </a:lnTo>
                <a:lnTo>
                  <a:pt x="46050" y="5925"/>
                </a:lnTo>
                <a:lnTo>
                  <a:pt x="22083" y="22083"/>
                </a:lnTo>
                <a:lnTo>
                  <a:pt x="5925" y="46050"/>
                </a:lnTo>
                <a:lnTo>
                  <a:pt x="0" y="75399"/>
                </a:lnTo>
                <a:lnTo>
                  <a:pt x="0" y="376999"/>
                </a:lnTo>
                <a:lnTo>
                  <a:pt x="5925" y="406349"/>
                </a:lnTo>
                <a:lnTo>
                  <a:pt x="22083" y="430315"/>
                </a:lnTo>
                <a:lnTo>
                  <a:pt x="46050" y="446474"/>
                </a:lnTo>
                <a:lnTo>
                  <a:pt x="75399" y="452399"/>
                </a:lnTo>
                <a:lnTo>
                  <a:pt x="815136" y="452399"/>
                </a:lnTo>
                <a:lnTo>
                  <a:pt x="844486" y="446474"/>
                </a:lnTo>
                <a:lnTo>
                  <a:pt x="868452" y="430315"/>
                </a:lnTo>
                <a:lnTo>
                  <a:pt x="884611" y="406349"/>
                </a:lnTo>
                <a:lnTo>
                  <a:pt x="890536" y="376999"/>
                </a:lnTo>
                <a:lnTo>
                  <a:pt x="890536" y="75399"/>
                </a:lnTo>
                <a:lnTo>
                  <a:pt x="884611" y="46050"/>
                </a:lnTo>
                <a:lnTo>
                  <a:pt x="868452" y="22083"/>
                </a:lnTo>
                <a:lnTo>
                  <a:pt x="844486" y="5925"/>
                </a:lnTo>
                <a:lnTo>
                  <a:pt x="815136" y="0"/>
                </a:lnTo>
                <a:close/>
              </a:path>
            </a:pathLst>
          </a:custGeom>
          <a:solidFill>
            <a:srgbClr val="E9F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6842924" y="1514872"/>
            <a:ext cx="1897380" cy="692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520065" marR="5080" indent="-508000">
              <a:lnSpc>
                <a:spcPct val="100000"/>
              </a:lnSpc>
              <a:spcBef>
                <a:spcPts val="95"/>
              </a:spcBef>
              <a:tabLst>
                <a:tab pos="350520" algn="l"/>
                <a:tab pos="589280" algn="l"/>
                <a:tab pos="1169670" algn="l"/>
                <a:tab pos="1483360" algn="l"/>
                <a:tab pos="1744345" algn="l"/>
              </a:tabLst>
            </a:pPr>
            <a:r>
              <a:rPr dirty="0" u="sng" sz="1100">
                <a:uFill>
                  <a:solidFill>
                    <a:srgbClr val="B6DCD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		</a:t>
            </a:r>
            <a:r>
              <a:rPr dirty="0" sz="1100" spc="-20" b="1">
                <a:latin typeface="Microsoft YaHei"/>
                <a:cs typeface="Microsoft YaHei"/>
              </a:rPr>
              <a:t>业</a:t>
            </a:r>
            <a:r>
              <a:rPr dirty="0" sz="1100" spc="-60" b="1">
                <a:latin typeface="Microsoft YaHei"/>
                <a:cs typeface="Microsoft YaHei"/>
              </a:rPr>
              <a:t>务</a:t>
            </a:r>
            <a:r>
              <a:rPr dirty="0" sz="1100" b="1">
                <a:latin typeface="Microsoft YaHei"/>
                <a:cs typeface="Microsoft YaHei"/>
              </a:rPr>
              <a:t>	</a:t>
            </a:r>
            <a:r>
              <a:rPr dirty="0" u="sng" sz="1100">
                <a:uFill>
                  <a:solidFill>
                    <a:srgbClr val="B6DCD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baseline="2525" sz="1650" spc="-75" b="1">
                <a:latin typeface="Microsoft YaHei"/>
                <a:cs typeface="Microsoft YaHei"/>
              </a:rPr>
              <a:t>全</a:t>
            </a:r>
            <a:r>
              <a:rPr dirty="0" sz="1100" spc="-20" b="1">
                <a:latin typeface="Microsoft YaHei"/>
                <a:cs typeface="Microsoft YaHei"/>
              </a:rPr>
              <a:t>编排</a:t>
            </a:r>
            <a:r>
              <a:rPr dirty="0" sz="1100" spc="-50" b="1">
                <a:latin typeface="Microsoft YaHei"/>
                <a:cs typeface="Microsoft YaHei"/>
              </a:rPr>
              <a:t>器</a:t>
            </a:r>
            <a:r>
              <a:rPr dirty="0" sz="1100" b="1">
                <a:latin typeface="Microsoft YaHei"/>
                <a:cs typeface="Microsoft YaHei"/>
              </a:rPr>
              <a:t>			</a:t>
            </a:r>
            <a:r>
              <a:rPr dirty="0" baseline="2525" sz="1650" spc="-75" b="1">
                <a:latin typeface="Microsoft YaHei"/>
                <a:cs typeface="Microsoft YaHei"/>
              </a:rPr>
              <a:t>局</a:t>
            </a:r>
            <a:endParaRPr baseline="2525" sz="1650">
              <a:latin typeface="Microsoft YaHei"/>
              <a:cs typeface="Microsoft YaHei"/>
            </a:endParaRPr>
          </a:p>
          <a:p>
            <a:pPr algn="r" marL="1744345" marR="5080">
              <a:lnSpc>
                <a:spcPts val="1320"/>
              </a:lnSpc>
              <a:spcBef>
                <a:spcPts val="15"/>
              </a:spcBef>
            </a:pPr>
            <a:r>
              <a:rPr dirty="0" sz="1100" spc="-50" b="1">
                <a:latin typeface="Microsoft YaHei"/>
                <a:cs typeface="Microsoft YaHei"/>
              </a:rPr>
              <a:t>编排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7137437" y="2247637"/>
            <a:ext cx="890905" cy="452755"/>
          </a:xfrm>
          <a:custGeom>
            <a:avLst/>
            <a:gdLst/>
            <a:ahLst/>
            <a:cxnLst/>
            <a:rect l="l" t="t" r="r" b="b"/>
            <a:pathLst>
              <a:path w="890904" h="452755">
                <a:moveTo>
                  <a:pt x="815136" y="0"/>
                </a:moveTo>
                <a:lnTo>
                  <a:pt x="75399" y="0"/>
                </a:lnTo>
                <a:lnTo>
                  <a:pt x="46050" y="5925"/>
                </a:lnTo>
                <a:lnTo>
                  <a:pt x="22083" y="22083"/>
                </a:lnTo>
                <a:lnTo>
                  <a:pt x="5925" y="46050"/>
                </a:lnTo>
                <a:lnTo>
                  <a:pt x="0" y="75399"/>
                </a:lnTo>
                <a:lnTo>
                  <a:pt x="0" y="376999"/>
                </a:lnTo>
                <a:lnTo>
                  <a:pt x="5925" y="406349"/>
                </a:lnTo>
                <a:lnTo>
                  <a:pt x="22083" y="430315"/>
                </a:lnTo>
                <a:lnTo>
                  <a:pt x="46050" y="446474"/>
                </a:lnTo>
                <a:lnTo>
                  <a:pt x="75399" y="452399"/>
                </a:lnTo>
                <a:lnTo>
                  <a:pt x="815136" y="452399"/>
                </a:lnTo>
                <a:lnTo>
                  <a:pt x="844486" y="446474"/>
                </a:lnTo>
                <a:lnTo>
                  <a:pt x="868452" y="430315"/>
                </a:lnTo>
                <a:lnTo>
                  <a:pt x="884611" y="406349"/>
                </a:lnTo>
                <a:lnTo>
                  <a:pt x="890536" y="376999"/>
                </a:lnTo>
                <a:lnTo>
                  <a:pt x="890536" y="75399"/>
                </a:lnTo>
                <a:lnTo>
                  <a:pt x="884611" y="46050"/>
                </a:lnTo>
                <a:lnTo>
                  <a:pt x="868452" y="22083"/>
                </a:lnTo>
                <a:lnTo>
                  <a:pt x="844486" y="5925"/>
                </a:lnTo>
                <a:lnTo>
                  <a:pt x="815136" y="0"/>
                </a:lnTo>
                <a:close/>
              </a:path>
            </a:pathLst>
          </a:custGeom>
          <a:solidFill>
            <a:srgbClr val="E9F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7273897" y="2204341"/>
            <a:ext cx="617220" cy="528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95"/>
              </a:spcBef>
            </a:pPr>
            <a:r>
              <a:rPr dirty="0" sz="1100" spc="-35" b="1">
                <a:latin typeface="Microsoft YaHei"/>
                <a:cs typeface="Microsoft YaHei"/>
              </a:rPr>
              <a:t>承载网</a:t>
            </a:r>
            <a:r>
              <a:rPr dirty="0" sz="1100" spc="-50" b="1">
                <a:latin typeface="Microsoft YaHei"/>
                <a:cs typeface="Microsoft YaHei"/>
              </a:rPr>
              <a:t> </a:t>
            </a:r>
            <a:r>
              <a:rPr dirty="0" sz="1100" spc="-20" b="1">
                <a:latin typeface="Microsoft YaHei"/>
                <a:cs typeface="Microsoft YaHei"/>
              </a:rPr>
              <a:t>SDN</a:t>
            </a:r>
            <a:r>
              <a:rPr dirty="0" sz="1100" spc="-35" b="1">
                <a:latin typeface="Microsoft YaHei"/>
                <a:cs typeface="Microsoft YaHei"/>
              </a:rPr>
              <a:t>控制</a:t>
            </a:r>
            <a:r>
              <a:rPr dirty="0" sz="1100" spc="-50" b="1">
                <a:latin typeface="Microsoft YaHei"/>
                <a:cs typeface="Microsoft YaHei"/>
              </a:rPr>
              <a:t>器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824395" y="2469073"/>
            <a:ext cx="6502400" cy="1292860"/>
            <a:chOff x="1824395" y="2469073"/>
            <a:chExt cx="6502400" cy="1292860"/>
          </a:xfrm>
        </p:grpSpPr>
        <p:pic>
          <p:nvPicPr>
            <p:cNvPr id="60" name="object 6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83346" y="2606713"/>
              <a:ext cx="676465" cy="22351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24395" y="2641320"/>
              <a:ext cx="274508" cy="134997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02884" y="2560411"/>
              <a:ext cx="329406" cy="326387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2831057" y="2806518"/>
              <a:ext cx="408305" cy="861060"/>
            </a:xfrm>
            <a:custGeom>
              <a:avLst/>
              <a:gdLst/>
              <a:ahLst/>
              <a:cxnLst/>
              <a:rect l="l" t="t" r="r" b="b"/>
              <a:pathLst>
                <a:path w="408305" h="861060">
                  <a:moveTo>
                    <a:pt x="0" y="0"/>
                  </a:moveTo>
                  <a:lnTo>
                    <a:pt x="407987" y="860653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832295" y="2641410"/>
              <a:ext cx="582295" cy="570230"/>
            </a:xfrm>
            <a:custGeom>
              <a:avLst/>
              <a:gdLst/>
              <a:ahLst/>
              <a:cxnLst/>
              <a:rect l="l" t="t" r="r" b="b"/>
              <a:pathLst>
                <a:path w="582295" h="570230">
                  <a:moveTo>
                    <a:pt x="0" y="0"/>
                  </a:moveTo>
                  <a:lnTo>
                    <a:pt x="582244" y="57009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99130" y="3212414"/>
              <a:ext cx="1117066" cy="50292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239048" y="3572666"/>
              <a:ext cx="173314" cy="18899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22501" y="3192173"/>
              <a:ext cx="247593" cy="26999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34307" y="3452357"/>
              <a:ext cx="247592" cy="26999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67077" y="3472719"/>
              <a:ext cx="198075" cy="21599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00036" y="3342201"/>
              <a:ext cx="198077" cy="215995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6942815" y="2473835"/>
              <a:ext cx="211454" cy="0"/>
            </a:xfrm>
            <a:custGeom>
              <a:avLst/>
              <a:gdLst/>
              <a:ahLst/>
              <a:cxnLst/>
              <a:rect l="l" t="t" r="r" b="b"/>
              <a:pathLst>
                <a:path w="211454" h="0">
                  <a:moveTo>
                    <a:pt x="211315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459524" y="2477565"/>
              <a:ext cx="483870" cy="583565"/>
            </a:xfrm>
            <a:custGeom>
              <a:avLst/>
              <a:gdLst/>
              <a:ahLst/>
              <a:cxnLst/>
              <a:rect l="l" t="t" r="r" b="b"/>
              <a:pathLst>
                <a:path w="483870" h="583564">
                  <a:moveTo>
                    <a:pt x="483285" y="0"/>
                  </a:moveTo>
                  <a:lnTo>
                    <a:pt x="0" y="582968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017647" y="2487743"/>
              <a:ext cx="304800" cy="635"/>
            </a:xfrm>
            <a:custGeom>
              <a:avLst/>
              <a:gdLst/>
              <a:ahLst/>
              <a:cxnLst/>
              <a:rect l="l" t="t" r="r" b="b"/>
              <a:pathLst>
                <a:path w="304800" h="635">
                  <a:moveTo>
                    <a:pt x="304368" y="0"/>
                  </a:moveTo>
                  <a:lnTo>
                    <a:pt x="0" y="406"/>
                  </a:lnTo>
                </a:path>
              </a:pathLst>
            </a:custGeom>
            <a:ln w="9524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3370488" y="1168666"/>
            <a:ext cx="7562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Microsoft YaHei"/>
                <a:cs typeface="Microsoft YaHei"/>
              </a:rPr>
              <a:t>uRLLC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100" spc="-10" b="1">
                <a:latin typeface="Microsoft YaHei"/>
                <a:cs typeface="Microsoft YaHei"/>
              </a:rPr>
              <a:t>边缘 </a:t>
            </a:r>
            <a:r>
              <a:rPr dirty="0" sz="1100" spc="-25" b="1">
                <a:latin typeface="Microsoft YaHei"/>
                <a:cs typeface="Microsoft YaHei"/>
              </a:rPr>
              <a:t>DC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4634411" y="1168666"/>
            <a:ext cx="74993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Microsoft YaHei"/>
                <a:cs typeface="Microsoft YaHei"/>
              </a:rPr>
              <a:t>eMBB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100" spc="-40" b="1">
                <a:latin typeface="Microsoft YaHei"/>
                <a:cs typeface="Microsoft YaHei"/>
              </a:rPr>
              <a:t>区域 </a:t>
            </a:r>
            <a:r>
              <a:rPr dirty="0" sz="1100" spc="-25" b="1">
                <a:latin typeface="Microsoft YaHei"/>
                <a:cs typeface="Microsoft YaHei"/>
              </a:rPr>
              <a:t>DC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5939646" y="1168666"/>
            <a:ext cx="855344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Microsoft YaHei"/>
                <a:cs typeface="Microsoft YaHei"/>
              </a:rPr>
              <a:t>mMTC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100" spc="-55" b="1">
                <a:latin typeface="Microsoft YaHei"/>
                <a:cs typeface="Microsoft YaHei"/>
              </a:rPr>
              <a:t>核心 </a:t>
            </a:r>
            <a:r>
              <a:rPr dirty="0" sz="1100" spc="-25" b="1">
                <a:latin typeface="Microsoft YaHei"/>
                <a:cs typeface="Microsoft YaHei"/>
              </a:rPr>
              <a:t>DC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185643" y="2048778"/>
            <a:ext cx="81089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5250" marR="5080" indent="-83185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Microsoft YaHei"/>
                <a:cs typeface="Microsoft YaHei"/>
              </a:rPr>
              <a:t>MEC,D-</a:t>
            </a:r>
            <a:r>
              <a:rPr dirty="0" sz="1100" spc="-25">
                <a:latin typeface="Microsoft YaHei"/>
                <a:cs typeface="Microsoft YaHei"/>
              </a:rPr>
              <a:t>GW, </a:t>
            </a:r>
            <a:r>
              <a:rPr dirty="0" sz="1100" spc="-10">
                <a:latin typeface="Microsoft YaHei"/>
                <a:cs typeface="Microsoft YaHei"/>
              </a:rPr>
              <a:t>vBBU,DPI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4388784" y="2048778"/>
            <a:ext cx="10998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Microsoft YaHei"/>
                <a:cs typeface="Microsoft YaHei"/>
              </a:rPr>
              <a:t>EPC,CDN,Cache,</a:t>
            </a:r>
            <a:endParaRPr sz="1100">
              <a:latin typeface="Microsoft YaHei"/>
              <a:cs typeface="Microsoft YaHei"/>
            </a:endParaRPr>
          </a:p>
          <a:p>
            <a:pPr marL="34925">
              <a:lnSpc>
                <a:spcPct val="100000"/>
              </a:lnSpc>
            </a:pPr>
            <a:r>
              <a:rPr dirty="0" sz="1100" spc="-10">
                <a:latin typeface="Microsoft YaHei"/>
                <a:cs typeface="Microsoft YaHei"/>
              </a:rPr>
              <a:t>SDN-Controller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5766928" y="2048778"/>
            <a:ext cx="90614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Microsoft YaHei"/>
                <a:cs typeface="Microsoft YaHei"/>
              </a:rPr>
              <a:t>EPC,OSS,BSS,</a:t>
            </a:r>
            <a:endParaRPr sz="1100">
              <a:latin typeface="Microsoft YaHei"/>
              <a:cs typeface="Microsoft YaHei"/>
            </a:endParaRPr>
          </a:p>
          <a:p>
            <a:pPr marL="29845">
              <a:lnSpc>
                <a:spcPct val="100000"/>
              </a:lnSpc>
            </a:pPr>
            <a:r>
              <a:rPr dirty="0" sz="1100" spc="-10">
                <a:latin typeface="Microsoft YaHei"/>
                <a:cs typeface="Microsoft YaHei"/>
              </a:rPr>
              <a:t>Orchestrator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376859" y="4335310"/>
            <a:ext cx="3564254" cy="392430"/>
          </a:xfrm>
          <a:prstGeom prst="rect">
            <a:avLst/>
          </a:prstGeom>
          <a:solidFill>
            <a:srgbClr val="00B0F0"/>
          </a:solidFill>
          <a:ln w="9525">
            <a:solidFill>
              <a:srgbClr val="A7A8A7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282575" indent="-213995">
              <a:lnSpc>
                <a:spcPct val="100000"/>
              </a:lnSpc>
              <a:spcBef>
                <a:spcPts val="760"/>
              </a:spcBef>
              <a:buFont typeface="Wingdings"/>
              <a:buChar char=""/>
              <a:tabLst>
                <a:tab pos="282575" algn="l"/>
              </a:tabLst>
            </a:pPr>
            <a:r>
              <a:rPr dirty="0" sz="1400" spc="-20" b="1">
                <a:solidFill>
                  <a:srgbClr val="BBE0E3"/>
                </a:solidFill>
                <a:latin typeface="Microsoft YaHei"/>
                <a:cs typeface="Microsoft YaHei"/>
              </a:rPr>
              <a:t>一张网（</a:t>
            </a:r>
            <a:r>
              <a:rPr dirty="0" sz="1400" spc="-25" b="1">
                <a:solidFill>
                  <a:srgbClr val="BBE0E3"/>
                </a:solidFill>
                <a:latin typeface="Microsoft YaHei"/>
                <a:cs typeface="Microsoft YaHei"/>
              </a:rPr>
              <a:t>分组+</a:t>
            </a:r>
            <a:r>
              <a:rPr dirty="0" sz="1400" spc="-30" b="1">
                <a:solidFill>
                  <a:srgbClr val="BBE0E3"/>
                </a:solidFill>
                <a:latin typeface="Microsoft YaHei"/>
                <a:cs typeface="Microsoft YaHei"/>
              </a:rPr>
              <a:t>OTN）</a:t>
            </a:r>
            <a:r>
              <a:rPr dirty="0" sz="1400" spc="-25" b="1">
                <a:solidFill>
                  <a:srgbClr val="BBE0E3"/>
                </a:solidFill>
                <a:latin typeface="Microsoft YaHei"/>
                <a:cs typeface="Microsoft YaHei"/>
              </a:rPr>
              <a:t>承载全业务场景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5193423" y="4335310"/>
            <a:ext cx="3564254" cy="392430"/>
          </a:xfrm>
          <a:prstGeom prst="rect">
            <a:avLst/>
          </a:prstGeom>
          <a:solidFill>
            <a:srgbClr val="C00000"/>
          </a:solidFill>
          <a:ln w="9525">
            <a:solidFill>
              <a:srgbClr val="A7A8A7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281940" indent="-213995">
              <a:lnSpc>
                <a:spcPct val="100000"/>
              </a:lnSpc>
              <a:spcBef>
                <a:spcPts val="760"/>
              </a:spcBef>
              <a:buFont typeface="Wingdings"/>
              <a:buChar char=""/>
              <a:tabLst>
                <a:tab pos="281940" algn="l"/>
              </a:tabLst>
            </a:pPr>
            <a:r>
              <a:rPr dirty="0" sz="1400" spc="-20" b="1">
                <a:solidFill>
                  <a:srgbClr val="BBE0E3"/>
                </a:solidFill>
                <a:latin typeface="Microsoft YaHei"/>
                <a:cs typeface="Microsoft YaHei"/>
              </a:rPr>
              <a:t>DC为中心，SDN/NFV</a:t>
            </a:r>
            <a:r>
              <a:rPr dirty="0" sz="1400" spc="-25" b="1">
                <a:solidFill>
                  <a:srgbClr val="BBE0E3"/>
                </a:solidFill>
                <a:latin typeface="Microsoft YaHei"/>
                <a:cs typeface="Microsoft YaHei"/>
              </a:rPr>
              <a:t>化，云网协同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376859" y="1357972"/>
            <a:ext cx="2656840" cy="715645"/>
          </a:xfrm>
          <a:prstGeom prst="rect">
            <a:avLst/>
          </a:prstGeom>
          <a:solidFill>
            <a:srgbClr val="00B050"/>
          </a:solidFill>
          <a:ln w="9525">
            <a:solidFill>
              <a:srgbClr val="A7A8A7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324485" indent="-255904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324485" algn="l"/>
              </a:tabLst>
            </a:pPr>
            <a:r>
              <a:rPr dirty="0" sz="1400" spc="-20" b="1">
                <a:solidFill>
                  <a:srgbClr val="BBE0E3"/>
                </a:solidFill>
                <a:latin typeface="Microsoft YaHei"/>
                <a:cs typeface="Microsoft YaHei"/>
              </a:rPr>
              <a:t>现状：IPRAN、PTN、</a:t>
            </a:r>
            <a:r>
              <a:rPr dirty="0" sz="1400" spc="-25" b="1">
                <a:solidFill>
                  <a:srgbClr val="BBE0E3"/>
                </a:solidFill>
                <a:latin typeface="Microsoft YaHei"/>
                <a:cs typeface="Microsoft YaHei"/>
              </a:rPr>
              <a:t>OTN</a:t>
            </a:r>
            <a:endParaRPr sz="1400">
              <a:latin typeface="Microsoft YaHei"/>
              <a:cs typeface="Microsoft YaHei"/>
            </a:endParaRPr>
          </a:p>
          <a:p>
            <a:pPr marL="324485" indent="-255904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24485" algn="l"/>
              </a:tabLst>
            </a:pPr>
            <a:r>
              <a:rPr dirty="0" sz="1400" spc="-35" b="1">
                <a:solidFill>
                  <a:srgbClr val="BBE0E3"/>
                </a:solidFill>
                <a:latin typeface="Microsoft YaHei"/>
                <a:cs typeface="Microsoft YaHei"/>
              </a:rPr>
              <a:t>未来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24197" y="971551"/>
            <a:ext cx="19050" cy="3733800"/>
          </a:xfrm>
          <a:custGeom>
            <a:avLst/>
            <a:gdLst/>
            <a:ahLst/>
            <a:cxnLst/>
            <a:rect l="l" t="t" r="r" b="b"/>
            <a:pathLst>
              <a:path w="19050" h="3733800">
                <a:moveTo>
                  <a:pt x="19050" y="0"/>
                </a:moveTo>
                <a:lnTo>
                  <a:pt x="0" y="3733800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270250" y="965200"/>
            <a:ext cx="4584700" cy="498475"/>
            <a:chOff x="3270250" y="965200"/>
            <a:chExt cx="4584700" cy="4984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971550"/>
              <a:ext cx="4572000" cy="48577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76600" y="9715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379053" y="1007427"/>
            <a:ext cx="436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一、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系统标准与产业发展概述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74619" y="39229"/>
            <a:ext cx="30988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  <a:tab pos="1688464" algn="l"/>
                <a:tab pos="2526665" algn="l"/>
              </a:tabLst>
            </a:pPr>
            <a:r>
              <a:rPr dirty="0" sz="4400" spc="-50"/>
              <a:t>主</a:t>
            </a:r>
            <a:r>
              <a:rPr dirty="0" sz="4400"/>
              <a:t>	</a:t>
            </a:r>
            <a:r>
              <a:rPr dirty="0" sz="4400" spc="-50"/>
              <a:t>要</a:t>
            </a:r>
            <a:r>
              <a:rPr dirty="0" sz="4400"/>
              <a:t>	</a:t>
            </a:r>
            <a:r>
              <a:rPr dirty="0" sz="4400" spc="-50"/>
              <a:t>内</a:t>
            </a:r>
            <a:r>
              <a:rPr dirty="0" sz="4400"/>
              <a:t>	</a:t>
            </a:r>
            <a:r>
              <a:rPr dirty="0" sz="4400" spc="-50"/>
              <a:t>容</a:t>
            </a:r>
            <a:endParaRPr sz="4400"/>
          </a:p>
        </p:txBody>
      </p:sp>
      <p:grpSp>
        <p:nvGrpSpPr>
          <p:cNvPr id="8" name="object 8" descr=""/>
          <p:cNvGrpSpPr/>
          <p:nvPr/>
        </p:nvGrpSpPr>
        <p:grpSpPr>
          <a:xfrm>
            <a:off x="3270250" y="2032000"/>
            <a:ext cx="4584700" cy="498475"/>
            <a:chOff x="3270250" y="2032000"/>
            <a:chExt cx="4584700" cy="49847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2038350"/>
              <a:ext cx="4572000" cy="4857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276600" y="2038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379053" y="2074227"/>
            <a:ext cx="4377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Microsoft YaHei"/>
                <a:cs typeface="Microsoft YaHei"/>
              </a:rPr>
              <a:t>二、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5G</a:t>
            </a:r>
            <a:r>
              <a:rPr dirty="0" sz="2400" spc="-5" b="1">
                <a:solidFill>
                  <a:srgbClr val="FF0000"/>
                </a:solidFill>
                <a:latin typeface="Microsoft YaHei"/>
                <a:cs typeface="Microsoft YaHei"/>
              </a:rPr>
              <a:t>系统核心网络架构与技术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270250" y="3175000"/>
            <a:ext cx="4584700" cy="498475"/>
            <a:chOff x="3270250" y="3175000"/>
            <a:chExt cx="4584700" cy="498475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3181350"/>
              <a:ext cx="4572000" cy="48577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276600" y="3181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379053" y="3217227"/>
            <a:ext cx="436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三、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系统传输网络架构与技术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270250" y="4238228"/>
            <a:ext cx="4584700" cy="498475"/>
            <a:chOff x="3270250" y="4238228"/>
            <a:chExt cx="4584700" cy="49847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6600" y="4244578"/>
              <a:ext cx="4572000" cy="48577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276600" y="4244578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379053" y="4280456"/>
            <a:ext cx="436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四、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系统无线网络架构与技术</a:t>
            </a:r>
            <a:endParaRPr sz="2400">
              <a:latin typeface="Microsoft YaHei"/>
              <a:cs typeface="Microsoft YaHe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400" y="971550"/>
            <a:ext cx="2749533" cy="3786212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7175398" y="2190755"/>
            <a:ext cx="1969135" cy="1447800"/>
          </a:xfrm>
          <a:custGeom>
            <a:avLst/>
            <a:gdLst/>
            <a:ahLst/>
            <a:cxnLst/>
            <a:rect l="l" t="t" r="r" b="b"/>
            <a:pathLst>
              <a:path w="1969134" h="1447800">
                <a:moveTo>
                  <a:pt x="520801" y="241300"/>
                </a:moveTo>
                <a:lnTo>
                  <a:pt x="525704" y="192667"/>
                </a:lnTo>
                <a:lnTo>
                  <a:pt x="539764" y="147371"/>
                </a:lnTo>
                <a:lnTo>
                  <a:pt x="562013" y="106383"/>
                </a:lnTo>
                <a:lnTo>
                  <a:pt x="591478" y="70672"/>
                </a:lnTo>
                <a:lnTo>
                  <a:pt x="627190" y="41208"/>
                </a:lnTo>
                <a:lnTo>
                  <a:pt x="668178" y="18961"/>
                </a:lnTo>
                <a:lnTo>
                  <a:pt x="713472" y="4902"/>
                </a:lnTo>
                <a:lnTo>
                  <a:pt x="762101" y="0"/>
                </a:lnTo>
                <a:lnTo>
                  <a:pt x="1124051" y="0"/>
                </a:lnTo>
                <a:lnTo>
                  <a:pt x="1727301" y="0"/>
                </a:lnTo>
                <a:lnTo>
                  <a:pt x="1775930" y="4902"/>
                </a:lnTo>
                <a:lnTo>
                  <a:pt x="1821224" y="18961"/>
                </a:lnTo>
                <a:lnTo>
                  <a:pt x="1862212" y="41208"/>
                </a:lnTo>
                <a:lnTo>
                  <a:pt x="1897924" y="70672"/>
                </a:lnTo>
                <a:lnTo>
                  <a:pt x="1927389" y="106383"/>
                </a:lnTo>
                <a:lnTo>
                  <a:pt x="1949638" y="147371"/>
                </a:lnTo>
                <a:lnTo>
                  <a:pt x="1963699" y="192667"/>
                </a:lnTo>
                <a:lnTo>
                  <a:pt x="1968601" y="241300"/>
                </a:lnTo>
                <a:lnTo>
                  <a:pt x="1968601" y="603250"/>
                </a:lnTo>
                <a:lnTo>
                  <a:pt x="1968601" y="1206487"/>
                </a:lnTo>
                <a:lnTo>
                  <a:pt x="1963699" y="1255120"/>
                </a:lnTo>
                <a:lnTo>
                  <a:pt x="1949638" y="1300417"/>
                </a:lnTo>
                <a:lnTo>
                  <a:pt x="1927389" y="1341407"/>
                </a:lnTo>
                <a:lnTo>
                  <a:pt x="1897924" y="1377121"/>
                </a:lnTo>
                <a:lnTo>
                  <a:pt x="1862212" y="1406587"/>
                </a:lnTo>
                <a:lnTo>
                  <a:pt x="1821224" y="1428836"/>
                </a:lnTo>
                <a:lnTo>
                  <a:pt x="1775930" y="1442897"/>
                </a:lnTo>
                <a:lnTo>
                  <a:pt x="1727301" y="1447800"/>
                </a:lnTo>
                <a:lnTo>
                  <a:pt x="1124051" y="1447800"/>
                </a:lnTo>
                <a:lnTo>
                  <a:pt x="762101" y="1447800"/>
                </a:lnTo>
                <a:lnTo>
                  <a:pt x="713472" y="1442897"/>
                </a:lnTo>
                <a:lnTo>
                  <a:pt x="668178" y="1428836"/>
                </a:lnTo>
                <a:lnTo>
                  <a:pt x="627190" y="1406587"/>
                </a:lnTo>
                <a:lnTo>
                  <a:pt x="591478" y="1377121"/>
                </a:lnTo>
                <a:lnTo>
                  <a:pt x="562013" y="1341407"/>
                </a:lnTo>
                <a:lnTo>
                  <a:pt x="539764" y="1300417"/>
                </a:lnTo>
                <a:lnTo>
                  <a:pt x="525704" y="1255120"/>
                </a:lnTo>
                <a:lnTo>
                  <a:pt x="520801" y="1206487"/>
                </a:lnTo>
                <a:lnTo>
                  <a:pt x="520801" y="603250"/>
                </a:lnTo>
                <a:lnTo>
                  <a:pt x="0" y="51193"/>
                </a:lnTo>
                <a:lnTo>
                  <a:pt x="520801" y="241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7852568" y="2219959"/>
            <a:ext cx="1135380" cy="134239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200" spc="-10" b="1">
                <a:solidFill>
                  <a:srgbClr val="C00000"/>
                </a:solidFill>
                <a:latin typeface="Times New Roman"/>
                <a:cs typeface="Times New Roman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核心网络架构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Times New Roman"/>
                <a:cs typeface="Times New Roman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核心网络技术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Times New Roman"/>
                <a:cs typeface="Times New Roman"/>
              </a:rPr>
              <a:t>5G</a:t>
            </a:r>
            <a:r>
              <a:rPr dirty="0" sz="1200" b="1">
                <a:solidFill>
                  <a:srgbClr val="C00000"/>
                </a:solidFill>
                <a:latin typeface="Microsoft YaHei"/>
                <a:cs typeface="Microsoft YaHei"/>
              </a:rPr>
              <a:t>核心网</a:t>
            </a:r>
            <a:r>
              <a:rPr dirty="0" sz="1200" spc="-25" b="1">
                <a:solidFill>
                  <a:srgbClr val="C00000"/>
                </a:solidFill>
                <a:latin typeface="Times New Roman"/>
                <a:cs typeface="Times New Roman"/>
              </a:rPr>
              <a:t>SDN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10" b="1">
                <a:solidFill>
                  <a:srgbClr val="C00000"/>
                </a:solidFill>
                <a:latin typeface="Times New Roman"/>
                <a:cs typeface="Times New Roman"/>
              </a:rPr>
              <a:t>5G</a:t>
            </a:r>
            <a:r>
              <a:rPr dirty="0" sz="1200" b="1">
                <a:solidFill>
                  <a:srgbClr val="C00000"/>
                </a:solidFill>
                <a:latin typeface="Microsoft YaHei"/>
                <a:cs typeface="Microsoft YaHei"/>
              </a:rPr>
              <a:t>核心网</a:t>
            </a:r>
            <a:r>
              <a:rPr dirty="0" sz="1200" spc="-25" b="1">
                <a:solidFill>
                  <a:srgbClr val="C00000"/>
                </a:solidFill>
                <a:latin typeface="Times New Roman"/>
                <a:cs typeface="Times New Roman"/>
              </a:rPr>
              <a:t>NFV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Times New Roman"/>
                <a:cs typeface="Times New Roman"/>
              </a:rPr>
              <a:t>5G</a:t>
            </a:r>
            <a:r>
              <a:rPr dirty="0" sz="1200" b="1">
                <a:solidFill>
                  <a:srgbClr val="C00000"/>
                </a:solidFill>
                <a:latin typeface="Microsoft YaHei"/>
                <a:cs typeface="Microsoft YaHei"/>
              </a:rPr>
              <a:t>核心网</a:t>
            </a:r>
            <a:r>
              <a:rPr dirty="0" sz="1200" spc="-25" b="1">
                <a:solidFill>
                  <a:srgbClr val="C00000"/>
                </a:solidFill>
                <a:latin typeface="Times New Roman"/>
                <a:cs typeface="Times New Roman"/>
              </a:rPr>
              <a:t>MEC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10" b="1">
                <a:solidFill>
                  <a:srgbClr val="C00000"/>
                </a:solidFill>
                <a:latin typeface="Times New Roman"/>
                <a:cs typeface="Times New Roman"/>
              </a:rPr>
              <a:t>5G</a:t>
            </a:r>
            <a:r>
              <a:rPr dirty="0" sz="1200" b="1">
                <a:solidFill>
                  <a:srgbClr val="C00000"/>
                </a:solidFill>
                <a:latin typeface="Microsoft YaHei"/>
                <a:cs typeface="Microsoft YaHei"/>
              </a:rPr>
              <a:t>核心网</a:t>
            </a:r>
            <a:r>
              <a:rPr dirty="0" sz="1200" spc="-20" b="1">
                <a:solidFill>
                  <a:srgbClr val="C00000"/>
                </a:solidFill>
                <a:latin typeface="Times New Roman"/>
                <a:cs typeface="Times New Roman"/>
              </a:rPr>
              <a:t>CHIP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15033" y="4102049"/>
            <a:ext cx="675005" cy="29654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35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RRU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05264" y="4102049"/>
            <a:ext cx="675005" cy="29654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35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RRU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013534" y="2598039"/>
            <a:ext cx="889635" cy="267970"/>
          </a:xfrm>
          <a:custGeom>
            <a:avLst/>
            <a:gdLst/>
            <a:ahLst/>
            <a:cxnLst/>
            <a:rect l="l" t="t" r="r" b="b"/>
            <a:pathLst>
              <a:path w="889635" h="267969">
                <a:moveTo>
                  <a:pt x="889469" y="0"/>
                </a:moveTo>
                <a:lnTo>
                  <a:pt x="0" y="0"/>
                </a:lnTo>
                <a:lnTo>
                  <a:pt x="0" y="267385"/>
                </a:lnTo>
                <a:lnTo>
                  <a:pt x="889469" y="267385"/>
                </a:lnTo>
                <a:lnTo>
                  <a:pt x="889469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210370" y="2575770"/>
            <a:ext cx="4959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BBU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15000" y="4102049"/>
            <a:ext cx="648335" cy="29908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571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AAU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477000" y="4102049"/>
            <a:ext cx="650875" cy="29908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571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45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AAU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72946" y="4102049"/>
            <a:ext cx="652145" cy="29908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57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45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AAU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260911" y="3105150"/>
            <a:ext cx="988060" cy="319405"/>
          </a:xfrm>
          <a:custGeom>
            <a:avLst/>
            <a:gdLst/>
            <a:ahLst/>
            <a:cxnLst/>
            <a:rect l="l" t="t" r="r" b="b"/>
            <a:pathLst>
              <a:path w="988060" h="319404">
                <a:moveTo>
                  <a:pt x="987488" y="0"/>
                </a:moveTo>
                <a:lnTo>
                  <a:pt x="0" y="0"/>
                </a:lnTo>
                <a:lnTo>
                  <a:pt x="0" y="318897"/>
                </a:lnTo>
                <a:lnTo>
                  <a:pt x="987488" y="318897"/>
                </a:lnTo>
                <a:lnTo>
                  <a:pt x="987488" y="0"/>
                </a:lnTo>
                <a:close/>
              </a:path>
            </a:pathLst>
          </a:custGeom>
          <a:solidFill>
            <a:srgbClr val="6EB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260911" y="3257550"/>
            <a:ext cx="988060" cy="16700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96520">
              <a:lnSpc>
                <a:spcPts val="1090"/>
              </a:lnSpc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CU+DU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829335" y="3128022"/>
            <a:ext cx="567055" cy="296545"/>
          </a:xfrm>
          <a:custGeom>
            <a:avLst/>
            <a:gdLst/>
            <a:ahLst/>
            <a:cxnLst/>
            <a:rect l="l" t="t" r="r" b="b"/>
            <a:pathLst>
              <a:path w="567054" h="296545">
                <a:moveTo>
                  <a:pt x="566915" y="0"/>
                </a:moveTo>
                <a:lnTo>
                  <a:pt x="0" y="0"/>
                </a:lnTo>
                <a:lnTo>
                  <a:pt x="0" y="296024"/>
                </a:lnTo>
                <a:lnTo>
                  <a:pt x="566915" y="296024"/>
                </a:lnTo>
                <a:lnTo>
                  <a:pt x="566915" y="0"/>
                </a:lnTo>
                <a:close/>
              </a:path>
            </a:pathLst>
          </a:custGeom>
          <a:solidFill>
            <a:srgbClr val="6EB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829335" y="3257550"/>
            <a:ext cx="567055" cy="16700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17475">
              <a:lnSpc>
                <a:spcPts val="1180"/>
              </a:lnSpc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DU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829335" y="2450020"/>
            <a:ext cx="567055" cy="296545"/>
          </a:xfrm>
          <a:custGeom>
            <a:avLst/>
            <a:gdLst/>
            <a:ahLst/>
            <a:cxnLst/>
            <a:rect l="l" t="t" r="r" b="b"/>
            <a:pathLst>
              <a:path w="567054" h="296544">
                <a:moveTo>
                  <a:pt x="566915" y="0"/>
                </a:moveTo>
                <a:lnTo>
                  <a:pt x="0" y="0"/>
                </a:lnTo>
                <a:lnTo>
                  <a:pt x="0" y="296024"/>
                </a:lnTo>
                <a:lnTo>
                  <a:pt x="566915" y="296024"/>
                </a:lnTo>
                <a:lnTo>
                  <a:pt x="566915" y="0"/>
                </a:lnTo>
                <a:close/>
              </a:path>
            </a:pathLst>
          </a:custGeom>
          <a:solidFill>
            <a:srgbClr val="6EB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29335" y="2442080"/>
            <a:ext cx="567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CU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013534" y="1350378"/>
            <a:ext cx="889635" cy="267970"/>
          </a:xfrm>
          <a:custGeom>
            <a:avLst/>
            <a:gdLst/>
            <a:ahLst/>
            <a:cxnLst/>
            <a:rect l="l" t="t" r="r" b="b"/>
            <a:pathLst>
              <a:path w="889635" h="267969">
                <a:moveTo>
                  <a:pt x="889469" y="0"/>
                </a:moveTo>
                <a:lnTo>
                  <a:pt x="0" y="0"/>
                </a:lnTo>
                <a:lnTo>
                  <a:pt x="0" y="267385"/>
                </a:lnTo>
                <a:lnTo>
                  <a:pt x="889469" y="267385"/>
                </a:lnTo>
                <a:lnTo>
                  <a:pt x="889469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210370" y="1328118"/>
            <a:ext cx="4959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EPC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645871" y="1609686"/>
            <a:ext cx="669925" cy="276860"/>
          </a:xfrm>
          <a:prstGeom prst="rect">
            <a:avLst/>
          </a:prstGeom>
          <a:solidFill>
            <a:srgbClr val="A7A8A7">
              <a:alpha val="25097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99060">
              <a:lnSpc>
                <a:spcPts val="2120"/>
              </a:lnSpc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5GC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45108" y="999350"/>
            <a:ext cx="3188970" cy="267970"/>
          </a:xfrm>
          <a:custGeom>
            <a:avLst/>
            <a:gdLst/>
            <a:ahLst/>
            <a:cxnLst/>
            <a:rect l="l" t="t" r="r" b="b"/>
            <a:pathLst>
              <a:path w="3188970" h="267969">
                <a:moveTo>
                  <a:pt x="3188728" y="0"/>
                </a:moveTo>
                <a:lnTo>
                  <a:pt x="0" y="0"/>
                </a:lnTo>
                <a:lnTo>
                  <a:pt x="0" y="267385"/>
                </a:lnTo>
                <a:lnTo>
                  <a:pt x="3188728" y="267385"/>
                </a:lnTo>
                <a:lnTo>
                  <a:pt x="318872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484798" y="979377"/>
            <a:ext cx="1710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4G</a:t>
            </a:r>
            <a:r>
              <a:rPr dirty="0" sz="18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 MT"/>
                <a:cs typeface="Arial MT"/>
              </a:rPr>
              <a:t>LTE</a:t>
            </a:r>
            <a:r>
              <a:rPr dirty="0" sz="1800" spc="-15">
                <a:solidFill>
                  <a:srgbClr val="FFFFFF"/>
                </a:solidFill>
                <a:latin typeface="SimSun"/>
                <a:cs typeface="SimSun"/>
              </a:rPr>
              <a:t>网络架构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750384" y="1000188"/>
            <a:ext cx="3820795" cy="296545"/>
          </a:xfrm>
          <a:custGeom>
            <a:avLst/>
            <a:gdLst/>
            <a:ahLst/>
            <a:cxnLst/>
            <a:rect l="l" t="t" r="r" b="b"/>
            <a:pathLst>
              <a:path w="3820795" h="296544">
                <a:moveTo>
                  <a:pt x="3820299" y="0"/>
                </a:moveTo>
                <a:lnTo>
                  <a:pt x="0" y="0"/>
                </a:lnTo>
                <a:lnTo>
                  <a:pt x="0" y="296024"/>
                </a:lnTo>
                <a:lnTo>
                  <a:pt x="3820299" y="296024"/>
                </a:lnTo>
                <a:lnTo>
                  <a:pt x="3820299" y="0"/>
                </a:lnTo>
                <a:close/>
              </a:path>
            </a:pathLst>
          </a:custGeom>
          <a:solidFill>
            <a:srgbClr val="6EB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037791" y="994530"/>
            <a:ext cx="1244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5G</a:t>
            </a:r>
            <a:r>
              <a:rPr dirty="0" sz="1800" spc="-15">
                <a:solidFill>
                  <a:srgbClr val="FFFFFF"/>
                </a:solidFill>
                <a:latin typeface="SimSun"/>
                <a:cs typeface="SimSun"/>
              </a:rPr>
              <a:t>网络架构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248396" y="2115747"/>
            <a:ext cx="739140" cy="341630"/>
          </a:xfrm>
          <a:custGeom>
            <a:avLst/>
            <a:gdLst/>
            <a:ahLst/>
            <a:cxnLst/>
            <a:rect l="l" t="t" r="r" b="b"/>
            <a:pathLst>
              <a:path w="739140" h="341630">
                <a:moveTo>
                  <a:pt x="472167" y="309140"/>
                </a:moveTo>
                <a:lnTo>
                  <a:pt x="282037" y="309140"/>
                </a:lnTo>
                <a:lnTo>
                  <a:pt x="294489" y="318929"/>
                </a:lnTo>
                <a:lnTo>
                  <a:pt x="309305" y="327175"/>
                </a:lnTo>
                <a:lnTo>
                  <a:pt x="326133" y="333709"/>
                </a:lnTo>
                <a:lnTo>
                  <a:pt x="344622" y="338362"/>
                </a:lnTo>
                <a:lnTo>
                  <a:pt x="390298" y="341101"/>
                </a:lnTo>
                <a:lnTo>
                  <a:pt x="432625" y="332873"/>
                </a:lnTo>
                <a:lnTo>
                  <a:pt x="466968" y="315238"/>
                </a:lnTo>
                <a:lnTo>
                  <a:pt x="472167" y="309140"/>
                </a:lnTo>
                <a:close/>
              </a:path>
              <a:path w="739140" h="341630">
                <a:moveTo>
                  <a:pt x="184916" y="29991"/>
                </a:moveTo>
                <a:lnTo>
                  <a:pt x="122330" y="40084"/>
                </a:lnTo>
                <a:lnTo>
                  <a:pt x="69683" y="83594"/>
                </a:lnTo>
                <a:lnTo>
                  <a:pt x="66746" y="112378"/>
                </a:lnTo>
                <a:lnTo>
                  <a:pt x="66124" y="113445"/>
                </a:lnTo>
                <a:lnTo>
                  <a:pt x="20156" y="127608"/>
                </a:lnTo>
                <a:lnTo>
                  <a:pt x="0" y="154085"/>
                </a:lnTo>
                <a:lnTo>
                  <a:pt x="1806" y="172064"/>
                </a:lnTo>
                <a:lnTo>
                  <a:pt x="14150" y="188301"/>
                </a:lnTo>
                <a:lnTo>
                  <a:pt x="36177" y="200732"/>
                </a:lnTo>
                <a:lnTo>
                  <a:pt x="26416" y="208893"/>
                </a:lnTo>
                <a:lnTo>
                  <a:pt x="19769" y="218077"/>
                </a:lnTo>
                <a:lnTo>
                  <a:pt x="16418" y="227943"/>
                </a:lnTo>
                <a:lnTo>
                  <a:pt x="16543" y="238147"/>
                </a:lnTo>
                <a:lnTo>
                  <a:pt x="25750" y="255798"/>
                </a:lnTo>
                <a:lnTo>
                  <a:pt x="44396" y="269393"/>
                </a:lnTo>
                <a:lnTo>
                  <a:pt x="69816" y="277614"/>
                </a:lnTo>
                <a:lnTo>
                  <a:pt x="99347" y="279142"/>
                </a:lnTo>
                <a:lnTo>
                  <a:pt x="100744" y="280641"/>
                </a:lnTo>
                <a:lnTo>
                  <a:pt x="136136" y="305069"/>
                </a:lnTo>
                <a:lnTo>
                  <a:pt x="182037" y="318574"/>
                </a:lnTo>
                <a:lnTo>
                  <a:pt x="232614" y="320237"/>
                </a:lnTo>
                <a:lnTo>
                  <a:pt x="282037" y="309140"/>
                </a:lnTo>
                <a:lnTo>
                  <a:pt x="472167" y="309140"/>
                </a:lnTo>
                <a:lnTo>
                  <a:pt x="488691" y="289759"/>
                </a:lnTo>
                <a:lnTo>
                  <a:pt x="590325" y="289759"/>
                </a:lnTo>
                <a:lnTo>
                  <a:pt x="610562" y="281336"/>
                </a:lnTo>
                <a:lnTo>
                  <a:pt x="632028" y="261676"/>
                </a:lnTo>
                <a:lnTo>
                  <a:pt x="640113" y="237512"/>
                </a:lnTo>
                <a:lnTo>
                  <a:pt x="654687" y="235600"/>
                </a:lnTo>
                <a:lnTo>
                  <a:pt x="694329" y="223173"/>
                </a:lnTo>
                <a:lnTo>
                  <a:pt x="738667" y="174858"/>
                </a:lnTo>
                <a:lnTo>
                  <a:pt x="735922" y="146973"/>
                </a:lnTo>
                <a:lnTo>
                  <a:pt x="715653" y="120989"/>
                </a:lnTo>
                <a:lnTo>
                  <a:pt x="717329" y="118538"/>
                </a:lnTo>
                <a:lnTo>
                  <a:pt x="718726" y="116011"/>
                </a:lnTo>
                <a:lnTo>
                  <a:pt x="719844" y="113445"/>
                </a:lnTo>
                <a:lnTo>
                  <a:pt x="722252" y="90668"/>
                </a:lnTo>
                <a:lnTo>
                  <a:pt x="711000" y="69800"/>
                </a:lnTo>
                <a:lnTo>
                  <a:pt x="688149" y="53111"/>
                </a:lnTo>
                <a:lnTo>
                  <a:pt x="655759" y="42871"/>
                </a:lnTo>
                <a:lnTo>
                  <a:pt x="654552" y="40084"/>
                </a:lnTo>
                <a:lnTo>
                  <a:pt x="654478" y="39912"/>
                </a:lnTo>
                <a:lnTo>
                  <a:pt x="239682" y="39912"/>
                </a:lnTo>
                <a:lnTo>
                  <a:pt x="222309" y="34686"/>
                </a:lnTo>
                <a:lnTo>
                  <a:pt x="203924" y="31364"/>
                </a:lnTo>
                <a:lnTo>
                  <a:pt x="184916" y="29991"/>
                </a:lnTo>
                <a:close/>
              </a:path>
              <a:path w="739140" h="341630">
                <a:moveTo>
                  <a:pt x="590325" y="289759"/>
                </a:moveTo>
                <a:lnTo>
                  <a:pt x="488691" y="289759"/>
                </a:lnTo>
                <a:lnTo>
                  <a:pt x="500728" y="293788"/>
                </a:lnTo>
                <a:lnTo>
                  <a:pt x="513472" y="296725"/>
                </a:lnTo>
                <a:lnTo>
                  <a:pt x="526735" y="298539"/>
                </a:lnTo>
                <a:lnTo>
                  <a:pt x="540329" y="299195"/>
                </a:lnTo>
                <a:lnTo>
                  <a:pt x="578925" y="294504"/>
                </a:lnTo>
                <a:lnTo>
                  <a:pt x="590325" y="289759"/>
                </a:lnTo>
                <a:close/>
              </a:path>
              <a:path w="739140" h="341630">
                <a:moveTo>
                  <a:pt x="328352" y="9635"/>
                </a:moveTo>
                <a:lnTo>
                  <a:pt x="293560" y="11942"/>
                </a:lnTo>
                <a:lnTo>
                  <a:pt x="262681" y="22290"/>
                </a:lnTo>
                <a:lnTo>
                  <a:pt x="239682" y="39912"/>
                </a:lnTo>
                <a:lnTo>
                  <a:pt x="654478" y="39912"/>
                </a:lnTo>
                <a:lnTo>
                  <a:pt x="651997" y="34183"/>
                </a:lnTo>
                <a:lnTo>
                  <a:pt x="645960" y="26084"/>
                </a:lnTo>
                <a:lnTo>
                  <a:pt x="645789" y="25930"/>
                </a:lnTo>
                <a:lnTo>
                  <a:pt x="384297" y="25930"/>
                </a:lnTo>
                <a:lnTo>
                  <a:pt x="378023" y="22043"/>
                </a:lnTo>
                <a:lnTo>
                  <a:pt x="370889" y="18749"/>
                </a:lnTo>
                <a:lnTo>
                  <a:pt x="363088" y="16138"/>
                </a:lnTo>
                <a:lnTo>
                  <a:pt x="328352" y="9635"/>
                </a:lnTo>
                <a:close/>
              </a:path>
              <a:path w="739140" h="341630">
                <a:moveTo>
                  <a:pt x="455847" y="0"/>
                </a:moveTo>
                <a:lnTo>
                  <a:pt x="427253" y="2357"/>
                </a:lnTo>
                <a:lnTo>
                  <a:pt x="427407" y="2357"/>
                </a:lnTo>
                <a:lnTo>
                  <a:pt x="402529" y="11209"/>
                </a:lnTo>
                <a:lnTo>
                  <a:pt x="384297" y="25930"/>
                </a:lnTo>
                <a:lnTo>
                  <a:pt x="645789" y="25930"/>
                </a:lnTo>
                <a:lnTo>
                  <a:pt x="637805" y="18749"/>
                </a:lnTo>
                <a:lnTo>
                  <a:pt x="637272" y="18411"/>
                </a:lnTo>
                <a:lnTo>
                  <a:pt x="510548" y="18411"/>
                </a:lnTo>
                <a:lnTo>
                  <a:pt x="504993" y="14333"/>
                </a:lnTo>
                <a:lnTo>
                  <a:pt x="498756" y="10693"/>
                </a:lnTo>
                <a:lnTo>
                  <a:pt x="491899" y="7524"/>
                </a:lnTo>
                <a:lnTo>
                  <a:pt x="484487" y="4860"/>
                </a:lnTo>
                <a:lnTo>
                  <a:pt x="455847" y="0"/>
                </a:lnTo>
                <a:close/>
              </a:path>
              <a:path w="739140" h="341630">
                <a:moveTo>
                  <a:pt x="567120" y="166"/>
                </a:moveTo>
                <a:lnTo>
                  <a:pt x="536449" y="5583"/>
                </a:lnTo>
                <a:lnTo>
                  <a:pt x="510548" y="18411"/>
                </a:lnTo>
                <a:lnTo>
                  <a:pt x="637272" y="18411"/>
                </a:lnTo>
                <a:lnTo>
                  <a:pt x="627692" y="12353"/>
                </a:lnTo>
                <a:lnTo>
                  <a:pt x="598791" y="2357"/>
                </a:lnTo>
                <a:lnTo>
                  <a:pt x="567120" y="166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424378" y="2177027"/>
            <a:ext cx="3352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MEC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953000" y="4106824"/>
            <a:ext cx="638175" cy="294005"/>
          </a:xfrm>
          <a:prstGeom prst="rect">
            <a:avLst/>
          </a:prstGeom>
          <a:solidFill>
            <a:srgbClr val="CDCDCD">
              <a:alpha val="25097"/>
            </a:srgbClr>
          </a:solidFill>
        </p:spPr>
        <p:txBody>
          <a:bodyPr wrap="square" lIns="0" tIns="317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25"/>
              </a:spcBef>
            </a:pP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AAU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801509" y="1350378"/>
            <a:ext cx="7712075" cy="3096895"/>
            <a:chOff x="801509" y="1350378"/>
            <a:chExt cx="7712075" cy="3096895"/>
          </a:xfrm>
        </p:grpSpPr>
        <p:sp>
          <p:nvSpPr>
            <p:cNvPr id="26" name="object 26" descr=""/>
            <p:cNvSpPr/>
            <p:nvPr/>
          </p:nvSpPr>
          <p:spPr>
            <a:xfrm>
              <a:off x="7130838" y="2764909"/>
              <a:ext cx="0" cy="344805"/>
            </a:xfrm>
            <a:custGeom>
              <a:avLst/>
              <a:gdLst/>
              <a:ahLst/>
              <a:cxnLst/>
              <a:rect l="l" t="t" r="r" b="b"/>
              <a:pathLst>
                <a:path w="0" h="344805">
                  <a:moveTo>
                    <a:pt x="0" y="0"/>
                  </a:moveTo>
                  <a:lnTo>
                    <a:pt x="0" y="344258"/>
                  </a:lnTo>
                </a:path>
              </a:pathLst>
            </a:custGeom>
            <a:ln w="190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086388" y="3032963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086379" y="2764905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76200"/>
                  </a:moveTo>
                  <a:lnTo>
                    <a:pt x="44462" y="0"/>
                  </a:lnTo>
                  <a:lnTo>
                    <a:pt x="88900" y="76212"/>
                  </a:lnTo>
                </a:path>
              </a:pathLst>
            </a:custGeom>
            <a:ln w="190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01509" y="2495549"/>
              <a:ext cx="7689215" cy="1951989"/>
            </a:xfrm>
            <a:custGeom>
              <a:avLst/>
              <a:gdLst/>
              <a:ahLst/>
              <a:cxnLst/>
              <a:rect l="l" t="t" r="r" b="b"/>
              <a:pathLst>
                <a:path w="7689215" h="1951989">
                  <a:moveTo>
                    <a:pt x="3078950" y="102489"/>
                  </a:moveTo>
                  <a:lnTo>
                    <a:pt x="0" y="102489"/>
                  </a:lnTo>
                  <a:lnTo>
                    <a:pt x="0" y="1902536"/>
                  </a:lnTo>
                  <a:lnTo>
                    <a:pt x="3078950" y="1902536"/>
                  </a:lnTo>
                  <a:lnTo>
                    <a:pt x="3078950" y="102489"/>
                  </a:lnTo>
                  <a:close/>
                </a:path>
                <a:path w="7689215" h="1951989">
                  <a:moveTo>
                    <a:pt x="7596581" y="0"/>
                  </a:moveTo>
                  <a:lnTo>
                    <a:pt x="3922890" y="0"/>
                  </a:lnTo>
                  <a:lnTo>
                    <a:pt x="3922890" y="673900"/>
                  </a:lnTo>
                  <a:lnTo>
                    <a:pt x="7596581" y="673900"/>
                  </a:lnTo>
                  <a:lnTo>
                    <a:pt x="7596581" y="0"/>
                  </a:lnTo>
                  <a:close/>
                </a:path>
                <a:path w="7689215" h="1951989">
                  <a:moveTo>
                    <a:pt x="7688948" y="762000"/>
                  </a:moveTo>
                  <a:lnTo>
                    <a:pt x="3999090" y="762000"/>
                  </a:lnTo>
                  <a:lnTo>
                    <a:pt x="3999090" y="1951520"/>
                  </a:lnTo>
                  <a:lnTo>
                    <a:pt x="7688948" y="1951520"/>
                  </a:lnTo>
                  <a:lnTo>
                    <a:pt x="7688948" y="762000"/>
                  </a:lnTo>
                  <a:close/>
                </a:path>
              </a:pathLst>
            </a:custGeom>
            <a:solidFill>
              <a:srgbClr val="CDCDCD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01509" y="1350378"/>
              <a:ext cx="3079115" cy="1106170"/>
            </a:xfrm>
            <a:custGeom>
              <a:avLst/>
              <a:gdLst/>
              <a:ahLst/>
              <a:cxnLst/>
              <a:rect l="l" t="t" r="r" b="b"/>
              <a:pathLst>
                <a:path w="3079115" h="1106170">
                  <a:moveTo>
                    <a:pt x="3078949" y="0"/>
                  </a:moveTo>
                  <a:lnTo>
                    <a:pt x="0" y="0"/>
                  </a:lnTo>
                  <a:lnTo>
                    <a:pt x="0" y="1105598"/>
                  </a:lnTo>
                  <a:lnTo>
                    <a:pt x="3078949" y="1105598"/>
                  </a:lnTo>
                  <a:lnTo>
                    <a:pt x="3078949" y="0"/>
                  </a:lnTo>
                  <a:close/>
                </a:path>
              </a:pathLst>
            </a:custGeom>
            <a:solidFill>
              <a:srgbClr val="B1B3B2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724400" y="1581150"/>
              <a:ext cx="3789679" cy="779780"/>
            </a:xfrm>
            <a:custGeom>
              <a:avLst/>
              <a:gdLst/>
              <a:ahLst/>
              <a:cxnLst/>
              <a:rect l="l" t="t" r="r" b="b"/>
              <a:pathLst>
                <a:path w="3789679" h="779780">
                  <a:moveTo>
                    <a:pt x="3789146" y="0"/>
                  </a:moveTo>
                  <a:lnTo>
                    <a:pt x="0" y="0"/>
                  </a:lnTo>
                  <a:lnTo>
                    <a:pt x="0" y="779780"/>
                  </a:lnTo>
                  <a:lnTo>
                    <a:pt x="3789146" y="779780"/>
                  </a:lnTo>
                  <a:lnTo>
                    <a:pt x="3789146" y="0"/>
                  </a:lnTo>
                  <a:close/>
                </a:path>
              </a:pathLst>
            </a:custGeom>
            <a:solidFill>
              <a:srgbClr val="A7A8A7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260849" y="277656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6EBE6A"/>
                </a:solidFill>
                <a:latin typeface="Microsoft YaHei"/>
                <a:cs typeface="Microsoft YaHei"/>
              </a:rPr>
              <a:t>中传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7957892" y="3369647"/>
            <a:ext cx="114935" cy="720090"/>
            <a:chOff x="7957892" y="3369647"/>
            <a:chExt cx="114935" cy="720090"/>
          </a:xfrm>
        </p:grpSpPr>
        <p:sp>
          <p:nvSpPr>
            <p:cNvPr id="34" name="object 34" descr=""/>
            <p:cNvSpPr/>
            <p:nvPr/>
          </p:nvSpPr>
          <p:spPr>
            <a:xfrm>
              <a:off x="8015051" y="3382351"/>
              <a:ext cx="0" cy="694690"/>
            </a:xfrm>
            <a:custGeom>
              <a:avLst/>
              <a:gdLst/>
              <a:ahLst/>
              <a:cxnLst/>
              <a:rect l="l" t="t" r="r" b="b"/>
              <a:pathLst>
                <a:path w="0" h="694689">
                  <a:moveTo>
                    <a:pt x="0" y="0"/>
                  </a:moveTo>
                  <a:lnTo>
                    <a:pt x="0" y="694550"/>
                  </a:lnTo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970601" y="4000707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970592" y="3382347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76200"/>
                  </a:moveTo>
                  <a:lnTo>
                    <a:pt x="44462" y="0"/>
                  </a:lnTo>
                  <a:lnTo>
                    <a:pt x="88900" y="76212"/>
                  </a:lnTo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8091678" y="3642780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6EBE6A"/>
                </a:solidFill>
                <a:latin typeface="Microsoft YaHei"/>
                <a:cs typeface="Microsoft YaHei"/>
              </a:rPr>
              <a:t>前传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275172" y="2785947"/>
            <a:ext cx="114935" cy="1395730"/>
            <a:chOff x="1275172" y="2785947"/>
            <a:chExt cx="114935" cy="1395730"/>
          </a:xfrm>
        </p:grpSpPr>
        <p:sp>
          <p:nvSpPr>
            <p:cNvPr id="39" name="object 39" descr=""/>
            <p:cNvSpPr/>
            <p:nvPr/>
          </p:nvSpPr>
          <p:spPr>
            <a:xfrm>
              <a:off x="1332331" y="2798650"/>
              <a:ext cx="0" cy="1370330"/>
            </a:xfrm>
            <a:custGeom>
              <a:avLst/>
              <a:gdLst/>
              <a:ahLst/>
              <a:cxnLst/>
              <a:rect l="l" t="t" r="r" b="b"/>
              <a:pathLst>
                <a:path w="0" h="1370329">
                  <a:moveTo>
                    <a:pt x="0" y="0"/>
                  </a:moveTo>
                  <a:lnTo>
                    <a:pt x="0" y="1370164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287881" y="409261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199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287872" y="2798647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76200"/>
                  </a:moveTo>
                  <a:lnTo>
                    <a:pt x="44462" y="0"/>
                  </a:lnTo>
                  <a:lnTo>
                    <a:pt x="88900" y="76212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854824" y="3394499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0000FF"/>
                </a:solidFill>
                <a:latin typeface="Microsoft YaHei"/>
                <a:cs typeface="Microsoft YaHei"/>
              </a:rPr>
              <a:t>前传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2401125" y="1630207"/>
            <a:ext cx="5528310" cy="942340"/>
            <a:chOff x="2401125" y="1630207"/>
            <a:chExt cx="5528310" cy="942340"/>
          </a:xfrm>
        </p:grpSpPr>
        <p:sp>
          <p:nvSpPr>
            <p:cNvPr id="44" name="object 44" descr=""/>
            <p:cNvSpPr/>
            <p:nvPr/>
          </p:nvSpPr>
          <p:spPr>
            <a:xfrm>
              <a:off x="2458275" y="1642907"/>
              <a:ext cx="0" cy="916940"/>
            </a:xfrm>
            <a:custGeom>
              <a:avLst/>
              <a:gdLst/>
              <a:ahLst/>
              <a:cxnLst/>
              <a:rect l="l" t="t" r="r" b="b"/>
              <a:pathLst>
                <a:path w="0" h="916939">
                  <a:moveTo>
                    <a:pt x="0" y="916851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413834" y="1642915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76200"/>
                  </a:moveTo>
                  <a:lnTo>
                    <a:pt x="44437" y="0"/>
                  </a:lnTo>
                  <a:lnTo>
                    <a:pt x="88900" y="76187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413825" y="2483558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162800" y="2115722"/>
              <a:ext cx="766445" cy="335280"/>
            </a:xfrm>
            <a:custGeom>
              <a:avLst/>
              <a:gdLst/>
              <a:ahLst/>
              <a:cxnLst/>
              <a:rect l="l" t="t" r="r" b="b"/>
              <a:pathLst>
                <a:path w="766445" h="335280">
                  <a:moveTo>
                    <a:pt x="489688" y="303738"/>
                  </a:moveTo>
                  <a:lnTo>
                    <a:pt x="292497" y="303738"/>
                  </a:lnTo>
                  <a:lnTo>
                    <a:pt x="305409" y="313358"/>
                  </a:lnTo>
                  <a:lnTo>
                    <a:pt x="320773" y="321458"/>
                  </a:lnTo>
                  <a:lnTo>
                    <a:pt x="338224" y="327877"/>
                  </a:lnTo>
                  <a:lnTo>
                    <a:pt x="357394" y="332453"/>
                  </a:lnTo>
                  <a:lnTo>
                    <a:pt x="404770" y="335145"/>
                  </a:lnTo>
                  <a:lnTo>
                    <a:pt x="448672" y="327060"/>
                  </a:lnTo>
                  <a:lnTo>
                    <a:pt x="484292" y="309734"/>
                  </a:lnTo>
                  <a:lnTo>
                    <a:pt x="489688" y="303738"/>
                  </a:lnTo>
                  <a:close/>
                </a:path>
                <a:path w="766445" h="335280">
                  <a:moveTo>
                    <a:pt x="191773" y="29471"/>
                  </a:moveTo>
                  <a:lnTo>
                    <a:pt x="126866" y="39390"/>
                  </a:lnTo>
                  <a:lnTo>
                    <a:pt x="92578" y="57601"/>
                  </a:lnTo>
                  <a:lnTo>
                    <a:pt x="69218" y="110419"/>
                  </a:lnTo>
                  <a:lnTo>
                    <a:pt x="68570" y="111460"/>
                  </a:lnTo>
                  <a:lnTo>
                    <a:pt x="20900" y="125383"/>
                  </a:lnTo>
                  <a:lnTo>
                    <a:pt x="0" y="151398"/>
                  </a:lnTo>
                  <a:lnTo>
                    <a:pt x="1875" y="169063"/>
                  </a:lnTo>
                  <a:lnTo>
                    <a:pt x="14672" y="185015"/>
                  </a:lnTo>
                  <a:lnTo>
                    <a:pt x="37506" y="197223"/>
                  </a:lnTo>
                  <a:lnTo>
                    <a:pt x="27388" y="205247"/>
                  </a:lnTo>
                  <a:lnTo>
                    <a:pt x="20497" y="214273"/>
                  </a:lnTo>
                  <a:lnTo>
                    <a:pt x="17021" y="223966"/>
                  </a:lnTo>
                  <a:lnTo>
                    <a:pt x="17148" y="233990"/>
                  </a:lnTo>
                  <a:lnTo>
                    <a:pt x="26703" y="251336"/>
                  </a:lnTo>
                  <a:lnTo>
                    <a:pt x="46042" y="264695"/>
                  </a:lnTo>
                  <a:lnTo>
                    <a:pt x="72403" y="272773"/>
                  </a:lnTo>
                  <a:lnTo>
                    <a:pt x="103025" y="274274"/>
                  </a:lnTo>
                  <a:lnTo>
                    <a:pt x="104473" y="275747"/>
                  </a:lnTo>
                  <a:lnTo>
                    <a:pt x="141179" y="299743"/>
                  </a:lnTo>
                  <a:lnTo>
                    <a:pt x="188784" y="313008"/>
                  </a:lnTo>
                  <a:lnTo>
                    <a:pt x="241238" y="314640"/>
                  </a:lnTo>
                  <a:lnTo>
                    <a:pt x="292497" y="303738"/>
                  </a:lnTo>
                  <a:lnTo>
                    <a:pt x="489688" y="303738"/>
                  </a:lnTo>
                  <a:lnTo>
                    <a:pt x="506822" y="284701"/>
                  </a:lnTo>
                  <a:lnTo>
                    <a:pt x="612211" y="284701"/>
                  </a:lnTo>
                  <a:lnTo>
                    <a:pt x="633204" y="276424"/>
                  </a:lnTo>
                  <a:lnTo>
                    <a:pt x="655468" y="257110"/>
                  </a:lnTo>
                  <a:lnTo>
                    <a:pt x="663857" y="233368"/>
                  </a:lnTo>
                  <a:lnTo>
                    <a:pt x="678973" y="231486"/>
                  </a:lnTo>
                  <a:lnTo>
                    <a:pt x="720080" y="219271"/>
                  </a:lnTo>
                  <a:lnTo>
                    <a:pt x="766061" y="171807"/>
                  </a:lnTo>
                  <a:lnTo>
                    <a:pt x="763218" y="144411"/>
                  </a:lnTo>
                  <a:lnTo>
                    <a:pt x="742204" y="118877"/>
                  </a:lnTo>
                  <a:lnTo>
                    <a:pt x="743931" y="116477"/>
                  </a:lnTo>
                  <a:lnTo>
                    <a:pt x="745379" y="113988"/>
                  </a:lnTo>
                  <a:lnTo>
                    <a:pt x="746534" y="111460"/>
                  </a:lnTo>
                  <a:lnTo>
                    <a:pt x="749041" y="89081"/>
                  </a:lnTo>
                  <a:lnTo>
                    <a:pt x="737374" y="68580"/>
                  </a:lnTo>
                  <a:lnTo>
                    <a:pt x="713673" y="52187"/>
                  </a:lnTo>
                  <a:lnTo>
                    <a:pt x="680075" y="42131"/>
                  </a:lnTo>
                  <a:lnTo>
                    <a:pt x="678825" y="39390"/>
                  </a:lnTo>
                  <a:lnTo>
                    <a:pt x="678749" y="39223"/>
                  </a:lnTo>
                  <a:lnTo>
                    <a:pt x="248567" y="39223"/>
                  </a:lnTo>
                  <a:lnTo>
                    <a:pt x="230552" y="34085"/>
                  </a:lnTo>
                  <a:lnTo>
                    <a:pt x="211485" y="30818"/>
                  </a:lnTo>
                  <a:lnTo>
                    <a:pt x="191773" y="29471"/>
                  </a:lnTo>
                  <a:close/>
                </a:path>
                <a:path w="766445" h="335280">
                  <a:moveTo>
                    <a:pt x="612211" y="284701"/>
                  </a:moveTo>
                  <a:lnTo>
                    <a:pt x="506822" y="284701"/>
                  </a:lnTo>
                  <a:lnTo>
                    <a:pt x="519303" y="288655"/>
                  </a:lnTo>
                  <a:lnTo>
                    <a:pt x="532517" y="291541"/>
                  </a:lnTo>
                  <a:lnTo>
                    <a:pt x="546270" y="293325"/>
                  </a:lnTo>
                  <a:lnTo>
                    <a:pt x="560365" y="293972"/>
                  </a:lnTo>
                  <a:lnTo>
                    <a:pt x="600394" y="289360"/>
                  </a:lnTo>
                  <a:lnTo>
                    <a:pt x="612211" y="284701"/>
                  </a:lnTo>
                  <a:close/>
                </a:path>
                <a:path w="766445" h="335280">
                  <a:moveTo>
                    <a:pt x="340532" y="9469"/>
                  </a:moveTo>
                  <a:lnTo>
                    <a:pt x="304447" y="11737"/>
                  </a:lnTo>
                  <a:lnTo>
                    <a:pt x="272420" y="21905"/>
                  </a:lnTo>
                  <a:lnTo>
                    <a:pt x="248567" y="39223"/>
                  </a:lnTo>
                  <a:lnTo>
                    <a:pt x="678749" y="39223"/>
                  </a:lnTo>
                  <a:lnTo>
                    <a:pt x="676181" y="33592"/>
                  </a:lnTo>
                  <a:lnTo>
                    <a:pt x="669923" y="25634"/>
                  </a:lnTo>
                  <a:lnTo>
                    <a:pt x="669744" y="25481"/>
                  </a:lnTo>
                  <a:lnTo>
                    <a:pt x="398554" y="25481"/>
                  </a:lnTo>
                  <a:lnTo>
                    <a:pt x="392039" y="21659"/>
                  </a:lnTo>
                  <a:lnTo>
                    <a:pt x="384653" y="18428"/>
                  </a:lnTo>
                  <a:lnTo>
                    <a:pt x="376558" y="15855"/>
                  </a:lnTo>
                  <a:lnTo>
                    <a:pt x="340532" y="9469"/>
                  </a:lnTo>
                  <a:close/>
                </a:path>
                <a:path w="766445" h="335280">
                  <a:moveTo>
                    <a:pt x="472762" y="0"/>
                  </a:moveTo>
                  <a:lnTo>
                    <a:pt x="443065" y="2320"/>
                  </a:lnTo>
                  <a:lnTo>
                    <a:pt x="443256" y="2320"/>
                  </a:lnTo>
                  <a:lnTo>
                    <a:pt x="417464" y="11017"/>
                  </a:lnTo>
                  <a:lnTo>
                    <a:pt x="398554" y="25481"/>
                  </a:lnTo>
                  <a:lnTo>
                    <a:pt x="669744" y="25481"/>
                  </a:lnTo>
                  <a:lnTo>
                    <a:pt x="661467" y="18428"/>
                  </a:lnTo>
                  <a:lnTo>
                    <a:pt x="660903" y="18090"/>
                  </a:lnTo>
                  <a:lnTo>
                    <a:pt x="529479" y="18090"/>
                  </a:lnTo>
                  <a:lnTo>
                    <a:pt x="523720" y="14085"/>
                  </a:lnTo>
                  <a:lnTo>
                    <a:pt x="517253" y="10511"/>
                  </a:lnTo>
                  <a:lnTo>
                    <a:pt x="510146" y="7399"/>
                  </a:lnTo>
                  <a:lnTo>
                    <a:pt x="502466" y="4780"/>
                  </a:lnTo>
                  <a:lnTo>
                    <a:pt x="472762" y="0"/>
                  </a:lnTo>
                  <a:close/>
                </a:path>
                <a:path w="766445" h="335280">
                  <a:moveTo>
                    <a:pt x="588153" y="164"/>
                  </a:moveTo>
                  <a:lnTo>
                    <a:pt x="556343" y="5485"/>
                  </a:lnTo>
                  <a:lnTo>
                    <a:pt x="529479" y="18090"/>
                  </a:lnTo>
                  <a:lnTo>
                    <a:pt x="660903" y="18090"/>
                  </a:lnTo>
                  <a:lnTo>
                    <a:pt x="650979" y="12146"/>
                  </a:lnTo>
                  <a:lnTo>
                    <a:pt x="621001" y="2320"/>
                  </a:lnTo>
                  <a:lnTo>
                    <a:pt x="588153" y="16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7351006" y="2174182"/>
            <a:ext cx="3352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MEC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5029197" y="2790127"/>
            <a:ext cx="766445" cy="316230"/>
          </a:xfrm>
          <a:custGeom>
            <a:avLst/>
            <a:gdLst/>
            <a:ahLst/>
            <a:cxnLst/>
            <a:rect l="l" t="t" r="r" b="b"/>
            <a:pathLst>
              <a:path w="766445" h="316230">
                <a:moveTo>
                  <a:pt x="489900" y="286219"/>
                </a:moveTo>
                <a:lnTo>
                  <a:pt x="292631" y="286219"/>
                </a:lnTo>
                <a:lnTo>
                  <a:pt x="305545" y="295288"/>
                </a:lnTo>
                <a:lnTo>
                  <a:pt x="320915" y="302923"/>
                </a:lnTo>
                <a:lnTo>
                  <a:pt x="338374" y="308972"/>
                </a:lnTo>
                <a:lnTo>
                  <a:pt x="357553" y="313283"/>
                </a:lnTo>
                <a:lnTo>
                  <a:pt x="404948" y="315820"/>
                </a:lnTo>
                <a:lnTo>
                  <a:pt x="448866" y="308201"/>
                </a:lnTo>
                <a:lnTo>
                  <a:pt x="484497" y="291875"/>
                </a:lnTo>
                <a:lnTo>
                  <a:pt x="489900" y="286219"/>
                </a:lnTo>
                <a:close/>
              </a:path>
              <a:path w="766445" h="316230">
                <a:moveTo>
                  <a:pt x="191858" y="27769"/>
                </a:moveTo>
                <a:lnTo>
                  <a:pt x="126925" y="37110"/>
                </a:lnTo>
                <a:lnTo>
                  <a:pt x="92621" y="54273"/>
                </a:lnTo>
                <a:lnTo>
                  <a:pt x="69250" y="104050"/>
                </a:lnTo>
                <a:lnTo>
                  <a:pt x="68603" y="105041"/>
                </a:lnTo>
                <a:lnTo>
                  <a:pt x="20909" y="118152"/>
                </a:lnTo>
                <a:lnTo>
                  <a:pt x="0" y="142664"/>
                </a:lnTo>
                <a:lnTo>
                  <a:pt x="1874" y="159308"/>
                </a:lnTo>
                <a:lnTo>
                  <a:pt x="14678" y="174343"/>
                </a:lnTo>
                <a:lnTo>
                  <a:pt x="37526" y="185851"/>
                </a:lnTo>
                <a:lnTo>
                  <a:pt x="27401" y="193411"/>
                </a:lnTo>
                <a:lnTo>
                  <a:pt x="20508" y="201917"/>
                </a:lnTo>
                <a:lnTo>
                  <a:pt x="17034" y="211051"/>
                </a:lnTo>
                <a:lnTo>
                  <a:pt x="17094" y="215309"/>
                </a:lnTo>
                <a:lnTo>
                  <a:pt x="46065" y="249426"/>
                </a:lnTo>
                <a:lnTo>
                  <a:pt x="103070" y="258457"/>
                </a:lnTo>
                <a:lnTo>
                  <a:pt x="104518" y="259841"/>
                </a:lnTo>
                <a:lnTo>
                  <a:pt x="141240" y="282460"/>
                </a:lnTo>
                <a:lnTo>
                  <a:pt x="188868" y="294962"/>
                </a:lnTo>
                <a:lnTo>
                  <a:pt x="241350" y="296498"/>
                </a:lnTo>
                <a:lnTo>
                  <a:pt x="292631" y="286219"/>
                </a:lnTo>
                <a:lnTo>
                  <a:pt x="489900" y="286219"/>
                </a:lnTo>
                <a:lnTo>
                  <a:pt x="507032" y="268287"/>
                </a:lnTo>
                <a:lnTo>
                  <a:pt x="612474" y="268287"/>
                </a:lnTo>
                <a:lnTo>
                  <a:pt x="633476" y="260484"/>
                </a:lnTo>
                <a:lnTo>
                  <a:pt x="655750" y="242283"/>
                </a:lnTo>
                <a:lnTo>
                  <a:pt x="664144" y="219913"/>
                </a:lnTo>
                <a:lnTo>
                  <a:pt x="679264" y="218140"/>
                </a:lnTo>
                <a:lnTo>
                  <a:pt x="720392" y="206628"/>
                </a:lnTo>
                <a:lnTo>
                  <a:pt x="766391" y="161899"/>
                </a:lnTo>
                <a:lnTo>
                  <a:pt x="763544" y="136084"/>
                </a:lnTo>
                <a:lnTo>
                  <a:pt x="742515" y="112026"/>
                </a:lnTo>
                <a:lnTo>
                  <a:pt x="744255" y="109753"/>
                </a:lnTo>
                <a:lnTo>
                  <a:pt x="745703" y="107416"/>
                </a:lnTo>
                <a:lnTo>
                  <a:pt x="746853" y="105041"/>
                </a:lnTo>
                <a:lnTo>
                  <a:pt x="749363" y="83943"/>
                </a:lnTo>
                <a:lnTo>
                  <a:pt x="737691" y="64625"/>
                </a:lnTo>
                <a:lnTo>
                  <a:pt x="713981" y="49177"/>
                </a:lnTo>
                <a:lnTo>
                  <a:pt x="680374" y="39700"/>
                </a:lnTo>
                <a:lnTo>
                  <a:pt x="679119" y="37110"/>
                </a:lnTo>
                <a:lnTo>
                  <a:pt x="679044" y="36956"/>
                </a:lnTo>
                <a:lnTo>
                  <a:pt x="248676" y="36956"/>
                </a:lnTo>
                <a:lnTo>
                  <a:pt x="230651" y="32118"/>
                </a:lnTo>
                <a:lnTo>
                  <a:pt x="211576" y="29041"/>
                </a:lnTo>
                <a:lnTo>
                  <a:pt x="191858" y="27769"/>
                </a:lnTo>
                <a:close/>
              </a:path>
              <a:path w="766445" h="316230">
                <a:moveTo>
                  <a:pt x="612474" y="268287"/>
                </a:moveTo>
                <a:lnTo>
                  <a:pt x="507032" y="268287"/>
                </a:lnTo>
                <a:lnTo>
                  <a:pt x="519521" y="272013"/>
                </a:lnTo>
                <a:lnTo>
                  <a:pt x="532741" y="274732"/>
                </a:lnTo>
                <a:lnTo>
                  <a:pt x="546503" y="276413"/>
                </a:lnTo>
                <a:lnTo>
                  <a:pt x="560613" y="277024"/>
                </a:lnTo>
                <a:lnTo>
                  <a:pt x="600654" y="272678"/>
                </a:lnTo>
                <a:lnTo>
                  <a:pt x="612474" y="268287"/>
                </a:lnTo>
                <a:close/>
              </a:path>
              <a:path w="766445" h="316230">
                <a:moveTo>
                  <a:pt x="340680" y="8926"/>
                </a:moveTo>
                <a:lnTo>
                  <a:pt x="304581" y="11059"/>
                </a:lnTo>
                <a:lnTo>
                  <a:pt x="272540" y="20639"/>
                </a:lnTo>
                <a:lnTo>
                  <a:pt x="248676" y="36956"/>
                </a:lnTo>
                <a:lnTo>
                  <a:pt x="679044" y="36956"/>
                </a:lnTo>
                <a:lnTo>
                  <a:pt x="676472" y="31652"/>
                </a:lnTo>
                <a:lnTo>
                  <a:pt x="670209" y="24152"/>
                </a:lnTo>
                <a:lnTo>
                  <a:pt x="670039" y="24015"/>
                </a:lnTo>
                <a:lnTo>
                  <a:pt x="398726" y="24015"/>
                </a:lnTo>
                <a:lnTo>
                  <a:pt x="392211" y="20408"/>
                </a:lnTo>
                <a:lnTo>
                  <a:pt x="384827" y="17361"/>
                </a:lnTo>
                <a:lnTo>
                  <a:pt x="376717" y="14947"/>
                </a:lnTo>
                <a:lnTo>
                  <a:pt x="340680" y="8926"/>
                </a:lnTo>
                <a:close/>
              </a:path>
              <a:path w="766445" h="316230">
                <a:moveTo>
                  <a:pt x="472962" y="0"/>
                </a:moveTo>
                <a:lnTo>
                  <a:pt x="443306" y="2187"/>
                </a:lnTo>
                <a:lnTo>
                  <a:pt x="443459" y="2187"/>
                </a:lnTo>
                <a:lnTo>
                  <a:pt x="417646" y="10387"/>
                </a:lnTo>
                <a:lnTo>
                  <a:pt x="398726" y="24015"/>
                </a:lnTo>
                <a:lnTo>
                  <a:pt x="670039" y="24015"/>
                </a:lnTo>
                <a:lnTo>
                  <a:pt x="661749" y="17361"/>
                </a:lnTo>
                <a:lnTo>
                  <a:pt x="661184" y="17043"/>
                </a:lnTo>
                <a:lnTo>
                  <a:pt x="529714" y="17043"/>
                </a:lnTo>
                <a:lnTo>
                  <a:pt x="523948" y="13271"/>
                </a:lnTo>
                <a:lnTo>
                  <a:pt x="517476" y="9902"/>
                </a:lnTo>
                <a:lnTo>
                  <a:pt x="510363" y="6966"/>
                </a:lnTo>
                <a:lnTo>
                  <a:pt x="502676" y="4495"/>
                </a:lnTo>
                <a:lnTo>
                  <a:pt x="472962" y="0"/>
                </a:lnTo>
                <a:close/>
              </a:path>
              <a:path w="766445" h="316230">
                <a:moveTo>
                  <a:pt x="588412" y="155"/>
                </a:moveTo>
                <a:lnTo>
                  <a:pt x="556590" y="5166"/>
                </a:lnTo>
                <a:lnTo>
                  <a:pt x="529714" y="17043"/>
                </a:lnTo>
                <a:lnTo>
                  <a:pt x="661184" y="17043"/>
                </a:lnTo>
                <a:lnTo>
                  <a:pt x="651253" y="11442"/>
                </a:lnTo>
                <a:lnTo>
                  <a:pt x="621270" y="2187"/>
                </a:lnTo>
                <a:lnTo>
                  <a:pt x="588412" y="155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5217558" y="2839430"/>
            <a:ext cx="3352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MEC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890311" y="2530917"/>
            <a:ext cx="3784600" cy="802640"/>
            <a:chOff x="2890311" y="2530917"/>
            <a:chExt cx="3784600" cy="802640"/>
          </a:xfrm>
        </p:grpSpPr>
        <p:sp>
          <p:nvSpPr>
            <p:cNvPr id="52" name="object 52" descr=""/>
            <p:cNvSpPr/>
            <p:nvPr/>
          </p:nvSpPr>
          <p:spPr>
            <a:xfrm>
              <a:off x="6352969" y="2588072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4" h="0">
                  <a:moveTo>
                    <a:pt x="0" y="0"/>
                  </a:moveTo>
                  <a:lnTo>
                    <a:pt x="287629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564406" y="2543617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363168" y="3276037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4" h="0">
                  <a:moveTo>
                    <a:pt x="0" y="0"/>
                  </a:moveTo>
                  <a:lnTo>
                    <a:pt x="298919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585884" y="3231583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363168" y="2588487"/>
              <a:ext cx="0" cy="687705"/>
            </a:xfrm>
            <a:custGeom>
              <a:avLst/>
              <a:gdLst/>
              <a:ahLst/>
              <a:cxnLst/>
              <a:rect l="l" t="t" r="r" b="b"/>
              <a:pathLst>
                <a:path w="0" h="687704">
                  <a:moveTo>
                    <a:pt x="0" y="0"/>
                  </a:moveTo>
                  <a:lnTo>
                    <a:pt x="0" y="687552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903011" y="2722911"/>
              <a:ext cx="3460750" cy="0"/>
            </a:xfrm>
            <a:custGeom>
              <a:avLst/>
              <a:gdLst/>
              <a:ahLst/>
              <a:cxnLst/>
              <a:rect l="l" t="t" r="r" b="b"/>
              <a:pathLst>
                <a:path w="3460750" h="0">
                  <a:moveTo>
                    <a:pt x="0" y="0"/>
                  </a:moveTo>
                  <a:lnTo>
                    <a:pt x="3460153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903011" y="2731726"/>
              <a:ext cx="2333625" cy="527685"/>
            </a:xfrm>
            <a:custGeom>
              <a:avLst/>
              <a:gdLst/>
              <a:ahLst/>
              <a:cxnLst/>
              <a:rect l="l" t="t" r="r" b="b"/>
              <a:pathLst>
                <a:path w="2333625" h="527685">
                  <a:moveTo>
                    <a:pt x="0" y="0"/>
                  </a:moveTo>
                  <a:lnTo>
                    <a:pt x="2333371" y="527329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152261" y="3198901"/>
              <a:ext cx="84455" cy="86995"/>
            </a:xfrm>
            <a:custGeom>
              <a:avLst/>
              <a:gdLst/>
              <a:ahLst/>
              <a:cxnLst/>
              <a:rect l="l" t="t" r="r" b="b"/>
              <a:pathLst>
                <a:path w="84454" h="86995">
                  <a:moveTo>
                    <a:pt x="19596" y="0"/>
                  </a:moveTo>
                  <a:lnTo>
                    <a:pt x="84124" y="60159"/>
                  </a:lnTo>
                  <a:lnTo>
                    <a:pt x="0" y="86715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725107" y="1870329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0000FF"/>
                </a:solidFill>
                <a:latin typeface="Microsoft YaHei"/>
                <a:cs typeface="Microsoft YaHei"/>
              </a:rPr>
              <a:t>回传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916537" y="1923712"/>
            <a:ext cx="114935" cy="720090"/>
            <a:chOff x="7916537" y="1923712"/>
            <a:chExt cx="114935" cy="720090"/>
          </a:xfrm>
        </p:grpSpPr>
        <p:sp>
          <p:nvSpPr>
            <p:cNvPr id="62" name="object 62" descr=""/>
            <p:cNvSpPr/>
            <p:nvPr/>
          </p:nvSpPr>
          <p:spPr>
            <a:xfrm>
              <a:off x="7973697" y="1936416"/>
              <a:ext cx="0" cy="694690"/>
            </a:xfrm>
            <a:custGeom>
              <a:avLst/>
              <a:gdLst/>
              <a:ahLst/>
              <a:cxnLst/>
              <a:rect l="l" t="t" r="r" b="b"/>
              <a:pathLst>
                <a:path w="0" h="694689">
                  <a:moveTo>
                    <a:pt x="0" y="0"/>
                  </a:moveTo>
                  <a:lnTo>
                    <a:pt x="0" y="694550"/>
                  </a:lnTo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929247" y="2554771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929237" y="1936412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76200"/>
                  </a:moveTo>
                  <a:lnTo>
                    <a:pt x="44462" y="0"/>
                  </a:lnTo>
                  <a:lnTo>
                    <a:pt x="88900" y="76212"/>
                  </a:lnTo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8030774" y="203810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6EBE6A"/>
                </a:solidFill>
                <a:latin typeface="Microsoft YaHei"/>
                <a:cs typeface="Microsoft YaHei"/>
              </a:rPr>
              <a:t>回传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673011" y="1234109"/>
            <a:ext cx="8019415" cy="3342004"/>
            <a:chOff x="673011" y="1234109"/>
            <a:chExt cx="8019415" cy="3342004"/>
          </a:xfrm>
        </p:grpSpPr>
        <p:sp>
          <p:nvSpPr>
            <p:cNvPr id="67" name="object 67" descr=""/>
            <p:cNvSpPr/>
            <p:nvPr/>
          </p:nvSpPr>
          <p:spPr>
            <a:xfrm>
              <a:off x="6618048" y="1911271"/>
              <a:ext cx="928369" cy="222885"/>
            </a:xfrm>
            <a:custGeom>
              <a:avLst/>
              <a:gdLst/>
              <a:ahLst/>
              <a:cxnLst/>
              <a:rect l="l" t="t" r="r" b="b"/>
              <a:pathLst>
                <a:path w="928370" h="222885">
                  <a:moveTo>
                    <a:pt x="341363" y="0"/>
                  </a:moveTo>
                  <a:lnTo>
                    <a:pt x="0" y="222796"/>
                  </a:lnTo>
                </a:path>
                <a:path w="928370" h="222885">
                  <a:moveTo>
                    <a:pt x="341363" y="0"/>
                  </a:moveTo>
                  <a:lnTo>
                    <a:pt x="928116" y="222465"/>
                  </a:lnTo>
                </a:path>
              </a:pathLst>
            </a:custGeom>
            <a:ln w="15875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412729" y="1911270"/>
              <a:ext cx="1517015" cy="895985"/>
            </a:xfrm>
            <a:custGeom>
              <a:avLst/>
              <a:gdLst/>
              <a:ahLst/>
              <a:cxnLst/>
              <a:rect l="l" t="t" r="r" b="b"/>
              <a:pathLst>
                <a:path w="1517015" h="895985">
                  <a:moveTo>
                    <a:pt x="1516608" y="0"/>
                  </a:moveTo>
                  <a:lnTo>
                    <a:pt x="0" y="895832"/>
                  </a:lnTo>
                </a:path>
              </a:pathLst>
            </a:custGeom>
            <a:ln w="15875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903012" y="1578831"/>
              <a:ext cx="1400810" cy="729615"/>
            </a:xfrm>
            <a:custGeom>
              <a:avLst/>
              <a:gdLst/>
              <a:ahLst/>
              <a:cxnLst/>
              <a:rect l="l" t="t" r="r" b="b"/>
              <a:pathLst>
                <a:path w="1400810" h="729614">
                  <a:moveTo>
                    <a:pt x="0" y="0"/>
                  </a:moveTo>
                  <a:lnTo>
                    <a:pt x="1400759" y="729145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303767" y="2285560"/>
              <a:ext cx="1922145" cy="22860"/>
            </a:xfrm>
            <a:custGeom>
              <a:avLst/>
              <a:gdLst/>
              <a:ahLst/>
              <a:cxnLst/>
              <a:rect l="l" t="t" r="r" b="b"/>
              <a:pathLst>
                <a:path w="1922145" h="22860">
                  <a:moveTo>
                    <a:pt x="0" y="22415"/>
                  </a:moveTo>
                  <a:lnTo>
                    <a:pt x="1921776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148838" y="2242000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0" y="0"/>
                  </a:moveTo>
                  <a:lnTo>
                    <a:pt x="76708" y="43561"/>
                  </a:lnTo>
                  <a:lnTo>
                    <a:pt x="1028" y="8890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257148" y="1757695"/>
              <a:ext cx="3383915" cy="0"/>
            </a:xfrm>
            <a:custGeom>
              <a:avLst/>
              <a:gdLst/>
              <a:ahLst/>
              <a:cxnLst/>
              <a:rect l="l" t="t" r="r" b="b"/>
              <a:pathLst>
                <a:path w="3383915" h="0">
                  <a:moveTo>
                    <a:pt x="0" y="0"/>
                  </a:moveTo>
                  <a:lnTo>
                    <a:pt x="3383876" y="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564833" y="1713241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254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85711" y="2455989"/>
              <a:ext cx="7994015" cy="2107565"/>
            </a:xfrm>
            <a:custGeom>
              <a:avLst/>
              <a:gdLst/>
              <a:ahLst/>
              <a:cxnLst/>
              <a:rect l="l" t="t" r="r" b="b"/>
              <a:pathLst>
                <a:path w="7994015" h="2107565">
                  <a:moveTo>
                    <a:pt x="0" y="0"/>
                  </a:moveTo>
                  <a:lnTo>
                    <a:pt x="7994002" y="0"/>
                  </a:lnTo>
                  <a:lnTo>
                    <a:pt x="7994002" y="2107374"/>
                  </a:lnTo>
                  <a:lnTo>
                    <a:pt x="0" y="2107374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222268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852256" y="2865417"/>
              <a:ext cx="1290320" cy="1236980"/>
            </a:xfrm>
            <a:custGeom>
              <a:avLst/>
              <a:gdLst/>
              <a:ahLst/>
              <a:cxnLst/>
              <a:rect l="l" t="t" r="r" b="b"/>
              <a:pathLst>
                <a:path w="1290320" h="1236979">
                  <a:moveTo>
                    <a:pt x="606018" y="0"/>
                  </a:moveTo>
                  <a:lnTo>
                    <a:pt x="0" y="1236637"/>
                  </a:lnTo>
                </a:path>
                <a:path w="1290320" h="1236979">
                  <a:moveTo>
                    <a:pt x="606018" y="0"/>
                  </a:moveTo>
                  <a:lnTo>
                    <a:pt x="1290231" y="1236637"/>
                  </a:lnTo>
                </a:path>
              </a:pathLst>
            </a:custGeom>
            <a:ln w="25400">
              <a:solidFill>
                <a:srgbClr val="EE90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303467" y="3424052"/>
              <a:ext cx="776605" cy="683260"/>
            </a:xfrm>
            <a:custGeom>
              <a:avLst/>
              <a:gdLst/>
              <a:ahLst/>
              <a:cxnLst/>
              <a:rect l="l" t="t" r="r" b="b"/>
              <a:pathLst>
                <a:path w="776604" h="683260">
                  <a:moveTo>
                    <a:pt x="367969" y="0"/>
                  </a:moveTo>
                  <a:lnTo>
                    <a:pt x="0" y="682777"/>
                  </a:lnTo>
                </a:path>
                <a:path w="776604" h="683260">
                  <a:moveTo>
                    <a:pt x="367969" y="0"/>
                  </a:moveTo>
                  <a:lnTo>
                    <a:pt x="776236" y="678002"/>
                  </a:lnTo>
                </a:path>
              </a:pathLst>
            </a:custGeom>
            <a:ln w="25400">
              <a:solidFill>
                <a:srgbClr val="EE90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871441" y="3424052"/>
              <a:ext cx="727710" cy="683260"/>
            </a:xfrm>
            <a:custGeom>
              <a:avLst/>
              <a:gdLst/>
              <a:ahLst/>
              <a:cxnLst/>
              <a:rect l="l" t="t" r="r" b="b"/>
              <a:pathLst>
                <a:path w="727709" h="683260">
                  <a:moveTo>
                    <a:pt x="241350" y="0"/>
                  </a:moveTo>
                  <a:lnTo>
                    <a:pt x="0" y="682777"/>
                  </a:lnTo>
                </a:path>
                <a:path w="727709" h="683260">
                  <a:moveTo>
                    <a:pt x="241350" y="0"/>
                  </a:moveTo>
                  <a:lnTo>
                    <a:pt x="727430" y="678002"/>
                  </a:lnTo>
                </a:path>
              </a:pathLst>
            </a:custGeom>
            <a:ln w="25400">
              <a:solidFill>
                <a:srgbClr val="EE90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45109" y="1246809"/>
              <a:ext cx="3188970" cy="3237230"/>
            </a:xfrm>
            <a:custGeom>
              <a:avLst/>
              <a:gdLst/>
              <a:ahLst/>
              <a:cxnLst/>
              <a:rect l="l" t="t" r="r" b="b"/>
              <a:pathLst>
                <a:path w="3188970" h="3237229">
                  <a:moveTo>
                    <a:pt x="0" y="0"/>
                  </a:moveTo>
                  <a:lnTo>
                    <a:pt x="3188728" y="0"/>
                  </a:lnTo>
                  <a:lnTo>
                    <a:pt x="3188728" y="3237217"/>
                  </a:lnTo>
                  <a:lnTo>
                    <a:pt x="0" y="323721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750384" y="1246809"/>
              <a:ext cx="3820795" cy="3237230"/>
            </a:xfrm>
            <a:custGeom>
              <a:avLst/>
              <a:gdLst/>
              <a:ahLst/>
              <a:cxnLst/>
              <a:rect l="l" t="t" r="r" b="b"/>
              <a:pathLst>
                <a:path w="3820795" h="3237229">
                  <a:moveTo>
                    <a:pt x="0" y="0"/>
                  </a:moveTo>
                  <a:lnTo>
                    <a:pt x="3820299" y="0"/>
                  </a:lnTo>
                  <a:lnTo>
                    <a:pt x="3820299" y="3237217"/>
                  </a:lnTo>
                  <a:lnTo>
                    <a:pt x="0" y="323721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6EB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093991" y="3129884"/>
              <a:ext cx="539115" cy="483234"/>
            </a:xfrm>
            <a:custGeom>
              <a:avLst/>
              <a:gdLst/>
              <a:ahLst/>
              <a:cxnLst/>
              <a:rect l="l" t="t" r="r" b="b"/>
              <a:pathLst>
                <a:path w="539114" h="483235">
                  <a:moveTo>
                    <a:pt x="297789" y="0"/>
                  </a:moveTo>
                  <a:lnTo>
                    <a:pt x="297789" y="120662"/>
                  </a:lnTo>
                  <a:lnTo>
                    <a:pt x="0" y="120662"/>
                  </a:lnTo>
                  <a:lnTo>
                    <a:pt x="0" y="361975"/>
                  </a:lnTo>
                  <a:lnTo>
                    <a:pt x="297789" y="361975"/>
                  </a:lnTo>
                  <a:lnTo>
                    <a:pt x="297789" y="482638"/>
                  </a:lnTo>
                  <a:lnTo>
                    <a:pt x="539102" y="241325"/>
                  </a:lnTo>
                  <a:lnTo>
                    <a:pt x="297789" y="0"/>
                  </a:lnTo>
                  <a:close/>
                </a:path>
              </a:pathLst>
            </a:custGeom>
            <a:solidFill>
              <a:srgbClr val="B1B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1572117" y="3292892"/>
            <a:ext cx="4394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0000FF"/>
                </a:solidFill>
                <a:latin typeface="Arial"/>
                <a:cs typeface="Arial"/>
              </a:rPr>
              <a:t>RAN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6218793" y="3442435"/>
            <a:ext cx="4394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6EBE6A"/>
                </a:solidFill>
                <a:latin typeface="Arial"/>
                <a:cs typeface="Arial"/>
              </a:rPr>
              <a:t>RAN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452614" y="4601781"/>
            <a:ext cx="8277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Microsoft YaHei"/>
                <a:cs typeface="Microsoft YaHei"/>
              </a:rPr>
              <a:t>RAN</a:t>
            </a:r>
            <a:r>
              <a:rPr dirty="0" sz="1800">
                <a:latin typeface="Microsoft YaHei"/>
                <a:cs typeface="Microsoft YaHei"/>
              </a:rPr>
              <a:t>网络引入</a:t>
            </a:r>
            <a:r>
              <a:rPr dirty="0" sz="1800" spc="-20">
                <a:latin typeface="Microsoft YaHei"/>
                <a:cs typeface="Microsoft YaHei"/>
              </a:rPr>
              <a:t>CU</a:t>
            </a:r>
            <a:r>
              <a:rPr dirty="0" sz="1800">
                <a:latin typeface="Microsoft YaHei"/>
                <a:cs typeface="Microsoft YaHei"/>
              </a:rPr>
              <a:t>、</a:t>
            </a:r>
            <a:r>
              <a:rPr dirty="0" sz="1800" spc="-10">
                <a:latin typeface="Microsoft YaHei"/>
                <a:cs typeface="Microsoft YaHei"/>
              </a:rPr>
              <a:t>DU，组网更灵活，利于多小区的集中控制，利于多功能的实现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title"/>
          </p:nvPr>
        </p:nvSpPr>
        <p:spPr>
          <a:xfrm>
            <a:off x="2322702" y="140124"/>
            <a:ext cx="44983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移动通信网络架构的演进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0372" y="109847"/>
            <a:ext cx="287337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5GC</a:t>
            </a:r>
            <a:r>
              <a:rPr dirty="0" spc="-40"/>
              <a:t>的主要特征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78614" y="1073315"/>
            <a:ext cx="2052320" cy="864235"/>
          </a:xfrm>
          <a:prstGeom prst="rect">
            <a:avLst/>
          </a:prstGeom>
          <a:ln w="6350">
            <a:solidFill>
              <a:srgbClr val="89A4A7"/>
            </a:solidFill>
          </a:ln>
        </p:spPr>
        <p:txBody>
          <a:bodyPr wrap="square" lIns="0" tIns="11239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885"/>
              </a:spcBef>
            </a:pPr>
            <a:r>
              <a:rPr dirty="0" sz="1200" spc="-10" b="1">
                <a:latin typeface="Microsoft YaHei"/>
                <a:cs typeface="Microsoft YaHei"/>
              </a:rPr>
              <a:t>网络功能软件化</a:t>
            </a:r>
            <a:endParaRPr sz="1200">
              <a:latin typeface="Microsoft YaHei"/>
              <a:cs typeface="Microsoft YaHei"/>
            </a:endParaRPr>
          </a:p>
          <a:p>
            <a:pPr marL="348615" indent="-257810">
              <a:lnSpc>
                <a:spcPct val="100000"/>
              </a:lnSpc>
              <a:spcBef>
                <a:spcPts val="1085"/>
              </a:spcBef>
              <a:buFont typeface="Wingdings"/>
              <a:buChar char=""/>
              <a:tabLst>
                <a:tab pos="348615" algn="l"/>
              </a:tabLst>
            </a:pPr>
            <a:r>
              <a:rPr dirty="0" sz="1100" spc="-20">
                <a:solidFill>
                  <a:srgbClr val="0000FF"/>
                </a:solidFill>
                <a:latin typeface="Microsoft YaHei"/>
                <a:cs typeface="Microsoft YaHei"/>
              </a:rPr>
              <a:t>网络功能软件</a:t>
            </a:r>
            <a:r>
              <a:rPr dirty="0" sz="1100" spc="-35">
                <a:latin typeface="Microsoft YaHei"/>
                <a:cs typeface="Microsoft YaHei"/>
              </a:rPr>
              <a:t>化，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78614" y="3125546"/>
            <a:ext cx="2052320" cy="1026160"/>
          </a:xfrm>
          <a:prstGeom prst="rect">
            <a:avLst/>
          </a:prstGeom>
          <a:ln w="6350">
            <a:solidFill>
              <a:srgbClr val="89A4A7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1135"/>
              </a:spcBef>
            </a:pPr>
            <a:r>
              <a:rPr dirty="0" sz="1100" spc="-25" b="1">
                <a:latin typeface="Microsoft YaHei"/>
                <a:cs typeface="Microsoft YaHei"/>
              </a:rPr>
              <a:t>软件定义网络</a:t>
            </a:r>
            <a:endParaRPr sz="1100">
              <a:latin typeface="Microsoft YaHei"/>
              <a:cs typeface="Microsoft YaHei"/>
            </a:endParaRPr>
          </a:p>
          <a:p>
            <a:pPr marL="325755" indent="-257810">
              <a:lnSpc>
                <a:spcPct val="100000"/>
              </a:lnSpc>
              <a:spcBef>
                <a:spcPts val="894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1100" spc="-25">
                <a:latin typeface="Microsoft YaHei"/>
                <a:cs typeface="Microsoft YaHei"/>
              </a:rPr>
              <a:t>网络拓扑和路由按需设计</a:t>
            </a:r>
            <a:endParaRPr sz="1100">
              <a:latin typeface="Microsoft YaHei"/>
              <a:cs typeface="Microsoft YaHei"/>
            </a:endParaRPr>
          </a:p>
          <a:p>
            <a:pPr marL="325755" indent="-257810">
              <a:lnSpc>
                <a:spcPct val="100000"/>
              </a:lnSpc>
              <a:spcBef>
                <a:spcPts val="925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1100" spc="-25">
                <a:latin typeface="Microsoft YaHei"/>
                <a:cs typeface="Microsoft YaHei"/>
              </a:rPr>
              <a:t>流量可以调度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96111" y="2369464"/>
            <a:ext cx="2160270" cy="918210"/>
          </a:xfrm>
          <a:prstGeom prst="rect">
            <a:avLst/>
          </a:prstGeom>
          <a:ln w="6350">
            <a:solidFill>
              <a:srgbClr val="89A4A7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80"/>
              </a:spcBef>
            </a:pPr>
            <a:r>
              <a:rPr dirty="0" sz="1100" spc="-25" b="1">
                <a:latin typeface="Microsoft YaHei"/>
                <a:cs typeface="Microsoft YaHei"/>
              </a:rPr>
              <a:t>控制和转发分离</a:t>
            </a:r>
            <a:endParaRPr sz="1100">
              <a:latin typeface="Microsoft YaHei"/>
              <a:cs typeface="Microsoft YaHei"/>
            </a:endParaRPr>
          </a:p>
          <a:p>
            <a:pPr marL="325755" marR="111760" indent="-257810">
              <a:lnSpc>
                <a:spcPct val="100000"/>
              </a:lnSpc>
              <a:spcBef>
                <a:spcPts val="225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900" spc="-5">
                <a:latin typeface="Microsoft YaHei"/>
                <a:cs typeface="Microsoft YaHei"/>
              </a:rPr>
              <a:t>控制面集中部署，便于集中控制和</a:t>
            </a:r>
            <a:r>
              <a:rPr dirty="0" sz="900" spc="-25">
                <a:latin typeface="Microsoft YaHei"/>
                <a:cs typeface="Microsoft YaHei"/>
              </a:rPr>
              <a:t>管理</a:t>
            </a:r>
            <a:endParaRPr sz="900">
              <a:latin typeface="Microsoft YaHei"/>
              <a:cs typeface="Microsoft YaHei"/>
            </a:endParaRPr>
          </a:p>
          <a:p>
            <a:pPr marL="325755" marR="111760" indent="-257810">
              <a:lnSpc>
                <a:spcPct val="100000"/>
              </a:lnSpc>
              <a:spcBef>
                <a:spcPts val="215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900" spc="-5">
                <a:latin typeface="Microsoft YaHei"/>
                <a:cs typeface="Microsoft YaHei"/>
              </a:rPr>
              <a:t>转发平面按需集中或分布部署，降</a:t>
            </a:r>
            <a:r>
              <a:rPr dirty="0" sz="900" spc="-10">
                <a:latin typeface="Microsoft YaHei"/>
                <a:cs typeface="Microsoft YaHei"/>
              </a:rPr>
              <a:t>低时延减少带宽消耗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96111" y="1079703"/>
            <a:ext cx="2160270" cy="1127760"/>
          </a:xfrm>
          <a:prstGeom prst="rect">
            <a:avLst/>
          </a:prstGeom>
          <a:ln w="6350">
            <a:solidFill>
              <a:srgbClr val="89A4A7"/>
            </a:solidFill>
          </a:ln>
        </p:spPr>
        <p:txBody>
          <a:bodyPr wrap="square" lIns="0" tIns="118110" rIns="0" bIns="0" rtlCol="0" vert="horz">
            <a:spAutoFit/>
          </a:bodyPr>
          <a:lstStyle/>
          <a:p>
            <a:pPr marL="122555">
              <a:lnSpc>
                <a:spcPct val="100000"/>
              </a:lnSpc>
              <a:spcBef>
                <a:spcPts val="930"/>
              </a:spcBef>
            </a:pPr>
            <a:r>
              <a:rPr dirty="0" sz="1100" spc="-25" b="1">
                <a:latin typeface="Microsoft YaHei"/>
                <a:cs typeface="Microsoft YaHei"/>
              </a:rPr>
              <a:t>服务化架构和流程</a:t>
            </a:r>
            <a:endParaRPr sz="1100">
              <a:latin typeface="Microsoft YaHei"/>
              <a:cs typeface="Microsoft YaHei"/>
            </a:endParaRPr>
          </a:p>
          <a:p>
            <a:pPr marL="379730" indent="-257175">
              <a:lnSpc>
                <a:spcPct val="100000"/>
              </a:lnSpc>
              <a:spcBef>
                <a:spcPts val="895"/>
              </a:spcBef>
              <a:buFont typeface="Wingdings"/>
              <a:buChar char=""/>
              <a:tabLst>
                <a:tab pos="379730" algn="l"/>
              </a:tabLst>
            </a:pPr>
            <a:r>
              <a:rPr dirty="0" sz="1100" spc="-25">
                <a:latin typeface="Microsoft YaHei"/>
                <a:cs typeface="Microsoft YaHei"/>
              </a:rPr>
              <a:t>采用服务化/微服务化架构</a:t>
            </a:r>
            <a:endParaRPr sz="1100">
              <a:latin typeface="Microsoft YaHei"/>
              <a:cs typeface="Microsoft YaHei"/>
            </a:endParaRPr>
          </a:p>
          <a:p>
            <a:pPr marL="379730" indent="-257175">
              <a:lnSpc>
                <a:spcPct val="100000"/>
              </a:lnSpc>
              <a:spcBef>
                <a:spcPts val="919"/>
              </a:spcBef>
              <a:buFont typeface="Wingdings"/>
              <a:buChar char=""/>
              <a:tabLst>
                <a:tab pos="379730" algn="l"/>
              </a:tabLst>
            </a:pPr>
            <a:r>
              <a:rPr dirty="0" sz="1100" spc="-25">
                <a:latin typeface="Microsoft YaHei"/>
                <a:cs typeface="Microsoft YaHei"/>
              </a:rPr>
              <a:t>简化流程，网络功能可重用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322022" y="1186764"/>
            <a:ext cx="2270125" cy="2969260"/>
            <a:chOff x="3322022" y="1186764"/>
            <a:chExt cx="2270125" cy="296926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356" y="1186764"/>
              <a:ext cx="832269" cy="13969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322022" y="2255089"/>
              <a:ext cx="1404620" cy="838835"/>
            </a:xfrm>
            <a:custGeom>
              <a:avLst/>
              <a:gdLst/>
              <a:ahLst/>
              <a:cxnLst/>
              <a:rect l="l" t="t" r="r" b="b"/>
              <a:pathLst>
                <a:path w="1404620" h="838835">
                  <a:moveTo>
                    <a:pt x="864146" y="0"/>
                  </a:moveTo>
                  <a:lnTo>
                    <a:pt x="841463" y="0"/>
                  </a:lnTo>
                  <a:lnTo>
                    <a:pt x="833399" y="4330"/>
                  </a:lnTo>
                  <a:lnTo>
                    <a:pt x="804875" y="34518"/>
                  </a:lnTo>
                  <a:lnTo>
                    <a:pt x="793953" y="84835"/>
                  </a:lnTo>
                  <a:lnTo>
                    <a:pt x="795388" y="97066"/>
                  </a:lnTo>
                  <a:lnTo>
                    <a:pt x="807796" y="136601"/>
                  </a:lnTo>
                  <a:lnTo>
                    <a:pt x="826122" y="160350"/>
                  </a:lnTo>
                  <a:lnTo>
                    <a:pt x="837818" y="172554"/>
                  </a:lnTo>
                  <a:lnTo>
                    <a:pt x="845883" y="186956"/>
                  </a:lnTo>
                  <a:lnTo>
                    <a:pt x="853160" y="202044"/>
                  </a:lnTo>
                  <a:lnTo>
                    <a:pt x="856792" y="215684"/>
                  </a:lnTo>
                  <a:lnTo>
                    <a:pt x="859726" y="230771"/>
                  </a:lnTo>
                  <a:lnTo>
                    <a:pt x="856792" y="259537"/>
                  </a:lnTo>
                  <a:lnTo>
                    <a:pt x="836333" y="298386"/>
                  </a:lnTo>
                  <a:lnTo>
                    <a:pt x="798309" y="327139"/>
                  </a:lnTo>
                  <a:lnTo>
                    <a:pt x="761796" y="338607"/>
                  </a:lnTo>
                  <a:lnTo>
                    <a:pt x="742035" y="340080"/>
                  </a:lnTo>
                  <a:lnTo>
                    <a:pt x="720851" y="340080"/>
                  </a:lnTo>
                  <a:lnTo>
                    <a:pt x="679195" y="325678"/>
                  </a:lnTo>
                  <a:lnTo>
                    <a:pt x="649960" y="298386"/>
                  </a:lnTo>
                  <a:lnTo>
                    <a:pt x="630199" y="254520"/>
                  </a:lnTo>
                  <a:lnTo>
                    <a:pt x="625779" y="222161"/>
                  </a:lnTo>
                  <a:lnTo>
                    <a:pt x="627278" y="207073"/>
                  </a:lnTo>
                  <a:lnTo>
                    <a:pt x="644105" y="166103"/>
                  </a:lnTo>
                  <a:lnTo>
                    <a:pt x="660869" y="146684"/>
                  </a:lnTo>
                  <a:lnTo>
                    <a:pt x="668223" y="138036"/>
                  </a:lnTo>
                  <a:lnTo>
                    <a:pt x="673353" y="128689"/>
                  </a:lnTo>
                  <a:lnTo>
                    <a:pt x="677710" y="119341"/>
                  </a:lnTo>
                  <a:lnTo>
                    <a:pt x="680631" y="109270"/>
                  </a:lnTo>
                  <a:lnTo>
                    <a:pt x="682129" y="99923"/>
                  </a:lnTo>
                  <a:lnTo>
                    <a:pt x="680631" y="89890"/>
                  </a:lnTo>
                  <a:lnTo>
                    <a:pt x="657948" y="53936"/>
                  </a:lnTo>
                  <a:lnTo>
                    <a:pt x="614870" y="30937"/>
                  </a:lnTo>
                  <a:lnTo>
                    <a:pt x="572439" y="19430"/>
                  </a:lnTo>
                  <a:lnTo>
                    <a:pt x="517588" y="15836"/>
                  </a:lnTo>
                  <a:lnTo>
                    <a:pt x="479577" y="15836"/>
                  </a:lnTo>
                  <a:lnTo>
                    <a:pt x="440842" y="16535"/>
                  </a:lnTo>
                  <a:lnTo>
                    <a:pt x="399910" y="19430"/>
                  </a:lnTo>
                  <a:lnTo>
                    <a:pt x="361886" y="23748"/>
                  </a:lnTo>
                  <a:lnTo>
                    <a:pt x="304901" y="32359"/>
                  </a:lnTo>
                  <a:lnTo>
                    <a:pt x="312889" y="59689"/>
                  </a:lnTo>
                  <a:lnTo>
                    <a:pt x="324586" y="95643"/>
                  </a:lnTo>
                  <a:lnTo>
                    <a:pt x="334136" y="136601"/>
                  </a:lnTo>
                  <a:lnTo>
                    <a:pt x="342137" y="179730"/>
                  </a:lnTo>
                  <a:lnTo>
                    <a:pt x="347979" y="221437"/>
                  </a:lnTo>
                  <a:lnTo>
                    <a:pt x="349478" y="241592"/>
                  </a:lnTo>
                  <a:lnTo>
                    <a:pt x="349478" y="259537"/>
                  </a:lnTo>
                  <a:lnTo>
                    <a:pt x="341426" y="296913"/>
                  </a:lnTo>
                  <a:lnTo>
                    <a:pt x="331215" y="310578"/>
                  </a:lnTo>
                  <a:lnTo>
                    <a:pt x="323164" y="317766"/>
                  </a:lnTo>
                  <a:lnTo>
                    <a:pt x="312889" y="323519"/>
                  </a:lnTo>
                  <a:lnTo>
                    <a:pt x="304901" y="328574"/>
                  </a:lnTo>
                  <a:lnTo>
                    <a:pt x="294639" y="332892"/>
                  </a:lnTo>
                  <a:lnTo>
                    <a:pt x="285140" y="335749"/>
                  </a:lnTo>
                  <a:lnTo>
                    <a:pt x="263956" y="338607"/>
                  </a:lnTo>
                  <a:lnTo>
                    <a:pt x="254406" y="338607"/>
                  </a:lnTo>
                  <a:lnTo>
                    <a:pt x="244208" y="337184"/>
                  </a:lnTo>
                  <a:lnTo>
                    <a:pt x="236143" y="335749"/>
                  </a:lnTo>
                  <a:lnTo>
                    <a:pt x="225945" y="334327"/>
                  </a:lnTo>
                  <a:lnTo>
                    <a:pt x="217893" y="331431"/>
                  </a:lnTo>
                  <a:lnTo>
                    <a:pt x="209118" y="327139"/>
                  </a:lnTo>
                  <a:lnTo>
                    <a:pt x="193776" y="317766"/>
                  </a:lnTo>
                  <a:lnTo>
                    <a:pt x="187934" y="310578"/>
                  </a:lnTo>
                  <a:lnTo>
                    <a:pt x="178384" y="302666"/>
                  </a:lnTo>
                  <a:lnTo>
                    <a:pt x="167462" y="295490"/>
                  </a:lnTo>
                  <a:lnTo>
                    <a:pt x="154266" y="290461"/>
                  </a:lnTo>
                  <a:lnTo>
                    <a:pt x="138937" y="287566"/>
                  </a:lnTo>
                  <a:lnTo>
                    <a:pt x="125031" y="286143"/>
                  </a:lnTo>
                  <a:lnTo>
                    <a:pt x="108203" y="286143"/>
                  </a:lnTo>
                  <a:lnTo>
                    <a:pt x="62128" y="296913"/>
                  </a:lnTo>
                  <a:lnTo>
                    <a:pt x="22682" y="328574"/>
                  </a:lnTo>
                  <a:lnTo>
                    <a:pt x="18326" y="335749"/>
                  </a:lnTo>
                  <a:lnTo>
                    <a:pt x="13195" y="343674"/>
                  </a:lnTo>
                  <a:lnTo>
                    <a:pt x="10274" y="352285"/>
                  </a:lnTo>
                  <a:lnTo>
                    <a:pt x="5854" y="360197"/>
                  </a:lnTo>
                  <a:lnTo>
                    <a:pt x="2933" y="370268"/>
                  </a:lnTo>
                  <a:lnTo>
                    <a:pt x="0" y="392544"/>
                  </a:lnTo>
                  <a:lnTo>
                    <a:pt x="0" y="412661"/>
                  </a:lnTo>
                  <a:lnTo>
                    <a:pt x="1498" y="422744"/>
                  </a:lnTo>
                  <a:lnTo>
                    <a:pt x="2933" y="430656"/>
                  </a:lnTo>
                  <a:lnTo>
                    <a:pt x="8775" y="447179"/>
                  </a:lnTo>
                  <a:lnTo>
                    <a:pt x="13195" y="454367"/>
                  </a:lnTo>
                  <a:lnTo>
                    <a:pt x="16840" y="461581"/>
                  </a:lnTo>
                  <a:lnTo>
                    <a:pt x="45364" y="488886"/>
                  </a:lnTo>
                  <a:lnTo>
                    <a:pt x="88506" y="505409"/>
                  </a:lnTo>
                  <a:lnTo>
                    <a:pt x="102349" y="508304"/>
                  </a:lnTo>
                  <a:lnTo>
                    <a:pt x="118465" y="508304"/>
                  </a:lnTo>
                  <a:lnTo>
                    <a:pt x="155765" y="499694"/>
                  </a:lnTo>
                  <a:lnTo>
                    <a:pt x="172529" y="486028"/>
                  </a:lnTo>
                  <a:lnTo>
                    <a:pt x="179870" y="478802"/>
                  </a:lnTo>
                  <a:lnTo>
                    <a:pt x="187934" y="473786"/>
                  </a:lnTo>
                  <a:lnTo>
                    <a:pt x="198132" y="469455"/>
                  </a:lnTo>
                  <a:lnTo>
                    <a:pt x="207619" y="466597"/>
                  </a:lnTo>
                  <a:lnTo>
                    <a:pt x="230301" y="466597"/>
                  </a:lnTo>
                  <a:lnTo>
                    <a:pt x="239788" y="469455"/>
                  </a:lnTo>
                  <a:lnTo>
                    <a:pt x="251485" y="472351"/>
                  </a:lnTo>
                  <a:lnTo>
                    <a:pt x="289496" y="494639"/>
                  </a:lnTo>
                  <a:lnTo>
                    <a:pt x="304901" y="527723"/>
                  </a:lnTo>
                  <a:lnTo>
                    <a:pt x="303402" y="550735"/>
                  </a:lnTo>
                  <a:lnTo>
                    <a:pt x="300481" y="580199"/>
                  </a:lnTo>
                  <a:lnTo>
                    <a:pt x="297560" y="616140"/>
                  </a:lnTo>
                  <a:lnTo>
                    <a:pt x="294639" y="693051"/>
                  </a:lnTo>
                  <a:lnTo>
                    <a:pt x="294639" y="733323"/>
                  </a:lnTo>
                  <a:lnTo>
                    <a:pt x="300481" y="787958"/>
                  </a:lnTo>
                  <a:lnTo>
                    <a:pt x="339991" y="813130"/>
                  </a:lnTo>
                  <a:lnTo>
                    <a:pt x="353834" y="814552"/>
                  </a:lnTo>
                  <a:lnTo>
                    <a:pt x="390423" y="814552"/>
                  </a:lnTo>
                  <a:lnTo>
                    <a:pt x="429145" y="813130"/>
                  </a:lnTo>
                  <a:lnTo>
                    <a:pt x="562940" y="804519"/>
                  </a:lnTo>
                  <a:lnTo>
                    <a:pt x="606094" y="803782"/>
                  </a:lnTo>
                  <a:lnTo>
                    <a:pt x="617016" y="803782"/>
                  </a:lnTo>
                  <a:lnTo>
                    <a:pt x="627278" y="800925"/>
                  </a:lnTo>
                  <a:lnTo>
                    <a:pt x="656526" y="767841"/>
                  </a:lnTo>
                  <a:lnTo>
                    <a:pt x="656526" y="759231"/>
                  </a:lnTo>
                  <a:lnTo>
                    <a:pt x="655027" y="749884"/>
                  </a:lnTo>
                  <a:lnTo>
                    <a:pt x="652106" y="738377"/>
                  </a:lnTo>
                  <a:lnTo>
                    <a:pt x="648461" y="729030"/>
                  </a:lnTo>
                  <a:lnTo>
                    <a:pt x="641184" y="718223"/>
                  </a:lnTo>
                  <a:lnTo>
                    <a:pt x="633844" y="705294"/>
                  </a:lnTo>
                  <a:lnTo>
                    <a:pt x="624357" y="693051"/>
                  </a:lnTo>
                  <a:lnTo>
                    <a:pt x="613371" y="680846"/>
                  </a:lnTo>
                  <a:lnTo>
                    <a:pt x="607529" y="673671"/>
                  </a:lnTo>
                  <a:lnTo>
                    <a:pt x="603173" y="667181"/>
                  </a:lnTo>
                  <a:lnTo>
                    <a:pt x="599465" y="660006"/>
                  </a:lnTo>
                  <a:lnTo>
                    <a:pt x="595109" y="652818"/>
                  </a:lnTo>
                  <a:lnTo>
                    <a:pt x="590689" y="637717"/>
                  </a:lnTo>
                  <a:lnTo>
                    <a:pt x="589267" y="622630"/>
                  </a:lnTo>
                  <a:lnTo>
                    <a:pt x="589267" y="607529"/>
                  </a:lnTo>
                  <a:lnTo>
                    <a:pt x="606094" y="562241"/>
                  </a:lnTo>
                  <a:lnTo>
                    <a:pt x="638263" y="524827"/>
                  </a:lnTo>
                  <a:lnTo>
                    <a:pt x="683552" y="501116"/>
                  </a:lnTo>
                  <a:lnTo>
                    <a:pt x="717143" y="496061"/>
                  </a:lnTo>
                  <a:lnTo>
                    <a:pt x="735469" y="496798"/>
                  </a:lnTo>
                  <a:lnTo>
                    <a:pt x="781545" y="516216"/>
                  </a:lnTo>
                  <a:lnTo>
                    <a:pt x="813714" y="549262"/>
                  </a:lnTo>
                  <a:lnTo>
                    <a:pt x="831976" y="593864"/>
                  </a:lnTo>
                  <a:lnTo>
                    <a:pt x="833399" y="607529"/>
                  </a:lnTo>
                  <a:lnTo>
                    <a:pt x="833399" y="622630"/>
                  </a:lnTo>
                  <a:lnTo>
                    <a:pt x="830478" y="637717"/>
                  </a:lnTo>
                  <a:lnTo>
                    <a:pt x="826122" y="651357"/>
                  </a:lnTo>
                  <a:lnTo>
                    <a:pt x="820991" y="664324"/>
                  </a:lnTo>
                  <a:lnTo>
                    <a:pt x="810793" y="675093"/>
                  </a:lnTo>
                  <a:lnTo>
                    <a:pt x="775703" y="715365"/>
                  </a:lnTo>
                  <a:lnTo>
                    <a:pt x="753732" y="754900"/>
                  </a:lnTo>
                  <a:lnTo>
                    <a:pt x="753732" y="769264"/>
                  </a:lnTo>
                  <a:lnTo>
                    <a:pt x="754443" y="775754"/>
                  </a:lnTo>
                  <a:lnTo>
                    <a:pt x="758863" y="782929"/>
                  </a:lnTo>
                  <a:lnTo>
                    <a:pt x="764717" y="789419"/>
                  </a:lnTo>
                  <a:lnTo>
                    <a:pt x="770559" y="796607"/>
                  </a:lnTo>
                  <a:lnTo>
                    <a:pt x="804875" y="817448"/>
                  </a:lnTo>
                  <a:lnTo>
                    <a:pt x="882395" y="835405"/>
                  </a:lnTo>
                  <a:lnTo>
                    <a:pt x="929906" y="838301"/>
                  </a:lnTo>
                  <a:lnTo>
                    <a:pt x="977468" y="838301"/>
                  </a:lnTo>
                  <a:lnTo>
                    <a:pt x="1024191" y="832548"/>
                  </a:lnTo>
                  <a:lnTo>
                    <a:pt x="1046149" y="826795"/>
                  </a:lnTo>
                  <a:lnTo>
                    <a:pt x="1067346" y="821778"/>
                  </a:lnTo>
                  <a:lnTo>
                    <a:pt x="1101001" y="803782"/>
                  </a:lnTo>
                  <a:lnTo>
                    <a:pt x="1113408" y="751306"/>
                  </a:lnTo>
                  <a:lnTo>
                    <a:pt x="1113408" y="731888"/>
                  </a:lnTo>
                  <a:lnTo>
                    <a:pt x="1112697" y="709612"/>
                  </a:lnTo>
                  <a:lnTo>
                    <a:pt x="1106855" y="665759"/>
                  </a:lnTo>
                  <a:lnTo>
                    <a:pt x="1102436" y="642010"/>
                  </a:lnTo>
                  <a:lnTo>
                    <a:pt x="1092949" y="598182"/>
                  </a:lnTo>
                  <a:lnTo>
                    <a:pt x="1085659" y="555015"/>
                  </a:lnTo>
                  <a:lnTo>
                    <a:pt x="1082738" y="519074"/>
                  </a:lnTo>
                  <a:lnTo>
                    <a:pt x="1084173" y="503974"/>
                  </a:lnTo>
                  <a:lnTo>
                    <a:pt x="1088593" y="491782"/>
                  </a:lnTo>
                  <a:lnTo>
                    <a:pt x="1092949" y="478802"/>
                  </a:lnTo>
                  <a:lnTo>
                    <a:pt x="1136091" y="434987"/>
                  </a:lnTo>
                  <a:lnTo>
                    <a:pt x="1158773" y="425640"/>
                  </a:lnTo>
                  <a:lnTo>
                    <a:pt x="1169682" y="421309"/>
                  </a:lnTo>
                  <a:lnTo>
                    <a:pt x="1181379" y="419887"/>
                  </a:lnTo>
                  <a:lnTo>
                    <a:pt x="1192364" y="419887"/>
                  </a:lnTo>
                  <a:lnTo>
                    <a:pt x="1213548" y="425640"/>
                  </a:lnTo>
                  <a:lnTo>
                    <a:pt x="1223098" y="430656"/>
                  </a:lnTo>
                  <a:lnTo>
                    <a:pt x="1233309" y="437845"/>
                  </a:lnTo>
                  <a:lnTo>
                    <a:pt x="1250137" y="457263"/>
                  </a:lnTo>
                  <a:lnTo>
                    <a:pt x="1261122" y="463702"/>
                  </a:lnTo>
                  <a:lnTo>
                    <a:pt x="1272032" y="469455"/>
                  </a:lnTo>
                  <a:lnTo>
                    <a:pt x="1285938" y="473786"/>
                  </a:lnTo>
                  <a:lnTo>
                    <a:pt x="1312976" y="473786"/>
                  </a:lnTo>
                  <a:lnTo>
                    <a:pt x="1352486" y="461581"/>
                  </a:lnTo>
                  <a:lnTo>
                    <a:pt x="1386077" y="436410"/>
                  </a:lnTo>
                  <a:lnTo>
                    <a:pt x="1402905" y="401891"/>
                  </a:lnTo>
                  <a:lnTo>
                    <a:pt x="1404404" y="389699"/>
                  </a:lnTo>
                  <a:lnTo>
                    <a:pt x="1402905" y="370268"/>
                  </a:lnTo>
                  <a:lnTo>
                    <a:pt x="1386077" y="323519"/>
                  </a:lnTo>
                  <a:lnTo>
                    <a:pt x="1352486" y="292633"/>
                  </a:lnTo>
                  <a:lnTo>
                    <a:pt x="1312976" y="277533"/>
                  </a:lnTo>
                  <a:lnTo>
                    <a:pt x="1299133" y="276059"/>
                  </a:lnTo>
                  <a:lnTo>
                    <a:pt x="1272032" y="278955"/>
                  </a:lnTo>
                  <a:lnTo>
                    <a:pt x="1261122" y="283286"/>
                  </a:lnTo>
                  <a:lnTo>
                    <a:pt x="1250137" y="289039"/>
                  </a:lnTo>
                  <a:lnTo>
                    <a:pt x="1233309" y="304139"/>
                  </a:lnTo>
                  <a:lnTo>
                    <a:pt x="1221613" y="309156"/>
                  </a:lnTo>
                  <a:lnTo>
                    <a:pt x="1210627" y="314909"/>
                  </a:lnTo>
                  <a:lnTo>
                    <a:pt x="1198219" y="317766"/>
                  </a:lnTo>
                  <a:lnTo>
                    <a:pt x="1172616" y="320662"/>
                  </a:lnTo>
                  <a:lnTo>
                    <a:pt x="1160195" y="320662"/>
                  </a:lnTo>
                  <a:lnTo>
                    <a:pt x="1134592" y="314909"/>
                  </a:lnTo>
                  <a:lnTo>
                    <a:pt x="1122184" y="310578"/>
                  </a:lnTo>
                  <a:lnTo>
                    <a:pt x="1111199" y="306997"/>
                  </a:lnTo>
                  <a:lnTo>
                    <a:pt x="1081252" y="276059"/>
                  </a:lnTo>
                  <a:lnTo>
                    <a:pt x="1077607" y="250189"/>
                  </a:lnTo>
                  <a:lnTo>
                    <a:pt x="1077607" y="222161"/>
                  </a:lnTo>
                  <a:lnTo>
                    <a:pt x="1082738" y="150964"/>
                  </a:lnTo>
                  <a:lnTo>
                    <a:pt x="1091514" y="76225"/>
                  </a:lnTo>
                  <a:lnTo>
                    <a:pt x="1101001" y="19430"/>
                  </a:lnTo>
                  <a:lnTo>
                    <a:pt x="1054925" y="17995"/>
                  </a:lnTo>
                  <a:lnTo>
                    <a:pt x="1013993" y="15836"/>
                  </a:lnTo>
                  <a:lnTo>
                    <a:pt x="941603" y="10083"/>
                  </a:lnTo>
                  <a:lnTo>
                    <a:pt x="910208" y="5753"/>
                  </a:lnTo>
                  <a:lnTo>
                    <a:pt x="883894" y="2895"/>
                  </a:lnTo>
                  <a:lnTo>
                    <a:pt x="864146" y="0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0951" y="1196073"/>
              <a:ext cx="1385760" cy="19041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153565" y="2777157"/>
              <a:ext cx="1386205" cy="1092835"/>
            </a:xfrm>
            <a:custGeom>
              <a:avLst/>
              <a:gdLst/>
              <a:ahLst/>
              <a:cxnLst/>
              <a:rect l="l" t="t" r="r" b="b"/>
              <a:pathLst>
                <a:path w="1386204" h="1092835">
                  <a:moveTo>
                    <a:pt x="692531" y="0"/>
                  </a:moveTo>
                  <a:lnTo>
                    <a:pt x="657682" y="0"/>
                  </a:lnTo>
                  <a:lnTo>
                    <a:pt x="646061" y="1409"/>
                  </a:lnTo>
                  <a:lnTo>
                    <a:pt x="638098" y="2832"/>
                  </a:lnTo>
                  <a:lnTo>
                    <a:pt x="627964" y="5715"/>
                  </a:lnTo>
                  <a:lnTo>
                    <a:pt x="621411" y="10020"/>
                  </a:lnTo>
                  <a:lnTo>
                    <a:pt x="612749" y="12865"/>
                  </a:lnTo>
                  <a:lnTo>
                    <a:pt x="580847" y="45796"/>
                  </a:lnTo>
                  <a:lnTo>
                    <a:pt x="569937" y="89509"/>
                  </a:lnTo>
                  <a:lnTo>
                    <a:pt x="569937" y="105968"/>
                  </a:lnTo>
                  <a:lnTo>
                    <a:pt x="580847" y="154660"/>
                  </a:lnTo>
                  <a:lnTo>
                    <a:pt x="606907" y="195491"/>
                  </a:lnTo>
                  <a:lnTo>
                    <a:pt x="614159" y="205524"/>
                  </a:lnTo>
                  <a:lnTo>
                    <a:pt x="620001" y="214845"/>
                  </a:lnTo>
                  <a:lnTo>
                    <a:pt x="623595" y="224866"/>
                  </a:lnTo>
                  <a:lnTo>
                    <a:pt x="626478" y="234137"/>
                  </a:lnTo>
                  <a:lnTo>
                    <a:pt x="626478" y="243459"/>
                  </a:lnTo>
                  <a:lnTo>
                    <a:pt x="603313" y="283591"/>
                  </a:lnTo>
                  <a:lnTo>
                    <a:pt x="580847" y="290728"/>
                  </a:lnTo>
                  <a:lnTo>
                    <a:pt x="567042" y="290728"/>
                  </a:lnTo>
                  <a:lnTo>
                    <a:pt x="550354" y="289306"/>
                  </a:lnTo>
                  <a:lnTo>
                    <a:pt x="533666" y="285000"/>
                  </a:lnTo>
                  <a:lnTo>
                    <a:pt x="514083" y="277863"/>
                  </a:lnTo>
                  <a:lnTo>
                    <a:pt x="502539" y="274269"/>
                  </a:lnTo>
                  <a:lnTo>
                    <a:pt x="490207" y="271373"/>
                  </a:lnTo>
                  <a:lnTo>
                    <a:pt x="476415" y="268541"/>
                  </a:lnTo>
                  <a:lnTo>
                    <a:pt x="464083" y="267119"/>
                  </a:lnTo>
                  <a:lnTo>
                    <a:pt x="432892" y="267119"/>
                  </a:lnTo>
                  <a:lnTo>
                    <a:pt x="402463" y="268541"/>
                  </a:lnTo>
                  <a:lnTo>
                    <a:pt x="370560" y="271373"/>
                  </a:lnTo>
                  <a:lnTo>
                    <a:pt x="337185" y="277101"/>
                  </a:lnTo>
                  <a:lnTo>
                    <a:pt x="303809" y="282117"/>
                  </a:lnTo>
                  <a:lnTo>
                    <a:pt x="271907" y="289306"/>
                  </a:lnTo>
                  <a:lnTo>
                    <a:pt x="269024" y="297167"/>
                  </a:lnTo>
                  <a:lnTo>
                    <a:pt x="269024" y="330136"/>
                  </a:lnTo>
                  <a:lnTo>
                    <a:pt x="270497" y="350862"/>
                  </a:lnTo>
                  <a:lnTo>
                    <a:pt x="276275" y="400304"/>
                  </a:lnTo>
                  <a:lnTo>
                    <a:pt x="281343" y="455422"/>
                  </a:lnTo>
                  <a:lnTo>
                    <a:pt x="284226" y="483387"/>
                  </a:lnTo>
                  <a:lnTo>
                    <a:pt x="287121" y="537083"/>
                  </a:lnTo>
                  <a:lnTo>
                    <a:pt x="288594" y="559981"/>
                  </a:lnTo>
                  <a:lnTo>
                    <a:pt x="284226" y="600100"/>
                  </a:lnTo>
                  <a:lnTo>
                    <a:pt x="256692" y="635914"/>
                  </a:lnTo>
                  <a:lnTo>
                    <a:pt x="241477" y="641642"/>
                  </a:lnTo>
                  <a:lnTo>
                    <a:pt x="225501" y="641642"/>
                  </a:lnTo>
                  <a:lnTo>
                    <a:pt x="217538" y="640181"/>
                  </a:lnTo>
                  <a:lnTo>
                    <a:pt x="210286" y="637336"/>
                  </a:lnTo>
                  <a:lnTo>
                    <a:pt x="193598" y="631609"/>
                  </a:lnTo>
                  <a:lnTo>
                    <a:pt x="178384" y="623709"/>
                  </a:lnTo>
                  <a:lnTo>
                    <a:pt x="161696" y="613676"/>
                  </a:lnTo>
                  <a:lnTo>
                    <a:pt x="129794" y="597217"/>
                  </a:lnTo>
                  <a:lnTo>
                    <a:pt x="113106" y="590080"/>
                  </a:lnTo>
                  <a:lnTo>
                    <a:pt x="104444" y="589368"/>
                  </a:lnTo>
                  <a:lnTo>
                    <a:pt x="96418" y="587946"/>
                  </a:lnTo>
                  <a:lnTo>
                    <a:pt x="79730" y="587946"/>
                  </a:lnTo>
                  <a:lnTo>
                    <a:pt x="71056" y="589368"/>
                  </a:lnTo>
                  <a:lnTo>
                    <a:pt x="61620" y="592912"/>
                  </a:lnTo>
                  <a:lnTo>
                    <a:pt x="52895" y="597217"/>
                  </a:lnTo>
                  <a:lnTo>
                    <a:pt x="44932" y="604405"/>
                  </a:lnTo>
                  <a:lnTo>
                    <a:pt x="34798" y="610844"/>
                  </a:lnTo>
                  <a:lnTo>
                    <a:pt x="26835" y="620877"/>
                  </a:lnTo>
                  <a:lnTo>
                    <a:pt x="16700" y="633031"/>
                  </a:lnTo>
                  <a:lnTo>
                    <a:pt x="8674" y="646658"/>
                  </a:lnTo>
                  <a:lnTo>
                    <a:pt x="4368" y="655218"/>
                  </a:lnTo>
                  <a:lnTo>
                    <a:pt x="1422" y="664540"/>
                  </a:lnTo>
                  <a:lnTo>
                    <a:pt x="0" y="676706"/>
                  </a:lnTo>
                  <a:lnTo>
                    <a:pt x="0" y="689622"/>
                  </a:lnTo>
                  <a:lnTo>
                    <a:pt x="11620" y="728268"/>
                  </a:lnTo>
                  <a:lnTo>
                    <a:pt x="39166" y="761199"/>
                  </a:lnTo>
                  <a:lnTo>
                    <a:pt x="46418" y="764794"/>
                  </a:lnTo>
                  <a:lnTo>
                    <a:pt x="52895" y="769099"/>
                  </a:lnTo>
                  <a:lnTo>
                    <a:pt x="60147" y="771994"/>
                  </a:lnTo>
                  <a:lnTo>
                    <a:pt x="68884" y="774827"/>
                  </a:lnTo>
                  <a:lnTo>
                    <a:pt x="86271" y="777709"/>
                  </a:lnTo>
                  <a:lnTo>
                    <a:pt x="107327" y="777709"/>
                  </a:lnTo>
                  <a:lnTo>
                    <a:pt x="129794" y="774827"/>
                  </a:lnTo>
                  <a:lnTo>
                    <a:pt x="155143" y="766216"/>
                  </a:lnTo>
                  <a:lnTo>
                    <a:pt x="175501" y="759777"/>
                  </a:lnTo>
                  <a:lnTo>
                    <a:pt x="192189" y="754062"/>
                  </a:lnTo>
                  <a:lnTo>
                    <a:pt x="208813" y="749757"/>
                  </a:lnTo>
                  <a:lnTo>
                    <a:pt x="224790" y="748334"/>
                  </a:lnTo>
                  <a:lnTo>
                    <a:pt x="238594" y="751217"/>
                  </a:lnTo>
                  <a:lnTo>
                    <a:pt x="267538" y="779132"/>
                  </a:lnTo>
                  <a:lnTo>
                    <a:pt x="281343" y="815657"/>
                  </a:lnTo>
                  <a:lnTo>
                    <a:pt x="284226" y="831418"/>
                  </a:lnTo>
                  <a:lnTo>
                    <a:pt x="288594" y="846455"/>
                  </a:lnTo>
                  <a:lnTo>
                    <a:pt x="291490" y="864349"/>
                  </a:lnTo>
                  <a:lnTo>
                    <a:pt x="292963" y="882230"/>
                  </a:lnTo>
                  <a:lnTo>
                    <a:pt x="293662" y="901573"/>
                  </a:lnTo>
                  <a:lnTo>
                    <a:pt x="293662" y="960297"/>
                  </a:lnTo>
                  <a:lnTo>
                    <a:pt x="291490" y="979639"/>
                  </a:lnTo>
                  <a:lnTo>
                    <a:pt x="285711" y="1018298"/>
                  </a:lnTo>
                  <a:lnTo>
                    <a:pt x="279869" y="1036231"/>
                  </a:lnTo>
                  <a:lnTo>
                    <a:pt x="274789" y="1054112"/>
                  </a:lnTo>
                  <a:lnTo>
                    <a:pt x="269024" y="1070571"/>
                  </a:lnTo>
                  <a:lnTo>
                    <a:pt x="491629" y="1070571"/>
                  </a:lnTo>
                  <a:lnTo>
                    <a:pt x="532257" y="1056995"/>
                  </a:lnTo>
                  <a:lnTo>
                    <a:pt x="586625" y="1014044"/>
                  </a:lnTo>
                  <a:lnTo>
                    <a:pt x="603313" y="975334"/>
                  </a:lnTo>
                  <a:lnTo>
                    <a:pt x="604786" y="961758"/>
                  </a:lnTo>
                  <a:lnTo>
                    <a:pt x="604786" y="948131"/>
                  </a:lnTo>
                  <a:lnTo>
                    <a:pt x="601840" y="935977"/>
                  </a:lnTo>
                  <a:lnTo>
                    <a:pt x="597535" y="921638"/>
                  </a:lnTo>
                  <a:lnTo>
                    <a:pt x="590283" y="909485"/>
                  </a:lnTo>
                  <a:lnTo>
                    <a:pt x="583730" y="897267"/>
                  </a:lnTo>
                  <a:lnTo>
                    <a:pt x="554012" y="861504"/>
                  </a:lnTo>
                  <a:lnTo>
                    <a:pt x="541693" y="817079"/>
                  </a:lnTo>
                  <a:lnTo>
                    <a:pt x="541693" y="802030"/>
                  </a:lnTo>
                  <a:lnTo>
                    <a:pt x="554012" y="758367"/>
                  </a:lnTo>
                  <a:lnTo>
                    <a:pt x="568515" y="739013"/>
                  </a:lnTo>
                  <a:lnTo>
                    <a:pt x="575005" y="731875"/>
                  </a:lnTo>
                  <a:lnTo>
                    <a:pt x="580847" y="726859"/>
                  </a:lnTo>
                  <a:lnTo>
                    <a:pt x="588810" y="722553"/>
                  </a:lnTo>
                  <a:lnTo>
                    <a:pt x="596061" y="718235"/>
                  </a:lnTo>
                  <a:lnTo>
                    <a:pt x="633730" y="704659"/>
                  </a:lnTo>
                  <a:lnTo>
                    <a:pt x="657682" y="701776"/>
                  </a:lnTo>
                  <a:lnTo>
                    <a:pt x="683806" y="701776"/>
                  </a:lnTo>
                  <a:lnTo>
                    <a:pt x="728027" y="712520"/>
                  </a:lnTo>
                  <a:lnTo>
                    <a:pt x="753376" y="726859"/>
                  </a:lnTo>
                  <a:lnTo>
                    <a:pt x="760641" y="731875"/>
                  </a:lnTo>
                  <a:lnTo>
                    <a:pt x="765771" y="739013"/>
                  </a:lnTo>
                  <a:lnTo>
                    <a:pt x="771550" y="746201"/>
                  </a:lnTo>
                  <a:lnTo>
                    <a:pt x="775919" y="752640"/>
                  </a:lnTo>
                  <a:lnTo>
                    <a:pt x="782396" y="769099"/>
                  </a:lnTo>
                  <a:lnTo>
                    <a:pt x="786765" y="784148"/>
                  </a:lnTo>
                  <a:lnTo>
                    <a:pt x="788238" y="800608"/>
                  </a:lnTo>
                  <a:lnTo>
                    <a:pt x="788238" y="817079"/>
                  </a:lnTo>
                  <a:lnTo>
                    <a:pt x="775919" y="864349"/>
                  </a:lnTo>
                  <a:lnTo>
                    <a:pt x="753376" y="895858"/>
                  </a:lnTo>
                  <a:lnTo>
                    <a:pt x="744715" y="902284"/>
                  </a:lnTo>
                  <a:lnTo>
                    <a:pt x="736752" y="912317"/>
                  </a:lnTo>
                  <a:lnTo>
                    <a:pt x="718591" y="956030"/>
                  </a:lnTo>
                  <a:lnTo>
                    <a:pt x="717181" y="968908"/>
                  </a:lnTo>
                  <a:lnTo>
                    <a:pt x="717181" y="982535"/>
                  </a:lnTo>
                  <a:lnTo>
                    <a:pt x="729500" y="1019771"/>
                  </a:lnTo>
                  <a:lnTo>
                    <a:pt x="762114" y="1052690"/>
                  </a:lnTo>
                  <a:lnTo>
                    <a:pt x="824509" y="1076299"/>
                  </a:lnTo>
                  <a:lnTo>
                    <a:pt x="895565" y="1087043"/>
                  </a:lnTo>
                  <a:lnTo>
                    <a:pt x="963726" y="1092822"/>
                  </a:lnTo>
                  <a:lnTo>
                    <a:pt x="1012317" y="1092822"/>
                  </a:lnTo>
                  <a:lnTo>
                    <a:pt x="1037666" y="1091349"/>
                  </a:lnTo>
                  <a:lnTo>
                    <a:pt x="1059434" y="1087043"/>
                  </a:lnTo>
                  <a:lnTo>
                    <a:pt x="1083373" y="1082789"/>
                  </a:lnTo>
                  <a:lnTo>
                    <a:pt x="1073937" y="1045552"/>
                  </a:lnTo>
                  <a:lnTo>
                    <a:pt x="1071054" y="997521"/>
                  </a:lnTo>
                  <a:lnTo>
                    <a:pt x="1071054" y="961758"/>
                  </a:lnTo>
                  <a:lnTo>
                    <a:pt x="1074648" y="890130"/>
                  </a:lnTo>
                  <a:lnTo>
                    <a:pt x="1083373" y="828522"/>
                  </a:lnTo>
                  <a:lnTo>
                    <a:pt x="1102956" y="791286"/>
                  </a:lnTo>
                  <a:lnTo>
                    <a:pt x="1129017" y="781265"/>
                  </a:lnTo>
                  <a:lnTo>
                    <a:pt x="1139151" y="781265"/>
                  </a:lnTo>
                  <a:lnTo>
                    <a:pt x="1148588" y="782726"/>
                  </a:lnTo>
                  <a:lnTo>
                    <a:pt x="1158798" y="785571"/>
                  </a:lnTo>
                  <a:lnTo>
                    <a:pt x="1169644" y="789876"/>
                  </a:lnTo>
                  <a:lnTo>
                    <a:pt x="1179080" y="795604"/>
                  </a:lnTo>
                  <a:lnTo>
                    <a:pt x="1190701" y="800608"/>
                  </a:lnTo>
                  <a:lnTo>
                    <a:pt x="1210271" y="815657"/>
                  </a:lnTo>
                  <a:lnTo>
                    <a:pt x="1218234" y="825690"/>
                  </a:lnTo>
                  <a:lnTo>
                    <a:pt x="1226896" y="833539"/>
                  </a:lnTo>
                  <a:lnTo>
                    <a:pt x="1237805" y="840740"/>
                  </a:lnTo>
                  <a:lnTo>
                    <a:pt x="1248664" y="846455"/>
                  </a:lnTo>
                  <a:lnTo>
                    <a:pt x="1261757" y="850011"/>
                  </a:lnTo>
                  <a:lnTo>
                    <a:pt x="1286395" y="852893"/>
                  </a:lnTo>
                  <a:lnTo>
                    <a:pt x="1300137" y="851471"/>
                  </a:lnTo>
                  <a:lnTo>
                    <a:pt x="1337881" y="837844"/>
                  </a:lnTo>
                  <a:lnTo>
                    <a:pt x="1369072" y="809231"/>
                  </a:lnTo>
                  <a:lnTo>
                    <a:pt x="1385760" y="762673"/>
                  </a:lnTo>
                  <a:lnTo>
                    <a:pt x="1385760" y="734707"/>
                  </a:lnTo>
                  <a:lnTo>
                    <a:pt x="1369783" y="696048"/>
                  </a:lnTo>
                  <a:lnTo>
                    <a:pt x="1334985" y="661708"/>
                  </a:lnTo>
                  <a:lnTo>
                    <a:pt x="1275486" y="642353"/>
                  </a:lnTo>
                  <a:lnTo>
                    <a:pt x="1260271" y="643775"/>
                  </a:lnTo>
                  <a:lnTo>
                    <a:pt x="1222603" y="659523"/>
                  </a:lnTo>
                  <a:lnTo>
                    <a:pt x="1204429" y="681012"/>
                  </a:lnTo>
                  <a:lnTo>
                    <a:pt x="1194993" y="689622"/>
                  </a:lnTo>
                  <a:lnTo>
                    <a:pt x="1184859" y="694639"/>
                  </a:lnTo>
                  <a:lnTo>
                    <a:pt x="1174013" y="698944"/>
                  </a:lnTo>
                  <a:lnTo>
                    <a:pt x="1152956" y="701776"/>
                  </a:lnTo>
                  <a:lnTo>
                    <a:pt x="1142111" y="700354"/>
                  </a:lnTo>
                  <a:lnTo>
                    <a:pt x="1104366" y="683895"/>
                  </a:lnTo>
                  <a:lnTo>
                    <a:pt x="1083373" y="656691"/>
                  </a:lnTo>
                  <a:lnTo>
                    <a:pt x="1083373" y="289306"/>
                  </a:lnTo>
                  <a:lnTo>
                    <a:pt x="1069568" y="297167"/>
                  </a:lnTo>
                  <a:lnTo>
                    <a:pt x="1036193" y="311492"/>
                  </a:lnTo>
                  <a:lnTo>
                    <a:pt x="1016622" y="315099"/>
                  </a:lnTo>
                  <a:lnTo>
                    <a:pt x="997038" y="317931"/>
                  </a:lnTo>
                  <a:lnTo>
                    <a:pt x="953516" y="320814"/>
                  </a:lnTo>
                  <a:lnTo>
                    <a:pt x="933234" y="320814"/>
                  </a:lnTo>
                  <a:lnTo>
                    <a:pt x="867257" y="313626"/>
                  </a:lnTo>
                  <a:lnTo>
                    <a:pt x="827392" y="305777"/>
                  </a:lnTo>
                  <a:lnTo>
                    <a:pt x="777328" y="289306"/>
                  </a:lnTo>
                  <a:lnTo>
                    <a:pt x="741057" y="267119"/>
                  </a:lnTo>
                  <a:lnTo>
                    <a:pt x="729500" y="249186"/>
                  </a:lnTo>
                  <a:lnTo>
                    <a:pt x="728027" y="243459"/>
                  </a:lnTo>
                  <a:lnTo>
                    <a:pt x="728027" y="237032"/>
                  </a:lnTo>
                  <a:lnTo>
                    <a:pt x="729500" y="229831"/>
                  </a:lnTo>
                  <a:lnTo>
                    <a:pt x="733806" y="221983"/>
                  </a:lnTo>
                  <a:lnTo>
                    <a:pt x="738174" y="213372"/>
                  </a:lnTo>
                  <a:lnTo>
                    <a:pt x="750493" y="195491"/>
                  </a:lnTo>
                  <a:lnTo>
                    <a:pt x="768654" y="176136"/>
                  </a:lnTo>
                  <a:lnTo>
                    <a:pt x="778802" y="163982"/>
                  </a:lnTo>
                  <a:lnTo>
                    <a:pt x="785342" y="151815"/>
                  </a:lnTo>
                  <a:lnTo>
                    <a:pt x="791121" y="138188"/>
                  </a:lnTo>
                  <a:lnTo>
                    <a:pt x="795489" y="122440"/>
                  </a:lnTo>
                  <a:lnTo>
                    <a:pt x="797674" y="108813"/>
                  </a:lnTo>
                  <a:lnTo>
                    <a:pt x="797674" y="93814"/>
                  </a:lnTo>
                  <a:lnTo>
                    <a:pt x="785342" y="51562"/>
                  </a:lnTo>
                  <a:lnTo>
                    <a:pt x="770077" y="33629"/>
                  </a:lnTo>
                  <a:lnTo>
                    <a:pt x="764298" y="27914"/>
                  </a:lnTo>
                  <a:lnTo>
                    <a:pt x="757745" y="22186"/>
                  </a:lnTo>
                  <a:lnTo>
                    <a:pt x="750493" y="17881"/>
                  </a:lnTo>
                  <a:lnTo>
                    <a:pt x="742530" y="14274"/>
                  </a:lnTo>
                  <a:lnTo>
                    <a:pt x="733806" y="10020"/>
                  </a:lnTo>
                  <a:lnTo>
                    <a:pt x="724433" y="7137"/>
                  </a:lnTo>
                  <a:lnTo>
                    <a:pt x="703376" y="1409"/>
                  </a:lnTo>
                  <a:lnTo>
                    <a:pt x="6925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12921" y="2753438"/>
              <a:ext cx="832485" cy="1402715"/>
            </a:xfrm>
            <a:custGeom>
              <a:avLst/>
              <a:gdLst/>
              <a:ahLst/>
              <a:cxnLst/>
              <a:rect l="l" t="t" r="r" b="b"/>
              <a:pathLst>
                <a:path w="832485" h="1402714">
                  <a:moveTo>
                    <a:pt x="425284" y="0"/>
                  </a:moveTo>
                  <a:lnTo>
                    <a:pt x="408444" y="0"/>
                  </a:lnTo>
                  <a:lnTo>
                    <a:pt x="391655" y="4267"/>
                  </a:lnTo>
                  <a:lnTo>
                    <a:pt x="376326" y="11391"/>
                  </a:lnTo>
                  <a:lnTo>
                    <a:pt x="360959" y="17805"/>
                  </a:lnTo>
                  <a:lnTo>
                    <a:pt x="322960" y="52070"/>
                  </a:lnTo>
                  <a:lnTo>
                    <a:pt x="301790" y="94881"/>
                  </a:lnTo>
                  <a:lnTo>
                    <a:pt x="297370" y="126288"/>
                  </a:lnTo>
                  <a:lnTo>
                    <a:pt x="298843" y="141312"/>
                  </a:lnTo>
                  <a:lnTo>
                    <a:pt x="303225" y="154851"/>
                  </a:lnTo>
                  <a:lnTo>
                    <a:pt x="307632" y="163398"/>
                  </a:lnTo>
                  <a:lnTo>
                    <a:pt x="312000" y="170522"/>
                  </a:lnTo>
                  <a:lnTo>
                    <a:pt x="315645" y="176999"/>
                  </a:lnTo>
                  <a:lnTo>
                    <a:pt x="321487" y="182702"/>
                  </a:lnTo>
                  <a:lnTo>
                    <a:pt x="332473" y="194805"/>
                  </a:lnTo>
                  <a:lnTo>
                    <a:pt x="342696" y="206921"/>
                  </a:lnTo>
                  <a:lnTo>
                    <a:pt x="349275" y="219811"/>
                  </a:lnTo>
                  <a:lnTo>
                    <a:pt x="356590" y="230492"/>
                  </a:lnTo>
                  <a:lnTo>
                    <a:pt x="360959" y="241185"/>
                  </a:lnTo>
                  <a:lnTo>
                    <a:pt x="363905" y="251218"/>
                  </a:lnTo>
                  <a:lnTo>
                    <a:pt x="364604" y="260477"/>
                  </a:lnTo>
                  <a:lnTo>
                    <a:pt x="364604" y="269036"/>
                  </a:lnTo>
                  <a:lnTo>
                    <a:pt x="335381" y="303288"/>
                  </a:lnTo>
                  <a:lnTo>
                    <a:pt x="325894" y="304711"/>
                  </a:lnTo>
                  <a:lnTo>
                    <a:pt x="314210" y="304711"/>
                  </a:lnTo>
                  <a:lnTo>
                    <a:pt x="271094" y="306146"/>
                  </a:lnTo>
                  <a:lnTo>
                    <a:pt x="225780" y="308279"/>
                  </a:lnTo>
                  <a:lnTo>
                    <a:pt x="138087" y="314045"/>
                  </a:lnTo>
                  <a:lnTo>
                    <a:pt x="98653" y="315468"/>
                  </a:lnTo>
                  <a:lnTo>
                    <a:pt x="63550" y="315468"/>
                  </a:lnTo>
                  <a:lnTo>
                    <a:pt x="33591" y="312559"/>
                  </a:lnTo>
                  <a:lnTo>
                    <a:pt x="13157" y="304711"/>
                  </a:lnTo>
                  <a:lnTo>
                    <a:pt x="13157" y="665200"/>
                  </a:lnTo>
                  <a:lnTo>
                    <a:pt x="33591" y="699465"/>
                  </a:lnTo>
                  <a:lnTo>
                    <a:pt x="71602" y="715848"/>
                  </a:lnTo>
                  <a:lnTo>
                    <a:pt x="83286" y="717270"/>
                  </a:lnTo>
                  <a:lnTo>
                    <a:pt x="103758" y="714425"/>
                  </a:lnTo>
                  <a:lnTo>
                    <a:pt x="115442" y="710158"/>
                  </a:lnTo>
                  <a:lnTo>
                    <a:pt x="124929" y="704456"/>
                  </a:lnTo>
                  <a:lnTo>
                    <a:pt x="135178" y="696556"/>
                  </a:lnTo>
                  <a:lnTo>
                    <a:pt x="143192" y="685152"/>
                  </a:lnTo>
                  <a:lnTo>
                    <a:pt x="147599" y="680161"/>
                  </a:lnTo>
                  <a:lnTo>
                    <a:pt x="190715" y="659434"/>
                  </a:lnTo>
                  <a:lnTo>
                    <a:pt x="206781" y="658012"/>
                  </a:lnTo>
                  <a:lnTo>
                    <a:pt x="222148" y="659434"/>
                  </a:lnTo>
                  <a:lnTo>
                    <a:pt x="266687" y="677316"/>
                  </a:lnTo>
                  <a:lnTo>
                    <a:pt x="306158" y="717994"/>
                  </a:lnTo>
                  <a:lnTo>
                    <a:pt x="312737" y="733729"/>
                  </a:lnTo>
                  <a:lnTo>
                    <a:pt x="315645" y="741565"/>
                  </a:lnTo>
                  <a:lnTo>
                    <a:pt x="317118" y="750112"/>
                  </a:lnTo>
                  <a:lnTo>
                    <a:pt x="317118" y="777252"/>
                  </a:lnTo>
                  <a:lnTo>
                    <a:pt x="300316" y="822198"/>
                  </a:lnTo>
                  <a:lnTo>
                    <a:pt x="269633" y="852893"/>
                  </a:lnTo>
                  <a:lnTo>
                    <a:pt x="257200" y="857885"/>
                  </a:lnTo>
                  <a:lnTo>
                    <a:pt x="244043" y="863587"/>
                  </a:lnTo>
                  <a:lnTo>
                    <a:pt x="231622" y="866432"/>
                  </a:lnTo>
                  <a:lnTo>
                    <a:pt x="205308" y="866432"/>
                  </a:lnTo>
                  <a:lnTo>
                    <a:pt x="179768" y="860729"/>
                  </a:lnTo>
                  <a:lnTo>
                    <a:pt x="168770" y="855027"/>
                  </a:lnTo>
                  <a:lnTo>
                    <a:pt x="157086" y="848626"/>
                  </a:lnTo>
                  <a:lnTo>
                    <a:pt x="140284" y="830745"/>
                  </a:lnTo>
                  <a:lnTo>
                    <a:pt x="130809" y="822198"/>
                  </a:lnTo>
                  <a:lnTo>
                    <a:pt x="120548" y="815784"/>
                  </a:lnTo>
                  <a:lnTo>
                    <a:pt x="109600" y="810082"/>
                  </a:lnTo>
                  <a:lnTo>
                    <a:pt x="100114" y="804392"/>
                  </a:lnTo>
                  <a:lnTo>
                    <a:pt x="78905" y="797915"/>
                  </a:lnTo>
                  <a:lnTo>
                    <a:pt x="68694" y="796480"/>
                  </a:lnTo>
                  <a:lnTo>
                    <a:pt x="59169" y="796480"/>
                  </a:lnTo>
                  <a:lnTo>
                    <a:pt x="49695" y="797915"/>
                  </a:lnTo>
                  <a:lnTo>
                    <a:pt x="40906" y="802182"/>
                  </a:lnTo>
                  <a:lnTo>
                    <a:pt x="32854" y="805815"/>
                  </a:lnTo>
                  <a:lnTo>
                    <a:pt x="13157" y="842924"/>
                  </a:lnTo>
                  <a:lnTo>
                    <a:pt x="4368" y="904963"/>
                  </a:lnTo>
                  <a:lnTo>
                    <a:pt x="0" y="975626"/>
                  </a:lnTo>
                  <a:lnTo>
                    <a:pt x="0" y="1011313"/>
                  </a:lnTo>
                  <a:lnTo>
                    <a:pt x="2908" y="1059891"/>
                  </a:lnTo>
                  <a:lnTo>
                    <a:pt x="13157" y="1096289"/>
                  </a:lnTo>
                  <a:lnTo>
                    <a:pt x="37998" y="1092720"/>
                  </a:lnTo>
                  <a:lnTo>
                    <a:pt x="71602" y="1087031"/>
                  </a:lnTo>
                  <a:lnTo>
                    <a:pt x="149072" y="1081265"/>
                  </a:lnTo>
                  <a:lnTo>
                    <a:pt x="189979" y="1079830"/>
                  </a:lnTo>
                  <a:lnTo>
                    <a:pt x="225780" y="1079830"/>
                  </a:lnTo>
                  <a:lnTo>
                    <a:pt x="280581" y="1084173"/>
                  </a:lnTo>
                  <a:lnTo>
                    <a:pt x="322960" y="1094867"/>
                  </a:lnTo>
                  <a:lnTo>
                    <a:pt x="366064" y="1118438"/>
                  </a:lnTo>
                  <a:lnTo>
                    <a:pt x="390182" y="1163383"/>
                  </a:lnTo>
                  <a:lnTo>
                    <a:pt x="388746" y="1173353"/>
                  </a:lnTo>
                  <a:lnTo>
                    <a:pt x="369011" y="1210475"/>
                  </a:lnTo>
                  <a:lnTo>
                    <a:pt x="360959" y="1218311"/>
                  </a:lnTo>
                  <a:lnTo>
                    <a:pt x="352170" y="1229766"/>
                  </a:lnTo>
                  <a:lnTo>
                    <a:pt x="345630" y="1241882"/>
                  </a:lnTo>
                  <a:lnTo>
                    <a:pt x="339788" y="1255420"/>
                  </a:lnTo>
                  <a:lnTo>
                    <a:pt x="336854" y="1270444"/>
                  </a:lnTo>
                  <a:lnTo>
                    <a:pt x="335381" y="1285405"/>
                  </a:lnTo>
                  <a:lnTo>
                    <a:pt x="335381" y="1301851"/>
                  </a:lnTo>
                  <a:lnTo>
                    <a:pt x="349275" y="1347508"/>
                  </a:lnTo>
                  <a:lnTo>
                    <a:pt x="380695" y="1383195"/>
                  </a:lnTo>
                  <a:lnTo>
                    <a:pt x="420865" y="1401076"/>
                  </a:lnTo>
                  <a:lnTo>
                    <a:pt x="429653" y="1402499"/>
                  </a:lnTo>
                  <a:lnTo>
                    <a:pt x="450824" y="1402499"/>
                  </a:lnTo>
                  <a:lnTo>
                    <a:pt x="489559" y="1396733"/>
                  </a:lnTo>
                  <a:lnTo>
                    <a:pt x="533412" y="1371803"/>
                  </a:lnTo>
                  <a:lnTo>
                    <a:pt x="559727" y="1336116"/>
                  </a:lnTo>
                  <a:lnTo>
                    <a:pt x="565569" y="1322514"/>
                  </a:lnTo>
                  <a:lnTo>
                    <a:pt x="568477" y="1294015"/>
                  </a:lnTo>
                  <a:lnTo>
                    <a:pt x="565569" y="1278991"/>
                  </a:lnTo>
                  <a:lnTo>
                    <a:pt x="561162" y="1265453"/>
                  </a:lnTo>
                  <a:lnTo>
                    <a:pt x="554621" y="1249718"/>
                  </a:lnTo>
                  <a:lnTo>
                    <a:pt x="545833" y="1236179"/>
                  </a:lnTo>
                  <a:lnTo>
                    <a:pt x="534885" y="1224064"/>
                  </a:lnTo>
                  <a:lnTo>
                    <a:pt x="524624" y="1213319"/>
                  </a:lnTo>
                  <a:lnTo>
                    <a:pt x="516610" y="1200492"/>
                  </a:lnTo>
                  <a:lnTo>
                    <a:pt x="510768" y="1186891"/>
                  </a:lnTo>
                  <a:lnTo>
                    <a:pt x="506361" y="1174788"/>
                  </a:lnTo>
                  <a:lnTo>
                    <a:pt x="503453" y="1161249"/>
                  </a:lnTo>
                  <a:lnTo>
                    <a:pt x="503453" y="1134821"/>
                  </a:lnTo>
                  <a:lnTo>
                    <a:pt x="519518" y="1089875"/>
                  </a:lnTo>
                  <a:lnTo>
                    <a:pt x="550202" y="1064869"/>
                  </a:lnTo>
                  <a:lnTo>
                    <a:pt x="558253" y="1063447"/>
                  </a:lnTo>
                  <a:lnTo>
                    <a:pt x="572147" y="1064869"/>
                  </a:lnTo>
                  <a:lnTo>
                    <a:pt x="591845" y="1067727"/>
                  </a:lnTo>
                  <a:lnTo>
                    <a:pt x="618896" y="1070571"/>
                  </a:lnTo>
                  <a:lnTo>
                    <a:pt x="649592" y="1074851"/>
                  </a:lnTo>
                  <a:lnTo>
                    <a:pt x="684656" y="1077696"/>
                  </a:lnTo>
                  <a:lnTo>
                    <a:pt x="722655" y="1079830"/>
                  </a:lnTo>
                  <a:lnTo>
                    <a:pt x="763600" y="1082687"/>
                  </a:lnTo>
                  <a:lnTo>
                    <a:pt x="805243" y="1084173"/>
                  </a:lnTo>
                  <a:lnTo>
                    <a:pt x="812558" y="1067727"/>
                  </a:lnTo>
                  <a:lnTo>
                    <a:pt x="817664" y="1049909"/>
                  </a:lnTo>
                  <a:lnTo>
                    <a:pt x="823506" y="1032040"/>
                  </a:lnTo>
                  <a:lnTo>
                    <a:pt x="832256" y="973493"/>
                  </a:lnTo>
                  <a:lnTo>
                    <a:pt x="832256" y="915720"/>
                  </a:lnTo>
                  <a:lnTo>
                    <a:pt x="830821" y="896416"/>
                  </a:lnTo>
                  <a:lnTo>
                    <a:pt x="824979" y="860729"/>
                  </a:lnTo>
                  <a:lnTo>
                    <a:pt x="822045" y="844346"/>
                  </a:lnTo>
                  <a:lnTo>
                    <a:pt x="817664" y="829322"/>
                  </a:lnTo>
                  <a:lnTo>
                    <a:pt x="813993" y="815784"/>
                  </a:lnTo>
                  <a:lnTo>
                    <a:pt x="805243" y="793635"/>
                  </a:lnTo>
                  <a:lnTo>
                    <a:pt x="794296" y="778675"/>
                  </a:lnTo>
                  <a:lnTo>
                    <a:pt x="788454" y="772972"/>
                  </a:lnTo>
                  <a:lnTo>
                    <a:pt x="781138" y="769416"/>
                  </a:lnTo>
                  <a:lnTo>
                    <a:pt x="776020" y="766495"/>
                  </a:lnTo>
                  <a:lnTo>
                    <a:pt x="762126" y="763651"/>
                  </a:lnTo>
                  <a:lnTo>
                    <a:pt x="746036" y="765073"/>
                  </a:lnTo>
                  <a:lnTo>
                    <a:pt x="729233" y="769416"/>
                  </a:lnTo>
                  <a:lnTo>
                    <a:pt x="711707" y="774395"/>
                  </a:lnTo>
                  <a:lnTo>
                    <a:pt x="691972" y="781519"/>
                  </a:lnTo>
                  <a:lnTo>
                    <a:pt x="678814" y="785799"/>
                  </a:lnTo>
                  <a:lnTo>
                    <a:pt x="666381" y="789355"/>
                  </a:lnTo>
                  <a:lnTo>
                    <a:pt x="643750" y="792213"/>
                  </a:lnTo>
                  <a:lnTo>
                    <a:pt x="623277" y="792213"/>
                  </a:lnTo>
                  <a:lnTo>
                    <a:pt x="575055" y="775830"/>
                  </a:lnTo>
                  <a:lnTo>
                    <a:pt x="547306" y="742988"/>
                  </a:lnTo>
                  <a:lnTo>
                    <a:pt x="536346" y="704456"/>
                  </a:lnTo>
                  <a:lnTo>
                    <a:pt x="536346" y="692277"/>
                  </a:lnTo>
                  <a:lnTo>
                    <a:pt x="553148" y="647331"/>
                  </a:lnTo>
                  <a:lnTo>
                    <a:pt x="580897" y="618058"/>
                  </a:lnTo>
                  <a:lnTo>
                    <a:pt x="624751" y="601675"/>
                  </a:lnTo>
                  <a:lnTo>
                    <a:pt x="649592" y="605942"/>
                  </a:lnTo>
                  <a:lnTo>
                    <a:pt x="666381" y="613067"/>
                  </a:lnTo>
                  <a:lnTo>
                    <a:pt x="683221" y="620903"/>
                  </a:lnTo>
                  <a:lnTo>
                    <a:pt x="730707" y="647331"/>
                  </a:lnTo>
                  <a:lnTo>
                    <a:pt x="747509" y="652310"/>
                  </a:lnTo>
                  <a:lnTo>
                    <a:pt x="754811" y="655167"/>
                  </a:lnTo>
                  <a:lnTo>
                    <a:pt x="763600" y="656590"/>
                  </a:lnTo>
                  <a:lnTo>
                    <a:pt x="770140" y="656590"/>
                  </a:lnTo>
                  <a:lnTo>
                    <a:pt x="809612" y="640207"/>
                  </a:lnTo>
                  <a:lnTo>
                    <a:pt x="824979" y="598106"/>
                  </a:lnTo>
                  <a:lnTo>
                    <a:pt x="824979" y="552386"/>
                  </a:lnTo>
                  <a:lnTo>
                    <a:pt x="822045" y="498881"/>
                  </a:lnTo>
                  <a:lnTo>
                    <a:pt x="819137" y="471754"/>
                  </a:lnTo>
                  <a:lnTo>
                    <a:pt x="813993" y="416763"/>
                  </a:lnTo>
                  <a:lnTo>
                    <a:pt x="808151" y="367538"/>
                  </a:lnTo>
                  <a:lnTo>
                    <a:pt x="806716" y="346811"/>
                  </a:lnTo>
                  <a:lnTo>
                    <a:pt x="806716" y="314045"/>
                  </a:lnTo>
                  <a:lnTo>
                    <a:pt x="809612" y="304711"/>
                  </a:lnTo>
                  <a:lnTo>
                    <a:pt x="794296" y="314045"/>
                  </a:lnTo>
                  <a:lnTo>
                    <a:pt x="732180" y="333273"/>
                  </a:lnTo>
                  <a:lnTo>
                    <a:pt x="686130" y="338975"/>
                  </a:lnTo>
                  <a:lnTo>
                    <a:pt x="662012" y="340398"/>
                  </a:lnTo>
                  <a:lnTo>
                    <a:pt x="638644" y="340398"/>
                  </a:lnTo>
                  <a:lnTo>
                    <a:pt x="590422" y="336130"/>
                  </a:lnTo>
                  <a:lnTo>
                    <a:pt x="548779" y="329006"/>
                  </a:lnTo>
                  <a:lnTo>
                    <a:pt x="499783" y="311124"/>
                  </a:lnTo>
                  <a:lnTo>
                    <a:pt x="467664" y="284060"/>
                  </a:lnTo>
                  <a:lnTo>
                    <a:pt x="463245" y="276872"/>
                  </a:lnTo>
                  <a:lnTo>
                    <a:pt x="460349" y="263334"/>
                  </a:lnTo>
                  <a:lnTo>
                    <a:pt x="461810" y="256209"/>
                  </a:lnTo>
                  <a:lnTo>
                    <a:pt x="464718" y="249796"/>
                  </a:lnTo>
                  <a:lnTo>
                    <a:pt x="467664" y="241185"/>
                  </a:lnTo>
                  <a:lnTo>
                    <a:pt x="471296" y="233349"/>
                  </a:lnTo>
                  <a:lnTo>
                    <a:pt x="477138" y="224802"/>
                  </a:lnTo>
                  <a:lnTo>
                    <a:pt x="501256" y="199085"/>
                  </a:lnTo>
                  <a:lnTo>
                    <a:pt x="519518" y="178422"/>
                  </a:lnTo>
                  <a:lnTo>
                    <a:pt x="529043" y="166243"/>
                  </a:lnTo>
                  <a:lnTo>
                    <a:pt x="534885" y="153428"/>
                  </a:lnTo>
                  <a:lnTo>
                    <a:pt x="538518" y="139890"/>
                  </a:lnTo>
                  <a:lnTo>
                    <a:pt x="541464" y="126288"/>
                  </a:lnTo>
                  <a:lnTo>
                    <a:pt x="541464" y="111328"/>
                  </a:lnTo>
                  <a:lnTo>
                    <a:pt x="530466" y="67741"/>
                  </a:lnTo>
                  <a:lnTo>
                    <a:pt x="502716" y="29197"/>
                  </a:lnTo>
                  <a:lnTo>
                    <a:pt x="460349" y="4267"/>
                  </a:lnTo>
                  <a:lnTo>
                    <a:pt x="443547" y="1422"/>
                  </a:lnTo>
                  <a:lnTo>
                    <a:pt x="425284" y="0"/>
                  </a:lnTo>
                  <a:close/>
                </a:path>
              </a:pathLst>
            </a:custGeom>
            <a:solidFill>
              <a:srgbClr val="72BF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86988" y="1260735"/>
              <a:ext cx="401955" cy="258445"/>
            </a:xfrm>
            <a:custGeom>
              <a:avLst/>
              <a:gdLst/>
              <a:ahLst/>
              <a:cxnLst/>
              <a:rect l="l" t="t" r="r" b="b"/>
              <a:pathLst>
                <a:path w="401954" h="258444">
                  <a:moveTo>
                    <a:pt x="401574" y="0"/>
                  </a:moveTo>
                  <a:lnTo>
                    <a:pt x="182968" y="0"/>
                  </a:lnTo>
                  <a:lnTo>
                    <a:pt x="0" y="258381"/>
                  </a:lnTo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08249" y="2457988"/>
              <a:ext cx="364490" cy="80010"/>
            </a:xfrm>
            <a:custGeom>
              <a:avLst/>
              <a:gdLst/>
              <a:ahLst/>
              <a:cxnLst/>
              <a:rect l="l" t="t" r="r" b="b"/>
              <a:pathLst>
                <a:path w="364489" h="80010">
                  <a:moveTo>
                    <a:pt x="364324" y="927"/>
                  </a:moveTo>
                  <a:lnTo>
                    <a:pt x="152844" y="0"/>
                  </a:lnTo>
                  <a:lnTo>
                    <a:pt x="0" y="79984"/>
                  </a:lnTo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578614" y="2045423"/>
            <a:ext cx="2045970" cy="972185"/>
          </a:xfrm>
          <a:prstGeom prst="rect">
            <a:avLst/>
          </a:prstGeom>
          <a:ln w="6350">
            <a:solidFill>
              <a:srgbClr val="89A4A7"/>
            </a:solidFill>
          </a:ln>
        </p:spPr>
        <p:txBody>
          <a:bodyPr wrap="square" lIns="0" tIns="11303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890"/>
              </a:spcBef>
            </a:pPr>
            <a:r>
              <a:rPr dirty="0" sz="1100" spc="-20" b="1">
                <a:latin typeface="Microsoft YaHei"/>
                <a:cs typeface="Microsoft YaHei"/>
              </a:rPr>
              <a:t>网络</a:t>
            </a:r>
            <a:r>
              <a:rPr dirty="0" sz="1200" spc="-10" b="1">
                <a:latin typeface="Microsoft YaHei"/>
                <a:cs typeface="Microsoft YaHei"/>
              </a:rPr>
              <a:t>功能模块化</a:t>
            </a:r>
            <a:endParaRPr sz="1200">
              <a:latin typeface="Microsoft YaHei"/>
              <a:cs typeface="Microsoft YaHei"/>
            </a:endParaRPr>
          </a:p>
          <a:p>
            <a:pPr marL="325755" indent="-257810">
              <a:lnSpc>
                <a:spcPct val="100000"/>
              </a:lnSpc>
              <a:spcBef>
                <a:spcPts val="700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1000">
                <a:latin typeface="Microsoft YaHei"/>
                <a:cs typeface="Microsoft YaHei"/>
              </a:rPr>
              <a:t>匹配</a:t>
            </a:r>
            <a:r>
              <a:rPr dirty="0" sz="1000">
                <a:solidFill>
                  <a:srgbClr val="0000FF"/>
                </a:solidFill>
                <a:latin typeface="Microsoft YaHei"/>
                <a:cs typeface="Microsoft YaHei"/>
              </a:rPr>
              <a:t>业务需</a:t>
            </a:r>
            <a:r>
              <a:rPr dirty="0" sz="1000" spc="-15">
                <a:latin typeface="Microsoft YaHei"/>
                <a:cs typeface="Microsoft YaHei"/>
              </a:rPr>
              <a:t>求，按需部署网络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259160" y="1287979"/>
            <a:ext cx="2332990" cy="2481580"/>
            <a:chOff x="3259160" y="1287979"/>
            <a:chExt cx="2332990" cy="2481580"/>
          </a:xfrm>
        </p:grpSpPr>
        <p:sp>
          <p:nvSpPr>
            <p:cNvPr id="17" name="object 17" descr=""/>
            <p:cNvSpPr/>
            <p:nvPr/>
          </p:nvSpPr>
          <p:spPr>
            <a:xfrm>
              <a:off x="5214827" y="3348103"/>
              <a:ext cx="374015" cy="104775"/>
            </a:xfrm>
            <a:custGeom>
              <a:avLst/>
              <a:gdLst/>
              <a:ahLst/>
              <a:cxnLst/>
              <a:rect l="l" t="t" r="r" b="b"/>
              <a:pathLst>
                <a:path w="374014" h="104775">
                  <a:moveTo>
                    <a:pt x="373735" y="0"/>
                  </a:moveTo>
                  <a:lnTo>
                    <a:pt x="89611" y="0"/>
                  </a:lnTo>
                  <a:lnTo>
                    <a:pt x="0" y="104279"/>
                  </a:lnTo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62335" y="1291154"/>
              <a:ext cx="435609" cy="226695"/>
            </a:xfrm>
            <a:custGeom>
              <a:avLst/>
              <a:gdLst/>
              <a:ahLst/>
              <a:cxnLst/>
              <a:rect l="l" t="t" r="r" b="b"/>
              <a:pathLst>
                <a:path w="435610" h="226694">
                  <a:moveTo>
                    <a:pt x="0" y="0"/>
                  </a:moveTo>
                  <a:lnTo>
                    <a:pt x="195668" y="7962"/>
                  </a:lnTo>
                  <a:lnTo>
                    <a:pt x="435013" y="226453"/>
                  </a:lnTo>
                </a:path>
              </a:pathLst>
            </a:custGeom>
            <a:ln w="634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262335" y="2541596"/>
              <a:ext cx="217804" cy="88900"/>
            </a:xfrm>
            <a:custGeom>
              <a:avLst/>
              <a:gdLst/>
              <a:ahLst/>
              <a:cxnLst/>
              <a:rect l="l" t="t" r="r" b="b"/>
              <a:pathLst>
                <a:path w="217804" h="88900">
                  <a:moveTo>
                    <a:pt x="0" y="12"/>
                  </a:moveTo>
                  <a:lnTo>
                    <a:pt x="131864" y="0"/>
                  </a:lnTo>
                  <a:lnTo>
                    <a:pt x="217665" y="88658"/>
                  </a:lnTo>
                </a:path>
              </a:pathLst>
            </a:custGeom>
            <a:ln w="634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262335" y="3601773"/>
              <a:ext cx="411480" cy="164465"/>
            </a:xfrm>
            <a:custGeom>
              <a:avLst/>
              <a:gdLst/>
              <a:ahLst/>
              <a:cxnLst/>
              <a:rect l="l" t="t" r="r" b="b"/>
              <a:pathLst>
                <a:path w="411479" h="164464">
                  <a:moveTo>
                    <a:pt x="0" y="9829"/>
                  </a:moveTo>
                  <a:lnTo>
                    <a:pt x="171742" y="0"/>
                  </a:lnTo>
                  <a:lnTo>
                    <a:pt x="411073" y="164299"/>
                  </a:lnTo>
                </a:path>
              </a:pathLst>
            </a:custGeom>
            <a:ln w="635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96111" y="3449586"/>
            <a:ext cx="2160270" cy="864235"/>
          </a:xfrm>
          <a:prstGeom prst="rect">
            <a:avLst/>
          </a:prstGeom>
          <a:ln w="6350">
            <a:solidFill>
              <a:srgbClr val="89A4A7"/>
            </a:solidFill>
          </a:ln>
        </p:spPr>
        <p:txBody>
          <a:bodyPr wrap="square" lIns="0" tIns="7048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555"/>
              </a:spcBef>
            </a:pPr>
            <a:r>
              <a:rPr dirty="0" sz="1100" spc="-25" b="1">
                <a:latin typeface="Microsoft YaHei"/>
                <a:cs typeface="Microsoft YaHei"/>
              </a:rPr>
              <a:t>采用虚拟化技术</a:t>
            </a:r>
            <a:endParaRPr sz="1100">
              <a:latin typeface="Microsoft YaHei"/>
              <a:cs typeface="Microsoft YaHei"/>
            </a:endParaRPr>
          </a:p>
          <a:p>
            <a:pPr marL="325755" indent="-257810">
              <a:lnSpc>
                <a:spcPct val="100000"/>
              </a:lnSpc>
              <a:spcBef>
                <a:spcPts val="895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1100" spc="-30">
                <a:latin typeface="Microsoft YaHei"/>
                <a:cs typeface="Microsoft YaHei"/>
              </a:rPr>
              <a:t>软硬件解耦</a:t>
            </a:r>
            <a:endParaRPr sz="1100">
              <a:latin typeface="Microsoft YaHei"/>
              <a:cs typeface="Microsoft YaHei"/>
            </a:endParaRPr>
          </a:p>
          <a:p>
            <a:pPr marL="325755" indent="-257810">
              <a:lnSpc>
                <a:spcPct val="100000"/>
              </a:lnSpc>
              <a:spcBef>
                <a:spcPts val="919"/>
              </a:spcBef>
              <a:buFont typeface="Wingdings"/>
              <a:buChar char=""/>
              <a:tabLst>
                <a:tab pos="325755" algn="l"/>
              </a:tabLst>
            </a:pPr>
            <a:r>
              <a:rPr dirty="0" sz="1100" spc="-25">
                <a:latin typeface="Microsoft YaHei"/>
                <a:cs typeface="Microsoft YaHei"/>
              </a:rPr>
              <a:t>计算和存储资源动态分配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608438" y="1630389"/>
            <a:ext cx="443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 b="1">
                <a:solidFill>
                  <a:srgbClr val="FFFFFF"/>
                </a:solidFill>
                <a:latin typeface="Microsoft YaHei"/>
                <a:cs typeface="Microsoft YaHei"/>
              </a:rPr>
              <a:t>软件化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662403" y="2386466"/>
            <a:ext cx="3048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 b="1">
                <a:solidFill>
                  <a:srgbClr val="FFFFFF"/>
                </a:solidFill>
                <a:latin typeface="Microsoft YaHei"/>
                <a:cs typeface="Microsoft YaHei"/>
              </a:rPr>
              <a:t>能力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662403" y="3250613"/>
            <a:ext cx="3378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 b="1">
                <a:solidFill>
                  <a:srgbClr val="FFFFFF"/>
                </a:solidFill>
                <a:latin typeface="Microsoft YaHei"/>
                <a:cs typeface="Microsoft YaHei"/>
              </a:rPr>
              <a:t>SDN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06327" y="1575727"/>
            <a:ext cx="3098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 b="1">
                <a:solidFill>
                  <a:srgbClr val="FFFFFF"/>
                </a:solidFill>
                <a:latin typeface="Microsoft YaHei"/>
                <a:cs typeface="Microsoft YaHei"/>
              </a:rPr>
              <a:t>SBA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690325" y="2602607"/>
            <a:ext cx="5067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FFFFFF"/>
                </a:solidFill>
                <a:latin typeface="Microsoft YaHei"/>
                <a:cs typeface="Microsoft YaHei"/>
              </a:rPr>
              <a:t>CU</a:t>
            </a:r>
            <a:r>
              <a:rPr dirty="0" sz="1100" spc="-40" b="1">
                <a:solidFill>
                  <a:srgbClr val="FFFFFF"/>
                </a:solidFill>
                <a:latin typeface="Microsoft YaHei"/>
                <a:cs typeface="Microsoft YaHei"/>
              </a:rPr>
              <a:t>分离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877989" y="3196573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NFV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463" y="1443286"/>
            <a:ext cx="7943848" cy="2757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3113" y="118237"/>
            <a:ext cx="379920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35"/>
              <a:t>新型</a:t>
            </a:r>
            <a:r>
              <a:rPr dirty="0" spc="-10">
                <a:latin typeface="Times New Roman"/>
                <a:cs typeface="Times New Roman"/>
              </a:rPr>
              <a:t>SDN</a:t>
            </a:r>
            <a:r>
              <a:rPr dirty="0" spc="-40"/>
              <a:t>网络架构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44461" y="1086815"/>
            <a:ext cx="2265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33CC"/>
                </a:solidFill>
                <a:latin typeface="Arial"/>
                <a:cs typeface="Arial"/>
              </a:rPr>
              <a:t>5G</a:t>
            </a:r>
            <a:r>
              <a:rPr dirty="0" sz="2400" spc="-10">
                <a:solidFill>
                  <a:srgbClr val="0033CC"/>
                </a:solidFill>
                <a:latin typeface="SimSun"/>
                <a:cs typeface="SimSun"/>
              </a:rPr>
              <a:t>网络逻辑架构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8276" y="4298378"/>
            <a:ext cx="7846695" cy="33909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dirty="0" sz="1600" spc="-5">
                <a:solidFill>
                  <a:srgbClr val="FF0000"/>
                </a:solidFill>
                <a:latin typeface="SimSun"/>
                <a:cs typeface="SimSun"/>
              </a:rPr>
              <a:t>接入网和核心网的逻辑功能界面清晰，但是部署方式却更加灵活，甚至可以融合部署</a:t>
            </a:r>
            <a:endParaRPr sz="16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5800"/>
            <a:ext cx="9144000" cy="421001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116988" y="3235034"/>
            <a:ext cx="226695" cy="109855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200" spc="-10" b="1">
                <a:solidFill>
                  <a:srgbClr val="003399"/>
                </a:solidFill>
                <a:latin typeface="Microsoft YaHei"/>
                <a:cs typeface="Microsoft YaHei"/>
              </a:rPr>
              <a:t>Resource</a:t>
            </a:r>
            <a:r>
              <a:rPr dirty="0" sz="1200" spc="-55" b="1">
                <a:solidFill>
                  <a:srgbClr val="003399"/>
                </a:solidFill>
                <a:latin typeface="Microsoft YaHei"/>
                <a:cs typeface="Microsoft YaHei"/>
              </a:rPr>
              <a:t> </a:t>
            </a:r>
            <a:r>
              <a:rPr dirty="0" sz="1200" spc="-20" b="1">
                <a:solidFill>
                  <a:srgbClr val="003399"/>
                </a:solidFill>
                <a:latin typeface="Microsoft YaHei"/>
                <a:cs typeface="Microsoft YaHei"/>
              </a:rPr>
              <a:t>Pool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901" y="841757"/>
            <a:ext cx="21348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Microsoft YaHei"/>
                <a:cs typeface="Microsoft YaHei"/>
              </a:rPr>
              <a:t>User</a:t>
            </a:r>
            <a:r>
              <a:rPr dirty="0" sz="1800" spc="-125" b="1">
                <a:solidFill>
                  <a:srgbClr val="7030A0"/>
                </a:solidFill>
                <a:latin typeface="Microsoft YaHei"/>
                <a:cs typeface="Microsoft YaHei"/>
              </a:rPr>
              <a:t> </a:t>
            </a:r>
            <a:r>
              <a:rPr dirty="0" sz="1800" spc="-10" b="1">
                <a:solidFill>
                  <a:srgbClr val="7030A0"/>
                </a:solidFill>
                <a:latin typeface="Microsoft YaHei"/>
                <a:cs typeface="Microsoft YaHei"/>
              </a:rPr>
              <a:t>Management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73979" y="4461181"/>
            <a:ext cx="1195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Microsoft YaHei"/>
                <a:cs typeface="Microsoft YaHei"/>
              </a:rPr>
              <a:t>NFV</a:t>
            </a:r>
            <a:r>
              <a:rPr dirty="0" sz="1800" spc="-110" b="1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800" spc="-25" b="1">
                <a:solidFill>
                  <a:srgbClr val="C00000"/>
                </a:solidFill>
                <a:latin typeface="Microsoft YaHei"/>
                <a:cs typeface="Microsoft YaHei"/>
              </a:rPr>
              <a:t>M&amp;O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76300" y="3520070"/>
            <a:ext cx="1330960" cy="56388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000" spc="-20" b="1">
                <a:solidFill>
                  <a:srgbClr val="002060"/>
                </a:solidFill>
                <a:latin typeface="Microsoft YaHei"/>
                <a:cs typeface="Microsoft YaHei"/>
              </a:rPr>
              <a:t>NFVI</a:t>
            </a:r>
            <a:endParaRPr sz="20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100" b="1">
                <a:solidFill>
                  <a:srgbClr val="002060"/>
                </a:solidFill>
                <a:latin typeface="Microsoft YaHei"/>
                <a:cs typeface="Microsoft YaHei"/>
              </a:rPr>
              <a:t>NFV</a:t>
            </a:r>
            <a:r>
              <a:rPr dirty="0" sz="1100" spc="-85" b="1">
                <a:solidFill>
                  <a:srgbClr val="002060"/>
                </a:solidFill>
                <a:latin typeface="Microsoft YaHei"/>
                <a:cs typeface="Microsoft YaHei"/>
              </a:rPr>
              <a:t> </a:t>
            </a:r>
            <a:r>
              <a:rPr dirty="0" sz="1100" spc="-10" b="1">
                <a:solidFill>
                  <a:srgbClr val="002060"/>
                </a:solidFill>
                <a:latin typeface="Microsoft YaHei"/>
                <a:cs typeface="Microsoft YaHei"/>
              </a:rPr>
              <a:t>Infrastructure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62224" y="4514331"/>
            <a:ext cx="32264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03399"/>
                </a:solidFill>
                <a:latin typeface="Microsoft YaHei"/>
                <a:cs typeface="Microsoft YaHei"/>
              </a:rPr>
              <a:t>Computer/Storage</a:t>
            </a:r>
            <a:r>
              <a:rPr dirty="0" sz="1100" spc="-60">
                <a:solidFill>
                  <a:srgbClr val="003399"/>
                </a:solidFill>
                <a:latin typeface="Microsoft YaHei"/>
                <a:cs typeface="Microsoft YaHei"/>
              </a:rPr>
              <a:t> </a:t>
            </a:r>
            <a:r>
              <a:rPr dirty="0" sz="1100">
                <a:solidFill>
                  <a:srgbClr val="003399"/>
                </a:solidFill>
                <a:latin typeface="Microsoft YaHei"/>
                <a:cs typeface="Microsoft YaHei"/>
              </a:rPr>
              <a:t>Resource</a:t>
            </a:r>
            <a:r>
              <a:rPr dirty="0" sz="1100" spc="250">
                <a:solidFill>
                  <a:srgbClr val="003399"/>
                </a:solidFill>
                <a:latin typeface="Microsoft YaHei"/>
                <a:cs typeface="Microsoft YaHei"/>
              </a:rPr>
              <a:t> </a:t>
            </a:r>
            <a:r>
              <a:rPr dirty="0" sz="1100">
                <a:solidFill>
                  <a:srgbClr val="003399"/>
                </a:solidFill>
                <a:latin typeface="Microsoft YaHei"/>
                <a:cs typeface="Microsoft YaHei"/>
              </a:rPr>
              <a:t>Network</a:t>
            </a:r>
            <a:r>
              <a:rPr dirty="0" sz="1100" spc="-35">
                <a:solidFill>
                  <a:srgbClr val="003399"/>
                </a:solidFill>
                <a:latin typeface="Microsoft YaHei"/>
                <a:cs typeface="Microsoft YaHei"/>
              </a:rPr>
              <a:t> </a:t>
            </a:r>
            <a:r>
              <a:rPr dirty="0" sz="1100" spc="-10">
                <a:solidFill>
                  <a:srgbClr val="003399"/>
                </a:solidFill>
                <a:latin typeface="Microsoft YaHei"/>
                <a:cs typeface="Microsoft YaHei"/>
              </a:rPr>
              <a:t>Resource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19600" y="3398266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61100" y="1999743"/>
            <a:ext cx="12503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2F2F2"/>
                </a:solidFill>
                <a:latin typeface="Microsoft YaHei"/>
                <a:cs typeface="Microsoft YaHei"/>
              </a:rPr>
              <a:t>VNF</a:t>
            </a:r>
            <a:r>
              <a:rPr dirty="0" sz="1400" spc="-75" b="1">
                <a:solidFill>
                  <a:srgbClr val="F2F2F2"/>
                </a:solidFill>
                <a:latin typeface="Microsoft YaHei"/>
                <a:cs typeface="Microsoft YaHei"/>
              </a:rPr>
              <a:t> </a:t>
            </a:r>
            <a:r>
              <a:rPr dirty="0" sz="1400" spc="-10" b="1">
                <a:solidFill>
                  <a:srgbClr val="F2F2F2"/>
                </a:solidFill>
                <a:latin typeface="Microsoft YaHei"/>
                <a:cs typeface="Microsoft YaHei"/>
              </a:rPr>
              <a:t>Manager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89418" y="869448"/>
            <a:ext cx="19640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0465" algn="l"/>
              </a:tabLst>
            </a:pPr>
            <a:r>
              <a:rPr dirty="0" sz="1400" spc="-35" b="1">
                <a:solidFill>
                  <a:srgbClr val="FFFFFF"/>
                </a:solidFill>
                <a:latin typeface="Microsoft YaHei"/>
                <a:cs typeface="Microsoft YaHei"/>
              </a:rPr>
              <a:t>Tenant</a:t>
            </a:r>
            <a:r>
              <a:rPr dirty="0" sz="1400" spc="-55" b="1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Microsoft YaHei"/>
                <a:cs typeface="Microsoft YaHei"/>
              </a:rPr>
              <a:t>A</a:t>
            </a: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1400" spc="-35" b="1">
                <a:solidFill>
                  <a:srgbClr val="FFFFFF"/>
                </a:solidFill>
                <a:latin typeface="Microsoft YaHei"/>
                <a:cs typeface="Microsoft YaHei"/>
              </a:rPr>
              <a:t>Tenant</a:t>
            </a:r>
            <a:r>
              <a:rPr dirty="0" sz="1400" spc="-55" b="1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Microsoft YaHei"/>
                <a:cs typeface="Microsoft YaHei"/>
              </a:rPr>
              <a:t>B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94200" y="3144267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73625" y="3029967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65700" y="2991867"/>
            <a:ext cx="5041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r>
              <a:rPr dirty="0" sz="600" spc="225" b="1">
                <a:solidFill>
                  <a:srgbClr val="FFFFFF"/>
                </a:solidFill>
                <a:latin typeface="Microsoft YaHei"/>
                <a:cs typeface="Microsoft YaHei"/>
              </a:rPr>
              <a:t>  </a:t>
            </a: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21249" y="3283941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41823" y="3258566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67046" y="3498597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49825" y="3296666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49800" y="3527553"/>
            <a:ext cx="2120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63601" y="1627769"/>
            <a:ext cx="1343660" cy="122618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000" spc="-25" b="1">
                <a:solidFill>
                  <a:srgbClr val="00B0F0"/>
                </a:solidFill>
                <a:latin typeface="Microsoft YaHei"/>
                <a:cs typeface="Microsoft YaHei"/>
              </a:rPr>
              <a:t>VNF</a:t>
            </a:r>
            <a:endParaRPr sz="2000">
              <a:latin typeface="Microsoft YaHei"/>
              <a:cs typeface="Microsoft YaHei"/>
            </a:endParaRPr>
          </a:p>
          <a:p>
            <a:pPr marL="12700" marR="565785">
              <a:lnSpc>
                <a:spcPts val="1300"/>
              </a:lnSpc>
              <a:spcBef>
                <a:spcPts val="245"/>
              </a:spcBef>
            </a:pPr>
            <a:r>
              <a:rPr dirty="0" sz="1100" spc="-10" b="1">
                <a:solidFill>
                  <a:srgbClr val="00B0F0"/>
                </a:solidFill>
                <a:latin typeface="Microsoft YaHei"/>
                <a:cs typeface="Microsoft YaHei"/>
              </a:rPr>
              <a:t>Virtualised Network Function</a:t>
            </a:r>
            <a:endParaRPr sz="1100">
              <a:latin typeface="Microsoft YaHei"/>
              <a:cs typeface="Microsoft YaHei"/>
            </a:endParaRPr>
          </a:p>
          <a:p>
            <a:pPr algn="ctr" marL="609600">
              <a:lnSpc>
                <a:spcPts val="1670"/>
              </a:lnSpc>
              <a:spcBef>
                <a:spcPts val="195"/>
              </a:spcBef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vRouter</a:t>
            </a:r>
            <a:endParaRPr sz="1400">
              <a:latin typeface="Microsoft YaHei"/>
              <a:cs typeface="Microsoft YaHei"/>
            </a:endParaRPr>
          </a:p>
          <a:p>
            <a:pPr algn="ctr" marL="671195">
              <a:lnSpc>
                <a:spcPts val="710"/>
              </a:lnSpc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357787" y="2525268"/>
            <a:ext cx="1438275" cy="328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  <a:tabLst>
                <a:tab pos="896619" algn="l"/>
              </a:tabLst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vRouter</a:t>
            </a: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1400" spc="-25" b="1">
                <a:solidFill>
                  <a:srgbClr val="FFFFFF"/>
                </a:solidFill>
                <a:latin typeface="Microsoft YaHei"/>
                <a:cs typeface="Microsoft YaHei"/>
              </a:rPr>
              <a:t>vFW</a:t>
            </a:r>
            <a:endParaRPr sz="1400">
              <a:latin typeface="Microsoft YaHei"/>
              <a:cs typeface="Microsoft YaHei"/>
            </a:endParaRPr>
          </a:p>
          <a:p>
            <a:pPr marL="443230">
              <a:lnSpc>
                <a:spcPts val="710"/>
              </a:lnSpc>
              <a:tabLst>
                <a:tab pos="1238250" algn="l"/>
              </a:tabLst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r>
              <a:rPr dirty="0" sz="6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10000" y="2507742"/>
            <a:ext cx="1717675" cy="33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621665" algn="l"/>
                <a:tab pos="1218565" algn="l"/>
              </a:tabLst>
            </a:pPr>
            <a:r>
              <a:rPr dirty="0" sz="1400" spc="-25" b="1">
                <a:solidFill>
                  <a:srgbClr val="FFFFFF"/>
                </a:solidFill>
                <a:latin typeface="Microsoft YaHei"/>
                <a:cs typeface="Microsoft YaHei"/>
              </a:rPr>
              <a:t>vFW</a:t>
            </a: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1400" spc="-20" b="1">
                <a:solidFill>
                  <a:srgbClr val="FFFFFF"/>
                </a:solidFill>
                <a:latin typeface="Microsoft YaHei"/>
                <a:cs typeface="Microsoft YaHei"/>
              </a:rPr>
              <a:t>vIPS</a:t>
            </a:r>
            <a:r>
              <a:rPr dirty="0" sz="14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1400" spc="-20" b="1">
                <a:solidFill>
                  <a:srgbClr val="FFFFFF"/>
                </a:solidFill>
                <a:latin typeface="Microsoft YaHei"/>
                <a:cs typeface="Microsoft YaHei"/>
              </a:rPr>
              <a:t>vNAT</a:t>
            </a:r>
            <a:endParaRPr sz="1400">
              <a:latin typeface="Microsoft YaHei"/>
              <a:cs typeface="Microsoft YaHei"/>
            </a:endParaRPr>
          </a:p>
          <a:p>
            <a:pPr algn="ctr" marR="50165">
              <a:lnSpc>
                <a:spcPct val="100000"/>
              </a:lnSpc>
              <a:spcBef>
                <a:spcPts val="20"/>
              </a:spcBef>
              <a:tabLst>
                <a:tab pos="608965" algn="l"/>
                <a:tab pos="1294765" algn="l"/>
              </a:tabLst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r>
              <a:rPr dirty="0" sz="6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r>
              <a:rPr dirty="0" sz="6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vNIC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261042" y="3338576"/>
            <a:ext cx="1266190" cy="6470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065" marR="5080" indent="-17145">
              <a:lnSpc>
                <a:spcPct val="95500"/>
              </a:lnSpc>
              <a:spcBef>
                <a:spcPts val="180"/>
              </a:spcBef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Virtualised Infrastructure Manager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11811" y="983720"/>
            <a:ext cx="11633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Microsoft YaHei"/>
                <a:cs typeface="Microsoft YaHei"/>
              </a:rPr>
              <a:t>Orchestrator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696201" y="3953255"/>
            <a:ext cx="789940" cy="38925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88900" marR="5080" indent="-76200">
              <a:lnSpc>
                <a:spcPts val="1420"/>
              </a:lnSpc>
              <a:spcBef>
                <a:spcPts val="165"/>
              </a:spcBef>
            </a:pPr>
            <a:r>
              <a:rPr dirty="0" sz="1200" spc="-10">
                <a:solidFill>
                  <a:srgbClr val="C00000"/>
                </a:solidFill>
                <a:latin typeface="SimSun"/>
                <a:cs typeface="SimSun"/>
              </a:rPr>
              <a:t>硬件资源化</a:t>
            </a:r>
            <a:r>
              <a:rPr dirty="0" sz="1200" spc="-15">
                <a:solidFill>
                  <a:srgbClr val="C00000"/>
                </a:solidFill>
                <a:latin typeface="SimSun"/>
                <a:cs typeface="SimSun"/>
              </a:rPr>
              <a:t>随需使用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658101" y="2187957"/>
            <a:ext cx="789940" cy="38925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88900" marR="5080" indent="-76200">
              <a:lnSpc>
                <a:spcPts val="1420"/>
              </a:lnSpc>
              <a:spcBef>
                <a:spcPts val="160"/>
              </a:spcBef>
            </a:pPr>
            <a:r>
              <a:rPr dirty="0" sz="1200" spc="-10">
                <a:solidFill>
                  <a:srgbClr val="C00000"/>
                </a:solidFill>
                <a:latin typeface="SimSun"/>
                <a:cs typeface="SimSun"/>
              </a:rPr>
              <a:t>功能虚拟化</a:t>
            </a:r>
            <a:r>
              <a:rPr dirty="0" sz="1200" spc="-15">
                <a:solidFill>
                  <a:srgbClr val="C00000"/>
                </a:solidFill>
                <a:latin typeface="SimSun"/>
                <a:cs typeface="SimSun"/>
              </a:rPr>
              <a:t>随需创建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581901" y="1146557"/>
            <a:ext cx="789940" cy="38925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88900" marR="5080" indent="-76200">
              <a:lnSpc>
                <a:spcPts val="1420"/>
              </a:lnSpc>
              <a:spcBef>
                <a:spcPts val="160"/>
              </a:spcBef>
            </a:pPr>
            <a:r>
              <a:rPr dirty="0" sz="1200" spc="-10">
                <a:solidFill>
                  <a:srgbClr val="C00000"/>
                </a:solidFill>
                <a:latin typeface="SimSun"/>
                <a:cs typeface="SimSun"/>
              </a:rPr>
              <a:t>网络虚拟化</a:t>
            </a:r>
            <a:r>
              <a:rPr dirty="0" sz="1200" spc="-15">
                <a:solidFill>
                  <a:srgbClr val="C00000"/>
                </a:solidFill>
                <a:latin typeface="SimSun"/>
                <a:cs typeface="SimSun"/>
              </a:rPr>
              <a:t>随需改变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921000" y="70613"/>
            <a:ext cx="330136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>
                <a:latin typeface="Times New Roman"/>
                <a:cs typeface="Times New Roman"/>
              </a:rPr>
              <a:t>NFV</a:t>
            </a:r>
            <a:r>
              <a:rPr dirty="0" spc="-40"/>
              <a:t>框架物理实现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0243" y="867408"/>
            <a:ext cx="4421505" cy="4081145"/>
            <a:chOff x="200243" y="867408"/>
            <a:chExt cx="4421505" cy="4081145"/>
          </a:xfrm>
        </p:grpSpPr>
        <p:sp>
          <p:nvSpPr>
            <p:cNvPr id="3" name="object 3" descr=""/>
            <p:cNvSpPr/>
            <p:nvPr/>
          </p:nvSpPr>
          <p:spPr>
            <a:xfrm>
              <a:off x="200243" y="1304305"/>
              <a:ext cx="4399280" cy="3644265"/>
            </a:xfrm>
            <a:custGeom>
              <a:avLst/>
              <a:gdLst/>
              <a:ahLst/>
              <a:cxnLst/>
              <a:rect l="l" t="t" r="r" b="b"/>
              <a:pathLst>
                <a:path w="4399280" h="3644265">
                  <a:moveTo>
                    <a:pt x="4399013" y="0"/>
                  </a:moveTo>
                  <a:lnTo>
                    <a:pt x="0" y="0"/>
                  </a:lnTo>
                  <a:lnTo>
                    <a:pt x="0" y="3643706"/>
                  </a:lnTo>
                  <a:lnTo>
                    <a:pt x="4399013" y="3643706"/>
                  </a:lnTo>
                  <a:lnTo>
                    <a:pt x="4399013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1447" y="867408"/>
              <a:ext cx="4410075" cy="433705"/>
            </a:xfrm>
            <a:custGeom>
              <a:avLst/>
              <a:gdLst/>
              <a:ahLst/>
              <a:cxnLst/>
              <a:rect l="l" t="t" r="r" b="b"/>
              <a:pathLst>
                <a:path w="4410075" h="433705">
                  <a:moveTo>
                    <a:pt x="4337735" y="0"/>
                  </a:moveTo>
                  <a:lnTo>
                    <a:pt x="72212" y="0"/>
                  </a:lnTo>
                  <a:lnTo>
                    <a:pt x="44105" y="5675"/>
                  </a:lnTo>
                  <a:lnTo>
                    <a:pt x="21151" y="21151"/>
                  </a:lnTo>
                  <a:lnTo>
                    <a:pt x="5675" y="44105"/>
                  </a:lnTo>
                  <a:lnTo>
                    <a:pt x="0" y="72212"/>
                  </a:lnTo>
                  <a:lnTo>
                    <a:pt x="0" y="361086"/>
                  </a:lnTo>
                  <a:lnTo>
                    <a:pt x="5675" y="389193"/>
                  </a:lnTo>
                  <a:lnTo>
                    <a:pt x="21151" y="412146"/>
                  </a:lnTo>
                  <a:lnTo>
                    <a:pt x="44105" y="427623"/>
                  </a:lnTo>
                  <a:lnTo>
                    <a:pt x="72212" y="433298"/>
                  </a:lnTo>
                  <a:lnTo>
                    <a:pt x="4337735" y="433298"/>
                  </a:lnTo>
                  <a:lnTo>
                    <a:pt x="4365847" y="427623"/>
                  </a:lnTo>
                  <a:lnTo>
                    <a:pt x="4388800" y="412146"/>
                  </a:lnTo>
                  <a:lnTo>
                    <a:pt x="4404274" y="389193"/>
                  </a:lnTo>
                  <a:lnTo>
                    <a:pt x="4409947" y="361086"/>
                  </a:lnTo>
                  <a:lnTo>
                    <a:pt x="4409947" y="72212"/>
                  </a:lnTo>
                  <a:lnTo>
                    <a:pt x="4404274" y="44105"/>
                  </a:lnTo>
                  <a:lnTo>
                    <a:pt x="4388800" y="21151"/>
                  </a:lnTo>
                  <a:lnTo>
                    <a:pt x="4365847" y="5675"/>
                  </a:lnTo>
                  <a:lnTo>
                    <a:pt x="4337735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4726863" y="2705341"/>
            <a:ext cx="4166235" cy="2212975"/>
          </a:xfrm>
          <a:custGeom>
            <a:avLst/>
            <a:gdLst/>
            <a:ahLst/>
            <a:cxnLst/>
            <a:rect l="l" t="t" r="r" b="b"/>
            <a:pathLst>
              <a:path w="4166234" h="2212975">
                <a:moveTo>
                  <a:pt x="4165612" y="0"/>
                </a:moveTo>
                <a:lnTo>
                  <a:pt x="0" y="0"/>
                </a:lnTo>
                <a:lnTo>
                  <a:pt x="0" y="2212505"/>
                </a:lnTo>
                <a:lnTo>
                  <a:pt x="4165612" y="2212505"/>
                </a:lnTo>
                <a:lnTo>
                  <a:pt x="416561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21919" y="876858"/>
            <a:ext cx="4318000" cy="37846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69215" marR="175260" indent="151130">
              <a:lnSpc>
                <a:spcPct val="100000"/>
              </a:lnSpc>
              <a:spcBef>
                <a:spcPts val="250"/>
              </a:spcBef>
            </a:pP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2015</a:t>
            </a:r>
            <a:r>
              <a:rPr dirty="0" sz="1000">
                <a:solidFill>
                  <a:srgbClr val="FFFFFF"/>
                </a:solidFill>
                <a:latin typeface="SimSun"/>
                <a:cs typeface="SimSun"/>
              </a:rPr>
              <a:t>年</a:t>
            </a: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7</a:t>
            </a:r>
            <a:r>
              <a:rPr dirty="0" sz="1000" spc="-10">
                <a:solidFill>
                  <a:srgbClr val="FFFFFF"/>
                </a:solidFill>
                <a:latin typeface="SimSun"/>
                <a:cs typeface="SimSun"/>
              </a:rPr>
              <a:t>月，中国移动在上海世界移动大会和</a:t>
            </a: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GTI</a:t>
            </a:r>
            <a:r>
              <a:rPr dirty="0" sz="1000" spc="-15">
                <a:solidFill>
                  <a:srgbClr val="FFFFFF"/>
                </a:solidFill>
                <a:latin typeface="SimSun"/>
                <a:cs typeface="SimSun"/>
              </a:rPr>
              <a:t>亚洲大会期间，正式</a:t>
            </a:r>
            <a:r>
              <a:rPr dirty="0" sz="1000" spc="-10">
                <a:solidFill>
                  <a:srgbClr val="FFFFFF"/>
                </a:solidFill>
                <a:latin typeface="SimSun"/>
                <a:cs typeface="SimSun"/>
              </a:rPr>
              <a:t>推出下一代革新网络“</a:t>
            </a:r>
            <a:r>
              <a:rPr dirty="0" sz="1000" spc="-10" b="1">
                <a:solidFill>
                  <a:srgbClr val="FF0000"/>
                </a:solidFill>
                <a:latin typeface="Microsoft YaHei"/>
                <a:cs typeface="Microsoft YaHei"/>
              </a:rPr>
              <a:t>NovoNet</a:t>
            </a: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”</a:t>
            </a:r>
            <a:r>
              <a:rPr dirty="0" sz="1000" spc="-5">
                <a:solidFill>
                  <a:srgbClr val="FFFFFF"/>
                </a:solidFill>
                <a:latin typeface="SimSun"/>
                <a:cs typeface="SimSun"/>
              </a:rPr>
              <a:t>，并发布</a:t>
            </a:r>
            <a:r>
              <a:rPr dirty="0" sz="1000" spc="-10" b="1">
                <a:solidFill>
                  <a:srgbClr val="FFFFFF"/>
                </a:solidFill>
                <a:latin typeface="Microsoft YaHei"/>
                <a:cs typeface="Microsoft YaHei"/>
              </a:rPr>
              <a:t>NovoNet2020</a:t>
            </a:r>
            <a:r>
              <a:rPr dirty="0" sz="1000" spc="-20">
                <a:solidFill>
                  <a:srgbClr val="FFFFFF"/>
                </a:solidFill>
                <a:latin typeface="SimSun"/>
                <a:cs typeface="SimSun"/>
              </a:rPr>
              <a:t>愿景。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30" y="1340765"/>
            <a:ext cx="4266372" cy="3557357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4700142" y="913409"/>
            <a:ext cx="4257040" cy="1732914"/>
          </a:xfrm>
          <a:custGeom>
            <a:avLst/>
            <a:gdLst/>
            <a:ahLst/>
            <a:cxnLst/>
            <a:rect l="l" t="t" r="r" b="b"/>
            <a:pathLst>
              <a:path w="4257040" h="1732914">
                <a:moveTo>
                  <a:pt x="4256620" y="0"/>
                </a:moveTo>
                <a:lnTo>
                  <a:pt x="0" y="0"/>
                </a:lnTo>
                <a:lnTo>
                  <a:pt x="0" y="1732381"/>
                </a:lnTo>
                <a:lnTo>
                  <a:pt x="4256620" y="1732381"/>
                </a:lnTo>
                <a:lnTo>
                  <a:pt x="425662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738855" y="897464"/>
            <a:ext cx="4130040" cy="395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200" b="1">
                <a:latin typeface="Microsoft JhengHei"/>
                <a:cs typeface="Microsoft JhengHei"/>
              </a:rPr>
              <a:t>愿景：融合</a:t>
            </a:r>
            <a:r>
              <a:rPr dirty="0" sz="1200" spc="-155">
                <a:latin typeface="Arial Black"/>
                <a:cs typeface="Arial Black"/>
              </a:rPr>
              <a:t>NFV</a:t>
            </a:r>
            <a:r>
              <a:rPr dirty="0" sz="1200" b="1">
                <a:latin typeface="Microsoft JhengHei"/>
                <a:cs typeface="Microsoft JhengHei"/>
              </a:rPr>
              <a:t>、</a:t>
            </a:r>
            <a:r>
              <a:rPr dirty="0" sz="1200" spc="-155">
                <a:latin typeface="Arial Black"/>
                <a:cs typeface="Arial Black"/>
              </a:rPr>
              <a:t>SDN</a:t>
            </a:r>
            <a:r>
              <a:rPr dirty="0" sz="1200" spc="-5" b="1">
                <a:latin typeface="Microsoft JhengHei"/>
                <a:cs typeface="Microsoft JhengHei"/>
              </a:rPr>
              <a:t>等新技术，构建新一代网络，以适应中</a:t>
            </a:r>
            <a:r>
              <a:rPr dirty="0" sz="1200" b="1">
                <a:latin typeface="Microsoft JhengHei"/>
                <a:cs typeface="Microsoft JhengHei"/>
              </a:rPr>
              <a:t>国移动数字化服务战略布局的发展需要，为互联网</a:t>
            </a:r>
            <a:r>
              <a:rPr dirty="0" sz="1200" spc="-75">
                <a:latin typeface="Arial Black"/>
                <a:cs typeface="Arial Black"/>
              </a:rPr>
              <a:t>+</a:t>
            </a:r>
            <a:r>
              <a:rPr dirty="0" sz="1200" spc="-15" b="1">
                <a:latin typeface="Microsoft JhengHei"/>
                <a:cs typeface="Microsoft JhengHei"/>
              </a:rPr>
              <a:t>发展奠定网络基础</a:t>
            </a:r>
            <a:endParaRPr sz="1200">
              <a:latin typeface="Microsoft JhengHei"/>
              <a:cs typeface="Microsoft JhengHei"/>
            </a:endParaRPr>
          </a:p>
          <a:p>
            <a:pPr marL="226695" indent="-213995">
              <a:lnSpc>
                <a:spcPct val="100000"/>
              </a:lnSpc>
              <a:spcBef>
                <a:spcPts val="430"/>
              </a:spcBef>
              <a:buSzPct val="70833"/>
              <a:buFont typeface="Wingdings"/>
              <a:buChar char=""/>
              <a:tabLst>
                <a:tab pos="226695" algn="l"/>
              </a:tabLst>
            </a:pPr>
            <a:r>
              <a:rPr dirty="0" sz="1200" spc="-10" b="1">
                <a:latin typeface="Microsoft JhengHei"/>
                <a:cs typeface="Microsoft JhengHei"/>
              </a:rPr>
              <a:t>资源可全局调度</a:t>
            </a:r>
            <a:endParaRPr sz="1200">
              <a:latin typeface="Microsoft JhengHei"/>
              <a:cs typeface="Microsoft JhengHei"/>
            </a:endParaRPr>
          </a:p>
          <a:p>
            <a:pPr marL="226695" indent="-213995">
              <a:lnSpc>
                <a:spcPct val="100000"/>
              </a:lnSpc>
              <a:spcBef>
                <a:spcPts val="430"/>
              </a:spcBef>
              <a:buSzPct val="70833"/>
              <a:buFont typeface="Wingdings"/>
              <a:buChar char=""/>
              <a:tabLst>
                <a:tab pos="226695" algn="l"/>
              </a:tabLst>
            </a:pPr>
            <a:r>
              <a:rPr dirty="0" sz="1200" spc="-10" b="1">
                <a:latin typeface="Microsoft JhengHei"/>
                <a:cs typeface="Microsoft JhengHei"/>
              </a:rPr>
              <a:t>能力可全面开放</a:t>
            </a:r>
            <a:endParaRPr sz="1200">
              <a:latin typeface="Microsoft JhengHei"/>
              <a:cs typeface="Microsoft JhengHei"/>
            </a:endParaRPr>
          </a:p>
          <a:p>
            <a:pPr marL="226695" indent="-213995">
              <a:lnSpc>
                <a:spcPct val="100000"/>
              </a:lnSpc>
              <a:spcBef>
                <a:spcPts val="434"/>
              </a:spcBef>
              <a:buSzPct val="70833"/>
              <a:buFont typeface="Wingdings"/>
              <a:buChar char=""/>
              <a:tabLst>
                <a:tab pos="226695" algn="l"/>
              </a:tabLst>
            </a:pPr>
            <a:r>
              <a:rPr dirty="0" sz="1200" spc="-10" b="1">
                <a:latin typeface="Microsoft JhengHei"/>
                <a:cs typeface="Microsoft JhengHei"/>
              </a:rPr>
              <a:t>容量可弹性伸缩</a:t>
            </a:r>
            <a:endParaRPr sz="1200">
              <a:latin typeface="Microsoft JhengHei"/>
              <a:cs typeface="Microsoft JhengHei"/>
            </a:endParaRPr>
          </a:p>
          <a:p>
            <a:pPr marL="226695" indent="-213995">
              <a:lnSpc>
                <a:spcPct val="100000"/>
              </a:lnSpc>
              <a:spcBef>
                <a:spcPts val="430"/>
              </a:spcBef>
              <a:buSzPct val="70833"/>
              <a:buFont typeface="Wingdings"/>
              <a:buChar char=""/>
              <a:tabLst>
                <a:tab pos="226695" algn="l"/>
              </a:tabLst>
            </a:pPr>
            <a:r>
              <a:rPr dirty="0" sz="1200" spc="-10" b="1">
                <a:latin typeface="Microsoft JhengHei"/>
                <a:cs typeface="Microsoft JhengHei"/>
              </a:rPr>
              <a:t>架构可灵活调整</a:t>
            </a:r>
            <a:endParaRPr sz="1200">
              <a:latin typeface="Microsoft JhengHei"/>
              <a:cs typeface="Microsoft JhengHei"/>
            </a:endParaRPr>
          </a:p>
          <a:p>
            <a:pPr marL="39370" marR="24130" indent="213995">
              <a:lnSpc>
                <a:spcPct val="130000"/>
              </a:lnSpc>
              <a:spcBef>
                <a:spcPts val="1005"/>
              </a:spcBef>
              <a:buSzPct val="70833"/>
              <a:buFont typeface="Wingdings"/>
              <a:buChar char=""/>
              <a:tabLst>
                <a:tab pos="253365" algn="l"/>
              </a:tabLst>
            </a:pPr>
            <a:r>
              <a:rPr dirty="0" sz="1200" spc="-35" b="1">
                <a:latin typeface="Microsoft JhengHei"/>
                <a:cs typeface="Microsoft JhengHei"/>
              </a:rPr>
              <a:t>构建产业联盟：</a:t>
            </a:r>
            <a:r>
              <a:rPr dirty="0" sz="1200" spc="-215">
                <a:latin typeface="Arial Black"/>
                <a:cs typeface="Arial Black"/>
              </a:rPr>
              <a:t>ETSI</a:t>
            </a:r>
            <a:r>
              <a:rPr dirty="0" sz="1200" spc="-50">
                <a:latin typeface="Arial Black"/>
                <a:cs typeface="Arial Black"/>
              </a:rPr>
              <a:t> </a:t>
            </a:r>
            <a:r>
              <a:rPr dirty="0" sz="1200" spc="-155">
                <a:latin typeface="Arial Black"/>
                <a:cs typeface="Arial Black"/>
              </a:rPr>
              <a:t>NFV</a:t>
            </a:r>
            <a:r>
              <a:rPr dirty="0" sz="1200" spc="-40">
                <a:latin typeface="Arial Black"/>
                <a:cs typeface="Arial Black"/>
              </a:rPr>
              <a:t> </a:t>
            </a:r>
            <a:r>
              <a:rPr dirty="0" sz="1200" spc="-145">
                <a:latin typeface="Arial Black"/>
                <a:cs typeface="Arial Black"/>
              </a:rPr>
              <a:t>ISG</a:t>
            </a:r>
            <a:r>
              <a:rPr dirty="0" sz="1200" spc="-20" b="1">
                <a:latin typeface="Microsoft JhengHei"/>
                <a:cs typeface="Microsoft JhengHei"/>
              </a:rPr>
              <a:t>首批成员，</a:t>
            </a:r>
            <a:r>
              <a:rPr dirty="0" sz="1200" spc="-100">
                <a:latin typeface="Arial Black"/>
                <a:cs typeface="Arial Black"/>
              </a:rPr>
              <a:t>OPNFV</a:t>
            </a:r>
            <a:r>
              <a:rPr dirty="0" sz="1200" b="1">
                <a:latin typeface="Microsoft JhengHei"/>
                <a:cs typeface="Microsoft JhengHei"/>
              </a:rPr>
              <a:t>和</a:t>
            </a:r>
            <a:r>
              <a:rPr dirty="0" sz="1200" spc="-75">
                <a:latin typeface="Arial Black"/>
                <a:cs typeface="Arial Black"/>
              </a:rPr>
              <a:t>OPEN- </a:t>
            </a:r>
            <a:r>
              <a:rPr dirty="0" sz="1200" spc="-40">
                <a:latin typeface="Arial Black"/>
                <a:cs typeface="Arial Black"/>
              </a:rPr>
              <a:t>O</a:t>
            </a:r>
            <a:r>
              <a:rPr dirty="0" sz="1200" spc="-40" b="1">
                <a:latin typeface="Microsoft JhengHei"/>
                <a:cs typeface="Microsoft JhengHei"/>
              </a:rPr>
              <a:t>（</a:t>
            </a:r>
            <a:r>
              <a:rPr dirty="0" sz="1200" spc="-40">
                <a:latin typeface="Arial Black"/>
                <a:cs typeface="Arial Black"/>
              </a:rPr>
              <a:t>ONAP</a:t>
            </a:r>
            <a:r>
              <a:rPr dirty="0" sz="1200" spc="-40" b="1">
                <a:latin typeface="Microsoft JhengHei"/>
                <a:cs typeface="Microsoft JhengHei"/>
              </a:rPr>
              <a:t>）</a:t>
            </a:r>
            <a:r>
              <a:rPr dirty="0" sz="1200" spc="-20" b="1">
                <a:latin typeface="Microsoft JhengHei"/>
                <a:cs typeface="Microsoft JhengHei"/>
              </a:rPr>
              <a:t>创始人</a:t>
            </a:r>
            <a:endParaRPr sz="1200">
              <a:latin typeface="Microsoft JhengHei"/>
              <a:cs typeface="Microsoft JhengHei"/>
            </a:endParaRPr>
          </a:p>
          <a:p>
            <a:pPr algn="just" marL="39370" marR="113030" indent="213360">
              <a:lnSpc>
                <a:spcPct val="130000"/>
              </a:lnSpc>
              <a:buSzPct val="70833"/>
              <a:buFont typeface="Wingdings"/>
              <a:buChar char=""/>
              <a:tabLst>
                <a:tab pos="252729" algn="l"/>
              </a:tabLst>
            </a:pPr>
            <a:r>
              <a:rPr dirty="0" sz="1200" b="1">
                <a:latin typeface="Microsoft JhengHei"/>
                <a:cs typeface="Microsoft JhengHei"/>
              </a:rPr>
              <a:t>重视顶层设计，集团成立</a:t>
            </a:r>
            <a:r>
              <a:rPr dirty="0" sz="1200" spc="-150">
                <a:latin typeface="Arial Black"/>
                <a:cs typeface="Arial Black"/>
              </a:rPr>
              <a:t>5</a:t>
            </a:r>
            <a:r>
              <a:rPr dirty="0" sz="1200" spc="-5" b="1">
                <a:latin typeface="Microsoft JhengHei"/>
                <a:cs typeface="Microsoft JhengHei"/>
              </a:rPr>
              <a:t>个工作组进行研究，计划部、</a:t>
            </a:r>
            <a:r>
              <a:rPr dirty="0" sz="1200" b="1">
                <a:latin typeface="Microsoft JhengHei"/>
                <a:cs typeface="Microsoft JhengHei"/>
              </a:rPr>
              <a:t>技术部、研究院多点切入，稳步推进</a:t>
            </a:r>
            <a:r>
              <a:rPr dirty="0" sz="1200" spc="-155">
                <a:latin typeface="Arial Black"/>
                <a:cs typeface="Arial Black"/>
              </a:rPr>
              <a:t>NFV</a:t>
            </a:r>
            <a:r>
              <a:rPr dirty="0" sz="1200" spc="-35" b="1">
                <a:latin typeface="Microsoft JhengHei"/>
                <a:cs typeface="Microsoft JhengHei"/>
              </a:rPr>
              <a:t>进展；</a:t>
            </a:r>
            <a:r>
              <a:rPr dirty="0" sz="1200" spc="-100">
                <a:latin typeface="Arial Black"/>
                <a:cs typeface="Arial Black"/>
              </a:rPr>
              <a:t>17</a:t>
            </a:r>
            <a:r>
              <a:rPr dirty="0" sz="1200" spc="-15" b="1">
                <a:latin typeface="Microsoft JhengHei"/>
                <a:cs typeface="Microsoft JhengHei"/>
              </a:rPr>
              <a:t>年新增安全工作组</a:t>
            </a:r>
            <a:endParaRPr sz="1200">
              <a:latin typeface="Microsoft JhengHei"/>
              <a:cs typeface="Microsoft JhengHei"/>
            </a:endParaRPr>
          </a:p>
          <a:p>
            <a:pPr algn="just" marL="252729" indent="-213360">
              <a:lnSpc>
                <a:spcPct val="100000"/>
              </a:lnSpc>
              <a:spcBef>
                <a:spcPts val="434"/>
              </a:spcBef>
              <a:buSzPct val="70833"/>
              <a:buFont typeface="Wingdings"/>
              <a:buChar char=""/>
              <a:tabLst>
                <a:tab pos="252729" algn="l"/>
              </a:tabLst>
            </a:pPr>
            <a:r>
              <a:rPr dirty="0" sz="1200" b="1">
                <a:latin typeface="Microsoft JhengHei"/>
                <a:cs typeface="Microsoft JhengHei"/>
              </a:rPr>
              <a:t>计划部主导外场试点，完成</a:t>
            </a:r>
            <a:r>
              <a:rPr dirty="0" sz="1200" spc="-155">
                <a:latin typeface="Arial Black"/>
                <a:cs typeface="Arial Black"/>
              </a:rPr>
              <a:t>vIMS</a:t>
            </a:r>
            <a:r>
              <a:rPr dirty="0" sz="1200" spc="-15" b="1">
                <a:latin typeface="Microsoft JhengHei"/>
                <a:cs typeface="Microsoft JhengHei"/>
              </a:rPr>
              <a:t>试点测试</a:t>
            </a:r>
            <a:endParaRPr sz="1200">
              <a:latin typeface="Microsoft JhengHei"/>
              <a:cs typeface="Microsoft JhengHei"/>
            </a:endParaRPr>
          </a:p>
          <a:p>
            <a:pPr algn="just" marL="252729" indent="-213360">
              <a:lnSpc>
                <a:spcPct val="100000"/>
              </a:lnSpc>
              <a:spcBef>
                <a:spcPts val="430"/>
              </a:spcBef>
              <a:buSzPct val="70833"/>
              <a:buFont typeface="Wingdings"/>
              <a:buChar char=""/>
              <a:tabLst>
                <a:tab pos="252729" algn="l"/>
              </a:tabLst>
            </a:pPr>
            <a:r>
              <a:rPr dirty="0" sz="1200" b="1">
                <a:latin typeface="Microsoft JhengHei"/>
                <a:cs typeface="Microsoft JhengHei"/>
              </a:rPr>
              <a:t>技术部主导</a:t>
            </a:r>
            <a:r>
              <a:rPr dirty="0" sz="1200" spc="-80">
                <a:latin typeface="Arial Black"/>
                <a:cs typeface="Arial Black"/>
              </a:rPr>
              <a:t>NovoNet</a:t>
            </a:r>
            <a:r>
              <a:rPr dirty="0" sz="1200" spc="-15" b="1">
                <a:latin typeface="Microsoft JhengHei"/>
                <a:cs typeface="Microsoft JhengHei"/>
              </a:rPr>
              <a:t>外场试点</a:t>
            </a:r>
            <a:endParaRPr sz="1200">
              <a:latin typeface="Microsoft JhengHei"/>
              <a:cs typeface="Microsoft JhengHei"/>
            </a:endParaRPr>
          </a:p>
          <a:p>
            <a:pPr algn="just" marL="39370" marR="124460" indent="213360">
              <a:lnSpc>
                <a:spcPct val="130000"/>
              </a:lnSpc>
              <a:buSzPct val="70833"/>
              <a:buFont typeface="Wingdings"/>
              <a:buChar char=""/>
              <a:tabLst>
                <a:tab pos="252729" algn="l"/>
              </a:tabLst>
            </a:pPr>
            <a:r>
              <a:rPr dirty="0" sz="1200" b="1">
                <a:latin typeface="Microsoft JhengHei"/>
                <a:cs typeface="Microsoft JhengHei"/>
              </a:rPr>
              <a:t>强化自研：启动</a:t>
            </a:r>
            <a:r>
              <a:rPr dirty="0" sz="1200" spc="-60">
                <a:latin typeface="Arial Black"/>
                <a:cs typeface="Arial Black"/>
              </a:rPr>
              <a:t>CloudOS</a:t>
            </a:r>
            <a:r>
              <a:rPr dirty="0" sz="1200" spc="-60" b="1">
                <a:latin typeface="Microsoft JhengHei"/>
                <a:cs typeface="Microsoft JhengHei"/>
              </a:rPr>
              <a:t>（</a:t>
            </a:r>
            <a:r>
              <a:rPr dirty="0" sz="1200" b="1">
                <a:latin typeface="Microsoft JhengHei"/>
                <a:cs typeface="Microsoft JhengHei"/>
              </a:rPr>
              <a:t>大云）、</a:t>
            </a:r>
            <a:r>
              <a:rPr dirty="0" sz="1200" spc="-50">
                <a:latin typeface="Arial Black"/>
                <a:cs typeface="Arial Black"/>
              </a:rPr>
              <a:t>MANO</a:t>
            </a:r>
            <a:r>
              <a:rPr dirty="0" sz="1200" spc="-50" b="1">
                <a:latin typeface="Microsoft JhengHei"/>
                <a:cs typeface="Microsoft JhengHei"/>
              </a:rPr>
              <a:t>（</a:t>
            </a:r>
            <a:r>
              <a:rPr dirty="0" sz="1200" spc="-50">
                <a:latin typeface="Arial Black"/>
                <a:cs typeface="Arial Black"/>
              </a:rPr>
              <a:t>ONAP</a:t>
            </a:r>
            <a:r>
              <a:rPr dirty="0" sz="1200" spc="-50" b="1">
                <a:latin typeface="Microsoft JhengHei"/>
                <a:cs typeface="Microsoft JhengHei"/>
              </a:rPr>
              <a:t>）</a:t>
            </a:r>
            <a:r>
              <a:rPr dirty="0" sz="1200" spc="-20" b="1">
                <a:latin typeface="Microsoft JhengHei"/>
                <a:cs typeface="Microsoft JhengHei"/>
              </a:rPr>
              <a:t>的自研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02429" y="186450"/>
            <a:ext cx="51473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中国移动</a:t>
            </a:r>
            <a:r>
              <a:rPr dirty="0" spc="-10">
                <a:latin typeface="Times New Roman"/>
                <a:cs typeface="Times New Roman"/>
              </a:rPr>
              <a:t>NFV</a:t>
            </a:r>
            <a:r>
              <a:rPr dirty="0" spc="-10"/>
              <a:t>：</a:t>
            </a:r>
            <a:r>
              <a:rPr dirty="0" sz="3100" spc="-10">
                <a:latin typeface="Times New Roman"/>
                <a:cs typeface="Times New Roman"/>
              </a:rPr>
              <a:t>NovoNet2020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26781" y="4852559"/>
            <a:ext cx="4629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6172" sz="1350">
                <a:solidFill>
                  <a:srgbClr val="DADADA"/>
                </a:solidFill>
                <a:latin typeface="Microsoft YaHei"/>
                <a:cs typeface="Microsoft YaHei"/>
              </a:rPr>
              <a:t>Page</a:t>
            </a:r>
            <a:r>
              <a:rPr dirty="0" baseline="6172" sz="1350" spc="-75">
                <a:solidFill>
                  <a:srgbClr val="DADADA"/>
                </a:solidFill>
                <a:latin typeface="Microsoft YaHei"/>
                <a:cs typeface="Microsoft YaHei"/>
              </a:rPr>
              <a:t> </a:t>
            </a:r>
            <a:r>
              <a:rPr dirty="0" sz="900" spc="-25">
                <a:solidFill>
                  <a:srgbClr val="DADADA"/>
                </a:solidFill>
                <a:latin typeface="Microsoft YaHei"/>
                <a:cs typeface="Microsoft YaHei"/>
              </a:rPr>
              <a:t>44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85462" y="4841929"/>
            <a:ext cx="11296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ADADA"/>
                </a:solidFill>
                <a:latin typeface="Microsoft YaHei"/>
                <a:cs typeface="Microsoft YaHei"/>
              </a:rPr>
              <a:t>Huawei</a:t>
            </a:r>
            <a:r>
              <a:rPr dirty="0" sz="900" spc="-50">
                <a:solidFill>
                  <a:srgbClr val="DADADA"/>
                </a:solidFill>
                <a:latin typeface="Microsoft YaHei"/>
                <a:cs typeface="Microsoft YaHei"/>
              </a:rPr>
              <a:t> </a:t>
            </a:r>
            <a:r>
              <a:rPr dirty="0" sz="900" spc="-10">
                <a:solidFill>
                  <a:srgbClr val="DADADA"/>
                </a:solidFill>
                <a:latin typeface="Microsoft YaHei"/>
                <a:cs typeface="Microsoft YaHei"/>
              </a:rPr>
              <a:t>Confidential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362200" y="4897221"/>
            <a:ext cx="680720" cy="246379"/>
          </a:xfrm>
          <a:custGeom>
            <a:avLst/>
            <a:gdLst/>
            <a:ahLst/>
            <a:cxnLst/>
            <a:rect l="l" t="t" r="r" b="b"/>
            <a:pathLst>
              <a:path w="680719" h="246379">
                <a:moveTo>
                  <a:pt x="680326" y="0"/>
                </a:moveTo>
                <a:lnTo>
                  <a:pt x="0" y="0"/>
                </a:lnTo>
                <a:lnTo>
                  <a:pt x="0" y="246278"/>
                </a:lnTo>
                <a:lnTo>
                  <a:pt x="680326" y="246278"/>
                </a:lnTo>
                <a:lnTo>
                  <a:pt x="68032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587235" y="4943226"/>
            <a:ext cx="2292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0">
                <a:solidFill>
                  <a:srgbClr val="FFFFFF"/>
                </a:solidFill>
                <a:latin typeface="SimSun"/>
                <a:cs typeface="SimSun"/>
              </a:rPr>
              <a:t>试点</a:t>
            </a:r>
            <a:endParaRPr sz="800">
              <a:latin typeface="SimSun"/>
              <a:cs typeface="SimSu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581400" y="4897234"/>
            <a:ext cx="726440" cy="246379"/>
          </a:xfrm>
          <a:custGeom>
            <a:avLst/>
            <a:gdLst/>
            <a:ahLst/>
            <a:cxnLst/>
            <a:rect l="l" t="t" r="r" b="b"/>
            <a:pathLst>
              <a:path w="726439" h="246379">
                <a:moveTo>
                  <a:pt x="725957" y="0"/>
                </a:moveTo>
                <a:lnTo>
                  <a:pt x="0" y="0"/>
                </a:lnTo>
                <a:lnTo>
                  <a:pt x="0" y="246265"/>
                </a:lnTo>
                <a:lnTo>
                  <a:pt x="725957" y="246265"/>
                </a:lnTo>
                <a:lnTo>
                  <a:pt x="725957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727583" y="4943226"/>
            <a:ext cx="4337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FFFFFF"/>
                </a:solidFill>
                <a:latin typeface="SimSun"/>
                <a:cs typeface="SimSun"/>
              </a:rPr>
              <a:t>规模商用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46252" y="4114456"/>
            <a:ext cx="2233930" cy="226060"/>
            <a:chOff x="346252" y="4114456"/>
            <a:chExt cx="2233930" cy="226060"/>
          </a:xfrm>
        </p:grpSpPr>
        <p:sp>
          <p:nvSpPr>
            <p:cNvPr id="9" name="object 9" descr=""/>
            <p:cNvSpPr/>
            <p:nvPr/>
          </p:nvSpPr>
          <p:spPr>
            <a:xfrm>
              <a:off x="346252" y="4114456"/>
              <a:ext cx="1457325" cy="163830"/>
            </a:xfrm>
            <a:custGeom>
              <a:avLst/>
              <a:gdLst/>
              <a:ahLst/>
              <a:cxnLst/>
              <a:rect l="l" t="t" r="r" b="b"/>
              <a:pathLst>
                <a:path w="1457325" h="163829">
                  <a:moveTo>
                    <a:pt x="1457020" y="0"/>
                  </a:moveTo>
                  <a:lnTo>
                    <a:pt x="0" y="0"/>
                  </a:lnTo>
                  <a:lnTo>
                    <a:pt x="0" y="163550"/>
                  </a:lnTo>
                  <a:lnTo>
                    <a:pt x="1457020" y="163550"/>
                  </a:lnTo>
                  <a:lnTo>
                    <a:pt x="145702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52600" y="4124591"/>
              <a:ext cx="827405" cy="215900"/>
            </a:xfrm>
            <a:custGeom>
              <a:avLst/>
              <a:gdLst/>
              <a:ahLst/>
              <a:cxnLst/>
              <a:rect l="l" t="t" r="r" b="b"/>
              <a:pathLst>
                <a:path w="827405" h="215900">
                  <a:moveTo>
                    <a:pt x="827277" y="0"/>
                  </a:moveTo>
                  <a:lnTo>
                    <a:pt x="0" y="0"/>
                  </a:lnTo>
                  <a:lnTo>
                    <a:pt x="0" y="215455"/>
                  </a:lnTo>
                  <a:lnTo>
                    <a:pt x="827277" y="215455"/>
                  </a:lnTo>
                  <a:lnTo>
                    <a:pt x="827277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871536" y="4153809"/>
            <a:ext cx="5886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IMS/VoLTE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19836" y="4403407"/>
            <a:ext cx="1354455" cy="163830"/>
            <a:chOff x="519836" y="4403407"/>
            <a:chExt cx="1354455" cy="163830"/>
          </a:xfrm>
        </p:grpSpPr>
        <p:sp>
          <p:nvSpPr>
            <p:cNvPr id="13" name="object 13" descr=""/>
            <p:cNvSpPr/>
            <p:nvPr/>
          </p:nvSpPr>
          <p:spPr>
            <a:xfrm>
              <a:off x="519836" y="4403420"/>
              <a:ext cx="641350" cy="163830"/>
            </a:xfrm>
            <a:custGeom>
              <a:avLst/>
              <a:gdLst/>
              <a:ahLst/>
              <a:cxnLst/>
              <a:rect l="l" t="t" r="r" b="b"/>
              <a:pathLst>
                <a:path w="641350" h="163829">
                  <a:moveTo>
                    <a:pt x="641019" y="0"/>
                  </a:moveTo>
                  <a:lnTo>
                    <a:pt x="0" y="0"/>
                  </a:lnTo>
                  <a:lnTo>
                    <a:pt x="0" y="163550"/>
                  </a:lnTo>
                  <a:lnTo>
                    <a:pt x="641019" y="163550"/>
                  </a:lnTo>
                  <a:lnTo>
                    <a:pt x="64101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33093" y="4403407"/>
              <a:ext cx="641350" cy="163830"/>
            </a:xfrm>
            <a:custGeom>
              <a:avLst/>
              <a:gdLst/>
              <a:ahLst/>
              <a:cxnLst/>
              <a:rect l="l" t="t" r="r" b="b"/>
              <a:pathLst>
                <a:path w="641350" h="163829">
                  <a:moveTo>
                    <a:pt x="641019" y="0"/>
                  </a:moveTo>
                  <a:lnTo>
                    <a:pt x="0" y="0"/>
                  </a:lnTo>
                  <a:lnTo>
                    <a:pt x="0" y="163550"/>
                  </a:lnTo>
                  <a:lnTo>
                    <a:pt x="641019" y="163550"/>
                  </a:lnTo>
                  <a:lnTo>
                    <a:pt x="64101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41210" y="4143681"/>
            <a:ext cx="1462405" cy="436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1484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IMS/VoLTE</a:t>
            </a:r>
            <a:endParaRPr sz="800">
              <a:latin typeface="Microsoft YaHei"/>
              <a:cs typeface="Microsoft YaHei"/>
            </a:endParaRPr>
          </a:p>
          <a:p>
            <a:pPr marL="269875">
              <a:lnSpc>
                <a:spcPct val="100000"/>
              </a:lnSpc>
              <a:spcBef>
                <a:spcPts val="1315"/>
              </a:spcBef>
              <a:tabLst>
                <a:tab pos="982980" algn="l"/>
              </a:tabLst>
            </a:pP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ePDG</a:t>
            </a:r>
            <a:r>
              <a:rPr dirty="0" sz="800" b="1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ePDG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613164" y="4122940"/>
            <a:ext cx="662305" cy="163830"/>
          </a:xfrm>
          <a:custGeom>
            <a:avLst/>
            <a:gdLst/>
            <a:ahLst/>
            <a:cxnLst/>
            <a:rect l="l" t="t" r="r" b="b"/>
            <a:pathLst>
              <a:path w="662304" h="163829">
                <a:moveTo>
                  <a:pt x="661758" y="0"/>
                </a:moveTo>
                <a:lnTo>
                  <a:pt x="0" y="0"/>
                </a:lnTo>
                <a:lnTo>
                  <a:pt x="0" y="163550"/>
                </a:lnTo>
                <a:lnTo>
                  <a:pt x="661758" y="163550"/>
                </a:lnTo>
                <a:lnTo>
                  <a:pt x="661758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691917" y="4152153"/>
            <a:ext cx="3028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BRAS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10615" y="4664455"/>
            <a:ext cx="863600" cy="16383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EPC/NB-</a:t>
            </a:r>
            <a:r>
              <a:rPr dirty="0" sz="800" spc="-25" b="1">
                <a:solidFill>
                  <a:srgbClr val="FFFFFF"/>
                </a:solidFill>
                <a:latin typeface="Microsoft YaHei"/>
                <a:cs typeface="Microsoft YaHei"/>
              </a:rPr>
              <a:t>IOT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934578" y="4378248"/>
            <a:ext cx="654685" cy="257175"/>
          </a:xfrm>
          <a:prstGeom prst="rect">
            <a:avLst/>
          </a:prstGeom>
          <a:solidFill>
            <a:srgbClr val="00B0F0"/>
          </a:solidFill>
        </p:spPr>
        <p:txBody>
          <a:bodyPr wrap="square" lIns="0" tIns="15875" rIns="0" bIns="0" rtlCol="0" vert="horz">
            <a:spAutoFit/>
          </a:bodyPr>
          <a:lstStyle/>
          <a:p>
            <a:pPr marL="91440" marR="174625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EPC/ </a:t>
            </a: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NB-</a:t>
            </a:r>
            <a:r>
              <a:rPr dirty="0" sz="800" spc="-25" b="1">
                <a:solidFill>
                  <a:srgbClr val="FFFFFF"/>
                </a:solidFill>
                <a:latin typeface="Microsoft YaHei"/>
                <a:cs typeface="Microsoft YaHei"/>
              </a:rPr>
              <a:t>IOT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47811" y="4651552"/>
            <a:ext cx="641350" cy="16383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43180" rIns="0" bIns="0" rtlCol="0" vert="horz">
            <a:spAutoFit/>
          </a:bodyPr>
          <a:lstStyle/>
          <a:p>
            <a:pPr marL="91440">
              <a:lnSpc>
                <a:spcPts val="950"/>
              </a:lnSpc>
              <a:spcBef>
                <a:spcPts val="340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EPC/</a:t>
            </a:r>
            <a:r>
              <a:rPr dirty="0" sz="800" spc="-30">
                <a:solidFill>
                  <a:srgbClr val="FFFFFF"/>
                </a:solidFill>
                <a:latin typeface="SimSun"/>
                <a:cs typeface="SimSun"/>
              </a:rPr>
              <a:t>大网</a:t>
            </a:r>
            <a:endParaRPr sz="80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633903" y="4403712"/>
            <a:ext cx="728980" cy="231775"/>
          </a:xfrm>
          <a:prstGeom prst="rect">
            <a:avLst/>
          </a:prstGeom>
          <a:solidFill>
            <a:srgbClr val="00B0F0"/>
          </a:solidFill>
        </p:spPr>
        <p:txBody>
          <a:bodyPr wrap="square" lIns="0" tIns="431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EPC/</a:t>
            </a:r>
            <a:r>
              <a:rPr dirty="0" sz="800" spc="-30">
                <a:solidFill>
                  <a:srgbClr val="FFFFFF"/>
                </a:solidFill>
                <a:latin typeface="SimSun"/>
                <a:cs typeface="SimSun"/>
              </a:rPr>
              <a:t>大网</a:t>
            </a:r>
            <a:endParaRPr sz="800">
              <a:latin typeface="SimSun"/>
              <a:cs typeface="SimSu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362312" y="4122928"/>
            <a:ext cx="641350" cy="16383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3180" rIns="0" bIns="0" rtlCol="0" vert="horz">
            <a:spAutoFit/>
          </a:bodyPr>
          <a:lstStyle/>
          <a:p>
            <a:pPr marL="91440">
              <a:lnSpc>
                <a:spcPts val="950"/>
              </a:lnSpc>
              <a:spcBef>
                <a:spcPts val="340"/>
              </a:spcBef>
            </a:pPr>
            <a:r>
              <a:rPr dirty="0" sz="800" spc="-10" b="1">
                <a:solidFill>
                  <a:srgbClr val="FFFFFF"/>
                </a:solidFill>
                <a:latin typeface="Microsoft YaHei"/>
                <a:cs typeface="Microsoft YaHei"/>
              </a:rPr>
              <a:t>EPC/</a:t>
            </a:r>
            <a:r>
              <a:rPr dirty="0" sz="800" spc="-30">
                <a:solidFill>
                  <a:srgbClr val="FFFFFF"/>
                </a:solidFill>
                <a:latin typeface="SimSun"/>
                <a:cs typeface="SimSun"/>
              </a:rPr>
              <a:t>大网</a:t>
            </a:r>
            <a:endParaRPr sz="800">
              <a:latin typeface="SimSun"/>
              <a:cs typeface="SimSu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895600" y="4860506"/>
            <a:ext cx="762000" cy="246379"/>
          </a:xfrm>
          <a:custGeom>
            <a:avLst/>
            <a:gdLst/>
            <a:ahLst/>
            <a:cxnLst/>
            <a:rect l="l" t="t" r="r" b="b"/>
            <a:pathLst>
              <a:path w="762000" h="246379">
                <a:moveTo>
                  <a:pt x="762000" y="0"/>
                </a:moveTo>
                <a:lnTo>
                  <a:pt x="0" y="0"/>
                </a:lnTo>
                <a:lnTo>
                  <a:pt x="0" y="246278"/>
                </a:lnTo>
                <a:lnTo>
                  <a:pt x="762000" y="246278"/>
                </a:lnTo>
                <a:lnTo>
                  <a:pt x="76200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3008185" y="4906501"/>
            <a:ext cx="5353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FFFFFF"/>
                </a:solidFill>
                <a:latin typeface="SimSun"/>
                <a:cs typeface="SimSun"/>
              </a:rPr>
              <a:t>小规模商用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3652" y="3628644"/>
            <a:ext cx="4323715" cy="439420"/>
            <a:chOff x="263652" y="3628644"/>
            <a:chExt cx="4323715" cy="43942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3628644"/>
              <a:ext cx="4323575" cy="438911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04800" y="3649689"/>
              <a:ext cx="4241165" cy="357505"/>
            </a:xfrm>
            <a:custGeom>
              <a:avLst/>
              <a:gdLst/>
              <a:ahLst/>
              <a:cxnLst/>
              <a:rect l="l" t="t" r="r" b="b"/>
              <a:pathLst>
                <a:path w="4241165" h="357504">
                  <a:moveTo>
                    <a:pt x="4062590" y="0"/>
                  </a:moveTo>
                  <a:lnTo>
                    <a:pt x="4062590" y="89230"/>
                  </a:lnTo>
                  <a:lnTo>
                    <a:pt x="0" y="89230"/>
                  </a:lnTo>
                  <a:lnTo>
                    <a:pt x="0" y="267690"/>
                  </a:lnTo>
                  <a:lnTo>
                    <a:pt x="4062590" y="267690"/>
                  </a:lnTo>
                  <a:lnTo>
                    <a:pt x="4062590" y="356920"/>
                  </a:lnTo>
                  <a:lnTo>
                    <a:pt x="4241050" y="178460"/>
                  </a:lnTo>
                  <a:lnTo>
                    <a:pt x="4062590" y="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377024" y="3737825"/>
          <a:ext cx="3989704" cy="171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080"/>
                <a:gridCol w="792480"/>
                <a:gridCol w="792479"/>
                <a:gridCol w="792480"/>
                <a:gridCol w="767080"/>
              </a:tblGrid>
              <a:tr h="171450">
                <a:tc>
                  <a:txBody>
                    <a:bodyPr/>
                    <a:lstStyle/>
                    <a:p>
                      <a:pPr marL="119380">
                        <a:lnSpc>
                          <a:spcPts val="1255"/>
                        </a:lnSpc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2016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0"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1255"/>
                        </a:lnSpc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2017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2606AE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255"/>
                        </a:lnSpc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2018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255"/>
                        </a:lnSpc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2019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255"/>
                        </a:lnSpc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2020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grpSp>
        <p:nvGrpSpPr>
          <p:cNvPr id="29" name="object 29" descr=""/>
          <p:cNvGrpSpPr/>
          <p:nvPr/>
        </p:nvGrpSpPr>
        <p:grpSpPr>
          <a:xfrm>
            <a:off x="0" y="1077823"/>
            <a:ext cx="4400550" cy="4078604"/>
            <a:chOff x="0" y="1077823"/>
            <a:chExt cx="4400550" cy="4078604"/>
          </a:xfrm>
        </p:grpSpPr>
        <p:sp>
          <p:nvSpPr>
            <p:cNvPr id="30" name="object 30" descr=""/>
            <p:cNvSpPr/>
            <p:nvPr/>
          </p:nvSpPr>
          <p:spPr>
            <a:xfrm>
              <a:off x="328510" y="4011904"/>
              <a:ext cx="4059554" cy="1132205"/>
            </a:xfrm>
            <a:custGeom>
              <a:avLst/>
              <a:gdLst/>
              <a:ahLst/>
              <a:cxnLst/>
              <a:rect l="l" t="t" r="r" b="b"/>
              <a:pathLst>
                <a:path w="4059554" h="1132204">
                  <a:moveTo>
                    <a:pt x="0" y="0"/>
                  </a:moveTo>
                  <a:lnTo>
                    <a:pt x="4059034" y="0"/>
                  </a:lnTo>
                  <a:lnTo>
                    <a:pt x="4059034" y="1131595"/>
                  </a:lnTo>
                  <a:lnTo>
                    <a:pt x="0" y="1131595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77823"/>
              <a:ext cx="2725026" cy="2592451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2725026" y="1217015"/>
            <a:ext cx="1904364" cy="2314575"/>
          </a:xfrm>
          <a:prstGeom prst="rect">
            <a:avLst/>
          </a:prstGeom>
          <a:solidFill>
            <a:srgbClr val="F2F2F2"/>
          </a:solidFill>
        </p:spPr>
        <p:txBody>
          <a:bodyPr wrap="square" lIns="0" tIns="9525" rIns="0" bIns="0" rtlCol="0" vert="horz">
            <a:spAutoFit/>
          </a:bodyPr>
          <a:lstStyle/>
          <a:p>
            <a:pPr algn="just" marL="50800" marR="69215" indent="-4445">
              <a:lnSpc>
                <a:spcPts val="2520"/>
              </a:lnSpc>
              <a:spcBef>
                <a:spcPts val="75"/>
              </a:spcBef>
              <a:buSzPct val="92857"/>
              <a:buFont typeface="Wingdings"/>
              <a:buChar char=""/>
              <a:tabLst>
                <a:tab pos="50800" algn="l"/>
                <a:tab pos="182880" algn="l"/>
              </a:tabLst>
            </a:pPr>
            <a:r>
              <a:rPr dirty="0" sz="1400" spc="-25">
                <a:latin typeface="SimSun"/>
                <a:cs typeface="SimSun"/>
              </a:rPr>
              <a:t>	</a:t>
            </a:r>
            <a:r>
              <a:rPr dirty="0" sz="1400" spc="-25">
                <a:latin typeface="SimSun"/>
                <a:cs typeface="SimSun"/>
              </a:rPr>
              <a:t>三层架构：基础设施层、网络功能层、协同</a:t>
            </a:r>
            <a:r>
              <a:rPr dirty="0" sz="1400" spc="-35">
                <a:latin typeface="SimSun"/>
                <a:cs typeface="SimSun"/>
              </a:rPr>
              <a:t>编排层</a:t>
            </a:r>
            <a:endParaRPr sz="1400">
              <a:latin typeface="SimSun"/>
              <a:cs typeface="SimSun"/>
            </a:endParaRPr>
          </a:p>
          <a:p>
            <a:pPr algn="just" marL="50800" marR="69850" indent="-635">
              <a:lnSpc>
                <a:spcPts val="2520"/>
              </a:lnSpc>
              <a:buSzPct val="92857"/>
              <a:buFont typeface="Wingdings"/>
              <a:buChar char=""/>
              <a:tabLst>
                <a:tab pos="50800" algn="l"/>
                <a:tab pos="226060" algn="l"/>
              </a:tabLst>
            </a:pPr>
            <a:r>
              <a:rPr dirty="0" sz="1400" spc="-25">
                <a:latin typeface="SimSun"/>
                <a:cs typeface="SimSun"/>
              </a:rPr>
              <a:t>	</a:t>
            </a:r>
            <a:r>
              <a:rPr dirty="0" sz="1400" spc="-25">
                <a:latin typeface="SimSun"/>
                <a:cs typeface="SimSun"/>
              </a:rPr>
              <a:t>四大特征：简洁、敏捷、开放、集约</a:t>
            </a:r>
            <a:endParaRPr sz="1400">
              <a:latin typeface="SimSun"/>
              <a:cs typeface="SimSun"/>
            </a:endParaRPr>
          </a:p>
          <a:p>
            <a:pPr marL="183515" indent="-136525">
              <a:lnSpc>
                <a:spcPct val="100000"/>
              </a:lnSpc>
              <a:spcBef>
                <a:spcPts val="615"/>
              </a:spcBef>
              <a:buSzPct val="92857"/>
              <a:buFont typeface="Wingdings"/>
              <a:buChar char=""/>
              <a:tabLst>
                <a:tab pos="183515" algn="l"/>
              </a:tabLst>
            </a:pPr>
            <a:r>
              <a:rPr dirty="0" sz="1400" spc="-20">
                <a:latin typeface="SimSun"/>
                <a:cs typeface="SimSun"/>
              </a:rPr>
              <a:t>自研</a:t>
            </a:r>
            <a:r>
              <a:rPr dirty="0" sz="1400" spc="430">
                <a:latin typeface="SimSun"/>
                <a:cs typeface="SimSun"/>
              </a:rPr>
              <a:t>MANO</a:t>
            </a:r>
            <a:r>
              <a:rPr dirty="0" sz="1400" spc="-50">
                <a:latin typeface="SimSun"/>
                <a:cs typeface="SimSun"/>
              </a:rPr>
              <a:t>和</a:t>
            </a:r>
            <a:endParaRPr sz="1400">
              <a:latin typeface="SimSun"/>
              <a:cs typeface="SimSun"/>
            </a:endParaRPr>
          </a:p>
          <a:p>
            <a:pPr marL="50800">
              <a:lnSpc>
                <a:spcPct val="100000"/>
              </a:lnSpc>
              <a:spcBef>
                <a:spcPts val="840"/>
              </a:spcBef>
            </a:pPr>
            <a:r>
              <a:rPr dirty="0" sz="1400" spc="150">
                <a:latin typeface="SimSun"/>
                <a:cs typeface="SimSun"/>
              </a:rPr>
              <a:t>CloudOS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64426" y="843559"/>
            <a:ext cx="4251325" cy="254000"/>
          </a:xfrm>
          <a:prstGeom prst="rect">
            <a:avLst/>
          </a:prstGeom>
          <a:solidFill>
            <a:srgbClr val="558ED5"/>
          </a:solidFill>
        </p:spPr>
        <p:txBody>
          <a:bodyPr wrap="square" lIns="0" tIns="30480" rIns="0" bIns="0" rtlCol="0" vert="horz">
            <a:spAutoFit/>
          </a:bodyPr>
          <a:lstStyle/>
          <a:p>
            <a:pPr marL="858519">
              <a:lnSpc>
                <a:spcPct val="100000"/>
              </a:lnSpc>
              <a:spcBef>
                <a:spcPts val="240"/>
              </a:spcBef>
            </a:pPr>
            <a:r>
              <a:rPr dirty="0" sz="1200" spc="-10" b="1">
                <a:solidFill>
                  <a:srgbClr val="FF0000"/>
                </a:solidFill>
                <a:latin typeface="Microsoft YaHei"/>
                <a:cs typeface="Microsoft YaHei"/>
              </a:rPr>
              <a:t>CTNet2025</a:t>
            </a:r>
            <a:r>
              <a:rPr dirty="0" sz="1200" spc="-10">
                <a:solidFill>
                  <a:srgbClr val="FFFFFF"/>
                </a:solidFill>
                <a:latin typeface="SimSun"/>
                <a:cs typeface="SimSun"/>
              </a:rPr>
              <a:t>：三层架构实现四大特征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中国电信</a:t>
            </a:r>
            <a:r>
              <a:rPr dirty="0" spc="-10">
                <a:latin typeface="Times New Roman"/>
                <a:cs typeface="Times New Roman"/>
              </a:rPr>
              <a:t>NFV</a:t>
            </a:r>
            <a:r>
              <a:rPr dirty="0" spc="-10"/>
              <a:t>：</a:t>
            </a:r>
            <a:r>
              <a:rPr dirty="0" spc="-10">
                <a:latin typeface="Times New Roman"/>
                <a:cs typeface="Times New Roman"/>
              </a:rPr>
              <a:t>CTNET2025</a:t>
            </a:r>
          </a:p>
        </p:txBody>
      </p:sp>
      <p:sp>
        <p:nvSpPr>
          <p:cNvPr id="35" name="object 35" descr=""/>
          <p:cNvSpPr txBox="1"/>
          <p:nvPr/>
        </p:nvSpPr>
        <p:spPr>
          <a:xfrm>
            <a:off x="4788027" y="914184"/>
            <a:ext cx="4130040" cy="277495"/>
          </a:xfrm>
          <a:prstGeom prst="rect">
            <a:avLst/>
          </a:prstGeom>
          <a:solidFill>
            <a:srgbClr val="558ED5"/>
          </a:solidFill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FFFFFF"/>
                </a:solidFill>
                <a:latin typeface="SimSun"/>
                <a:cs typeface="SimSun"/>
              </a:rPr>
              <a:t>统一电信云试点：电信</a:t>
            </a: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NFVI</a:t>
            </a:r>
            <a:r>
              <a:rPr dirty="0" sz="1200" spc="-10">
                <a:solidFill>
                  <a:srgbClr val="FFFFFF"/>
                </a:solidFill>
                <a:latin typeface="SimSun"/>
                <a:cs typeface="SimSun"/>
              </a:rPr>
              <a:t>试点技术验证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794377" y="1340045"/>
            <a:ext cx="4150360" cy="2525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2565" indent="227965">
              <a:lnSpc>
                <a:spcPct val="100000"/>
              </a:lnSpc>
              <a:spcBef>
                <a:spcPts val="100"/>
              </a:spcBef>
              <a:buFont typeface="Wingdings"/>
              <a:buChar char=""/>
              <a:tabLst>
                <a:tab pos="430530" algn="l"/>
              </a:tabLst>
            </a:pPr>
            <a:r>
              <a:rPr dirty="0" sz="1600" spc="-10">
                <a:latin typeface="SimSun"/>
                <a:cs typeface="SimSun"/>
              </a:rPr>
              <a:t>中国电信通过自研</a:t>
            </a:r>
            <a:r>
              <a:rPr dirty="0" sz="1600" spc="-10">
                <a:latin typeface="Microsoft YaHei"/>
                <a:cs typeface="Microsoft YaHei"/>
              </a:rPr>
              <a:t>VIM</a:t>
            </a:r>
            <a:r>
              <a:rPr dirty="0" sz="1600" spc="-10">
                <a:latin typeface="SimSun"/>
                <a:cs typeface="SimSun"/>
              </a:rPr>
              <a:t>（</a:t>
            </a:r>
            <a:r>
              <a:rPr dirty="0" sz="1600" spc="-360">
                <a:latin typeface="SimSun"/>
                <a:cs typeface="SimSun"/>
              </a:rPr>
              <a:t> </a:t>
            </a:r>
            <a:r>
              <a:rPr dirty="0" sz="1600" i="1">
                <a:latin typeface="Arial"/>
                <a:cs typeface="Arial"/>
              </a:rPr>
              <a:t>Openstack</a:t>
            </a:r>
            <a:r>
              <a:rPr dirty="0" sz="1600" spc="-70" i="1">
                <a:latin typeface="Arial"/>
                <a:cs typeface="Arial"/>
              </a:rPr>
              <a:t> </a:t>
            </a:r>
            <a:r>
              <a:rPr dirty="0" sz="1600" spc="-25">
                <a:latin typeface="SimSun"/>
                <a:cs typeface="SimSun"/>
              </a:rPr>
              <a:t>），</a:t>
            </a:r>
            <a:r>
              <a:rPr dirty="0" sz="1600" spc="-10">
                <a:latin typeface="SimSun"/>
                <a:cs typeface="SimSun"/>
              </a:rPr>
              <a:t>对电信云和私有云统一管理</a:t>
            </a:r>
            <a:endParaRPr sz="1600">
              <a:latin typeface="SimSun"/>
              <a:cs typeface="SimSun"/>
            </a:endParaRPr>
          </a:p>
          <a:p>
            <a:pPr marL="202565" marR="248920" indent="227965">
              <a:lnSpc>
                <a:spcPct val="100000"/>
              </a:lnSpc>
              <a:spcBef>
                <a:spcPts val="800"/>
              </a:spcBef>
              <a:buFont typeface="Wingdings"/>
              <a:buChar char=""/>
              <a:tabLst>
                <a:tab pos="430530" algn="l"/>
              </a:tabLst>
            </a:pPr>
            <a:r>
              <a:rPr dirty="0" sz="1600">
                <a:latin typeface="SimSun"/>
                <a:cs typeface="SimSun"/>
              </a:rPr>
              <a:t>现阶段进行主流</a:t>
            </a:r>
            <a:r>
              <a:rPr dirty="0" sz="1600" spc="-10">
                <a:latin typeface="Microsoft YaHei"/>
                <a:cs typeface="Microsoft YaHei"/>
              </a:rPr>
              <a:t>VNF</a:t>
            </a:r>
            <a:r>
              <a:rPr dirty="0" sz="1600" spc="-15">
                <a:latin typeface="SimSun"/>
                <a:cs typeface="SimSun"/>
              </a:rPr>
              <a:t>厂商与三家虚拟化</a:t>
            </a:r>
            <a:r>
              <a:rPr dirty="0" sz="1600" spc="-10">
                <a:latin typeface="SimSun"/>
                <a:cs typeface="SimSun"/>
              </a:rPr>
              <a:t>层厂商组合对接测试</a:t>
            </a:r>
            <a:endParaRPr sz="1600">
              <a:latin typeface="SimSun"/>
              <a:cs typeface="SimSun"/>
            </a:endParaRPr>
          </a:p>
          <a:p>
            <a:pPr marL="202565" marR="190500" indent="227965">
              <a:lnSpc>
                <a:spcPct val="100000"/>
              </a:lnSpc>
              <a:spcBef>
                <a:spcPts val="800"/>
              </a:spcBef>
              <a:buFont typeface="Wingdings"/>
              <a:buChar char=""/>
              <a:tabLst>
                <a:tab pos="430530" algn="l"/>
              </a:tabLst>
            </a:pPr>
            <a:r>
              <a:rPr dirty="0" sz="1600" spc="-10">
                <a:latin typeface="Microsoft YaHei"/>
                <a:cs typeface="Microsoft YaHei"/>
              </a:rPr>
              <a:t>VNF</a:t>
            </a:r>
            <a:r>
              <a:rPr dirty="0" sz="1600" spc="-5">
                <a:latin typeface="SimSun"/>
                <a:cs typeface="SimSun"/>
              </a:rPr>
              <a:t>网元：</a:t>
            </a:r>
            <a:r>
              <a:rPr dirty="0" sz="1600" spc="-10">
                <a:latin typeface="Microsoft YaHei"/>
                <a:cs typeface="Microsoft YaHei"/>
              </a:rPr>
              <a:t>vIMS</a:t>
            </a:r>
            <a:r>
              <a:rPr dirty="0" sz="1600" spc="-10">
                <a:latin typeface="SimSun"/>
                <a:cs typeface="SimSun"/>
              </a:rPr>
              <a:t>已经商用部署，</a:t>
            </a:r>
            <a:r>
              <a:rPr dirty="0" sz="1600" spc="-50">
                <a:latin typeface="SimSun"/>
                <a:cs typeface="SimSun"/>
              </a:rPr>
              <a:t> </a:t>
            </a:r>
            <a:r>
              <a:rPr dirty="0" sz="1600" spc="-10">
                <a:latin typeface="Microsoft YaHei"/>
                <a:cs typeface="Microsoft YaHei"/>
              </a:rPr>
              <a:t>vBRAS</a:t>
            </a:r>
            <a:r>
              <a:rPr dirty="0" sz="1600" spc="-10">
                <a:latin typeface="SimSun"/>
                <a:cs typeface="SimSun"/>
              </a:rPr>
              <a:t>试点和试商用，物联网专网</a:t>
            </a:r>
            <a:r>
              <a:rPr dirty="0" sz="1600" spc="-10">
                <a:latin typeface="Microsoft YaHei"/>
                <a:cs typeface="Microsoft YaHei"/>
              </a:rPr>
              <a:t>vEPC</a:t>
            </a:r>
            <a:r>
              <a:rPr dirty="0" sz="1600" spc="-50">
                <a:latin typeface="SimSun"/>
                <a:cs typeface="SimSun"/>
              </a:rPr>
              <a:t>试点</a:t>
            </a:r>
            <a:endParaRPr sz="1600">
              <a:latin typeface="SimSun"/>
              <a:cs typeface="SimSun"/>
            </a:endParaRPr>
          </a:p>
          <a:p>
            <a:pPr marL="430530" indent="-227965">
              <a:lnSpc>
                <a:spcPts val="1875"/>
              </a:lnSpc>
              <a:spcBef>
                <a:spcPts val="890"/>
              </a:spcBef>
              <a:buFont typeface="Wingdings"/>
              <a:buChar char=""/>
              <a:tabLst>
                <a:tab pos="430530" algn="l"/>
              </a:tabLst>
            </a:pPr>
            <a:r>
              <a:rPr dirty="0" sz="1600" spc="-15">
                <a:latin typeface="SimSun"/>
                <a:cs typeface="SimSun"/>
              </a:rPr>
              <a:t>中国电信倾向于私有云虚拟化层厂家</a:t>
            </a:r>
            <a:endParaRPr sz="1600">
              <a:latin typeface="SimSun"/>
              <a:cs typeface="SimSun"/>
            </a:endParaRPr>
          </a:p>
          <a:p>
            <a:pPr marL="202565">
              <a:lnSpc>
                <a:spcPts val="1875"/>
              </a:lnSpc>
            </a:pPr>
            <a:r>
              <a:rPr dirty="0" sz="1600">
                <a:latin typeface="SimSun"/>
                <a:cs typeface="SimSun"/>
              </a:rPr>
              <a:t>（</a:t>
            </a:r>
            <a:r>
              <a:rPr dirty="0" sz="1600">
                <a:latin typeface="Microsoft YaHei"/>
                <a:cs typeface="Microsoft YaHei"/>
              </a:rPr>
              <a:t>华为、华三、</a:t>
            </a:r>
            <a:r>
              <a:rPr dirty="0" sz="1600" spc="-25">
                <a:latin typeface="Microsoft YaHei"/>
                <a:cs typeface="Microsoft YaHei"/>
              </a:rPr>
              <a:t>Vmware）</a:t>
            </a:r>
            <a:r>
              <a:rPr dirty="0" sz="1600">
                <a:latin typeface="SimSun"/>
                <a:cs typeface="SimSun"/>
              </a:rPr>
              <a:t>实现</a:t>
            </a:r>
            <a:r>
              <a:rPr dirty="0" sz="1600" spc="-10">
                <a:latin typeface="Microsoft YaHei"/>
                <a:cs typeface="Microsoft YaHei"/>
              </a:rPr>
              <a:t>VNF</a:t>
            </a:r>
            <a:r>
              <a:rPr dirty="0" sz="1600" spc="-25">
                <a:latin typeface="SimSun"/>
                <a:cs typeface="SimSun"/>
              </a:rPr>
              <a:t>承载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4788027" y="893394"/>
            <a:ext cx="4140200" cy="3364865"/>
          </a:xfrm>
          <a:custGeom>
            <a:avLst/>
            <a:gdLst/>
            <a:ahLst/>
            <a:cxnLst/>
            <a:rect l="l" t="t" r="r" b="b"/>
            <a:pathLst>
              <a:path w="4140200" h="3364865">
                <a:moveTo>
                  <a:pt x="0" y="0"/>
                </a:moveTo>
                <a:lnTo>
                  <a:pt x="4139946" y="0"/>
                </a:lnTo>
                <a:lnTo>
                  <a:pt x="4139946" y="3364598"/>
                </a:lnTo>
                <a:lnTo>
                  <a:pt x="0" y="336459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89A4A7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39481" y="4847530"/>
            <a:ext cx="4263390" cy="16256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  <a:tabLst>
                <a:tab pos="3158490" algn="l"/>
              </a:tabLst>
            </a:pPr>
            <a:r>
              <a:rPr dirty="0" baseline="6172" sz="1350">
                <a:solidFill>
                  <a:srgbClr val="DADADA"/>
                </a:solidFill>
                <a:latin typeface="Microsoft YaHei"/>
                <a:cs typeface="Microsoft YaHei"/>
              </a:rPr>
              <a:t>Page</a:t>
            </a:r>
            <a:r>
              <a:rPr dirty="0" baseline="6172" sz="1350" spc="-75">
                <a:solidFill>
                  <a:srgbClr val="DADADA"/>
                </a:solidFill>
                <a:latin typeface="Microsoft YaHei"/>
                <a:cs typeface="Microsoft YaHei"/>
              </a:rPr>
              <a:t> </a:t>
            </a:r>
            <a:r>
              <a:rPr dirty="0" sz="900" spc="-25">
                <a:solidFill>
                  <a:srgbClr val="DADADA"/>
                </a:solidFill>
                <a:latin typeface="Microsoft YaHei"/>
                <a:cs typeface="Microsoft YaHei"/>
              </a:rPr>
              <a:t>45</a:t>
            </a:r>
            <a:r>
              <a:rPr dirty="0" sz="900">
                <a:solidFill>
                  <a:srgbClr val="DADADA"/>
                </a:solidFill>
                <a:latin typeface="Microsoft YaHei"/>
                <a:cs typeface="Microsoft YaHei"/>
              </a:rPr>
              <a:t>	</a:t>
            </a:r>
            <a:r>
              <a:rPr dirty="0" baseline="6172" sz="1350">
                <a:solidFill>
                  <a:srgbClr val="DADADA"/>
                </a:solidFill>
                <a:latin typeface="Microsoft YaHei"/>
                <a:cs typeface="Microsoft YaHei"/>
              </a:rPr>
              <a:t>Huawei</a:t>
            </a:r>
            <a:r>
              <a:rPr dirty="0" baseline="6172" sz="1350" spc="-75">
                <a:solidFill>
                  <a:srgbClr val="DADADA"/>
                </a:solidFill>
                <a:latin typeface="Microsoft YaHei"/>
                <a:cs typeface="Microsoft YaHei"/>
              </a:rPr>
              <a:t> </a:t>
            </a:r>
            <a:r>
              <a:rPr dirty="0" baseline="6172" sz="1350" spc="-15">
                <a:solidFill>
                  <a:srgbClr val="DADADA"/>
                </a:solidFill>
                <a:latin typeface="Microsoft YaHei"/>
                <a:cs typeface="Microsoft YaHei"/>
              </a:rPr>
              <a:t>Confidential</a:t>
            </a:r>
            <a:endParaRPr baseline="6172" sz="1350">
              <a:latin typeface="Microsoft YaHei"/>
              <a:cs typeface="Microsoft YaHe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8976" y="3907535"/>
            <a:ext cx="4310380" cy="1186180"/>
            <a:chOff x="188976" y="3907535"/>
            <a:chExt cx="4310380" cy="11861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76" y="3907535"/>
              <a:ext cx="4309872" cy="118567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92937" y="4075747"/>
              <a:ext cx="4063365" cy="826135"/>
            </a:xfrm>
            <a:custGeom>
              <a:avLst/>
              <a:gdLst/>
              <a:ahLst/>
              <a:cxnLst/>
              <a:rect l="l" t="t" r="r" b="b"/>
              <a:pathLst>
                <a:path w="4063365" h="826135">
                  <a:moveTo>
                    <a:pt x="4062844" y="0"/>
                  </a:moveTo>
                  <a:lnTo>
                    <a:pt x="0" y="0"/>
                  </a:lnTo>
                  <a:lnTo>
                    <a:pt x="0" y="826122"/>
                  </a:lnTo>
                  <a:lnTo>
                    <a:pt x="4062844" y="826122"/>
                  </a:lnTo>
                  <a:lnTo>
                    <a:pt x="4062844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12086" y="4021697"/>
            <a:ext cx="38900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685" indent="-133985">
              <a:lnSpc>
                <a:spcPct val="100000"/>
              </a:lnSpc>
              <a:spcBef>
                <a:spcPts val="95"/>
              </a:spcBef>
              <a:buSzPct val="68181"/>
              <a:buFont typeface="Wingdings"/>
              <a:buChar char=""/>
              <a:tabLst>
                <a:tab pos="146685" algn="l"/>
              </a:tabLst>
            </a:pPr>
            <a:r>
              <a:rPr dirty="0" sz="1100" spc="-20">
                <a:latin typeface="SimSun"/>
                <a:cs typeface="SimSun"/>
              </a:rPr>
              <a:t>提出</a:t>
            </a:r>
            <a:r>
              <a:rPr dirty="0" sz="1100" spc="-20">
                <a:latin typeface="Microsoft YaHei"/>
                <a:cs typeface="Microsoft YaHei"/>
              </a:rPr>
              <a:t>2020</a:t>
            </a:r>
            <a:r>
              <a:rPr dirty="0" sz="1100" spc="-20">
                <a:latin typeface="SimSun"/>
                <a:cs typeface="SimSun"/>
              </a:rPr>
              <a:t>目标架构，</a:t>
            </a:r>
            <a:r>
              <a:rPr dirty="0" sz="1100" spc="-10">
                <a:latin typeface="Microsoft YaHei"/>
                <a:cs typeface="Microsoft YaHei"/>
              </a:rPr>
              <a:t>CUBE-</a:t>
            </a:r>
            <a:r>
              <a:rPr dirty="0" sz="1100">
                <a:latin typeface="Microsoft YaHei"/>
                <a:cs typeface="Microsoft YaHei"/>
              </a:rPr>
              <a:t>Net</a:t>
            </a:r>
            <a:r>
              <a:rPr dirty="0" sz="1100" spc="180">
                <a:latin typeface="Microsoft YaHei"/>
                <a:cs typeface="Microsoft YaHei"/>
              </a:rPr>
              <a:t> </a:t>
            </a:r>
            <a:r>
              <a:rPr dirty="0" sz="1100" spc="-10">
                <a:latin typeface="Microsoft YaHei"/>
                <a:cs typeface="Microsoft YaHei"/>
              </a:rPr>
              <a:t>2.0</a:t>
            </a:r>
            <a:r>
              <a:rPr dirty="0" sz="1100" spc="-20">
                <a:latin typeface="SimSun"/>
                <a:cs typeface="SimSun"/>
              </a:rPr>
              <a:t>，构建面向用户</a:t>
            </a:r>
            <a:r>
              <a:rPr dirty="0" sz="1100" spc="-20">
                <a:latin typeface="Microsoft YaHei"/>
                <a:cs typeface="Microsoft YaHei"/>
              </a:rPr>
              <a:t>/</a:t>
            </a:r>
            <a:r>
              <a:rPr dirty="0" sz="1100" spc="-10">
                <a:latin typeface="SimSun"/>
                <a:cs typeface="SimSun"/>
              </a:rPr>
              <a:t>内容</a:t>
            </a:r>
            <a:r>
              <a:rPr dirty="0" sz="1100" spc="-20">
                <a:latin typeface="Microsoft YaHei"/>
                <a:cs typeface="Microsoft YaHei"/>
              </a:rPr>
              <a:t>/</a:t>
            </a:r>
            <a:r>
              <a:rPr dirty="0" sz="1100" spc="-50">
                <a:latin typeface="SimSun"/>
                <a:cs typeface="SimSun"/>
              </a:rPr>
              <a:t>云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2086" y="4125891"/>
            <a:ext cx="3803650" cy="81978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860"/>
              </a:spcBef>
            </a:pPr>
            <a:r>
              <a:rPr dirty="0" sz="1100" spc="-25">
                <a:latin typeface="SimSun"/>
                <a:cs typeface="SimSun"/>
              </a:rPr>
              <a:t>的泛在超宽带弹性网络提供新服务，构建新生态。</a:t>
            </a:r>
            <a:endParaRPr sz="1100">
              <a:latin typeface="SimSun"/>
              <a:cs typeface="SimSun"/>
            </a:endParaRPr>
          </a:p>
          <a:p>
            <a:pPr marL="146685" indent="-133985">
              <a:lnSpc>
                <a:spcPct val="100000"/>
              </a:lnSpc>
              <a:spcBef>
                <a:spcPts val="760"/>
              </a:spcBef>
              <a:buSzPct val="68181"/>
              <a:buFont typeface="Wingdings"/>
              <a:buChar char=""/>
              <a:tabLst>
                <a:tab pos="146685" algn="l"/>
              </a:tabLst>
            </a:pPr>
            <a:r>
              <a:rPr dirty="0" sz="1100" spc="-20">
                <a:latin typeface="SimSun"/>
                <a:cs typeface="SimSun"/>
              </a:rPr>
              <a:t>未来网络以三级</a:t>
            </a:r>
            <a:r>
              <a:rPr dirty="0" sz="1100" spc="-10" b="1">
                <a:latin typeface="Microsoft YaHei"/>
                <a:cs typeface="Microsoft YaHei"/>
              </a:rPr>
              <a:t>DC</a:t>
            </a:r>
            <a:r>
              <a:rPr dirty="0" sz="1100" spc="-10">
                <a:latin typeface="SimSun"/>
                <a:cs typeface="SimSun"/>
              </a:rPr>
              <a:t>为核心，</a:t>
            </a:r>
            <a:r>
              <a:rPr dirty="0" sz="1100" spc="-10">
                <a:latin typeface="Microsoft YaHei"/>
                <a:cs typeface="Microsoft YaHei"/>
              </a:rPr>
              <a:t>COTS</a:t>
            </a:r>
            <a:r>
              <a:rPr dirty="0" sz="1100" spc="-25">
                <a:latin typeface="SimSun"/>
                <a:cs typeface="SimSun"/>
              </a:rPr>
              <a:t>需要满足电信级业务需求</a:t>
            </a:r>
            <a:endParaRPr sz="1100">
              <a:latin typeface="SimSun"/>
              <a:cs typeface="SimSun"/>
            </a:endParaRPr>
          </a:p>
          <a:p>
            <a:pPr marL="146685" indent="-133985">
              <a:lnSpc>
                <a:spcPct val="100000"/>
              </a:lnSpc>
              <a:spcBef>
                <a:spcPts val="770"/>
              </a:spcBef>
              <a:buSzPct val="68181"/>
              <a:buFont typeface="Wingdings"/>
              <a:buChar char=""/>
              <a:tabLst>
                <a:tab pos="146685" algn="l"/>
              </a:tabLst>
            </a:pPr>
            <a:r>
              <a:rPr dirty="0" sz="1100" spc="-20">
                <a:latin typeface="SimSun"/>
                <a:cs typeface="SimSun"/>
              </a:rPr>
              <a:t>网研院启动</a:t>
            </a:r>
            <a:r>
              <a:rPr dirty="0" sz="1100" spc="-20">
                <a:latin typeface="Microsoft YaHei"/>
                <a:cs typeface="Microsoft YaHei"/>
              </a:rPr>
              <a:t>MANO</a:t>
            </a:r>
            <a:r>
              <a:rPr dirty="0" sz="1100" spc="-35">
                <a:latin typeface="SimSun"/>
                <a:cs typeface="SimSun"/>
              </a:rPr>
              <a:t>的自研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743805" y="1953577"/>
            <a:ext cx="3910965" cy="1783714"/>
          </a:xfrm>
          <a:custGeom>
            <a:avLst/>
            <a:gdLst/>
            <a:ahLst/>
            <a:cxnLst/>
            <a:rect l="l" t="t" r="r" b="b"/>
            <a:pathLst>
              <a:path w="3910965" h="1783714">
                <a:moveTo>
                  <a:pt x="0" y="0"/>
                </a:moveTo>
                <a:lnTo>
                  <a:pt x="3910342" y="0"/>
                </a:lnTo>
                <a:lnTo>
                  <a:pt x="3910342" y="1783130"/>
                </a:lnTo>
                <a:lnTo>
                  <a:pt x="0" y="178313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010251" y="2990595"/>
            <a:ext cx="1376045" cy="385445"/>
          </a:xfrm>
          <a:prstGeom prst="rect">
            <a:avLst/>
          </a:prstGeom>
          <a:solidFill>
            <a:srgbClr val="92D050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BRAS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450368" y="2990595"/>
            <a:ext cx="864235" cy="385445"/>
          </a:xfrm>
          <a:custGeom>
            <a:avLst/>
            <a:gdLst/>
            <a:ahLst/>
            <a:cxnLst/>
            <a:rect l="l" t="t" r="r" b="b"/>
            <a:pathLst>
              <a:path w="864234" h="385445">
                <a:moveTo>
                  <a:pt x="864069" y="0"/>
                </a:moveTo>
                <a:lnTo>
                  <a:pt x="0" y="0"/>
                </a:lnTo>
                <a:lnTo>
                  <a:pt x="0" y="384822"/>
                </a:lnTo>
                <a:lnTo>
                  <a:pt x="864069" y="384822"/>
                </a:lnTo>
                <a:lnTo>
                  <a:pt x="864069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29120" y="3105536"/>
            <a:ext cx="3028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BRAS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386446" y="2990595"/>
            <a:ext cx="1100455" cy="385445"/>
          </a:xfrm>
          <a:custGeom>
            <a:avLst/>
            <a:gdLst/>
            <a:ahLst/>
            <a:cxnLst/>
            <a:rect l="l" t="t" r="r" b="b"/>
            <a:pathLst>
              <a:path w="1100454" h="385445">
                <a:moveTo>
                  <a:pt x="1100315" y="0"/>
                </a:moveTo>
                <a:lnTo>
                  <a:pt x="0" y="0"/>
                </a:lnTo>
                <a:lnTo>
                  <a:pt x="0" y="384822"/>
                </a:lnTo>
                <a:lnTo>
                  <a:pt x="1100315" y="384822"/>
                </a:lnTo>
                <a:lnTo>
                  <a:pt x="1100315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465198" y="3105536"/>
            <a:ext cx="3028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FFFFFF"/>
                </a:solidFill>
                <a:latin typeface="Microsoft YaHei"/>
                <a:cs typeface="Microsoft YaHei"/>
              </a:rPr>
              <a:t>BRAS</a:t>
            </a:r>
            <a:endParaRPr sz="800">
              <a:latin typeface="Microsoft YaHei"/>
              <a:cs typeface="Microsoft YaHei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4991734" y="2139886"/>
          <a:ext cx="3573145" cy="808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"/>
                <a:gridCol w="667385"/>
                <a:gridCol w="352425"/>
                <a:gridCol w="407670"/>
                <a:gridCol w="232410"/>
                <a:gridCol w="803909"/>
                <a:gridCol w="664845"/>
              </a:tblGrid>
              <a:tr h="404495">
                <a:tc gridSpan="3">
                  <a:txBody>
                    <a:bodyPr/>
                    <a:lstStyle/>
                    <a:p>
                      <a:pPr marL="91440" marR="969644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IMS/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VoLTE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6040"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00965" marR="2165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IMS/ VoLTE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695" marR="10471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IMS/ VoLTE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1276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EPC/NB- 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IOT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6360">
                    <a:lnR w="381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6045" marR="26606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EPC/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NB-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IOT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6360">
                    <a:lnL w="381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6839" marR="532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EPC/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NB-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IOT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6360">
                    <a:lnL w="571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EPC/</a:t>
                      </a:r>
                      <a:r>
                        <a:rPr dirty="0" sz="800" spc="-30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大网</a:t>
                      </a:r>
                      <a:endParaRPr sz="800">
                        <a:latin typeface="SimSun"/>
                        <a:cs typeface="SimSun"/>
                      </a:endParaRPr>
                    </a:p>
                  </a:txBody>
                  <a:tcPr marL="0" marR="0" marB="0" marT="31750">
                    <a:lnL w="28575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4707635" y="1368551"/>
            <a:ext cx="4159885" cy="718820"/>
            <a:chOff x="4707635" y="1368551"/>
            <a:chExt cx="4159885" cy="71882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7635" y="1368551"/>
              <a:ext cx="4159757" cy="71856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748665" y="1389943"/>
              <a:ext cx="4077970" cy="636905"/>
            </a:xfrm>
            <a:custGeom>
              <a:avLst/>
              <a:gdLst/>
              <a:ahLst/>
              <a:cxnLst/>
              <a:rect l="l" t="t" r="r" b="b"/>
              <a:pathLst>
                <a:path w="4077970" h="636905">
                  <a:moveTo>
                    <a:pt x="3759708" y="0"/>
                  </a:moveTo>
                  <a:lnTo>
                    <a:pt x="3759708" y="159092"/>
                  </a:lnTo>
                  <a:lnTo>
                    <a:pt x="0" y="159092"/>
                  </a:lnTo>
                  <a:lnTo>
                    <a:pt x="0" y="477278"/>
                  </a:lnTo>
                  <a:lnTo>
                    <a:pt x="3759708" y="477278"/>
                  </a:lnTo>
                  <a:lnTo>
                    <a:pt x="3759708" y="636371"/>
                  </a:lnTo>
                  <a:lnTo>
                    <a:pt x="4077893" y="318185"/>
                  </a:lnTo>
                  <a:lnTo>
                    <a:pt x="3759708" y="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4891379" y="1547101"/>
          <a:ext cx="3839210" cy="306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870"/>
                <a:gridCol w="762635"/>
                <a:gridCol w="762634"/>
                <a:gridCol w="762635"/>
                <a:gridCol w="737870"/>
              </a:tblGrid>
              <a:tr h="30607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2016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9685"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2017</a:t>
                      </a:r>
                      <a:endParaRPr sz="16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9685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2606AE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2018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1435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2019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334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2020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5244">
                    <a:lnL w="57150">
                      <a:solidFill>
                        <a:srgbClr val="FFFFFF"/>
                      </a:solidFill>
                      <a:prstDash val="solid"/>
                    </a:lnL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8554" y="2855226"/>
            <a:ext cx="1580192" cy="598115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061752" y="2918520"/>
            <a:ext cx="62738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>
                <a:solidFill>
                  <a:srgbClr val="FFFFFF"/>
                </a:solidFill>
                <a:latin typeface="Microsoft YaHei"/>
                <a:cs typeface="Microsoft YaHei"/>
              </a:rPr>
              <a:t>IP</a:t>
            </a:r>
            <a:r>
              <a:rPr dirty="0" sz="700" spc="-15" b="1">
                <a:solidFill>
                  <a:srgbClr val="FFFFFF"/>
                </a:solidFill>
                <a:latin typeface="Microsoft YaHei"/>
                <a:cs typeface="Microsoft YaHei"/>
              </a:rPr>
              <a:t>+光承载平面</a:t>
            </a:r>
            <a:endParaRPr sz="700">
              <a:latin typeface="Microsoft YaHei"/>
              <a:cs typeface="Microsoft YaHe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926336" y="2926080"/>
            <a:ext cx="1039494" cy="426720"/>
            <a:chOff x="1926336" y="2926080"/>
            <a:chExt cx="1039494" cy="42672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336" y="2926080"/>
              <a:ext cx="277368" cy="2407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26336" y="2977896"/>
              <a:ext cx="280416" cy="23774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4768" y="3112020"/>
              <a:ext cx="283463" cy="240779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416923" y="321856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" spc="-25">
                <a:latin typeface="Microsoft YaHei"/>
                <a:cs typeface="Microsoft YaHei"/>
              </a:rPr>
              <a:t>基础网元</a:t>
            </a:r>
            <a:endParaRPr sz="300">
              <a:latin typeface="Microsoft YaHei"/>
              <a:cs typeface="Microsoft YaHe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106949" y="2644139"/>
            <a:ext cx="2097405" cy="922019"/>
            <a:chOff x="2106949" y="2644139"/>
            <a:chExt cx="2097405" cy="922019"/>
          </a:xfrm>
        </p:grpSpPr>
        <p:sp>
          <p:nvSpPr>
            <p:cNvPr id="27" name="object 27" descr=""/>
            <p:cNvSpPr/>
            <p:nvPr/>
          </p:nvSpPr>
          <p:spPr>
            <a:xfrm>
              <a:off x="2169867" y="3168258"/>
              <a:ext cx="175260" cy="111125"/>
            </a:xfrm>
            <a:custGeom>
              <a:avLst/>
              <a:gdLst/>
              <a:ahLst/>
              <a:cxnLst/>
              <a:rect l="l" t="t" r="r" b="b"/>
              <a:pathLst>
                <a:path w="175260" h="111125">
                  <a:moveTo>
                    <a:pt x="0" y="0"/>
                  </a:moveTo>
                  <a:lnTo>
                    <a:pt x="175171" y="110756"/>
                  </a:lnTo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111711" y="3142543"/>
              <a:ext cx="58419" cy="22225"/>
            </a:xfrm>
            <a:custGeom>
              <a:avLst/>
              <a:gdLst/>
              <a:ahLst/>
              <a:cxnLst/>
              <a:rect l="l" t="t" r="r" b="b"/>
              <a:pathLst>
                <a:path w="58419" h="22225">
                  <a:moveTo>
                    <a:pt x="0" y="0"/>
                  </a:moveTo>
                  <a:lnTo>
                    <a:pt x="58153" y="21755"/>
                  </a:lnTo>
                </a:path>
              </a:pathLst>
            </a:custGeom>
            <a:ln w="9525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169867" y="3071334"/>
              <a:ext cx="526415" cy="26034"/>
            </a:xfrm>
            <a:custGeom>
              <a:avLst/>
              <a:gdLst/>
              <a:ahLst/>
              <a:cxnLst/>
              <a:rect l="l" t="t" r="r" b="b"/>
              <a:pathLst>
                <a:path w="526414" h="26035">
                  <a:moveTo>
                    <a:pt x="0" y="25717"/>
                  </a:moveTo>
                  <a:lnTo>
                    <a:pt x="526237" y="0"/>
                  </a:lnTo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520936" y="3160345"/>
              <a:ext cx="262890" cy="118745"/>
            </a:xfrm>
            <a:custGeom>
              <a:avLst/>
              <a:gdLst/>
              <a:ahLst/>
              <a:cxnLst/>
              <a:rect l="l" t="t" r="r" b="b"/>
              <a:pathLst>
                <a:path w="262889" h="118745">
                  <a:moveTo>
                    <a:pt x="262407" y="0"/>
                  </a:moveTo>
                  <a:lnTo>
                    <a:pt x="0" y="118668"/>
                  </a:lnTo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2666" y="2644139"/>
              <a:ext cx="1161287" cy="92201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3690" y="2665605"/>
              <a:ext cx="1078877" cy="839254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3306305" y="2710299"/>
            <a:ext cx="530225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latin typeface="Microsoft YaHei"/>
                <a:cs typeface="Microsoft YaHei"/>
              </a:rPr>
              <a:t>面向数据中心的网络</a:t>
            </a:r>
            <a:r>
              <a:rPr dirty="0" sz="300" spc="-10">
                <a:latin typeface="Microsoft YaHei"/>
                <a:cs typeface="Microsoft YaHei"/>
              </a:rPr>
              <a:t>（DCN）</a:t>
            </a:r>
            <a:endParaRPr sz="300">
              <a:latin typeface="Microsoft YaHei"/>
              <a:cs typeface="Microsoft YaHe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214039" y="2795181"/>
            <a:ext cx="844550" cy="598170"/>
            <a:chOff x="3214039" y="2795181"/>
            <a:chExt cx="844550" cy="598170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14039" y="2799264"/>
              <a:ext cx="372537" cy="18237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14039" y="3210915"/>
              <a:ext cx="372537" cy="18238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85921" y="3210915"/>
              <a:ext cx="372540" cy="18238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85921" y="2795181"/>
              <a:ext cx="372540" cy="182384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3561331" y="3032960"/>
            <a:ext cx="2540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latin typeface="Microsoft YaHei"/>
                <a:cs typeface="Microsoft YaHei"/>
              </a:rPr>
              <a:t>云互联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360241" y="2863579"/>
            <a:ext cx="15621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latin typeface="Microsoft YaHei"/>
                <a:cs typeface="Microsoft YaHei"/>
              </a:rPr>
              <a:t>基地</a:t>
            </a:r>
            <a:r>
              <a:rPr dirty="0" sz="300" spc="-25">
                <a:latin typeface="Microsoft YaHei"/>
                <a:cs typeface="Microsoft YaHei"/>
              </a:rPr>
              <a:t>DC</a:t>
            </a:r>
            <a:endParaRPr sz="300">
              <a:latin typeface="Microsoft YaHei"/>
              <a:cs typeface="Microsoft YaHe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820069" y="2858969"/>
            <a:ext cx="15621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latin typeface="Microsoft YaHei"/>
                <a:cs typeface="Microsoft YaHei"/>
              </a:rPr>
              <a:t>基地</a:t>
            </a:r>
            <a:r>
              <a:rPr dirty="0" sz="300" spc="-25">
                <a:latin typeface="Microsoft YaHei"/>
                <a:cs typeface="Microsoft YaHei"/>
              </a:rPr>
              <a:t>DC</a:t>
            </a:r>
            <a:endParaRPr sz="300">
              <a:latin typeface="Microsoft YaHei"/>
              <a:cs typeface="Microsoft YaHe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348163" y="3275211"/>
            <a:ext cx="15621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latin typeface="Microsoft YaHei"/>
                <a:cs typeface="Microsoft YaHei"/>
              </a:rPr>
              <a:t>基地</a:t>
            </a:r>
            <a:r>
              <a:rPr dirty="0" sz="300" spc="-25">
                <a:latin typeface="Microsoft YaHei"/>
                <a:cs typeface="Microsoft YaHei"/>
              </a:rPr>
              <a:t>DC</a:t>
            </a:r>
            <a:endParaRPr sz="300">
              <a:latin typeface="Microsoft YaHei"/>
              <a:cs typeface="Microsoft YaHe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820069" y="3297271"/>
            <a:ext cx="15621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latin typeface="Microsoft YaHei"/>
                <a:cs typeface="Microsoft YaHei"/>
              </a:rPr>
              <a:t>基地</a:t>
            </a:r>
            <a:r>
              <a:rPr dirty="0" sz="300" spc="-25">
                <a:latin typeface="Microsoft YaHei"/>
                <a:cs typeface="Microsoft YaHei"/>
              </a:rPr>
              <a:t>DC</a:t>
            </a:r>
            <a:endParaRPr sz="300">
              <a:latin typeface="Microsoft YaHei"/>
              <a:cs typeface="Microsoft YaHe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449580" y="2641092"/>
            <a:ext cx="1141095" cy="913765"/>
            <a:chOff x="449580" y="2641092"/>
            <a:chExt cx="1141095" cy="913765"/>
          </a:xfrm>
        </p:grpSpPr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9580" y="2641092"/>
              <a:ext cx="1140713" cy="91363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695" y="2662332"/>
              <a:ext cx="1058760" cy="830973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6092" y="2775966"/>
              <a:ext cx="341375" cy="26898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2960" y="2976054"/>
              <a:ext cx="177545" cy="76517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2209" y="2818701"/>
              <a:ext cx="249047" cy="15712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82209" y="2818701"/>
              <a:ext cx="249554" cy="157480"/>
            </a:xfrm>
            <a:custGeom>
              <a:avLst/>
              <a:gdLst/>
              <a:ahLst/>
              <a:cxnLst/>
              <a:rect l="l" t="t" r="r" b="b"/>
              <a:pathLst>
                <a:path w="249555" h="157480">
                  <a:moveTo>
                    <a:pt x="0" y="26187"/>
                  </a:moveTo>
                  <a:lnTo>
                    <a:pt x="2057" y="15993"/>
                  </a:lnTo>
                  <a:lnTo>
                    <a:pt x="7669" y="7669"/>
                  </a:lnTo>
                  <a:lnTo>
                    <a:pt x="15993" y="2057"/>
                  </a:lnTo>
                  <a:lnTo>
                    <a:pt x="26187" y="0"/>
                  </a:lnTo>
                  <a:lnTo>
                    <a:pt x="222859" y="0"/>
                  </a:lnTo>
                  <a:lnTo>
                    <a:pt x="233053" y="2057"/>
                  </a:lnTo>
                  <a:lnTo>
                    <a:pt x="241377" y="7669"/>
                  </a:lnTo>
                  <a:lnTo>
                    <a:pt x="246989" y="15993"/>
                  </a:lnTo>
                  <a:lnTo>
                    <a:pt x="249047" y="26187"/>
                  </a:lnTo>
                  <a:lnTo>
                    <a:pt x="249047" y="130937"/>
                  </a:lnTo>
                  <a:lnTo>
                    <a:pt x="246989" y="141131"/>
                  </a:lnTo>
                  <a:lnTo>
                    <a:pt x="241377" y="149455"/>
                  </a:lnTo>
                  <a:lnTo>
                    <a:pt x="233053" y="155066"/>
                  </a:lnTo>
                  <a:lnTo>
                    <a:pt x="222859" y="157124"/>
                  </a:lnTo>
                  <a:lnTo>
                    <a:pt x="26187" y="157124"/>
                  </a:lnTo>
                  <a:lnTo>
                    <a:pt x="15993" y="155066"/>
                  </a:lnTo>
                  <a:lnTo>
                    <a:pt x="7669" y="149455"/>
                  </a:lnTo>
                  <a:lnTo>
                    <a:pt x="2057" y="141131"/>
                  </a:lnTo>
                  <a:lnTo>
                    <a:pt x="0" y="130937"/>
                  </a:lnTo>
                  <a:lnTo>
                    <a:pt x="0" y="26187"/>
                  </a:lnTo>
                  <a:close/>
                </a:path>
              </a:pathLst>
            </a:custGeom>
            <a:ln w="9525">
              <a:solidFill>
                <a:srgbClr val="FF62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874472" y="2794646"/>
            <a:ext cx="63500" cy="20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8300"/>
              </a:lnSpc>
              <a:spcBef>
                <a:spcPts val="105"/>
              </a:spcBef>
            </a:pPr>
            <a:r>
              <a:rPr dirty="0" sz="300" spc="-50">
                <a:solidFill>
                  <a:srgbClr val="FFFFFF"/>
                </a:solidFill>
                <a:latin typeface="SimSun"/>
                <a:cs typeface="SimSun"/>
              </a:rPr>
              <a:t>固网宽带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736091" y="3009900"/>
            <a:ext cx="345440" cy="276860"/>
            <a:chOff x="736091" y="3009900"/>
            <a:chExt cx="345440" cy="276860"/>
          </a:xfrm>
        </p:grpSpPr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6091" y="3009900"/>
              <a:ext cx="345185" cy="25907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6007" y="3200272"/>
              <a:ext cx="177545" cy="86232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2209" y="3061277"/>
              <a:ext cx="252996" cy="138747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782209" y="3061277"/>
              <a:ext cx="253365" cy="139065"/>
            </a:xfrm>
            <a:custGeom>
              <a:avLst/>
              <a:gdLst/>
              <a:ahLst/>
              <a:cxnLst/>
              <a:rect l="l" t="t" r="r" b="b"/>
              <a:pathLst>
                <a:path w="253365" h="139064">
                  <a:moveTo>
                    <a:pt x="0" y="23126"/>
                  </a:moveTo>
                  <a:lnTo>
                    <a:pt x="1816" y="14123"/>
                  </a:lnTo>
                  <a:lnTo>
                    <a:pt x="6772" y="6772"/>
                  </a:lnTo>
                  <a:lnTo>
                    <a:pt x="14123" y="1816"/>
                  </a:lnTo>
                  <a:lnTo>
                    <a:pt x="23126" y="0"/>
                  </a:lnTo>
                  <a:lnTo>
                    <a:pt x="229870" y="0"/>
                  </a:lnTo>
                  <a:lnTo>
                    <a:pt x="238868" y="1816"/>
                  </a:lnTo>
                  <a:lnTo>
                    <a:pt x="246219" y="6772"/>
                  </a:lnTo>
                  <a:lnTo>
                    <a:pt x="251178" y="14123"/>
                  </a:lnTo>
                  <a:lnTo>
                    <a:pt x="252996" y="23126"/>
                  </a:lnTo>
                  <a:lnTo>
                    <a:pt x="252996" y="115620"/>
                  </a:lnTo>
                  <a:lnTo>
                    <a:pt x="251178" y="124624"/>
                  </a:lnTo>
                  <a:lnTo>
                    <a:pt x="246219" y="131975"/>
                  </a:lnTo>
                  <a:lnTo>
                    <a:pt x="238868" y="136930"/>
                  </a:lnTo>
                  <a:lnTo>
                    <a:pt x="229870" y="138747"/>
                  </a:lnTo>
                  <a:lnTo>
                    <a:pt x="23126" y="138747"/>
                  </a:lnTo>
                  <a:lnTo>
                    <a:pt x="14123" y="136930"/>
                  </a:lnTo>
                  <a:lnTo>
                    <a:pt x="6772" y="131975"/>
                  </a:lnTo>
                  <a:lnTo>
                    <a:pt x="1816" y="124624"/>
                  </a:lnTo>
                  <a:lnTo>
                    <a:pt x="0" y="115620"/>
                  </a:lnTo>
                  <a:lnTo>
                    <a:pt x="0" y="23126"/>
                  </a:lnTo>
                  <a:close/>
                </a:path>
              </a:pathLst>
            </a:custGeom>
            <a:ln w="9525">
              <a:solidFill>
                <a:srgbClr val="FF62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877082" y="3028036"/>
            <a:ext cx="63500" cy="20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8300"/>
              </a:lnSpc>
              <a:spcBef>
                <a:spcPts val="105"/>
              </a:spcBef>
            </a:pPr>
            <a:r>
              <a:rPr dirty="0" sz="300" spc="-50">
                <a:solidFill>
                  <a:srgbClr val="FFFFFF"/>
                </a:solidFill>
                <a:latin typeface="SimSun"/>
                <a:cs typeface="SimSun"/>
              </a:rPr>
              <a:t>无线宽带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737616" y="3229355"/>
            <a:ext cx="340360" cy="276860"/>
            <a:chOff x="737616" y="3229355"/>
            <a:chExt cx="340360" cy="276860"/>
          </a:xfrm>
        </p:grpSpPr>
        <p:pic>
          <p:nvPicPr>
            <p:cNvPr id="59" name="object 5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7616" y="3229355"/>
              <a:ext cx="339851" cy="259841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4484" y="3420681"/>
              <a:ext cx="177545" cy="8528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3523" y="3280883"/>
              <a:ext cx="248170" cy="139661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783523" y="3280883"/>
              <a:ext cx="248285" cy="139700"/>
            </a:xfrm>
            <a:custGeom>
              <a:avLst/>
              <a:gdLst/>
              <a:ahLst/>
              <a:cxnLst/>
              <a:rect l="l" t="t" r="r" b="b"/>
              <a:pathLst>
                <a:path w="248284" h="139700">
                  <a:moveTo>
                    <a:pt x="0" y="23279"/>
                  </a:moveTo>
                  <a:lnTo>
                    <a:pt x="1829" y="14219"/>
                  </a:lnTo>
                  <a:lnTo>
                    <a:pt x="6819" y="6819"/>
                  </a:lnTo>
                  <a:lnTo>
                    <a:pt x="14219" y="1829"/>
                  </a:lnTo>
                  <a:lnTo>
                    <a:pt x="23279" y="0"/>
                  </a:lnTo>
                  <a:lnTo>
                    <a:pt x="224891" y="0"/>
                  </a:lnTo>
                  <a:lnTo>
                    <a:pt x="233951" y="1829"/>
                  </a:lnTo>
                  <a:lnTo>
                    <a:pt x="241350" y="6819"/>
                  </a:lnTo>
                  <a:lnTo>
                    <a:pt x="246340" y="14219"/>
                  </a:lnTo>
                  <a:lnTo>
                    <a:pt x="248170" y="23279"/>
                  </a:lnTo>
                  <a:lnTo>
                    <a:pt x="248170" y="116382"/>
                  </a:lnTo>
                  <a:lnTo>
                    <a:pt x="246340" y="125447"/>
                  </a:lnTo>
                  <a:lnTo>
                    <a:pt x="241350" y="132846"/>
                  </a:lnTo>
                  <a:lnTo>
                    <a:pt x="233951" y="137833"/>
                  </a:lnTo>
                  <a:lnTo>
                    <a:pt x="224891" y="139661"/>
                  </a:lnTo>
                  <a:lnTo>
                    <a:pt x="23279" y="139661"/>
                  </a:lnTo>
                  <a:lnTo>
                    <a:pt x="14219" y="137833"/>
                  </a:lnTo>
                  <a:lnTo>
                    <a:pt x="6819" y="132846"/>
                  </a:lnTo>
                  <a:lnTo>
                    <a:pt x="1829" y="125447"/>
                  </a:lnTo>
                  <a:lnTo>
                    <a:pt x="0" y="116382"/>
                  </a:lnTo>
                  <a:lnTo>
                    <a:pt x="0" y="23279"/>
                  </a:lnTo>
                  <a:close/>
                </a:path>
              </a:pathLst>
            </a:custGeom>
            <a:ln w="9525">
              <a:solidFill>
                <a:srgbClr val="FF62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875920" y="3248101"/>
            <a:ext cx="63500" cy="20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8300"/>
              </a:lnSpc>
              <a:spcBef>
                <a:spcPts val="105"/>
              </a:spcBef>
            </a:pPr>
            <a:r>
              <a:rPr dirty="0" sz="300" spc="-50">
                <a:solidFill>
                  <a:srgbClr val="FFFFFF"/>
                </a:solidFill>
                <a:latin typeface="SimSun"/>
                <a:cs typeface="SimSun"/>
              </a:rPr>
              <a:t>移动宽带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1288821" y="2826359"/>
            <a:ext cx="278765" cy="619760"/>
            <a:chOff x="1288821" y="2826359"/>
            <a:chExt cx="278765" cy="619760"/>
          </a:xfrm>
        </p:grpSpPr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14985" y="3339027"/>
              <a:ext cx="252282" cy="10679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88821" y="2826359"/>
              <a:ext cx="252277" cy="106800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707929" y="2698760"/>
            <a:ext cx="52959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latin typeface="Microsoft YaHei"/>
                <a:cs typeface="Microsoft YaHei"/>
              </a:rPr>
              <a:t>面向用户中心的网络</a:t>
            </a:r>
            <a:r>
              <a:rPr dirty="0" sz="300" spc="-10">
                <a:latin typeface="Microsoft YaHei"/>
                <a:cs typeface="Microsoft YaHei"/>
              </a:rPr>
              <a:t>（UCN）</a:t>
            </a:r>
            <a:endParaRPr sz="300">
              <a:latin typeface="Microsoft YaHei"/>
              <a:cs typeface="Microsoft YaHei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541781" y="2800350"/>
            <a:ext cx="274320" cy="689610"/>
            <a:chOff x="541781" y="2800350"/>
            <a:chExt cx="274320" cy="689610"/>
          </a:xfrm>
        </p:grpSpPr>
        <p:pic>
          <p:nvPicPr>
            <p:cNvPr id="69" name="object 6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1781" y="2800350"/>
              <a:ext cx="252983" cy="689609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8766" y="2897885"/>
              <a:ext cx="67335" cy="470915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43305" y="2897885"/>
              <a:ext cx="44475" cy="470915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7540" y="2826054"/>
              <a:ext cx="161340" cy="598169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587532" y="2826045"/>
              <a:ext cx="161925" cy="598805"/>
            </a:xfrm>
            <a:custGeom>
              <a:avLst/>
              <a:gdLst/>
              <a:ahLst/>
              <a:cxnLst/>
              <a:rect l="l" t="t" r="r" b="b"/>
              <a:pathLst>
                <a:path w="161925" h="598804">
                  <a:moveTo>
                    <a:pt x="0" y="26898"/>
                  </a:moveTo>
                  <a:lnTo>
                    <a:pt x="2113" y="16432"/>
                  </a:lnTo>
                  <a:lnTo>
                    <a:pt x="7877" y="7881"/>
                  </a:lnTo>
                  <a:lnTo>
                    <a:pt x="16427" y="2115"/>
                  </a:lnTo>
                  <a:lnTo>
                    <a:pt x="26898" y="0"/>
                  </a:lnTo>
                  <a:lnTo>
                    <a:pt x="134454" y="0"/>
                  </a:lnTo>
                  <a:lnTo>
                    <a:pt x="144926" y="2115"/>
                  </a:lnTo>
                  <a:lnTo>
                    <a:pt x="153476" y="7881"/>
                  </a:lnTo>
                  <a:lnTo>
                    <a:pt x="159240" y="16432"/>
                  </a:lnTo>
                  <a:lnTo>
                    <a:pt x="161353" y="26898"/>
                  </a:lnTo>
                  <a:lnTo>
                    <a:pt x="161353" y="571284"/>
                  </a:lnTo>
                  <a:lnTo>
                    <a:pt x="159240" y="581755"/>
                  </a:lnTo>
                  <a:lnTo>
                    <a:pt x="153476" y="590305"/>
                  </a:lnTo>
                  <a:lnTo>
                    <a:pt x="144926" y="596069"/>
                  </a:lnTo>
                  <a:lnTo>
                    <a:pt x="134454" y="598182"/>
                  </a:lnTo>
                  <a:lnTo>
                    <a:pt x="26898" y="598182"/>
                  </a:lnTo>
                  <a:lnTo>
                    <a:pt x="16427" y="596069"/>
                  </a:lnTo>
                  <a:lnTo>
                    <a:pt x="7877" y="590305"/>
                  </a:lnTo>
                  <a:lnTo>
                    <a:pt x="2113" y="581755"/>
                  </a:lnTo>
                  <a:lnTo>
                    <a:pt x="0" y="571284"/>
                  </a:lnTo>
                  <a:lnTo>
                    <a:pt x="0" y="26898"/>
                  </a:lnTo>
                  <a:close/>
                </a:path>
              </a:pathLst>
            </a:custGeom>
            <a:ln w="9524">
              <a:solidFill>
                <a:srgbClr val="FF62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617409" y="2931844"/>
            <a:ext cx="101600" cy="3873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8600"/>
              </a:lnSpc>
              <a:spcBef>
                <a:spcPts val="110"/>
              </a:spcBef>
            </a:pPr>
            <a:r>
              <a:rPr dirty="0" sz="600" spc="-50">
                <a:latin typeface="SimSun"/>
                <a:cs typeface="SimSun"/>
              </a:rPr>
              <a:t>泛在连接</a:t>
            </a:r>
            <a:endParaRPr sz="600">
              <a:latin typeface="SimSun"/>
              <a:cs typeface="SimSun"/>
            </a:endParaRPr>
          </a:p>
        </p:txBody>
      </p:sp>
      <p:pic>
        <p:nvPicPr>
          <p:cNvPr id="75" name="object 7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13310" y="3074761"/>
            <a:ext cx="252282" cy="106803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1102121" y="2836311"/>
            <a:ext cx="485140" cy="6191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95910">
              <a:lnSpc>
                <a:spcPct val="100000"/>
              </a:lnSpc>
              <a:spcBef>
                <a:spcPts val="265"/>
              </a:spcBef>
            </a:pPr>
            <a:r>
              <a:rPr dirty="0" sz="300">
                <a:latin typeface="Microsoft YaHei"/>
                <a:cs typeface="Microsoft YaHei"/>
              </a:rPr>
              <a:t>区域</a:t>
            </a:r>
            <a:r>
              <a:rPr dirty="0" sz="300" spc="-25">
                <a:latin typeface="Microsoft YaHei"/>
                <a:cs typeface="Microsoft YaHei"/>
              </a:rPr>
              <a:t>DC</a:t>
            </a:r>
            <a:endParaRPr sz="300">
              <a:latin typeface="Microsoft YaHei"/>
              <a:cs typeface="Microsoft YaHei"/>
            </a:endParaRPr>
          </a:p>
          <a:p>
            <a:pPr marL="60960">
              <a:lnSpc>
                <a:spcPct val="100000"/>
              </a:lnSpc>
              <a:spcBef>
                <a:spcPts val="340"/>
              </a:spcBef>
            </a:pPr>
            <a:r>
              <a:rPr dirty="0" sz="600" spc="-15">
                <a:latin typeface="Microsoft YaHei"/>
                <a:cs typeface="Microsoft YaHei"/>
              </a:rPr>
              <a:t>城域汇聚</a:t>
            </a:r>
            <a:endParaRPr sz="6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400">
                <a:latin typeface="Microsoft YaHei"/>
                <a:cs typeface="Microsoft YaHei"/>
              </a:rPr>
              <a:t>边缘</a:t>
            </a:r>
            <a:r>
              <a:rPr dirty="0" sz="400" spc="-25">
                <a:latin typeface="Microsoft YaHei"/>
                <a:cs typeface="Microsoft YaHei"/>
              </a:rPr>
              <a:t>DC</a:t>
            </a:r>
            <a:endParaRPr sz="400">
              <a:latin typeface="Microsoft YaHei"/>
              <a:cs typeface="Microsoft YaHei"/>
            </a:endParaRPr>
          </a:p>
          <a:p>
            <a:pPr marL="59690">
              <a:lnSpc>
                <a:spcPct val="100000"/>
              </a:lnSpc>
              <a:spcBef>
                <a:spcPts val="575"/>
              </a:spcBef>
            </a:pPr>
            <a:r>
              <a:rPr dirty="0" sz="600" spc="-15">
                <a:latin typeface="Microsoft YaHei"/>
                <a:cs typeface="Microsoft YaHei"/>
              </a:rPr>
              <a:t>移动回传</a:t>
            </a:r>
            <a:endParaRPr sz="600">
              <a:latin typeface="Microsoft YaHei"/>
              <a:cs typeface="Microsoft YaHei"/>
            </a:endParaRPr>
          </a:p>
          <a:p>
            <a:pPr marL="297180">
              <a:lnSpc>
                <a:spcPct val="100000"/>
              </a:lnSpc>
              <a:spcBef>
                <a:spcPts val="325"/>
              </a:spcBef>
            </a:pPr>
            <a:r>
              <a:rPr dirty="0" sz="400">
                <a:latin typeface="Microsoft YaHei"/>
                <a:cs typeface="Microsoft YaHei"/>
              </a:rPr>
              <a:t>区域</a:t>
            </a:r>
            <a:r>
              <a:rPr dirty="0" sz="400" spc="-25">
                <a:latin typeface="Microsoft YaHei"/>
                <a:cs typeface="Microsoft YaHei"/>
              </a:rPr>
              <a:t>DC</a:t>
            </a:r>
            <a:endParaRPr sz="400">
              <a:latin typeface="Microsoft YaHei"/>
              <a:cs typeface="Microsoft YaHei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425216" y="3565152"/>
            <a:ext cx="939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Microsoft YaHei"/>
                <a:cs typeface="Microsoft YaHei"/>
              </a:rPr>
              <a:t>③</a:t>
            </a:r>
            <a:r>
              <a:rPr dirty="0" sz="900" spc="-10" b="1">
                <a:latin typeface="Microsoft YaHei"/>
                <a:cs typeface="Microsoft YaHei"/>
              </a:rPr>
              <a:t>云应用接入服务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668529" y="3565152"/>
            <a:ext cx="1054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Microsoft YaHei"/>
                <a:cs typeface="Microsoft YaHei"/>
              </a:rPr>
              <a:t>①泛在宽带接入服务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2066303" y="3569496"/>
            <a:ext cx="939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Microsoft YaHei"/>
                <a:cs typeface="Microsoft YaHei"/>
              </a:rPr>
              <a:t>②超宽带弹性管道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1510283" y="1481327"/>
            <a:ext cx="1796414" cy="337185"/>
            <a:chOff x="1510283" y="1481327"/>
            <a:chExt cx="1796414" cy="337185"/>
          </a:xfrm>
        </p:grpSpPr>
        <p:pic>
          <p:nvPicPr>
            <p:cNvPr id="81" name="object 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10283" y="1481327"/>
              <a:ext cx="1796033" cy="336803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55915" y="1504467"/>
              <a:ext cx="1704212" cy="244538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1555909" y="1504462"/>
              <a:ext cx="1704339" cy="245110"/>
            </a:xfrm>
            <a:custGeom>
              <a:avLst/>
              <a:gdLst/>
              <a:ahLst/>
              <a:cxnLst/>
              <a:rect l="l" t="t" r="r" b="b"/>
              <a:pathLst>
                <a:path w="1704339" h="245110">
                  <a:moveTo>
                    <a:pt x="0" y="0"/>
                  </a:moveTo>
                  <a:lnTo>
                    <a:pt x="1704213" y="0"/>
                  </a:lnTo>
                  <a:lnTo>
                    <a:pt x="1704213" y="244538"/>
                  </a:lnTo>
                  <a:lnTo>
                    <a:pt x="0" y="2445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62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09087" y="1516392"/>
              <a:ext cx="583679" cy="179057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2654642" y="1539544"/>
              <a:ext cx="492759" cy="87630"/>
            </a:xfrm>
            <a:custGeom>
              <a:avLst/>
              <a:gdLst/>
              <a:ahLst/>
              <a:cxnLst/>
              <a:rect l="l" t="t" r="r" b="b"/>
              <a:pathLst>
                <a:path w="492760" h="87630">
                  <a:moveTo>
                    <a:pt x="492163" y="0"/>
                  </a:moveTo>
                  <a:lnTo>
                    <a:pt x="0" y="0"/>
                  </a:lnTo>
                  <a:lnTo>
                    <a:pt x="0" y="87350"/>
                  </a:lnTo>
                  <a:lnTo>
                    <a:pt x="492163" y="87350"/>
                  </a:lnTo>
                  <a:lnTo>
                    <a:pt x="4921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654642" y="1539544"/>
              <a:ext cx="492759" cy="87630"/>
            </a:xfrm>
            <a:custGeom>
              <a:avLst/>
              <a:gdLst/>
              <a:ahLst/>
              <a:cxnLst/>
              <a:rect l="l" t="t" r="r" b="b"/>
              <a:pathLst>
                <a:path w="492760" h="87630">
                  <a:moveTo>
                    <a:pt x="0" y="0"/>
                  </a:moveTo>
                  <a:lnTo>
                    <a:pt x="492163" y="0"/>
                  </a:lnTo>
                  <a:lnTo>
                    <a:pt x="492163" y="87350"/>
                  </a:lnTo>
                  <a:lnTo>
                    <a:pt x="0" y="873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2659405" y="1546895"/>
            <a:ext cx="31750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z="300" spc="-15">
                <a:latin typeface="SimSun"/>
                <a:cs typeface="SimSun"/>
              </a:rPr>
              <a:t>应用组件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2268473" y="1561338"/>
            <a:ext cx="735330" cy="239395"/>
            <a:chOff x="2268473" y="1561338"/>
            <a:chExt cx="735330" cy="239395"/>
          </a:xfrm>
        </p:grpSpPr>
        <p:pic>
          <p:nvPicPr>
            <p:cNvPr id="89" name="object 8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19349" y="1561338"/>
              <a:ext cx="584453" cy="198119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2465222" y="1584274"/>
              <a:ext cx="492759" cy="106680"/>
            </a:xfrm>
            <a:custGeom>
              <a:avLst/>
              <a:gdLst/>
              <a:ahLst/>
              <a:cxnLst/>
              <a:rect l="l" t="t" r="r" b="b"/>
              <a:pathLst>
                <a:path w="492760" h="106680">
                  <a:moveTo>
                    <a:pt x="492709" y="0"/>
                  </a:moveTo>
                  <a:lnTo>
                    <a:pt x="0" y="0"/>
                  </a:lnTo>
                  <a:lnTo>
                    <a:pt x="0" y="106502"/>
                  </a:lnTo>
                  <a:lnTo>
                    <a:pt x="492709" y="106502"/>
                  </a:lnTo>
                  <a:lnTo>
                    <a:pt x="4927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2465222" y="1584274"/>
              <a:ext cx="492759" cy="106680"/>
            </a:xfrm>
            <a:custGeom>
              <a:avLst/>
              <a:gdLst/>
              <a:ahLst/>
              <a:cxnLst/>
              <a:rect l="l" t="t" r="r" b="b"/>
              <a:pathLst>
                <a:path w="492760" h="106680">
                  <a:moveTo>
                    <a:pt x="0" y="0"/>
                  </a:moveTo>
                  <a:lnTo>
                    <a:pt x="492709" y="0"/>
                  </a:lnTo>
                  <a:lnTo>
                    <a:pt x="492709" y="106502"/>
                  </a:lnTo>
                  <a:lnTo>
                    <a:pt x="0" y="1065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68473" y="1607058"/>
              <a:ext cx="583679" cy="193547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2314130" y="1629981"/>
              <a:ext cx="492759" cy="102235"/>
            </a:xfrm>
            <a:custGeom>
              <a:avLst/>
              <a:gdLst/>
              <a:ahLst/>
              <a:cxnLst/>
              <a:rect l="l" t="t" r="r" b="b"/>
              <a:pathLst>
                <a:path w="492760" h="102235">
                  <a:moveTo>
                    <a:pt x="492163" y="0"/>
                  </a:moveTo>
                  <a:lnTo>
                    <a:pt x="0" y="0"/>
                  </a:lnTo>
                  <a:lnTo>
                    <a:pt x="0" y="101930"/>
                  </a:lnTo>
                  <a:lnTo>
                    <a:pt x="492163" y="101930"/>
                  </a:lnTo>
                  <a:lnTo>
                    <a:pt x="4921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2314130" y="1629981"/>
              <a:ext cx="492759" cy="102235"/>
            </a:xfrm>
            <a:custGeom>
              <a:avLst/>
              <a:gdLst/>
              <a:ahLst/>
              <a:cxnLst/>
              <a:rect l="l" t="t" r="r" b="b"/>
              <a:pathLst>
                <a:path w="492760" h="102235">
                  <a:moveTo>
                    <a:pt x="0" y="0"/>
                  </a:moveTo>
                  <a:lnTo>
                    <a:pt x="492163" y="0"/>
                  </a:lnTo>
                  <a:lnTo>
                    <a:pt x="492163" y="101930"/>
                  </a:lnTo>
                  <a:lnTo>
                    <a:pt x="0" y="10193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2469984" y="1636287"/>
            <a:ext cx="332105" cy="1079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175"/>
              </a:lnSpc>
            </a:pPr>
            <a:r>
              <a:rPr dirty="0" sz="300" spc="-15">
                <a:latin typeface="SimSun"/>
                <a:cs typeface="SimSun"/>
              </a:rPr>
              <a:t>应用组件</a:t>
            </a:r>
            <a:endParaRPr sz="300">
              <a:latin typeface="SimSun"/>
              <a:cs typeface="SimSun"/>
            </a:endParaRPr>
          </a:p>
          <a:p>
            <a:pPr marL="13335">
              <a:lnSpc>
                <a:spcPts val="350"/>
              </a:lnSpc>
            </a:pPr>
            <a:r>
              <a:rPr dirty="0" sz="300" spc="-15">
                <a:latin typeface="SimSun"/>
                <a:cs typeface="SimSun"/>
              </a:rPr>
              <a:t>应用组件</a:t>
            </a:r>
            <a:endParaRPr sz="300">
              <a:latin typeface="SimSun"/>
              <a:cs typeface="SimSu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1695965" y="1607439"/>
            <a:ext cx="2540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solidFill>
                  <a:srgbClr val="FFFFFF"/>
                </a:solidFill>
                <a:latin typeface="Microsoft YaHei"/>
                <a:cs typeface="Microsoft YaHei"/>
              </a:rPr>
              <a:t>应用层</a:t>
            </a:r>
            <a:endParaRPr sz="600">
              <a:latin typeface="Microsoft YaHei"/>
              <a:cs typeface="Microsoft YaHei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2018546" y="1725801"/>
            <a:ext cx="641350" cy="257175"/>
            <a:chOff x="2018546" y="1725801"/>
            <a:chExt cx="641350" cy="257175"/>
          </a:xfrm>
        </p:grpSpPr>
        <p:pic>
          <p:nvPicPr>
            <p:cNvPr id="98" name="object 9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018546" y="1725804"/>
              <a:ext cx="92201" cy="245186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59908" y="1730564"/>
              <a:ext cx="94742" cy="247167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2559908" y="1730564"/>
              <a:ext cx="95250" cy="247650"/>
            </a:xfrm>
            <a:custGeom>
              <a:avLst/>
              <a:gdLst/>
              <a:ahLst/>
              <a:cxnLst/>
              <a:rect l="l" t="t" r="r" b="b"/>
              <a:pathLst>
                <a:path w="95250" h="247650">
                  <a:moveTo>
                    <a:pt x="0" y="47371"/>
                  </a:moveTo>
                  <a:lnTo>
                    <a:pt x="47371" y="0"/>
                  </a:lnTo>
                  <a:lnTo>
                    <a:pt x="94742" y="47371"/>
                  </a:lnTo>
                  <a:lnTo>
                    <a:pt x="71056" y="47371"/>
                  </a:lnTo>
                  <a:lnTo>
                    <a:pt x="71056" y="199796"/>
                  </a:lnTo>
                  <a:lnTo>
                    <a:pt x="94742" y="199796"/>
                  </a:lnTo>
                  <a:lnTo>
                    <a:pt x="47371" y="247167"/>
                  </a:lnTo>
                  <a:lnTo>
                    <a:pt x="0" y="199796"/>
                  </a:lnTo>
                  <a:lnTo>
                    <a:pt x="23685" y="199796"/>
                  </a:lnTo>
                  <a:lnTo>
                    <a:pt x="23685" y="47371"/>
                  </a:lnTo>
                  <a:lnTo>
                    <a:pt x="0" y="47371"/>
                  </a:lnTo>
                  <a:close/>
                </a:path>
              </a:pathLst>
            </a:custGeom>
            <a:ln w="952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 descr=""/>
          <p:cNvSpPr txBox="1"/>
          <p:nvPr/>
        </p:nvSpPr>
        <p:spPr>
          <a:xfrm>
            <a:off x="3448809" y="1813290"/>
            <a:ext cx="6388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Microsoft YaHei"/>
                <a:cs typeface="Microsoft YaHei"/>
              </a:rPr>
              <a:t>NaaS</a:t>
            </a:r>
            <a:r>
              <a:rPr dirty="0" sz="700" spc="-25" b="1">
                <a:latin typeface="Microsoft YaHei"/>
                <a:cs typeface="Microsoft YaHei"/>
              </a:rPr>
              <a:t> 网络即服</a:t>
            </a:r>
            <a:r>
              <a:rPr dirty="0" sz="700" spc="-50" b="1">
                <a:latin typeface="Microsoft YaHei"/>
                <a:cs typeface="Microsoft YaHei"/>
              </a:rPr>
              <a:t>务</a:t>
            </a:r>
            <a:endParaRPr sz="700">
              <a:latin typeface="Microsoft YaHei"/>
              <a:cs typeface="Microsoft YaHei"/>
            </a:endParaRPr>
          </a:p>
        </p:txBody>
      </p:sp>
      <p:pic>
        <p:nvPicPr>
          <p:cNvPr id="102" name="object 10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309357" y="1714298"/>
            <a:ext cx="104279" cy="224320"/>
          </a:xfrm>
          <a:prstGeom prst="rect">
            <a:avLst/>
          </a:prstGeom>
        </p:spPr>
      </p:pic>
      <p:sp>
        <p:nvSpPr>
          <p:cNvPr id="103" name="object 103" descr=""/>
          <p:cNvSpPr txBox="1"/>
          <p:nvPr/>
        </p:nvSpPr>
        <p:spPr>
          <a:xfrm>
            <a:off x="2693139" y="1807526"/>
            <a:ext cx="25400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10">
                <a:latin typeface="SimSun"/>
                <a:cs typeface="SimSun"/>
              </a:rPr>
              <a:t>北向开放接口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1395983" y="1899666"/>
            <a:ext cx="2152650" cy="820419"/>
            <a:chOff x="1395983" y="1899666"/>
            <a:chExt cx="2152650" cy="820419"/>
          </a:xfrm>
        </p:grpSpPr>
        <p:sp>
          <p:nvSpPr>
            <p:cNvPr id="105" name="object 105" descr=""/>
            <p:cNvSpPr/>
            <p:nvPr/>
          </p:nvSpPr>
          <p:spPr>
            <a:xfrm>
              <a:off x="2263444" y="2138920"/>
              <a:ext cx="272415" cy="128905"/>
            </a:xfrm>
            <a:custGeom>
              <a:avLst/>
              <a:gdLst/>
              <a:ahLst/>
              <a:cxnLst/>
              <a:rect l="l" t="t" r="r" b="b"/>
              <a:pathLst>
                <a:path w="272414" h="128905">
                  <a:moveTo>
                    <a:pt x="204063" y="0"/>
                  </a:moveTo>
                  <a:lnTo>
                    <a:pt x="68021" y="0"/>
                  </a:lnTo>
                  <a:lnTo>
                    <a:pt x="68021" y="64274"/>
                  </a:lnTo>
                  <a:lnTo>
                    <a:pt x="0" y="64274"/>
                  </a:lnTo>
                  <a:lnTo>
                    <a:pt x="136042" y="128549"/>
                  </a:lnTo>
                  <a:lnTo>
                    <a:pt x="272084" y="64274"/>
                  </a:lnTo>
                  <a:lnTo>
                    <a:pt x="204063" y="64274"/>
                  </a:lnTo>
                  <a:lnTo>
                    <a:pt x="20406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95983" y="1899666"/>
              <a:ext cx="2152649" cy="819911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31727" y="1931200"/>
              <a:ext cx="2028082" cy="708709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1411526" y="1937861"/>
              <a:ext cx="2065020" cy="695960"/>
            </a:xfrm>
            <a:custGeom>
              <a:avLst/>
              <a:gdLst/>
              <a:ahLst/>
              <a:cxnLst/>
              <a:rect l="l" t="t" r="r" b="b"/>
              <a:pathLst>
                <a:path w="2065020" h="695960">
                  <a:moveTo>
                    <a:pt x="1755289" y="695845"/>
                  </a:moveTo>
                  <a:lnTo>
                    <a:pt x="234947" y="688568"/>
                  </a:lnTo>
                  <a:lnTo>
                    <a:pt x="87245" y="665812"/>
                  </a:lnTo>
                  <a:lnTo>
                    <a:pt x="15640" y="636727"/>
                  </a:lnTo>
                  <a:lnTo>
                    <a:pt x="0" y="581962"/>
                  </a:lnTo>
                  <a:lnTo>
                    <a:pt x="20190" y="482168"/>
                  </a:lnTo>
                  <a:lnTo>
                    <a:pt x="87447" y="372153"/>
                  </a:lnTo>
                  <a:lnTo>
                    <a:pt x="189274" y="311783"/>
                  </a:lnTo>
                  <a:lnTo>
                    <a:pt x="282230" y="286349"/>
                  </a:lnTo>
                  <a:lnTo>
                    <a:pt x="322869" y="281139"/>
                  </a:lnTo>
                  <a:lnTo>
                    <a:pt x="338631" y="146316"/>
                  </a:lnTo>
                  <a:lnTo>
                    <a:pt x="391387" y="72089"/>
                  </a:lnTo>
                  <a:lnTo>
                    <a:pt x="523889" y="32103"/>
                  </a:lnTo>
                  <a:lnTo>
                    <a:pt x="778888" y="0"/>
                  </a:lnTo>
                  <a:lnTo>
                    <a:pt x="1054767" y="7340"/>
                  </a:lnTo>
                  <a:lnTo>
                    <a:pt x="1242716" y="69835"/>
                  </a:lnTo>
                  <a:lnTo>
                    <a:pt x="1350089" y="141244"/>
                  </a:lnTo>
                  <a:lnTo>
                    <a:pt x="1384246" y="175323"/>
                  </a:lnTo>
                  <a:lnTo>
                    <a:pt x="1514606" y="115629"/>
                  </a:lnTo>
                  <a:lnTo>
                    <a:pt x="1600500" y="95154"/>
                  </a:lnTo>
                  <a:lnTo>
                    <a:pt x="1680124" y="113380"/>
                  </a:lnTo>
                  <a:lnTo>
                    <a:pt x="1791675" y="169786"/>
                  </a:lnTo>
                  <a:lnTo>
                    <a:pt x="1871749" y="237942"/>
                  </a:lnTo>
                  <a:lnTo>
                    <a:pt x="1895743" y="307695"/>
                  </a:lnTo>
                  <a:lnTo>
                    <a:pt x="1890474" y="362028"/>
                  </a:lnTo>
                  <a:lnTo>
                    <a:pt x="1882759" y="383920"/>
                  </a:lnTo>
                  <a:lnTo>
                    <a:pt x="1997274" y="415293"/>
                  </a:lnTo>
                  <a:lnTo>
                    <a:pt x="2052688" y="444733"/>
                  </a:lnTo>
                  <a:lnTo>
                    <a:pt x="2064521" y="489325"/>
                  </a:lnTo>
                  <a:lnTo>
                    <a:pt x="2048291" y="566153"/>
                  </a:lnTo>
                  <a:lnTo>
                    <a:pt x="1987159" y="647303"/>
                  </a:lnTo>
                  <a:lnTo>
                    <a:pt x="1888145" y="685120"/>
                  </a:lnTo>
                  <a:lnTo>
                    <a:pt x="1795954" y="695876"/>
                  </a:lnTo>
                  <a:lnTo>
                    <a:pt x="1755289" y="695845"/>
                  </a:lnTo>
                  <a:close/>
                </a:path>
              </a:pathLst>
            </a:custGeom>
            <a:ln w="12700">
              <a:solidFill>
                <a:srgbClr val="00B6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76577" y="2317241"/>
              <a:ext cx="336803" cy="368045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51253" y="2300490"/>
              <a:ext cx="198881" cy="389369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1628349" y="2330734"/>
              <a:ext cx="233045" cy="264795"/>
            </a:xfrm>
            <a:custGeom>
              <a:avLst/>
              <a:gdLst/>
              <a:ahLst/>
              <a:cxnLst/>
              <a:rect l="l" t="t" r="r" b="b"/>
              <a:pathLst>
                <a:path w="233044" h="264794">
                  <a:moveTo>
                    <a:pt x="194170" y="0"/>
                  </a:moveTo>
                  <a:lnTo>
                    <a:pt x="38836" y="0"/>
                  </a:lnTo>
                  <a:lnTo>
                    <a:pt x="23719" y="3051"/>
                  </a:lnTo>
                  <a:lnTo>
                    <a:pt x="11374" y="11374"/>
                  </a:lnTo>
                  <a:lnTo>
                    <a:pt x="3051" y="23719"/>
                  </a:lnTo>
                  <a:lnTo>
                    <a:pt x="0" y="38836"/>
                  </a:lnTo>
                  <a:lnTo>
                    <a:pt x="0" y="225628"/>
                  </a:lnTo>
                  <a:lnTo>
                    <a:pt x="3051" y="240745"/>
                  </a:lnTo>
                  <a:lnTo>
                    <a:pt x="11374" y="253090"/>
                  </a:lnTo>
                  <a:lnTo>
                    <a:pt x="23719" y="261413"/>
                  </a:lnTo>
                  <a:lnTo>
                    <a:pt x="38836" y="264464"/>
                  </a:lnTo>
                  <a:lnTo>
                    <a:pt x="194170" y="264464"/>
                  </a:lnTo>
                  <a:lnTo>
                    <a:pt x="209287" y="261413"/>
                  </a:lnTo>
                  <a:lnTo>
                    <a:pt x="221632" y="253090"/>
                  </a:lnTo>
                  <a:lnTo>
                    <a:pt x="229955" y="240745"/>
                  </a:lnTo>
                  <a:lnTo>
                    <a:pt x="233006" y="225628"/>
                  </a:lnTo>
                  <a:lnTo>
                    <a:pt x="233006" y="38836"/>
                  </a:lnTo>
                  <a:lnTo>
                    <a:pt x="229955" y="23719"/>
                  </a:lnTo>
                  <a:lnTo>
                    <a:pt x="221632" y="11374"/>
                  </a:lnTo>
                  <a:lnTo>
                    <a:pt x="209287" y="3051"/>
                  </a:lnTo>
                  <a:lnTo>
                    <a:pt x="1941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 descr=""/>
          <p:cNvSpPr txBox="1"/>
          <p:nvPr/>
        </p:nvSpPr>
        <p:spPr>
          <a:xfrm>
            <a:off x="1713036" y="2314630"/>
            <a:ext cx="63500" cy="297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000"/>
              </a:lnSpc>
              <a:spcBef>
                <a:spcPts val="100"/>
              </a:spcBef>
            </a:pPr>
            <a:r>
              <a:rPr dirty="0" sz="300" spc="-50">
                <a:latin typeface="SimSun"/>
                <a:cs typeface="SimSun"/>
              </a:rPr>
              <a:t>虚拟网络功能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1907285" y="2317242"/>
            <a:ext cx="337185" cy="368300"/>
            <a:chOff x="1907285" y="2317242"/>
            <a:chExt cx="337185" cy="368300"/>
          </a:xfrm>
        </p:grpSpPr>
        <p:pic>
          <p:nvPicPr>
            <p:cNvPr id="114" name="object 11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07285" y="2317242"/>
              <a:ext cx="336791" cy="368045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81961" y="2346210"/>
              <a:ext cx="198881" cy="297928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1959068" y="2330734"/>
              <a:ext cx="233045" cy="264795"/>
            </a:xfrm>
            <a:custGeom>
              <a:avLst/>
              <a:gdLst/>
              <a:ahLst/>
              <a:cxnLst/>
              <a:rect l="l" t="t" r="r" b="b"/>
              <a:pathLst>
                <a:path w="233044" h="264794">
                  <a:moveTo>
                    <a:pt x="194170" y="0"/>
                  </a:moveTo>
                  <a:lnTo>
                    <a:pt x="38836" y="0"/>
                  </a:lnTo>
                  <a:lnTo>
                    <a:pt x="23719" y="3051"/>
                  </a:lnTo>
                  <a:lnTo>
                    <a:pt x="11374" y="11374"/>
                  </a:lnTo>
                  <a:lnTo>
                    <a:pt x="3051" y="23719"/>
                  </a:lnTo>
                  <a:lnTo>
                    <a:pt x="0" y="38836"/>
                  </a:lnTo>
                  <a:lnTo>
                    <a:pt x="0" y="225628"/>
                  </a:lnTo>
                  <a:lnTo>
                    <a:pt x="3051" y="240745"/>
                  </a:lnTo>
                  <a:lnTo>
                    <a:pt x="11374" y="253090"/>
                  </a:lnTo>
                  <a:lnTo>
                    <a:pt x="23719" y="261413"/>
                  </a:lnTo>
                  <a:lnTo>
                    <a:pt x="38836" y="264464"/>
                  </a:lnTo>
                  <a:lnTo>
                    <a:pt x="194170" y="264464"/>
                  </a:lnTo>
                  <a:lnTo>
                    <a:pt x="209287" y="261413"/>
                  </a:lnTo>
                  <a:lnTo>
                    <a:pt x="221632" y="253090"/>
                  </a:lnTo>
                  <a:lnTo>
                    <a:pt x="229955" y="240745"/>
                  </a:lnTo>
                  <a:lnTo>
                    <a:pt x="233006" y="225628"/>
                  </a:lnTo>
                  <a:lnTo>
                    <a:pt x="233006" y="38836"/>
                  </a:lnTo>
                  <a:lnTo>
                    <a:pt x="229955" y="23719"/>
                  </a:lnTo>
                  <a:lnTo>
                    <a:pt x="221632" y="11374"/>
                  </a:lnTo>
                  <a:lnTo>
                    <a:pt x="209287" y="3051"/>
                  </a:lnTo>
                  <a:lnTo>
                    <a:pt x="1941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2043756" y="2360350"/>
            <a:ext cx="63500" cy="20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8300"/>
              </a:lnSpc>
              <a:spcBef>
                <a:spcPts val="105"/>
              </a:spcBef>
            </a:pPr>
            <a:r>
              <a:rPr dirty="0" sz="300" spc="-50">
                <a:latin typeface="SimSun"/>
                <a:cs typeface="SimSun"/>
              </a:rPr>
              <a:t>资源管理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118" name="object 118" descr=""/>
          <p:cNvGrpSpPr/>
          <p:nvPr/>
        </p:nvGrpSpPr>
        <p:grpSpPr>
          <a:xfrm>
            <a:off x="2237993" y="2317241"/>
            <a:ext cx="337185" cy="368300"/>
            <a:chOff x="2237993" y="2317241"/>
            <a:chExt cx="337185" cy="368300"/>
          </a:xfrm>
        </p:grpSpPr>
        <p:pic>
          <p:nvPicPr>
            <p:cNvPr id="119" name="object 11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237993" y="2317241"/>
              <a:ext cx="336803" cy="368045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312669" y="2346210"/>
              <a:ext cx="198881" cy="297928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2289790" y="2330734"/>
              <a:ext cx="233045" cy="264795"/>
            </a:xfrm>
            <a:custGeom>
              <a:avLst/>
              <a:gdLst/>
              <a:ahLst/>
              <a:cxnLst/>
              <a:rect l="l" t="t" r="r" b="b"/>
              <a:pathLst>
                <a:path w="233044" h="264794">
                  <a:moveTo>
                    <a:pt x="194170" y="0"/>
                  </a:moveTo>
                  <a:lnTo>
                    <a:pt x="38836" y="0"/>
                  </a:lnTo>
                  <a:lnTo>
                    <a:pt x="23719" y="3051"/>
                  </a:lnTo>
                  <a:lnTo>
                    <a:pt x="11374" y="11374"/>
                  </a:lnTo>
                  <a:lnTo>
                    <a:pt x="3051" y="23719"/>
                  </a:lnTo>
                  <a:lnTo>
                    <a:pt x="0" y="38836"/>
                  </a:lnTo>
                  <a:lnTo>
                    <a:pt x="0" y="225628"/>
                  </a:lnTo>
                  <a:lnTo>
                    <a:pt x="3051" y="240745"/>
                  </a:lnTo>
                  <a:lnTo>
                    <a:pt x="11374" y="253090"/>
                  </a:lnTo>
                  <a:lnTo>
                    <a:pt x="23719" y="261413"/>
                  </a:lnTo>
                  <a:lnTo>
                    <a:pt x="38836" y="264464"/>
                  </a:lnTo>
                  <a:lnTo>
                    <a:pt x="194170" y="264464"/>
                  </a:lnTo>
                  <a:lnTo>
                    <a:pt x="209287" y="261413"/>
                  </a:lnTo>
                  <a:lnTo>
                    <a:pt x="221632" y="253090"/>
                  </a:lnTo>
                  <a:lnTo>
                    <a:pt x="229955" y="240745"/>
                  </a:lnTo>
                  <a:lnTo>
                    <a:pt x="233006" y="225628"/>
                  </a:lnTo>
                  <a:lnTo>
                    <a:pt x="233006" y="38836"/>
                  </a:lnTo>
                  <a:lnTo>
                    <a:pt x="229955" y="23719"/>
                  </a:lnTo>
                  <a:lnTo>
                    <a:pt x="221632" y="11374"/>
                  </a:lnTo>
                  <a:lnTo>
                    <a:pt x="209287" y="3051"/>
                  </a:lnTo>
                  <a:lnTo>
                    <a:pt x="1941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 descr=""/>
          <p:cNvSpPr txBox="1"/>
          <p:nvPr/>
        </p:nvSpPr>
        <p:spPr>
          <a:xfrm>
            <a:off x="2374478" y="2360350"/>
            <a:ext cx="63500" cy="20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8300"/>
              </a:lnSpc>
              <a:spcBef>
                <a:spcPts val="105"/>
              </a:spcBef>
            </a:pPr>
            <a:r>
              <a:rPr dirty="0" sz="300" spc="-50">
                <a:latin typeface="SimSun"/>
                <a:cs typeface="SimSun"/>
              </a:rPr>
              <a:t>网络控制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2568701" y="2317241"/>
            <a:ext cx="337185" cy="368300"/>
            <a:chOff x="2568701" y="2317241"/>
            <a:chExt cx="337185" cy="368300"/>
          </a:xfrm>
        </p:grpSpPr>
        <p:pic>
          <p:nvPicPr>
            <p:cNvPr id="124" name="object 12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568701" y="2317241"/>
              <a:ext cx="336803" cy="368045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643377" y="2346210"/>
              <a:ext cx="198881" cy="297928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2620510" y="2330734"/>
              <a:ext cx="233045" cy="264795"/>
            </a:xfrm>
            <a:custGeom>
              <a:avLst/>
              <a:gdLst/>
              <a:ahLst/>
              <a:cxnLst/>
              <a:rect l="l" t="t" r="r" b="b"/>
              <a:pathLst>
                <a:path w="233044" h="264794">
                  <a:moveTo>
                    <a:pt x="194170" y="0"/>
                  </a:moveTo>
                  <a:lnTo>
                    <a:pt x="38836" y="0"/>
                  </a:lnTo>
                  <a:lnTo>
                    <a:pt x="23719" y="3051"/>
                  </a:lnTo>
                  <a:lnTo>
                    <a:pt x="11374" y="11374"/>
                  </a:lnTo>
                  <a:lnTo>
                    <a:pt x="3051" y="23719"/>
                  </a:lnTo>
                  <a:lnTo>
                    <a:pt x="0" y="38836"/>
                  </a:lnTo>
                  <a:lnTo>
                    <a:pt x="0" y="225628"/>
                  </a:lnTo>
                  <a:lnTo>
                    <a:pt x="3051" y="240745"/>
                  </a:lnTo>
                  <a:lnTo>
                    <a:pt x="11374" y="253090"/>
                  </a:lnTo>
                  <a:lnTo>
                    <a:pt x="23719" y="261413"/>
                  </a:lnTo>
                  <a:lnTo>
                    <a:pt x="38836" y="264464"/>
                  </a:lnTo>
                  <a:lnTo>
                    <a:pt x="194170" y="264464"/>
                  </a:lnTo>
                  <a:lnTo>
                    <a:pt x="209287" y="261413"/>
                  </a:lnTo>
                  <a:lnTo>
                    <a:pt x="221632" y="253090"/>
                  </a:lnTo>
                  <a:lnTo>
                    <a:pt x="229955" y="240745"/>
                  </a:lnTo>
                  <a:lnTo>
                    <a:pt x="233006" y="225628"/>
                  </a:lnTo>
                  <a:lnTo>
                    <a:pt x="233006" y="38836"/>
                  </a:lnTo>
                  <a:lnTo>
                    <a:pt x="229955" y="23719"/>
                  </a:lnTo>
                  <a:lnTo>
                    <a:pt x="221632" y="11374"/>
                  </a:lnTo>
                  <a:lnTo>
                    <a:pt x="209287" y="3051"/>
                  </a:lnTo>
                  <a:lnTo>
                    <a:pt x="1941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 txBox="1"/>
          <p:nvPr/>
        </p:nvSpPr>
        <p:spPr>
          <a:xfrm>
            <a:off x="2705196" y="2360350"/>
            <a:ext cx="63500" cy="206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8300"/>
              </a:lnSpc>
              <a:spcBef>
                <a:spcPts val="105"/>
              </a:spcBef>
            </a:pPr>
            <a:r>
              <a:rPr dirty="0" sz="300" spc="-50">
                <a:latin typeface="SimSun"/>
                <a:cs typeface="SimSun"/>
              </a:rPr>
              <a:t>云化业务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128" name="object 128" descr=""/>
          <p:cNvGrpSpPr/>
          <p:nvPr/>
        </p:nvGrpSpPr>
        <p:grpSpPr>
          <a:xfrm>
            <a:off x="2899410" y="2317242"/>
            <a:ext cx="337185" cy="368300"/>
            <a:chOff x="2899410" y="2317242"/>
            <a:chExt cx="337185" cy="368300"/>
          </a:xfrm>
        </p:grpSpPr>
        <p:pic>
          <p:nvPicPr>
            <p:cNvPr id="129" name="object 12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899410" y="2317242"/>
              <a:ext cx="336791" cy="368045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977134" y="2391930"/>
              <a:ext cx="192023" cy="206489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2951229" y="2330734"/>
              <a:ext cx="233045" cy="264795"/>
            </a:xfrm>
            <a:custGeom>
              <a:avLst/>
              <a:gdLst/>
              <a:ahLst/>
              <a:cxnLst/>
              <a:rect l="l" t="t" r="r" b="b"/>
              <a:pathLst>
                <a:path w="233044" h="264794">
                  <a:moveTo>
                    <a:pt x="194170" y="0"/>
                  </a:moveTo>
                  <a:lnTo>
                    <a:pt x="38836" y="0"/>
                  </a:lnTo>
                  <a:lnTo>
                    <a:pt x="23719" y="3051"/>
                  </a:lnTo>
                  <a:lnTo>
                    <a:pt x="11374" y="11374"/>
                  </a:lnTo>
                  <a:lnTo>
                    <a:pt x="3051" y="23719"/>
                  </a:lnTo>
                  <a:lnTo>
                    <a:pt x="0" y="38836"/>
                  </a:lnTo>
                  <a:lnTo>
                    <a:pt x="0" y="225628"/>
                  </a:lnTo>
                  <a:lnTo>
                    <a:pt x="3051" y="240745"/>
                  </a:lnTo>
                  <a:lnTo>
                    <a:pt x="11374" y="253090"/>
                  </a:lnTo>
                  <a:lnTo>
                    <a:pt x="23719" y="261413"/>
                  </a:lnTo>
                  <a:lnTo>
                    <a:pt x="38836" y="264464"/>
                  </a:lnTo>
                  <a:lnTo>
                    <a:pt x="194170" y="264464"/>
                  </a:lnTo>
                  <a:lnTo>
                    <a:pt x="209287" y="261413"/>
                  </a:lnTo>
                  <a:lnTo>
                    <a:pt x="221632" y="253090"/>
                  </a:lnTo>
                  <a:lnTo>
                    <a:pt x="229955" y="240745"/>
                  </a:lnTo>
                  <a:lnTo>
                    <a:pt x="233006" y="225628"/>
                  </a:lnTo>
                  <a:lnTo>
                    <a:pt x="233006" y="38836"/>
                  </a:lnTo>
                  <a:lnTo>
                    <a:pt x="229955" y="23719"/>
                  </a:lnTo>
                  <a:lnTo>
                    <a:pt x="221632" y="11374"/>
                  </a:lnTo>
                  <a:lnTo>
                    <a:pt x="209287" y="3051"/>
                  </a:lnTo>
                  <a:lnTo>
                    <a:pt x="1941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 descr=""/>
          <p:cNvSpPr txBox="1"/>
          <p:nvPr/>
        </p:nvSpPr>
        <p:spPr>
          <a:xfrm>
            <a:off x="3038965" y="2403022"/>
            <a:ext cx="565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50">
                <a:latin typeface="Microsoft YaHei"/>
                <a:cs typeface="Microsoft YaHei"/>
              </a:rPr>
              <a:t>…</a:t>
            </a:r>
            <a:endParaRPr sz="3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300" spc="-50">
                <a:latin typeface="Microsoft YaHei"/>
                <a:cs typeface="Microsoft YaHei"/>
              </a:rPr>
              <a:t>…</a:t>
            </a:r>
            <a:endParaRPr sz="300">
              <a:latin typeface="Microsoft YaHei"/>
              <a:cs typeface="Microsoft YaHei"/>
            </a:endParaRPr>
          </a:p>
        </p:txBody>
      </p:sp>
      <p:grpSp>
        <p:nvGrpSpPr>
          <p:cNvPr id="133" name="object 133" descr=""/>
          <p:cNvGrpSpPr/>
          <p:nvPr/>
        </p:nvGrpSpPr>
        <p:grpSpPr>
          <a:xfrm>
            <a:off x="1684781" y="2128265"/>
            <a:ext cx="1430655" cy="247650"/>
            <a:chOff x="1684781" y="2128265"/>
            <a:chExt cx="1430655" cy="247650"/>
          </a:xfrm>
        </p:grpSpPr>
        <p:pic>
          <p:nvPicPr>
            <p:cNvPr id="134" name="object 13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684781" y="2129027"/>
              <a:ext cx="1430273" cy="246887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035301" y="2128265"/>
              <a:ext cx="751331" cy="221741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1736322" y="2142865"/>
              <a:ext cx="1327150" cy="143510"/>
            </a:xfrm>
            <a:custGeom>
              <a:avLst/>
              <a:gdLst/>
              <a:ahLst/>
              <a:cxnLst/>
              <a:rect l="l" t="t" r="r" b="b"/>
              <a:pathLst>
                <a:path w="1327150" h="143510">
                  <a:moveTo>
                    <a:pt x="1302880" y="0"/>
                  </a:moveTo>
                  <a:lnTo>
                    <a:pt x="23850" y="0"/>
                  </a:lnTo>
                  <a:lnTo>
                    <a:pt x="14567" y="1874"/>
                  </a:lnTo>
                  <a:lnTo>
                    <a:pt x="6986" y="6986"/>
                  </a:lnTo>
                  <a:lnTo>
                    <a:pt x="1874" y="14567"/>
                  </a:lnTo>
                  <a:lnTo>
                    <a:pt x="0" y="23850"/>
                  </a:lnTo>
                  <a:lnTo>
                    <a:pt x="0" y="119240"/>
                  </a:lnTo>
                  <a:lnTo>
                    <a:pt x="1874" y="128528"/>
                  </a:lnTo>
                  <a:lnTo>
                    <a:pt x="6986" y="136109"/>
                  </a:lnTo>
                  <a:lnTo>
                    <a:pt x="14567" y="141218"/>
                  </a:lnTo>
                  <a:lnTo>
                    <a:pt x="23850" y="143090"/>
                  </a:lnTo>
                  <a:lnTo>
                    <a:pt x="1302880" y="143090"/>
                  </a:lnTo>
                  <a:lnTo>
                    <a:pt x="1312163" y="141218"/>
                  </a:lnTo>
                  <a:lnTo>
                    <a:pt x="1319744" y="136109"/>
                  </a:lnTo>
                  <a:lnTo>
                    <a:pt x="1324856" y="128528"/>
                  </a:lnTo>
                  <a:lnTo>
                    <a:pt x="1326730" y="119240"/>
                  </a:lnTo>
                  <a:lnTo>
                    <a:pt x="1326730" y="23850"/>
                  </a:lnTo>
                  <a:lnTo>
                    <a:pt x="1324856" y="14567"/>
                  </a:lnTo>
                  <a:lnTo>
                    <a:pt x="1319744" y="6986"/>
                  </a:lnTo>
                  <a:lnTo>
                    <a:pt x="1312163" y="1874"/>
                  </a:lnTo>
                  <a:lnTo>
                    <a:pt x="13028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 descr=""/>
          <p:cNvSpPr txBox="1"/>
          <p:nvPr/>
        </p:nvSpPr>
        <p:spPr>
          <a:xfrm>
            <a:off x="1840669" y="1895307"/>
            <a:ext cx="1054100" cy="37655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C0504D"/>
                </a:solidFill>
                <a:latin typeface="SimSun"/>
                <a:cs typeface="SimSun"/>
              </a:rPr>
              <a:t>④云化网络服务平面</a:t>
            </a:r>
            <a:endParaRPr sz="900">
              <a:latin typeface="SimSun"/>
              <a:cs typeface="SimSun"/>
            </a:endParaRPr>
          </a:p>
          <a:p>
            <a:pPr marL="292100">
              <a:lnSpc>
                <a:spcPct val="100000"/>
              </a:lnSpc>
              <a:spcBef>
                <a:spcPts val="385"/>
              </a:spcBef>
            </a:pPr>
            <a:r>
              <a:rPr dirty="0" sz="600" spc="-10">
                <a:latin typeface="SimSun"/>
                <a:cs typeface="SimSun"/>
              </a:rPr>
              <a:t>服务协同和编排</a:t>
            </a:r>
            <a:endParaRPr sz="600">
              <a:latin typeface="SimSun"/>
              <a:cs typeface="SimSun"/>
            </a:endParaRPr>
          </a:p>
        </p:txBody>
      </p:sp>
      <p:sp>
        <p:nvSpPr>
          <p:cNvPr id="138" name="object 138" descr=""/>
          <p:cNvSpPr txBox="1"/>
          <p:nvPr/>
        </p:nvSpPr>
        <p:spPr>
          <a:xfrm>
            <a:off x="2558114" y="2734109"/>
            <a:ext cx="25400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10">
                <a:latin typeface="SimSun"/>
                <a:cs typeface="SimSun"/>
              </a:rPr>
              <a:t>南向控制接口</a:t>
            </a:r>
            <a:endParaRPr sz="300">
              <a:latin typeface="SimSun"/>
              <a:cs typeface="SimSun"/>
            </a:endParaRPr>
          </a:p>
        </p:txBody>
      </p:sp>
      <p:sp>
        <p:nvSpPr>
          <p:cNvPr id="139" name="object 139" descr=""/>
          <p:cNvSpPr txBox="1"/>
          <p:nvPr/>
        </p:nvSpPr>
        <p:spPr>
          <a:xfrm>
            <a:off x="750426" y="1980632"/>
            <a:ext cx="638810" cy="308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Microsoft YaHei"/>
                <a:cs typeface="Microsoft YaHei"/>
              </a:rPr>
              <a:t>NaaS</a:t>
            </a:r>
            <a:r>
              <a:rPr dirty="0" sz="700" spc="-25" b="1">
                <a:latin typeface="Microsoft YaHei"/>
                <a:cs typeface="Microsoft YaHei"/>
              </a:rPr>
              <a:t> 网络即服</a:t>
            </a:r>
            <a:r>
              <a:rPr dirty="0" sz="700" spc="-50" b="1">
                <a:latin typeface="Microsoft YaHei"/>
                <a:cs typeface="Microsoft YaHei"/>
              </a:rPr>
              <a:t>务</a:t>
            </a:r>
            <a:endParaRPr sz="700">
              <a:latin typeface="Microsoft YaHei"/>
              <a:cs typeface="Microsoft YaHei"/>
            </a:endParaRPr>
          </a:p>
          <a:p>
            <a:pPr marL="299720">
              <a:lnSpc>
                <a:spcPct val="100000"/>
              </a:lnSpc>
              <a:spcBef>
                <a:spcPts val="65"/>
              </a:spcBef>
            </a:pPr>
            <a:r>
              <a:rPr dirty="0" sz="400" spc="-10">
                <a:latin typeface="SimSun"/>
                <a:cs typeface="SimSun"/>
              </a:rPr>
              <a:t>东西集成接口</a:t>
            </a:r>
            <a:endParaRPr sz="400">
              <a:latin typeface="SimSun"/>
              <a:cs typeface="SimSun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3526498" y="2240957"/>
            <a:ext cx="33210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0">
                <a:latin typeface="SimSun"/>
                <a:cs typeface="SimSun"/>
              </a:rPr>
              <a:t>东西集成接口</a:t>
            </a:r>
            <a:endParaRPr sz="400">
              <a:latin typeface="SimSun"/>
              <a:cs typeface="SimSun"/>
            </a:endParaRPr>
          </a:p>
        </p:txBody>
      </p:sp>
      <p:grpSp>
        <p:nvGrpSpPr>
          <p:cNvPr id="141" name="object 141" descr=""/>
          <p:cNvGrpSpPr/>
          <p:nvPr/>
        </p:nvGrpSpPr>
        <p:grpSpPr>
          <a:xfrm>
            <a:off x="332722" y="1014055"/>
            <a:ext cx="4123054" cy="1851660"/>
            <a:chOff x="332722" y="1014055"/>
            <a:chExt cx="4123054" cy="1851660"/>
          </a:xfrm>
        </p:grpSpPr>
        <p:pic>
          <p:nvPicPr>
            <p:cNvPr id="142" name="object 14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257456" y="2624583"/>
              <a:ext cx="158000" cy="240766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1003795" y="2316937"/>
              <a:ext cx="2764155" cy="400685"/>
            </a:xfrm>
            <a:custGeom>
              <a:avLst/>
              <a:gdLst/>
              <a:ahLst/>
              <a:cxnLst/>
              <a:rect l="l" t="t" r="r" b="b"/>
              <a:pathLst>
                <a:path w="2764154" h="400685">
                  <a:moveTo>
                    <a:pt x="288531" y="72136"/>
                  </a:moveTo>
                  <a:lnTo>
                    <a:pt x="216395" y="0"/>
                  </a:lnTo>
                  <a:lnTo>
                    <a:pt x="216395" y="36068"/>
                  </a:lnTo>
                  <a:lnTo>
                    <a:pt x="36055" y="36068"/>
                  </a:lnTo>
                  <a:lnTo>
                    <a:pt x="36055" y="302488"/>
                  </a:lnTo>
                  <a:lnTo>
                    <a:pt x="0" y="302488"/>
                  </a:lnTo>
                  <a:lnTo>
                    <a:pt x="72123" y="374624"/>
                  </a:lnTo>
                  <a:lnTo>
                    <a:pt x="144259" y="302488"/>
                  </a:lnTo>
                  <a:lnTo>
                    <a:pt x="108191" y="302488"/>
                  </a:lnTo>
                  <a:lnTo>
                    <a:pt x="108191" y="108204"/>
                  </a:lnTo>
                  <a:lnTo>
                    <a:pt x="216395" y="108204"/>
                  </a:lnTo>
                  <a:lnTo>
                    <a:pt x="216395" y="144272"/>
                  </a:lnTo>
                  <a:lnTo>
                    <a:pt x="288531" y="72136"/>
                  </a:lnTo>
                  <a:close/>
                </a:path>
                <a:path w="2764154" h="400685">
                  <a:moveTo>
                    <a:pt x="2763913" y="340169"/>
                  </a:moveTo>
                  <a:lnTo>
                    <a:pt x="2733929" y="340169"/>
                  </a:lnTo>
                  <a:lnTo>
                    <a:pt x="2733929" y="55486"/>
                  </a:lnTo>
                  <a:lnTo>
                    <a:pt x="2584018" y="55486"/>
                  </a:lnTo>
                  <a:lnTo>
                    <a:pt x="2584018" y="25514"/>
                  </a:lnTo>
                  <a:lnTo>
                    <a:pt x="2524061" y="85471"/>
                  </a:lnTo>
                  <a:lnTo>
                    <a:pt x="2584018" y="145427"/>
                  </a:lnTo>
                  <a:lnTo>
                    <a:pt x="2584018" y="115455"/>
                  </a:lnTo>
                  <a:lnTo>
                    <a:pt x="2673972" y="115455"/>
                  </a:lnTo>
                  <a:lnTo>
                    <a:pt x="2673972" y="340169"/>
                  </a:lnTo>
                  <a:lnTo>
                    <a:pt x="2643987" y="340169"/>
                  </a:lnTo>
                  <a:lnTo>
                    <a:pt x="2703944" y="400126"/>
                  </a:lnTo>
                  <a:lnTo>
                    <a:pt x="2763913" y="34016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332722" y="1014055"/>
              <a:ext cx="4123054" cy="433705"/>
            </a:xfrm>
            <a:custGeom>
              <a:avLst/>
              <a:gdLst/>
              <a:ahLst/>
              <a:cxnLst/>
              <a:rect l="l" t="t" r="r" b="b"/>
              <a:pathLst>
                <a:path w="4123054" h="433705">
                  <a:moveTo>
                    <a:pt x="4050842" y="0"/>
                  </a:moveTo>
                  <a:lnTo>
                    <a:pt x="72212" y="0"/>
                  </a:lnTo>
                  <a:lnTo>
                    <a:pt x="44100" y="5675"/>
                  </a:lnTo>
                  <a:lnTo>
                    <a:pt x="21147" y="21151"/>
                  </a:lnTo>
                  <a:lnTo>
                    <a:pt x="5673" y="44105"/>
                  </a:lnTo>
                  <a:lnTo>
                    <a:pt x="0" y="72212"/>
                  </a:lnTo>
                  <a:lnTo>
                    <a:pt x="0" y="361086"/>
                  </a:lnTo>
                  <a:lnTo>
                    <a:pt x="5673" y="389193"/>
                  </a:lnTo>
                  <a:lnTo>
                    <a:pt x="21147" y="412146"/>
                  </a:lnTo>
                  <a:lnTo>
                    <a:pt x="44100" y="427623"/>
                  </a:lnTo>
                  <a:lnTo>
                    <a:pt x="72212" y="433298"/>
                  </a:lnTo>
                  <a:lnTo>
                    <a:pt x="4050842" y="433298"/>
                  </a:lnTo>
                  <a:lnTo>
                    <a:pt x="4078954" y="427623"/>
                  </a:lnTo>
                  <a:lnTo>
                    <a:pt x="4101907" y="412146"/>
                  </a:lnTo>
                  <a:lnTo>
                    <a:pt x="4117381" y="389193"/>
                  </a:lnTo>
                  <a:lnTo>
                    <a:pt x="4123054" y="361086"/>
                  </a:lnTo>
                  <a:lnTo>
                    <a:pt x="4123054" y="72212"/>
                  </a:lnTo>
                  <a:lnTo>
                    <a:pt x="4117381" y="44105"/>
                  </a:lnTo>
                  <a:lnTo>
                    <a:pt x="4101907" y="21151"/>
                  </a:lnTo>
                  <a:lnTo>
                    <a:pt x="4078954" y="5675"/>
                  </a:lnTo>
                  <a:lnTo>
                    <a:pt x="4050842" y="0"/>
                  </a:lnTo>
                  <a:close/>
                </a:path>
              </a:pathLst>
            </a:custGeom>
            <a:solidFill>
              <a:srgbClr val="59C2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5" name="object 145" descr=""/>
          <p:cNvSpPr txBox="1"/>
          <p:nvPr/>
        </p:nvSpPr>
        <p:spPr>
          <a:xfrm>
            <a:off x="927752" y="1132219"/>
            <a:ext cx="30111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Microsoft YaHei"/>
                <a:cs typeface="Microsoft YaHei"/>
              </a:rPr>
              <a:t>CUBENet2.0</a:t>
            </a:r>
            <a:r>
              <a:rPr dirty="0" sz="1300" spc="-15">
                <a:solidFill>
                  <a:srgbClr val="FFFFFF"/>
                </a:solidFill>
                <a:latin typeface="SimSun"/>
                <a:cs typeface="SimSun"/>
              </a:rPr>
              <a:t>：新网络、新服务、新生态</a:t>
            </a:r>
            <a:endParaRPr sz="1300">
              <a:latin typeface="SimSun"/>
              <a:cs typeface="SimSun"/>
            </a:endParaRPr>
          </a:p>
        </p:txBody>
      </p:sp>
      <p:sp>
        <p:nvSpPr>
          <p:cNvPr id="146" name="object 146" descr=""/>
          <p:cNvSpPr/>
          <p:nvPr/>
        </p:nvSpPr>
        <p:spPr>
          <a:xfrm>
            <a:off x="4671797" y="1007230"/>
            <a:ext cx="4032885" cy="433705"/>
          </a:xfrm>
          <a:custGeom>
            <a:avLst/>
            <a:gdLst/>
            <a:ahLst/>
            <a:cxnLst/>
            <a:rect l="l" t="t" r="r" b="b"/>
            <a:pathLst>
              <a:path w="4032884" h="433705">
                <a:moveTo>
                  <a:pt x="3960114" y="0"/>
                </a:moveTo>
                <a:lnTo>
                  <a:pt x="72224" y="0"/>
                </a:lnTo>
                <a:lnTo>
                  <a:pt x="44110" y="5675"/>
                </a:lnTo>
                <a:lnTo>
                  <a:pt x="21153" y="21151"/>
                </a:lnTo>
                <a:lnTo>
                  <a:pt x="5675" y="44105"/>
                </a:lnTo>
                <a:lnTo>
                  <a:pt x="0" y="72212"/>
                </a:lnTo>
                <a:lnTo>
                  <a:pt x="0" y="361086"/>
                </a:lnTo>
                <a:lnTo>
                  <a:pt x="5675" y="389193"/>
                </a:lnTo>
                <a:lnTo>
                  <a:pt x="21153" y="412146"/>
                </a:lnTo>
                <a:lnTo>
                  <a:pt x="44110" y="427623"/>
                </a:lnTo>
                <a:lnTo>
                  <a:pt x="72224" y="433298"/>
                </a:lnTo>
                <a:lnTo>
                  <a:pt x="3960114" y="433298"/>
                </a:lnTo>
                <a:lnTo>
                  <a:pt x="3988226" y="427623"/>
                </a:lnTo>
                <a:lnTo>
                  <a:pt x="4011179" y="412146"/>
                </a:lnTo>
                <a:lnTo>
                  <a:pt x="4026652" y="389193"/>
                </a:lnTo>
                <a:lnTo>
                  <a:pt x="4032326" y="361086"/>
                </a:lnTo>
                <a:lnTo>
                  <a:pt x="4032326" y="72212"/>
                </a:lnTo>
                <a:lnTo>
                  <a:pt x="4026652" y="44105"/>
                </a:lnTo>
                <a:lnTo>
                  <a:pt x="4011179" y="21151"/>
                </a:lnTo>
                <a:lnTo>
                  <a:pt x="3988226" y="5675"/>
                </a:lnTo>
                <a:lnTo>
                  <a:pt x="3960114" y="0"/>
                </a:lnTo>
                <a:close/>
              </a:path>
            </a:pathLst>
          </a:custGeom>
          <a:solidFill>
            <a:srgbClr val="59C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 descr=""/>
          <p:cNvSpPr txBox="1"/>
          <p:nvPr/>
        </p:nvSpPr>
        <p:spPr>
          <a:xfrm>
            <a:off x="5124074" y="1124204"/>
            <a:ext cx="3049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Microsoft YaHei"/>
                <a:cs typeface="Microsoft YaHei"/>
              </a:rPr>
              <a:t>NB</a:t>
            </a:r>
            <a:r>
              <a:rPr dirty="0" sz="1300" spc="15" b="1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Microsoft YaHei"/>
                <a:cs typeface="Microsoft YaHei"/>
              </a:rPr>
              <a:t>vEPC</a:t>
            </a:r>
            <a:r>
              <a:rPr dirty="0" sz="1300" spc="-15">
                <a:solidFill>
                  <a:srgbClr val="FFFFFF"/>
                </a:solidFill>
                <a:latin typeface="SimSun"/>
                <a:cs typeface="SimSun"/>
              </a:rPr>
              <a:t>为切入点，态度积极，快速商用</a:t>
            </a:r>
            <a:endParaRPr sz="1300">
              <a:latin typeface="SimSun"/>
              <a:cs typeface="SimSun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4471416" y="3907548"/>
            <a:ext cx="4307205" cy="1155700"/>
            <a:chOff x="4471416" y="3907548"/>
            <a:chExt cx="4307205" cy="1155700"/>
          </a:xfrm>
        </p:grpSpPr>
        <p:pic>
          <p:nvPicPr>
            <p:cNvPr id="149" name="object 14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471416" y="3907548"/>
              <a:ext cx="4306823" cy="1155179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4673053" y="3974668"/>
              <a:ext cx="4063365" cy="913765"/>
            </a:xfrm>
            <a:custGeom>
              <a:avLst/>
              <a:gdLst/>
              <a:ahLst/>
              <a:cxnLst/>
              <a:rect l="l" t="t" r="r" b="b"/>
              <a:pathLst>
                <a:path w="4063365" h="913764">
                  <a:moveTo>
                    <a:pt x="4062844" y="0"/>
                  </a:moveTo>
                  <a:lnTo>
                    <a:pt x="0" y="0"/>
                  </a:lnTo>
                  <a:lnTo>
                    <a:pt x="0" y="913498"/>
                  </a:lnTo>
                  <a:lnTo>
                    <a:pt x="4062844" y="913498"/>
                  </a:lnTo>
                  <a:lnTo>
                    <a:pt x="4062844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 descr=""/>
          <p:cNvSpPr txBox="1"/>
          <p:nvPr/>
        </p:nvSpPr>
        <p:spPr>
          <a:xfrm>
            <a:off x="4673053" y="4062761"/>
            <a:ext cx="4063365" cy="692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5430" marR="76835" indent="-133985">
              <a:lnSpc>
                <a:spcPct val="120000"/>
              </a:lnSpc>
              <a:spcBef>
                <a:spcPts val="100"/>
              </a:spcBef>
              <a:buSzPct val="68181"/>
              <a:buFont typeface="Wingdings"/>
              <a:buChar char=""/>
              <a:tabLst>
                <a:tab pos="265430" algn="l"/>
              </a:tabLst>
            </a:pPr>
            <a:r>
              <a:rPr dirty="0" sz="1100" spc="-20">
                <a:latin typeface="Microsoft YaHei"/>
                <a:cs typeface="Microsoft YaHei"/>
              </a:rPr>
              <a:t>2017</a:t>
            </a:r>
            <a:r>
              <a:rPr dirty="0" sz="1100" spc="-10">
                <a:latin typeface="SimSun"/>
                <a:cs typeface="SimSun"/>
              </a:rPr>
              <a:t>年</a:t>
            </a:r>
            <a:r>
              <a:rPr dirty="0" sz="1100" spc="-10">
                <a:latin typeface="Microsoft YaHei"/>
                <a:cs typeface="Microsoft YaHei"/>
              </a:rPr>
              <a:t>NB-</a:t>
            </a:r>
            <a:r>
              <a:rPr dirty="0" sz="1100">
                <a:latin typeface="Microsoft YaHei"/>
                <a:cs typeface="Microsoft YaHei"/>
              </a:rPr>
              <a:t>IOT </a:t>
            </a:r>
            <a:r>
              <a:rPr dirty="0" sz="1100" spc="-10">
                <a:latin typeface="Microsoft YaHei"/>
                <a:cs typeface="Microsoft YaHei"/>
              </a:rPr>
              <a:t>vEPC</a:t>
            </a:r>
            <a:r>
              <a:rPr dirty="0" sz="1100" spc="-20">
                <a:latin typeface="SimSun"/>
                <a:cs typeface="SimSun"/>
              </a:rPr>
              <a:t>三层解耦内外场测试，验证</a:t>
            </a:r>
            <a:r>
              <a:rPr dirty="0" sz="1100" spc="-10">
                <a:latin typeface="Microsoft YaHei"/>
                <a:cs typeface="Microsoft YaHei"/>
              </a:rPr>
              <a:t>NFV</a:t>
            </a:r>
            <a:r>
              <a:rPr dirty="0" sz="1100" spc="-30">
                <a:latin typeface="SimSun"/>
                <a:cs typeface="SimSun"/>
              </a:rPr>
              <a:t>三层解</a:t>
            </a:r>
            <a:r>
              <a:rPr dirty="0" sz="1100" spc="-20">
                <a:latin typeface="SimSun"/>
                <a:cs typeface="SimSun"/>
              </a:rPr>
              <a:t>耦成熟度，跨厂商集成运维能力，计划</a:t>
            </a:r>
            <a:r>
              <a:rPr dirty="0" sz="1100" spc="-10">
                <a:latin typeface="Microsoft YaHei"/>
                <a:cs typeface="Microsoft YaHei"/>
              </a:rPr>
              <a:t>2017</a:t>
            </a:r>
            <a:r>
              <a:rPr dirty="0" sz="1100" spc="-30">
                <a:latin typeface="SimSun"/>
                <a:cs typeface="SimSun"/>
              </a:rPr>
              <a:t>年商用；</a:t>
            </a:r>
            <a:endParaRPr sz="1100">
              <a:latin typeface="SimSun"/>
              <a:cs typeface="SimSun"/>
            </a:endParaRPr>
          </a:p>
          <a:p>
            <a:pPr marL="265430" indent="-133985">
              <a:lnSpc>
                <a:spcPct val="100000"/>
              </a:lnSpc>
              <a:spcBef>
                <a:spcPts val="760"/>
              </a:spcBef>
              <a:buSzPct val="68181"/>
              <a:buFont typeface="Wingdings"/>
              <a:buChar char=""/>
              <a:tabLst>
                <a:tab pos="265430" algn="l"/>
              </a:tabLst>
            </a:pPr>
            <a:r>
              <a:rPr dirty="0" sz="1100" spc="-20">
                <a:latin typeface="SimSun"/>
                <a:cs typeface="SimSun"/>
              </a:rPr>
              <a:t>计划</a:t>
            </a:r>
            <a:r>
              <a:rPr dirty="0" sz="1100" spc="-20">
                <a:latin typeface="Microsoft YaHei"/>
                <a:cs typeface="Microsoft YaHei"/>
              </a:rPr>
              <a:t>2017</a:t>
            </a:r>
            <a:r>
              <a:rPr dirty="0" sz="1100" spc="-20">
                <a:latin typeface="SimSun"/>
                <a:cs typeface="SimSun"/>
              </a:rPr>
              <a:t>年</a:t>
            </a:r>
            <a:r>
              <a:rPr dirty="0" sz="1100" spc="-10">
                <a:latin typeface="Microsoft YaHei"/>
                <a:cs typeface="Microsoft YaHei"/>
              </a:rPr>
              <a:t>H2</a:t>
            </a:r>
            <a:r>
              <a:rPr dirty="0" sz="1100" spc="-20">
                <a:latin typeface="SimSun"/>
                <a:cs typeface="SimSun"/>
              </a:rPr>
              <a:t>启动</a:t>
            </a:r>
            <a:r>
              <a:rPr dirty="0" sz="1100" spc="-10">
                <a:latin typeface="Microsoft YaHei"/>
                <a:cs typeface="Microsoft YaHei"/>
              </a:rPr>
              <a:t>NB-</a:t>
            </a:r>
            <a:r>
              <a:rPr dirty="0" sz="1100">
                <a:latin typeface="Microsoft YaHei"/>
                <a:cs typeface="Microsoft YaHei"/>
              </a:rPr>
              <a:t>IOT</a:t>
            </a:r>
            <a:r>
              <a:rPr dirty="0" sz="1100" spc="145">
                <a:latin typeface="Microsoft YaHei"/>
                <a:cs typeface="Microsoft YaHei"/>
              </a:rPr>
              <a:t> </a:t>
            </a:r>
            <a:r>
              <a:rPr dirty="0" sz="1100" spc="-10">
                <a:latin typeface="Microsoft YaHei"/>
                <a:cs typeface="Microsoft YaHei"/>
              </a:rPr>
              <a:t>vEPC</a:t>
            </a:r>
            <a:r>
              <a:rPr dirty="0" sz="1100" spc="-30">
                <a:latin typeface="SimSun"/>
                <a:cs typeface="SimSun"/>
              </a:rPr>
              <a:t>商用招标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152" name="object 152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18954" y="1444586"/>
            <a:ext cx="951667" cy="348951"/>
          </a:xfrm>
          <a:prstGeom prst="rect">
            <a:avLst/>
          </a:prstGeom>
        </p:spPr>
      </p:pic>
      <p:sp>
        <p:nvSpPr>
          <p:cNvPr id="153" name="object 153" descr=""/>
          <p:cNvSpPr txBox="1"/>
          <p:nvPr/>
        </p:nvSpPr>
        <p:spPr>
          <a:xfrm>
            <a:off x="6862889" y="3499548"/>
            <a:ext cx="391160" cy="20066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43815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345"/>
              </a:spcBef>
            </a:pPr>
            <a:r>
              <a:rPr dirty="0" sz="700" spc="-25">
                <a:solidFill>
                  <a:srgbClr val="FFFFFF"/>
                </a:solidFill>
                <a:latin typeface="SimSun"/>
                <a:cs typeface="SimSun"/>
              </a:rPr>
              <a:t>试点</a:t>
            </a:r>
            <a:endParaRPr sz="700">
              <a:latin typeface="SimSun"/>
              <a:cs typeface="SimSun"/>
            </a:endParaRPr>
          </a:p>
        </p:txBody>
      </p:sp>
      <p:sp>
        <p:nvSpPr>
          <p:cNvPr id="154" name="object 154" descr=""/>
          <p:cNvSpPr txBox="1"/>
          <p:nvPr/>
        </p:nvSpPr>
        <p:spPr>
          <a:xfrm>
            <a:off x="7973936" y="3499548"/>
            <a:ext cx="544830" cy="20066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381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345"/>
              </a:spcBef>
            </a:pPr>
            <a:r>
              <a:rPr dirty="0" sz="700" spc="-15">
                <a:solidFill>
                  <a:srgbClr val="FFFFFF"/>
                </a:solidFill>
                <a:latin typeface="SimSun"/>
                <a:cs typeface="SimSun"/>
              </a:rPr>
              <a:t>规模商用</a:t>
            </a:r>
            <a:endParaRPr sz="700">
              <a:latin typeface="SimSun"/>
              <a:cs typeface="SimSun"/>
            </a:endParaRPr>
          </a:p>
        </p:txBody>
      </p:sp>
      <p:sp>
        <p:nvSpPr>
          <p:cNvPr id="155" name="object 155" descr=""/>
          <p:cNvSpPr txBox="1"/>
          <p:nvPr/>
        </p:nvSpPr>
        <p:spPr>
          <a:xfrm>
            <a:off x="7259218" y="3499548"/>
            <a:ext cx="715010" cy="200660"/>
          </a:xfrm>
          <a:prstGeom prst="rect">
            <a:avLst/>
          </a:prstGeom>
          <a:solidFill>
            <a:srgbClr val="00B0F0"/>
          </a:solidFill>
        </p:spPr>
        <p:txBody>
          <a:bodyPr wrap="square" lIns="0" tIns="4381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345"/>
              </a:spcBef>
            </a:pPr>
            <a:r>
              <a:rPr dirty="0" sz="700" spc="-10">
                <a:solidFill>
                  <a:srgbClr val="FFFFFF"/>
                </a:solidFill>
                <a:latin typeface="SimSun"/>
                <a:cs typeface="SimSun"/>
              </a:rPr>
              <a:t>小规模商用</a:t>
            </a:r>
            <a:endParaRPr sz="700">
              <a:latin typeface="SimSun"/>
              <a:cs typeface="SimSun"/>
            </a:endParaRPr>
          </a:p>
        </p:txBody>
      </p:sp>
      <p:sp>
        <p:nvSpPr>
          <p:cNvPr id="156" name="object 15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中国联通</a:t>
            </a:r>
            <a:r>
              <a:rPr dirty="0" spc="-10">
                <a:latin typeface="Times New Roman"/>
                <a:cs typeface="Times New Roman"/>
              </a:rPr>
              <a:t>NFV</a:t>
            </a:r>
            <a:r>
              <a:rPr dirty="0" spc="-10"/>
              <a:t>：</a:t>
            </a:r>
            <a:r>
              <a:rPr dirty="0" spc="-10">
                <a:latin typeface="Times New Roman"/>
                <a:cs typeface="Times New Roman"/>
              </a:rPr>
              <a:t>CUBENET2.0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053" y="150515"/>
            <a:ext cx="60337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新型网络架构</a:t>
            </a:r>
            <a:r>
              <a:rPr dirty="0" spc="-25">
                <a:latin typeface="Times New Roman"/>
                <a:cs typeface="Times New Roman"/>
              </a:rPr>
              <a:t>CHIP</a:t>
            </a:r>
            <a:r>
              <a:rPr dirty="0" spc="-25"/>
              <a:t>：</a:t>
            </a:r>
            <a:r>
              <a:rPr dirty="0" spc="-45">
                <a:solidFill>
                  <a:srgbClr val="FF0000"/>
                </a:solidFill>
              </a:rPr>
              <a:t>网络切片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05452" y="1560887"/>
            <a:ext cx="386715" cy="1337945"/>
            <a:chOff x="1505452" y="1560887"/>
            <a:chExt cx="386715" cy="13379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8421" y="1560887"/>
              <a:ext cx="110172" cy="24324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979" y="2736541"/>
              <a:ext cx="146888" cy="16215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14977" y="2128443"/>
              <a:ext cx="367665" cy="203200"/>
            </a:xfrm>
            <a:custGeom>
              <a:avLst/>
              <a:gdLst/>
              <a:ahLst/>
              <a:cxnLst/>
              <a:rect l="l" t="t" r="r" b="b"/>
              <a:pathLst>
                <a:path w="367664" h="203200">
                  <a:moveTo>
                    <a:pt x="0" y="101345"/>
                  </a:moveTo>
                  <a:lnTo>
                    <a:pt x="35427" y="41493"/>
                  </a:lnTo>
                  <a:lnTo>
                    <a:pt x="75174" y="19554"/>
                  </a:lnTo>
                  <a:lnTo>
                    <a:pt x="125579" y="5166"/>
                  </a:lnTo>
                  <a:lnTo>
                    <a:pt x="183616" y="0"/>
                  </a:lnTo>
                  <a:lnTo>
                    <a:pt x="241653" y="5166"/>
                  </a:lnTo>
                  <a:lnTo>
                    <a:pt x="292058" y="19554"/>
                  </a:lnTo>
                  <a:lnTo>
                    <a:pt x="331806" y="41493"/>
                  </a:lnTo>
                  <a:lnTo>
                    <a:pt x="357872" y="69313"/>
                  </a:lnTo>
                  <a:lnTo>
                    <a:pt x="367233" y="101345"/>
                  </a:lnTo>
                  <a:lnTo>
                    <a:pt x="357872" y="133378"/>
                  </a:lnTo>
                  <a:lnTo>
                    <a:pt x="331806" y="161198"/>
                  </a:lnTo>
                  <a:lnTo>
                    <a:pt x="292058" y="183137"/>
                  </a:lnTo>
                  <a:lnTo>
                    <a:pt x="241653" y="197525"/>
                  </a:lnTo>
                  <a:lnTo>
                    <a:pt x="183616" y="202691"/>
                  </a:lnTo>
                  <a:lnTo>
                    <a:pt x="125579" y="197525"/>
                  </a:lnTo>
                  <a:lnTo>
                    <a:pt x="75174" y="183137"/>
                  </a:lnTo>
                  <a:lnTo>
                    <a:pt x="35427" y="161198"/>
                  </a:lnTo>
                  <a:lnTo>
                    <a:pt x="9360" y="133378"/>
                  </a:lnTo>
                  <a:lnTo>
                    <a:pt x="0" y="101345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63903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09" h="92710">
                  <a:moveTo>
                    <a:pt x="54419" y="0"/>
                  </a:moveTo>
                  <a:lnTo>
                    <a:pt x="0" y="0"/>
                  </a:lnTo>
                  <a:lnTo>
                    <a:pt x="0" y="92532"/>
                  </a:lnTo>
                  <a:lnTo>
                    <a:pt x="54419" y="92532"/>
                  </a:lnTo>
                  <a:lnTo>
                    <a:pt x="54419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63903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09" h="92710">
                  <a:moveTo>
                    <a:pt x="0" y="0"/>
                  </a:moveTo>
                  <a:lnTo>
                    <a:pt x="54419" y="0"/>
                  </a:lnTo>
                  <a:lnTo>
                    <a:pt x="54419" y="92532"/>
                  </a:lnTo>
                  <a:lnTo>
                    <a:pt x="0" y="92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16392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54419" y="0"/>
                  </a:moveTo>
                  <a:lnTo>
                    <a:pt x="0" y="0"/>
                  </a:lnTo>
                  <a:lnTo>
                    <a:pt x="0" y="92532"/>
                  </a:lnTo>
                  <a:lnTo>
                    <a:pt x="54419" y="92532"/>
                  </a:lnTo>
                  <a:lnTo>
                    <a:pt x="54419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16392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0" y="0"/>
                  </a:moveTo>
                  <a:lnTo>
                    <a:pt x="54419" y="0"/>
                  </a:lnTo>
                  <a:lnTo>
                    <a:pt x="54419" y="92532"/>
                  </a:lnTo>
                  <a:lnTo>
                    <a:pt x="0" y="92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68868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54419" y="0"/>
                  </a:moveTo>
                  <a:lnTo>
                    <a:pt x="0" y="0"/>
                  </a:lnTo>
                  <a:lnTo>
                    <a:pt x="0" y="92532"/>
                  </a:lnTo>
                  <a:lnTo>
                    <a:pt x="54419" y="92532"/>
                  </a:lnTo>
                  <a:lnTo>
                    <a:pt x="54419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68868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0" y="0"/>
                  </a:moveTo>
                  <a:lnTo>
                    <a:pt x="54419" y="0"/>
                  </a:lnTo>
                  <a:lnTo>
                    <a:pt x="54419" y="92532"/>
                  </a:lnTo>
                  <a:lnTo>
                    <a:pt x="0" y="92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21357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54419" y="0"/>
                  </a:moveTo>
                  <a:lnTo>
                    <a:pt x="0" y="0"/>
                  </a:lnTo>
                  <a:lnTo>
                    <a:pt x="0" y="92532"/>
                  </a:lnTo>
                  <a:lnTo>
                    <a:pt x="54419" y="92532"/>
                  </a:lnTo>
                  <a:lnTo>
                    <a:pt x="54419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21357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0" y="0"/>
                  </a:moveTo>
                  <a:lnTo>
                    <a:pt x="54419" y="0"/>
                  </a:lnTo>
                  <a:lnTo>
                    <a:pt x="54419" y="92532"/>
                  </a:lnTo>
                  <a:lnTo>
                    <a:pt x="0" y="92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73834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54419" y="0"/>
                  </a:moveTo>
                  <a:lnTo>
                    <a:pt x="0" y="0"/>
                  </a:lnTo>
                  <a:lnTo>
                    <a:pt x="0" y="92532"/>
                  </a:lnTo>
                  <a:lnTo>
                    <a:pt x="54419" y="92532"/>
                  </a:lnTo>
                  <a:lnTo>
                    <a:pt x="54419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773834" y="2179116"/>
              <a:ext cx="54610" cy="92710"/>
            </a:xfrm>
            <a:custGeom>
              <a:avLst/>
              <a:gdLst/>
              <a:ahLst/>
              <a:cxnLst/>
              <a:rect l="l" t="t" r="r" b="b"/>
              <a:pathLst>
                <a:path w="54610" h="92710">
                  <a:moveTo>
                    <a:pt x="0" y="0"/>
                  </a:moveTo>
                  <a:lnTo>
                    <a:pt x="54419" y="0"/>
                  </a:lnTo>
                  <a:lnTo>
                    <a:pt x="54419" y="92532"/>
                  </a:lnTo>
                  <a:lnTo>
                    <a:pt x="0" y="92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80092" y="2291481"/>
              <a:ext cx="210820" cy="0"/>
            </a:xfrm>
            <a:custGeom>
              <a:avLst/>
              <a:gdLst/>
              <a:ahLst/>
              <a:cxnLst/>
              <a:rect l="l" t="t" r="r" b="b"/>
              <a:pathLst>
                <a:path w="210819" h="0">
                  <a:moveTo>
                    <a:pt x="0" y="0"/>
                  </a:moveTo>
                  <a:lnTo>
                    <a:pt x="210400" y="0"/>
                  </a:lnTo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90881" y="2165896"/>
              <a:ext cx="210820" cy="0"/>
            </a:xfrm>
            <a:custGeom>
              <a:avLst/>
              <a:gdLst/>
              <a:ahLst/>
              <a:cxnLst/>
              <a:rect l="l" t="t" r="r" b="b"/>
              <a:pathLst>
                <a:path w="210819" h="0">
                  <a:moveTo>
                    <a:pt x="0" y="0"/>
                  </a:moveTo>
                  <a:lnTo>
                    <a:pt x="210400" y="0"/>
                  </a:lnTo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097728" y="1532947"/>
            <a:ext cx="250825" cy="22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70"/>
              </a:lnSpc>
              <a:spcBef>
                <a:spcPts val="100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VOLTE</a:t>
            </a:r>
            <a:endParaRPr sz="700">
              <a:latin typeface="SimSun"/>
              <a:cs typeface="SimSun"/>
            </a:endParaRPr>
          </a:p>
          <a:p>
            <a:pPr marL="57150">
              <a:lnSpc>
                <a:spcPts val="770"/>
              </a:lnSpc>
            </a:pPr>
            <a:r>
              <a:rPr dirty="0" sz="700" spc="-25">
                <a:solidFill>
                  <a:srgbClr val="FF0000"/>
                </a:solidFill>
                <a:latin typeface="SimSun"/>
                <a:cs typeface="SimSun"/>
              </a:rPr>
              <a:t>数据</a:t>
            </a:r>
            <a:endParaRPr sz="70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62100" y="2059960"/>
            <a:ext cx="749300" cy="22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770"/>
              </a:lnSpc>
              <a:spcBef>
                <a:spcPts val="100"/>
              </a:spcBef>
            </a:pPr>
            <a:r>
              <a:rPr dirty="0" sz="700" spc="-20">
                <a:solidFill>
                  <a:srgbClr val="FF0000"/>
                </a:solidFill>
                <a:latin typeface="SimSun"/>
                <a:cs typeface="SimSun"/>
              </a:rPr>
              <a:t>物联网</a:t>
            </a:r>
            <a:endParaRPr sz="700">
              <a:latin typeface="SimSun"/>
              <a:cs typeface="SimSun"/>
            </a:endParaRPr>
          </a:p>
          <a:p>
            <a:pPr algn="r" marR="5080">
              <a:lnSpc>
                <a:spcPts val="770"/>
              </a:lnSpc>
            </a:pPr>
            <a:r>
              <a:rPr dirty="0" baseline="5555" sz="750" spc="-15">
                <a:solidFill>
                  <a:srgbClr val="FF0000"/>
                </a:solidFill>
                <a:latin typeface="SimSun"/>
                <a:cs typeface="SimSun"/>
              </a:rPr>
              <a:t>2</a:t>
            </a:r>
            <a:r>
              <a:rPr dirty="0" baseline="5555" sz="750" spc="-135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baseline="5555" sz="750" spc="-15">
                <a:solidFill>
                  <a:srgbClr val="FF0000"/>
                </a:solidFill>
                <a:latin typeface="SimSun"/>
                <a:cs typeface="SimSun"/>
              </a:rPr>
              <a:t>5</a:t>
            </a:r>
            <a:r>
              <a:rPr dirty="0" baseline="5555" sz="750" spc="-127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baseline="5555" sz="750" spc="-15">
                <a:solidFill>
                  <a:srgbClr val="FF0000"/>
                </a:solidFill>
                <a:latin typeface="SimSun"/>
                <a:cs typeface="SimSun"/>
              </a:rPr>
              <a:t>2</a:t>
            </a:r>
            <a:r>
              <a:rPr dirty="0" baseline="5555" sz="750" spc="-127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baseline="5555" sz="750" spc="-15">
                <a:solidFill>
                  <a:srgbClr val="FF0000"/>
                </a:solidFill>
                <a:latin typeface="SimSun"/>
                <a:cs typeface="SimSun"/>
              </a:rPr>
              <a:t>5</a:t>
            </a:r>
            <a:r>
              <a:rPr dirty="0" baseline="5555" sz="750" spc="-135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baseline="5555" sz="750">
                <a:solidFill>
                  <a:srgbClr val="FF0000"/>
                </a:solidFill>
                <a:latin typeface="SimSun"/>
                <a:cs typeface="SimSun"/>
              </a:rPr>
              <a:t>3</a:t>
            </a:r>
            <a:r>
              <a:rPr dirty="0" baseline="5555" sz="750" spc="375">
                <a:solidFill>
                  <a:srgbClr val="FF0000"/>
                </a:solidFill>
                <a:latin typeface="SimSun"/>
                <a:cs typeface="SimSun"/>
              </a:rPr>
              <a:t>  </a:t>
            </a:r>
            <a:r>
              <a:rPr dirty="0" sz="700" spc="-15">
                <a:solidFill>
                  <a:srgbClr val="FF0000"/>
                </a:solidFill>
                <a:latin typeface="SimSun"/>
                <a:cs typeface="SimSun"/>
              </a:rPr>
              <a:t>智能抄表</a:t>
            </a:r>
            <a:endParaRPr sz="70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964378" y="2668054"/>
            <a:ext cx="384175" cy="22161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 indent="88900">
              <a:lnSpc>
                <a:spcPts val="700"/>
              </a:lnSpc>
              <a:spcBef>
                <a:spcPts val="240"/>
              </a:spcBef>
            </a:pPr>
            <a:r>
              <a:rPr dirty="0" sz="700" spc="-20">
                <a:solidFill>
                  <a:srgbClr val="FF0000"/>
                </a:solidFill>
                <a:latin typeface="SimSun"/>
                <a:cs typeface="SimSun"/>
              </a:rPr>
              <a:t>车联网</a:t>
            </a:r>
            <a:r>
              <a:rPr dirty="0" sz="700" spc="-15">
                <a:solidFill>
                  <a:srgbClr val="FF0000"/>
                </a:solidFill>
                <a:latin typeface="SimSun"/>
                <a:cs typeface="SimSun"/>
              </a:rPr>
              <a:t>无人泊车</a:t>
            </a:r>
            <a:endParaRPr sz="700">
              <a:latin typeface="SimSun"/>
              <a:cs typeface="SimSu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400040" y="1069647"/>
            <a:ext cx="4930775" cy="2080260"/>
            <a:chOff x="1400040" y="1069647"/>
            <a:chExt cx="4930775" cy="2080260"/>
          </a:xfrm>
        </p:grpSpPr>
        <p:sp>
          <p:nvSpPr>
            <p:cNvPr id="23" name="object 23" descr=""/>
            <p:cNvSpPr/>
            <p:nvPr/>
          </p:nvSpPr>
          <p:spPr>
            <a:xfrm>
              <a:off x="1404802" y="1462432"/>
              <a:ext cx="4921250" cy="414655"/>
            </a:xfrm>
            <a:custGeom>
              <a:avLst/>
              <a:gdLst/>
              <a:ahLst/>
              <a:cxnLst/>
              <a:rect l="l" t="t" r="r" b="b"/>
              <a:pathLst>
                <a:path w="4921250" h="414655">
                  <a:moveTo>
                    <a:pt x="51765" y="0"/>
                  </a:moveTo>
                  <a:lnTo>
                    <a:pt x="82336" y="39947"/>
                  </a:lnTo>
                  <a:lnTo>
                    <a:pt x="93542" y="84767"/>
                  </a:lnTo>
                  <a:lnTo>
                    <a:pt x="100891" y="141604"/>
                  </a:lnTo>
                  <a:lnTo>
                    <a:pt x="103530" y="207048"/>
                  </a:lnTo>
                  <a:lnTo>
                    <a:pt x="100891" y="272485"/>
                  </a:lnTo>
                  <a:lnTo>
                    <a:pt x="93542" y="329318"/>
                  </a:lnTo>
                  <a:lnTo>
                    <a:pt x="82336" y="374136"/>
                  </a:lnTo>
                  <a:lnTo>
                    <a:pt x="68126" y="403528"/>
                  </a:lnTo>
                  <a:lnTo>
                    <a:pt x="51765" y="414083"/>
                  </a:lnTo>
                  <a:lnTo>
                    <a:pt x="21193" y="374135"/>
                  </a:lnTo>
                  <a:lnTo>
                    <a:pt x="9988" y="329315"/>
                  </a:lnTo>
                  <a:lnTo>
                    <a:pt x="2639" y="272479"/>
                  </a:lnTo>
                  <a:lnTo>
                    <a:pt x="0" y="207035"/>
                  </a:lnTo>
                  <a:lnTo>
                    <a:pt x="2639" y="141597"/>
                  </a:lnTo>
                  <a:lnTo>
                    <a:pt x="9988" y="84764"/>
                  </a:lnTo>
                  <a:lnTo>
                    <a:pt x="21193" y="39947"/>
                  </a:lnTo>
                  <a:lnTo>
                    <a:pt x="35403" y="10555"/>
                  </a:lnTo>
                  <a:lnTo>
                    <a:pt x="51765" y="0"/>
                  </a:lnTo>
                  <a:lnTo>
                    <a:pt x="4869116" y="0"/>
                  </a:lnTo>
                  <a:lnTo>
                    <a:pt x="4885476" y="10555"/>
                  </a:lnTo>
                  <a:lnTo>
                    <a:pt x="4899683" y="39947"/>
                  </a:lnTo>
                  <a:lnTo>
                    <a:pt x="4910885" y="84767"/>
                  </a:lnTo>
                  <a:lnTo>
                    <a:pt x="4918231" y="141604"/>
                  </a:lnTo>
                  <a:lnTo>
                    <a:pt x="4920869" y="207048"/>
                  </a:lnTo>
                  <a:lnTo>
                    <a:pt x="4918231" y="272485"/>
                  </a:lnTo>
                  <a:lnTo>
                    <a:pt x="4910885" y="329318"/>
                  </a:lnTo>
                  <a:lnTo>
                    <a:pt x="4899683" y="374136"/>
                  </a:lnTo>
                  <a:lnTo>
                    <a:pt x="4885476" y="403528"/>
                  </a:lnTo>
                  <a:lnTo>
                    <a:pt x="4869116" y="414083"/>
                  </a:lnTo>
                  <a:lnTo>
                    <a:pt x="51765" y="414083"/>
                  </a:lnTo>
                </a:path>
              </a:pathLst>
            </a:custGeom>
            <a:ln w="9525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04802" y="1989447"/>
              <a:ext cx="4921250" cy="414655"/>
            </a:xfrm>
            <a:custGeom>
              <a:avLst/>
              <a:gdLst/>
              <a:ahLst/>
              <a:cxnLst/>
              <a:rect l="l" t="t" r="r" b="b"/>
              <a:pathLst>
                <a:path w="4921250" h="414655">
                  <a:moveTo>
                    <a:pt x="51765" y="0"/>
                  </a:moveTo>
                  <a:lnTo>
                    <a:pt x="82336" y="39947"/>
                  </a:lnTo>
                  <a:lnTo>
                    <a:pt x="93542" y="84767"/>
                  </a:lnTo>
                  <a:lnTo>
                    <a:pt x="100891" y="141604"/>
                  </a:lnTo>
                  <a:lnTo>
                    <a:pt x="103530" y="207048"/>
                  </a:lnTo>
                  <a:lnTo>
                    <a:pt x="100891" y="272485"/>
                  </a:lnTo>
                  <a:lnTo>
                    <a:pt x="93542" y="329318"/>
                  </a:lnTo>
                  <a:lnTo>
                    <a:pt x="82336" y="374136"/>
                  </a:lnTo>
                  <a:lnTo>
                    <a:pt x="68126" y="403528"/>
                  </a:lnTo>
                  <a:lnTo>
                    <a:pt x="51765" y="414083"/>
                  </a:lnTo>
                  <a:lnTo>
                    <a:pt x="21193" y="374135"/>
                  </a:lnTo>
                  <a:lnTo>
                    <a:pt x="9988" y="329315"/>
                  </a:lnTo>
                  <a:lnTo>
                    <a:pt x="2639" y="272479"/>
                  </a:lnTo>
                  <a:lnTo>
                    <a:pt x="0" y="207035"/>
                  </a:lnTo>
                  <a:lnTo>
                    <a:pt x="2639" y="141597"/>
                  </a:lnTo>
                  <a:lnTo>
                    <a:pt x="9988" y="84764"/>
                  </a:lnTo>
                  <a:lnTo>
                    <a:pt x="21193" y="39947"/>
                  </a:lnTo>
                  <a:lnTo>
                    <a:pt x="35403" y="10555"/>
                  </a:lnTo>
                  <a:lnTo>
                    <a:pt x="51765" y="0"/>
                  </a:lnTo>
                  <a:lnTo>
                    <a:pt x="4869116" y="0"/>
                  </a:lnTo>
                  <a:lnTo>
                    <a:pt x="4885476" y="10555"/>
                  </a:lnTo>
                  <a:lnTo>
                    <a:pt x="4899683" y="39947"/>
                  </a:lnTo>
                  <a:lnTo>
                    <a:pt x="4910885" y="84767"/>
                  </a:lnTo>
                  <a:lnTo>
                    <a:pt x="4918231" y="141604"/>
                  </a:lnTo>
                  <a:lnTo>
                    <a:pt x="4920869" y="207048"/>
                  </a:lnTo>
                  <a:lnTo>
                    <a:pt x="4918231" y="272485"/>
                  </a:lnTo>
                  <a:lnTo>
                    <a:pt x="4910885" y="329318"/>
                  </a:lnTo>
                  <a:lnTo>
                    <a:pt x="4899683" y="374136"/>
                  </a:lnTo>
                  <a:lnTo>
                    <a:pt x="4885476" y="403528"/>
                  </a:lnTo>
                  <a:lnTo>
                    <a:pt x="4869116" y="414083"/>
                  </a:lnTo>
                  <a:lnTo>
                    <a:pt x="51765" y="414083"/>
                  </a:lnTo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04802" y="2591749"/>
              <a:ext cx="4921250" cy="414655"/>
            </a:xfrm>
            <a:custGeom>
              <a:avLst/>
              <a:gdLst/>
              <a:ahLst/>
              <a:cxnLst/>
              <a:rect l="l" t="t" r="r" b="b"/>
              <a:pathLst>
                <a:path w="4921250" h="414655">
                  <a:moveTo>
                    <a:pt x="51765" y="0"/>
                  </a:moveTo>
                  <a:lnTo>
                    <a:pt x="82336" y="39947"/>
                  </a:lnTo>
                  <a:lnTo>
                    <a:pt x="93542" y="84767"/>
                  </a:lnTo>
                  <a:lnTo>
                    <a:pt x="100891" y="141604"/>
                  </a:lnTo>
                  <a:lnTo>
                    <a:pt x="103530" y="207048"/>
                  </a:lnTo>
                  <a:lnTo>
                    <a:pt x="100891" y="272485"/>
                  </a:lnTo>
                  <a:lnTo>
                    <a:pt x="93542" y="329318"/>
                  </a:lnTo>
                  <a:lnTo>
                    <a:pt x="82336" y="374136"/>
                  </a:lnTo>
                  <a:lnTo>
                    <a:pt x="68126" y="403528"/>
                  </a:lnTo>
                  <a:lnTo>
                    <a:pt x="51765" y="414083"/>
                  </a:lnTo>
                  <a:lnTo>
                    <a:pt x="21193" y="374135"/>
                  </a:lnTo>
                  <a:lnTo>
                    <a:pt x="9988" y="329315"/>
                  </a:lnTo>
                  <a:lnTo>
                    <a:pt x="2639" y="272479"/>
                  </a:lnTo>
                  <a:lnTo>
                    <a:pt x="0" y="207035"/>
                  </a:lnTo>
                  <a:lnTo>
                    <a:pt x="2639" y="141597"/>
                  </a:lnTo>
                  <a:lnTo>
                    <a:pt x="9988" y="84764"/>
                  </a:lnTo>
                  <a:lnTo>
                    <a:pt x="21193" y="39947"/>
                  </a:lnTo>
                  <a:lnTo>
                    <a:pt x="35403" y="10555"/>
                  </a:lnTo>
                  <a:lnTo>
                    <a:pt x="51765" y="0"/>
                  </a:lnTo>
                  <a:lnTo>
                    <a:pt x="4869116" y="0"/>
                  </a:lnTo>
                  <a:lnTo>
                    <a:pt x="4885476" y="10555"/>
                  </a:lnTo>
                  <a:lnTo>
                    <a:pt x="4899683" y="39947"/>
                  </a:lnTo>
                  <a:lnTo>
                    <a:pt x="4910885" y="84767"/>
                  </a:lnTo>
                  <a:lnTo>
                    <a:pt x="4918231" y="141604"/>
                  </a:lnTo>
                  <a:lnTo>
                    <a:pt x="4920869" y="207048"/>
                  </a:lnTo>
                  <a:lnTo>
                    <a:pt x="4918231" y="272485"/>
                  </a:lnTo>
                  <a:lnTo>
                    <a:pt x="4910885" y="329318"/>
                  </a:lnTo>
                  <a:lnTo>
                    <a:pt x="4899683" y="374136"/>
                  </a:lnTo>
                  <a:lnTo>
                    <a:pt x="4885476" y="403528"/>
                  </a:lnTo>
                  <a:lnTo>
                    <a:pt x="4869116" y="414083"/>
                  </a:lnTo>
                  <a:lnTo>
                    <a:pt x="51765" y="414083"/>
                  </a:lnTo>
                </a:path>
              </a:pathLst>
            </a:custGeom>
            <a:ln w="9525">
              <a:solidFill>
                <a:srgbClr val="6AA2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06761" y="1682509"/>
              <a:ext cx="610870" cy="1094740"/>
            </a:xfrm>
            <a:custGeom>
              <a:avLst/>
              <a:gdLst/>
              <a:ahLst/>
              <a:cxnLst/>
              <a:rect l="l" t="t" r="r" b="b"/>
              <a:pathLst>
                <a:path w="610870" h="1094739">
                  <a:moveTo>
                    <a:pt x="523303" y="0"/>
                  </a:moveTo>
                  <a:lnTo>
                    <a:pt x="0" y="0"/>
                  </a:lnTo>
                  <a:lnTo>
                    <a:pt x="11835" y="4995"/>
                  </a:lnTo>
                  <a:lnTo>
                    <a:pt x="23187" y="19549"/>
                  </a:lnTo>
                  <a:lnTo>
                    <a:pt x="44022" y="74718"/>
                  </a:lnTo>
                  <a:lnTo>
                    <a:pt x="53299" y="114031"/>
                  </a:lnTo>
                  <a:lnTo>
                    <a:pt x="61675" y="160293"/>
                  </a:lnTo>
                  <a:lnTo>
                    <a:pt x="69049" y="212851"/>
                  </a:lnTo>
                  <a:lnTo>
                    <a:pt x="75314" y="271055"/>
                  </a:lnTo>
                  <a:lnTo>
                    <a:pt x="80368" y="334252"/>
                  </a:lnTo>
                  <a:lnTo>
                    <a:pt x="84107" y="401790"/>
                  </a:lnTo>
                  <a:lnTo>
                    <a:pt x="86427" y="473017"/>
                  </a:lnTo>
                  <a:lnTo>
                    <a:pt x="87223" y="547281"/>
                  </a:lnTo>
                  <a:lnTo>
                    <a:pt x="86427" y="621544"/>
                  </a:lnTo>
                  <a:lnTo>
                    <a:pt x="84107" y="692771"/>
                  </a:lnTo>
                  <a:lnTo>
                    <a:pt x="80368" y="760309"/>
                  </a:lnTo>
                  <a:lnTo>
                    <a:pt x="75314" y="823506"/>
                  </a:lnTo>
                  <a:lnTo>
                    <a:pt x="69049" y="881710"/>
                  </a:lnTo>
                  <a:lnTo>
                    <a:pt x="61675" y="934269"/>
                  </a:lnTo>
                  <a:lnTo>
                    <a:pt x="53299" y="980530"/>
                  </a:lnTo>
                  <a:lnTo>
                    <a:pt x="44022" y="1019843"/>
                  </a:lnTo>
                  <a:lnTo>
                    <a:pt x="23187" y="1075013"/>
                  </a:lnTo>
                  <a:lnTo>
                    <a:pt x="0" y="1094562"/>
                  </a:lnTo>
                  <a:lnTo>
                    <a:pt x="523303" y="1094562"/>
                  </a:lnTo>
                  <a:lnTo>
                    <a:pt x="557251" y="1051554"/>
                  </a:lnTo>
                  <a:lnTo>
                    <a:pt x="576597" y="980530"/>
                  </a:lnTo>
                  <a:lnTo>
                    <a:pt x="584972" y="934269"/>
                  </a:lnTo>
                  <a:lnTo>
                    <a:pt x="592343" y="881710"/>
                  </a:lnTo>
                  <a:lnTo>
                    <a:pt x="598608" y="823506"/>
                  </a:lnTo>
                  <a:lnTo>
                    <a:pt x="603661" y="760309"/>
                  </a:lnTo>
                  <a:lnTo>
                    <a:pt x="607399" y="692771"/>
                  </a:lnTo>
                  <a:lnTo>
                    <a:pt x="609718" y="621544"/>
                  </a:lnTo>
                  <a:lnTo>
                    <a:pt x="610514" y="547281"/>
                  </a:lnTo>
                  <a:lnTo>
                    <a:pt x="609718" y="473017"/>
                  </a:lnTo>
                  <a:lnTo>
                    <a:pt x="607399" y="401790"/>
                  </a:lnTo>
                  <a:lnTo>
                    <a:pt x="603661" y="334252"/>
                  </a:lnTo>
                  <a:lnTo>
                    <a:pt x="598608" y="271055"/>
                  </a:lnTo>
                  <a:lnTo>
                    <a:pt x="592344" y="212851"/>
                  </a:lnTo>
                  <a:lnTo>
                    <a:pt x="584973" y="160293"/>
                  </a:lnTo>
                  <a:lnTo>
                    <a:pt x="576597" y="114031"/>
                  </a:lnTo>
                  <a:lnTo>
                    <a:pt x="567323" y="74718"/>
                  </a:lnTo>
                  <a:lnTo>
                    <a:pt x="546489" y="19549"/>
                  </a:lnTo>
                  <a:lnTo>
                    <a:pt x="535138" y="4995"/>
                  </a:lnTo>
                  <a:lnTo>
                    <a:pt x="52330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619550" y="1682509"/>
              <a:ext cx="174625" cy="1094740"/>
            </a:xfrm>
            <a:custGeom>
              <a:avLst/>
              <a:gdLst/>
              <a:ahLst/>
              <a:cxnLst/>
              <a:rect l="l" t="t" r="r" b="b"/>
              <a:pathLst>
                <a:path w="174625" h="1094739">
                  <a:moveTo>
                    <a:pt x="87210" y="0"/>
                  </a:moveTo>
                  <a:lnTo>
                    <a:pt x="53260" y="43007"/>
                  </a:lnTo>
                  <a:lnTo>
                    <a:pt x="33915" y="114031"/>
                  </a:lnTo>
                  <a:lnTo>
                    <a:pt x="25540" y="160293"/>
                  </a:lnTo>
                  <a:lnTo>
                    <a:pt x="18169" y="212851"/>
                  </a:lnTo>
                  <a:lnTo>
                    <a:pt x="11905" y="271055"/>
                  </a:lnTo>
                  <a:lnTo>
                    <a:pt x="6852" y="334252"/>
                  </a:lnTo>
                  <a:lnTo>
                    <a:pt x="3114" y="401790"/>
                  </a:lnTo>
                  <a:lnTo>
                    <a:pt x="796" y="473017"/>
                  </a:lnTo>
                  <a:lnTo>
                    <a:pt x="0" y="547281"/>
                  </a:lnTo>
                  <a:lnTo>
                    <a:pt x="796" y="621542"/>
                  </a:lnTo>
                  <a:lnTo>
                    <a:pt x="3114" y="692767"/>
                  </a:lnTo>
                  <a:lnTo>
                    <a:pt x="6852" y="760304"/>
                  </a:lnTo>
                  <a:lnTo>
                    <a:pt x="11905" y="823500"/>
                  </a:lnTo>
                  <a:lnTo>
                    <a:pt x="18169" y="881704"/>
                  </a:lnTo>
                  <a:lnTo>
                    <a:pt x="25541" y="934264"/>
                  </a:lnTo>
                  <a:lnTo>
                    <a:pt x="33916" y="980526"/>
                  </a:lnTo>
                  <a:lnTo>
                    <a:pt x="43191" y="1019840"/>
                  </a:lnTo>
                  <a:lnTo>
                    <a:pt x="64024" y="1075012"/>
                  </a:lnTo>
                  <a:lnTo>
                    <a:pt x="87210" y="1094562"/>
                  </a:lnTo>
                  <a:lnTo>
                    <a:pt x="99046" y="1089566"/>
                  </a:lnTo>
                  <a:lnTo>
                    <a:pt x="121161" y="1051553"/>
                  </a:lnTo>
                  <a:lnTo>
                    <a:pt x="140510" y="980526"/>
                  </a:lnTo>
                  <a:lnTo>
                    <a:pt x="148886" y="934264"/>
                  </a:lnTo>
                  <a:lnTo>
                    <a:pt x="156260" y="881704"/>
                  </a:lnTo>
                  <a:lnTo>
                    <a:pt x="162525" y="823500"/>
                  </a:lnTo>
                  <a:lnTo>
                    <a:pt x="167579" y="760304"/>
                  </a:lnTo>
                  <a:lnTo>
                    <a:pt x="171318" y="692767"/>
                  </a:lnTo>
                  <a:lnTo>
                    <a:pt x="173638" y="621542"/>
                  </a:lnTo>
                  <a:lnTo>
                    <a:pt x="174434" y="547281"/>
                  </a:lnTo>
                  <a:lnTo>
                    <a:pt x="173638" y="473017"/>
                  </a:lnTo>
                  <a:lnTo>
                    <a:pt x="171318" y="401790"/>
                  </a:lnTo>
                  <a:lnTo>
                    <a:pt x="167579" y="334252"/>
                  </a:lnTo>
                  <a:lnTo>
                    <a:pt x="162525" y="271055"/>
                  </a:lnTo>
                  <a:lnTo>
                    <a:pt x="156260" y="212851"/>
                  </a:lnTo>
                  <a:lnTo>
                    <a:pt x="148886" y="160293"/>
                  </a:lnTo>
                  <a:lnTo>
                    <a:pt x="140510" y="114031"/>
                  </a:lnTo>
                  <a:lnTo>
                    <a:pt x="131233" y="74718"/>
                  </a:lnTo>
                  <a:lnTo>
                    <a:pt x="110397" y="19549"/>
                  </a:lnTo>
                  <a:lnTo>
                    <a:pt x="8721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619550" y="1682504"/>
              <a:ext cx="697865" cy="1094740"/>
            </a:xfrm>
            <a:custGeom>
              <a:avLst/>
              <a:gdLst/>
              <a:ahLst/>
              <a:cxnLst/>
              <a:rect l="l" t="t" r="r" b="b"/>
              <a:pathLst>
                <a:path w="697864" h="1094739">
                  <a:moveTo>
                    <a:pt x="87210" y="0"/>
                  </a:moveTo>
                  <a:lnTo>
                    <a:pt x="121159" y="43007"/>
                  </a:lnTo>
                  <a:lnTo>
                    <a:pt x="140505" y="114031"/>
                  </a:lnTo>
                  <a:lnTo>
                    <a:pt x="148880" y="160293"/>
                  </a:lnTo>
                  <a:lnTo>
                    <a:pt x="156252" y="212851"/>
                  </a:lnTo>
                  <a:lnTo>
                    <a:pt x="162516" y="271055"/>
                  </a:lnTo>
                  <a:lnTo>
                    <a:pt x="167569" y="334252"/>
                  </a:lnTo>
                  <a:lnTo>
                    <a:pt x="171306" y="401790"/>
                  </a:lnTo>
                  <a:lnTo>
                    <a:pt x="173625" y="473017"/>
                  </a:lnTo>
                  <a:lnTo>
                    <a:pt x="174421" y="547281"/>
                  </a:lnTo>
                  <a:lnTo>
                    <a:pt x="173625" y="621544"/>
                  </a:lnTo>
                  <a:lnTo>
                    <a:pt x="171306" y="692771"/>
                  </a:lnTo>
                  <a:lnTo>
                    <a:pt x="167569" y="760309"/>
                  </a:lnTo>
                  <a:lnTo>
                    <a:pt x="162516" y="823506"/>
                  </a:lnTo>
                  <a:lnTo>
                    <a:pt x="156252" y="881710"/>
                  </a:lnTo>
                  <a:lnTo>
                    <a:pt x="148880" y="934269"/>
                  </a:lnTo>
                  <a:lnTo>
                    <a:pt x="140505" y="980530"/>
                  </a:lnTo>
                  <a:lnTo>
                    <a:pt x="131230" y="1019843"/>
                  </a:lnTo>
                  <a:lnTo>
                    <a:pt x="110397" y="1075013"/>
                  </a:lnTo>
                  <a:lnTo>
                    <a:pt x="87210" y="1094562"/>
                  </a:lnTo>
                  <a:lnTo>
                    <a:pt x="75375" y="1089566"/>
                  </a:lnTo>
                  <a:lnTo>
                    <a:pt x="64024" y="1075013"/>
                  </a:lnTo>
                  <a:lnTo>
                    <a:pt x="43191" y="1019843"/>
                  </a:lnTo>
                  <a:lnTo>
                    <a:pt x="33916" y="980530"/>
                  </a:lnTo>
                  <a:lnTo>
                    <a:pt x="25541" y="934269"/>
                  </a:lnTo>
                  <a:lnTo>
                    <a:pt x="18169" y="881710"/>
                  </a:lnTo>
                  <a:lnTo>
                    <a:pt x="11905" y="823506"/>
                  </a:lnTo>
                  <a:lnTo>
                    <a:pt x="6852" y="760309"/>
                  </a:lnTo>
                  <a:lnTo>
                    <a:pt x="3114" y="692771"/>
                  </a:lnTo>
                  <a:lnTo>
                    <a:pt x="796" y="621544"/>
                  </a:lnTo>
                  <a:lnTo>
                    <a:pt x="0" y="547281"/>
                  </a:lnTo>
                  <a:lnTo>
                    <a:pt x="796" y="473017"/>
                  </a:lnTo>
                  <a:lnTo>
                    <a:pt x="3114" y="401790"/>
                  </a:lnTo>
                  <a:lnTo>
                    <a:pt x="6852" y="334252"/>
                  </a:lnTo>
                  <a:lnTo>
                    <a:pt x="11905" y="271055"/>
                  </a:lnTo>
                  <a:lnTo>
                    <a:pt x="18169" y="212851"/>
                  </a:lnTo>
                  <a:lnTo>
                    <a:pt x="25541" y="160293"/>
                  </a:lnTo>
                  <a:lnTo>
                    <a:pt x="33916" y="114031"/>
                  </a:lnTo>
                  <a:lnTo>
                    <a:pt x="43191" y="74718"/>
                  </a:lnTo>
                  <a:lnTo>
                    <a:pt x="64024" y="19549"/>
                  </a:lnTo>
                  <a:lnTo>
                    <a:pt x="87210" y="0"/>
                  </a:lnTo>
                  <a:lnTo>
                    <a:pt x="610514" y="0"/>
                  </a:lnTo>
                  <a:lnTo>
                    <a:pt x="622349" y="4995"/>
                  </a:lnTo>
                  <a:lnTo>
                    <a:pt x="633700" y="19549"/>
                  </a:lnTo>
                  <a:lnTo>
                    <a:pt x="654534" y="74718"/>
                  </a:lnTo>
                  <a:lnTo>
                    <a:pt x="663808" y="114031"/>
                  </a:lnTo>
                  <a:lnTo>
                    <a:pt x="672184" y="160293"/>
                  </a:lnTo>
                  <a:lnTo>
                    <a:pt x="679555" y="212851"/>
                  </a:lnTo>
                  <a:lnTo>
                    <a:pt x="685819" y="271055"/>
                  </a:lnTo>
                  <a:lnTo>
                    <a:pt x="690872" y="334252"/>
                  </a:lnTo>
                  <a:lnTo>
                    <a:pt x="694610" y="401790"/>
                  </a:lnTo>
                  <a:lnTo>
                    <a:pt x="696929" y="473017"/>
                  </a:lnTo>
                  <a:lnTo>
                    <a:pt x="697725" y="547281"/>
                  </a:lnTo>
                  <a:lnTo>
                    <a:pt x="696929" y="621544"/>
                  </a:lnTo>
                  <a:lnTo>
                    <a:pt x="694610" y="692771"/>
                  </a:lnTo>
                  <a:lnTo>
                    <a:pt x="690872" y="760309"/>
                  </a:lnTo>
                  <a:lnTo>
                    <a:pt x="685819" y="823506"/>
                  </a:lnTo>
                  <a:lnTo>
                    <a:pt x="679555" y="881710"/>
                  </a:lnTo>
                  <a:lnTo>
                    <a:pt x="672184" y="934269"/>
                  </a:lnTo>
                  <a:lnTo>
                    <a:pt x="663808" y="980530"/>
                  </a:lnTo>
                  <a:lnTo>
                    <a:pt x="654534" y="1019843"/>
                  </a:lnTo>
                  <a:lnTo>
                    <a:pt x="633700" y="1075013"/>
                  </a:lnTo>
                  <a:lnTo>
                    <a:pt x="610514" y="1094562"/>
                  </a:lnTo>
                  <a:lnTo>
                    <a:pt x="87210" y="1094562"/>
                  </a:lnTo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436650" y="1074409"/>
              <a:ext cx="1061720" cy="2070735"/>
            </a:xfrm>
            <a:custGeom>
              <a:avLst/>
              <a:gdLst/>
              <a:ahLst/>
              <a:cxnLst/>
              <a:rect l="l" t="t" r="r" b="b"/>
              <a:pathLst>
                <a:path w="1061720" h="2070735">
                  <a:moveTo>
                    <a:pt x="0" y="84518"/>
                  </a:moveTo>
                  <a:lnTo>
                    <a:pt x="6640" y="51622"/>
                  </a:lnTo>
                  <a:lnTo>
                    <a:pt x="24752" y="24757"/>
                  </a:lnTo>
                  <a:lnTo>
                    <a:pt x="51617" y="6642"/>
                  </a:lnTo>
                  <a:lnTo>
                    <a:pt x="84518" y="0"/>
                  </a:lnTo>
                  <a:lnTo>
                    <a:pt x="976845" y="0"/>
                  </a:lnTo>
                  <a:lnTo>
                    <a:pt x="1009741" y="6642"/>
                  </a:lnTo>
                  <a:lnTo>
                    <a:pt x="1036607" y="24757"/>
                  </a:lnTo>
                  <a:lnTo>
                    <a:pt x="1054721" y="51622"/>
                  </a:lnTo>
                  <a:lnTo>
                    <a:pt x="1061364" y="84518"/>
                  </a:lnTo>
                  <a:lnTo>
                    <a:pt x="1061364" y="1985898"/>
                  </a:lnTo>
                  <a:lnTo>
                    <a:pt x="1054723" y="2018794"/>
                  </a:lnTo>
                  <a:lnTo>
                    <a:pt x="1036612" y="2045660"/>
                  </a:lnTo>
                  <a:lnTo>
                    <a:pt x="1009747" y="2063774"/>
                  </a:lnTo>
                  <a:lnTo>
                    <a:pt x="976845" y="2070417"/>
                  </a:lnTo>
                  <a:lnTo>
                    <a:pt x="84518" y="2070417"/>
                  </a:lnTo>
                  <a:lnTo>
                    <a:pt x="51617" y="2063774"/>
                  </a:lnTo>
                  <a:lnTo>
                    <a:pt x="24752" y="2045660"/>
                  </a:lnTo>
                  <a:lnTo>
                    <a:pt x="6640" y="2018794"/>
                  </a:lnTo>
                  <a:lnTo>
                    <a:pt x="0" y="1985898"/>
                  </a:lnTo>
                  <a:lnTo>
                    <a:pt x="0" y="84518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720104" y="1136514"/>
            <a:ext cx="2286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0">
                <a:solidFill>
                  <a:srgbClr val="FF0000"/>
                </a:solidFill>
                <a:latin typeface="SimSun"/>
                <a:cs typeface="SimSun"/>
              </a:rPr>
              <a:t>终端</a:t>
            </a:r>
            <a:endParaRPr sz="800">
              <a:latin typeface="SimSun"/>
              <a:cs typeface="SimSu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619540" y="1114958"/>
            <a:ext cx="638175" cy="215900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800" spc="-25">
                <a:solidFill>
                  <a:srgbClr val="FF0000"/>
                </a:solidFill>
                <a:latin typeface="SimSun"/>
                <a:cs typeface="SimSun"/>
              </a:rPr>
              <a:t>RAN</a:t>
            </a:r>
            <a:endParaRPr sz="800">
              <a:latin typeface="SimSun"/>
              <a:cs typeface="SimSu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733548" y="2075294"/>
            <a:ext cx="638175" cy="339090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800" spc="-25">
                <a:solidFill>
                  <a:srgbClr val="FF0000"/>
                </a:solidFill>
                <a:latin typeface="SimSun"/>
                <a:cs typeface="SimSun"/>
              </a:rPr>
              <a:t>RAN</a:t>
            </a:r>
            <a:endParaRPr sz="80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</a:pPr>
            <a:r>
              <a:rPr dirty="0" sz="800" spc="-30">
                <a:solidFill>
                  <a:srgbClr val="FF0000"/>
                </a:solidFill>
                <a:latin typeface="SimSun"/>
                <a:cs typeface="SimSun"/>
              </a:rPr>
              <a:t>资源</a:t>
            </a:r>
            <a:endParaRPr sz="800">
              <a:latin typeface="SimSun"/>
              <a:cs typeface="SimSun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3775237" y="1074409"/>
            <a:ext cx="1061720" cy="2070735"/>
          </a:xfrm>
          <a:custGeom>
            <a:avLst/>
            <a:gdLst/>
            <a:ahLst/>
            <a:cxnLst/>
            <a:rect l="l" t="t" r="r" b="b"/>
            <a:pathLst>
              <a:path w="1061720" h="2070735">
                <a:moveTo>
                  <a:pt x="0" y="84518"/>
                </a:moveTo>
                <a:lnTo>
                  <a:pt x="6640" y="51622"/>
                </a:lnTo>
                <a:lnTo>
                  <a:pt x="24752" y="24757"/>
                </a:lnTo>
                <a:lnTo>
                  <a:pt x="51617" y="6642"/>
                </a:lnTo>
                <a:lnTo>
                  <a:pt x="84518" y="0"/>
                </a:lnTo>
                <a:lnTo>
                  <a:pt x="976845" y="0"/>
                </a:lnTo>
                <a:lnTo>
                  <a:pt x="1009747" y="6642"/>
                </a:lnTo>
                <a:lnTo>
                  <a:pt x="1036612" y="24757"/>
                </a:lnTo>
                <a:lnTo>
                  <a:pt x="1054723" y="51622"/>
                </a:lnTo>
                <a:lnTo>
                  <a:pt x="1061364" y="84518"/>
                </a:lnTo>
                <a:lnTo>
                  <a:pt x="1061364" y="1985898"/>
                </a:lnTo>
                <a:lnTo>
                  <a:pt x="1054723" y="2018794"/>
                </a:lnTo>
                <a:lnTo>
                  <a:pt x="1036612" y="2045660"/>
                </a:lnTo>
                <a:lnTo>
                  <a:pt x="1009747" y="2063774"/>
                </a:lnTo>
                <a:lnTo>
                  <a:pt x="976845" y="2070417"/>
                </a:lnTo>
                <a:lnTo>
                  <a:pt x="84518" y="2070417"/>
                </a:lnTo>
                <a:lnTo>
                  <a:pt x="51617" y="2063774"/>
                </a:lnTo>
                <a:lnTo>
                  <a:pt x="24752" y="2045660"/>
                </a:lnTo>
                <a:lnTo>
                  <a:pt x="6640" y="2018794"/>
                </a:lnTo>
                <a:lnTo>
                  <a:pt x="0" y="1985898"/>
                </a:lnTo>
                <a:lnTo>
                  <a:pt x="0" y="84518"/>
                </a:lnTo>
                <a:close/>
              </a:path>
            </a:pathLst>
          </a:custGeom>
          <a:ln w="9525">
            <a:solidFill>
              <a:srgbClr val="8A3C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3958132" y="1114958"/>
            <a:ext cx="638175" cy="215900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385"/>
              </a:spcBef>
            </a:pPr>
            <a:r>
              <a:rPr dirty="0" sz="800" spc="-25">
                <a:solidFill>
                  <a:srgbClr val="FF0000"/>
                </a:solidFill>
                <a:latin typeface="SimSun"/>
                <a:cs typeface="SimSun"/>
              </a:rPr>
              <a:t>核心网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3935369" y="1556124"/>
            <a:ext cx="707390" cy="1347470"/>
            <a:chOff x="3935369" y="1556124"/>
            <a:chExt cx="707390" cy="1347470"/>
          </a:xfrm>
        </p:grpSpPr>
        <p:sp>
          <p:nvSpPr>
            <p:cNvPr id="36" name="object 36" descr=""/>
            <p:cNvSpPr/>
            <p:nvPr/>
          </p:nvSpPr>
          <p:spPr>
            <a:xfrm>
              <a:off x="3970535" y="1560880"/>
              <a:ext cx="667385" cy="243840"/>
            </a:xfrm>
            <a:custGeom>
              <a:avLst/>
              <a:gdLst/>
              <a:ahLst/>
              <a:cxnLst/>
              <a:rect l="l" t="t" r="r" b="b"/>
              <a:pathLst>
                <a:path w="667385" h="243839">
                  <a:moveTo>
                    <a:pt x="636930" y="0"/>
                  </a:moveTo>
                  <a:lnTo>
                    <a:pt x="0" y="0"/>
                  </a:lnTo>
                  <a:lnTo>
                    <a:pt x="11833" y="9558"/>
                  </a:lnTo>
                  <a:lnTo>
                    <a:pt x="21497" y="35625"/>
                  </a:lnTo>
                  <a:lnTo>
                    <a:pt x="28014" y="74286"/>
                  </a:lnTo>
                  <a:lnTo>
                    <a:pt x="30403" y="121627"/>
                  </a:lnTo>
                  <a:lnTo>
                    <a:pt x="28014" y="168967"/>
                  </a:lnTo>
                  <a:lnTo>
                    <a:pt x="21497" y="207624"/>
                  </a:lnTo>
                  <a:lnTo>
                    <a:pt x="11833" y="233686"/>
                  </a:lnTo>
                  <a:lnTo>
                    <a:pt x="0" y="243243"/>
                  </a:lnTo>
                  <a:lnTo>
                    <a:pt x="636930" y="243243"/>
                  </a:lnTo>
                  <a:lnTo>
                    <a:pt x="648764" y="233686"/>
                  </a:lnTo>
                  <a:lnTo>
                    <a:pt x="658428" y="207624"/>
                  </a:lnTo>
                  <a:lnTo>
                    <a:pt x="664944" y="168967"/>
                  </a:lnTo>
                  <a:lnTo>
                    <a:pt x="667334" y="121627"/>
                  </a:lnTo>
                  <a:lnTo>
                    <a:pt x="664944" y="74286"/>
                  </a:lnTo>
                  <a:lnTo>
                    <a:pt x="658428" y="35625"/>
                  </a:lnTo>
                  <a:lnTo>
                    <a:pt x="648764" y="9558"/>
                  </a:lnTo>
                  <a:lnTo>
                    <a:pt x="636930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40131" y="1560880"/>
              <a:ext cx="60960" cy="243840"/>
            </a:xfrm>
            <a:custGeom>
              <a:avLst/>
              <a:gdLst/>
              <a:ahLst/>
              <a:cxnLst/>
              <a:rect l="l" t="t" r="r" b="b"/>
              <a:pathLst>
                <a:path w="60960" h="243839">
                  <a:moveTo>
                    <a:pt x="30403" y="0"/>
                  </a:moveTo>
                  <a:lnTo>
                    <a:pt x="18570" y="9558"/>
                  </a:lnTo>
                  <a:lnTo>
                    <a:pt x="8905" y="35625"/>
                  </a:lnTo>
                  <a:lnTo>
                    <a:pt x="2389" y="74286"/>
                  </a:lnTo>
                  <a:lnTo>
                    <a:pt x="0" y="121627"/>
                  </a:lnTo>
                  <a:lnTo>
                    <a:pt x="2389" y="168967"/>
                  </a:lnTo>
                  <a:lnTo>
                    <a:pt x="8905" y="207624"/>
                  </a:lnTo>
                  <a:lnTo>
                    <a:pt x="18570" y="233686"/>
                  </a:lnTo>
                  <a:lnTo>
                    <a:pt x="30403" y="243243"/>
                  </a:lnTo>
                  <a:lnTo>
                    <a:pt x="42237" y="233686"/>
                  </a:lnTo>
                  <a:lnTo>
                    <a:pt x="51901" y="207624"/>
                  </a:lnTo>
                  <a:lnTo>
                    <a:pt x="58418" y="168967"/>
                  </a:lnTo>
                  <a:lnTo>
                    <a:pt x="60807" y="121627"/>
                  </a:lnTo>
                  <a:lnTo>
                    <a:pt x="58418" y="74286"/>
                  </a:lnTo>
                  <a:lnTo>
                    <a:pt x="51901" y="35625"/>
                  </a:lnTo>
                  <a:lnTo>
                    <a:pt x="42237" y="9558"/>
                  </a:lnTo>
                  <a:lnTo>
                    <a:pt x="30403" y="0"/>
                  </a:lnTo>
                  <a:close/>
                </a:path>
              </a:pathLst>
            </a:custGeom>
            <a:solidFill>
              <a:srgbClr val="66A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940131" y="1560887"/>
              <a:ext cx="697865" cy="243840"/>
            </a:xfrm>
            <a:custGeom>
              <a:avLst/>
              <a:gdLst/>
              <a:ahLst/>
              <a:cxnLst/>
              <a:rect l="l" t="t" r="r" b="b"/>
              <a:pathLst>
                <a:path w="697864" h="243839">
                  <a:moveTo>
                    <a:pt x="30403" y="0"/>
                  </a:moveTo>
                  <a:lnTo>
                    <a:pt x="42237" y="9556"/>
                  </a:lnTo>
                  <a:lnTo>
                    <a:pt x="51901" y="35618"/>
                  </a:lnTo>
                  <a:lnTo>
                    <a:pt x="58418" y="74275"/>
                  </a:lnTo>
                  <a:lnTo>
                    <a:pt x="60807" y="121615"/>
                  </a:lnTo>
                  <a:lnTo>
                    <a:pt x="58418" y="168957"/>
                  </a:lnTo>
                  <a:lnTo>
                    <a:pt x="51901" y="207618"/>
                  </a:lnTo>
                  <a:lnTo>
                    <a:pt x="42237" y="233684"/>
                  </a:lnTo>
                  <a:lnTo>
                    <a:pt x="30403" y="243243"/>
                  </a:lnTo>
                  <a:lnTo>
                    <a:pt x="18570" y="233684"/>
                  </a:lnTo>
                  <a:lnTo>
                    <a:pt x="8905" y="207618"/>
                  </a:lnTo>
                  <a:lnTo>
                    <a:pt x="2389" y="168957"/>
                  </a:lnTo>
                  <a:lnTo>
                    <a:pt x="0" y="121615"/>
                  </a:lnTo>
                  <a:lnTo>
                    <a:pt x="2389" y="74275"/>
                  </a:lnTo>
                  <a:lnTo>
                    <a:pt x="8905" y="35618"/>
                  </a:lnTo>
                  <a:lnTo>
                    <a:pt x="18570" y="9556"/>
                  </a:lnTo>
                  <a:lnTo>
                    <a:pt x="30403" y="0"/>
                  </a:lnTo>
                  <a:lnTo>
                    <a:pt x="667334" y="0"/>
                  </a:lnTo>
                  <a:lnTo>
                    <a:pt x="679167" y="9556"/>
                  </a:lnTo>
                  <a:lnTo>
                    <a:pt x="688832" y="35618"/>
                  </a:lnTo>
                  <a:lnTo>
                    <a:pt x="695348" y="74275"/>
                  </a:lnTo>
                  <a:lnTo>
                    <a:pt x="697738" y="121615"/>
                  </a:lnTo>
                  <a:lnTo>
                    <a:pt x="695348" y="168957"/>
                  </a:lnTo>
                  <a:lnTo>
                    <a:pt x="688832" y="207618"/>
                  </a:lnTo>
                  <a:lnTo>
                    <a:pt x="679167" y="233684"/>
                  </a:lnTo>
                  <a:lnTo>
                    <a:pt x="667334" y="243243"/>
                  </a:lnTo>
                  <a:lnTo>
                    <a:pt x="30403" y="243243"/>
                  </a:lnTo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970537" y="2087895"/>
              <a:ext cx="667385" cy="243840"/>
            </a:xfrm>
            <a:custGeom>
              <a:avLst/>
              <a:gdLst/>
              <a:ahLst/>
              <a:cxnLst/>
              <a:rect l="l" t="t" r="r" b="b"/>
              <a:pathLst>
                <a:path w="667385" h="243839">
                  <a:moveTo>
                    <a:pt x="636930" y="0"/>
                  </a:moveTo>
                  <a:lnTo>
                    <a:pt x="0" y="0"/>
                  </a:lnTo>
                  <a:lnTo>
                    <a:pt x="11833" y="9558"/>
                  </a:lnTo>
                  <a:lnTo>
                    <a:pt x="21497" y="35625"/>
                  </a:lnTo>
                  <a:lnTo>
                    <a:pt x="28014" y="74286"/>
                  </a:lnTo>
                  <a:lnTo>
                    <a:pt x="30403" y="121627"/>
                  </a:lnTo>
                  <a:lnTo>
                    <a:pt x="28014" y="168967"/>
                  </a:lnTo>
                  <a:lnTo>
                    <a:pt x="21497" y="207624"/>
                  </a:lnTo>
                  <a:lnTo>
                    <a:pt x="11833" y="233686"/>
                  </a:lnTo>
                  <a:lnTo>
                    <a:pt x="0" y="243243"/>
                  </a:lnTo>
                  <a:lnTo>
                    <a:pt x="636930" y="243243"/>
                  </a:lnTo>
                  <a:lnTo>
                    <a:pt x="648764" y="233686"/>
                  </a:lnTo>
                  <a:lnTo>
                    <a:pt x="658428" y="207624"/>
                  </a:lnTo>
                  <a:lnTo>
                    <a:pt x="664944" y="168967"/>
                  </a:lnTo>
                  <a:lnTo>
                    <a:pt x="667334" y="121627"/>
                  </a:lnTo>
                  <a:lnTo>
                    <a:pt x="664944" y="74286"/>
                  </a:lnTo>
                  <a:lnTo>
                    <a:pt x="658428" y="35625"/>
                  </a:lnTo>
                  <a:lnTo>
                    <a:pt x="648764" y="9558"/>
                  </a:lnTo>
                  <a:lnTo>
                    <a:pt x="636930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940133" y="2087895"/>
              <a:ext cx="60960" cy="243840"/>
            </a:xfrm>
            <a:custGeom>
              <a:avLst/>
              <a:gdLst/>
              <a:ahLst/>
              <a:cxnLst/>
              <a:rect l="l" t="t" r="r" b="b"/>
              <a:pathLst>
                <a:path w="60960" h="243839">
                  <a:moveTo>
                    <a:pt x="30403" y="0"/>
                  </a:moveTo>
                  <a:lnTo>
                    <a:pt x="18570" y="9558"/>
                  </a:lnTo>
                  <a:lnTo>
                    <a:pt x="8905" y="35625"/>
                  </a:lnTo>
                  <a:lnTo>
                    <a:pt x="2389" y="74286"/>
                  </a:lnTo>
                  <a:lnTo>
                    <a:pt x="0" y="121627"/>
                  </a:lnTo>
                  <a:lnTo>
                    <a:pt x="2389" y="168967"/>
                  </a:lnTo>
                  <a:lnTo>
                    <a:pt x="8905" y="207624"/>
                  </a:lnTo>
                  <a:lnTo>
                    <a:pt x="18570" y="233686"/>
                  </a:lnTo>
                  <a:lnTo>
                    <a:pt x="30403" y="243243"/>
                  </a:lnTo>
                  <a:lnTo>
                    <a:pt x="42237" y="233686"/>
                  </a:lnTo>
                  <a:lnTo>
                    <a:pt x="51901" y="207624"/>
                  </a:lnTo>
                  <a:lnTo>
                    <a:pt x="58418" y="168967"/>
                  </a:lnTo>
                  <a:lnTo>
                    <a:pt x="60807" y="121627"/>
                  </a:lnTo>
                  <a:lnTo>
                    <a:pt x="58418" y="74286"/>
                  </a:lnTo>
                  <a:lnTo>
                    <a:pt x="51901" y="35625"/>
                  </a:lnTo>
                  <a:lnTo>
                    <a:pt x="42237" y="9558"/>
                  </a:lnTo>
                  <a:lnTo>
                    <a:pt x="30403" y="0"/>
                  </a:lnTo>
                  <a:close/>
                </a:path>
              </a:pathLst>
            </a:custGeom>
            <a:solidFill>
              <a:srgbClr val="A98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940133" y="2087901"/>
              <a:ext cx="697865" cy="243840"/>
            </a:xfrm>
            <a:custGeom>
              <a:avLst/>
              <a:gdLst/>
              <a:ahLst/>
              <a:cxnLst/>
              <a:rect l="l" t="t" r="r" b="b"/>
              <a:pathLst>
                <a:path w="697864" h="243839">
                  <a:moveTo>
                    <a:pt x="30403" y="0"/>
                  </a:moveTo>
                  <a:lnTo>
                    <a:pt x="42237" y="9556"/>
                  </a:lnTo>
                  <a:lnTo>
                    <a:pt x="51901" y="35618"/>
                  </a:lnTo>
                  <a:lnTo>
                    <a:pt x="58418" y="74275"/>
                  </a:lnTo>
                  <a:lnTo>
                    <a:pt x="60807" y="121615"/>
                  </a:lnTo>
                  <a:lnTo>
                    <a:pt x="58418" y="168957"/>
                  </a:lnTo>
                  <a:lnTo>
                    <a:pt x="51901" y="207618"/>
                  </a:lnTo>
                  <a:lnTo>
                    <a:pt x="42237" y="233684"/>
                  </a:lnTo>
                  <a:lnTo>
                    <a:pt x="30403" y="243243"/>
                  </a:lnTo>
                  <a:lnTo>
                    <a:pt x="18570" y="233684"/>
                  </a:lnTo>
                  <a:lnTo>
                    <a:pt x="8905" y="207618"/>
                  </a:lnTo>
                  <a:lnTo>
                    <a:pt x="2389" y="168957"/>
                  </a:lnTo>
                  <a:lnTo>
                    <a:pt x="0" y="121615"/>
                  </a:lnTo>
                  <a:lnTo>
                    <a:pt x="2389" y="74275"/>
                  </a:lnTo>
                  <a:lnTo>
                    <a:pt x="8905" y="35618"/>
                  </a:lnTo>
                  <a:lnTo>
                    <a:pt x="18570" y="9556"/>
                  </a:lnTo>
                  <a:lnTo>
                    <a:pt x="30403" y="0"/>
                  </a:lnTo>
                  <a:lnTo>
                    <a:pt x="667334" y="0"/>
                  </a:lnTo>
                  <a:lnTo>
                    <a:pt x="679167" y="9556"/>
                  </a:lnTo>
                  <a:lnTo>
                    <a:pt x="688832" y="35618"/>
                  </a:lnTo>
                  <a:lnTo>
                    <a:pt x="695348" y="74275"/>
                  </a:lnTo>
                  <a:lnTo>
                    <a:pt x="697738" y="121615"/>
                  </a:lnTo>
                  <a:lnTo>
                    <a:pt x="695348" y="168957"/>
                  </a:lnTo>
                  <a:lnTo>
                    <a:pt x="688832" y="207618"/>
                  </a:lnTo>
                  <a:lnTo>
                    <a:pt x="679167" y="233684"/>
                  </a:lnTo>
                  <a:lnTo>
                    <a:pt x="667334" y="243243"/>
                  </a:lnTo>
                  <a:lnTo>
                    <a:pt x="30403" y="243243"/>
                  </a:lnTo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970537" y="2655449"/>
              <a:ext cx="667385" cy="243840"/>
            </a:xfrm>
            <a:custGeom>
              <a:avLst/>
              <a:gdLst/>
              <a:ahLst/>
              <a:cxnLst/>
              <a:rect l="l" t="t" r="r" b="b"/>
              <a:pathLst>
                <a:path w="667385" h="243839">
                  <a:moveTo>
                    <a:pt x="636930" y="0"/>
                  </a:moveTo>
                  <a:lnTo>
                    <a:pt x="0" y="0"/>
                  </a:lnTo>
                  <a:lnTo>
                    <a:pt x="11833" y="9558"/>
                  </a:lnTo>
                  <a:lnTo>
                    <a:pt x="21497" y="35625"/>
                  </a:lnTo>
                  <a:lnTo>
                    <a:pt x="28014" y="74286"/>
                  </a:lnTo>
                  <a:lnTo>
                    <a:pt x="30403" y="121627"/>
                  </a:lnTo>
                  <a:lnTo>
                    <a:pt x="28014" y="168967"/>
                  </a:lnTo>
                  <a:lnTo>
                    <a:pt x="21497" y="207624"/>
                  </a:lnTo>
                  <a:lnTo>
                    <a:pt x="11833" y="233686"/>
                  </a:lnTo>
                  <a:lnTo>
                    <a:pt x="0" y="243243"/>
                  </a:lnTo>
                  <a:lnTo>
                    <a:pt x="636930" y="243243"/>
                  </a:lnTo>
                  <a:lnTo>
                    <a:pt x="648764" y="233686"/>
                  </a:lnTo>
                  <a:lnTo>
                    <a:pt x="658428" y="207624"/>
                  </a:lnTo>
                  <a:lnTo>
                    <a:pt x="664944" y="168967"/>
                  </a:lnTo>
                  <a:lnTo>
                    <a:pt x="667334" y="121627"/>
                  </a:lnTo>
                  <a:lnTo>
                    <a:pt x="664944" y="74286"/>
                  </a:lnTo>
                  <a:lnTo>
                    <a:pt x="658428" y="35625"/>
                  </a:lnTo>
                  <a:lnTo>
                    <a:pt x="648764" y="9558"/>
                  </a:lnTo>
                  <a:lnTo>
                    <a:pt x="636930" y="0"/>
                  </a:lnTo>
                  <a:close/>
                </a:path>
              </a:pathLst>
            </a:custGeom>
            <a:solidFill>
              <a:srgbClr val="6AA2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940133" y="2655449"/>
              <a:ext cx="60960" cy="243840"/>
            </a:xfrm>
            <a:custGeom>
              <a:avLst/>
              <a:gdLst/>
              <a:ahLst/>
              <a:cxnLst/>
              <a:rect l="l" t="t" r="r" b="b"/>
              <a:pathLst>
                <a:path w="60960" h="243839">
                  <a:moveTo>
                    <a:pt x="30403" y="0"/>
                  </a:moveTo>
                  <a:lnTo>
                    <a:pt x="18570" y="9558"/>
                  </a:lnTo>
                  <a:lnTo>
                    <a:pt x="8905" y="35625"/>
                  </a:lnTo>
                  <a:lnTo>
                    <a:pt x="2389" y="74286"/>
                  </a:lnTo>
                  <a:lnTo>
                    <a:pt x="0" y="121627"/>
                  </a:lnTo>
                  <a:lnTo>
                    <a:pt x="2389" y="168967"/>
                  </a:lnTo>
                  <a:lnTo>
                    <a:pt x="8905" y="207624"/>
                  </a:lnTo>
                  <a:lnTo>
                    <a:pt x="18570" y="233686"/>
                  </a:lnTo>
                  <a:lnTo>
                    <a:pt x="30403" y="243243"/>
                  </a:lnTo>
                  <a:lnTo>
                    <a:pt x="42237" y="233686"/>
                  </a:lnTo>
                  <a:lnTo>
                    <a:pt x="51901" y="207624"/>
                  </a:lnTo>
                  <a:lnTo>
                    <a:pt x="58418" y="168967"/>
                  </a:lnTo>
                  <a:lnTo>
                    <a:pt x="60807" y="121627"/>
                  </a:lnTo>
                  <a:lnTo>
                    <a:pt x="58418" y="74286"/>
                  </a:lnTo>
                  <a:lnTo>
                    <a:pt x="51901" y="35625"/>
                  </a:lnTo>
                  <a:lnTo>
                    <a:pt x="42237" y="9558"/>
                  </a:lnTo>
                  <a:lnTo>
                    <a:pt x="30403" y="0"/>
                  </a:lnTo>
                  <a:close/>
                </a:path>
              </a:pathLst>
            </a:custGeom>
            <a:solidFill>
              <a:srgbClr val="A6C7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940133" y="2655454"/>
              <a:ext cx="697865" cy="243840"/>
            </a:xfrm>
            <a:custGeom>
              <a:avLst/>
              <a:gdLst/>
              <a:ahLst/>
              <a:cxnLst/>
              <a:rect l="l" t="t" r="r" b="b"/>
              <a:pathLst>
                <a:path w="697864" h="243839">
                  <a:moveTo>
                    <a:pt x="30403" y="0"/>
                  </a:moveTo>
                  <a:lnTo>
                    <a:pt x="42237" y="9556"/>
                  </a:lnTo>
                  <a:lnTo>
                    <a:pt x="51901" y="35618"/>
                  </a:lnTo>
                  <a:lnTo>
                    <a:pt x="58418" y="74275"/>
                  </a:lnTo>
                  <a:lnTo>
                    <a:pt x="60807" y="121615"/>
                  </a:lnTo>
                  <a:lnTo>
                    <a:pt x="58418" y="168957"/>
                  </a:lnTo>
                  <a:lnTo>
                    <a:pt x="51901" y="207618"/>
                  </a:lnTo>
                  <a:lnTo>
                    <a:pt x="42237" y="233684"/>
                  </a:lnTo>
                  <a:lnTo>
                    <a:pt x="30403" y="243243"/>
                  </a:lnTo>
                  <a:lnTo>
                    <a:pt x="18570" y="233684"/>
                  </a:lnTo>
                  <a:lnTo>
                    <a:pt x="8905" y="207618"/>
                  </a:lnTo>
                  <a:lnTo>
                    <a:pt x="2389" y="168957"/>
                  </a:lnTo>
                  <a:lnTo>
                    <a:pt x="0" y="121615"/>
                  </a:lnTo>
                  <a:lnTo>
                    <a:pt x="2389" y="74275"/>
                  </a:lnTo>
                  <a:lnTo>
                    <a:pt x="8905" y="35618"/>
                  </a:lnTo>
                  <a:lnTo>
                    <a:pt x="18570" y="9556"/>
                  </a:lnTo>
                  <a:lnTo>
                    <a:pt x="30403" y="0"/>
                  </a:lnTo>
                  <a:lnTo>
                    <a:pt x="667334" y="0"/>
                  </a:lnTo>
                  <a:lnTo>
                    <a:pt x="679167" y="9556"/>
                  </a:lnTo>
                  <a:lnTo>
                    <a:pt x="688832" y="35618"/>
                  </a:lnTo>
                  <a:lnTo>
                    <a:pt x="695348" y="74275"/>
                  </a:lnTo>
                  <a:lnTo>
                    <a:pt x="697738" y="121615"/>
                  </a:lnTo>
                  <a:lnTo>
                    <a:pt x="695348" y="168957"/>
                  </a:lnTo>
                  <a:lnTo>
                    <a:pt x="688832" y="207618"/>
                  </a:lnTo>
                  <a:lnTo>
                    <a:pt x="679167" y="233684"/>
                  </a:lnTo>
                  <a:lnTo>
                    <a:pt x="667334" y="243243"/>
                  </a:lnTo>
                  <a:lnTo>
                    <a:pt x="30403" y="243243"/>
                  </a:lnTo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903408" y="1598726"/>
            <a:ext cx="845185" cy="200660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380"/>
              </a:spcBef>
            </a:pPr>
            <a:r>
              <a:rPr dirty="0" sz="700">
                <a:solidFill>
                  <a:srgbClr val="FF0000"/>
                </a:solidFill>
                <a:latin typeface="SimSun"/>
                <a:cs typeface="SimSun"/>
              </a:rPr>
              <a:t>CN</a:t>
            </a:r>
            <a:r>
              <a:rPr dirty="0" sz="700" spc="-15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Functions</a:t>
            </a:r>
            <a:endParaRPr sz="700">
              <a:latin typeface="SimSun"/>
              <a:cs typeface="SimSu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899204" y="2126691"/>
            <a:ext cx="845185" cy="200660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380"/>
              </a:spcBef>
            </a:pPr>
            <a:r>
              <a:rPr dirty="0" sz="700">
                <a:solidFill>
                  <a:srgbClr val="FF0000"/>
                </a:solidFill>
                <a:latin typeface="SimSun"/>
                <a:cs typeface="SimSun"/>
              </a:rPr>
              <a:t>CN</a:t>
            </a:r>
            <a:r>
              <a:rPr dirty="0" sz="700" spc="-15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Functions</a:t>
            </a:r>
            <a:endParaRPr sz="700">
              <a:latin typeface="SimSun"/>
              <a:cs typeface="SimSu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903408" y="2686481"/>
            <a:ext cx="845185" cy="200660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380"/>
              </a:spcBef>
            </a:pPr>
            <a:r>
              <a:rPr dirty="0" sz="700">
                <a:solidFill>
                  <a:srgbClr val="FF0000"/>
                </a:solidFill>
                <a:latin typeface="SimSun"/>
                <a:cs typeface="SimSun"/>
              </a:rPr>
              <a:t>CN</a:t>
            </a:r>
            <a:r>
              <a:rPr dirty="0" sz="700" spc="-15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Functions</a:t>
            </a:r>
            <a:endParaRPr sz="700">
              <a:latin typeface="SimSun"/>
              <a:cs typeface="SimSun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5109057" y="1069647"/>
            <a:ext cx="1071245" cy="2080260"/>
            <a:chOff x="5109057" y="1069647"/>
            <a:chExt cx="1071245" cy="2080260"/>
          </a:xfrm>
        </p:grpSpPr>
        <p:sp>
          <p:nvSpPr>
            <p:cNvPr id="49" name="object 49" descr=""/>
            <p:cNvSpPr/>
            <p:nvPr/>
          </p:nvSpPr>
          <p:spPr>
            <a:xfrm>
              <a:off x="5113821" y="1074409"/>
              <a:ext cx="1061720" cy="2070735"/>
            </a:xfrm>
            <a:custGeom>
              <a:avLst/>
              <a:gdLst/>
              <a:ahLst/>
              <a:cxnLst/>
              <a:rect l="l" t="t" r="r" b="b"/>
              <a:pathLst>
                <a:path w="1061720" h="2070735">
                  <a:moveTo>
                    <a:pt x="0" y="84518"/>
                  </a:moveTo>
                  <a:lnTo>
                    <a:pt x="6640" y="51622"/>
                  </a:lnTo>
                  <a:lnTo>
                    <a:pt x="24752" y="24757"/>
                  </a:lnTo>
                  <a:lnTo>
                    <a:pt x="51617" y="6642"/>
                  </a:lnTo>
                  <a:lnTo>
                    <a:pt x="84518" y="0"/>
                  </a:lnTo>
                  <a:lnTo>
                    <a:pt x="976845" y="0"/>
                  </a:lnTo>
                  <a:lnTo>
                    <a:pt x="1009747" y="6642"/>
                  </a:lnTo>
                  <a:lnTo>
                    <a:pt x="1036612" y="24757"/>
                  </a:lnTo>
                  <a:lnTo>
                    <a:pt x="1054723" y="51622"/>
                  </a:lnTo>
                  <a:lnTo>
                    <a:pt x="1061364" y="84518"/>
                  </a:lnTo>
                  <a:lnTo>
                    <a:pt x="1061364" y="1985898"/>
                  </a:lnTo>
                  <a:lnTo>
                    <a:pt x="1054723" y="2018794"/>
                  </a:lnTo>
                  <a:lnTo>
                    <a:pt x="1036612" y="2045660"/>
                  </a:lnTo>
                  <a:lnTo>
                    <a:pt x="1009747" y="2063774"/>
                  </a:lnTo>
                  <a:lnTo>
                    <a:pt x="976845" y="2070417"/>
                  </a:lnTo>
                  <a:lnTo>
                    <a:pt x="84518" y="2070417"/>
                  </a:lnTo>
                  <a:lnTo>
                    <a:pt x="51617" y="2063774"/>
                  </a:lnTo>
                  <a:lnTo>
                    <a:pt x="24752" y="2045660"/>
                  </a:lnTo>
                  <a:lnTo>
                    <a:pt x="6640" y="2018794"/>
                  </a:lnTo>
                  <a:lnTo>
                    <a:pt x="0" y="1985898"/>
                  </a:lnTo>
                  <a:lnTo>
                    <a:pt x="0" y="84518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113820" y="1075156"/>
              <a:ext cx="1061720" cy="215900"/>
            </a:xfrm>
            <a:custGeom>
              <a:avLst/>
              <a:gdLst/>
              <a:ahLst/>
              <a:cxnLst/>
              <a:rect l="l" t="t" r="r" b="b"/>
              <a:pathLst>
                <a:path w="1061720" h="215900">
                  <a:moveTo>
                    <a:pt x="0" y="0"/>
                  </a:moveTo>
                  <a:lnTo>
                    <a:pt x="1061364" y="0"/>
                  </a:lnTo>
                  <a:lnTo>
                    <a:pt x="1061364" y="215442"/>
                  </a:lnTo>
                  <a:lnTo>
                    <a:pt x="0" y="2154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5121904" y="1111981"/>
            <a:ext cx="10452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FF0000"/>
                </a:solidFill>
                <a:latin typeface="SimSun"/>
                <a:cs typeface="SimSun"/>
              </a:rPr>
              <a:t>运营商内业务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6444879" y="1069647"/>
            <a:ext cx="1071245" cy="2080260"/>
            <a:chOff x="6444879" y="1069647"/>
            <a:chExt cx="1071245" cy="2080260"/>
          </a:xfrm>
        </p:grpSpPr>
        <p:sp>
          <p:nvSpPr>
            <p:cNvPr id="53" name="object 53" descr=""/>
            <p:cNvSpPr/>
            <p:nvPr/>
          </p:nvSpPr>
          <p:spPr>
            <a:xfrm>
              <a:off x="6449641" y="1074409"/>
              <a:ext cx="1061720" cy="2070735"/>
            </a:xfrm>
            <a:custGeom>
              <a:avLst/>
              <a:gdLst/>
              <a:ahLst/>
              <a:cxnLst/>
              <a:rect l="l" t="t" r="r" b="b"/>
              <a:pathLst>
                <a:path w="1061720" h="2070735">
                  <a:moveTo>
                    <a:pt x="0" y="84518"/>
                  </a:moveTo>
                  <a:lnTo>
                    <a:pt x="6640" y="51622"/>
                  </a:lnTo>
                  <a:lnTo>
                    <a:pt x="24752" y="24757"/>
                  </a:lnTo>
                  <a:lnTo>
                    <a:pt x="51617" y="6642"/>
                  </a:lnTo>
                  <a:lnTo>
                    <a:pt x="84518" y="0"/>
                  </a:lnTo>
                  <a:lnTo>
                    <a:pt x="976845" y="0"/>
                  </a:lnTo>
                  <a:lnTo>
                    <a:pt x="1009747" y="6642"/>
                  </a:lnTo>
                  <a:lnTo>
                    <a:pt x="1036612" y="24757"/>
                  </a:lnTo>
                  <a:lnTo>
                    <a:pt x="1054723" y="51622"/>
                  </a:lnTo>
                  <a:lnTo>
                    <a:pt x="1061364" y="84518"/>
                  </a:lnTo>
                  <a:lnTo>
                    <a:pt x="1061364" y="1985898"/>
                  </a:lnTo>
                  <a:lnTo>
                    <a:pt x="1054723" y="2018794"/>
                  </a:lnTo>
                  <a:lnTo>
                    <a:pt x="1036612" y="2045660"/>
                  </a:lnTo>
                  <a:lnTo>
                    <a:pt x="1009747" y="2063774"/>
                  </a:lnTo>
                  <a:lnTo>
                    <a:pt x="976845" y="2070417"/>
                  </a:lnTo>
                  <a:lnTo>
                    <a:pt x="84518" y="2070417"/>
                  </a:lnTo>
                  <a:lnTo>
                    <a:pt x="51617" y="2063774"/>
                  </a:lnTo>
                  <a:lnTo>
                    <a:pt x="24752" y="2045660"/>
                  </a:lnTo>
                  <a:lnTo>
                    <a:pt x="6640" y="2018794"/>
                  </a:lnTo>
                  <a:lnTo>
                    <a:pt x="0" y="1985898"/>
                  </a:lnTo>
                  <a:lnTo>
                    <a:pt x="0" y="84518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449644" y="1075156"/>
              <a:ext cx="1061720" cy="215900"/>
            </a:xfrm>
            <a:custGeom>
              <a:avLst/>
              <a:gdLst/>
              <a:ahLst/>
              <a:cxnLst/>
              <a:rect l="l" t="t" r="r" b="b"/>
              <a:pathLst>
                <a:path w="1061720" h="215900">
                  <a:moveTo>
                    <a:pt x="0" y="0"/>
                  </a:moveTo>
                  <a:lnTo>
                    <a:pt x="1061364" y="0"/>
                  </a:lnTo>
                  <a:lnTo>
                    <a:pt x="1061364" y="215442"/>
                  </a:lnTo>
                  <a:lnTo>
                    <a:pt x="0" y="2154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6457724" y="1111981"/>
            <a:ext cx="10452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solidFill>
                  <a:srgbClr val="FF0000"/>
                </a:solidFill>
                <a:latin typeface="SimSun"/>
                <a:cs typeface="SimSun"/>
              </a:rPr>
              <a:t>O&amp;M</a:t>
            </a:r>
            <a:endParaRPr sz="800">
              <a:latin typeface="SimSun"/>
              <a:cs typeface="SimSun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5292674" y="1556128"/>
            <a:ext cx="778510" cy="1367155"/>
            <a:chOff x="5292674" y="1556128"/>
            <a:chExt cx="778510" cy="1367155"/>
          </a:xfrm>
        </p:grpSpPr>
        <p:sp>
          <p:nvSpPr>
            <p:cNvPr id="57" name="object 57" descr=""/>
            <p:cNvSpPr/>
            <p:nvPr/>
          </p:nvSpPr>
          <p:spPr>
            <a:xfrm>
              <a:off x="5297436" y="1560890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624509" y="0"/>
                  </a:moveTo>
                  <a:lnTo>
                    <a:pt x="121615" y="0"/>
                  </a:lnTo>
                  <a:lnTo>
                    <a:pt x="74275" y="9556"/>
                  </a:lnTo>
                  <a:lnTo>
                    <a:pt x="35618" y="35618"/>
                  </a:lnTo>
                  <a:lnTo>
                    <a:pt x="9556" y="74275"/>
                  </a:lnTo>
                  <a:lnTo>
                    <a:pt x="0" y="121615"/>
                  </a:lnTo>
                  <a:lnTo>
                    <a:pt x="9556" y="168955"/>
                  </a:lnTo>
                  <a:lnTo>
                    <a:pt x="35618" y="207611"/>
                  </a:lnTo>
                  <a:lnTo>
                    <a:pt x="74275" y="233673"/>
                  </a:lnTo>
                  <a:lnTo>
                    <a:pt x="121615" y="243230"/>
                  </a:lnTo>
                  <a:lnTo>
                    <a:pt x="624509" y="243230"/>
                  </a:lnTo>
                  <a:lnTo>
                    <a:pt x="671849" y="233673"/>
                  </a:lnTo>
                  <a:lnTo>
                    <a:pt x="710506" y="207611"/>
                  </a:lnTo>
                  <a:lnTo>
                    <a:pt x="736568" y="168955"/>
                  </a:lnTo>
                  <a:lnTo>
                    <a:pt x="746125" y="121615"/>
                  </a:lnTo>
                  <a:lnTo>
                    <a:pt x="736568" y="74275"/>
                  </a:lnTo>
                  <a:lnTo>
                    <a:pt x="710506" y="35618"/>
                  </a:lnTo>
                  <a:lnTo>
                    <a:pt x="671849" y="9556"/>
                  </a:lnTo>
                  <a:lnTo>
                    <a:pt x="624509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297436" y="1560890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0" y="121615"/>
                  </a:moveTo>
                  <a:lnTo>
                    <a:pt x="9556" y="74275"/>
                  </a:lnTo>
                  <a:lnTo>
                    <a:pt x="35618" y="35618"/>
                  </a:lnTo>
                  <a:lnTo>
                    <a:pt x="74275" y="9556"/>
                  </a:lnTo>
                  <a:lnTo>
                    <a:pt x="121615" y="0"/>
                  </a:lnTo>
                  <a:lnTo>
                    <a:pt x="624509" y="0"/>
                  </a:lnTo>
                  <a:lnTo>
                    <a:pt x="671849" y="9556"/>
                  </a:lnTo>
                  <a:lnTo>
                    <a:pt x="710506" y="35618"/>
                  </a:lnTo>
                  <a:lnTo>
                    <a:pt x="736568" y="74275"/>
                  </a:lnTo>
                  <a:lnTo>
                    <a:pt x="746125" y="121615"/>
                  </a:lnTo>
                  <a:lnTo>
                    <a:pt x="736568" y="168955"/>
                  </a:lnTo>
                  <a:lnTo>
                    <a:pt x="710506" y="207611"/>
                  </a:lnTo>
                  <a:lnTo>
                    <a:pt x="671849" y="233673"/>
                  </a:lnTo>
                  <a:lnTo>
                    <a:pt x="624509" y="243230"/>
                  </a:lnTo>
                  <a:lnTo>
                    <a:pt x="121615" y="243230"/>
                  </a:lnTo>
                  <a:lnTo>
                    <a:pt x="74275" y="233673"/>
                  </a:lnTo>
                  <a:lnTo>
                    <a:pt x="35618" y="207611"/>
                  </a:lnTo>
                  <a:lnTo>
                    <a:pt x="9556" y="168955"/>
                  </a:lnTo>
                  <a:lnTo>
                    <a:pt x="0" y="121615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297436" y="2087905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624509" y="0"/>
                  </a:moveTo>
                  <a:lnTo>
                    <a:pt x="121615" y="0"/>
                  </a:lnTo>
                  <a:lnTo>
                    <a:pt x="74275" y="9556"/>
                  </a:lnTo>
                  <a:lnTo>
                    <a:pt x="35618" y="35618"/>
                  </a:lnTo>
                  <a:lnTo>
                    <a:pt x="9556" y="74275"/>
                  </a:lnTo>
                  <a:lnTo>
                    <a:pt x="0" y="121615"/>
                  </a:lnTo>
                  <a:lnTo>
                    <a:pt x="9556" y="168955"/>
                  </a:lnTo>
                  <a:lnTo>
                    <a:pt x="35618" y="207611"/>
                  </a:lnTo>
                  <a:lnTo>
                    <a:pt x="74275" y="233673"/>
                  </a:lnTo>
                  <a:lnTo>
                    <a:pt x="121615" y="243230"/>
                  </a:lnTo>
                  <a:lnTo>
                    <a:pt x="624509" y="243230"/>
                  </a:lnTo>
                  <a:lnTo>
                    <a:pt x="671849" y="233673"/>
                  </a:lnTo>
                  <a:lnTo>
                    <a:pt x="710506" y="207611"/>
                  </a:lnTo>
                  <a:lnTo>
                    <a:pt x="736568" y="168955"/>
                  </a:lnTo>
                  <a:lnTo>
                    <a:pt x="746125" y="121615"/>
                  </a:lnTo>
                  <a:lnTo>
                    <a:pt x="736568" y="74275"/>
                  </a:lnTo>
                  <a:lnTo>
                    <a:pt x="710506" y="35618"/>
                  </a:lnTo>
                  <a:lnTo>
                    <a:pt x="671849" y="9556"/>
                  </a:lnTo>
                  <a:lnTo>
                    <a:pt x="624509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297436" y="2087905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0" y="121615"/>
                  </a:moveTo>
                  <a:lnTo>
                    <a:pt x="9556" y="74275"/>
                  </a:lnTo>
                  <a:lnTo>
                    <a:pt x="35618" y="35618"/>
                  </a:lnTo>
                  <a:lnTo>
                    <a:pt x="74275" y="9556"/>
                  </a:lnTo>
                  <a:lnTo>
                    <a:pt x="121615" y="0"/>
                  </a:lnTo>
                  <a:lnTo>
                    <a:pt x="624509" y="0"/>
                  </a:lnTo>
                  <a:lnTo>
                    <a:pt x="671849" y="9556"/>
                  </a:lnTo>
                  <a:lnTo>
                    <a:pt x="710506" y="35618"/>
                  </a:lnTo>
                  <a:lnTo>
                    <a:pt x="736568" y="74275"/>
                  </a:lnTo>
                  <a:lnTo>
                    <a:pt x="746125" y="121615"/>
                  </a:lnTo>
                  <a:lnTo>
                    <a:pt x="736568" y="168955"/>
                  </a:lnTo>
                  <a:lnTo>
                    <a:pt x="710506" y="207611"/>
                  </a:lnTo>
                  <a:lnTo>
                    <a:pt x="671849" y="233673"/>
                  </a:lnTo>
                  <a:lnTo>
                    <a:pt x="624509" y="243230"/>
                  </a:lnTo>
                  <a:lnTo>
                    <a:pt x="121615" y="243230"/>
                  </a:lnTo>
                  <a:lnTo>
                    <a:pt x="74275" y="233673"/>
                  </a:lnTo>
                  <a:lnTo>
                    <a:pt x="35618" y="207611"/>
                  </a:lnTo>
                  <a:lnTo>
                    <a:pt x="9556" y="168955"/>
                  </a:lnTo>
                  <a:lnTo>
                    <a:pt x="0" y="121615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319947" y="2675270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624509" y="0"/>
                  </a:moveTo>
                  <a:lnTo>
                    <a:pt x="121615" y="0"/>
                  </a:lnTo>
                  <a:lnTo>
                    <a:pt x="74275" y="9556"/>
                  </a:lnTo>
                  <a:lnTo>
                    <a:pt x="35618" y="35618"/>
                  </a:lnTo>
                  <a:lnTo>
                    <a:pt x="9556" y="74275"/>
                  </a:lnTo>
                  <a:lnTo>
                    <a:pt x="0" y="121615"/>
                  </a:lnTo>
                  <a:lnTo>
                    <a:pt x="9556" y="168955"/>
                  </a:lnTo>
                  <a:lnTo>
                    <a:pt x="35618" y="207611"/>
                  </a:lnTo>
                  <a:lnTo>
                    <a:pt x="74275" y="233673"/>
                  </a:lnTo>
                  <a:lnTo>
                    <a:pt x="121615" y="243230"/>
                  </a:lnTo>
                  <a:lnTo>
                    <a:pt x="624509" y="243230"/>
                  </a:lnTo>
                  <a:lnTo>
                    <a:pt x="671849" y="233673"/>
                  </a:lnTo>
                  <a:lnTo>
                    <a:pt x="710506" y="207611"/>
                  </a:lnTo>
                  <a:lnTo>
                    <a:pt x="736568" y="168955"/>
                  </a:lnTo>
                  <a:lnTo>
                    <a:pt x="746125" y="121615"/>
                  </a:lnTo>
                  <a:lnTo>
                    <a:pt x="736568" y="74275"/>
                  </a:lnTo>
                  <a:lnTo>
                    <a:pt x="710506" y="35618"/>
                  </a:lnTo>
                  <a:lnTo>
                    <a:pt x="671849" y="9556"/>
                  </a:lnTo>
                  <a:lnTo>
                    <a:pt x="624509" y="0"/>
                  </a:lnTo>
                  <a:close/>
                </a:path>
              </a:pathLst>
            </a:custGeom>
            <a:solidFill>
              <a:srgbClr val="6AA2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319947" y="2675270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0" y="121615"/>
                  </a:moveTo>
                  <a:lnTo>
                    <a:pt x="9556" y="74275"/>
                  </a:lnTo>
                  <a:lnTo>
                    <a:pt x="35618" y="35618"/>
                  </a:lnTo>
                  <a:lnTo>
                    <a:pt x="74275" y="9556"/>
                  </a:lnTo>
                  <a:lnTo>
                    <a:pt x="121615" y="0"/>
                  </a:lnTo>
                  <a:lnTo>
                    <a:pt x="624509" y="0"/>
                  </a:lnTo>
                  <a:lnTo>
                    <a:pt x="671849" y="9556"/>
                  </a:lnTo>
                  <a:lnTo>
                    <a:pt x="710506" y="35618"/>
                  </a:lnTo>
                  <a:lnTo>
                    <a:pt x="736568" y="74275"/>
                  </a:lnTo>
                  <a:lnTo>
                    <a:pt x="746125" y="121615"/>
                  </a:lnTo>
                  <a:lnTo>
                    <a:pt x="736568" y="168955"/>
                  </a:lnTo>
                  <a:lnTo>
                    <a:pt x="710506" y="207611"/>
                  </a:lnTo>
                  <a:lnTo>
                    <a:pt x="671849" y="233673"/>
                  </a:lnTo>
                  <a:lnTo>
                    <a:pt x="624509" y="243230"/>
                  </a:lnTo>
                  <a:lnTo>
                    <a:pt x="121615" y="243230"/>
                  </a:lnTo>
                  <a:lnTo>
                    <a:pt x="74275" y="233673"/>
                  </a:lnTo>
                  <a:lnTo>
                    <a:pt x="35618" y="207611"/>
                  </a:lnTo>
                  <a:lnTo>
                    <a:pt x="9556" y="168955"/>
                  </a:lnTo>
                  <a:lnTo>
                    <a:pt x="0" y="121615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5248186" y="1600111"/>
            <a:ext cx="845185" cy="169545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259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Services</a:t>
            </a:r>
            <a:endParaRPr sz="700">
              <a:latin typeface="SimSun"/>
              <a:cs typeface="SimSun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247601" y="2132406"/>
            <a:ext cx="845185" cy="169545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259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Services</a:t>
            </a:r>
            <a:endParaRPr sz="700">
              <a:latin typeface="SimSun"/>
              <a:cs typeface="SimSun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5260721" y="2711589"/>
            <a:ext cx="845185" cy="169545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259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Services</a:t>
            </a:r>
            <a:endParaRPr sz="700">
              <a:latin typeface="SimSun"/>
              <a:cs typeface="SimSun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6606631" y="1562933"/>
            <a:ext cx="755650" cy="253365"/>
            <a:chOff x="6606631" y="1562933"/>
            <a:chExt cx="755650" cy="253365"/>
          </a:xfrm>
        </p:grpSpPr>
        <p:sp>
          <p:nvSpPr>
            <p:cNvPr id="67" name="object 67" descr=""/>
            <p:cNvSpPr/>
            <p:nvPr/>
          </p:nvSpPr>
          <p:spPr>
            <a:xfrm>
              <a:off x="6611394" y="1567695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746125" y="0"/>
                  </a:moveTo>
                  <a:lnTo>
                    <a:pt x="60807" y="0"/>
                  </a:lnTo>
                  <a:lnTo>
                    <a:pt x="0" y="243243"/>
                  </a:lnTo>
                  <a:lnTo>
                    <a:pt x="685317" y="243243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611394" y="1567695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0" y="243243"/>
                  </a:moveTo>
                  <a:lnTo>
                    <a:pt x="60807" y="0"/>
                  </a:lnTo>
                  <a:lnTo>
                    <a:pt x="746125" y="0"/>
                  </a:lnTo>
                  <a:lnTo>
                    <a:pt x="685317" y="243243"/>
                  </a:lnTo>
                  <a:lnTo>
                    <a:pt x="0" y="243243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6558013" y="1606918"/>
            <a:ext cx="845185" cy="169545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259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Management</a:t>
            </a:r>
            <a:endParaRPr sz="700">
              <a:latin typeface="SimSun"/>
              <a:cs typeface="SimSun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6620478" y="2116678"/>
            <a:ext cx="778510" cy="840740"/>
            <a:chOff x="6620478" y="2116678"/>
            <a:chExt cx="778510" cy="840740"/>
          </a:xfrm>
        </p:grpSpPr>
        <p:sp>
          <p:nvSpPr>
            <p:cNvPr id="71" name="object 71" descr=""/>
            <p:cNvSpPr/>
            <p:nvPr/>
          </p:nvSpPr>
          <p:spPr>
            <a:xfrm>
              <a:off x="6625240" y="2121441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746125" y="0"/>
                  </a:moveTo>
                  <a:lnTo>
                    <a:pt x="60807" y="0"/>
                  </a:lnTo>
                  <a:lnTo>
                    <a:pt x="0" y="243243"/>
                  </a:lnTo>
                  <a:lnTo>
                    <a:pt x="685317" y="243243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625240" y="2121441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0" y="243243"/>
                  </a:moveTo>
                  <a:lnTo>
                    <a:pt x="60807" y="0"/>
                  </a:lnTo>
                  <a:lnTo>
                    <a:pt x="746125" y="0"/>
                  </a:lnTo>
                  <a:lnTo>
                    <a:pt x="685317" y="243243"/>
                  </a:lnTo>
                  <a:lnTo>
                    <a:pt x="0" y="243243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647750" y="2708805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746125" y="0"/>
                  </a:moveTo>
                  <a:lnTo>
                    <a:pt x="60807" y="0"/>
                  </a:lnTo>
                  <a:lnTo>
                    <a:pt x="0" y="243243"/>
                  </a:lnTo>
                  <a:lnTo>
                    <a:pt x="685317" y="243243"/>
                  </a:lnTo>
                  <a:lnTo>
                    <a:pt x="746125" y="0"/>
                  </a:lnTo>
                  <a:close/>
                </a:path>
              </a:pathLst>
            </a:custGeom>
            <a:solidFill>
              <a:srgbClr val="6AA2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647750" y="2708805"/>
              <a:ext cx="746125" cy="243840"/>
            </a:xfrm>
            <a:custGeom>
              <a:avLst/>
              <a:gdLst/>
              <a:ahLst/>
              <a:cxnLst/>
              <a:rect l="l" t="t" r="r" b="b"/>
              <a:pathLst>
                <a:path w="746125" h="243839">
                  <a:moveTo>
                    <a:pt x="0" y="243243"/>
                  </a:moveTo>
                  <a:lnTo>
                    <a:pt x="60807" y="0"/>
                  </a:lnTo>
                  <a:lnTo>
                    <a:pt x="746125" y="0"/>
                  </a:lnTo>
                  <a:lnTo>
                    <a:pt x="685317" y="243243"/>
                  </a:lnTo>
                  <a:lnTo>
                    <a:pt x="0" y="243243"/>
                  </a:lnTo>
                  <a:close/>
                </a:path>
              </a:pathLst>
            </a:custGeom>
            <a:ln w="9525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6575399" y="2165959"/>
            <a:ext cx="845185" cy="169545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259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Management</a:t>
            </a:r>
            <a:endParaRPr sz="700">
              <a:latin typeface="SimSun"/>
              <a:cs typeface="SimSu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6588518" y="2745143"/>
            <a:ext cx="845185" cy="169545"/>
          </a:xfrm>
          <a:prstGeom prst="rect">
            <a:avLst/>
          </a:prstGeom>
          <a:ln w="9525">
            <a:solidFill>
              <a:srgbClr val="8A3CC4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259"/>
              </a:spcBef>
            </a:pPr>
            <a:r>
              <a:rPr dirty="0" sz="700" spc="-10">
                <a:solidFill>
                  <a:srgbClr val="FF0000"/>
                </a:solidFill>
                <a:latin typeface="SimSun"/>
                <a:cs typeface="SimSun"/>
              </a:rPr>
              <a:t>Management</a:t>
            </a:r>
            <a:endParaRPr sz="700">
              <a:latin typeface="SimSun"/>
              <a:cs typeface="SimSun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2711364" y="3214949"/>
            <a:ext cx="3543300" cy="300355"/>
            <a:chOff x="2711364" y="3214949"/>
            <a:chExt cx="3543300" cy="300355"/>
          </a:xfrm>
        </p:grpSpPr>
        <p:sp>
          <p:nvSpPr>
            <p:cNvPr id="78" name="object 78" descr=""/>
            <p:cNvSpPr/>
            <p:nvPr/>
          </p:nvSpPr>
          <p:spPr>
            <a:xfrm>
              <a:off x="2716127" y="3219711"/>
              <a:ext cx="3533775" cy="290830"/>
            </a:xfrm>
            <a:custGeom>
              <a:avLst/>
              <a:gdLst/>
              <a:ahLst/>
              <a:cxnLst/>
              <a:rect l="l" t="t" r="r" b="b"/>
              <a:pathLst>
                <a:path w="3533775" h="290829">
                  <a:moveTo>
                    <a:pt x="3349548" y="0"/>
                  </a:moveTo>
                  <a:lnTo>
                    <a:pt x="3349548" y="59677"/>
                  </a:lnTo>
                  <a:lnTo>
                    <a:pt x="183921" y="59677"/>
                  </a:lnTo>
                  <a:lnTo>
                    <a:pt x="183921" y="0"/>
                  </a:lnTo>
                  <a:lnTo>
                    <a:pt x="0" y="145186"/>
                  </a:lnTo>
                  <a:lnTo>
                    <a:pt x="183921" y="290360"/>
                  </a:lnTo>
                  <a:lnTo>
                    <a:pt x="183921" y="230695"/>
                  </a:lnTo>
                  <a:lnTo>
                    <a:pt x="3349548" y="230695"/>
                  </a:lnTo>
                  <a:lnTo>
                    <a:pt x="3349548" y="290360"/>
                  </a:lnTo>
                  <a:lnTo>
                    <a:pt x="3533470" y="145186"/>
                  </a:lnTo>
                  <a:lnTo>
                    <a:pt x="3349548" y="0"/>
                  </a:lnTo>
                  <a:close/>
                </a:path>
              </a:pathLst>
            </a:custGeom>
            <a:solidFill>
              <a:srgbClr val="D6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716127" y="3219711"/>
              <a:ext cx="3533775" cy="290830"/>
            </a:xfrm>
            <a:custGeom>
              <a:avLst/>
              <a:gdLst/>
              <a:ahLst/>
              <a:cxnLst/>
              <a:rect l="l" t="t" r="r" b="b"/>
              <a:pathLst>
                <a:path w="3533775" h="290829">
                  <a:moveTo>
                    <a:pt x="0" y="145186"/>
                  </a:moveTo>
                  <a:lnTo>
                    <a:pt x="183921" y="0"/>
                  </a:lnTo>
                  <a:lnTo>
                    <a:pt x="183921" y="59677"/>
                  </a:lnTo>
                  <a:lnTo>
                    <a:pt x="3349548" y="59677"/>
                  </a:lnTo>
                  <a:lnTo>
                    <a:pt x="3349548" y="0"/>
                  </a:lnTo>
                  <a:lnTo>
                    <a:pt x="3533470" y="145186"/>
                  </a:lnTo>
                  <a:lnTo>
                    <a:pt x="3349548" y="290360"/>
                  </a:lnTo>
                  <a:lnTo>
                    <a:pt x="3349548" y="230695"/>
                  </a:lnTo>
                  <a:lnTo>
                    <a:pt x="183921" y="230695"/>
                  </a:lnTo>
                  <a:lnTo>
                    <a:pt x="183921" y="290360"/>
                  </a:lnTo>
                  <a:lnTo>
                    <a:pt x="0" y="145186"/>
                  </a:lnTo>
                  <a:close/>
                </a:path>
              </a:pathLst>
            </a:custGeom>
            <a:ln w="9524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4241686" y="3287428"/>
            <a:ext cx="482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">
                <a:solidFill>
                  <a:srgbClr val="FF0000"/>
                </a:solidFill>
                <a:latin typeface="SimSun"/>
                <a:cs typeface="SimSun"/>
              </a:rPr>
              <a:t>传输资源</a:t>
            </a:r>
            <a:endParaRPr sz="900">
              <a:latin typeface="SimSun"/>
              <a:cs typeface="SimSun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5368848" y="3326701"/>
            <a:ext cx="581660" cy="89535"/>
            <a:chOff x="5368848" y="3326701"/>
            <a:chExt cx="581660" cy="89535"/>
          </a:xfrm>
        </p:grpSpPr>
        <p:sp>
          <p:nvSpPr>
            <p:cNvPr id="82" name="object 82" descr=""/>
            <p:cNvSpPr/>
            <p:nvPr/>
          </p:nvSpPr>
          <p:spPr>
            <a:xfrm>
              <a:off x="5381548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49834" y="0"/>
                  </a:moveTo>
                  <a:lnTo>
                    <a:pt x="0" y="0"/>
                  </a:lnTo>
                  <a:lnTo>
                    <a:pt x="0" y="63576"/>
                  </a:lnTo>
                  <a:lnTo>
                    <a:pt x="49834" y="63576"/>
                  </a:lnTo>
                  <a:lnTo>
                    <a:pt x="49834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381548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0" y="0"/>
                  </a:moveTo>
                  <a:lnTo>
                    <a:pt x="49834" y="0"/>
                  </a:lnTo>
                  <a:lnTo>
                    <a:pt x="49834" y="63576"/>
                  </a:lnTo>
                  <a:lnTo>
                    <a:pt x="0" y="635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482780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49834" y="0"/>
                  </a:moveTo>
                  <a:lnTo>
                    <a:pt x="0" y="0"/>
                  </a:lnTo>
                  <a:lnTo>
                    <a:pt x="0" y="63576"/>
                  </a:lnTo>
                  <a:lnTo>
                    <a:pt x="49834" y="63576"/>
                  </a:lnTo>
                  <a:lnTo>
                    <a:pt x="49834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482780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0" y="0"/>
                  </a:moveTo>
                  <a:lnTo>
                    <a:pt x="49834" y="0"/>
                  </a:lnTo>
                  <a:lnTo>
                    <a:pt x="49834" y="63576"/>
                  </a:lnTo>
                  <a:lnTo>
                    <a:pt x="0" y="635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584012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49834" y="0"/>
                  </a:moveTo>
                  <a:lnTo>
                    <a:pt x="0" y="0"/>
                  </a:lnTo>
                  <a:lnTo>
                    <a:pt x="0" y="63576"/>
                  </a:lnTo>
                  <a:lnTo>
                    <a:pt x="49834" y="63576"/>
                  </a:lnTo>
                  <a:lnTo>
                    <a:pt x="49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584012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0" y="0"/>
                  </a:moveTo>
                  <a:lnTo>
                    <a:pt x="49834" y="0"/>
                  </a:lnTo>
                  <a:lnTo>
                    <a:pt x="49834" y="63576"/>
                  </a:lnTo>
                  <a:lnTo>
                    <a:pt x="0" y="635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685256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49834" y="0"/>
                  </a:moveTo>
                  <a:lnTo>
                    <a:pt x="0" y="0"/>
                  </a:lnTo>
                  <a:lnTo>
                    <a:pt x="0" y="63576"/>
                  </a:lnTo>
                  <a:lnTo>
                    <a:pt x="49834" y="63576"/>
                  </a:lnTo>
                  <a:lnTo>
                    <a:pt x="49834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685256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0" y="0"/>
                  </a:moveTo>
                  <a:lnTo>
                    <a:pt x="49834" y="0"/>
                  </a:lnTo>
                  <a:lnTo>
                    <a:pt x="49834" y="63576"/>
                  </a:lnTo>
                  <a:lnTo>
                    <a:pt x="0" y="635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786488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49834" y="0"/>
                  </a:moveTo>
                  <a:lnTo>
                    <a:pt x="0" y="0"/>
                  </a:lnTo>
                  <a:lnTo>
                    <a:pt x="0" y="63576"/>
                  </a:lnTo>
                  <a:lnTo>
                    <a:pt x="49834" y="63576"/>
                  </a:lnTo>
                  <a:lnTo>
                    <a:pt x="49834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786488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0" y="0"/>
                  </a:moveTo>
                  <a:lnTo>
                    <a:pt x="49834" y="0"/>
                  </a:lnTo>
                  <a:lnTo>
                    <a:pt x="49834" y="63576"/>
                  </a:lnTo>
                  <a:lnTo>
                    <a:pt x="0" y="635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887732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49834" y="0"/>
                  </a:moveTo>
                  <a:lnTo>
                    <a:pt x="0" y="0"/>
                  </a:lnTo>
                  <a:lnTo>
                    <a:pt x="0" y="63576"/>
                  </a:lnTo>
                  <a:lnTo>
                    <a:pt x="49834" y="63576"/>
                  </a:lnTo>
                  <a:lnTo>
                    <a:pt x="49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887732" y="3339401"/>
              <a:ext cx="50165" cy="64135"/>
            </a:xfrm>
            <a:custGeom>
              <a:avLst/>
              <a:gdLst/>
              <a:ahLst/>
              <a:cxnLst/>
              <a:rect l="l" t="t" r="r" b="b"/>
              <a:pathLst>
                <a:path w="50164" h="64135">
                  <a:moveTo>
                    <a:pt x="0" y="0"/>
                  </a:moveTo>
                  <a:lnTo>
                    <a:pt x="49834" y="0"/>
                  </a:lnTo>
                  <a:lnTo>
                    <a:pt x="49834" y="63576"/>
                  </a:lnTo>
                  <a:lnTo>
                    <a:pt x="0" y="635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A3C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627125" y="1496567"/>
            <a:ext cx="539750" cy="1750695"/>
            <a:chOff x="627125" y="1496567"/>
            <a:chExt cx="539750" cy="1750695"/>
          </a:xfrm>
        </p:grpSpPr>
        <p:pic>
          <p:nvPicPr>
            <p:cNvPr id="95" name="object 9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125" y="1496567"/>
              <a:ext cx="539495" cy="378713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5" y="1770888"/>
              <a:ext cx="539495" cy="37871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125" y="2045207"/>
              <a:ext cx="539495" cy="378713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125" y="2319527"/>
              <a:ext cx="539495" cy="378713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125" y="2593847"/>
              <a:ext cx="539495" cy="378713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125" y="2868167"/>
              <a:ext cx="539495" cy="378713"/>
            </a:xfrm>
            <a:prstGeom prst="rect">
              <a:avLst/>
            </a:prstGeom>
          </p:spPr>
        </p:pic>
      </p:grpSp>
      <p:sp>
        <p:nvSpPr>
          <p:cNvPr id="101" name="object 101" descr=""/>
          <p:cNvSpPr txBox="1"/>
          <p:nvPr/>
        </p:nvSpPr>
        <p:spPr>
          <a:xfrm>
            <a:off x="706247" y="1540675"/>
            <a:ext cx="369570" cy="1731645"/>
          </a:xfrm>
          <a:prstGeom prst="rect">
            <a:avLst/>
          </a:prstGeom>
          <a:ln w="25400">
            <a:solidFill>
              <a:srgbClr val="DAEDEF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algn="just" marL="68580" marR="64135">
              <a:lnSpc>
                <a:spcPct val="100000"/>
              </a:lnSpc>
              <a:spcBef>
                <a:spcPts val="204"/>
              </a:spcBef>
            </a:pPr>
            <a:r>
              <a:rPr dirty="0" sz="1800" spc="-50">
                <a:latin typeface="Microsoft YaHei"/>
                <a:cs typeface="Microsoft YaHei"/>
              </a:rPr>
              <a:t>应用场景举例</a:t>
            </a:r>
            <a:endParaRPr sz="1800">
              <a:latin typeface="Microsoft YaHei"/>
              <a:cs typeface="Microsoft YaHei"/>
            </a:endParaRPr>
          </a:p>
        </p:txBody>
      </p:sp>
      <p:pic>
        <p:nvPicPr>
          <p:cNvPr id="102" name="object 10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8675" y="4443984"/>
            <a:ext cx="5786615" cy="319277"/>
          </a:xfrm>
          <a:prstGeom prst="rect">
            <a:avLst/>
          </a:prstGeom>
        </p:spPr>
      </p:pic>
      <p:sp>
        <p:nvSpPr>
          <p:cNvPr id="103" name="object 103" descr=""/>
          <p:cNvSpPr txBox="1"/>
          <p:nvPr/>
        </p:nvSpPr>
        <p:spPr>
          <a:xfrm>
            <a:off x="1427680" y="3518858"/>
            <a:ext cx="6264275" cy="1226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7815" marR="5080" indent="-285750">
              <a:lnSpc>
                <a:spcPct val="140000"/>
              </a:lnSpc>
              <a:spcBef>
                <a:spcPts val="100"/>
              </a:spcBef>
            </a:pPr>
            <a:r>
              <a:rPr dirty="0" sz="1400" spc="80">
                <a:latin typeface="Microsoft YaHei"/>
                <a:cs typeface="Microsoft YaHei"/>
              </a:rPr>
              <a:t>– 端到端</a:t>
            </a:r>
            <a:r>
              <a:rPr dirty="0" sz="1400" spc="-20">
                <a:latin typeface="Microsoft YaHei"/>
                <a:cs typeface="Microsoft YaHei"/>
              </a:rPr>
              <a:t>5G网络切片需要考虑提供业务的所有资源域，包括</a:t>
            </a:r>
            <a:r>
              <a:rPr dirty="0" sz="1400" spc="-10">
                <a:latin typeface="Microsoft YaHei"/>
                <a:cs typeface="Microsoft YaHei"/>
              </a:rPr>
              <a:t>RAN</a:t>
            </a:r>
            <a:r>
              <a:rPr dirty="0" sz="1400" spc="-25">
                <a:latin typeface="Microsoft YaHei"/>
                <a:cs typeface="Microsoft YaHei"/>
              </a:rPr>
              <a:t>资源，核心网</a:t>
            </a:r>
            <a:r>
              <a:rPr dirty="0" sz="1400" spc="-20">
                <a:latin typeface="Microsoft YaHei"/>
                <a:cs typeface="Microsoft YaHei"/>
              </a:rPr>
              <a:t>功能网元+运营商域内服务</a:t>
            </a:r>
            <a:r>
              <a:rPr dirty="0" sz="1400" spc="-10">
                <a:latin typeface="Microsoft YaHei"/>
                <a:cs typeface="Microsoft YaHei"/>
              </a:rPr>
              <a:t>（Gi-LAN</a:t>
            </a:r>
            <a:r>
              <a:rPr dirty="0" sz="1400" spc="-20">
                <a:latin typeface="Microsoft YaHei"/>
                <a:cs typeface="Microsoft YaHei"/>
              </a:rPr>
              <a:t>和MEC），</a:t>
            </a:r>
            <a:r>
              <a:rPr dirty="0" sz="1400" spc="-25">
                <a:latin typeface="Microsoft YaHei"/>
                <a:cs typeface="Microsoft YaHei"/>
              </a:rPr>
              <a:t>网络运营管理系统及底层传</a:t>
            </a:r>
            <a:r>
              <a:rPr dirty="0" sz="1400" spc="-30">
                <a:latin typeface="Microsoft YaHei"/>
                <a:cs typeface="Microsoft YaHei"/>
              </a:rPr>
              <a:t>输资源。</a:t>
            </a:r>
            <a:endParaRPr sz="1400">
              <a:latin typeface="Microsoft YaHei"/>
              <a:cs typeface="Microsoft YaHei"/>
            </a:endParaRPr>
          </a:p>
          <a:p>
            <a:pPr marL="294640">
              <a:lnSpc>
                <a:spcPct val="100000"/>
              </a:lnSpc>
              <a:spcBef>
                <a:spcPts val="600"/>
              </a:spcBef>
            </a:pPr>
            <a:r>
              <a:rPr dirty="0" sz="1500" spc="-5">
                <a:latin typeface="Microsoft YaHei"/>
                <a:cs typeface="Microsoft YaHei"/>
              </a:rPr>
              <a:t>端到端切片：更低网络时延，更快业务上线，更好的用户业务体验</a:t>
            </a:r>
            <a:endParaRPr sz="15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76095" y="4118254"/>
            <a:ext cx="3834765" cy="815975"/>
          </a:xfrm>
          <a:prstGeom prst="rect">
            <a:avLst/>
          </a:prstGeom>
          <a:ln w="12700">
            <a:solidFill>
              <a:srgbClr val="87D2B9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810895" indent="-285750">
              <a:lnSpc>
                <a:spcPct val="100000"/>
              </a:lnSpc>
              <a:spcBef>
                <a:spcPts val="310"/>
              </a:spcBef>
              <a:buClr>
                <a:srgbClr val="800080"/>
              </a:buClr>
              <a:buFont typeface="Wingdings"/>
              <a:buChar char=""/>
              <a:tabLst>
                <a:tab pos="810895" algn="l"/>
              </a:tabLst>
            </a:pPr>
            <a:r>
              <a:rPr dirty="0" sz="1000" spc="-10">
                <a:latin typeface="SimSun"/>
                <a:cs typeface="SimSun"/>
              </a:rPr>
              <a:t>网络切片的部署</a:t>
            </a:r>
            <a:endParaRPr sz="1000">
              <a:latin typeface="SimSun"/>
              <a:cs typeface="SimSun"/>
            </a:endParaRPr>
          </a:p>
          <a:p>
            <a:pPr marL="810895" indent="-285750">
              <a:lnSpc>
                <a:spcPct val="100000"/>
              </a:lnSpc>
              <a:spcBef>
                <a:spcPts val="300"/>
              </a:spcBef>
              <a:buClr>
                <a:srgbClr val="800080"/>
              </a:buClr>
              <a:buFont typeface="Wingdings"/>
              <a:buChar char=""/>
              <a:tabLst>
                <a:tab pos="810895" algn="l"/>
              </a:tabLst>
            </a:pPr>
            <a:r>
              <a:rPr dirty="0" sz="1000" spc="-10">
                <a:latin typeface="SimSun"/>
                <a:cs typeface="SimSun"/>
              </a:rPr>
              <a:t>网络切片管理与编排</a:t>
            </a:r>
            <a:endParaRPr sz="1000">
              <a:latin typeface="SimSun"/>
              <a:cs typeface="SimSun"/>
            </a:endParaRPr>
          </a:p>
          <a:p>
            <a:pPr marL="810895" indent="-285750">
              <a:lnSpc>
                <a:spcPct val="100000"/>
              </a:lnSpc>
              <a:spcBef>
                <a:spcPts val="300"/>
              </a:spcBef>
              <a:buClr>
                <a:srgbClr val="800080"/>
              </a:buClr>
              <a:buFont typeface="Wingdings"/>
              <a:buChar char=""/>
              <a:tabLst>
                <a:tab pos="810895" algn="l"/>
              </a:tabLst>
            </a:pPr>
            <a:r>
              <a:rPr dirty="0" sz="1000" spc="-10">
                <a:latin typeface="SimSun"/>
                <a:cs typeface="SimSun"/>
              </a:rPr>
              <a:t>网络切片的选择</a:t>
            </a:r>
            <a:endParaRPr sz="1000">
              <a:latin typeface="SimSun"/>
              <a:cs typeface="SimSun"/>
            </a:endParaRPr>
          </a:p>
          <a:p>
            <a:pPr marL="810895" indent="-285750">
              <a:lnSpc>
                <a:spcPct val="100000"/>
              </a:lnSpc>
              <a:spcBef>
                <a:spcPts val="300"/>
              </a:spcBef>
              <a:buClr>
                <a:srgbClr val="800080"/>
              </a:buClr>
              <a:buFont typeface="Wingdings"/>
              <a:buChar char=""/>
              <a:tabLst>
                <a:tab pos="810895" algn="l"/>
              </a:tabLst>
            </a:pPr>
            <a:r>
              <a:rPr dirty="0" sz="1000" spc="-10">
                <a:latin typeface="SimSun"/>
                <a:cs typeface="SimSun"/>
              </a:rPr>
              <a:t>网络切片的隔离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953000" y="819150"/>
            <a:ext cx="3886200" cy="307975"/>
          </a:xfrm>
          <a:custGeom>
            <a:avLst/>
            <a:gdLst/>
            <a:ahLst/>
            <a:cxnLst/>
            <a:rect l="l" t="t" r="r" b="b"/>
            <a:pathLst>
              <a:path w="3886200" h="307975">
                <a:moveTo>
                  <a:pt x="3886200" y="0"/>
                </a:moveTo>
                <a:lnTo>
                  <a:pt x="0" y="0"/>
                </a:lnTo>
                <a:lnTo>
                  <a:pt x="0" y="307771"/>
                </a:lnTo>
                <a:lnTo>
                  <a:pt x="3886200" y="307771"/>
                </a:lnTo>
                <a:lnTo>
                  <a:pt x="3886200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07940" y="848361"/>
            <a:ext cx="3716020" cy="280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3208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solidFill>
                  <a:srgbClr val="FFFFFF"/>
                </a:solidFill>
                <a:latin typeface="SimSun"/>
                <a:cs typeface="SimSun"/>
              </a:rPr>
              <a:t>根据业务和场景需求部署网络切片</a:t>
            </a:r>
            <a:endParaRPr sz="1400">
              <a:latin typeface="SimSun"/>
              <a:cs typeface="SimSun"/>
            </a:endParaRPr>
          </a:p>
          <a:p>
            <a:pPr marL="297815" indent="-285115">
              <a:lnSpc>
                <a:spcPct val="100000"/>
              </a:lnSpc>
              <a:spcBef>
                <a:spcPts val="880"/>
              </a:spcBef>
              <a:buClr>
                <a:srgbClr val="800080"/>
              </a:buClr>
              <a:buFont typeface="Wingdings"/>
              <a:buChar char=""/>
              <a:tabLst>
                <a:tab pos="297815" algn="l"/>
              </a:tabLst>
            </a:pPr>
            <a:r>
              <a:rPr dirty="0" sz="1000" spc="-15">
                <a:latin typeface="SimSun"/>
                <a:cs typeface="SimSun"/>
              </a:rPr>
              <a:t>对于公网</a:t>
            </a:r>
            <a:endParaRPr sz="1000">
              <a:latin typeface="SimSun"/>
              <a:cs typeface="SimSun"/>
            </a:endParaRPr>
          </a:p>
          <a:p>
            <a:pPr lvl="1" marL="697865" indent="-227965">
              <a:lnSpc>
                <a:spcPct val="100000"/>
              </a:lnSpc>
              <a:spcBef>
                <a:spcPts val="300"/>
              </a:spcBef>
              <a:buClr>
                <a:srgbClr val="800080"/>
              </a:buClr>
              <a:buFont typeface="Wingdings"/>
              <a:buChar char=""/>
              <a:tabLst>
                <a:tab pos="697865" algn="l"/>
              </a:tabLst>
            </a:pPr>
            <a:r>
              <a:rPr dirty="0" sz="1000" spc="-10">
                <a:latin typeface="Microsoft YaHei"/>
                <a:cs typeface="Microsoft YaHei"/>
              </a:rPr>
              <a:t>NSSF</a:t>
            </a:r>
            <a:r>
              <a:rPr dirty="0" sz="1000">
                <a:latin typeface="SimSun"/>
                <a:cs typeface="SimSun"/>
              </a:rPr>
              <a:t>、</a:t>
            </a:r>
            <a:r>
              <a:rPr dirty="0" sz="1000" spc="-10">
                <a:latin typeface="Microsoft YaHei"/>
                <a:cs typeface="Microsoft YaHei"/>
              </a:rPr>
              <a:t>NRF</a:t>
            </a:r>
            <a:r>
              <a:rPr dirty="0" sz="1000">
                <a:latin typeface="SimSun"/>
                <a:cs typeface="SimSun"/>
              </a:rPr>
              <a:t>基于</a:t>
            </a:r>
            <a:r>
              <a:rPr dirty="0" sz="1000" spc="-10">
                <a:latin typeface="Microsoft YaHei"/>
                <a:cs typeface="Microsoft YaHei"/>
              </a:rPr>
              <a:t>PLMN</a:t>
            </a:r>
            <a:r>
              <a:rPr dirty="0" sz="1000" spc="-15">
                <a:latin typeface="SimSun"/>
                <a:cs typeface="SimSun"/>
              </a:rPr>
              <a:t>方式部署；</a:t>
            </a:r>
            <a:endParaRPr sz="1000">
              <a:latin typeface="SimSun"/>
              <a:cs typeface="SimSun"/>
            </a:endParaRPr>
          </a:p>
          <a:p>
            <a:pPr lvl="1" marL="697865" marR="5080" indent="-228600">
              <a:lnSpc>
                <a:spcPct val="125000"/>
              </a:lnSpc>
              <a:buClr>
                <a:srgbClr val="800080"/>
              </a:buClr>
              <a:buFont typeface="Wingdings"/>
              <a:buChar char=""/>
              <a:tabLst>
                <a:tab pos="697865" algn="l"/>
              </a:tabLst>
            </a:pPr>
            <a:r>
              <a:rPr dirty="0" sz="1000" spc="-5">
                <a:latin typeface="SimSun"/>
                <a:cs typeface="SimSun"/>
              </a:rPr>
              <a:t>由于</a:t>
            </a:r>
            <a:r>
              <a:rPr dirty="0" sz="1000" spc="-10">
                <a:latin typeface="Microsoft YaHei"/>
                <a:cs typeface="Microsoft YaHei"/>
              </a:rPr>
              <a:t>eMBB</a:t>
            </a:r>
            <a:r>
              <a:rPr dirty="0" sz="1000" spc="-10">
                <a:latin typeface="SimSun"/>
                <a:cs typeface="SimSun"/>
              </a:rPr>
              <a:t>、</a:t>
            </a:r>
            <a:r>
              <a:rPr dirty="0" sz="1000" spc="-10">
                <a:latin typeface="Microsoft YaHei"/>
                <a:cs typeface="Microsoft YaHei"/>
              </a:rPr>
              <a:t>uRLLC</a:t>
            </a:r>
            <a:r>
              <a:rPr dirty="0" sz="1000" spc="-10">
                <a:latin typeface="SimSun"/>
                <a:cs typeface="SimSun"/>
              </a:rPr>
              <a:t>网络切片都有可能包含边缘</a:t>
            </a:r>
            <a:r>
              <a:rPr dirty="0" sz="1000" spc="-20">
                <a:latin typeface="Microsoft YaHei"/>
                <a:cs typeface="Microsoft YaHei"/>
              </a:rPr>
              <a:t>UPF</a:t>
            </a:r>
            <a:r>
              <a:rPr dirty="0" sz="1000" spc="-20">
                <a:latin typeface="SimSun"/>
                <a:cs typeface="SimSun"/>
              </a:rPr>
              <a:t>，</a:t>
            </a:r>
            <a:r>
              <a:rPr dirty="0" sz="1000" spc="-15">
                <a:latin typeface="SimSun"/>
                <a:cs typeface="SimSun"/>
              </a:rPr>
              <a:t>具有较强的移动性管理能力，建议这两类切片采用</a:t>
            </a:r>
            <a:endParaRPr sz="1000">
              <a:latin typeface="SimSun"/>
              <a:cs typeface="SimSun"/>
            </a:endParaRPr>
          </a:p>
          <a:p>
            <a:pPr marL="697865">
              <a:lnSpc>
                <a:spcPct val="100000"/>
              </a:lnSpc>
              <a:spcBef>
                <a:spcPts val="300"/>
              </a:spcBef>
            </a:pPr>
            <a:r>
              <a:rPr dirty="0" sz="1000" spc="-10">
                <a:latin typeface="SimSun"/>
                <a:cs typeface="SimSun"/>
              </a:rPr>
              <a:t>共享控制面功能；</a:t>
            </a:r>
            <a:endParaRPr sz="1000">
              <a:latin typeface="SimSun"/>
              <a:cs typeface="SimSun"/>
            </a:endParaRPr>
          </a:p>
          <a:p>
            <a:pPr lvl="1" marL="698500" marR="191770" indent="-228600">
              <a:lnSpc>
                <a:spcPct val="125000"/>
              </a:lnSpc>
              <a:buClr>
                <a:srgbClr val="800080"/>
              </a:buClr>
              <a:buFont typeface="Wingdings"/>
              <a:buChar char=""/>
              <a:tabLst>
                <a:tab pos="698500" algn="l"/>
              </a:tabLst>
            </a:pPr>
            <a:r>
              <a:rPr dirty="0" sz="1000">
                <a:latin typeface="SimSun"/>
                <a:cs typeface="SimSun"/>
              </a:rPr>
              <a:t>由于</a:t>
            </a:r>
            <a:r>
              <a:rPr dirty="0" sz="1000" spc="-10">
                <a:latin typeface="Microsoft YaHei"/>
                <a:cs typeface="Microsoft YaHei"/>
              </a:rPr>
              <a:t>mMTC</a:t>
            </a:r>
            <a:r>
              <a:rPr dirty="0" sz="1000" spc="-15">
                <a:latin typeface="SimSun"/>
                <a:cs typeface="SimSun"/>
              </a:rPr>
              <a:t>网络切片移动性功能较弱，建议控制面功能不共享，采用独立的网络切片部署方式；</a:t>
            </a:r>
            <a:endParaRPr sz="1000">
              <a:latin typeface="SimSun"/>
              <a:cs typeface="SimSun"/>
            </a:endParaRPr>
          </a:p>
          <a:p>
            <a:pPr marL="297815" indent="-285115">
              <a:lnSpc>
                <a:spcPct val="100000"/>
              </a:lnSpc>
              <a:spcBef>
                <a:spcPts val="300"/>
              </a:spcBef>
              <a:buClr>
                <a:srgbClr val="800080"/>
              </a:buClr>
              <a:buFont typeface="Wingdings"/>
              <a:buChar char=""/>
              <a:tabLst>
                <a:tab pos="297815" algn="l"/>
              </a:tabLst>
            </a:pPr>
            <a:r>
              <a:rPr dirty="0" sz="1000" spc="-15">
                <a:latin typeface="SimSun"/>
                <a:cs typeface="SimSun"/>
              </a:rPr>
              <a:t>对于专网</a:t>
            </a:r>
            <a:endParaRPr sz="1000">
              <a:latin typeface="SimSun"/>
              <a:cs typeface="SimSun"/>
            </a:endParaRPr>
          </a:p>
          <a:p>
            <a:pPr lvl="1" marL="698500" marR="212725" indent="-228600">
              <a:lnSpc>
                <a:spcPct val="125000"/>
              </a:lnSpc>
              <a:buClr>
                <a:srgbClr val="800080"/>
              </a:buClr>
              <a:buFont typeface="Wingdings"/>
              <a:buChar char=""/>
              <a:tabLst>
                <a:tab pos="698500" algn="l"/>
              </a:tabLst>
            </a:pPr>
            <a:r>
              <a:rPr dirty="0" sz="1000" spc="-15">
                <a:latin typeface="SimSun"/>
                <a:cs typeface="SimSun"/>
              </a:rPr>
              <a:t>如果专网用户无需移动到公网，建议采用独立的网</a:t>
            </a:r>
            <a:r>
              <a:rPr dirty="0" sz="1000" spc="-10">
                <a:latin typeface="SimSun"/>
                <a:cs typeface="SimSun"/>
              </a:rPr>
              <a:t>络切片部署；</a:t>
            </a:r>
            <a:endParaRPr sz="1000">
              <a:latin typeface="SimSun"/>
              <a:cs typeface="SimSun"/>
            </a:endParaRPr>
          </a:p>
          <a:p>
            <a:pPr lvl="1" marL="698500" marR="212725" indent="-228600">
              <a:lnSpc>
                <a:spcPct val="125000"/>
              </a:lnSpc>
              <a:buClr>
                <a:srgbClr val="800080"/>
              </a:buClr>
              <a:buFont typeface="Wingdings"/>
              <a:buChar char=""/>
              <a:tabLst>
                <a:tab pos="698500" algn="l"/>
              </a:tabLst>
            </a:pPr>
            <a:r>
              <a:rPr dirty="0" sz="1000" spc="-15">
                <a:latin typeface="SimSun"/>
                <a:cs typeface="SimSun"/>
              </a:rPr>
              <a:t>如果专网用户需要移动到公网，建议控制面功能共</a:t>
            </a:r>
            <a:r>
              <a:rPr dirty="0" sz="1000" spc="-5">
                <a:latin typeface="SimSun"/>
                <a:cs typeface="SimSun"/>
              </a:rPr>
              <a:t>享，</a:t>
            </a:r>
            <a:r>
              <a:rPr dirty="0" sz="1000" spc="-10">
                <a:latin typeface="Microsoft YaHei"/>
                <a:cs typeface="Microsoft YaHei"/>
              </a:rPr>
              <a:t>SMF</a:t>
            </a:r>
            <a:r>
              <a:rPr dirty="0" sz="1000">
                <a:latin typeface="SimSun"/>
                <a:cs typeface="SimSun"/>
              </a:rPr>
              <a:t>和</a:t>
            </a:r>
            <a:r>
              <a:rPr dirty="0" sz="1000" spc="-10">
                <a:latin typeface="Microsoft YaHei"/>
                <a:cs typeface="Microsoft YaHei"/>
              </a:rPr>
              <a:t>UPF</a:t>
            </a:r>
            <a:r>
              <a:rPr dirty="0" sz="1000" spc="-15">
                <a:latin typeface="SimSun"/>
                <a:cs typeface="SimSun"/>
              </a:rPr>
              <a:t>采用独立的网络切片，为专网用户</a:t>
            </a:r>
            <a:endParaRPr sz="1000">
              <a:latin typeface="SimSun"/>
              <a:cs typeface="SimSun"/>
            </a:endParaRPr>
          </a:p>
          <a:p>
            <a:pPr marL="698500">
              <a:lnSpc>
                <a:spcPct val="100000"/>
              </a:lnSpc>
              <a:spcBef>
                <a:spcPts val="310"/>
              </a:spcBef>
            </a:pPr>
            <a:r>
              <a:rPr dirty="0" sz="1000">
                <a:latin typeface="SimSun"/>
                <a:cs typeface="SimSun"/>
              </a:rPr>
              <a:t>提供独立的服务</a:t>
            </a:r>
            <a:r>
              <a:rPr dirty="0" sz="1100" spc="-50">
                <a:latin typeface="SimSun"/>
                <a:cs typeface="SimSun"/>
              </a:rPr>
              <a:t>。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53000" y="3790950"/>
            <a:ext cx="3865879" cy="307975"/>
          </a:xfrm>
          <a:prstGeom prst="rect">
            <a:avLst/>
          </a:prstGeom>
          <a:solidFill>
            <a:srgbClr val="558ED5"/>
          </a:solidFill>
        </p:spPr>
        <p:txBody>
          <a:bodyPr wrap="square" lIns="0" tIns="41275" rIns="0" bIns="0" rtlCol="0" vert="horz">
            <a:spAutoFit/>
          </a:bodyPr>
          <a:lstStyle/>
          <a:p>
            <a:pPr marL="1219835">
              <a:lnSpc>
                <a:spcPct val="100000"/>
              </a:lnSpc>
              <a:spcBef>
                <a:spcPts val="325"/>
              </a:spcBef>
            </a:pPr>
            <a:r>
              <a:rPr dirty="0" sz="1400" spc="-25">
                <a:solidFill>
                  <a:srgbClr val="FFFFFF"/>
                </a:solidFill>
                <a:latin typeface="SimSun"/>
                <a:cs typeface="SimSun"/>
              </a:rPr>
              <a:t>网络切片关键技术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973637" y="801281"/>
            <a:ext cx="3837304" cy="2914015"/>
          </a:xfrm>
          <a:custGeom>
            <a:avLst/>
            <a:gdLst/>
            <a:ahLst/>
            <a:cxnLst/>
            <a:rect l="l" t="t" r="r" b="b"/>
            <a:pathLst>
              <a:path w="3837304" h="2914015">
                <a:moveTo>
                  <a:pt x="0" y="0"/>
                </a:moveTo>
                <a:lnTo>
                  <a:pt x="3836987" y="0"/>
                </a:lnTo>
                <a:lnTo>
                  <a:pt x="3836987" y="2913468"/>
                </a:lnTo>
                <a:lnTo>
                  <a:pt x="0" y="291346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87D2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31800" y="127412"/>
            <a:ext cx="29857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网络切片实施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19150"/>
            <a:ext cx="4699644" cy="41147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9057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新型网络架构：</a:t>
            </a:r>
            <a:r>
              <a:rPr dirty="0" spc="-20">
                <a:solidFill>
                  <a:srgbClr val="FF0000"/>
                </a:solidFill>
                <a:latin typeface="Times New Roman"/>
                <a:cs typeface="Times New Roman"/>
              </a:rPr>
              <a:t>MEC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399907" y="1793599"/>
            <a:ext cx="4795520" cy="635635"/>
            <a:chOff x="2399907" y="1793599"/>
            <a:chExt cx="4795520" cy="635635"/>
          </a:xfrm>
        </p:grpSpPr>
        <p:sp>
          <p:nvSpPr>
            <p:cNvPr id="4" name="object 4" descr=""/>
            <p:cNvSpPr/>
            <p:nvPr/>
          </p:nvSpPr>
          <p:spPr>
            <a:xfrm>
              <a:off x="6215067" y="1806299"/>
              <a:ext cx="967105" cy="433705"/>
            </a:xfrm>
            <a:custGeom>
              <a:avLst/>
              <a:gdLst/>
              <a:ahLst/>
              <a:cxnLst/>
              <a:rect l="l" t="t" r="r" b="b"/>
              <a:pathLst>
                <a:path w="967104" h="433705">
                  <a:moveTo>
                    <a:pt x="87386" y="142733"/>
                  </a:moveTo>
                  <a:lnTo>
                    <a:pt x="116874" y="74454"/>
                  </a:lnTo>
                  <a:lnTo>
                    <a:pt x="160157" y="50910"/>
                  </a:lnTo>
                  <a:lnTo>
                    <a:pt x="216913" y="38885"/>
                  </a:lnTo>
                  <a:lnTo>
                    <a:pt x="242098" y="38091"/>
                  </a:lnTo>
                  <a:lnTo>
                    <a:pt x="266980" y="39839"/>
                  </a:lnTo>
                  <a:lnTo>
                    <a:pt x="291047" y="44066"/>
                  </a:lnTo>
                  <a:lnTo>
                    <a:pt x="313789" y="50708"/>
                  </a:lnTo>
                  <a:lnTo>
                    <a:pt x="343903" y="28318"/>
                  </a:lnTo>
                  <a:lnTo>
                    <a:pt x="384336" y="15172"/>
                  </a:lnTo>
                  <a:lnTo>
                    <a:pt x="429891" y="12245"/>
                  </a:lnTo>
                  <a:lnTo>
                    <a:pt x="475371" y="20508"/>
                  </a:lnTo>
                  <a:lnTo>
                    <a:pt x="482850" y="23149"/>
                  </a:lnTo>
                  <a:lnTo>
                    <a:pt x="489990" y="26110"/>
                  </a:lnTo>
                  <a:lnTo>
                    <a:pt x="496761" y="29379"/>
                  </a:lnTo>
                  <a:lnTo>
                    <a:pt x="503133" y="32941"/>
                  </a:lnTo>
                  <a:lnTo>
                    <a:pt x="527007" y="14244"/>
                  </a:lnTo>
                  <a:lnTo>
                    <a:pt x="559638" y="2977"/>
                  </a:lnTo>
                  <a:lnTo>
                    <a:pt x="596809" y="0"/>
                  </a:lnTo>
                  <a:lnTo>
                    <a:pt x="634299" y="6170"/>
                  </a:lnTo>
                  <a:lnTo>
                    <a:pt x="644002" y="9560"/>
                  </a:lnTo>
                  <a:lnTo>
                    <a:pt x="652979" y="13589"/>
                  </a:lnTo>
                  <a:lnTo>
                    <a:pt x="661143" y="18214"/>
                  </a:lnTo>
                  <a:lnTo>
                    <a:pt x="668411" y="23391"/>
                  </a:lnTo>
                  <a:lnTo>
                    <a:pt x="702324" y="7097"/>
                  </a:lnTo>
                  <a:lnTo>
                    <a:pt x="742480" y="216"/>
                  </a:lnTo>
                  <a:lnTo>
                    <a:pt x="783947" y="2999"/>
                  </a:lnTo>
                  <a:lnTo>
                    <a:pt x="821789" y="15695"/>
                  </a:lnTo>
                  <a:lnTo>
                    <a:pt x="853607" y="43414"/>
                  </a:lnTo>
                  <a:lnTo>
                    <a:pt x="858530" y="54455"/>
                  </a:lnTo>
                  <a:lnTo>
                    <a:pt x="900935" y="67457"/>
                  </a:lnTo>
                  <a:lnTo>
                    <a:pt x="930853" y="88651"/>
                  </a:lnTo>
                  <a:lnTo>
                    <a:pt x="945584" y="115154"/>
                  </a:lnTo>
                  <a:lnTo>
                    <a:pt x="942426" y="144079"/>
                  </a:lnTo>
                  <a:lnTo>
                    <a:pt x="940966" y="147355"/>
                  </a:lnTo>
                  <a:lnTo>
                    <a:pt x="939137" y="150556"/>
                  </a:lnTo>
                  <a:lnTo>
                    <a:pt x="936952" y="153667"/>
                  </a:lnTo>
                  <a:lnTo>
                    <a:pt x="963482" y="186669"/>
                  </a:lnTo>
                  <a:lnTo>
                    <a:pt x="967070" y="222082"/>
                  </a:lnTo>
                  <a:lnTo>
                    <a:pt x="948618" y="255734"/>
                  </a:lnTo>
                  <a:lnTo>
                    <a:pt x="909025" y="283449"/>
                  </a:lnTo>
                  <a:lnTo>
                    <a:pt x="857135" y="299229"/>
                  </a:lnTo>
                  <a:lnTo>
                    <a:pt x="838057" y="301660"/>
                  </a:lnTo>
                  <a:lnTo>
                    <a:pt x="827468" y="332349"/>
                  </a:lnTo>
                  <a:lnTo>
                    <a:pt x="799361" y="357315"/>
                  </a:lnTo>
                  <a:lnTo>
                    <a:pt x="757937" y="374037"/>
                  </a:lnTo>
                  <a:lnTo>
                    <a:pt x="707400" y="379994"/>
                  </a:lnTo>
                  <a:lnTo>
                    <a:pt x="689602" y="379160"/>
                  </a:lnTo>
                  <a:lnTo>
                    <a:pt x="672243" y="376859"/>
                  </a:lnTo>
                  <a:lnTo>
                    <a:pt x="655565" y="373131"/>
                  </a:lnTo>
                  <a:lnTo>
                    <a:pt x="639810" y="368018"/>
                  </a:lnTo>
                  <a:lnTo>
                    <a:pt x="611365" y="400372"/>
                  </a:lnTo>
                  <a:lnTo>
                    <a:pt x="566401" y="422768"/>
                  </a:lnTo>
                  <a:lnTo>
                    <a:pt x="510984" y="433219"/>
                  </a:lnTo>
                  <a:lnTo>
                    <a:pt x="451177" y="429740"/>
                  </a:lnTo>
                  <a:lnTo>
                    <a:pt x="426973" y="423829"/>
                  </a:lnTo>
                  <a:lnTo>
                    <a:pt x="404941" y="415532"/>
                  </a:lnTo>
                  <a:lnTo>
                    <a:pt x="385546" y="405058"/>
                  </a:lnTo>
                  <a:lnTo>
                    <a:pt x="369250" y="392618"/>
                  </a:lnTo>
                  <a:lnTo>
                    <a:pt x="317849" y="405227"/>
                  </a:lnTo>
                  <a:lnTo>
                    <a:pt x="264505" y="407319"/>
                  </a:lnTo>
                  <a:lnTo>
                    <a:pt x="213126" y="399488"/>
                  </a:lnTo>
                  <a:lnTo>
                    <a:pt x="167621" y="382328"/>
                  </a:lnTo>
                  <a:lnTo>
                    <a:pt x="131899" y="356436"/>
                  </a:lnTo>
                  <a:lnTo>
                    <a:pt x="130071" y="354531"/>
                  </a:lnTo>
                  <a:lnTo>
                    <a:pt x="91411" y="352595"/>
                  </a:lnTo>
                  <a:lnTo>
                    <a:pt x="58131" y="342154"/>
                  </a:lnTo>
                  <a:lnTo>
                    <a:pt x="33719" y="324884"/>
                  </a:lnTo>
                  <a:lnTo>
                    <a:pt x="21663" y="302461"/>
                  </a:lnTo>
                  <a:lnTo>
                    <a:pt x="21500" y="289502"/>
                  </a:lnTo>
                  <a:lnTo>
                    <a:pt x="25884" y="276975"/>
                  </a:lnTo>
                  <a:lnTo>
                    <a:pt x="34581" y="265309"/>
                  </a:lnTo>
                  <a:lnTo>
                    <a:pt x="47355" y="254937"/>
                  </a:lnTo>
                  <a:lnTo>
                    <a:pt x="18524" y="239154"/>
                  </a:lnTo>
                  <a:lnTo>
                    <a:pt x="2366" y="218533"/>
                  </a:lnTo>
                  <a:lnTo>
                    <a:pt x="0" y="195701"/>
                  </a:lnTo>
                  <a:lnTo>
                    <a:pt x="12545" y="173289"/>
                  </a:lnTo>
                  <a:lnTo>
                    <a:pt x="26389" y="162077"/>
                  </a:lnTo>
                  <a:lnTo>
                    <a:pt x="43868" y="153264"/>
                  </a:lnTo>
                  <a:lnTo>
                    <a:pt x="64192" y="147161"/>
                  </a:lnTo>
                  <a:lnTo>
                    <a:pt x="86573" y="144079"/>
                  </a:lnTo>
                  <a:lnTo>
                    <a:pt x="87386" y="142733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63464" y="1828283"/>
              <a:ext cx="888365" cy="368935"/>
            </a:xfrm>
            <a:custGeom>
              <a:avLst/>
              <a:gdLst/>
              <a:ahLst/>
              <a:cxnLst/>
              <a:rect l="l" t="t" r="r" b="b"/>
              <a:pathLst>
                <a:path w="888365" h="368935">
                  <a:moveTo>
                    <a:pt x="56756" y="239268"/>
                  </a:moveTo>
                  <a:lnTo>
                    <a:pt x="41940" y="239280"/>
                  </a:lnTo>
                  <a:lnTo>
                    <a:pt x="27378" y="237929"/>
                  </a:lnTo>
                  <a:lnTo>
                    <a:pt x="13315" y="235247"/>
                  </a:lnTo>
                  <a:lnTo>
                    <a:pt x="0" y="231267"/>
                  </a:lnTo>
                </a:path>
                <a:path w="888365" h="368935">
                  <a:moveTo>
                    <a:pt x="106832" y="326821"/>
                  </a:moveTo>
                  <a:lnTo>
                    <a:pt x="98869" y="328752"/>
                  </a:lnTo>
                  <a:lnTo>
                    <a:pt x="90512" y="330034"/>
                  </a:lnTo>
                  <a:lnTo>
                    <a:pt x="82003" y="330644"/>
                  </a:lnTo>
                </a:path>
                <a:path w="888365" h="368935">
                  <a:moveTo>
                    <a:pt x="320801" y="368884"/>
                  </a:moveTo>
                  <a:lnTo>
                    <a:pt x="314807" y="363410"/>
                  </a:lnTo>
                  <a:lnTo>
                    <a:pt x="309791" y="357555"/>
                  </a:lnTo>
                  <a:lnTo>
                    <a:pt x="305841" y="351421"/>
                  </a:lnTo>
                </a:path>
                <a:path w="888365" h="368935">
                  <a:moveTo>
                    <a:pt x="597484" y="325335"/>
                  </a:moveTo>
                  <a:lnTo>
                    <a:pt x="596595" y="331838"/>
                  </a:lnTo>
                  <a:lnTo>
                    <a:pt x="594601" y="338251"/>
                  </a:lnTo>
                  <a:lnTo>
                    <a:pt x="591502" y="344500"/>
                  </a:lnTo>
                </a:path>
                <a:path w="888365" h="368935">
                  <a:moveTo>
                    <a:pt x="716267" y="206921"/>
                  </a:moveTo>
                  <a:lnTo>
                    <a:pt x="746657" y="219452"/>
                  </a:lnTo>
                  <a:lnTo>
                    <a:pt x="769689" y="236315"/>
                  </a:lnTo>
                  <a:lnTo>
                    <a:pt x="784225" y="256387"/>
                  </a:lnTo>
                  <a:lnTo>
                    <a:pt x="789127" y="278549"/>
                  </a:lnTo>
                </a:path>
                <a:path w="888365" h="368935">
                  <a:moveTo>
                    <a:pt x="888098" y="130632"/>
                  </a:moveTo>
                  <a:lnTo>
                    <a:pt x="881937" y="138172"/>
                  </a:lnTo>
                  <a:lnTo>
                    <a:pt x="874423" y="145203"/>
                  </a:lnTo>
                  <a:lnTo>
                    <a:pt x="865638" y="151661"/>
                  </a:lnTo>
                  <a:lnTo>
                    <a:pt x="855662" y="157480"/>
                  </a:lnTo>
                </a:path>
                <a:path w="888365" h="368935">
                  <a:moveTo>
                    <a:pt x="810260" y="30962"/>
                  </a:moveTo>
                  <a:lnTo>
                    <a:pt x="811504" y="35153"/>
                  </a:lnTo>
                  <a:lnTo>
                    <a:pt x="812076" y="39395"/>
                  </a:lnTo>
                  <a:lnTo>
                    <a:pt x="811974" y="43649"/>
                  </a:lnTo>
                </a:path>
                <a:path w="888365" h="368935">
                  <a:moveTo>
                    <a:pt x="603110" y="16167"/>
                  </a:moveTo>
                  <a:lnTo>
                    <a:pt x="607326" y="10325"/>
                  </a:lnTo>
                  <a:lnTo>
                    <a:pt x="612927" y="4876"/>
                  </a:lnTo>
                  <a:lnTo>
                    <a:pt x="619721" y="0"/>
                  </a:lnTo>
                </a:path>
                <a:path w="888365" h="368935">
                  <a:moveTo>
                    <a:pt x="447674" y="23876"/>
                  </a:moveTo>
                  <a:lnTo>
                    <a:pt x="449402" y="19050"/>
                  </a:lnTo>
                  <a:lnTo>
                    <a:pt x="452107" y="14363"/>
                  </a:lnTo>
                  <a:lnTo>
                    <a:pt x="455726" y="9931"/>
                  </a:lnTo>
                </a:path>
                <a:path w="888365" h="368935">
                  <a:moveTo>
                    <a:pt x="265277" y="28613"/>
                  </a:moveTo>
                  <a:lnTo>
                    <a:pt x="273058" y="31592"/>
                  </a:lnTo>
                  <a:lnTo>
                    <a:pt x="280519" y="34848"/>
                  </a:lnTo>
                  <a:lnTo>
                    <a:pt x="287639" y="38371"/>
                  </a:lnTo>
                  <a:lnTo>
                    <a:pt x="294398" y="42151"/>
                  </a:lnTo>
                </a:path>
                <a:path w="888365" h="368935">
                  <a:moveTo>
                    <a:pt x="44068" y="134988"/>
                  </a:moveTo>
                  <a:lnTo>
                    <a:pt x="41770" y="130340"/>
                  </a:lnTo>
                  <a:lnTo>
                    <a:pt x="40068" y="125577"/>
                  </a:lnTo>
                  <a:lnTo>
                    <a:pt x="38988" y="120751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47226" y="2164770"/>
              <a:ext cx="717550" cy="257810"/>
            </a:xfrm>
            <a:custGeom>
              <a:avLst/>
              <a:gdLst/>
              <a:ahLst/>
              <a:cxnLst/>
              <a:rect l="l" t="t" r="r" b="b"/>
              <a:pathLst>
                <a:path w="717550" h="257810">
                  <a:moveTo>
                    <a:pt x="0" y="128841"/>
                  </a:moveTo>
                  <a:lnTo>
                    <a:pt x="22442" y="83884"/>
                  </a:lnTo>
                  <a:lnTo>
                    <a:pt x="84365" y="45830"/>
                  </a:lnTo>
                  <a:lnTo>
                    <a:pt x="127599" y="30301"/>
                  </a:lnTo>
                  <a:lnTo>
                    <a:pt x="177664" y="17590"/>
                  </a:lnTo>
                  <a:lnTo>
                    <a:pt x="233546" y="8060"/>
                  </a:lnTo>
                  <a:lnTo>
                    <a:pt x="294233" y="2075"/>
                  </a:lnTo>
                  <a:lnTo>
                    <a:pt x="358711" y="0"/>
                  </a:lnTo>
                  <a:lnTo>
                    <a:pt x="423192" y="2075"/>
                  </a:lnTo>
                  <a:lnTo>
                    <a:pt x="483881" y="8060"/>
                  </a:lnTo>
                  <a:lnTo>
                    <a:pt x="539764" y="17590"/>
                  </a:lnTo>
                  <a:lnTo>
                    <a:pt x="589828" y="30301"/>
                  </a:lnTo>
                  <a:lnTo>
                    <a:pt x="633061" y="45830"/>
                  </a:lnTo>
                  <a:lnTo>
                    <a:pt x="668450" y="63812"/>
                  </a:lnTo>
                  <a:lnTo>
                    <a:pt x="711643" y="105681"/>
                  </a:lnTo>
                  <a:lnTo>
                    <a:pt x="717423" y="128841"/>
                  </a:lnTo>
                  <a:lnTo>
                    <a:pt x="711643" y="152001"/>
                  </a:lnTo>
                  <a:lnTo>
                    <a:pt x="694982" y="173798"/>
                  </a:lnTo>
                  <a:lnTo>
                    <a:pt x="633061" y="211852"/>
                  </a:lnTo>
                  <a:lnTo>
                    <a:pt x="589828" y="227381"/>
                  </a:lnTo>
                  <a:lnTo>
                    <a:pt x="539764" y="240092"/>
                  </a:lnTo>
                  <a:lnTo>
                    <a:pt x="483881" y="249622"/>
                  </a:lnTo>
                  <a:lnTo>
                    <a:pt x="423192" y="255607"/>
                  </a:lnTo>
                  <a:lnTo>
                    <a:pt x="358711" y="257683"/>
                  </a:lnTo>
                  <a:lnTo>
                    <a:pt x="294233" y="255607"/>
                  </a:lnTo>
                  <a:lnTo>
                    <a:pt x="233546" y="249622"/>
                  </a:lnTo>
                  <a:lnTo>
                    <a:pt x="177664" y="240092"/>
                  </a:lnTo>
                  <a:lnTo>
                    <a:pt x="127599" y="227381"/>
                  </a:lnTo>
                  <a:lnTo>
                    <a:pt x="84365" y="211852"/>
                  </a:lnTo>
                  <a:lnTo>
                    <a:pt x="48975" y="193870"/>
                  </a:lnTo>
                  <a:lnTo>
                    <a:pt x="5779" y="152001"/>
                  </a:lnTo>
                  <a:lnTo>
                    <a:pt x="0" y="12884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01656" y="2157079"/>
              <a:ext cx="717550" cy="257810"/>
            </a:xfrm>
            <a:custGeom>
              <a:avLst/>
              <a:gdLst/>
              <a:ahLst/>
              <a:cxnLst/>
              <a:rect l="l" t="t" r="r" b="b"/>
              <a:pathLst>
                <a:path w="717550" h="257810">
                  <a:moveTo>
                    <a:pt x="0" y="128841"/>
                  </a:moveTo>
                  <a:lnTo>
                    <a:pt x="22442" y="83884"/>
                  </a:lnTo>
                  <a:lnTo>
                    <a:pt x="84365" y="45830"/>
                  </a:lnTo>
                  <a:lnTo>
                    <a:pt x="127599" y="30301"/>
                  </a:lnTo>
                  <a:lnTo>
                    <a:pt x="177664" y="17590"/>
                  </a:lnTo>
                  <a:lnTo>
                    <a:pt x="233546" y="8060"/>
                  </a:lnTo>
                  <a:lnTo>
                    <a:pt x="294233" y="2075"/>
                  </a:lnTo>
                  <a:lnTo>
                    <a:pt x="358711" y="0"/>
                  </a:lnTo>
                  <a:lnTo>
                    <a:pt x="423192" y="2075"/>
                  </a:lnTo>
                  <a:lnTo>
                    <a:pt x="483881" y="8060"/>
                  </a:lnTo>
                  <a:lnTo>
                    <a:pt x="539764" y="17590"/>
                  </a:lnTo>
                  <a:lnTo>
                    <a:pt x="589828" y="30301"/>
                  </a:lnTo>
                  <a:lnTo>
                    <a:pt x="633061" y="45830"/>
                  </a:lnTo>
                  <a:lnTo>
                    <a:pt x="668450" y="63812"/>
                  </a:lnTo>
                  <a:lnTo>
                    <a:pt x="711643" y="105681"/>
                  </a:lnTo>
                  <a:lnTo>
                    <a:pt x="717423" y="128841"/>
                  </a:lnTo>
                  <a:lnTo>
                    <a:pt x="711643" y="152001"/>
                  </a:lnTo>
                  <a:lnTo>
                    <a:pt x="694982" y="173798"/>
                  </a:lnTo>
                  <a:lnTo>
                    <a:pt x="633061" y="211852"/>
                  </a:lnTo>
                  <a:lnTo>
                    <a:pt x="589828" y="227381"/>
                  </a:lnTo>
                  <a:lnTo>
                    <a:pt x="539764" y="240092"/>
                  </a:lnTo>
                  <a:lnTo>
                    <a:pt x="483881" y="249622"/>
                  </a:lnTo>
                  <a:lnTo>
                    <a:pt x="423192" y="255607"/>
                  </a:lnTo>
                  <a:lnTo>
                    <a:pt x="358711" y="257683"/>
                  </a:lnTo>
                  <a:lnTo>
                    <a:pt x="294233" y="255607"/>
                  </a:lnTo>
                  <a:lnTo>
                    <a:pt x="233546" y="249622"/>
                  </a:lnTo>
                  <a:lnTo>
                    <a:pt x="177664" y="240092"/>
                  </a:lnTo>
                  <a:lnTo>
                    <a:pt x="127599" y="227381"/>
                  </a:lnTo>
                  <a:lnTo>
                    <a:pt x="84365" y="211852"/>
                  </a:lnTo>
                  <a:lnTo>
                    <a:pt x="48975" y="193870"/>
                  </a:lnTo>
                  <a:lnTo>
                    <a:pt x="5779" y="152001"/>
                  </a:lnTo>
                  <a:lnTo>
                    <a:pt x="0" y="12884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06257" y="2136865"/>
              <a:ext cx="821690" cy="257175"/>
            </a:xfrm>
            <a:custGeom>
              <a:avLst/>
              <a:gdLst/>
              <a:ahLst/>
              <a:cxnLst/>
              <a:rect l="l" t="t" r="r" b="b"/>
              <a:pathLst>
                <a:path w="821689" h="257175">
                  <a:moveTo>
                    <a:pt x="0" y="128384"/>
                  </a:moveTo>
                  <a:lnTo>
                    <a:pt x="20934" y="87805"/>
                  </a:lnTo>
                  <a:lnTo>
                    <a:pt x="79227" y="52562"/>
                  </a:lnTo>
                  <a:lnTo>
                    <a:pt x="120270" y="37603"/>
                  </a:lnTo>
                  <a:lnTo>
                    <a:pt x="168117" y="24770"/>
                  </a:lnTo>
                  <a:lnTo>
                    <a:pt x="221921" y="14330"/>
                  </a:lnTo>
                  <a:lnTo>
                    <a:pt x="280838" y="6545"/>
                  </a:lnTo>
                  <a:lnTo>
                    <a:pt x="344022" y="1680"/>
                  </a:lnTo>
                  <a:lnTo>
                    <a:pt x="410629" y="0"/>
                  </a:lnTo>
                  <a:lnTo>
                    <a:pt x="477235" y="1680"/>
                  </a:lnTo>
                  <a:lnTo>
                    <a:pt x="540419" y="6545"/>
                  </a:lnTo>
                  <a:lnTo>
                    <a:pt x="599336" y="14330"/>
                  </a:lnTo>
                  <a:lnTo>
                    <a:pt x="653141" y="24770"/>
                  </a:lnTo>
                  <a:lnTo>
                    <a:pt x="700987" y="37603"/>
                  </a:lnTo>
                  <a:lnTo>
                    <a:pt x="742030" y="52562"/>
                  </a:lnTo>
                  <a:lnTo>
                    <a:pt x="800324" y="87805"/>
                  </a:lnTo>
                  <a:lnTo>
                    <a:pt x="821258" y="128384"/>
                  </a:lnTo>
                  <a:lnTo>
                    <a:pt x="815883" y="149208"/>
                  </a:lnTo>
                  <a:lnTo>
                    <a:pt x="800324" y="168963"/>
                  </a:lnTo>
                  <a:lnTo>
                    <a:pt x="742030" y="204206"/>
                  </a:lnTo>
                  <a:lnTo>
                    <a:pt x="700987" y="219165"/>
                  </a:lnTo>
                  <a:lnTo>
                    <a:pt x="653141" y="231997"/>
                  </a:lnTo>
                  <a:lnTo>
                    <a:pt x="599336" y="242438"/>
                  </a:lnTo>
                  <a:lnTo>
                    <a:pt x="540419" y="250223"/>
                  </a:lnTo>
                  <a:lnTo>
                    <a:pt x="477235" y="255088"/>
                  </a:lnTo>
                  <a:lnTo>
                    <a:pt x="410629" y="256768"/>
                  </a:lnTo>
                  <a:lnTo>
                    <a:pt x="344022" y="255088"/>
                  </a:lnTo>
                  <a:lnTo>
                    <a:pt x="280838" y="250223"/>
                  </a:lnTo>
                  <a:lnTo>
                    <a:pt x="221921" y="242438"/>
                  </a:lnTo>
                  <a:lnTo>
                    <a:pt x="168117" y="231997"/>
                  </a:lnTo>
                  <a:lnTo>
                    <a:pt x="120270" y="219165"/>
                  </a:lnTo>
                  <a:lnTo>
                    <a:pt x="79227" y="204206"/>
                  </a:lnTo>
                  <a:lnTo>
                    <a:pt x="20934" y="168963"/>
                  </a:lnTo>
                  <a:lnTo>
                    <a:pt x="0" y="128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668228" y="2223348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b="1">
                <a:latin typeface="Microsoft YaHei"/>
                <a:cs typeface="Microsoft YaHei"/>
              </a:rPr>
              <a:t>接入层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08053" y="2241185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Microsoft YaHei"/>
                <a:cs typeface="Microsoft YaHei"/>
              </a:rPr>
              <a:t>汇聚层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54670" y="2241083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b="1">
                <a:latin typeface="Microsoft YaHei"/>
                <a:cs typeface="Microsoft YaHei"/>
              </a:rPr>
              <a:t>核心层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492623" y="1914137"/>
            <a:ext cx="4318000" cy="712470"/>
            <a:chOff x="1492623" y="1914137"/>
            <a:chExt cx="4318000" cy="712470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2623" y="1914137"/>
              <a:ext cx="430646" cy="54602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7993" y="2045207"/>
              <a:ext cx="410718" cy="49072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289810" y="2058925"/>
              <a:ext cx="307340" cy="387350"/>
            </a:xfrm>
            <a:custGeom>
              <a:avLst/>
              <a:gdLst/>
              <a:ahLst/>
              <a:cxnLst/>
              <a:rect l="l" t="t" r="r" b="b"/>
              <a:pathLst>
                <a:path w="307339" h="387350">
                  <a:moveTo>
                    <a:pt x="99961" y="0"/>
                  </a:moveTo>
                  <a:lnTo>
                    <a:pt x="0" y="32080"/>
                  </a:lnTo>
                  <a:lnTo>
                    <a:pt x="0" y="312775"/>
                  </a:lnTo>
                  <a:lnTo>
                    <a:pt x="204914" y="387248"/>
                  </a:lnTo>
                  <a:lnTo>
                    <a:pt x="306882" y="348297"/>
                  </a:lnTo>
                  <a:lnTo>
                    <a:pt x="306882" y="72174"/>
                  </a:lnTo>
                  <a:lnTo>
                    <a:pt x="999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289810" y="2061213"/>
              <a:ext cx="305435" cy="382905"/>
            </a:xfrm>
            <a:custGeom>
              <a:avLst/>
              <a:gdLst/>
              <a:ahLst/>
              <a:cxnLst/>
              <a:rect l="l" t="t" r="r" b="b"/>
              <a:pathLst>
                <a:path w="305435" h="382905">
                  <a:moveTo>
                    <a:pt x="0" y="36880"/>
                  </a:moveTo>
                  <a:lnTo>
                    <a:pt x="0" y="308902"/>
                  </a:lnTo>
                  <a:lnTo>
                    <a:pt x="200583" y="382663"/>
                  </a:lnTo>
                  <a:lnTo>
                    <a:pt x="200583" y="334264"/>
                  </a:lnTo>
                  <a:lnTo>
                    <a:pt x="166484" y="334264"/>
                  </a:lnTo>
                  <a:lnTo>
                    <a:pt x="140991" y="292760"/>
                  </a:lnTo>
                  <a:lnTo>
                    <a:pt x="46139" y="292760"/>
                  </a:lnTo>
                  <a:lnTo>
                    <a:pt x="18046" y="281241"/>
                  </a:lnTo>
                  <a:lnTo>
                    <a:pt x="18046" y="235140"/>
                  </a:lnTo>
                  <a:lnTo>
                    <a:pt x="28079" y="223608"/>
                  </a:lnTo>
                  <a:lnTo>
                    <a:pt x="67804" y="223608"/>
                  </a:lnTo>
                  <a:lnTo>
                    <a:pt x="80225" y="212077"/>
                  </a:lnTo>
                  <a:lnTo>
                    <a:pt x="200583" y="212077"/>
                  </a:lnTo>
                  <a:lnTo>
                    <a:pt x="200583" y="198247"/>
                  </a:lnTo>
                  <a:lnTo>
                    <a:pt x="122351" y="198247"/>
                  </a:lnTo>
                  <a:lnTo>
                    <a:pt x="119007" y="193636"/>
                  </a:lnTo>
                  <a:lnTo>
                    <a:pt x="90258" y="193636"/>
                  </a:lnTo>
                  <a:lnTo>
                    <a:pt x="50139" y="179806"/>
                  </a:lnTo>
                  <a:lnTo>
                    <a:pt x="38112" y="161366"/>
                  </a:lnTo>
                  <a:lnTo>
                    <a:pt x="60690" y="161366"/>
                  </a:lnTo>
                  <a:lnTo>
                    <a:pt x="18046" y="89903"/>
                  </a:lnTo>
                  <a:lnTo>
                    <a:pt x="30086" y="80683"/>
                  </a:lnTo>
                  <a:lnTo>
                    <a:pt x="122945" y="80683"/>
                  </a:lnTo>
                  <a:lnTo>
                    <a:pt x="0" y="36880"/>
                  </a:lnTo>
                  <a:close/>
                </a:path>
                <a:path w="305435" h="382905">
                  <a:moveTo>
                    <a:pt x="304876" y="71462"/>
                  </a:moveTo>
                  <a:lnTo>
                    <a:pt x="208597" y="108343"/>
                  </a:lnTo>
                  <a:lnTo>
                    <a:pt x="208597" y="382663"/>
                  </a:lnTo>
                  <a:lnTo>
                    <a:pt x="304876" y="345782"/>
                  </a:lnTo>
                  <a:lnTo>
                    <a:pt x="304876" y="71462"/>
                  </a:lnTo>
                  <a:close/>
                </a:path>
                <a:path w="305435" h="382905">
                  <a:moveTo>
                    <a:pt x="130378" y="246659"/>
                  </a:moveTo>
                  <a:lnTo>
                    <a:pt x="178511" y="325043"/>
                  </a:lnTo>
                  <a:lnTo>
                    <a:pt x="166484" y="334264"/>
                  </a:lnTo>
                  <a:lnTo>
                    <a:pt x="200583" y="334264"/>
                  </a:lnTo>
                  <a:lnTo>
                    <a:pt x="200583" y="255879"/>
                  </a:lnTo>
                  <a:lnTo>
                    <a:pt x="162471" y="255879"/>
                  </a:lnTo>
                  <a:lnTo>
                    <a:pt x="130378" y="246659"/>
                  </a:lnTo>
                  <a:close/>
                </a:path>
                <a:path w="305435" h="382905">
                  <a:moveTo>
                    <a:pt x="200583" y="212077"/>
                  </a:moveTo>
                  <a:lnTo>
                    <a:pt x="80225" y="212077"/>
                  </a:lnTo>
                  <a:lnTo>
                    <a:pt x="88252" y="225907"/>
                  </a:lnTo>
                  <a:lnTo>
                    <a:pt x="38112" y="272021"/>
                  </a:lnTo>
                  <a:lnTo>
                    <a:pt x="60172" y="281241"/>
                  </a:lnTo>
                  <a:lnTo>
                    <a:pt x="46139" y="292760"/>
                  </a:lnTo>
                  <a:lnTo>
                    <a:pt x="140991" y="292760"/>
                  </a:lnTo>
                  <a:lnTo>
                    <a:pt x="139579" y="290461"/>
                  </a:lnTo>
                  <a:lnTo>
                    <a:pt x="118338" y="290461"/>
                  </a:lnTo>
                  <a:lnTo>
                    <a:pt x="106311" y="274320"/>
                  </a:lnTo>
                  <a:lnTo>
                    <a:pt x="106311" y="223608"/>
                  </a:lnTo>
                  <a:lnTo>
                    <a:pt x="200583" y="223608"/>
                  </a:lnTo>
                  <a:lnTo>
                    <a:pt x="200583" y="212077"/>
                  </a:lnTo>
                  <a:close/>
                </a:path>
                <a:path w="305435" h="382905">
                  <a:moveTo>
                    <a:pt x="118338" y="255879"/>
                  </a:moveTo>
                  <a:lnTo>
                    <a:pt x="118338" y="290461"/>
                  </a:lnTo>
                  <a:lnTo>
                    <a:pt x="139579" y="290461"/>
                  </a:lnTo>
                  <a:lnTo>
                    <a:pt x="118338" y="255879"/>
                  </a:lnTo>
                  <a:close/>
                </a:path>
                <a:path w="305435" h="382905">
                  <a:moveTo>
                    <a:pt x="67804" y="223608"/>
                  </a:moveTo>
                  <a:lnTo>
                    <a:pt x="28079" y="223608"/>
                  </a:lnTo>
                  <a:lnTo>
                    <a:pt x="28079" y="260489"/>
                  </a:lnTo>
                  <a:lnTo>
                    <a:pt x="67804" y="223608"/>
                  </a:lnTo>
                  <a:close/>
                </a:path>
                <a:path w="305435" h="382905">
                  <a:moveTo>
                    <a:pt x="200583" y="223608"/>
                  </a:moveTo>
                  <a:lnTo>
                    <a:pt x="106311" y="223608"/>
                  </a:lnTo>
                  <a:lnTo>
                    <a:pt x="152438" y="242049"/>
                  </a:lnTo>
                  <a:lnTo>
                    <a:pt x="162471" y="255879"/>
                  </a:lnTo>
                  <a:lnTo>
                    <a:pt x="200583" y="255879"/>
                  </a:lnTo>
                  <a:lnTo>
                    <a:pt x="200583" y="223608"/>
                  </a:lnTo>
                  <a:close/>
                </a:path>
                <a:path w="305435" h="382905">
                  <a:moveTo>
                    <a:pt x="166484" y="156756"/>
                  </a:moveTo>
                  <a:lnTo>
                    <a:pt x="122351" y="198247"/>
                  </a:lnTo>
                  <a:lnTo>
                    <a:pt x="200583" y="198247"/>
                  </a:lnTo>
                  <a:lnTo>
                    <a:pt x="200583" y="195948"/>
                  </a:lnTo>
                  <a:lnTo>
                    <a:pt x="166484" y="195948"/>
                  </a:lnTo>
                  <a:lnTo>
                    <a:pt x="166484" y="156756"/>
                  </a:lnTo>
                  <a:close/>
                </a:path>
                <a:path w="305435" h="382905">
                  <a:moveTo>
                    <a:pt x="200583" y="119875"/>
                  </a:moveTo>
                  <a:lnTo>
                    <a:pt x="148424" y="119875"/>
                  </a:lnTo>
                  <a:lnTo>
                    <a:pt x="180517" y="133705"/>
                  </a:lnTo>
                  <a:lnTo>
                    <a:pt x="180517" y="182118"/>
                  </a:lnTo>
                  <a:lnTo>
                    <a:pt x="166484" y="195948"/>
                  </a:lnTo>
                  <a:lnTo>
                    <a:pt x="200583" y="195948"/>
                  </a:lnTo>
                  <a:lnTo>
                    <a:pt x="200583" y="119875"/>
                  </a:lnTo>
                  <a:close/>
                </a:path>
                <a:path w="305435" h="382905">
                  <a:moveTo>
                    <a:pt x="144415" y="124485"/>
                  </a:moveTo>
                  <a:lnTo>
                    <a:pt x="78219" y="124485"/>
                  </a:lnTo>
                  <a:lnTo>
                    <a:pt x="90258" y="142925"/>
                  </a:lnTo>
                  <a:lnTo>
                    <a:pt x="90258" y="193636"/>
                  </a:lnTo>
                  <a:lnTo>
                    <a:pt x="119007" y="193636"/>
                  </a:lnTo>
                  <a:lnTo>
                    <a:pt x="112318" y="184416"/>
                  </a:lnTo>
                  <a:lnTo>
                    <a:pt x="158457" y="142925"/>
                  </a:lnTo>
                  <a:lnTo>
                    <a:pt x="136398" y="133705"/>
                  </a:lnTo>
                  <a:lnTo>
                    <a:pt x="144415" y="124485"/>
                  </a:lnTo>
                  <a:close/>
                </a:path>
                <a:path w="305435" h="382905">
                  <a:moveTo>
                    <a:pt x="60690" y="161366"/>
                  </a:moveTo>
                  <a:lnTo>
                    <a:pt x="38112" y="161366"/>
                  </a:lnTo>
                  <a:lnTo>
                    <a:pt x="66192" y="170586"/>
                  </a:lnTo>
                  <a:lnTo>
                    <a:pt x="60690" y="161366"/>
                  </a:lnTo>
                  <a:close/>
                </a:path>
                <a:path w="305435" h="382905">
                  <a:moveTo>
                    <a:pt x="122945" y="80683"/>
                  </a:moveTo>
                  <a:lnTo>
                    <a:pt x="30086" y="80683"/>
                  </a:lnTo>
                  <a:lnTo>
                    <a:pt x="78219" y="161366"/>
                  </a:lnTo>
                  <a:lnTo>
                    <a:pt x="78219" y="124485"/>
                  </a:lnTo>
                  <a:lnTo>
                    <a:pt x="144415" y="124485"/>
                  </a:lnTo>
                  <a:lnTo>
                    <a:pt x="148424" y="119875"/>
                  </a:lnTo>
                  <a:lnTo>
                    <a:pt x="200583" y="119875"/>
                  </a:lnTo>
                  <a:lnTo>
                    <a:pt x="200583" y="108343"/>
                  </a:lnTo>
                  <a:lnTo>
                    <a:pt x="122945" y="80683"/>
                  </a:lnTo>
                  <a:close/>
                </a:path>
                <a:path w="305435" h="382905">
                  <a:moveTo>
                    <a:pt x="100291" y="0"/>
                  </a:moveTo>
                  <a:lnTo>
                    <a:pt x="6019" y="29972"/>
                  </a:lnTo>
                  <a:lnTo>
                    <a:pt x="178071" y="90263"/>
                  </a:lnTo>
                  <a:lnTo>
                    <a:pt x="204584" y="99123"/>
                  </a:lnTo>
                  <a:lnTo>
                    <a:pt x="216462" y="95377"/>
                  </a:lnTo>
                  <a:lnTo>
                    <a:pt x="242444" y="86445"/>
                  </a:lnTo>
                  <a:lnTo>
                    <a:pt x="272562" y="75784"/>
                  </a:lnTo>
                  <a:lnTo>
                    <a:pt x="296849" y="66852"/>
                  </a:lnTo>
                  <a:lnTo>
                    <a:pt x="250723" y="66852"/>
                  </a:lnTo>
                  <a:lnTo>
                    <a:pt x="218630" y="64554"/>
                  </a:lnTo>
                  <a:lnTo>
                    <a:pt x="224650" y="62242"/>
                  </a:lnTo>
                  <a:lnTo>
                    <a:pt x="218148" y="59944"/>
                  </a:lnTo>
                  <a:lnTo>
                    <a:pt x="118338" y="59944"/>
                  </a:lnTo>
                  <a:lnTo>
                    <a:pt x="126364" y="48412"/>
                  </a:lnTo>
                  <a:lnTo>
                    <a:pt x="143398" y="48412"/>
                  </a:lnTo>
                  <a:lnTo>
                    <a:pt x="164477" y="41490"/>
                  </a:lnTo>
                  <a:lnTo>
                    <a:pt x="117101" y="25361"/>
                  </a:lnTo>
                  <a:lnTo>
                    <a:pt x="106311" y="25361"/>
                  </a:lnTo>
                  <a:lnTo>
                    <a:pt x="98285" y="16141"/>
                  </a:lnTo>
                  <a:lnTo>
                    <a:pt x="147751" y="16141"/>
                  </a:lnTo>
                  <a:lnTo>
                    <a:pt x="100291" y="0"/>
                  </a:lnTo>
                  <a:close/>
                </a:path>
                <a:path w="305435" h="382905">
                  <a:moveTo>
                    <a:pt x="269740" y="57632"/>
                  </a:moveTo>
                  <a:lnTo>
                    <a:pt x="238683" y="57632"/>
                  </a:lnTo>
                  <a:lnTo>
                    <a:pt x="250723" y="66852"/>
                  </a:lnTo>
                  <a:lnTo>
                    <a:pt x="296849" y="66852"/>
                  </a:lnTo>
                  <a:lnTo>
                    <a:pt x="269740" y="57632"/>
                  </a:lnTo>
                  <a:close/>
                </a:path>
                <a:path w="305435" h="382905">
                  <a:moveTo>
                    <a:pt x="172491" y="43802"/>
                  </a:moveTo>
                  <a:lnTo>
                    <a:pt x="144411" y="55321"/>
                  </a:lnTo>
                  <a:lnTo>
                    <a:pt x="152438" y="57632"/>
                  </a:lnTo>
                  <a:lnTo>
                    <a:pt x="118338" y="59944"/>
                  </a:lnTo>
                  <a:lnTo>
                    <a:pt x="218148" y="59944"/>
                  </a:lnTo>
                  <a:lnTo>
                    <a:pt x="172491" y="43802"/>
                  </a:lnTo>
                  <a:close/>
                </a:path>
                <a:path w="305435" h="382905">
                  <a:moveTo>
                    <a:pt x="147751" y="16141"/>
                  </a:moveTo>
                  <a:lnTo>
                    <a:pt x="98285" y="16141"/>
                  </a:lnTo>
                  <a:lnTo>
                    <a:pt x="124358" y="18440"/>
                  </a:lnTo>
                  <a:lnTo>
                    <a:pt x="120345" y="20751"/>
                  </a:lnTo>
                  <a:lnTo>
                    <a:pt x="234670" y="59944"/>
                  </a:lnTo>
                  <a:lnTo>
                    <a:pt x="238683" y="57632"/>
                  </a:lnTo>
                  <a:lnTo>
                    <a:pt x="269740" y="57632"/>
                  </a:lnTo>
                  <a:lnTo>
                    <a:pt x="147751" y="16141"/>
                  </a:lnTo>
                  <a:close/>
                </a:path>
                <a:path w="305435" h="382905">
                  <a:moveTo>
                    <a:pt x="143398" y="48412"/>
                  </a:moveTo>
                  <a:lnTo>
                    <a:pt x="126364" y="48412"/>
                  </a:lnTo>
                  <a:lnTo>
                    <a:pt x="136398" y="50711"/>
                  </a:lnTo>
                  <a:lnTo>
                    <a:pt x="143398" y="48412"/>
                  </a:lnTo>
                  <a:close/>
                </a:path>
                <a:path w="305435" h="382905">
                  <a:moveTo>
                    <a:pt x="110312" y="23050"/>
                  </a:moveTo>
                  <a:lnTo>
                    <a:pt x="106311" y="25361"/>
                  </a:lnTo>
                  <a:lnTo>
                    <a:pt x="117101" y="25361"/>
                  </a:lnTo>
                  <a:lnTo>
                    <a:pt x="110312" y="23050"/>
                  </a:lnTo>
                  <a:close/>
                </a:path>
              </a:pathLst>
            </a:custGeom>
            <a:solidFill>
              <a:srgbClr val="3D61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4373" y="2006345"/>
              <a:ext cx="298703" cy="34213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3053" y="2031246"/>
              <a:ext cx="195059" cy="23881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2944" y="2284475"/>
              <a:ext cx="298703" cy="34213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1553" y="2308973"/>
              <a:ext cx="195059" cy="23881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51809" y="1974341"/>
              <a:ext cx="298703" cy="34213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30624" y="1998978"/>
              <a:ext cx="195059" cy="23881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0379" y="2251709"/>
              <a:ext cx="298703" cy="34289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9125" y="2276703"/>
              <a:ext cx="195059" cy="23881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9620" y="2090927"/>
              <a:ext cx="1230617" cy="27584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620728" y="2111743"/>
              <a:ext cx="1148715" cy="194310"/>
            </a:xfrm>
            <a:custGeom>
              <a:avLst/>
              <a:gdLst/>
              <a:ahLst/>
              <a:cxnLst/>
              <a:rect l="l" t="t" r="r" b="b"/>
              <a:pathLst>
                <a:path w="1148714" h="194310">
                  <a:moveTo>
                    <a:pt x="1625" y="7035"/>
                  </a:moveTo>
                  <a:lnTo>
                    <a:pt x="0" y="17576"/>
                  </a:lnTo>
                  <a:lnTo>
                    <a:pt x="1145679" y="194157"/>
                  </a:lnTo>
                  <a:lnTo>
                    <a:pt x="1147305" y="183603"/>
                  </a:lnTo>
                  <a:lnTo>
                    <a:pt x="1625" y="7035"/>
                  </a:lnTo>
                  <a:close/>
                </a:path>
                <a:path w="1148714" h="194310">
                  <a:moveTo>
                    <a:pt x="2705" y="0"/>
                  </a:moveTo>
                  <a:lnTo>
                    <a:pt x="2171" y="3517"/>
                  </a:lnTo>
                  <a:lnTo>
                    <a:pt x="1147838" y="180098"/>
                  </a:lnTo>
                  <a:lnTo>
                    <a:pt x="1148384" y="176580"/>
                  </a:lnTo>
                  <a:lnTo>
                    <a:pt x="270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9327" y="2266949"/>
              <a:ext cx="1280159" cy="21412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570090" y="2288263"/>
              <a:ext cx="1198880" cy="132080"/>
            </a:xfrm>
            <a:custGeom>
              <a:avLst/>
              <a:gdLst/>
              <a:ahLst/>
              <a:cxnLst/>
              <a:rect l="l" t="t" r="r" b="b"/>
              <a:pathLst>
                <a:path w="1198879" h="132080">
                  <a:moveTo>
                    <a:pt x="1197495" y="7073"/>
                  </a:moveTo>
                  <a:lnTo>
                    <a:pt x="673" y="120942"/>
                  </a:lnTo>
                  <a:lnTo>
                    <a:pt x="1689" y="131559"/>
                  </a:lnTo>
                  <a:lnTo>
                    <a:pt x="1198511" y="17691"/>
                  </a:lnTo>
                  <a:lnTo>
                    <a:pt x="1197495" y="7073"/>
                  </a:lnTo>
                  <a:close/>
                </a:path>
                <a:path w="1198879" h="132080">
                  <a:moveTo>
                    <a:pt x="1196822" y="0"/>
                  </a:moveTo>
                  <a:lnTo>
                    <a:pt x="0" y="113855"/>
                  </a:lnTo>
                  <a:lnTo>
                    <a:pt x="342" y="117398"/>
                  </a:lnTo>
                  <a:lnTo>
                    <a:pt x="1197165" y="3543"/>
                  </a:lnTo>
                  <a:lnTo>
                    <a:pt x="119682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4463" y="2298953"/>
              <a:ext cx="363473" cy="323849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553064" y="2384356"/>
              <a:ext cx="260350" cy="125730"/>
            </a:xfrm>
            <a:custGeom>
              <a:avLst/>
              <a:gdLst/>
              <a:ahLst/>
              <a:cxnLst/>
              <a:rect l="l" t="t" r="r" b="b"/>
              <a:pathLst>
                <a:path w="260350" h="125730">
                  <a:moveTo>
                    <a:pt x="260134" y="0"/>
                  </a:moveTo>
                  <a:lnTo>
                    <a:pt x="0" y="0"/>
                  </a:lnTo>
                  <a:lnTo>
                    <a:pt x="1193" y="65824"/>
                  </a:lnTo>
                  <a:lnTo>
                    <a:pt x="5891" y="80300"/>
                  </a:lnTo>
                  <a:lnTo>
                    <a:pt x="24461" y="100260"/>
                  </a:lnTo>
                  <a:lnTo>
                    <a:pt x="63617" y="117934"/>
                  </a:lnTo>
                  <a:lnTo>
                    <a:pt x="130073" y="125552"/>
                  </a:lnTo>
                  <a:lnTo>
                    <a:pt x="196708" y="117648"/>
                  </a:lnTo>
                  <a:lnTo>
                    <a:pt x="236270" y="99802"/>
                  </a:lnTo>
                  <a:lnTo>
                    <a:pt x="255249" y="80814"/>
                  </a:lnTo>
                  <a:lnTo>
                    <a:pt x="260134" y="69481"/>
                  </a:lnTo>
                  <a:lnTo>
                    <a:pt x="260134" y="0"/>
                  </a:lnTo>
                  <a:close/>
                </a:path>
              </a:pathLst>
            </a:custGeom>
            <a:solidFill>
              <a:srgbClr val="3D61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6970" y="2325507"/>
              <a:ext cx="253631" cy="11574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554371" y="2323548"/>
              <a:ext cx="259079" cy="120650"/>
            </a:xfrm>
            <a:custGeom>
              <a:avLst/>
              <a:gdLst/>
              <a:ahLst/>
              <a:cxnLst/>
              <a:rect l="l" t="t" r="r" b="b"/>
              <a:pathLst>
                <a:path w="259079" h="120650">
                  <a:moveTo>
                    <a:pt x="128816" y="0"/>
                  </a:moveTo>
                  <a:lnTo>
                    <a:pt x="79013" y="4418"/>
                  </a:lnTo>
                  <a:lnTo>
                    <a:pt x="38163" y="17056"/>
                  </a:lnTo>
                  <a:lnTo>
                    <a:pt x="2775" y="47220"/>
                  </a:lnTo>
                  <a:lnTo>
                    <a:pt x="0" y="59715"/>
                  </a:lnTo>
                  <a:lnTo>
                    <a:pt x="2665" y="72221"/>
                  </a:lnTo>
                  <a:lnTo>
                    <a:pt x="2775" y="72736"/>
                  </a:lnTo>
                  <a:lnTo>
                    <a:pt x="38163" y="103581"/>
                  </a:lnTo>
                  <a:lnTo>
                    <a:pt x="79013" y="116224"/>
                  </a:lnTo>
                  <a:lnTo>
                    <a:pt x="128816" y="120637"/>
                  </a:lnTo>
                  <a:lnTo>
                    <a:pt x="154221" y="119515"/>
                  </a:lnTo>
                  <a:lnTo>
                    <a:pt x="178171" y="116224"/>
                  </a:lnTo>
                  <a:lnTo>
                    <a:pt x="180020" y="115773"/>
                  </a:lnTo>
                  <a:lnTo>
                    <a:pt x="128816" y="115773"/>
                  </a:lnTo>
                  <a:lnTo>
                    <a:pt x="103616" y="114649"/>
                  </a:lnTo>
                  <a:lnTo>
                    <a:pt x="59035" y="106000"/>
                  </a:lnTo>
                  <a:lnTo>
                    <a:pt x="14155" y="81038"/>
                  </a:lnTo>
                  <a:lnTo>
                    <a:pt x="4762" y="59715"/>
                  </a:lnTo>
                  <a:lnTo>
                    <a:pt x="7166" y="49506"/>
                  </a:lnTo>
                  <a:lnTo>
                    <a:pt x="40551" y="20713"/>
                  </a:lnTo>
                  <a:lnTo>
                    <a:pt x="79737" y="9252"/>
                  </a:lnTo>
                  <a:lnTo>
                    <a:pt x="79388" y="9252"/>
                  </a:lnTo>
                  <a:lnTo>
                    <a:pt x="103616" y="5981"/>
                  </a:lnTo>
                  <a:lnTo>
                    <a:pt x="128816" y="4876"/>
                  </a:lnTo>
                  <a:lnTo>
                    <a:pt x="180859" y="4876"/>
                  </a:lnTo>
                  <a:lnTo>
                    <a:pt x="178171" y="4265"/>
                  </a:lnTo>
                  <a:lnTo>
                    <a:pt x="154365" y="1123"/>
                  </a:lnTo>
                  <a:lnTo>
                    <a:pt x="154659" y="1123"/>
                  </a:lnTo>
                  <a:lnTo>
                    <a:pt x="128816" y="0"/>
                  </a:lnTo>
                  <a:close/>
                </a:path>
                <a:path w="259079" h="120650">
                  <a:moveTo>
                    <a:pt x="180859" y="4876"/>
                  </a:moveTo>
                  <a:lnTo>
                    <a:pt x="128816" y="4876"/>
                  </a:lnTo>
                  <a:lnTo>
                    <a:pt x="154016" y="5981"/>
                  </a:lnTo>
                  <a:lnTo>
                    <a:pt x="178243" y="9252"/>
                  </a:lnTo>
                  <a:lnTo>
                    <a:pt x="177894" y="9252"/>
                  </a:lnTo>
                  <a:lnTo>
                    <a:pt x="198596" y="14129"/>
                  </a:lnTo>
                  <a:lnTo>
                    <a:pt x="217081" y="20713"/>
                  </a:lnTo>
                  <a:lnTo>
                    <a:pt x="232926" y="29379"/>
                  </a:lnTo>
                  <a:lnTo>
                    <a:pt x="244521" y="38842"/>
                  </a:lnTo>
                  <a:lnTo>
                    <a:pt x="251640" y="48992"/>
                  </a:lnTo>
                  <a:lnTo>
                    <a:pt x="254063" y="59715"/>
                  </a:lnTo>
                  <a:lnTo>
                    <a:pt x="251640" y="70433"/>
                  </a:lnTo>
                  <a:lnTo>
                    <a:pt x="217081" y="98704"/>
                  </a:lnTo>
                  <a:lnTo>
                    <a:pt x="177425" y="111353"/>
                  </a:lnTo>
                  <a:lnTo>
                    <a:pt x="128816" y="115773"/>
                  </a:lnTo>
                  <a:lnTo>
                    <a:pt x="180020" y="115773"/>
                  </a:lnTo>
                  <a:lnTo>
                    <a:pt x="219468" y="103581"/>
                  </a:lnTo>
                  <a:lnTo>
                    <a:pt x="256042" y="72221"/>
                  </a:lnTo>
                  <a:lnTo>
                    <a:pt x="258838" y="59715"/>
                  </a:lnTo>
                  <a:lnTo>
                    <a:pt x="256157" y="47220"/>
                  </a:lnTo>
                  <a:lnTo>
                    <a:pt x="219468" y="15836"/>
                  </a:lnTo>
                  <a:lnTo>
                    <a:pt x="200107" y="9252"/>
                  </a:lnTo>
                  <a:lnTo>
                    <a:pt x="180859" y="4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493239" y="2545491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Microsoft YaHei"/>
                <a:cs typeface="Microsoft YaHei"/>
              </a:rPr>
              <a:t>核心网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4474463" y="2042921"/>
            <a:ext cx="2632075" cy="607695"/>
            <a:chOff x="4474463" y="2042921"/>
            <a:chExt cx="2632075" cy="607695"/>
          </a:xfrm>
        </p:grpSpPr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74463" y="2042921"/>
              <a:ext cx="363473" cy="32461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553224" y="2128592"/>
              <a:ext cx="260350" cy="125730"/>
            </a:xfrm>
            <a:custGeom>
              <a:avLst/>
              <a:gdLst/>
              <a:ahLst/>
              <a:cxnLst/>
              <a:rect l="l" t="t" r="r" b="b"/>
              <a:pathLst>
                <a:path w="260350" h="125730">
                  <a:moveTo>
                    <a:pt x="260134" y="0"/>
                  </a:moveTo>
                  <a:lnTo>
                    <a:pt x="0" y="0"/>
                  </a:lnTo>
                  <a:lnTo>
                    <a:pt x="1193" y="65824"/>
                  </a:lnTo>
                  <a:lnTo>
                    <a:pt x="5891" y="80300"/>
                  </a:lnTo>
                  <a:lnTo>
                    <a:pt x="24461" y="100260"/>
                  </a:lnTo>
                  <a:lnTo>
                    <a:pt x="63617" y="117934"/>
                  </a:lnTo>
                  <a:lnTo>
                    <a:pt x="130073" y="125552"/>
                  </a:lnTo>
                  <a:lnTo>
                    <a:pt x="196708" y="117648"/>
                  </a:lnTo>
                  <a:lnTo>
                    <a:pt x="236270" y="99802"/>
                  </a:lnTo>
                  <a:lnTo>
                    <a:pt x="255249" y="80814"/>
                  </a:lnTo>
                  <a:lnTo>
                    <a:pt x="260134" y="69481"/>
                  </a:lnTo>
                  <a:lnTo>
                    <a:pt x="260134" y="0"/>
                  </a:lnTo>
                  <a:close/>
                </a:path>
              </a:pathLst>
            </a:custGeom>
            <a:solidFill>
              <a:srgbClr val="3D61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57130" y="2069741"/>
              <a:ext cx="253631" cy="11574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4554518" y="2067783"/>
              <a:ext cx="259079" cy="120650"/>
            </a:xfrm>
            <a:custGeom>
              <a:avLst/>
              <a:gdLst/>
              <a:ahLst/>
              <a:cxnLst/>
              <a:rect l="l" t="t" r="r" b="b"/>
              <a:pathLst>
                <a:path w="259079" h="120650">
                  <a:moveTo>
                    <a:pt x="128828" y="0"/>
                  </a:moveTo>
                  <a:lnTo>
                    <a:pt x="79025" y="4418"/>
                  </a:lnTo>
                  <a:lnTo>
                    <a:pt x="38176" y="17056"/>
                  </a:lnTo>
                  <a:lnTo>
                    <a:pt x="2777" y="47220"/>
                  </a:lnTo>
                  <a:lnTo>
                    <a:pt x="0" y="59715"/>
                  </a:lnTo>
                  <a:lnTo>
                    <a:pt x="2667" y="72221"/>
                  </a:lnTo>
                  <a:lnTo>
                    <a:pt x="38176" y="103581"/>
                  </a:lnTo>
                  <a:lnTo>
                    <a:pt x="79025" y="116224"/>
                  </a:lnTo>
                  <a:lnTo>
                    <a:pt x="128828" y="120637"/>
                  </a:lnTo>
                  <a:lnTo>
                    <a:pt x="154233" y="119515"/>
                  </a:lnTo>
                  <a:lnTo>
                    <a:pt x="178184" y="116224"/>
                  </a:lnTo>
                  <a:lnTo>
                    <a:pt x="180033" y="115773"/>
                  </a:lnTo>
                  <a:lnTo>
                    <a:pt x="128828" y="115773"/>
                  </a:lnTo>
                  <a:lnTo>
                    <a:pt x="103628" y="114649"/>
                  </a:lnTo>
                  <a:lnTo>
                    <a:pt x="59048" y="106000"/>
                  </a:lnTo>
                  <a:lnTo>
                    <a:pt x="14168" y="81038"/>
                  </a:lnTo>
                  <a:lnTo>
                    <a:pt x="4775" y="59715"/>
                  </a:lnTo>
                  <a:lnTo>
                    <a:pt x="7179" y="49506"/>
                  </a:lnTo>
                  <a:lnTo>
                    <a:pt x="40563" y="20713"/>
                  </a:lnTo>
                  <a:lnTo>
                    <a:pt x="79750" y="9252"/>
                  </a:lnTo>
                  <a:lnTo>
                    <a:pt x="79400" y="9252"/>
                  </a:lnTo>
                  <a:lnTo>
                    <a:pt x="103628" y="5981"/>
                  </a:lnTo>
                  <a:lnTo>
                    <a:pt x="128828" y="4876"/>
                  </a:lnTo>
                  <a:lnTo>
                    <a:pt x="180872" y="4876"/>
                  </a:lnTo>
                  <a:lnTo>
                    <a:pt x="178184" y="4265"/>
                  </a:lnTo>
                  <a:lnTo>
                    <a:pt x="154378" y="1123"/>
                  </a:lnTo>
                  <a:lnTo>
                    <a:pt x="154672" y="1123"/>
                  </a:lnTo>
                  <a:lnTo>
                    <a:pt x="128828" y="0"/>
                  </a:lnTo>
                  <a:close/>
                </a:path>
                <a:path w="259079" h="120650">
                  <a:moveTo>
                    <a:pt x="180872" y="4876"/>
                  </a:moveTo>
                  <a:lnTo>
                    <a:pt x="128828" y="4876"/>
                  </a:lnTo>
                  <a:lnTo>
                    <a:pt x="154028" y="5981"/>
                  </a:lnTo>
                  <a:lnTo>
                    <a:pt x="178256" y="9252"/>
                  </a:lnTo>
                  <a:lnTo>
                    <a:pt x="177907" y="9252"/>
                  </a:lnTo>
                  <a:lnTo>
                    <a:pt x="198608" y="14129"/>
                  </a:lnTo>
                  <a:lnTo>
                    <a:pt x="217093" y="20713"/>
                  </a:lnTo>
                  <a:lnTo>
                    <a:pt x="232939" y="29379"/>
                  </a:lnTo>
                  <a:lnTo>
                    <a:pt x="244533" y="38842"/>
                  </a:lnTo>
                  <a:lnTo>
                    <a:pt x="251653" y="48992"/>
                  </a:lnTo>
                  <a:lnTo>
                    <a:pt x="254076" y="59715"/>
                  </a:lnTo>
                  <a:lnTo>
                    <a:pt x="251653" y="70433"/>
                  </a:lnTo>
                  <a:lnTo>
                    <a:pt x="217093" y="98704"/>
                  </a:lnTo>
                  <a:lnTo>
                    <a:pt x="177438" y="111353"/>
                  </a:lnTo>
                  <a:lnTo>
                    <a:pt x="128828" y="115773"/>
                  </a:lnTo>
                  <a:lnTo>
                    <a:pt x="180033" y="115773"/>
                  </a:lnTo>
                  <a:lnTo>
                    <a:pt x="219481" y="103581"/>
                  </a:lnTo>
                  <a:lnTo>
                    <a:pt x="256055" y="72221"/>
                  </a:lnTo>
                  <a:lnTo>
                    <a:pt x="258851" y="59715"/>
                  </a:lnTo>
                  <a:lnTo>
                    <a:pt x="256170" y="47220"/>
                  </a:lnTo>
                  <a:lnTo>
                    <a:pt x="219481" y="15836"/>
                  </a:lnTo>
                  <a:lnTo>
                    <a:pt x="200119" y="9252"/>
                  </a:lnTo>
                  <a:lnTo>
                    <a:pt x="180872" y="4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74039" y="2087397"/>
              <a:ext cx="227622" cy="7160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24143" y="2245613"/>
              <a:ext cx="1382267" cy="26746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65377" y="2235909"/>
              <a:ext cx="1300124" cy="414419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6277869" y="2358884"/>
            <a:ext cx="4997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Internet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2042981" y="1866381"/>
            <a:ext cx="3212465" cy="781050"/>
          </a:xfrm>
          <a:custGeom>
            <a:avLst/>
            <a:gdLst/>
            <a:ahLst/>
            <a:cxnLst/>
            <a:rect l="l" t="t" r="r" b="b"/>
            <a:pathLst>
              <a:path w="3212465" h="781050">
                <a:moveTo>
                  <a:pt x="0" y="390359"/>
                </a:moveTo>
                <a:lnTo>
                  <a:pt x="14662" y="337389"/>
                </a:lnTo>
                <a:lnTo>
                  <a:pt x="40137" y="303250"/>
                </a:lnTo>
                <a:lnTo>
                  <a:pt x="77512" y="270211"/>
                </a:lnTo>
                <a:lnTo>
                  <a:pt x="126219" y="238411"/>
                </a:lnTo>
                <a:lnTo>
                  <a:pt x="185691" y="207988"/>
                </a:lnTo>
                <a:lnTo>
                  <a:pt x="255360" y="179078"/>
                </a:lnTo>
                <a:lnTo>
                  <a:pt x="293842" y="165234"/>
                </a:lnTo>
                <a:lnTo>
                  <a:pt x="334661" y="151820"/>
                </a:lnTo>
                <a:lnTo>
                  <a:pt x="377746" y="138853"/>
                </a:lnTo>
                <a:lnTo>
                  <a:pt x="423026" y="126351"/>
                </a:lnTo>
                <a:lnTo>
                  <a:pt x="470430" y="114331"/>
                </a:lnTo>
                <a:lnTo>
                  <a:pt x="519887" y="102810"/>
                </a:lnTo>
                <a:lnTo>
                  <a:pt x="571327" y="91805"/>
                </a:lnTo>
                <a:lnTo>
                  <a:pt x="624679" y="81334"/>
                </a:lnTo>
                <a:lnTo>
                  <a:pt x="679871" y="71414"/>
                </a:lnTo>
                <a:lnTo>
                  <a:pt x="736833" y="62061"/>
                </a:lnTo>
                <a:lnTo>
                  <a:pt x="795494" y="53294"/>
                </a:lnTo>
                <a:lnTo>
                  <a:pt x="855783" y="45129"/>
                </a:lnTo>
                <a:lnTo>
                  <a:pt x="917629" y="37584"/>
                </a:lnTo>
                <a:lnTo>
                  <a:pt x="980961" y="30675"/>
                </a:lnTo>
                <a:lnTo>
                  <a:pt x="1045709" y="24421"/>
                </a:lnTo>
                <a:lnTo>
                  <a:pt x="1111802" y="18838"/>
                </a:lnTo>
                <a:lnTo>
                  <a:pt x="1179168" y="13943"/>
                </a:lnTo>
                <a:lnTo>
                  <a:pt x="1247737" y="9754"/>
                </a:lnTo>
                <a:lnTo>
                  <a:pt x="1317438" y="6289"/>
                </a:lnTo>
                <a:lnTo>
                  <a:pt x="1388200" y="3563"/>
                </a:lnTo>
                <a:lnTo>
                  <a:pt x="1459952" y="1595"/>
                </a:lnTo>
                <a:lnTo>
                  <a:pt x="1532623" y="401"/>
                </a:lnTo>
                <a:lnTo>
                  <a:pt x="1606143" y="0"/>
                </a:lnTo>
                <a:lnTo>
                  <a:pt x="1679663" y="401"/>
                </a:lnTo>
                <a:lnTo>
                  <a:pt x="1752334" y="1595"/>
                </a:lnTo>
                <a:lnTo>
                  <a:pt x="1824086" y="3563"/>
                </a:lnTo>
                <a:lnTo>
                  <a:pt x="1894848" y="6289"/>
                </a:lnTo>
                <a:lnTo>
                  <a:pt x="1964549" y="9754"/>
                </a:lnTo>
                <a:lnTo>
                  <a:pt x="2033117" y="13943"/>
                </a:lnTo>
                <a:lnTo>
                  <a:pt x="2100483" y="18838"/>
                </a:lnTo>
                <a:lnTo>
                  <a:pt x="2166575" y="24421"/>
                </a:lnTo>
                <a:lnTo>
                  <a:pt x="2231323" y="30675"/>
                </a:lnTo>
                <a:lnTo>
                  <a:pt x="2294655" y="37584"/>
                </a:lnTo>
                <a:lnTo>
                  <a:pt x="2356501" y="45129"/>
                </a:lnTo>
                <a:lnTo>
                  <a:pt x="2416789" y="53294"/>
                </a:lnTo>
                <a:lnTo>
                  <a:pt x="2475450" y="62061"/>
                </a:lnTo>
                <a:lnTo>
                  <a:pt x="2532411" y="71414"/>
                </a:lnTo>
                <a:lnTo>
                  <a:pt x="2587603" y="81334"/>
                </a:lnTo>
                <a:lnTo>
                  <a:pt x="2640954" y="91805"/>
                </a:lnTo>
                <a:lnTo>
                  <a:pt x="2692393" y="102810"/>
                </a:lnTo>
                <a:lnTo>
                  <a:pt x="2741850" y="114331"/>
                </a:lnTo>
                <a:lnTo>
                  <a:pt x="2789254" y="126351"/>
                </a:lnTo>
                <a:lnTo>
                  <a:pt x="2834533" y="138853"/>
                </a:lnTo>
                <a:lnTo>
                  <a:pt x="2877617" y="151820"/>
                </a:lnTo>
                <a:lnTo>
                  <a:pt x="2918436" y="165234"/>
                </a:lnTo>
                <a:lnTo>
                  <a:pt x="2956917" y="179078"/>
                </a:lnTo>
                <a:lnTo>
                  <a:pt x="2992991" y="193335"/>
                </a:lnTo>
                <a:lnTo>
                  <a:pt x="3057631" y="223019"/>
                </a:lnTo>
                <a:lnTo>
                  <a:pt x="3111791" y="254148"/>
                </a:lnTo>
                <a:lnTo>
                  <a:pt x="3154902" y="286584"/>
                </a:lnTo>
                <a:lnTo>
                  <a:pt x="3186397" y="320190"/>
                </a:lnTo>
                <a:lnTo>
                  <a:pt x="3205710" y="354828"/>
                </a:lnTo>
                <a:lnTo>
                  <a:pt x="3212274" y="390359"/>
                </a:lnTo>
                <a:lnTo>
                  <a:pt x="3210621" y="408228"/>
                </a:lnTo>
                <a:lnTo>
                  <a:pt x="3205710" y="425891"/>
                </a:lnTo>
                <a:lnTo>
                  <a:pt x="3186397" y="460529"/>
                </a:lnTo>
                <a:lnTo>
                  <a:pt x="3154902" y="494135"/>
                </a:lnTo>
                <a:lnTo>
                  <a:pt x="3111791" y="526572"/>
                </a:lnTo>
                <a:lnTo>
                  <a:pt x="3057631" y="557702"/>
                </a:lnTo>
                <a:lnTo>
                  <a:pt x="2992991" y="587387"/>
                </a:lnTo>
                <a:lnTo>
                  <a:pt x="2956917" y="601645"/>
                </a:lnTo>
                <a:lnTo>
                  <a:pt x="2918436" y="615489"/>
                </a:lnTo>
                <a:lnTo>
                  <a:pt x="2877617" y="628904"/>
                </a:lnTo>
                <a:lnTo>
                  <a:pt x="2834533" y="641871"/>
                </a:lnTo>
                <a:lnTo>
                  <a:pt x="2789254" y="654373"/>
                </a:lnTo>
                <a:lnTo>
                  <a:pt x="2741850" y="666394"/>
                </a:lnTo>
                <a:lnTo>
                  <a:pt x="2692393" y="677915"/>
                </a:lnTo>
                <a:lnTo>
                  <a:pt x="2640954" y="688921"/>
                </a:lnTo>
                <a:lnTo>
                  <a:pt x="2587603" y="699392"/>
                </a:lnTo>
                <a:lnTo>
                  <a:pt x="2532411" y="709313"/>
                </a:lnTo>
                <a:lnTo>
                  <a:pt x="2475450" y="718667"/>
                </a:lnTo>
                <a:lnTo>
                  <a:pt x="2416789" y="727434"/>
                </a:lnTo>
                <a:lnTo>
                  <a:pt x="2356501" y="735600"/>
                </a:lnTo>
                <a:lnTo>
                  <a:pt x="2294655" y="743145"/>
                </a:lnTo>
                <a:lnTo>
                  <a:pt x="2231323" y="750054"/>
                </a:lnTo>
                <a:lnTo>
                  <a:pt x="2166575" y="756309"/>
                </a:lnTo>
                <a:lnTo>
                  <a:pt x="2100483" y="761893"/>
                </a:lnTo>
                <a:lnTo>
                  <a:pt x="2033117" y="766787"/>
                </a:lnTo>
                <a:lnTo>
                  <a:pt x="1964549" y="770976"/>
                </a:lnTo>
                <a:lnTo>
                  <a:pt x="1894848" y="774443"/>
                </a:lnTo>
                <a:lnTo>
                  <a:pt x="1824086" y="777168"/>
                </a:lnTo>
                <a:lnTo>
                  <a:pt x="1752334" y="779137"/>
                </a:lnTo>
                <a:lnTo>
                  <a:pt x="1679663" y="780330"/>
                </a:lnTo>
                <a:lnTo>
                  <a:pt x="1606143" y="780732"/>
                </a:lnTo>
                <a:lnTo>
                  <a:pt x="1532623" y="780330"/>
                </a:lnTo>
                <a:lnTo>
                  <a:pt x="1459952" y="779137"/>
                </a:lnTo>
                <a:lnTo>
                  <a:pt x="1388200" y="777168"/>
                </a:lnTo>
                <a:lnTo>
                  <a:pt x="1317438" y="774443"/>
                </a:lnTo>
                <a:lnTo>
                  <a:pt x="1247737" y="770976"/>
                </a:lnTo>
                <a:lnTo>
                  <a:pt x="1179168" y="766787"/>
                </a:lnTo>
                <a:lnTo>
                  <a:pt x="1111802" y="761893"/>
                </a:lnTo>
                <a:lnTo>
                  <a:pt x="1045709" y="756309"/>
                </a:lnTo>
                <a:lnTo>
                  <a:pt x="980961" y="750054"/>
                </a:lnTo>
                <a:lnTo>
                  <a:pt x="917629" y="743145"/>
                </a:lnTo>
                <a:lnTo>
                  <a:pt x="855783" y="735600"/>
                </a:lnTo>
                <a:lnTo>
                  <a:pt x="795494" y="727434"/>
                </a:lnTo>
                <a:lnTo>
                  <a:pt x="736833" y="718667"/>
                </a:lnTo>
                <a:lnTo>
                  <a:pt x="679871" y="709313"/>
                </a:lnTo>
                <a:lnTo>
                  <a:pt x="624679" y="699392"/>
                </a:lnTo>
                <a:lnTo>
                  <a:pt x="571327" y="688921"/>
                </a:lnTo>
                <a:lnTo>
                  <a:pt x="519887" y="677915"/>
                </a:lnTo>
                <a:lnTo>
                  <a:pt x="470430" y="666394"/>
                </a:lnTo>
                <a:lnTo>
                  <a:pt x="423026" y="654373"/>
                </a:lnTo>
                <a:lnTo>
                  <a:pt x="377746" y="641871"/>
                </a:lnTo>
                <a:lnTo>
                  <a:pt x="334661" y="628904"/>
                </a:lnTo>
                <a:lnTo>
                  <a:pt x="293842" y="615489"/>
                </a:lnTo>
                <a:lnTo>
                  <a:pt x="255360" y="601645"/>
                </a:lnTo>
                <a:lnTo>
                  <a:pt x="219286" y="587387"/>
                </a:lnTo>
                <a:lnTo>
                  <a:pt x="154645" y="557702"/>
                </a:lnTo>
                <a:lnTo>
                  <a:pt x="100484" y="526572"/>
                </a:lnTo>
                <a:lnTo>
                  <a:pt x="57373" y="494135"/>
                </a:lnTo>
                <a:lnTo>
                  <a:pt x="25877" y="460529"/>
                </a:lnTo>
                <a:lnTo>
                  <a:pt x="6563" y="425891"/>
                </a:lnTo>
                <a:lnTo>
                  <a:pt x="0" y="390359"/>
                </a:lnTo>
                <a:close/>
              </a:path>
            </a:pathLst>
          </a:custGeom>
          <a:ln w="126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3436297" y="2618868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Microsoft YaHei"/>
                <a:cs typeface="Microsoft YaHei"/>
              </a:rPr>
              <a:t>回传网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1809584" y="2008632"/>
            <a:ext cx="5913755" cy="666115"/>
            <a:chOff x="1809584" y="2008632"/>
            <a:chExt cx="5913755" cy="666115"/>
          </a:xfrm>
        </p:grpSpPr>
        <p:sp>
          <p:nvSpPr>
            <p:cNvPr id="46" name="object 46" descr=""/>
            <p:cNvSpPr/>
            <p:nvPr/>
          </p:nvSpPr>
          <p:spPr>
            <a:xfrm>
              <a:off x="1811172" y="2256746"/>
              <a:ext cx="206375" cy="5080"/>
            </a:xfrm>
            <a:custGeom>
              <a:avLst/>
              <a:gdLst/>
              <a:ahLst/>
              <a:cxnLst/>
              <a:rect l="l" t="t" r="r" b="b"/>
              <a:pathLst>
                <a:path w="206375" h="5080">
                  <a:moveTo>
                    <a:pt x="0" y="4787"/>
                  </a:moveTo>
                  <a:lnTo>
                    <a:pt x="2060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79720" y="2008632"/>
              <a:ext cx="472440" cy="52730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64362" y="2433612"/>
              <a:ext cx="658672" cy="240610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7122517" y="2695882"/>
            <a:ext cx="532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Microsoft YaHei"/>
                <a:cs typeface="Microsoft YaHei"/>
              </a:rPr>
              <a:t>互联网业务</a:t>
            </a:r>
            <a:endParaRPr sz="800">
              <a:latin typeface="Microsoft YaHei"/>
              <a:cs typeface="Microsoft YaHe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36930" y="1991766"/>
            <a:ext cx="679818" cy="435043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643147" y="2723975"/>
            <a:ext cx="5381625" cy="102870"/>
            <a:chOff x="643147" y="2723975"/>
            <a:chExt cx="5381625" cy="102870"/>
          </a:xfrm>
        </p:grpSpPr>
        <p:sp>
          <p:nvSpPr>
            <p:cNvPr id="52" name="object 52" descr=""/>
            <p:cNvSpPr/>
            <p:nvPr/>
          </p:nvSpPr>
          <p:spPr>
            <a:xfrm>
              <a:off x="649503" y="2774765"/>
              <a:ext cx="5368925" cy="1270"/>
            </a:xfrm>
            <a:custGeom>
              <a:avLst/>
              <a:gdLst/>
              <a:ahLst/>
              <a:cxnLst/>
              <a:rect l="l" t="t" r="r" b="b"/>
              <a:pathLst>
                <a:path w="5368925" h="1269">
                  <a:moveTo>
                    <a:pt x="0" y="0"/>
                  </a:moveTo>
                  <a:lnTo>
                    <a:pt x="5368442" y="952"/>
                  </a:lnTo>
                </a:path>
              </a:pathLst>
            </a:custGeom>
            <a:ln w="127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941732" y="2731245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25" y="0"/>
                  </a:moveTo>
                  <a:lnTo>
                    <a:pt x="76212" y="44462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49497" y="2730325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76200" y="88900"/>
                  </a:moveTo>
                  <a:lnTo>
                    <a:pt x="0" y="44437"/>
                  </a:lnTo>
                  <a:lnTo>
                    <a:pt x="762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5766172" y="1878710"/>
            <a:ext cx="1195705" cy="408305"/>
            <a:chOff x="5766172" y="1878710"/>
            <a:chExt cx="1195705" cy="408305"/>
          </a:xfrm>
        </p:grpSpPr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29390" y="1878710"/>
              <a:ext cx="532253" cy="24555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5767759" y="2059781"/>
              <a:ext cx="408305" cy="225425"/>
            </a:xfrm>
            <a:custGeom>
              <a:avLst/>
              <a:gdLst/>
              <a:ahLst/>
              <a:cxnLst/>
              <a:rect l="l" t="t" r="r" b="b"/>
              <a:pathLst>
                <a:path w="408304" h="225425">
                  <a:moveTo>
                    <a:pt x="0" y="225386"/>
                  </a:moveTo>
                  <a:lnTo>
                    <a:pt x="4080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7479195" y="1902546"/>
            <a:ext cx="532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Microsoft YaHei"/>
                <a:cs typeface="Microsoft YaHei"/>
              </a:rPr>
              <a:t>运营商业务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413029" y="865224"/>
            <a:ext cx="5377180" cy="944244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10820" indent="-198120">
              <a:lnSpc>
                <a:spcPct val="100000"/>
              </a:lnSpc>
              <a:spcBef>
                <a:spcPts val="595"/>
              </a:spcBef>
              <a:buFont typeface="Wingdings"/>
              <a:buChar char=""/>
              <a:tabLst>
                <a:tab pos="210820" algn="l"/>
              </a:tabLst>
            </a:pPr>
            <a:r>
              <a:rPr dirty="0" sz="1400" spc="-25">
                <a:latin typeface="Microsoft YaHei"/>
                <a:cs typeface="Microsoft YaHei"/>
              </a:rPr>
              <a:t>提供本地化业务平台，缩短时延，提高效率，降低成本，方便部署</a:t>
            </a:r>
            <a:endParaRPr sz="1400">
              <a:latin typeface="Microsoft YaHei"/>
              <a:cs typeface="Microsoft YaHei"/>
            </a:endParaRPr>
          </a:p>
          <a:p>
            <a:pPr marL="210820" indent="-198120">
              <a:lnSpc>
                <a:spcPct val="100000"/>
              </a:lnSpc>
              <a:spcBef>
                <a:spcPts val="500"/>
              </a:spcBef>
              <a:buFont typeface="Wingdings"/>
              <a:buChar char=""/>
              <a:tabLst>
                <a:tab pos="210820" algn="l"/>
              </a:tabLst>
            </a:pPr>
            <a:r>
              <a:rPr dirty="0" sz="1400" spc="-25">
                <a:latin typeface="Microsoft YaHei"/>
                <a:cs typeface="Microsoft YaHei"/>
              </a:rPr>
              <a:t>支持本地原生大数据的快速收集、分布式处理，支撑新的商业模式</a:t>
            </a:r>
            <a:endParaRPr sz="1400">
              <a:latin typeface="Microsoft YaHei"/>
              <a:cs typeface="Microsoft YaHei"/>
            </a:endParaRPr>
          </a:p>
          <a:p>
            <a:pPr marL="226695">
              <a:lnSpc>
                <a:spcPct val="100000"/>
              </a:lnSpc>
              <a:spcBef>
                <a:spcPts val="1560"/>
              </a:spcBef>
            </a:pPr>
            <a:r>
              <a:rPr dirty="0" sz="1100" spc="-25">
                <a:latin typeface="Microsoft YaHei"/>
                <a:cs typeface="Microsoft YaHei"/>
              </a:rPr>
              <a:t>现状：业务经过多级传输网、穿越多个网络功能节点、路径长，时延大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452010" y="2577565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基站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817671" y="4795545"/>
            <a:ext cx="2722880" cy="102870"/>
            <a:chOff x="817671" y="4795545"/>
            <a:chExt cx="2722880" cy="102870"/>
          </a:xfrm>
        </p:grpSpPr>
        <p:sp>
          <p:nvSpPr>
            <p:cNvPr id="62" name="object 62" descr=""/>
            <p:cNvSpPr/>
            <p:nvPr/>
          </p:nvSpPr>
          <p:spPr>
            <a:xfrm>
              <a:off x="824024" y="4846318"/>
              <a:ext cx="2710180" cy="1270"/>
            </a:xfrm>
            <a:custGeom>
              <a:avLst/>
              <a:gdLst/>
              <a:ahLst/>
              <a:cxnLst/>
              <a:rect l="l" t="t" r="r" b="b"/>
              <a:pathLst>
                <a:path w="2710179" h="1270">
                  <a:moveTo>
                    <a:pt x="0" y="0"/>
                  </a:moveTo>
                  <a:lnTo>
                    <a:pt x="2710053" y="1079"/>
                  </a:lnTo>
                </a:path>
              </a:pathLst>
            </a:custGeom>
            <a:ln w="126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457858" y="4802915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38" y="0"/>
                  </a:moveTo>
                  <a:lnTo>
                    <a:pt x="76212" y="44488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24021" y="4801895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76187" y="88900"/>
                  </a:moveTo>
                  <a:lnTo>
                    <a:pt x="0" y="44424"/>
                  </a:lnTo>
                  <a:lnTo>
                    <a:pt x="762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210638" y="4890408"/>
            <a:ext cx="1743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Microsoft YaHei"/>
                <a:cs typeface="Microsoft YaHei"/>
              </a:rPr>
              <a:t>理想时延毫秒级，典型时延</a:t>
            </a:r>
            <a:r>
              <a:rPr dirty="0" sz="900" spc="-10">
                <a:latin typeface="Arial MT"/>
                <a:cs typeface="Arial MT"/>
              </a:rPr>
              <a:t>&lt;10ms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5485638" y="3482881"/>
            <a:ext cx="2090420" cy="529590"/>
            <a:chOff x="5485638" y="3482881"/>
            <a:chExt cx="2090420" cy="529590"/>
          </a:xfrm>
        </p:grpSpPr>
        <p:sp>
          <p:nvSpPr>
            <p:cNvPr id="67" name="object 67" descr=""/>
            <p:cNvSpPr/>
            <p:nvPr/>
          </p:nvSpPr>
          <p:spPr>
            <a:xfrm>
              <a:off x="6613895" y="3495581"/>
              <a:ext cx="949960" cy="397510"/>
            </a:xfrm>
            <a:custGeom>
              <a:avLst/>
              <a:gdLst/>
              <a:ahLst/>
              <a:cxnLst/>
              <a:rect l="l" t="t" r="r" b="b"/>
              <a:pathLst>
                <a:path w="949959" h="397510">
                  <a:moveTo>
                    <a:pt x="85785" y="130771"/>
                  </a:moveTo>
                  <a:lnTo>
                    <a:pt x="114734" y="68216"/>
                  </a:lnTo>
                  <a:lnTo>
                    <a:pt x="157229" y="46648"/>
                  </a:lnTo>
                  <a:lnTo>
                    <a:pt x="212950" y="35636"/>
                  </a:lnTo>
                  <a:lnTo>
                    <a:pt x="237669" y="34905"/>
                  </a:lnTo>
                  <a:lnTo>
                    <a:pt x="262096" y="36502"/>
                  </a:lnTo>
                  <a:lnTo>
                    <a:pt x="285727" y="40372"/>
                  </a:lnTo>
                  <a:lnTo>
                    <a:pt x="308060" y="46456"/>
                  </a:lnTo>
                  <a:lnTo>
                    <a:pt x="337621" y="25944"/>
                  </a:lnTo>
                  <a:lnTo>
                    <a:pt x="377313" y="13903"/>
                  </a:lnTo>
                  <a:lnTo>
                    <a:pt x="422035" y="11220"/>
                  </a:lnTo>
                  <a:lnTo>
                    <a:pt x="466683" y="18783"/>
                  </a:lnTo>
                  <a:lnTo>
                    <a:pt x="474030" y="21208"/>
                  </a:lnTo>
                  <a:lnTo>
                    <a:pt x="481039" y="23922"/>
                  </a:lnTo>
                  <a:lnTo>
                    <a:pt x="487684" y="26914"/>
                  </a:lnTo>
                  <a:lnTo>
                    <a:pt x="493937" y="30175"/>
                  </a:lnTo>
                  <a:lnTo>
                    <a:pt x="517374" y="13052"/>
                  </a:lnTo>
                  <a:lnTo>
                    <a:pt x="549411" y="2730"/>
                  </a:lnTo>
                  <a:lnTo>
                    <a:pt x="585906" y="0"/>
                  </a:lnTo>
                  <a:lnTo>
                    <a:pt x="622715" y="5651"/>
                  </a:lnTo>
                  <a:lnTo>
                    <a:pt x="632236" y="8757"/>
                  </a:lnTo>
                  <a:lnTo>
                    <a:pt x="641046" y="12447"/>
                  </a:lnTo>
                  <a:lnTo>
                    <a:pt x="649063" y="16683"/>
                  </a:lnTo>
                  <a:lnTo>
                    <a:pt x="656205" y="21424"/>
                  </a:lnTo>
                  <a:lnTo>
                    <a:pt x="689498" y="6498"/>
                  </a:lnTo>
                  <a:lnTo>
                    <a:pt x="728919" y="198"/>
                  </a:lnTo>
                  <a:lnTo>
                    <a:pt x="769627" y="2749"/>
                  </a:lnTo>
                  <a:lnTo>
                    <a:pt x="806777" y="14376"/>
                  </a:lnTo>
                  <a:lnTo>
                    <a:pt x="838016" y="39783"/>
                  </a:lnTo>
                  <a:lnTo>
                    <a:pt x="842845" y="49898"/>
                  </a:lnTo>
                  <a:lnTo>
                    <a:pt x="884478" y="61809"/>
                  </a:lnTo>
                  <a:lnTo>
                    <a:pt x="913847" y="81226"/>
                  </a:lnTo>
                  <a:lnTo>
                    <a:pt x="928305" y="105505"/>
                  </a:lnTo>
                  <a:lnTo>
                    <a:pt x="925204" y="132003"/>
                  </a:lnTo>
                  <a:lnTo>
                    <a:pt x="923782" y="135001"/>
                  </a:lnTo>
                  <a:lnTo>
                    <a:pt x="921978" y="137934"/>
                  </a:lnTo>
                  <a:lnTo>
                    <a:pt x="919832" y="140792"/>
                  </a:lnTo>
                  <a:lnTo>
                    <a:pt x="945880" y="171030"/>
                  </a:lnTo>
                  <a:lnTo>
                    <a:pt x="931292" y="234302"/>
                  </a:lnTo>
                  <a:lnTo>
                    <a:pt x="892425" y="259689"/>
                  </a:lnTo>
                  <a:lnTo>
                    <a:pt x="841471" y="274157"/>
                  </a:lnTo>
                  <a:lnTo>
                    <a:pt x="822740" y="276390"/>
                  </a:lnTo>
                  <a:lnTo>
                    <a:pt x="812346" y="304504"/>
                  </a:lnTo>
                  <a:lnTo>
                    <a:pt x="784753" y="327375"/>
                  </a:lnTo>
                  <a:lnTo>
                    <a:pt x="744090" y="342696"/>
                  </a:lnTo>
                  <a:lnTo>
                    <a:pt x="694483" y="348157"/>
                  </a:lnTo>
                  <a:lnTo>
                    <a:pt x="677007" y="347388"/>
                  </a:lnTo>
                  <a:lnTo>
                    <a:pt x="659960" y="345276"/>
                  </a:lnTo>
                  <a:lnTo>
                    <a:pt x="643582" y="341862"/>
                  </a:lnTo>
                  <a:lnTo>
                    <a:pt x="628113" y="337185"/>
                  </a:lnTo>
                  <a:lnTo>
                    <a:pt x="600193" y="366825"/>
                  </a:lnTo>
                  <a:lnTo>
                    <a:pt x="556050" y="387345"/>
                  </a:lnTo>
                  <a:lnTo>
                    <a:pt x="501644" y="396922"/>
                  </a:lnTo>
                  <a:lnTo>
                    <a:pt x="442934" y="393738"/>
                  </a:lnTo>
                  <a:lnTo>
                    <a:pt x="419171" y="388316"/>
                  </a:lnTo>
                  <a:lnTo>
                    <a:pt x="397543" y="380712"/>
                  </a:lnTo>
                  <a:lnTo>
                    <a:pt x="378503" y="371115"/>
                  </a:lnTo>
                  <a:lnTo>
                    <a:pt x="362505" y="359714"/>
                  </a:lnTo>
                  <a:lnTo>
                    <a:pt x="312044" y="371270"/>
                  </a:lnTo>
                  <a:lnTo>
                    <a:pt x="259672" y="373187"/>
                  </a:lnTo>
                  <a:lnTo>
                    <a:pt x="209230" y="366011"/>
                  </a:lnTo>
                  <a:lnTo>
                    <a:pt x="164555" y="350289"/>
                  </a:lnTo>
                  <a:lnTo>
                    <a:pt x="129486" y="326567"/>
                  </a:lnTo>
                  <a:lnTo>
                    <a:pt x="128279" y="325412"/>
                  </a:lnTo>
                  <a:lnTo>
                    <a:pt x="127682" y="324827"/>
                  </a:lnTo>
                  <a:lnTo>
                    <a:pt x="89729" y="323050"/>
                  </a:lnTo>
                  <a:lnTo>
                    <a:pt x="57057" y="313482"/>
                  </a:lnTo>
                  <a:lnTo>
                    <a:pt x="33092" y="297658"/>
                  </a:lnTo>
                  <a:lnTo>
                    <a:pt x="21256" y="277114"/>
                  </a:lnTo>
                  <a:lnTo>
                    <a:pt x="21099" y="265243"/>
                  </a:lnTo>
                  <a:lnTo>
                    <a:pt x="25406" y="253765"/>
                  </a:lnTo>
                  <a:lnTo>
                    <a:pt x="33947" y="243077"/>
                  </a:lnTo>
                  <a:lnTo>
                    <a:pt x="46491" y="233578"/>
                  </a:lnTo>
                  <a:lnTo>
                    <a:pt x="18187" y="219113"/>
                  </a:lnTo>
                  <a:lnTo>
                    <a:pt x="2324" y="200218"/>
                  </a:lnTo>
                  <a:lnTo>
                    <a:pt x="0" y="179300"/>
                  </a:lnTo>
                  <a:lnTo>
                    <a:pt x="12315" y="158762"/>
                  </a:lnTo>
                  <a:lnTo>
                    <a:pt x="25904" y="148495"/>
                  </a:lnTo>
                  <a:lnTo>
                    <a:pt x="43064" y="140420"/>
                  </a:lnTo>
                  <a:lnTo>
                    <a:pt x="63016" y="134827"/>
                  </a:lnTo>
                  <a:lnTo>
                    <a:pt x="84985" y="132003"/>
                  </a:lnTo>
                  <a:lnTo>
                    <a:pt x="85785" y="13077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661407" y="3515713"/>
              <a:ext cx="872490" cy="338455"/>
            </a:xfrm>
            <a:custGeom>
              <a:avLst/>
              <a:gdLst/>
              <a:ahLst/>
              <a:cxnLst/>
              <a:rect l="l" t="t" r="r" b="b"/>
              <a:pathLst>
                <a:path w="872490" h="338454">
                  <a:moveTo>
                    <a:pt x="55714" y="219227"/>
                  </a:moveTo>
                  <a:lnTo>
                    <a:pt x="41173" y="219239"/>
                  </a:lnTo>
                  <a:lnTo>
                    <a:pt x="26876" y="218001"/>
                  </a:lnTo>
                  <a:lnTo>
                    <a:pt x="13070" y="215544"/>
                  </a:lnTo>
                  <a:lnTo>
                    <a:pt x="0" y="211899"/>
                  </a:lnTo>
                </a:path>
                <a:path w="872490" h="338454">
                  <a:moveTo>
                    <a:pt x="104876" y="299440"/>
                  </a:moveTo>
                  <a:lnTo>
                    <a:pt x="97053" y="301218"/>
                  </a:lnTo>
                  <a:lnTo>
                    <a:pt x="88861" y="302399"/>
                  </a:lnTo>
                  <a:lnTo>
                    <a:pt x="80492" y="302945"/>
                  </a:lnTo>
                </a:path>
                <a:path w="872490" h="338454">
                  <a:moveTo>
                    <a:pt x="314934" y="337985"/>
                  </a:moveTo>
                  <a:lnTo>
                    <a:pt x="309054" y="332968"/>
                  </a:lnTo>
                  <a:lnTo>
                    <a:pt x="304126" y="327596"/>
                  </a:lnTo>
                  <a:lnTo>
                    <a:pt x="300253" y="321983"/>
                  </a:lnTo>
                </a:path>
                <a:path w="872490" h="338454">
                  <a:moveTo>
                    <a:pt x="586562" y="298081"/>
                  </a:moveTo>
                  <a:lnTo>
                    <a:pt x="585698" y="304037"/>
                  </a:lnTo>
                  <a:lnTo>
                    <a:pt x="583730" y="309918"/>
                  </a:lnTo>
                  <a:lnTo>
                    <a:pt x="580694" y="315645"/>
                  </a:lnTo>
                </a:path>
                <a:path w="872490" h="338454">
                  <a:moveTo>
                    <a:pt x="703186" y="189585"/>
                  </a:moveTo>
                  <a:lnTo>
                    <a:pt x="733012" y="201072"/>
                  </a:lnTo>
                  <a:lnTo>
                    <a:pt x="755621" y="216523"/>
                  </a:lnTo>
                  <a:lnTo>
                    <a:pt x="769891" y="234910"/>
                  </a:lnTo>
                  <a:lnTo>
                    <a:pt x="774700" y="255206"/>
                  </a:lnTo>
                </a:path>
                <a:path w="872490" h="338454">
                  <a:moveTo>
                    <a:pt x="871867" y="119684"/>
                  </a:moveTo>
                  <a:lnTo>
                    <a:pt x="865823" y="126596"/>
                  </a:lnTo>
                  <a:lnTo>
                    <a:pt x="858448" y="133043"/>
                  </a:lnTo>
                  <a:lnTo>
                    <a:pt x="849823" y="138963"/>
                  </a:lnTo>
                  <a:lnTo>
                    <a:pt x="840028" y="144297"/>
                  </a:lnTo>
                </a:path>
                <a:path w="872490" h="338454">
                  <a:moveTo>
                    <a:pt x="795464" y="28384"/>
                  </a:moveTo>
                  <a:lnTo>
                    <a:pt x="796671" y="32219"/>
                  </a:lnTo>
                  <a:lnTo>
                    <a:pt x="797242" y="36106"/>
                  </a:lnTo>
                  <a:lnTo>
                    <a:pt x="797140" y="40004"/>
                  </a:lnTo>
                </a:path>
                <a:path w="872490" h="338454">
                  <a:moveTo>
                    <a:pt x="592086" y="14820"/>
                  </a:moveTo>
                  <a:lnTo>
                    <a:pt x="596239" y="9461"/>
                  </a:lnTo>
                  <a:lnTo>
                    <a:pt x="601726" y="4470"/>
                  </a:lnTo>
                  <a:lnTo>
                    <a:pt x="608393" y="0"/>
                  </a:lnTo>
                </a:path>
                <a:path w="872490" h="338454">
                  <a:moveTo>
                    <a:pt x="439496" y="21894"/>
                  </a:moveTo>
                  <a:lnTo>
                    <a:pt x="441185" y="17462"/>
                  </a:lnTo>
                  <a:lnTo>
                    <a:pt x="443852" y="13169"/>
                  </a:lnTo>
                  <a:lnTo>
                    <a:pt x="447395" y="9105"/>
                  </a:lnTo>
                </a:path>
                <a:path w="872490" h="338454">
                  <a:moveTo>
                    <a:pt x="260426" y="26225"/>
                  </a:moveTo>
                  <a:lnTo>
                    <a:pt x="268059" y="28955"/>
                  </a:lnTo>
                  <a:lnTo>
                    <a:pt x="275383" y="31938"/>
                  </a:lnTo>
                  <a:lnTo>
                    <a:pt x="282378" y="35167"/>
                  </a:lnTo>
                  <a:lnTo>
                    <a:pt x="289026" y="38633"/>
                  </a:lnTo>
                </a:path>
                <a:path w="872490" h="338454">
                  <a:moveTo>
                    <a:pt x="43268" y="123685"/>
                  </a:moveTo>
                  <a:lnTo>
                    <a:pt x="40995" y="119418"/>
                  </a:lnTo>
                  <a:lnTo>
                    <a:pt x="39331" y="115061"/>
                  </a:lnTo>
                  <a:lnTo>
                    <a:pt x="38277" y="110642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85638" y="3903725"/>
              <a:ext cx="411479" cy="108203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5527116" y="3924643"/>
              <a:ext cx="328930" cy="26670"/>
            </a:xfrm>
            <a:custGeom>
              <a:avLst/>
              <a:gdLst/>
              <a:ahLst/>
              <a:cxnLst/>
              <a:rect l="l" t="t" r="r" b="b"/>
              <a:pathLst>
                <a:path w="328929" h="26670">
                  <a:moveTo>
                    <a:pt x="328447" y="15240"/>
                  </a:moveTo>
                  <a:lnTo>
                    <a:pt x="262826" y="15240"/>
                  </a:lnTo>
                  <a:lnTo>
                    <a:pt x="262826" y="12700"/>
                  </a:lnTo>
                  <a:lnTo>
                    <a:pt x="141262" y="12700"/>
                  </a:lnTo>
                  <a:lnTo>
                    <a:pt x="141262" y="8890"/>
                  </a:lnTo>
                  <a:lnTo>
                    <a:pt x="44005" y="8890"/>
                  </a:lnTo>
                  <a:lnTo>
                    <a:pt x="44005" y="7620"/>
                  </a:lnTo>
                  <a:lnTo>
                    <a:pt x="215" y="7620"/>
                  </a:lnTo>
                  <a:lnTo>
                    <a:pt x="215" y="8890"/>
                  </a:lnTo>
                  <a:lnTo>
                    <a:pt x="152" y="12700"/>
                  </a:lnTo>
                  <a:lnTo>
                    <a:pt x="63" y="15240"/>
                  </a:lnTo>
                  <a:lnTo>
                    <a:pt x="0" y="17780"/>
                  </a:lnTo>
                  <a:lnTo>
                    <a:pt x="170154" y="17780"/>
                  </a:lnTo>
                  <a:lnTo>
                    <a:pt x="170154" y="26670"/>
                  </a:lnTo>
                  <a:lnTo>
                    <a:pt x="328295" y="26670"/>
                  </a:lnTo>
                  <a:lnTo>
                    <a:pt x="328295" y="17780"/>
                  </a:lnTo>
                  <a:lnTo>
                    <a:pt x="328447" y="17780"/>
                  </a:lnTo>
                  <a:lnTo>
                    <a:pt x="328447" y="15240"/>
                  </a:lnTo>
                  <a:close/>
                </a:path>
                <a:path w="328929" h="26670">
                  <a:moveTo>
                    <a:pt x="328663" y="8572"/>
                  </a:moveTo>
                  <a:lnTo>
                    <a:pt x="444" y="0"/>
                  </a:lnTo>
                  <a:lnTo>
                    <a:pt x="342" y="3556"/>
                  </a:lnTo>
                  <a:lnTo>
                    <a:pt x="328561" y="12128"/>
                  </a:lnTo>
                  <a:lnTo>
                    <a:pt x="328663" y="857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 descr=""/>
          <p:cNvGrpSpPr/>
          <p:nvPr/>
        </p:nvGrpSpPr>
        <p:grpSpPr>
          <a:xfrm>
            <a:off x="785787" y="3407206"/>
            <a:ext cx="1185545" cy="1247775"/>
            <a:chOff x="785787" y="3407206"/>
            <a:chExt cx="1185545" cy="1247775"/>
          </a:xfrm>
        </p:grpSpPr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17740" y="3407206"/>
              <a:ext cx="1153045" cy="40239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5787" y="3849852"/>
              <a:ext cx="1166810" cy="38190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9542" y="4252264"/>
              <a:ext cx="1153055" cy="402404"/>
            </a:xfrm>
            <a:prstGeom prst="rect">
              <a:avLst/>
            </a:prstGeom>
          </p:spPr>
        </p:pic>
      </p:grpSp>
      <p:sp>
        <p:nvSpPr>
          <p:cNvPr id="75" name="object 75" descr=""/>
          <p:cNvSpPr txBox="1"/>
          <p:nvPr/>
        </p:nvSpPr>
        <p:spPr>
          <a:xfrm>
            <a:off x="5920968" y="4221551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Microsoft YaHei"/>
                <a:cs typeface="Microsoft YaHei"/>
              </a:rPr>
              <a:t>核心网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4015066" y="3403841"/>
            <a:ext cx="2279650" cy="1066800"/>
            <a:chOff x="4015066" y="3403841"/>
            <a:chExt cx="2279650" cy="1066800"/>
          </a:xfrm>
        </p:grpSpPr>
        <p:pic>
          <p:nvPicPr>
            <p:cNvPr id="77" name="object 7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09488" y="3715512"/>
              <a:ext cx="484631" cy="502920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4027766" y="3416541"/>
              <a:ext cx="1501140" cy="1041400"/>
            </a:xfrm>
            <a:custGeom>
              <a:avLst/>
              <a:gdLst/>
              <a:ahLst/>
              <a:cxnLst/>
              <a:rect l="l" t="t" r="r" b="b"/>
              <a:pathLst>
                <a:path w="1501139" h="1041400">
                  <a:moveTo>
                    <a:pt x="961438" y="943165"/>
                  </a:moveTo>
                  <a:lnTo>
                    <a:pt x="572831" y="943165"/>
                  </a:lnTo>
                  <a:lnTo>
                    <a:pt x="598093" y="973061"/>
                  </a:lnTo>
                  <a:lnTo>
                    <a:pt x="628158" y="998234"/>
                  </a:lnTo>
                  <a:lnTo>
                    <a:pt x="662310" y="1018180"/>
                  </a:lnTo>
                  <a:lnTo>
                    <a:pt x="699831" y="1032395"/>
                  </a:lnTo>
                  <a:lnTo>
                    <a:pt x="746443" y="1041058"/>
                  </a:lnTo>
                  <a:lnTo>
                    <a:pt x="792532" y="1040753"/>
                  </a:lnTo>
                  <a:lnTo>
                    <a:pt x="836921" y="1032079"/>
                  </a:lnTo>
                  <a:lnTo>
                    <a:pt x="878435" y="1015631"/>
                  </a:lnTo>
                  <a:lnTo>
                    <a:pt x="915899" y="992006"/>
                  </a:lnTo>
                  <a:lnTo>
                    <a:pt x="948135" y="961801"/>
                  </a:lnTo>
                  <a:lnTo>
                    <a:pt x="961438" y="943165"/>
                  </a:lnTo>
                  <a:close/>
                </a:path>
                <a:path w="1501139" h="1041400">
                  <a:moveTo>
                    <a:pt x="375734" y="91042"/>
                  </a:moveTo>
                  <a:lnTo>
                    <a:pt x="336699" y="92951"/>
                  </a:lnTo>
                  <a:lnTo>
                    <a:pt x="290503" y="103439"/>
                  </a:lnTo>
                  <a:lnTo>
                    <a:pt x="248719" y="121852"/>
                  </a:lnTo>
                  <a:lnTo>
                    <a:pt x="212157" y="147186"/>
                  </a:lnTo>
                  <a:lnTo>
                    <a:pt x="181623" y="178438"/>
                  </a:lnTo>
                  <a:lnTo>
                    <a:pt x="157924" y="214603"/>
                  </a:lnTo>
                  <a:lnTo>
                    <a:pt x="141868" y="254678"/>
                  </a:lnTo>
                  <a:lnTo>
                    <a:pt x="134262" y="297660"/>
                  </a:lnTo>
                  <a:lnTo>
                    <a:pt x="135912" y="342544"/>
                  </a:lnTo>
                  <a:lnTo>
                    <a:pt x="134642" y="345795"/>
                  </a:lnTo>
                  <a:lnTo>
                    <a:pt x="68456" y="367857"/>
                  </a:lnTo>
                  <a:lnTo>
                    <a:pt x="19911" y="415988"/>
                  </a:lnTo>
                  <a:lnTo>
                    <a:pt x="2447" y="458802"/>
                  </a:lnTo>
                  <a:lnTo>
                    <a:pt x="0" y="503068"/>
                  </a:lnTo>
                  <a:lnTo>
                    <a:pt x="11680" y="545552"/>
                  </a:lnTo>
                  <a:lnTo>
                    <a:pt x="36601" y="583021"/>
                  </a:lnTo>
                  <a:lnTo>
                    <a:pt x="73873" y="612241"/>
                  </a:lnTo>
                  <a:lnTo>
                    <a:pt x="54064" y="637161"/>
                  </a:lnTo>
                  <a:lnTo>
                    <a:pt x="40580" y="665199"/>
                  </a:lnTo>
                  <a:lnTo>
                    <a:pt x="33782" y="695310"/>
                  </a:lnTo>
                  <a:lnTo>
                    <a:pt x="33895" y="709358"/>
                  </a:lnTo>
                  <a:lnTo>
                    <a:pt x="33971" y="718698"/>
                  </a:lnTo>
                  <a:lnTo>
                    <a:pt x="47276" y="770428"/>
                  </a:lnTo>
                  <a:lnTo>
                    <a:pt x="73468" y="806995"/>
                  </a:lnTo>
                  <a:lnTo>
                    <a:pt x="109843" y="834092"/>
                  </a:lnTo>
                  <a:lnTo>
                    <a:pt x="153632" y="849655"/>
                  </a:lnTo>
                  <a:lnTo>
                    <a:pt x="202067" y="851623"/>
                  </a:lnTo>
                  <a:lnTo>
                    <a:pt x="202994" y="853160"/>
                  </a:lnTo>
                  <a:lnTo>
                    <a:pt x="233434" y="893286"/>
                  </a:lnTo>
                  <a:lnTo>
                    <a:pt x="267480" y="924082"/>
                  </a:lnTo>
                  <a:lnTo>
                    <a:pt x="305998" y="948351"/>
                  </a:lnTo>
                  <a:lnTo>
                    <a:pt x="347948" y="965849"/>
                  </a:lnTo>
                  <a:lnTo>
                    <a:pt x="392293" y="976329"/>
                  </a:lnTo>
                  <a:lnTo>
                    <a:pt x="437992" y="979546"/>
                  </a:lnTo>
                  <a:lnTo>
                    <a:pt x="484007" y="975254"/>
                  </a:lnTo>
                  <a:lnTo>
                    <a:pt x="529300" y="963209"/>
                  </a:lnTo>
                  <a:lnTo>
                    <a:pt x="572831" y="943165"/>
                  </a:lnTo>
                  <a:lnTo>
                    <a:pt x="961438" y="943165"/>
                  </a:lnTo>
                  <a:lnTo>
                    <a:pt x="973968" y="925611"/>
                  </a:lnTo>
                  <a:lnTo>
                    <a:pt x="992223" y="884034"/>
                  </a:lnTo>
                  <a:lnTo>
                    <a:pt x="1202752" y="884034"/>
                  </a:lnTo>
                  <a:lnTo>
                    <a:pt x="1254377" y="842923"/>
                  </a:lnTo>
                  <a:lnTo>
                    <a:pt x="1278395" y="807862"/>
                  </a:lnTo>
                  <a:lnTo>
                    <a:pt x="1293849" y="768027"/>
                  </a:lnTo>
                  <a:lnTo>
                    <a:pt x="1299525" y="724547"/>
                  </a:lnTo>
                  <a:lnTo>
                    <a:pt x="1329097" y="718698"/>
                  </a:lnTo>
                  <a:lnTo>
                    <a:pt x="1384451" y="696665"/>
                  </a:lnTo>
                  <a:lnTo>
                    <a:pt x="1444240" y="649863"/>
                  </a:lnTo>
                  <a:lnTo>
                    <a:pt x="1470916" y="614147"/>
                  </a:lnTo>
                  <a:lnTo>
                    <a:pt x="1489398" y="574864"/>
                  </a:lnTo>
                  <a:lnTo>
                    <a:pt x="1499513" y="533268"/>
                  </a:lnTo>
                  <a:lnTo>
                    <a:pt x="1501087" y="490612"/>
                  </a:lnTo>
                  <a:lnTo>
                    <a:pt x="1493946" y="448152"/>
                  </a:lnTo>
                  <a:lnTo>
                    <a:pt x="1477917" y="407141"/>
                  </a:lnTo>
                  <a:lnTo>
                    <a:pt x="1452826" y="368833"/>
                  </a:lnTo>
                  <a:lnTo>
                    <a:pt x="1456204" y="361353"/>
                  </a:lnTo>
                  <a:lnTo>
                    <a:pt x="1459049" y="353644"/>
                  </a:lnTo>
                  <a:lnTo>
                    <a:pt x="1461306" y="345795"/>
                  </a:lnTo>
                  <a:lnTo>
                    <a:pt x="1467861" y="299125"/>
                  </a:lnTo>
                  <a:lnTo>
                    <a:pt x="1461560" y="254678"/>
                  </a:lnTo>
                  <a:lnTo>
                    <a:pt x="1461468" y="254032"/>
                  </a:lnTo>
                  <a:lnTo>
                    <a:pt x="1443371" y="212556"/>
                  </a:lnTo>
                  <a:lnTo>
                    <a:pt x="1414809" y="176751"/>
                  </a:lnTo>
                  <a:lnTo>
                    <a:pt x="1377022" y="148670"/>
                  </a:lnTo>
                  <a:lnTo>
                    <a:pt x="1331262" y="130365"/>
                  </a:lnTo>
                  <a:lnTo>
                    <a:pt x="1328669" y="121348"/>
                  </a:lnTo>
                  <a:lnTo>
                    <a:pt x="486864" y="121348"/>
                  </a:lnTo>
                  <a:lnTo>
                    <a:pt x="451608" y="105390"/>
                  </a:lnTo>
                  <a:lnTo>
                    <a:pt x="414301" y="95238"/>
                  </a:lnTo>
                  <a:lnTo>
                    <a:pt x="375734" y="91042"/>
                  </a:lnTo>
                  <a:close/>
                </a:path>
                <a:path w="1501139" h="1041400">
                  <a:moveTo>
                    <a:pt x="1202752" y="884034"/>
                  </a:moveTo>
                  <a:lnTo>
                    <a:pt x="992223" y="884034"/>
                  </a:lnTo>
                  <a:lnTo>
                    <a:pt x="1016647" y="896315"/>
                  </a:lnTo>
                  <a:lnTo>
                    <a:pt x="1042500" y="905278"/>
                  </a:lnTo>
                  <a:lnTo>
                    <a:pt x="1069409" y="910816"/>
                  </a:lnTo>
                  <a:lnTo>
                    <a:pt x="1096998" y="912825"/>
                  </a:lnTo>
                  <a:lnTo>
                    <a:pt x="1143108" y="908160"/>
                  </a:lnTo>
                  <a:lnTo>
                    <a:pt x="1185518" y="894202"/>
                  </a:lnTo>
                  <a:lnTo>
                    <a:pt x="1202752" y="884034"/>
                  </a:lnTo>
                  <a:close/>
                </a:path>
                <a:path w="1501139" h="1041400">
                  <a:moveTo>
                    <a:pt x="642901" y="28380"/>
                  </a:moveTo>
                  <a:lnTo>
                    <a:pt x="596210" y="35945"/>
                  </a:lnTo>
                  <a:lnTo>
                    <a:pt x="553048" y="54423"/>
                  </a:lnTo>
                  <a:lnTo>
                    <a:pt x="515803" y="83121"/>
                  </a:lnTo>
                  <a:lnTo>
                    <a:pt x="486864" y="121348"/>
                  </a:lnTo>
                  <a:lnTo>
                    <a:pt x="1328669" y="121348"/>
                  </a:lnTo>
                  <a:lnTo>
                    <a:pt x="1323634" y="103833"/>
                  </a:lnTo>
                  <a:lnTo>
                    <a:pt x="1311385" y="79109"/>
                  </a:lnTo>
                  <a:lnTo>
                    <a:pt x="1311046" y="78651"/>
                  </a:lnTo>
                  <a:lnTo>
                    <a:pt x="780361" y="78651"/>
                  </a:lnTo>
                  <a:lnTo>
                    <a:pt x="770479" y="70082"/>
                  </a:lnTo>
                  <a:lnTo>
                    <a:pt x="759984" y="62226"/>
                  </a:lnTo>
                  <a:lnTo>
                    <a:pt x="748918" y="55108"/>
                  </a:lnTo>
                  <a:lnTo>
                    <a:pt x="737321" y="48755"/>
                  </a:lnTo>
                  <a:lnTo>
                    <a:pt x="690734" y="32419"/>
                  </a:lnTo>
                  <a:lnTo>
                    <a:pt x="642901" y="28380"/>
                  </a:lnTo>
                  <a:close/>
                </a:path>
                <a:path w="1501139" h="1041400">
                  <a:moveTo>
                    <a:pt x="937362" y="627"/>
                  </a:moveTo>
                  <a:lnTo>
                    <a:pt x="890517" y="1271"/>
                  </a:lnTo>
                  <a:lnTo>
                    <a:pt x="846503" y="15197"/>
                  </a:lnTo>
                  <a:lnTo>
                    <a:pt x="808668" y="41343"/>
                  </a:lnTo>
                  <a:lnTo>
                    <a:pt x="780361" y="78651"/>
                  </a:lnTo>
                  <a:lnTo>
                    <a:pt x="1311046" y="78651"/>
                  </a:lnTo>
                  <a:lnTo>
                    <a:pt x="1294838" y="56722"/>
                  </a:lnTo>
                  <a:lnTo>
                    <a:pt x="1293752" y="55689"/>
                  </a:lnTo>
                  <a:lnTo>
                    <a:pt x="1036571" y="55689"/>
                  </a:lnTo>
                  <a:lnTo>
                    <a:pt x="1025293" y="43250"/>
                  </a:lnTo>
                  <a:lnTo>
                    <a:pt x="1012635" y="32140"/>
                  </a:lnTo>
                  <a:lnTo>
                    <a:pt x="998723" y="22463"/>
                  </a:lnTo>
                  <a:lnTo>
                    <a:pt x="983688" y="14325"/>
                  </a:lnTo>
                  <a:lnTo>
                    <a:pt x="937362" y="627"/>
                  </a:lnTo>
                  <a:close/>
                </a:path>
                <a:path w="1501139" h="1041400">
                  <a:moveTo>
                    <a:pt x="1151381" y="0"/>
                  </a:moveTo>
                  <a:lnTo>
                    <a:pt x="1109187" y="8477"/>
                  </a:lnTo>
                  <a:lnTo>
                    <a:pt x="1070162" y="27099"/>
                  </a:lnTo>
                  <a:lnTo>
                    <a:pt x="1036571" y="55689"/>
                  </a:lnTo>
                  <a:lnTo>
                    <a:pt x="1293752" y="55689"/>
                  </a:lnTo>
                  <a:lnTo>
                    <a:pt x="1274315" y="37198"/>
                  </a:lnTo>
                  <a:lnTo>
                    <a:pt x="1236211" y="14184"/>
                  </a:lnTo>
                  <a:lnTo>
                    <a:pt x="1194477" y="1843"/>
                  </a:lnTo>
                  <a:lnTo>
                    <a:pt x="11513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027766" y="3416541"/>
              <a:ext cx="1501140" cy="1041400"/>
            </a:xfrm>
            <a:custGeom>
              <a:avLst/>
              <a:gdLst/>
              <a:ahLst/>
              <a:cxnLst/>
              <a:rect l="l" t="t" r="r" b="b"/>
              <a:pathLst>
                <a:path w="1501139" h="1041400">
                  <a:moveTo>
                    <a:pt x="135912" y="342544"/>
                  </a:moveTo>
                  <a:lnTo>
                    <a:pt x="134262" y="297660"/>
                  </a:lnTo>
                  <a:lnTo>
                    <a:pt x="141868" y="254678"/>
                  </a:lnTo>
                  <a:lnTo>
                    <a:pt x="157924" y="214603"/>
                  </a:lnTo>
                  <a:lnTo>
                    <a:pt x="181623" y="178438"/>
                  </a:lnTo>
                  <a:lnTo>
                    <a:pt x="212157" y="147186"/>
                  </a:lnTo>
                  <a:lnTo>
                    <a:pt x="248719" y="121852"/>
                  </a:lnTo>
                  <a:lnTo>
                    <a:pt x="290503" y="103439"/>
                  </a:lnTo>
                  <a:lnTo>
                    <a:pt x="336699" y="92951"/>
                  </a:lnTo>
                  <a:lnTo>
                    <a:pt x="375734" y="91042"/>
                  </a:lnTo>
                  <a:lnTo>
                    <a:pt x="414301" y="95238"/>
                  </a:lnTo>
                  <a:lnTo>
                    <a:pt x="451608" y="105390"/>
                  </a:lnTo>
                  <a:lnTo>
                    <a:pt x="486864" y="121348"/>
                  </a:lnTo>
                  <a:lnTo>
                    <a:pt x="515803" y="83121"/>
                  </a:lnTo>
                  <a:lnTo>
                    <a:pt x="553048" y="54423"/>
                  </a:lnTo>
                  <a:lnTo>
                    <a:pt x="596210" y="35945"/>
                  </a:lnTo>
                  <a:lnTo>
                    <a:pt x="642901" y="28380"/>
                  </a:lnTo>
                  <a:lnTo>
                    <a:pt x="690734" y="32419"/>
                  </a:lnTo>
                  <a:lnTo>
                    <a:pt x="737321" y="48755"/>
                  </a:lnTo>
                  <a:lnTo>
                    <a:pt x="770479" y="70082"/>
                  </a:lnTo>
                  <a:lnTo>
                    <a:pt x="780361" y="78651"/>
                  </a:lnTo>
                  <a:lnTo>
                    <a:pt x="808668" y="41343"/>
                  </a:lnTo>
                  <a:lnTo>
                    <a:pt x="846503" y="15197"/>
                  </a:lnTo>
                  <a:lnTo>
                    <a:pt x="890517" y="1271"/>
                  </a:lnTo>
                  <a:lnTo>
                    <a:pt x="937362" y="627"/>
                  </a:lnTo>
                  <a:lnTo>
                    <a:pt x="983688" y="14325"/>
                  </a:lnTo>
                  <a:lnTo>
                    <a:pt x="998723" y="22463"/>
                  </a:lnTo>
                  <a:lnTo>
                    <a:pt x="1012635" y="32140"/>
                  </a:lnTo>
                  <a:lnTo>
                    <a:pt x="1025293" y="43250"/>
                  </a:lnTo>
                  <a:lnTo>
                    <a:pt x="1036571" y="55689"/>
                  </a:lnTo>
                  <a:lnTo>
                    <a:pt x="1070162" y="27099"/>
                  </a:lnTo>
                  <a:lnTo>
                    <a:pt x="1109187" y="8477"/>
                  </a:lnTo>
                  <a:lnTo>
                    <a:pt x="1151381" y="0"/>
                  </a:lnTo>
                  <a:lnTo>
                    <a:pt x="1194477" y="1843"/>
                  </a:lnTo>
                  <a:lnTo>
                    <a:pt x="1236211" y="14184"/>
                  </a:lnTo>
                  <a:lnTo>
                    <a:pt x="1274315" y="37198"/>
                  </a:lnTo>
                  <a:lnTo>
                    <a:pt x="1311385" y="79109"/>
                  </a:lnTo>
                  <a:lnTo>
                    <a:pt x="1331262" y="130365"/>
                  </a:lnTo>
                  <a:lnTo>
                    <a:pt x="1377022" y="148670"/>
                  </a:lnTo>
                  <a:lnTo>
                    <a:pt x="1414809" y="176751"/>
                  </a:lnTo>
                  <a:lnTo>
                    <a:pt x="1443371" y="212556"/>
                  </a:lnTo>
                  <a:lnTo>
                    <a:pt x="1461468" y="254032"/>
                  </a:lnTo>
                  <a:lnTo>
                    <a:pt x="1467861" y="299125"/>
                  </a:lnTo>
                  <a:lnTo>
                    <a:pt x="1461310" y="345782"/>
                  </a:lnTo>
                  <a:lnTo>
                    <a:pt x="1459049" y="353644"/>
                  </a:lnTo>
                  <a:lnTo>
                    <a:pt x="1456204" y="361353"/>
                  </a:lnTo>
                  <a:lnTo>
                    <a:pt x="1452826" y="368833"/>
                  </a:lnTo>
                  <a:lnTo>
                    <a:pt x="1477917" y="407141"/>
                  </a:lnTo>
                  <a:lnTo>
                    <a:pt x="1493946" y="448152"/>
                  </a:lnTo>
                  <a:lnTo>
                    <a:pt x="1501087" y="490612"/>
                  </a:lnTo>
                  <a:lnTo>
                    <a:pt x="1499513" y="533268"/>
                  </a:lnTo>
                  <a:lnTo>
                    <a:pt x="1489398" y="574864"/>
                  </a:lnTo>
                  <a:lnTo>
                    <a:pt x="1470916" y="614147"/>
                  </a:lnTo>
                  <a:lnTo>
                    <a:pt x="1444240" y="649863"/>
                  </a:lnTo>
                  <a:lnTo>
                    <a:pt x="1409545" y="680758"/>
                  </a:lnTo>
                  <a:lnTo>
                    <a:pt x="1357521" y="709358"/>
                  </a:lnTo>
                  <a:lnTo>
                    <a:pt x="1299525" y="724547"/>
                  </a:lnTo>
                  <a:lnTo>
                    <a:pt x="1293849" y="768027"/>
                  </a:lnTo>
                  <a:lnTo>
                    <a:pt x="1278395" y="807862"/>
                  </a:lnTo>
                  <a:lnTo>
                    <a:pt x="1254377" y="842923"/>
                  </a:lnTo>
                  <a:lnTo>
                    <a:pt x="1223013" y="872080"/>
                  </a:lnTo>
                  <a:lnTo>
                    <a:pt x="1185518" y="894202"/>
                  </a:lnTo>
                  <a:lnTo>
                    <a:pt x="1143108" y="908160"/>
                  </a:lnTo>
                  <a:lnTo>
                    <a:pt x="1096998" y="912825"/>
                  </a:lnTo>
                  <a:lnTo>
                    <a:pt x="1069409" y="910816"/>
                  </a:lnTo>
                  <a:lnTo>
                    <a:pt x="1042500" y="905278"/>
                  </a:lnTo>
                  <a:lnTo>
                    <a:pt x="1016647" y="896315"/>
                  </a:lnTo>
                  <a:lnTo>
                    <a:pt x="992223" y="884034"/>
                  </a:lnTo>
                  <a:lnTo>
                    <a:pt x="973968" y="925611"/>
                  </a:lnTo>
                  <a:lnTo>
                    <a:pt x="948135" y="961801"/>
                  </a:lnTo>
                  <a:lnTo>
                    <a:pt x="915899" y="992006"/>
                  </a:lnTo>
                  <a:lnTo>
                    <a:pt x="878435" y="1015631"/>
                  </a:lnTo>
                  <a:lnTo>
                    <a:pt x="836921" y="1032079"/>
                  </a:lnTo>
                  <a:lnTo>
                    <a:pt x="792532" y="1040753"/>
                  </a:lnTo>
                  <a:lnTo>
                    <a:pt x="746443" y="1041058"/>
                  </a:lnTo>
                  <a:lnTo>
                    <a:pt x="699831" y="1032395"/>
                  </a:lnTo>
                  <a:lnTo>
                    <a:pt x="662310" y="1018180"/>
                  </a:lnTo>
                  <a:lnTo>
                    <a:pt x="628158" y="998234"/>
                  </a:lnTo>
                  <a:lnTo>
                    <a:pt x="598093" y="973061"/>
                  </a:lnTo>
                  <a:lnTo>
                    <a:pt x="572831" y="943165"/>
                  </a:lnTo>
                  <a:lnTo>
                    <a:pt x="529300" y="963209"/>
                  </a:lnTo>
                  <a:lnTo>
                    <a:pt x="484007" y="975254"/>
                  </a:lnTo>
                  <a:lnTo>
                    <a:pt x="437992" y="979546"/>
                  </a:lnTo>
                  <a:lnTo>
                    <a:pt x="392293" y="976329"/>
                  </a:lnTo>
                  <a:lnTo>
                    <a:pt x="347948" y="965849"/>
                  </a:lnTo>
                  <a:lnTo>
                    <a:pt x="305998" y="948351"/>
                  </a:lnTo>
                  <a:lnTo>
                    <a:pt x="267480" y="924082"/>
                  </a:lnTo>
                  <a:lnTo>
                    <a:pt x="233434" y="893286"/>
                  </a:lnTo>
                  <a:lnTo>
                    <a:pt x="204899" y="856208"/>
                  </a:lnTo>
                  <a:lnTo>
                    <a:pt x="202067" y="851623"/>
                  </a:lnTo>
                  <a:lnTo>
                    <a:pt x="153632" y="849655"/>
                  </a:lnTo>
                  <a:lnTo>
                    <a:pt x="109843" y="834092"/>
                  </a:lnTo>
                  <a:lnTo>
                    <a:pt x="73468" y="806995"/>
                  </a:lnTo>
                  <a:lnTo>
                    <a:pt x="47276" y="770428"/>
                  </a:lnTo>
                  <a:lnTo>
                    <a:pt x="34033" y="726452"/>
                  </a:lnTo>
                  <a:lnTo>
                    <a:pt x="33782" y="695310"/>
                  </a:lnTo>
                  <a:lnTo>
                    <a:pt x="40580" y="665199"/>
                  </a:lnTo>
                  <a:lnTo>
                    <a:pt x="54064" y="637161"/>
                  </a:lnTo>
                  <a:lnTo>
                    <a:pt x="73873" y="612241"/>
                  </a:lnTo>
                  <a:lnTo>
                    <a:pt x="36601" y="583021"/>
                  </a:lnTo>
                  <a:lnTo>
                    <a:pt x="11680" y="545552"/>
                  </a:lnTo>
                  <a:lnTo>
                    <a:pt x="0" y="503068"/>
                  </a:lnTo>
                  <a:lnTo>
                    <a:pt x="2447" y="458802"/>
                  </a:lnTo>
                  <a:lnTo>
                    <a:pt x="19911" y="415988"/>
                  </a:lnTo>
                  <a:lnTo>
                    <a:pt x="68456" y="367857"/>
                  </a:lnTo>
                  <a:lnTo>
                    <a:pt x="134642" y="345795"/>
                  </a:lnTo>
                  <a:lnTo>
                    <a:pt x="135912" y="342544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103248" y="3468846"/>
              <a:ext cx="1376680" cy="887094"/>
            </a:xfrm>
            <a:custGeom>
              <a:avLst/>
              <a:gdLst/>
              <a:ahLst/>
              <a:cxnLst/>
              <a:rect l="l" t="t" r="r" b="b"/>
              <a:pathLst>
                <a:path w="1376679" h="887095">
                  <a:moveTo>
                    <a:pt x="87972" y="575106"/>
                  </a:moveTo>
                  <a:lnTo>
                    <a:pt x="65008" y="575142"/>
                  </a:lnTo>
                  <a:lnTo>
                    <a:pt x="42433" y="571893"/>
                  </a:lnTo>
                  <a:lnTo>
                    <a:pt x="20635" y="565444"/>
                  </a:lnTo>
                  <a:lnTo>
                    <a:pt x="0" y="555879"/>
                  </a:lnTo>
                </a:path>
                <a:path w="1376679" h="887095">
                  <a:moveTo>
                    <a:pt x="165595" y="785545"/>
                  </a:moveTo>
                  <a:lnTo>
                    <a:pt x="156230" y="788738"/>
                  </a:lnTo>
                  <a:lnTo>
                    <a:pt x="146672" y="791338"/>
                  </a:lnTo>
                  <a:lnTo>
                    <a:pt x="136952" y="793341"/>
                  </a:lnTo>
                  <a:lnTo>
                    <a:pt x="127101" y="794740"/>
                  </a:lnTo>
                </a:path>
                <a:path w="1376679" h="887095">
                  <a:moveTo>
                    <a:pt x="497268" y="886663"/>
                  </a:moveTo>
                  <a:lnTo>
                    <a:pt x="490589" y="876618"/>
                  </a:lnTo>
                  <a:lnTo>
                    <a:pt x="484487" y="866255"/>
                  </a:lnTo>
                  <a:lnTo>
                    <a:pt x="478978" y="855600"/>
                  </a:lnTo>
                  <a:lnTo>
                    <a:pt x="474078" y="844677"/>
                  </a:lnTo>
                </a:path>
                <a:path w="1376679" h="887095">
                  <a:moveTo>
                    <a:pt x="926147" y="781977"/>
                  </a:moveTo>
                  <a:lnTo>
                    <a:pt x="924800" y="793653"/>
                  </a:lnTo>
                  <a:lnTo>
                    <a:pt x="922804" y="805237"/>
                  </a:lnTo>
                  <a:lnTo>
                    <a:pt x="920164" y="816706"/>
                  </a:lnTo>
                  <a:lnTo>
                    <a:pt x="916889" y="828040"/>
                  </a:lnTo>
                </a:path>
                <a:path w="1376679" h="887095">
                  <a:moveTo>
                    <a:pt x="1110284" y="497344"/>
                  </a:moveTo>
                  <a:lnTo>
                    <a:pt x="1148823" y="520531"/>
                  </a:lnTo>
                  <a:lnTo>
                    <a:pt x="1180291" y="550719"/>
                  </a:lnTo>
                  <a:lnTo>
                    <a:pt x="1203782" y="586531"/>
                  </a:lnTo>
                  <a:lnTo>
                    <a:pt x="1218391" y="626586"/>
                  </a:lnTo>
                  <a:lnTo>
                    <a:pt x="1223213" y="669505"/>
                  </a:lnTo>
                </a:path>
                <a:path w="1376679" h="887095">
                  <a:moveTo>
                    <a:pt x="1376629" y="313982"/>
                  </a:moveTo>
                  <a:lnTo>
                    <a:pt x="1367085" y="332107"/>
                  </a:lnTo>
                  <a:lnTo>
                    <a:pt x="1355437" y="349016"/>
                  </a:lnTo>
                  <a:lnTo>
                    <a:pt x="1341815" y="364547"/>
                  </a:lnTo>
                  <a:lnTo>
                    <a:pt x="1326349" y="378536"/>
                  </a:lnTo>
                </a:path>
                <a:path w="1376679" h="887095">
                  <a:moveTo>
                    <a:pt x="1255979" y="74447"/>
                  </a:moveTo>
                  <a:lnTo>
                    <a:pt x="1257224" y="82017"/>
                  </a:lnTo>
                  <a:lnTo>
                    <a:pt x="1258082" y="89631"/>
                  </a:lnTo>
                  <a:lnTo>
                    <a:pt x="1258552" y="97277"/>
                  </a:lnTo>
                  <a:lnTo>
                    <a:pt x="1258633" y="104940"/>
                  </a:lnTo>
                </a:path>
                <a:path w="1376679" h="887095">
                  <a:moveTo>
                    <a:pt x="934872" y="38887"/>
                  </a:moveTo>
                  <a:lnTo>
                    <a:pt x="940175" y="28523"/>
                  </a:lnTo>
                  <a:lnTo>
                    <a:pt x="946254" y="18562"/>
                  </a:lnTo>
                  <a:lnTo>
                    <a:pt x="953081" y="9042"/>
                  </a:lnTo>
                  <a:lnTo>
                    <a:pt x="960628" y="0"/>
                  </a:lnTo>
                </a:path>
                <a:path w="1376679" h="887095">
                  <a:moveTo>
                    <a:pt x="693940" y="57416"/>
                  </a:moveTo>
                  <a:lnTo>
                    <a:pt x="696232" y="48771"/>
                  </a:lnTo>
                  <a:lnTo>
                    <a:pt x="699082" y="40284"/>
                  </a:lnTo>
                  <a:lnTo>
                    <a:pt x="702482" y="31977"/>
                  </a:lnTo>
                  <a:lnTo>
                    <a:pt x="706424" y="23876"/>
                  </a:lnTo>
                </a:path>
                <a:path w="1376679" h="887095">
                  <a:moveTo>
                    <a:pt x="411200" y="68795"/>
                  </a:moveTo>
                  <a:lnTo>
                    <a:pt x="423259" y="75947"/>
                  </a:lnTo>
                  <a:lnTo>
                    <a:pt x="434822" y="83769"/>
                  </a:lnTo>
                  <a:lnTo>
                    <a:pt x="445862" y="92238"/>
                  </a:lnTo>
                  <a:lnTo>
                    <a:pt x="456349" y="101333"/>
                  </a:lnTo>
                </a:path>
                <a:path w="1376679" h="887095">
                  <a:moveTo>
                    <a:pt x="68313" y="324472"/>
                  </a:moveTo>
                  <a:lnTo>
                    <a:pt x="65811" y="316034"/>
                  </a:lnTo>
                  <a:lnTo>
                    <a:pt x="63661" y="307511"/>
                  </a:lnTo>
                  <a:lnTo>
                    <a:pt x="61869" y="298911"/>
                  </a:lnTo>
                  <a:lnTo>
                    <a:pt x="60439" y="290245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4491000" y="3873473"/>
            <a:ext cx="3295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Microsoft YaHei"/>
                <a:cs typeface="Microsoft YaHei"/>
              </a:rPr>
              <a:t>回传网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2090169" y="3344915"/>
            <a:ext cx="2068830" cy="1254125"/>
            <a:chOff x="2090169" y="3344915"/>
            <a:chExt cx="2068830" cy="1254125"/>
          </a:xfrm>
        </p:grpSpPr>
        <p:pic>
          <p:nvPicPr>
            <p:cNvPr id="83" name="object 8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95236" y="3563558"/>
              <a:ext cx="710585" cy="16395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86112" y="3965968"/>
              <a:ext cx="710588" cy="16395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86112" y="4368381"/>
              <a:ext cx="710588" cy="163948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91429" y="3417708"/>
              <a:ext cx="447685" cy="50984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90169" y="3344915"/>
              <a:ext cx="2068228" cy="1253769"/>
            </a:xfrm>
            <a:prstGeom prst="rect">
              <a:avLst/>
            </a:prstGeom>
          </p:spPr>
        </p:pic>
      </p:grpSp>
      <p:sp>
        <p:nvSpPr>
          <p:cNvPr id="88" name="object 88" descr=""/>
          <p:cNvSpPr txBox="1"/>
          <p:nvPr/>
        </p:nvSpPr>
        <p:spPr>
          <a:xfrm>
            <a:off x="1444424" y="4428084"/>
            <a:ext cx="443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 b="1">
                <a:solidFill>
                  <a:srgbClr val="FFFFFF"/>
                </a:solidFill>
                <a:latin typeface="Microsoft YaHei"/>
                <a:cs typeface="Microsoft YaHei"/>
              </a:rPr>
              <a:t>物联网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680065" y="3610300"/>
            <a:ext cx="21145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FFFFFF"/>
                </a:solidFill>
                <a:latin typeface="Arial"/>
                <a:cs typeface="Arial"/>
              </a:rPr>
              <a:t>VR</a:t>
            </a:r>
            <a:endParaRPr sz="1050">
              <a:latin typeface="Arial"/>
              <a:cs typeface="Arial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194404" y="4048088"/>
            <a:ext cx="6921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FFFFF"/>
                </a:solidFill>
                <a:latin typeface="Microsoft YaHei"/>
                <a:cs typeface="Microsoft YaHei"/>
              </a:rPr>
              <a:t>工厂自动化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3103874" y="3658473"/>
            <a:ext cx="532130" cy="38036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800" spc="-20">
                <a:latin typeface="Microsoft YaHei"/>
                <a:cs typeface="Microsoft YaHei"/>
              </a:rPr>
              <a:t>业务本地化</a:t>
            </a:r>
            <a:endParaRPr sz="800">
              <a:latin typeface="Microsoft YaHei"/>
              <a:cs typeface="Microsoft YaHei"/>
            </a:endParaRPr>
          </a:p>
          <a:p>
            <a:pPr marL="87630">
              <a:lnSpc>
                <a:spcPct val="100000"/>
              </a:lnSpc>
              <a:spcBef>
                <a:spcPts val="439"/>
              </a:spcBef>
            </a:pPr>
            <a:r>
              <a:rPr dirty="0" sz="800" spc="-25">
                <a:latin typeface="Arial MT"/>
                <a:cs typeface="Arial MT"/>
              </a:rPr>
              <a:t>MEC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3106205" y="4072015"/>
            <a:ext cx="532130" cy="35814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 spc="-20">
                <a:latin typeface="Microsoft YaHei"/>
                <a:cs typeface="Microsoft YaHei"/>
              </a:rPr>
              <a:t>业务本地化</a:t>
            </a:r>
            <a:endParaRPr sz="800">
              <a:latin typeface="Microsoft YaHei"/>
              <a:cs typeface="Microsoft YaHei"/>
            </a:endParaRPr>
          </a:p>
          <a:p>
            <a:pPr marL="85090">
              <a:lnSpc>
                <a:spcPct val="100000"/>
              </a:lnSpc>
              <a:spcBef>
                <a:spcPts val="350"/>
              </a:spcBef>
            </a:pPr>
            <a:r>
              <a:rPr dirty="0" sz="800" spc="-25">
                <a:latin typeface="Arial MT"/>
                <a:cs typeface="Arial MT"/>
              </a:rPr>
              <a:t>MEC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3119786" y="4519143"/>
            <a:ext cx="532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Microsoft YaHei"/>
                <a:cs typeface="Microsoft YaHei"/>
              </a:rPr>
              <a:t>业务本地化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2290775" y="4573705"/>
            <a:ext cx="2286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0">
                <a:latin typeface="Microsoft YaHei"/>
                <a:cs typeface="Microsoft YaHei"/>
              </a:rPr>
              <a:t>基站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6171437" y="3939607"/>
            <a:ext cx="2078355" cy="461645"/>
            <a:chOff x="6171437" y="3939607"/>
            <a:chExt cx="2078355" cy="461645"/>
          </a:xfrm>
        </p:grpSpPr>
        <p:pic>
          <p:nvPicPr>
            <p:cNvPr id="96" name="object 9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71437" y="3951731"/>
              <a:ext cx="1434845" cy="27584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212904" y="3939607"/>
              <a:ext cx="1352359" cy="43622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64119" y="4147711"/>
              <a:ext cx="685180" cy="253270"/>
            </a:xfrm>
            <a:prstGeom prst="rect">
              <a:avLst/>
            </a:prstGeom>
          </p:spPr>
        </p:pic>
      </p:grpSp>
      <p:sp>
        <p:nvSpPr>
          <p:cNvPr id="99" name="object 99" descr=""/>
          <p:cNvSpPr txBox="1"/>
          <p:nvPr/>
        </p:nvSpPr>
        <p:spPr>
          <a:xfrm>
            <a:off x="7705393" y="4421445"/>
            <a:ext cx="596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互联网业务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100" name="object 100" descr=""/>
          <p:cNvGrpSpPr/>
          <p:nvPr/>
        </p:nvGrpSpPr>
        <p:grpSpPr>
          <a:xfrm>
            <a:off x="6213763" y="3563607"/>
            <a:ext cx="1141095" cy="368300"/>
            <a:chOff x="6213763" y="3563607"/>
            <a:chExt cx="1141095" cy="368300"/>
          </a:xfrm>
        </p:grpSpPr>
        <p:pic>
          <p:nvPicPr>
            <p:cNvPr id="101" name="object 10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801142" y="3563607"/>
              <a:ext cx="553669" cy="258479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6215350" y="3692843"/>
              <a:ext cx="424815" cy="237490"/>
            </a:xfrm>
            <a:custGeom>
              <a:avLst/>
              <a:gdLst/>
              <a:ahLst/>
              <a:cxnLst/>
              <a:rect l="l" t="t" r="r" b="b"/>
              <a:pathLst>
                <a:path w="424815" h="237489">
                  <a:moveTo>
                    <a:pt x="0" y="237248"/>
                  </a:moveTo>
                  <a:lnTo>
                    <a:pt x="42442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7803593" y="3644473"/>
            <a:ext cx="596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运营商业务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6776041" y="4067514"/>
            <a:ext cx="4997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Internet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658266" y="2809976"/>
            <a:ext cx="6759575" cy="772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601345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Microsoft YaHei"/>
                <a:cs typeface="Microsoft YaHei"/>
              </a:rPr>
              <a:t>理想时延</a:t>
            </a:r>
            <a:r>
              <a:rPr dirty="0" sz="800" spc="-10">
                <a:latin typeface="Arial MT"/>
                <a:cs typeface="Arial MT"/>
              </a:rPr>
              <a:t>10ms</a:t>
            </a:r>
            <a:r>
              <a:rPr dirty="0" sz="800" spc="-10">
                <a:latin typeface="Microsoft YaHei"/>
                <a:cs typeface="Microsoft YaHei"/>
              </a:rPr>
              <a:t>，典型时延</a:t>
            </a:r>
            <a:r>
              <a:rPr dirty="0" sz="800" spc="-10">
                <a:latin typeface="Arial MT"/>
                <a:cs typeface="Arial MT"/>
              </a:rPr>
              <a:t>50~100ms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20">
                <a:latin typeface="Arial MT"/>
                <a:cs typeface="Arial MT"/>
              </a:rPr>
              <a:t>MEC</a:t>
            </a:r>
            <a:r>
              <a:rPr dirty="0" sz="1100" spc="-25">
                <a:latin typeface="Microsoft YaHei"/>
                <a:cs typeface="Microsoft YaHei"/>
              </a:rPr>
              <a:t>：业务下沉到离用户很近的网络边缘，减少网络层级、时延小，支持“以用户为中心”的本地化业务创新</a:t>
            </a:r>
            <a:endParaRPr sz="1100">
              <a:latin typeface="Microsoft YaHei"/>
              <a:cs typeface="Microsoft YaHei"/>
            </a:endParaRPr>
          </a:p>
          <a:p>
            <a:pPr algn="ctr" marR="1440815">
              <a:lnSpc>
                <a:spcPct val="100000"/>
              </a:lnSpc>
              <a:spcBef>
                <a:spcPts val="1690"/>
              </a:spcBef>
            </a:pPr>
            <a:r>
              <a:rPr dirty="0" sz="800" spc="-25">
                <a:latin typeface="Arial MT"/>
                <a:cs typeface="Arial MT"/>
              </a:rPr>
              <a:t>MEC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204" y="853894"/>
            <a:ext cx="6012712" cy="40356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707" y="114688"/>
            <a:ext cx="260159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MEC</a:t>
            </a:r>
            <a:r>
              <a:rPr dirty="0" spc="-40"/>
              <a:t>技术特征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614480" y="890788"/>
            <a:ext cx="676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Microsoft YaHei"/>
                <a:cs typeface="Microsoft YaHei"/>
              </a:rPr>
              <a:t>MEC</a:t>
            </a:r>
            <a:r>
              <a:rPr dirty="0" sz="1200" spc="-25" b="1">
                <a:solidFill>
                  <a:srgbClr val="FFFFFF"/>
                </a:solidFill>
                <a:latin typeface="Microsoft YaHei"/>
                <a:cs typeface="Microsoft YaHei"/>
              </a:rPr>
              <a:t>定义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93250" y="1463890"/>
            <a:ext cx="3219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376092"/>
                </a:solidFill>
                <a:latin typeface="Microsoft YaHei"/>
                <a:cs typeface="Microsoft YaHei"/>
              </a:rPr>
              <a:t>P‐GW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75555" y="1296909"/>
            <a:ext cx="235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339A"/>
                </a:solidFill>
                <a:latin typeface="Microsoft YaHei"/>
                <a:cs typeface="Microsoft YaHei"/>
              </a:rPr>
              <a:t>4G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16302" y="1161704"/>
            <a:ext cx="443865" cy="296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50"/>
              </a:lnSpc>
              <a:spcBef>
                <a:spcPts val="95"/>
              </a:spcBef>
            </a:pPr>
            <a:r>
              <a:rPr dirty="0" sz="1100" spc="-35" b="1">
                <a:latin typeface="Microsoft YaHei"/>
                <a:cs typeface="Microsoft YaHei"/>
              </a:rPr>
              <a:t>移动网</a:t>
            </a:r>
            <a:endParaRPr sz="1100">
              <a:latin typeface="Microsoft YaHei"/>
              <a:cs typeface="Microsoft YaHei"/>
            </a:endParaRPr>
          </a:p>
          <a:p>
            <a:pPr marL="12700">
              <a:lnSpc>
                <a:spcPts val="890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三级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178300" y="699915"/>
            <a:ext cx="4110354" cy="76454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800">
                <a:solidFill>
                  <a:srgbClr val="1F497C"/>
                </a:solidFill>
                <a:latin typeface="Microsoft YaHei"/>
                <a:cs typeface="Microsoft YaHei"/>
              </a:rPr>
              <a:t>使无线接入网具备提供</a:t>
            </a:r>
            <a:r>
              <a:rPr dirty="0" sz="1800" spc="-20">
                <a:solidFill>
                  <a:srgbClr val="1F497C"/>
                </a:solidFill>
                <a:latin typeface="Microsoft YaHei"/>
                <a:cs typeface="Microsoft YaHei"/>
              </a:rPr>
              <a:t>IT</a:t>
            </a:r>
            <a:r>
              <a:rPr dirty="0" sz="1800" spc="-10">
                <a:solidFill>
                  <a:srgbClr val="1F497C"/>
                </a:solidFill>
                <a:latin typeface="Microsoft YaHei"/>
                <a:cs typeface="Microsoft YaHei"/>
              </a:rPr>
              <a:t>和云计算的能力</a:t>
            </a:r>
            <a:endParaRPr sz="1800">
              <a:latin typeface="Microsoft YaHei"/>
              <a:cs typeface="Microsoft YaHei"/>
            </a:endParaRPr>
          </a:p>
          <a:p>
            <a:pPr algn="ctr" marL="539750">
              <a:lnSpc>
                <a:spcPts val="1270"/>
              </a:lnSpc>
              <a:spcBef>
                <a:spcPts val="560"/>
              </a:spcBef>
            </a:pPr>
            <a:r>
              <a:rPr dirty="0" sz="1100" spc="-20" b="1">
                <a:latin typeface="Microsoft YaHei"/>
                <a:cs typeface="Microsoft YaHei"/>
              </a:rPr>
              <a:t>业务/IT</a:t>
            </a:r>
            <a:r>
              <a:rPr dirty="0" sz="1100" spc="-50" b="1">
                <a:latin typeface="Microsoft YaHei"/>
                <a:cs typeface="Microsoft YaHei"/>
              </a:rPr>
              <a:t>网</a:t>
            </a:r>
            <a:endParaRPr sz="1100">
              <a:latin typeface="Microsoft YaHei"/>
              <a:cs typeface="Microsoft YaHei"/>
            </a:endParaRPr>
          </a:p>
          <a:p>
            <a:pPr marL="281305">
              <a:lnSpc>
                <a:spcPts val="910"/>
              </a:lnSpc>
              <a:tabLst>
                <a:tab pos="1038860" algn="l"/>
                <a:tab pos="2433320" algn="l"/>
              </a:tabLst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二级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r>
              <a:rPr dirty="0" sz="800">
                <a:solidFill>
                  <a:srgbClr val="376092"/>
                </a:solidFill>
                <a:latin typeface="Microsoft YaHei"/>
                <a:cs typeface="Microsoft YaHei"/>
              </a:rPr>
              <a:t>	</a:t>
            </a:r>
            <a:r>
              <a:rPr dirty="0" baseline="3472" sz="1200" spc="-15">
                <a:solidFill>
                  <a:srgbClr val="376092"/>
                </a:solidFill>
                <a:latin typeface="Microsoft YaHei"/>
                <a:cs typeface="Microsoft YaHei"/>
              </a:rPr>
              <a:t>一级</a:t>
            </a:r>
            <a:r>
              <a:rPr dirty="0" baseline="3472" sz="1200" spc="-37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r>
              <a:rPr dirty="0" baseline="3472" sz="1200">
                <a:solidFill>
                  <a:srgbClr val="376092"/>
                </a:solidFill>
                <a:latin typeface="Microsoft YaHei"/>
                <a:cs typeface="Microsoft YaHei"/>
              </a:rPr>
              <a:t>	</a:t>
            </a:r>
            <a:r>
              <a:rPr dirty="0" baseline="3472" sz="1200" spc="-15">
                <a:solidFill>
                  <a:srgbClr val="376092"/>
                </a:solidFill>
                <a:latin typeface="Microsoft YaHei"/>
                <a:cs typeface="Microsoft YaHei"/>
              </a:rPr>
              <a:t>中心</a:t>
            </a:r>
            <a:r>
              <a:rPr dirty="0" baseline="3472" sz="1200" spc="-37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baseline="3472" sz="12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80144" y="1626042"/>
            <a:ext cx="431165" cy="2590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>
              <a:lnSpc>
                <a:spcPts val="919"/>
              </a:lnSpc>
              <a:spcBef>
                <a:spcPts val="95"/>
              </a:spcBef>
            </a:pP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核心层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19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（省级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94152" y="1688572"/>
            <a:ext cx="5759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376092"/>
                </a:solidFill>
                <a:latin typeface="Microsoft YaHei"/>
                <a:cs typeface="Microsoft YaHei"/>
              </a:rPr>
              <a:t>接入环/汇聚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81946" y="1626042"/>
            <a:ext cx="431165" cy="2590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>
              <a:lnSpc>
                <a:spcPts val="919"/>
              </a:lnSpc>
              <a:spcBef>
                <a:spcPts val="95"/>
              </a:spcBef>
            </a:pP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核心层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19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（城域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00000" y="2229167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2‐3ms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430846" y="2229167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1‐4ms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20888" y="2229167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2‐5ms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56146" y="2196480"/>
            <a:ext cx="836294" cy="30353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800" spc="-20">
                <a:solidFill>
                  <a:srgbClr val="376092"/>
                </a:solidFill>
                <a:latin typeface="Microsoft YaHei"/>
                <a:cs typeface="Microsoft YaHei"/>
              </a:rPr>
              <a:t>依业务部署位置定</a:t>
            </a:r>
            <a:endParaRPr sz="800">
              <a:latin typeface="Microsoft YaHei"/>
              <a:cs typeface="Microsoft YaHei"/>
            </a:endParaRPr>
          </a:p>
          <a:p>
            <a:pPr marL="349250">
              <a:lnSpc>
                <a:spcPct val="100000"/>
              </a:lnSpc>
              <a:spcBef>
                <a:spcPts val="13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(~30ms)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51126" y="2229167"/>
            <a:ext cx="1407795" cy="386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  <a:tabLst>
                <a:tab pos="981710" algn="l"/>
              </a:tabLst>
            </a:pPr>
            <a:r>
              <a:rPr dirty="0" baseline="3086" sz="1350" spc="-15">
                <a:solidFill>
                  <a:srgbClr val="376092"/>
                </a:solidFill>
                <a:latin typeface="Microsoft YaHei"/>
                <a:cs typeface="Microsoft YaHei"/>
              </a:rPr>
              <a:t>5ms(LTE)</a:t>
            </a:r>
            <a:r>
              <a:rPr dirty="0" baseline="3086" sz="1350">
                <a:solidFill>
                  <a:srgbClr val="376092"/>
                </a:solidFill>
                <a:latin typeface="Microsoft YaHei"/>
                <a:cs typeface="Microsoft YaHei"/>
              </a:rPr>
              <a:t>	</a:t>
            </a:r>
            <a:r>
              <a:rPr dirty="0" sz="900" spc="-20">
                <a:solidFill>
                  <a:srgbClr val="376092"/>
                </a:solidFill>
                <a:latin typeface="Microsoft YaHei"/>
                <a:cs typeface="Microsoft YaHei"/>
              </a:rPr>
              <a:t>1‐4ms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注：LTE用户面单向要求为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5ms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426287" y="2742990"/>
            <a:ext cx="7226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0" b="1">
                <a:latin typeface="Microsoft YaHei"/>
                <a:cs typeface="Microsoft YaHei"/>
              </a:rPr>
              <a:t>云端服务器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44700" y="3083305"/>
            <a:ext cx="1286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Microsoft YaHei"/>
                <a:cs typeface="Microsoft YaHei"/>
              </a:rPr>
              <a:t>MEC</a:t>
            </a:r>
            <a:r>
              <a:rPr dirty="0" sz="1200" spc="-10" b="1">
                <a:solidFill>
                  <a:srgbClr val="FFFFFF"/>
                </a:solidFill>
                <a:latin typeface="Microsoft YaHei"/>
                <a:cs typeface="Microsoft YaHei"/>
              </a:rPr>
              <a:t>主要技术特征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16130" y="2803476"/>
            <a:ext cx="7226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0" b="1">
                <a:latin typeface="Microsoft YaHei"/>
                <a:cs typeface="Microsoft YaHei"/>
              </a:rPr>
              <a:t>边缘服务器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48441" y="3367494"/>
            <a:ext cx="2688590" cy="1029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94410">
              <a:lnSpc>
                <a:spcPct val="157500"/>
              </a:lnSpc>
              <a:spcBef>
                <a:spcPts val="100"/>
              </a:spcBef>
            </a:pPr>
            <a:r>
              <a:rPr dirty="0" sz="1100" spc="-25" b="1">
                <a:latin typeface="Microsoft YaHei"/>
                <a:cs typeface="Microsoft YaHei"/>
              </a:rPr>
              <a:t>大流量、低时延业务本地化网关下沉、灵活路由</a:t>
            </a:r>
            <a:endParaRPr sz="11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100" spc="-20" b="1">
                <a:latin typeface="Microsoft YaHei"/>
                <a:cs typeface="Microsoft YaHei"/>
              </a:rPr>
              <a:t>无线网络能力开放</a:t>
            </a:r>
            <a:r>
              <a:rPr dirty="0" sz="1100" spc="-10" b="1">
                <a:latin typeface="Microsoft YaHei"/>
                <a:cs typeface="Microsoft YaHei"/>
              </a:rPr>
              <a:t>（API）</a:t>
            </a:r>
            <a:r>
              <a:rPr dirty="0" sz="1100" spc="-25" b="1">
                <a:latin typeface="Microsoft YaHei"/>
                <a:cs typeface="Microsoft YaHei"/>
              </a:rPr>
              <a:t>，提升用户体验</a:t>
            </a:r>
            <a:endParaRPr sz="11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00" spc="-20" b="1">
                <a:latin typeface="Microsoft YaHei"/>
                <a:cs typeface="Microsoft YaHei"/>
              </a:rPr>
              <a:t>网络能力平台化，加速互联网新型业务部</a:t>
            </a:r>
            <a:r>
              <a:rPr dirty="0" sz="1200" spc="-50" b="1">
                <a:latin typeface="Microsoft YaHei"/>
                <a:cs typeface="Microsoft YaHei"/>
              </a:rPr>
              <a:t>署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59267" y="4200189"/>
            <a:ext cx="140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solidFill>
                  <a:srgbClr val="FFFFFF"/>
                </a:solidFill>
                <a:latin typeface="Microsoft YaHei"/>
                <a:cs typeface="Microsoft YaHei"/>
              </a:rPr>
              <a:t>移动边缘计算(</a:t>
            </a:r>
            <a:r>
              <a:rPr dirty="0" sz="1200" spc="-20" b="1">
                <a:solidFill>
                  <a:srgbClr val="FFFFFF"/>
                </a:solidFill>
                <a:latin typeface="Microsoft YaHei"/>
                <a:cs typeface="Microsoft YaHei"/>
              </a:rPr>
              <a:t>MEC)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266071" y="3735155"/>
            <a:ext cx="1141095" cy="38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dirty="0" sz="1100" spc="-30" b="1">
                <a:solidFill>
                  <a:srgbClr val="FFFFFF"/>
                </a:solidFill>
                <a:latin typeface="Microsoft YaHei"/>
                <a:cs typeface="Microsoft YaHei"/>
              </a:rPr>
              <a:t>计算/存储等业务</a:t>
            </a:r>
            <a:r>
              <a:rPr dirty="0" sz="1100" spc="-25" b="1">
                <a:solidFill>
                  <a:srgbClr val="FFFFFF"/>
                </a:solidFill>
                <a:latin typeface="Microsoft YaHei"/>
                <a:cs typeface="Microsoft YaHei"/>
              </a:rPr>
              <a:t>运营能力靠近用户</a:t>
            </a:r>
            <a:endParaRPr sz="11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4419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新型网络架构：</a:t>
            </a:r>
            <a:r>
              <a:rPr dirty="0" spc="-30">
                <a:solidFill>
                  <a:srgbClr val="FF0000"/>
                </a:solidFill>
                <a:latin typeface="Times New Roman"/>
                <a:cs typeface="Times New Roman"/>
              </a:rPr>
              <a:t>C-</a:t>
            </a:r>
            <a:r>
              <a:rPr dirty="0" spc="-25">
                <a:solidFill>
                  <a:srgbClr val="FF0000"/>
                </a:solidFill>
                <a:latin typeface="Times New Roman"/>
                <a:cs typeface="Times New Roman"/>
              </a:rPr>
              <a:t>RAN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308" y="1298388"/>
            <a:ext cx="4642166" cy="353187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43159" y="855753"/>
            <a:ext cx="8241665" cy="410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1800" spc="-10">
                <a:latin typeface="Arial MT"/>
                <a:cs typeface="Arial MT"/>
              </a:rPr>
              <a:t>-RAN</a:t>
            </a:r>
            <a:r>
              <a:rPr dirty="0" sz="1800">
                <a:latin typeface="SimSun"/>
                <a:cs typeface="SimSun"/>
              </a:rPr>
              <a:t>的概念：</a:t>
            </a:r>
            <a:r>
              <a:rPr dirty="0" sz="1800">
                <a:latin typeface="Arial MT"/>
                <a:cs typeface="Arial MT"/>
              </a:rPr>
              <a:t>“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1800">
                <a:latin typeface="Arial MT"/>
                <a:cs typeface="Arial MT"/>
              </a:rPr>
              <a:t>entralization</a:t>
            </a:r>
            <a:r>
              <a:rPr dirty="0" sz="1800" spc="-30">
                <a:latin typeface="Arial MT"/>
                <a:cs typeface="Arial MT"/>
              </a:rPr>
              <a:t>,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1800">
                <a:latin typeface="Arial MT"/>
                <a:cs typeface="Arial MT"/>
              </a:rPr>
              <a:t>ollaborative,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1800">
                <a:latin typeface="Arial MT"/>
                <a:cs typeface="Arial MT"/>
              </a:rPr>
              <a:t>loud,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1800">
                <a:latin typeface="Arial MT"/>
                <a:cs typeface="Arial MT"/>
              </a:rPr>
              <a:t>lean”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SimSun"/>
                <a:cs typeface="SimSun"/>
              </a:rPr>
              <a:t>无线接入云网络架构</a:t>
            </a:r>
            <a:endParaRPr sz="1800">
              <a:latin typeface="SimSun"/>
              <a:cs typeface="SimSun"/>
            </a:endParaRPr>
          </a:p>
          <a:p>
            <a:pPr marL="5083810">
              <a:lnSpc>
                <a:spcPct val="100000"/>
              </a:lnSpc>
              <a:spcBef>
                <a:spcPts val="2285"/>
              </a:spcBef>
            </a:pPr>
            <a:r>
              <a:rPr dirty="0" sz="1500">
                <a:solidFill>
                  <a:srgbClr val="800000"/>
                </a:solidFill>
                <a:latin typeface="SimSun"/>
                <a:cs typeface="SimSun"/>
              </a:rPr>
              <a:t>基于NFV</a:t>
            </a:r>
            <a:r>
              <a:rPr dirty="0" sz="1500" spc="-10">
                <a:solidFill>
                  <a:srgbClr val="800000"/>
                </a:solidFill>
                <a:latin typeface="SimSun"/>
                <a:cs typeface="SimSun"/>
              </a:rPr>
              <a:t>无线云中心</a:t>
            </a:r>
            <a:endParaRPr sz="1500">
              <a:latin typeface="SimSun"/>
              <a:cs typeface="SimSun"/>
            </a:endParaRPr>
          </a:p>
          <a:p>
            <a:pPr marL="5424170" indent="-340360">
              <a:lnSpc>
                <a:spcPts val="2150"/>
              </a:lnSpc>
              <a:spcBef>
                <a:spcPts val="5"/>
              </a:spcBef>
              <a:buSzPct val="150000"/>
              <a:buFont typeface="PMingLiU-ExtB"/>
              <a:buChar char="□"/>
              <a:tabLst>
                <a:tab pos="5424170" algn="l"/>
              </a:tabLst>
            </a:pPr>
            <a:r>
              <a:rPr dirty="0" sz="1200" spc="-5">
                <a:latin typeface="SimSun"/>
                <a:cs typeface="SimSun"/>
              </a:rPr>
              <a:t>集中单元处理全部或部分协议栈功能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ts val="143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>
                <a:latin typeface="SimSun"/>
                <a:cs typeface="SimSun"/>
              </a:rPr>
              <a:t>更好地支持层2</a:t>
            </a:r>
            <a:r>
              <a:rPr dirty="0" sz="1200" spc="-10">
                <a:latin typeface="SimSun"/>
                <a:cs typeface="SimSun"/>
              </a:rPr>
              <a:t>及以上协作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ct val="10000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 spc="-5">
                <a:solidFill>
                  <a:srgbClr val="FF0000"/>
                </a:solidFill>
                <a:latin typeface="SimSun"/>
                <a:cs typeface="SimSun"/>
              </a:rPr>
              <a:t>通用处理平台+专用处理平台混合架构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ct val="10000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 spc="-5">
                <a:latin typeface="SimSun"/>
                <a:cs typeface="SimSun"/>
              </a:rPr>
              <a:t>根据功能特性实现部分功能云化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ct val="10000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>
                <a:solidFill>
                  <a:srgbClr val="FF0000"/>
                </a:solidFill>
                <a:latin typeface="SimSun"/>
                <a:cs typeface="SimSun"/>
              </a:rPr>
              <a:t>支持端到端业务编排</a:t>
            </a:r>
            <a:r>
              <a:rPr dirty="0" sz="1200">
                <a:latin typeface="SimSun"/>
                <a:cs typeface="SimSun"/>
              </a:rPr>
              <a:t>, 适于</a:t>
            </a:r>
            <a:r>
              <a:rPr dirty="0" sz="1200">
                <a:solidFill>
                  <a:srgbClr val="FF0000"/>
                </a:solidFill>
                <a:latin typeface="SimSun"/>
                <a:cs typeface="SimSun"/>
              </a:rPr>
              <a:t>MEC</a:t>
            </a:r>
            <a:r>
              <a:rPr dirty="0" sz="1200" spc="-25">
                <a:latin typeface="SimSun"/>
                <a:cs typeface="SimSun"/>
              </a:rPr>
              <a:t>部署</a:t>
            </a: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Font typeface="PMingLiU-ExtB"/>
              <a:buChar char="□"/>
            </a:pPr>
            <a:endParaRPr sz="1200">
              <a:latin typeface="SimSun"/>
              <a:cs typeface="SimSun"/>
            </a:endParaRPr>
          </a:p>
          <a:p>
            <a:pPr marL="5083810">
              <a:lnSpc>
                <a:spcPct val="100000"/>
              </a:lnSpc>
            </a:pPr>
            <a:r>
              <a:rPr dirty="0" sz="1500">
                <a:solidFill>
                  <a:srgbClr val="800000"/>
                </a:solidFill>
                <a:latin typeface="SimSun"/>
                <a:cs typeface="SimSun"/>
              </a:rPr>
              <a:t>高性能的下一代前传网络</a:t>
            </a:r>
            <a:r>
              <a:rPr dirty="0" sz="1500" spc="-10">
                <a:solidFill>
                  <a:srgbClr val="800000"/>
                </a:solidFill>
                <a:latin typeface="SimSun"/>
                <a:cs typeface="SimSun"/>
              </a:rPr>
              <a:t>（NGFI）</a:t>
            </a:r>
            <a:endParaRPr sz="1500">
              <a:latin typeface="SimSun"/>
              <a:cs typeface="SimSun"/>
            </a:endParaRPr>
          </a:p>
          <a:p>
            <a:pPr marL="5424170" indent="-340360">
              <a:lnSpc>
                <a:spcPts val="2150"/>
              </a:lnSpc>
              <a:spcBef>
                <a:spcPts val="5"/>
              </a:spcBef>
              <a:buSzPct val="150000"/>
              <a:buFont typeface="PMingLiU-ExtB"/>
              <a:buChar char="□"/>
              <a:tabLst>
                <a:tab pos="5424170" algn="l"/>
              </a:tabLst>
            </a:pPr>
            <a:r>
              <a:rPr dirty="0" sz="1200" spc="-10">
                <a:latin typeface="SimSun"/>
                <a:cs typeface="SimSun"/>
              </a:rPr>
              <a:t>高容量、低成本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ts val="143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>
                <a:latin typeface="SimSun"/>
                <a:cs typeface="SimSun"/>
              </a:rPr>
              <a:t>低时延&amp;</a:t>
            </a:r>
            <a:r>
              <a:rPr dirty="0" sz="1200" spc="-25">
                <a:latin typeface="SimSun"/>
                <a:cs typeface="SimSun"/>
              </a:rPr>
              <a:t>抖动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ct val="10000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 spc="-5">
                <a:solidFill>
                  <a:srgbClr val="FF0000"/>
                </a:solidFill>
                <a:latin typeface="SimSun"/>
                <a:cs typeface="SimSun"/>
              </a:rPr>
              <a:t>支持理想前传和非理想前传两种场景</a:t>
            </a: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Font typeface="PMingLiU-ExtB"/>
              <a:buChar char="□"/>
            </a:pPr>
            <a:endParaRPr sz="1200">
              <a:latin typeface="SimSun"/>
              <a:cs typeface="SimSun"/>
            </a:endParaRPr>
          </a:p>
          <a:p>
            <a:pPr marL="5083810">
              <a:lnSpc>
                <a:spcPct val="100000"/>
              </a:lnSpc>
            </a:pPr>
            <a:r>
              <a:rPr dirty="0" sz="1500">
                <a:solidFill>
                  <a:srgbClr val="800000"/>
                </a:solidFill>
                <a:latin typeface="SimSun"/>
                <a:cs typeface="SimSun"/>
              </a:rPr>
              <a:t>分布式的</a:t>
            </a:r>
            <a:r>
              <a:rPr dirty="0" sz="1500" spc="-25">
                <a:solidFill>
                  <a:srgbClr val="800000"/>
                </a:solidFill>
                <a:latin typeface="SimSun"/>
                <a:cs typeface="SimSun"/>
              </a:rPr>
              <a:t>DU</a:t>
            </a:r>
            <a:endParaRPr sz="1500">
              <a:latin typeface="SimSun"/>
              <a:cs typeface="SimSun"/>
            </a:endParaRPr>
          </a:p>
          <a:p>
            <a:pPr marL="5424170" indent="-340360">
              <a:lnSpc>
                <a:spcPts val="2150"/>
              </a:lnSpc>
              <a:spcBef>
                <a:spcPts val="5"/>
              </a:spcBef>
              <a:buSzPct val="150000"/>
              <a:buFont typeface="PMingLiU-ExtB"/>
              <a:buChar char="□"/>
              <a:tabLst>
                <a:tab pos="5424170" algn="l"/>
              </a:tabLst>
            </a:pPr>
            <a:r>
              <a:rPr dirty="0" sz="1200">
                <a:latin typeface="SimSun"/>
                <a:cs typeface="SimSun"/>
              </a:rPr>
              <a:t>DU</a:t>
            </a:r>
            <a:r>
              <a:rPr dirty="0" sz="1200" spc="-5">
                <a:latin typeface="SimSun"/>
                <a:cs typeface="SimSun"/>
              </a:rPr>
              <a:t>主要处理实时性要求较高的功能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ts val="143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>
                <a:latin typeface="SimSun"/>
                <a:cs typeface="SimSun"/>
              </a:rPr>
              <a:t>视具体情况，DU</a:t>
            </a:r>
            <a:r>
              <a:rPr dirty="0" sz="1200" spc="-10">
                <a:latin typeface="SimSun"/>
                <a:cs typeface="SimSun"/>
              </a:rPr>
              <a:t>可小规模集中</a:t>
            </a:r>
            <a:endParaRPr sz="1200">
              <a:latin typeface="SimSun"/>
              <a:cs typeface="SimSun"/>
            </a:endParaRPr>
          </a:p>
          <a:p>
            <a:pPr marL="5311775" indent="-227965">
              <a:lnSpc>
                <a:spcPct val="100000"/>
              </a:lnSpc>
              <a:buFont typeface="PMingLiU-ExtB"/>
              <a:buChar char="□"/>
              <a:tabLst>
                <a:tab pos="5311775" algn="l"/>
              </a:tabLst>
            </a:pPr>
            <a:r>
              <a:rPr dirty="0" sz="1200" spc="-5">
                <a:latin typeface="SimSun"/>
                <a:cs typeface="SimSun"/>
              </a:rPr>
              <a:t>支持物理层相关协作化技术</a:t>
            </a:r>
            <a:endParaRPr sz="12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819150"/>
            <a:ext cx="6172199" cy="40752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20359" y="118591"/>
            <a:ext cx="397827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网络架构设施</a:t>
            </a:r>
            <a:r>
              <a:rPr dirty="0" spc="-30">
                <a:latin typeface="Times New Roman"/>
                <a:cs typeface="Times New Roman"/>
              </a:rPr>
              <a:t>DC</a:t>
            </a:r>
            <a:r>
              <a:rPr dirty="0" spc="-50"/>
              <a:t>化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587826" y="817848"/>
            <a:ext cx="1844675" cy="2616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 indent="-635">
              <a:lnSpc>
                <a:spcPts val="900"/>
              </a:lnSpc>
              <a:spcBef>
                <a:spcPts val="17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中心/区域/本地DC为集团DC</a:t>
            </a:r>
            <a:r>
              <a:rPr dirty="0" sz="800" spc="-20">
                <a:solidFill>
                  <a:srgbClr val="376092"/>
                </a:solidFill>
                <a:latin typeface="Microsoft YaHei"/>
                <a:cs typeface="Microsoft YaHei"/>
              </a:rPr>
              <a:t>化改造定义</a:t>
            </a: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中心/汇聚/边缘/接入级为IMT‐2020</a:t>
            </a:r>
            <a:r>
              <a:rPr dirty="0" sz="800" spc="-30">
                <a:solidFill>
                  <a:srgbClr val="376092"/>
                </a:solidFill>
                <a:latin typeface="Microsoft YaHei"/>
                <a:cs typeface="Microsoft YaHei"/>
              </a:rPr>
              <a:t>定义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62930" y="899185"/>
            <a:ext cx="3733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三级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20436" y="1286281"/>
            <a:ext cx="5759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376092"/>
                </a:solidFill>
                <a:latin typeface="Microsoft YaHei"/>
                <a:cs typeface="Microsoft YaHei"/>
              </a:rPr>
              <a:t>接入环/汇聚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64344" y="899185"/>
            <a:ext cx="3733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二级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89692" y="1210554"/>
            <a:ext cx="431165" cy="28194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45"/>
              </a:spcBef>
            </a:pP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核心层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（城域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58066" y="1028233"/>
            <a:ext cx="3219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376092"/>
                </a:solidFill>
                <a:latin typeface="Microsoft YaHei"/>
                <a:cs typeface="Microsoft YaHei"/>
              </a:rPr>
              <a:t>P‐GW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253739" y="890543"/>
            <a:ext cx="3733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一级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28546" y="1207204"/>
            <a:ext cx="431165" cy="2895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75"/>
              </a:spcBef>
            </a:pP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核心层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（省级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91449" y="1830114"/>
            <a:ext cx="515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5ms(LTE)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38526" y="1838801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1‐4ms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67099" y="1838801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2‐3ms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438637" y="1838801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1‐4ms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269484" y="1838801"/>
            <a:ext cx="369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76092"/>
                </a:solidFill>
                <a:latin typeface="Microsoft YaHei"/>
                <a:cs typeface="Microsoft YaHei"/>
              </a:rPr>
              <a:t>2‐5ms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53488" y="1831897"/>
            <a:ext cx="83629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dirty="0" sz="800" spc="-20">
                <a:solidFill>
                  <a:srgbClr val="376092"/>
                </a:solidFill>
                <a:latin typeface="Microsoft YaHei"/>
                <a:cs typeface="Microsoft YaHei"/>
              </a:rPr>
              <a:t>依业务部署位置定</a:t>
            </a:r>
            <a:endParaRPr sz="800">
              <a:latin typeface="Microsoft YaHei"/>
              <a:cs typeface="Microsoft YaHei"/>
            </a:endParaRPr>
          </a:p>
          <a:p>
            <a:pPr algn="ctr" marL="33020">
              <a:lnSpc>
                <a:spcPts val="955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(~30ms)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92862" y="2497751"/>
            <a:ext cx="739140" cy="927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1435">
              <a:lnSpc>
                <a:spcPts val="88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中心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  <a:p>
            <a:pPr algn="ctr" marL="43180">
              <a:lnSpc>
                <a:spcPts val="880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（中心级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900" spc="-20" b="1">
                <a:latin typeface="Microsoft YaHei"/>
                <a:cs typeface="Microsoft YaHei"/>
              </a:rPr>
              <a:t>业务云</a:t>
            </a:r>
            <a:endParaRPr sz="900">
              <a:latin typeface="Microsoft YaHei"/>
              <a:cs typeface="Microsoft YaHei"/>
            </a:endParaRPr>
          </a:p>
          <a:p>
            <a:pPr algn="just" marL="12700" marR="5080">
              <a:lnSpc>
                <a:spcPct val="101899"/>
              </a:lnSpc>
              <a:spcBef>
                <a:spcPts val="75"/>
              </a:spcBef>
            </a:pPr>
            <a:r>
              <a:rPr dirty="0" sz="900" spc="-10">
                <a:latin typeface="Microsoft YaHei"/>
                <a:cs typeface="Microsoft YaHei"/>
              </a:rPr>
              <a:t>天翼云、增值</a:t>
            </a:r>
            <a:r>
              <a:rPr dirty="0" sz="900">
                <a:latin typeface="Microsoft YaHei"/>
                <a:cs typeface="Microsoft YaHei"/>
              </a:rPr>
              <a:t>服务、</a:t>
            </a:r>
            <a:r>
              <a:rPr dirty="0" sz="900" spc="-20">
                <a:latin typeface="Microsoft YaHei"/>
                <a:cs typeface="Microsoft YaHei"/>
              </a:rPr>
              <a:t>CDN</a:t>
            </a:r>
            <a:r>
              <a:rPr dirty="0" sz="900" spc="-50">
                <a:latin typeface="Microsoft YaHei"/>
                <a:cs typeface="Microsoft YaHei"/>
              </a:rPr>
              <a:t>、</a:t>
            </a:r>
            <a:r>
              <a:rPr dirty="0" sz="900" spc="-10">
                <a:latin typeface="Microsoft YaHei"/>
                <a:cs typeface="Microsoft YaHei"/>
              </a:rPr>
              <a:t>政企业务等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884923" y="3627796"/>
            <a:ext cx="3638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Microsoft YaHei"/>
                <a:cs typeface="Microsoft YaHei"/>
              </a:rPr>
              <a:t>IT</a:t>
            </a:r>
            <a:r>
              <a:rPr dirty="0" sz="900" spc="-25" b="1">
                <a:latin typeface="Microsoft YaHei"/>
                <a:cs typeface="Microsoft YaHei"/>
              </a:rPr>
              <a:t>系统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901688" y="4068995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集团级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12155" y="2497751"/>
            <a:ext cx="532130" cy="248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3495">
              <a:lnSpc>
                <a:spcPts val="88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区域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  <a:p>
            <a:pPr algn="ctr">
              <a:lnSpc>
                <a:spcPts val="880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（汇聚级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245100" y="2918243"/>
            <a:ext cx="750570" cy="132334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215"/>
              </a:spcBef>
            </a:pPr>
            <a:r>
              <a:rPr dirty="0" sz="900" spc="-20" b="1">
                <a:latin typeface="Microsoft YaHei"/>
                <a:cs typeface="Microsoft YaHei"/>
              </a:rPr>
              <a:t>业务云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Microsoft YaHei"/>
                <a:cs typeface="Microsoft YaHei"/>
              </a:rPr>
              <a:t>CDN</a:t>
            </a:r>
            <a:r>
              <a:rPr dirty="0" sz="800" spc="-25">
                <a:latin typeface="Microsoft YaHei"/>
                <a:cs typeface="Microsoft YaHei"/>
              </a:rPr>
              <a:t>, 政企业务</a:t>
            </a:r>
            <a:endParaRPr sz="800">
              <a:latin typeface="Microsoft YaHei"/>
              <a:cs typeface="Microsoft YaHei"/>
            </a:endParaRPr>
          </a:p>
          <a:p>
            <a:pPr marL="196215">
              <a:lnSpc>
                <a:spcPct val="100000"/>
              </a:lnSpc>
              <a:spcBef>
                <a:spcPts val="885"/>
              </a:spcBef>
            </a:pPr>
            <a:r>
              <a:rPr dirty="0" sz="900" spc="-20" b="1">
                <a:latin typeface="Microsoft YaHei"/>
                <a:cs typeface="Microsoft YaHei"/>
              </a:rPr>
              <a:t>网络云</a:t>
            </a:r>
            <a:endParaRPr sz="900">
              <a:latin typeface="Microsoft YaHei"/>
              <a:cs typeface="Microsoft YaHei"/>
            </a:endParaRPr>
          </a:p>
          <a:p>
            <a:pPr marL="12700" marR="5715">
              <a:lnSpc>
                <a:spcPts val="900"/>
              </a:lnSpc>
              <a:spcBef>
                <a:spcPts val="155"/>
              </a:spcBef>
            </a:pPr>
            <a:r>
              <a:rPr dirty="0" sz="800" spc="-10">
                <a:latin typeface="Microsoft YaHei"/>
                <a:cs typeface="Microsoft YaHei"/>
              </a:rPr>
              <a:t>移动网：</a:t>
            </a:r>
            <a:r>
              <a:rPr dirty="0" sz="800">
                <a:latin typeface="Microsoft YaHei"/>
                <a:cs typeface="Microsoft YaHei"/>
              </a:rPr>
              <a:t>5G</a:t>
            </a:r>
            <a:r>
              <a:rPr dirty="0" sz="800" spc="-30">
                <a:latin typeface="Microsoft YaHei"/>
                <a:cs typeface="Microsoft YaHei"/>
              </a:rPr>
              <a:t> </a:t>
            </a:r>
            <a:r>
              <a:rPr dirty="0" sz="800" spc="-25">
                <a:latin typeface="Microsoft YaHei"/>
                <a:cs typeface="Microsoft YaHei"/>
              </a:rPr>
              <a:t>CP, </a:t>
            </a:r>
            <a:r>
              <a:rPr dirty="0" sz="800">
                <a:latin typeface="Microsoft YaHei"/>
                <a:cs typeface="Microsoft YaHei"/>
              </a:rPr>
              <a:t>4G</a:t>
            </a:r>
            <a:r>
              <a:rPr dirty="0" sz="800" spc="-15">
                <a:latin typeface="Microsoft YaHei"/>
                <a:cs typeface="Microsoft YaHei"/>
              </a:rPr>
              <a:t> </a:t>
            </a:r>
            <a:r>
              <a:rPr dirty="0" sz="800" spc="-10">
                <a:latin typeface="Microsoft YaHei"/>
                <a:cs typeface="Microsoft YaHei"/>
              </a:rPr>
              <a:t>vEPC</a:t>
            </a:r>
            <a:r>
              <a:rPr dirty="0" sz="800" spc="-50">
                <a:latin typeface="Microsoft YaHei"/>
                <a:cs typeface="Microsoft YaHei"/>
              </a:rPr>
              <a:t>等</a:t>
            </a:r>
            <a:endParaRPr sz="800">
              <a:latin typeface="Microsoft YaHei"/>
              <a:cs typeface="Microsoft YaHei"/>
            </a:endParaRPr>
          </a:p>
          <a:p>
            <a:pPr marL="12700" marR="5080">
              <a:lnSpc>
                <a:spcPts val="900"/>
              </a:lnSpc>
            </a:pPr>
            <a:r>
              <a:rPr dirty="0" sz="800" spc="-10">
                <a:latin typeface="Microsoft YaHei"/>
                <a:cs typeface="Microsoft YaHei"/>
              </a:rPr>
              <a:t>固网：IPTV</a:t>
            </a:r>
            <a:r>
              <a:rPr dirty="0" sz="800" spc="-30">
                <a:latin typeface="Microsoft YaHei"/>
                <a:cs typeface="Microsoft YaHei"/>
              </a:rPr>
              <a:t>业务</a:t>
            </a:r>
            <a:r>
              <a:rPr dirty="0" sz="800" spc="-20">
                <a:latin typeface="Microsoft YaHei"/>
                <a:cs typeface="Microsoft YaHei"/>
              </a:rPr>
              <a:t>平台、能力开放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19"/>
              </a:lnSpc>
            </a:pPr>
            <a:r>
              <a:rPr dirty="0" sz="800" spc="-25">
                <a:latin typeface="Microsoft YaHei"/>
                <a:cs typeface="Microsoft YaHei"/>
              </a:rPr>
              <a:t>平台等</a:t>
            </a:r>
            <a:endParaRPr sz="800">
              <a:latin typeface="Microsoft YaHei"/>
              <a:cs typeface="Microsoft YaHei"/>
            </a:endParaRPr>
          </a:p>
          <a:p>
            <a:pPr marL="280035">
              <a:lnSpc>
                <a:spcPct val="100000"/>
              </a:lnSpc>
              <a:spcBef>
                <a:spcPts val="240"/>
              </a:spcBef>
            </a:pPr>
            <a:r>
              <a:rPr dirty="0" sz="900" spc="-25">
                <a:latin typeface="Microsoft YaHei"/>
                <a:cs typeface="Microsoft YaHei"/>
              </a:rPr>
              <a:t>省级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406900" y="2442664"/>
            <a:ext cx="763270" cy="1487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0160">
              <a:lnSpc>
                <a:spcPts val="88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本地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  <a:p>
            <a:pPr algn="ctr" marR="5080">
              <a:lnSpc>
                <a:spcPts val="880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（边缘级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  <a:p>
            <a:pPr algn="ctr" marR="19685">
              <a:lnSpc>
                <a:spcPct val="100000"/>
              </a:lnSpc>
              <a:spcBef>
                <a:spcPts val="969"/>
              </a:spcBef>
            </a:pPr>
            <a:r>
              <a:rPr dirty="0" sz="900" spc="-20" b="1">
                <a:latin typeface="Microsoft YaHei"/>
                <a:cs typeface="Microsoft YaHei"/>
              </a:rPr>
              <a:t>业务云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latin typeface="Microsoft YaHei"/>
                <a:cs typeface="Microsoft YaHei"/>
              </a:rPr>
              <a:t>CDN</a:t>
            </a:r>
            <a:r>
              <a:rPr dirty="0" sz="800" spc="-25">
                <a:latin typeface="Microsoft YaHei"/>
                <a:cs typeface="Microsoft YaHei"/>
              </a:rPr>
              <a:t>下沉等</a:t>
            </a:r>
            <a:endParaRPr sz="800">
              <a:latin typeface="Microsoft YaHei"/>
              <a:cs typeface="Microsoft YaHei"/>
            </a:endParaRPr>
          </a:p>
          <a:p>
            <a:pPr algn="ctr" marR="19685">
              <a:lnSpc>
                <a:spcPct val="100000"/>
              </a:lnSpc>
              <a:spcBef>
                <a:spcPts val="880"/>
              </a:spcBef>
            </a:pPr>
            <a:r>
              <a:rPr dirty="0" sz="900" spc="-20" b="1">
                <a:latin typeface="Microsoft YaHei"/>
                <a:cs typeface="Microsoft YaHei"/>
              </a:rPr>
              <a:t>网络云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ts val="930"/>
              </a:lnSpc>
              <a:spcBef>
                <a:spcPts val="80"/>
              </a:spcBef>
            </a:pPr>
            <a:r>
              <a:rPr dirty="0" sz="800" spc="-10">
                <a:latin typeface="Microsoft YaHei"/>
                <a:cs typeface="Microsoft YaHei"/>
              </a:rPr>
              <a:t>移动网：</a:t>
            </a:r>
            <a:r>
              <a:rPr dirty="0" sz="800" spc="-10" b="1">
                <a:latin typeface="Microsoft YaHei"/>
                <a:cs typeface="Microsoft YaHei"/>
              </a:rPr>
              <a:t>MEC</a:t>
            </a:r>
            <a:r>
              <a:rPr dirty="0" sz="800" spc="-50">
                <a:latin typeface="Microsoft YaHei"/>
                <a:cs typeface="Microsoft YaHei"/>
              </a:rPr>
              <a:t>、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00"/>
              </a:lnSpc>
            </a:pPr>
            <a:r>
              <a:rPr dirty="0" sz="800">
                <a:latin typeface="Microsoft YaHei"/>
                <a:cs typeface="Microsoft YaHei"/>
              </a:rPr>
              <a:t>5G</a:t>
            </a:r>
            <a:r>
              <a:rPr dirty="0" sz="800" spc="-20">
                <a:latin typeface="Microsoft YaHei"/>
                <a:cs typeface="Microsoft YaHei"/>
              </a:rPr>
              <a:t> </a:t>
            </a:r>
            <a:r>
              <a:rPr dirty="0" sz="800">
                <a:latin typeface="Microsoft YaHei"/>
                <a:cs typeface="Microsoft YaHei"/>
              </a:rPr>
              <a:t>UP</a:t>
            </a:r>
            <a:r>
              <a:rPr dirty="0" sz="800" spc="-10">
                <a:latin typeface="Microsoft YaHei"/>
                <a:cs typeface="Microsoft YaHei"/>
              </a:rPr>
              <a:t>, 部分</a:t>
            </a:r>
            <a:r>
              <a:rPr dirty="0" sz="800" spc="-25">
                <a:latin typeface="Microsoft YaHei"/>
                <a:cs typeface="Microsoft YaHei"/>
              </a:rPr>
              <a:t>CP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00"/>
              </a:lnSpc>
            </a:pPr>
            <a:r>
              <a:rPr dirty="0" sz="800" spc="-10">
                <a:latin typeface="Microsoft YaHei"/>
                <a:cs typeface="Microsoft YaHei"/>
              </a:rPr>
              <a:t>下沉、</a:t>
            </a:r>
            <a:r>
              <a:rPr dirty="0" sz="800">
                <a:latin typeface="Microsoft YaHei"/>
                <a:cs typeface="Microsoft YaHei"/>
              </a:rPr>
              <a:t>4G</a:t>
            </a:r>
            <a:r>
              <a:rPr dirty="0" sz="800" spc="-25">
                <a:latin typeface="Microsoft YaHei"/>
                <a:cs typeface="Microsoft YaHei"/>
              </a:rPr>
              <a:t> </a:t>
            </a:r>
            <a:r>
              <a:rPr dirty="0" sz="800" spc="-20">
                <a:latin typeface="Microsoft YaHei"/>
                <a:cs typeface="Microsoft YaHei"/>
              </a:rPr>
              <a:t>vEPC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19"/>
              </a:lnSpc>
            </a:pPr>
            <a:r>
              <a:rPr dirty="0" sz="800" spc="-25">
                <a:latin typeface="Microsoft YaHei"/>
                <a:cs typeface="Microsoft YaHei"/>
              </a:rPr>
              <a:t>下沉等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50"/>
              </a:lnSpc>
            </a:pPr>
            <a:r>
              <a:rPr dirty="0" sz="800" spc="-10">
                <a:latin typeface="Microsoft YaHei"/>
                <a:cs typeface="Microsoft YaHei"/>
              </a:rPr>
              <a:t>固网：vBRAS</a:t>
            </a:r>
            <a:r>
              <a:rPr dirty="0" sz="800" spc="-50">
                <a:latin typeface="Microsoft YaHei"/>
                <a:cs typeface="Microsoft YaHei"/>
              </a:rPr>
              <a:t>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601465" y="2489109"/>
            <a:ext cx="532130" cy="248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3495">
              <a:lnSpc>
                <a:spcPts val="880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本地</a:t>
            </a:r>
            <a:r>
              <a:rPr dirty="0" sz="800" spc="-25">
                <a:solidFill>
                  <a:srgbClr val="376092"/>
                </a:solidFill>
                <a:latin typeface="Microsoft YaHei"/>
                <a:cs typeface="Microsoft YaHei"/>
              </a:rPr>
              <a:t>DC</a:t>
            </a:r>
            <a:endParaRPr sz="800">
              <a:latin typeface="Microsoft YaHei"/>
              <a:cs typeface="Microsoft YaHei"/>
            </a:endParaRPr>
          </a:p>
          <a:p>
            <a:pPr algn="ctr">
              <a:lnSpc>
                <a:spcPts val="880"/>
              </a:lnSpc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（接入级</a:t>
            </a:r>
            <a:r>
              <a:rPr dirty="0" sz="800" spc="-50">
                <a:solidFill>
                  <a:srgbClr val="376092"/>
                </a:solidFill>
                <a:latin typeface="Microsoft YaHei"/>
                <a:cs typeface="Microsoft YaHei"/>
              </a:rPr>
              <a:t>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492500" y="3181149"/>
            <a:ext cx="763270" cy="5486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245"/>
              </a:spcBef>
            </a:pPr>
            <a:r>
              <a:rPr dirty="0" sz="900" spc="-20" b="1">
                <a:latin typeface="Microsoft YaHei"/>
                <a:cs typeface="Microsoft YaHei"/>
              </a:rPr>
              <a:t>网络云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ts val="930"/>
              </a:lnSpc>
              <a:spcBef>
                <a:spcPts val="130"/>
              </a:spcBef>
            </a:pPr>
            <a:r>
              <a:rPr dirty="0" sz="800" spc="-10">
                <a:latin typeface="Microsoft YaHei"/>
                <a:cs typeface="Microsoft YaHei"/>
              </a:rPr>
              <a:t>移动网：</a:t>
            </a:r>
            <a:r>
              <a:rPr dirty="0" sz="800" spc="-10" b="1">
                <a:latin typeface="Microsoft YaHei"/>
                <a:cs typeface="Microsoft YaHei"/>
              </a:rPr>
              <a:t>MEC</a:t>
            </a:r>
            <a:r>
              <a:rPr dirty="0" sz="800" spc="-50">
                <a:latin typeface="Microsoft YaHei"/>
                <a:cs typeface="Microsoft YaHei"/>
              </a:rPr>
              <a:t>、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00"/>
              </a:lnSpc>
            </a:pPr>
            <a:r>
              <a:rPr dirty="0" sz="800">
                <a:latin typeface="Microsoft YaHei"/>
                <a:cs typeface="Microsoft YaHei"/>
              </a:rPr>
              <a:t>5G</a:t>
            </a:r>
            <a:r>
              <a:rPr dirty="0" sz="800" spc="-15">
                <a:latin typeface="Microsoft YaHei"/>
                <a:cs typeface="Microsoft YaHei"/>
              </a:rPr>
              <a:t> </a:t>
            </a:r>
            <a:r>
              <a:rPr dirty="0" sz="800">
                <a:latin typeface="Microsoft YaHei"/>
                <a:cs typeface="Microsoft YaHei"/>
              </a:rPr>
              <a:t>CU</a:t>
            </a:r>
            <a:r>
              <a:rPr dirty="0" sz="800" spc="-5">
                <a:latin typeface="Microsoft YaHei"/>
                <a:cs typeface="Microsoft YaHei"/>
              </a:rPr>
              <a:t>, </a:t>
            </a:r>
            <a:r>
              <a:rPr dirty="0" sz="800" spc="-10">
                <a:latin typeface="Microsoft YaHei"/>
                <a:cs typeface="Microsoft YaHei"/>
              </a:rPr>
              <a:t>vBBU</a:t>
            </a:r>
            <a:r>
              <a:rPr dirty="0" sz="800" spc="-50">
                <a:latin typeface="Microsoft YaHei"/>
                <a:cs typeface="Microsoft YaHei"/>
              </a:rPr>
              <a:t>等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ts val="930"/>
              </a:lnSpc>
            </a:pPr>
            <a:r>
              <a:rPr dirty="0" sz="800" spc="-15">
                <a:latin typeface="Microsoft YaHei"/>
                <a:cs typeface="Microsoft YaHei"/>
              </a:rPr>
              <a:t>固网：</a:t>
            </a:r>
            <a:r>
              <a:rPr dirty="0" sz="800" spc="-20">
                <a:latin typeface="Microsoft YaHei"/>
                <a:cs typeface="Microsoft YaHei"/>
              </a:rPr>
              <a:t>vOLT</a:t>
            </a:r>
            <a:r>
              <a:rPr dirty="0" sz="800" spc="-50">
                <a:latin typeface="Microsoft YaHei"/>
                <a:cs typeface="Microsoft YaHei"/>
              </a:rPr>
              <a:t>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676141" y="4092357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接入级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153666" y="2549093"/>
            <a:ext cx="532130" cy="245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1750">
              <a:lnSpc>
                <a:spcPts val="865"/>
              </a:lnSpc>
              <a:spcBef>
                <a:spcPts val="95"/>
              </a:spcBef>
            </a:pPr>
            <a:r>
              <a:rPr dirty="0" sz="800" spc="-10">
                <a:solidFill>
                  <a:srgbClr val="376092"/>
                </a:solidFill>
                <a:latin typeface="Microsoft YaHei"/>
                <a:cs typeface="Microsoft YaHei"/>
              </a:rPr>
              <a:t>CU/DU</a:t>
            </a:r>
            <a:endParaRPr sz="800">
              <a:latin typeface="Microsoft YaHei"/>
              <a:cs typeface="Microsoft YaHei"/>
            </a:endParaRPr>
          </a:p>
          <a:p>
            <a:pPr algn="ctr">
              <a:lnSpc>
                <a:spcPts val="865"/>
              </a:lnSpc>
            </a:pPr>
            <a:r>
              <a:rPr dirty="0" sz="800" spc="-20">
                <a:solidFill>
                  <a:srgbClr val="376092"/>
                </a:solidFill>
                <a:latin typeface="Microsoft YaHei"/>
                <a:cs typeface="Microsoft YaHei"/>
              </a:rPr>
              <a:t>一体化基站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044700" y="3130287"/>
            <a:ext cx="711200" cy="64389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900" spc="-10" b="1">
                <a:latin typeface="Microsoft YaHei"/>
                <a:cs typeface="Microsoft YaHei"/>
              </a:rPr>
              <a:t>移动接入网络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ts val="930"/>
              </a:lnSpc>
              <a:spcBef>
                <a:spcPts val="60"/>
              </a:spcBef>
            </a:pPr>
            <a:r>
              <a:rPr dirty="0" sz="800" spc="-10" b="1">
                <a:latin typeface="Microsoft YaHei"/>
                <a:cs typeface="Microsoft YaHei"/>
              </a:rPr>
              <a:t>MEC</a:t>
            </a:r>
            <a:r>
              <a:rPr dirty="0" sz="800" spc="-10">
                <a:latin typeface="Microsoft YaHei"/>
                <a:cs typeface="Microsoft YaHei"/>
              </a:rPr>
              <a:t>、</a:t>
            </a:r>
            <a:r>
              <a:rPr dirty="0" sz="800" spc="-25">
                <a:latin typeface="Microsoft YaHei"/>
                <a:cs typeface="Microsoft YaHei"/>
              </a:rPr>
              <a:t>5G</a:t>
            </a:r>
            <a:endParaRPr sz="800">
              <a:latin typeface="Microsoft YaHei"/>
              <a:cs typeface="Microsoft YaHei"/>
            </a:endParaRPr>
          </a:p>
          <a:p>
            <a:pPr algn="just" marL="12700" marR="47625">
              <a:lnSpc>
                <a:spcPts val="900"/>
              </a:lnSpc>
              <a:spcBef>
                <a:spcPts val="50"/>
              </a:spcBef>
            </a:pPr>
            <a:r>
              <a:rPr dirty="0" sz="800" spc="-10">
                <a:latin typeface="Microsoft YaHei"/>
                <a:cs typeface="Microsoft YaHei"/>
              </a:rPr>
              <a:t>CU/DU</a:t>
            </a:r>
            <a:r>
              <a:rPr dirty="0" sz="800" spc="-25">
                <a:latin typeface="Microsoft YaHei"/>
                <a:cs typeface="Microsoft YaHei"/>
              </a:rPr>
              <a:t>一体化</a:t>
            </a:r>
            <a:r>
              <a:rPr dirty="0" sz="800" spc="-10">
                <a:latin typeface="Microsoft YaHei"/>
                <a:cs typeface="Microsoft YaHei"/>
              </a:rPr>
              <a:t>基站，4G</a:t>
            </a:r>
            <a:r>
              <a:rPr dirty="0" sz="800" spc="-30">
                <a:latin typeface="Microsoft YaHei"/>
                <a:cs typeface="Microsoft YaHei"/>
              </a:rPr>
              <a:t>基站</a:t>
            </a:r>
            <a:r>
              <a:rPr dirty="0" sz="800" spc="-50">
                <a:latin typeface="Microsoft YaHei"/>
                <a:cs typeface="Microsoft YaHei"/>
              </a:rPr>
              <a:t>等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236723" y="4066235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基站级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587500" y="4457953"/>
            <a:ext cx="6125210" cy="361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latin typeface="Microsoft YaHei"/>
                <a:cs typeface="Microsoft YaHei"/>
              </a:rPr>
              <a:t>MEC</a:t>
            </a:r>
            <a:r>
              <a:rPr dirty="0" sz="1100" spc="-30" b="1">
                <a:latin typeface="Microsoft YaHei"/>
                <a:cs typeface="Microsoft YaHei"/>
              </a:rPr>
              <a:t>为用户面灵活/分布式/按需部署、业务应用本地化/近距离部署提供了运营环境，可实现从基站</a:t>
            </a:r>
            <a:r>
              <a:rPr dirty="0" sz="1100" spc="-20" b="1">
                <a:latin typeface="Microsoft YaHei"/>
                <a:cs typeface="Microsoft YaHei"/>
              </a:rPr>
              <a:t>至核心网网关按需部署（包括与基站、核心网网关合设</a:t>
            </a:r>
            <a:r>
              <a:rPr dirty="0" sz="1100" spc="-10" b="1">
                <a:latin typeface="Microsoft YaHei"/>
                <a:cs typeface="Microsoft YaHei"/>
              </a:rPr>
              <a:t>）</a:t>
            </a:r>
            <a:r>
              <a:rPr dirty="0" sz="1100" spc="-25" b="1">
                <a:latin typeface="Microsoft YaHei"/>
                <a:cs typeface="Microsoft YaHei"/>
              </a:rPr>
              <a:t>，同时具备无线网络能力开放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399107" y="4064464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Microsoft YaHei"/>
                <a:cs typeface="Microsoft YaHei"/>
              </a:rPr>
              <a:t>地市级</a:t>
            </a:r>
            <a:endParaRPr sz="9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24197" y="971551"/>
            <a:ext cx="19050" cy="3733800"/>
          </a:xfrm>
          <a:custGeom>
            <a:avLst/>
            <a:gdLst/>
            <a:ahLst/>
            <a:cxnLst/>
            <a:rect l="l" t="t" r="r" b="b"/>
            <a:pathLst>
              <a:path w="19050" h="3733800">
                <a:moveTo>
                  <a:pt x="19050" y="0"/>
                </a:moveTo>
                <a:lnTo>
                  <a:pt x="0" y="3733800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270250" y="965200"/>
            <a:ext cx="4584700" cy="498475"/>
            <a:chOff x="3270250" y="965200"/>
            <a:chExt cx="4584700" cy="4984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971550"/>
              <a:ext cx="4572000" cy="48577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76600" y="9715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74619" y="39229"/>
            <a:ext cx="30988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  <a:tab pos="1688464" algn="l"/>
                <a:tab pos="2526665" algn="l"/>
              </a:tabLst>
            </a:pPr>
            <a:r>
              <a:rPr dirty="0" sz="4400" spc="-50"/>
              <a:t>主</a:t>
            </a:r>
            <a:r>
              <a:rPr dirty="0" sz="4400"/>
              <a:t>	</a:t>
            </a:r>
            <a:r>
              <a:rPr dirty="0" sz="4400" spc="-50"/>
              <a:t>要</a:t>
            </a:r>
            <a:r>
              <a:rPr dirty="0" sz="4400"/>
              <a:t>	</a:t>
            </a:r>
            <a:r>
              <a:rPr dirty="0" sz="4400" spc="-50"/>
              <a:t>内</a:t>
            </a:r>
            <a:r>
              <a:rPr dirty="0" sz="4400"/>
              <a:t>	</a:t>
            </a:r>
            <a:r>
              <a:rPr dirty="0" sz="4400" spc="-50"/>
              <a:t>容</a:t>
            </a:r>
            <a:endParaRPr sz="4400"/>
          </a:p>
        </p:txBody>
      </p:sp>
      <p:grpSp>
        <p:nvGrpSpPr>
          <p:cNvPr id="7" name="object 7" descr=""/>
          <p:cNvGrpSpPr/>
          <p:nvPr/>
        </p:nvGrpSpPr>
        <p:grpSpPr>
          <a:xfrm>
            <a:off x="3270250" y="2032000"/>
            <a:ext cx="4584700" cy="498475"/>
            <a:chOff x="3270250" y="2032000"/>
            <a:chExt cx="4584700" cy="49847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2038350"/>
              <a:ext cx="4572000" cy="48577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276600" y="2038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3270250" y="3175000"/>
            <a:ext cx="4584700" cy="498475"/>
            <a:chOff x="3270250" y="3175000"/>
            <a:chExt cx="4584700" cy="49847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3181350"/>
              <a:ext cx="4572000" cy="48577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276600" y="3181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379053" y="1007427"/>
            <a:ext cx="4377690" cy="260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一、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系统标准与产业发展概述</a:t>
            </a:r>
            <a:endParaRPr sz="2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Microsoft YaHei"/>
                <a:cs typeface="Microsoft YaHei"/>
              </a:rPr>
              <a:t>二、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系统核心网络架构与技术</a:t>
            </a:r>
            <a:endParaRPr sz="24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Microsoft YaHei"/>
                <a:cs typeface="Microsoft YaHei"/>
              </a:rPr>
              <a:t>三、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5G</a:t>
            </a:r>
            <a:r>
              <a:rPr dirty="0" sz="2400" spc="-5" b="1">
                <a:solidFill>
                  <a:srgbClr val="FF0000"/>
                </a:solidFill>
                <a:latin typeface="Microsoft YaHei"/>
                <a:cs typeface="Microsoft YaHei"/>
              </a:rPr>
              <a:t>系统传输网络架构与技术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270250" y="4238228"/>
            <a:ext cx="4584700" cy="498475"/>
            <a:chOff x="3270250" y="4238228"/>
            <a:chExt cx="4584700" cy="498475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6600" y="4244578"/>
              <a:ext cx="4572000" cy="48577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276600" y="4244578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379053" y="4280456"/>
            <a:ext cx="436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四、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系统无线网络架构与技术</a:t>
            </a:r>
            <a:endParaRPr sz="2400">
              <a:latin typeface="Microsoft YaHei"/>
              <a:cs typeface="Microsoft YaHe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400" y="971550"/>
            <a:ext cx="2749533" cy="3786212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7175398" y="3390902"/>
            <a:ext cx="1969135" cy="933450"/>
          </a:xfrm>
          <a:custGeom>
            <a:avLst/>
            <a:gdLst/>
            <a:ahLst/>
            <a:cxnLst/>
            <a:rect l="l" t="t" r="r" b="b"/>
            <a:pathLst>
              <a:path w="1969134" h="933450">
                <a:moveTo>
                  <a:pt x="520801" y="155575"/>
                </a:moveTo>
                <a:lnTo>
                  <a:pt x="528733" y="106398"/>
                </a:lnTo>
                <a:lnTo>
                  <a:pt x="550820" y="63691"/>
                </a:lnTo>
                <a:lnTo>
                  <a:pt x="584498" y="30015"/>
                </a:lnTo>
                <a:lnTo>
                  <a:pt x="627205" y="7930"/>
                </a:lnTo>
                <a:lnTo>
                  <a:pt x="676376" y="0"/>
                </a:lnTo>
                <a:lnTo>
                  <a:pt x="762101" y="0"/>
                </a:lnTo>
                <a:lnTo>
                  <a:pt x="1124051" y="0"/>
                </a:lnTo>
                <a:lnTo>
                  <a:pt x="1813026" y="0"/>
                </a:lnTo>
                <a:lnTo>
                  <a:pt x="1862197" y="7930"/>
                </a:lnTo>
                <a:lnTo>
                  <a:pt x="1904904" y="30015"/>
                </a:lnTo>
                <a:lnTo>
                  <a:pt x="1938582" y="63691"/>
                </a:lnTo>
                <a:lnTo>
                  <a:pt x="1960669" y="106398"/>
                </a:lnTo>
                <a:lnTo>
                  <a:pt x="1968601" y="155575"/>
                </a:lnTo>
                <a:lnTo>
                  <a:pt x="1968601" y="388937"/>
                </a:lnTo>
                <a:lnTo>
                  <a:pt x="1968601" y="777875"/>
                </a:lnTo>
                <a:lnTo>
                  <a:pt x="1960669" y="827046"/>
                </a:lnTo>
                <a:lnTo>
                  <a:pt x="1938582" y="869752"/>
                </a:lnTo>
                <a:lnTo>
                  <a:pt x="1904904" y="903431"/>
                </a:lnTo>
                <a:lnTo>
                  <a:pt x="1862197" y="925518"/>
                </a:lnTo>
                <a:lnTo>
                  <a:pt x="1813026" y="933450"/>
                </a:lnTo>
                <a:lnTo>
                  <a:pt x="1124051" y="933450"/>
                </a:lnTo>
                <a:lnTo>
                  <a:pt x="762101" y="933450"/>
                </a:lnTo>
                <a:lnTo>
                  <a:pt x="676376" y="933450"/>
                </a:lnTo>
                <a:lnTo>
                  <a:pt x="627205" y="925518"/>
                </a:lnTo>
                <a:lnTo>
                  <a:pt x="584498" y="903431"/>
                </a:lnTo>
                <a:lnTo>
                  <a:pt x="550820" y="869752"/>
                </a:lnTo>
                <a:lnTo>
                  <a:pt x="528733" y="827046"/>
                </a:lnTo>
                <a:lnTo>
                  <a:pt x="520801" y="777875"/>
                </a:lnTo>
                <a:lnTo>
                  <a:pt x="520801" y="388937"/>
                </a:lnTo>
                <a:lnTo>
                  <a:pt x="0" y="33007"/>
                </a:lnTo>
                <a:lnTo>
                  <a:pt x="520801" y="1555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7848600" y="3492119"/>
            <a:ext cx="1143635" cy="68389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传输网络架构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传输网络技术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传输网络配置</a:t>
            </a:r>
            <a:endParaRPr sz="12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7578" y="165054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承载网架构及关键技术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20517" y="1072756"/>
            <a:ext cx="3630929" cy="1224280"/>
            <a:chOff x="2220517" y="1072756"/>
            <a:chExt cx="3630929" cy="12242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7060" y="1251407"/>
              <a:ext cx="1683931" cy="8699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234805" y="1087043"/>
              <a:ext cx="914400" cy="1195705"/>
            </a:xfrm>
            <a:custGeom>
              <a:avLst/>
              <a:gdLst/>
              <a:ahLst/>
              <a:cxnLst/>
              <a:rect l="l" t="t" r="r" b="b"/>
              <a:pathLst>
                <a:path w="914400" h="1195705">
                  <a:moveTo>
                    <a:pt x="762000" y="0"/>
                  </a:moveTo>
                  <a:lnTo>
                    <a:pt x="152400" y="0"/>
                  </a:lnTo>
                  <a:lnTo>
                    <a:pt x="104231" y="7768"/>
                  </a:lnTo>
                  <a:lnTo>
                    <a:pt x="62396" y="29402"/>
                  </a:lnTo>
                  <a:lnTo>
                    <a:pt x="29405" y="62391"/>
                  </a:lnTo>
                  <a:lnTo>
                    <a:pt x="7769" y="104226"/>
                  </a:lnTo>
                  <a:lnTo>
                    <a:pt x="0" y="152400"/>
                  </a:lnTo>
                  <a:lnTo>
                    <a:pt x="0" y="1042974"/>
                  </a:lnTo>
                  <a:lnTo>
                    <a:pt x="7769" y="1091149"/>
                  </a:lnTo>
                  <a:lnTo>
                    <a:pt x="29405" y="1132987"/>
                  </a:lnTo>
                  <a:lnTo>
                    <a:pt x="62396" y="1165980"/>
                  </a:lnTo>
                  <a:lnTo>
                    <a:pt x="104231" y="1187617"/>
                  </a:lnTo>
                  <a:lnTo>
                    <a:pt x="152400" y="1195387"/>
                  </a:lnTo>
                  <a:lnTo>
                    <a:pt x="762000" y="1195387"/>
                  </a:lnTo>
                  <a:lnTo>
                    <a:pt x="810168" y="1187617"/>
                  </a:lnTo>
                  <a:lnTo>
                    <a:pt x="852003" y="1165980"/>
                  </a:lnTo>
                  <a:lnTo>
                    <a:pt x="884994" y="1132987"/>
                  </a:lnTo>
                  <a:lnTo>
                    <a:pt x="906630" y="1091149"/>
                  </a:lnTo>
                  <a:lnTo>
                    <a:pt x="914400" y="1042974"/>
                  </a:lnTo>
                  <a:lnTo>
                    <a:pt x="914400" y="152400"/>
                  </a:lnTo>
                  <a:lnTo>
                    <a:pt x="906630" y="104226"/>
                  </a:lnTo>
                  <a:lnTo>
                    <a:pt x="884994" y="62391"/>
                  </a:lnTo>
                  <a:lnTo>
                    <a:pt x="852003" y="29402"/>
                  </a:lnTo>
                  <a:lnTo>
                    <a:pt x="810168" y="7768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34805" y="1087043"/>
              <a:ext cx="914400" cy="1195705"/>
            </a:xfrm>
            <a:custGeom>
              <a:avLst/>
              <a:gdLst/>
              <a:ahLst/>
              <a:cxnLst/>
              <a:rect l="l" t="t" r="r" b="b"/>
              <a:pathLst>
                <a:path w="914400" h="1195705">
                  <a:moveTo>
                    <a:pt x="0" y="152400"/>
                  </a:moveTo>
                  <a:lnTo>
                    <a:pt x="7769" y="104226"/>
                  </a:lnTo>
                  <a:lnTo>
                    <a:pt x="29405" y="62391"/>
                  </a:lnTo>
                  <a:lnTo>
                    <a:pt x="62396" y="29402"/>
                  </a:lnTo>
                  <a:lnTo>
                    <a:pt x="104231" y="7768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68" y="7768"/>
                  </a:lnTo>
                  <a:lnTo>
                    <a:pt x="852003" y="29402"/>
                  </a:lnTo>
                  <a:lnTo>
                    <a:pt x="884994" y="62391"/>
                  </a:lnTo>
                  <a:lnTo>
                    <a:pt x="906630" y="104226"/>
                  </a:lnTo>
                  <a:lnTo>
                    <a:pt x="914400" y="152400"/>
                  </a:lnTo>
                  <a:lnTo>
                    <a:pt x="914400" y="1042974"/>
                  </a:lnTo>
                  <a:lnTo>
                    <a:pt x="906630" y="1091149"/>
                  </a:lnTo>
                  <a:lnTo>
                    <a:pt x="884994" y="1132987"/>
                  </a:lnTo>
                  <a:lnTo>
                    <a:pt x="852003" y="1165980"/>
                  </a:lnTo>
                  <a:lnTo>
                    <a:pt x="810168" y="1187617"/>
                  </a:lnTo>
                  <a:lnTo>
                    <a:pt x="762000" y="1195387"/>
                  </a:lnTo>
                  <a:lnTo>
                    <a:pt x="152400" y="1195387"/>
                  </a:lnTo>
                  <a:lnTo>
                    <a:pt x="104231" y="1187617"/>
                  </a:lnTo>
                  <a:lnTo>
                    <a:pt x="62396" y="1165980"/>
                  </a:lnTo>
                  <a:lnTo>
                    <a:pt x="29405" y="1132987"/>
                  </a:lnTo>
                  <a:lnTo>
                    <a:pt x="7769" y="1091149"/>
                  </a:lnTo>
                  <a:lnTo>
                    <a:pt x="0" y="1042974"/>
                  </a:lnTo>
                  <a:lnTo>
                    <a:pt x="0" y="152400"/>
                  </a:lnTo>
                  <a:close/>
                </a:path>
              </a:pathLst>
            </a:custGeom>
            <a:ln w="28575">
              <a:solidFill>
                <a:srgbClr val="345A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71924" y="3110382"/>
            <a:ext cx="234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AAU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631281" y="2493168"/>
            <a:ext cx="5404485" cy="1163320"/>
            <a:chOff x="2631281" y="2493168"/>
            <a:chExt cx="5404485" cy="1163320"/>
          </a:xfrm>
        </p:grpSpPr>
        <p:sp>
          <p:nvSpPr>
            <p:cNvPr id="9" name="object 9" descr=""/>
            <p:cNvSpPr/>
            <p:nvPr/>
          </p:nvSpPr>
          <p:spPr>
            <a:xfrm>
              <a:off x="2640806" y="2502693"/>
              <a:ext cx="0" cy="1144270"/>
            </a:xfrm>
            <a:custGeom>
              <a:avLst/>
              <a:gdLst/>
              <a:ahLst/>
              <a:cxnLst/>
              <a:rect l="l" t="t" r="r" b="b"/>
              <a:pathLst>
                <a:path w="0" h="1144270">
                  <a:moveTo>
                    <a:pt x="0" y="0"/>
                  </a:moveTo>
                  <a:lnTo>
                    <a:pt x="0" y="1144193"/>
                  </a:lnTo>
                </a:path>
              </a:pathLst>
            </a:custGeom>
            <a:ln w="1905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279106" y="2502695"/>
              <a:ext cx="0" cy="942340"/>
            </a:xfrm>
            <a:custGeom>
              <a:avLst/>
              <a:gdLst/>
              <a:ahLst/>
              <a:cxnLst/>
              <a:rect l="l" t="t" r="r" b="b"/>
              <a:pathLst>
                <a:path w="0" h="942339">
                  <a:moveTo>
                    <a:pt x="0" y="0"/>
                  </a:moveTo>
                  <a:lnTo>
                    <a:pt x="0" y="941781"/>
                  </a:lnTo>
                </a:path>
              </a:pathLst>
            </a:custGeom>
            <a:ln w="1905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716213" y="3339703"/>
              <a:ext cx="1513840" cy="0"/>
            </a:xfrm>
            <a:custGeom>
              <a:avLst/>
              <a:gdLst/>
              <a:ahLst/>
              <a:cxnLst/>
              <a:rect l="l" t="t" r="r" b="b"/>
              <a:pathLst>
                <a:path w="1513839" h="0">
                  <a:moveTo>
                    <a:pt x="0" y="0"/>
                  </a:moveTo>
                  <a:lnTo>
                    <a:pt x="1513674" y="0"/>
                  </a:lnTo>
                </a:path>
              </a:pathLst>
            </a:custGeom>
            <a:ln w="127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652712" y="3301606"/>
              <a:ext cx="1640839" cy="76200"/>
            </a:xfrm>
            <a:custGeom>
              <a:avLst/>
              <a:gdLst/>
              <a:ahLst/>
              <a:cxnLst/>
              <a:rect l="l" t="t" r="r" b="b"/>
              <a:pathLst>
                <a:path w="164083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1640839" h="76200">
                  <a:moveTo>
                    <a:pt x="1640674" y="38100"/>
                  </a:moveTo>
                  <a:lnTo>
                    <a:pt x="1564474" y="0"/>
                  </a:lnTo>
                  <a:lnTo>
                    <a:pt x="1564474" y="76200"/>
                  </a:lnTo>
                  <a:lnTo>
                    <a:pt x="1640674" y="3810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45983" y="2502696"/>
              <a:ext cx="8890" cy="718185"/>
            </a:xfrm>
            <a:custGeom>
              <a:avLst/>
              <a:gdLst/>
              <a:ahLst/>
              <a:cxnLst/>
              <a:rect l="l" t="t" r="r" b="b"/>
              <a:pathLst>
                <a:path w="8889" h="718185">
                  <a:moveTo>
                    <a:pt x="0" y="0"/>
                  </a:moveTo>
                  <a:lnTo>
                    <a:pt x="8331" y="717943"/>
                  </a:lnTo>
                </a:path>
              </a:pathLst>
            </a:custGeom>
            <a:ln w="1905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026003" y="2502693"/>
              <a:ext cx="0" cy="1144270"/>
            </a:xfrm>
            <a:custGeom>
              <a:avLst/>
              <a:gdLst/>
              <a:ahLst/>
              <a:cxnLst/>
              <a:rect l="l" t="t" r="r" b="b"/>
              <a:pathLst>
                <a:path w="0" h="1144270">
                  <a:moveTo>
                    <a:pt x="0" y="0"/>
                  </a:moveTo>
                  <a:lnTo>
                    <a:pt x="0" y="1144193"/>
                  </a:lnTo>
                </a:path>
              </a:pathLst>
            </a:custGeom>
            <a:ln w="1905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20197" y="3095735"/>
              <a:ext cx="1942464" cy="3810"/>
            </a:xfrm>
            <a:custGeom>
              <a:avLst/>
              <a:gdLst/>
              <a:ahLst/>
              <a:cxnLst/>
              <a:rect l="l" t="t" r="r" b="b"/>
              <a:pathLst>
                <a:path w="1942465" h="3810">
                  <a:moveTo>
                    <a:pt x="0" y="0"/>
                  </a:moveTo>
                  <a:lnTo>
                    <a:pt x="1942299" y="3352"/>
                  </a:lnTo>
                </a:path>
              </a:pathLst>
            </a:custGeom>
            <a:ln w="127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956694" y="3057664"/>
              <a:ext cx="2069464" cy="80010"/>
            </a:xfrm>
            <a:custGeom>
              <a:avLst/>
              <a:gdLst/>
              <a:ahLst/>
              <a:cxnLst/>
              <a:rect l="l" t="t" r="r" b="b"/>
              <a:pathLst>
                <a:path w="2069465" h="80010">
                  <a:moveTo>
                    <a:pt x="76263" y="0"/>
                  </a:moveTo>
                  <a:lnTo>
                    <a:pt x="0" y="37973"/>
                  </a:lnTo>
                  <a:lnTo>
                    <a:pt x="76136" y="76200"/>
                  </a:lnTo>
                  <a:lnTo>
                    <a:pt x="76263" y="0"/>
                  </a:lnTo>
                  <a:close/>
                </a:path>
                <a:path w="2069465" h="80010">
                  <a:moveTo>
                    <a:pt x="2069312" y="41541"/>
                  </a:moveTo>
                  <a:lnTo>
                    <a:pt x="1993176" y="3302"/>
                  </a:lnTo>
                  <a:lnTo>
                    <a:pt x="1993036" y="79502"/>
                  </a:lnTo>
                  <a:lnTo>
                    <a:pt x="2069312" y="41541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567837" y="2879852"/>
            <a:ext cx="4902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0">
                <a:latin typeface="Microsoft YaHei"/>
                <a:cs typeface="Microsoft YaHei"/>
              </a:rPr>
              <a:t>未来：</a:t>
            </a:r>
            <a:r>
              <a:rPr dirty="0" sz="800" spc="-20">
                <a:latin typeface="Arial MT"/>
                <a:cs typeface="Arial MT"/>
              </a:rPr>
              <a:t>DCI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50606" y="2074284"/>
            <a:ext cx="928369" cy="3632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507365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Arial MT"/>
                <a:cs typeface="Arial MT"/>
              </a:rPr>
              <a:t>CU+DU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 spc="-35">
                <a:latin typeface="Microsoft YaHei"/>
                <a:cs typeface="Microsoft YaHei"/>
              </a:rPr>
              <a:t>综合业务接入点</a:t>
            </a:r>
            <a:r>
              <a:rPr dirty="0" sz="800" spc="-20">
                <a:latin typeface="Arial MT"/>
                <a:cs typeface="Arial MT"/>
              </a:rPr>
              <a:t>(CO)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79835" y="2675334"/>
            <a:ext cx="2005330" cy="961390"/>
            <a:chOff x="579835" y="2675334"/>
            <a:chExt cx="2005330" cy="961390"/>
          </a:xfrm>
        </p:grpSpPr>
        <p:sp>
          <p:nvSpPr>
            <p:cNvPr id="20" name="object 20" descr=""/>
            <p:cNvSpPr/>
            <p:nvPr/>
          </p:nvSpPr>
          <p:spPr>
            <a:xfrm>
              <a:off x="589360" y="2684859"/>
              <a:ext cx="0" cy="942340"/>
            </a:xfrm>
            <a:custGeom>
              <a:avLst/>
              <a:gdLst/>
              <a:ahLst/>
              <a:cxnLst/>
              <a:rect l="l" t="t" r="r" b="b"/>
              <a:pathLst>
                <a:path w="0" h="942339">
                  <a:moveTo>
                    <a:pt x="0" y="0"/>
                  </a:moveTo>
                  <a:lnTo>
                    <a:pt x="0" y="941781"/>
                  </a:lnTo>
                </a:path>
              </a:pathLst>
            </a:custGeom>
            <a:ln w="1905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52858" y="3342084"/>
              <a:ext cx="1868805" cy="0"/>
            </a:xfrm>
            <a:custGeom>
              <a:avLst/>
              <a:gdLst/>
              <a:ahLst/>
              <a:cxnLst/>
              <a:rect l="l" t="t" r="r" b="b"/>
              <a:pathLst>
                <a:path w="1868805" h="0">
                  <a:moveTo>
                    <a:pt x="0" y="0"/>
                  </a:moveTo>
                  <a:lnTo>
                    <a:pt x="1868487" y="0"/>
                  </a:lnTo>
                </a:path>
              </a:pathLst>
            </a:custGeom>
            <a:ln w="127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89356" y="3303981"/>
              <a:ext cx="1995805" cy="76200"/>
            </a:xfrm>
            <a:custGeom>
              <a:avLst/>
              <a:gdLst/>
              <a:ahLst/>
              <a:cxnLst/>
              <a:rect l="l" t="t" r="r" b="b"/>
              <a:pathLst>
                <a:path w="199580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1995805" h="76200">
                  <a:moveTo>
                    <a:pt x="1995487" y="38100"/>
                  </a:moveTo>
                  <a:lnTo>
                    <a:pt x="1919287" y="0"/>
                  </a:lnTo>
                  <a:lnTo>
                    <a:pt x="1919287" y="76200"/>
                  </a:lnTo>
                  <a:lnTo>
                    <a:pt x="1995487" y="3810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29049" y="3343433"/>
            <a:ext cx="910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FF0000"/>
                </a:solidFill>
                <a:latin typeface="Microsoft YaHei"/>
                <a:cs typeface="Microsoft YaHei"/>
              </a:rPr>
              <a:t>前传</a:t>
            </a:r>
            <a:r>
              <a:rPr dirty="0" sz="900" spc="-35" b="1">
                <a:solidFill>
                  <a:srgbClr val="FF0000"/>
                </a:solidFill>
                <a:latin typeface="Microsoft YaHei"/>
                <a:cs typeface="Microsoft YaHei"/>
              </a:rPr>
              <a:t>（</a:t>
            </a:r>
            <a:r>
              <a:rPr dirty="0" sz="900" spc="-35" b="1">
                <a:solidFill>
                  <a:srgbClr val="FF0000"/>
                </a:solidFill>
                <a:latin typeface="Arial"/>
                <a:cs typeface="Arial"/>
              </a:rPr>
              <a:t>AAU-</a:t>
            </a:r>
            <a:r>
              <a:rPr dirty="0" sz="900" spc="-25" b="1">
                <a:solidFill>
                  <a:srgbClr val="FF0000"/>
                </a:solidFill>
                <a:latin typeface="Arial"/>
                <a:cs typeface="Arial"/>
              </a:rPr>
              <a:t>DU</a:t>
            </a:r>
            <a:r>
              <a:rPr dirty="0" sz="900" spc="-25" b="1">
                <a:solidFill>
                  <a:srgbClr val="FF0000"/>
                </a:solidFill>
                <a:latin typeface="Microsoft YaHei"/>
                <a:cs typeface="Microsoft YaHei"/>
              </a:rPr>
              <a:t>）</a:t>
            </a:r>
            <a:endParaRPr sz="900">
              <a:latin typeface="Microsoft YaHei"/>
              <a:cs typeface="Microsoft YaHe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145381" y="1331125"/>
            <a:ext cx="537845" cy="1426210"/>
            <a:chOff x="1145381" y="1331125"/>
            <a:chExt cx="537845" cy="142621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381" y="1331125"/>
              <a:ext cx="251211" cy="18692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0187" y="2489598"/>
              <a:ext cx="232752" cy="267690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2483994" y="1373284"/>
            <a:ext cx="1720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DU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38540" y="1227953"/>
            <a:ext cx="234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AAU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917980" y="965593"/>
            <a:ext cx="914400" cy="2190750"/>
            <a:chOff x="917980" y="965593"/>
            <a:chExt cx="914400" cy="2190750"/>
          </a:xfrm>
        </p:grpSpPr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980" y="965593"/>
              <a:ext cx="199980" cy="23635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118" y="2606279"/>
              <a:ext cx="199908" cy="17968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0384" y="2264571"/>
              <a:ext cx="199908" cy="17848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2747" y="2976562"/>
              <a:ext cx="199908" cy="17967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096564" y="2606279"/>
              <a:ext cx="441959" cy="114300"/>
            </a:xfrm>
            <a:custGeom>
              <a:avLst/>
              <a:gdLst/>
              <a:ahLst/>
              <a:cxnLst/>
              <a:rect l="l" t="t" r="r" b="b"/>
              <a:pathLst>
                <a:path w="441959" h="114300">
                  <a:moveTo>
                    <a:pt x="0" y="114300"/>
                  </a:moveTo>
                  <a:lnTo>
                    <a:pt x="44171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18022" y="2377679"/>
              <a:ext cx="220345" cy="228600"/>
            </a:xfrm>
            <a:custGeom>
              <a:avLst/>
              <a:gdLst/>
              <a:ahLst/>
              <a:cxnLst/>
              <a:rect l="l" t="t" r="r" b="b"/>
              <a:pathLst>
                <a:path w="220344" h="228600">
                  <a:moveTo>
                    <a:pt x="0" y="0"/>
                  </a:moveTo>
                  <a:lnTo>
                    <a:pt x="220268" y="228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206106" y="2606278"/>
              <a:ext cx="332740" cy="493395"/>
            </a:xfrm>
            <a:custGeom>
              <a:avLst/>
              <a:gdLst/>
              <a:ahLst/>
              <a:cxnLst/>
              <a:rect l="l" t="t" r="r" b="b"/>
              <a:pathLst>
                <a:path w="332740" h="493394">
                  <a:moveTo>
                    <a:pt x="332181" y="0"/>
                  </a:moveTo>
                  <a:lnTo>
                    <a:pt x="0" y="4929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8287" y="2761061"/>
              <a:ext cx="294081" cy="75267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600425" y="1437572"/>
            <a:ext cx="234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AAU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0168" y="1175143"/>
            <a:ext cx="200779" cy="236372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776638" y="1742372"/>
            <a:ext cx="234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AAU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73907" y="1143000"/>
            <a:ext cx="2152650" cy="1106170"/>
            <a:chOff x="773907" y="1143000"/>
            <a:chExt cx="2152650" cy="1106170"/>
          </a:xfrm>
        </p:grpSpPr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6381" y="1479943"/>
              <a:ext cx="200779" cy="2363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41981" y="1266825"/>
              <a:ext cx="484576" cy="121132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022748" y="1147762"/>
              <a:ext cx="247650" cy="183515"/>
            </a:xfrm>
            <a:custGeom>
              <a:avLst/>
              <a:gdLst/>
              <a:ahLst/>
              <a:cxnLst/>
              <a:rect l="l" t="t" r="r" b="b"/>
              <a:pathLst>
                <a:path w="247650" h="183515">
                  <a:moveTo>
                    <a:pt x="0" y="0"/>
                  </a:moveTo>
                  <a:lnTo>
                    <a:pt x="247650" y="183362"/>
                  </a:lnTo>
                </a:path>
              </a:pathLst>
            </a:custGeom>
            <a:ln w="9524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78670" y="1331120"/>
              <a:ext cx="367030" cy="93345"/>
            </a:xfrm>
            <a:custGeom>
              <a:avLst/>
              <a:gdLst/>
              <a:ahLst/>
              <a:cxnLst/>
              <a:rect l="l" t="t" r="r" b="b"/>
              <a:pathLst>
                <a:path w="367030" h="93344">
                  <a:moveTo>
                    <a:pt x="0" y="0"/>
                  </a:moveTo>
                  <a:lnTo>
                    <a:pt x="366712" y="92875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62026" y="1518042"/>
              <a:ext cx="308610" cy="179070"/>
            </a:xfrm>
            <a:custGeom>
              <a:avLst/>
              <a:gdLst/>
              <a:ahLst/>
              <a:cxnLst/>
              <a:rect l="l" t="t" r="r" b="b"/>
              <a:pathLst>
                <a:path w="308609" h="179069">
                  <a:moveTo>
                    <a:pt x="0" y="178600"/>
                  </a:moveTo>
                  <a:lnTo>
                    <a:pt x="308368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93609" y="1408722"/>
              <a:ext cx="1461058" cy="305460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683670" y="1388268"/>
              <a:ext cx="1270" cy="187325"/>
            </a:xfrm>
            <a:custGeom>
              <a:avLst/>
              <a:gdLst/>
              <a:ahLst/>
              <a:cxnLst/>
              <a:rect l="l" t="t" r="r" b="b"/>
              <a:pathLst>
                <a:path w="1269" h="187325">
                  <a:moveTo>
                    <a:pt x="0" y="0"/>
                  </a:moveTo>
                  <a:lnTo>
                    <a:pt x="1193" y="186931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2217" y="1591183"/>
              <a:ext cx="1471678" cy="5778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047" y="1940718"/>
              <a:ext cx="251214" cy="18573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07375" y="2062162"/>
              <a:ext cx="252406" cy="186929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465884" y="2019788"/>
            <a:ext cx="234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AAU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5315" y="1757359"/>
            <a:ext cx="199979" cy="236362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594471" y="2351972"/>
            <a:ext cx="234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AAU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645318" y="1935958"/>
            <a:ext cx="1293495" cy="866775"/>
            <a:chOff x="645318" y="1935958"/>
            <a:chExt cx="1293495" cy="866775"/>
          </a:xfrm>
        </p:grpSpPr>
        <p:pic>
          <p:nvPicPr>
            <p:cNvPr id="56" name="object 5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3902" y="2089543"/>
              <a:ext cx="199979" cy="23637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650081" y="1940721"/>
              <a:ext cx="487045" cy="93345"/>
            </a:xfrm>
            <a:custGeom>
              <a:avLst/>
              <a:gdLst/>
              <a:ahLst/>
              <a:cxnLst/>
              <a:rect l="l" t="t" r="r" b="b"/>
              <a:pathLst>
                <a:path w="487044" h="93344">
                  <a:moveTo>
                    <a:pt x="0" y="0"/>
                  </a:moveTo>
                  <a:lnTo>
                    <a:pt x="486968" y="92875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78668" y="2033595"/>
              <a:ext cx="358775" cy="212090"/>
            </a:xfrm>
            <a:custGeom>
              <a:avLst/>
              <a:gdLst/>
              <a:ahLst/>
              <a:cxnLst/>
              <a:rect l="l" t="t" r="r" b="b"/>
              <a:pathLst>
                <a:path w="358775" h="212089">
                  <a:moveTo>
                    <a:pt x="0" y="211924"/>
                  </a:moveTo>
                  <a:lnTo>
                    <a:pt x="358381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832372" y="2249089"/>
              <a:ext cx="101600" cy="549275"/>
            </a:xfrm>
            <a:custGeom>
              <a:avLst/>
              <a:gdLst/>
              <a:ahLst/>
              <a:cxnLst/>
              <a:rect l="l" t="t" r="r" b="b"/>
              <a:pathLst>
                <a:path w="101600" h="549275">
                  <a:moveTo>
                    <a:pt x="0" y="548881"/>
                  </a:moveTo>
                  <a:lnTo>
                    <a:pt x="101206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360814" y="2840134"/>
            <a:ext cx="7353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1250" sz="1200" spc="30">
                <a:latin typeface="Microsoft YaHei"/>
                <a:cs typeface="Microsoft YaHei"/>
              </a:rPr>
              <a:t>宏站 </a:t>
            </a:r>
            <a:r>
              <a:rPr dirty="0" sz="800" spc="-10">
                <a:latin typeface="Arial MT"/>
                <a:cs typeface="Arial MT"/>
              </a:rPr>
              <a:t>AAU+DU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386001" y="904876"/>
            <a:ext cx="3538220" cy="1183640"/>
            <a:chOff x="1386001" y="904876"/>
            <a:chExt cx="3538220" cy="1183640"/>
          </a:xfrm>
        </p:grpSpPr>
        <p:pic>
          <p:nvPicPr>
            <p:cNvPr id="62" name="object 6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86001" y="1689442"/>
              <a:ext cx="1136777" cy="381139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1463257" y="1802612"/>
              <a:ext cx="265430" cy="140970"/>
            </a:xfrm>
            <a:custGeom>
              <a:avLst/>
              <a:gdLst/>
              <a:ahLst/>
              <a:cxnLst/>
              <a:rect l="l" t="t" r="r" b="b"/>
              <a:pathLst>
                <a:path w="265430" h="140969">
                  <a:moveTo>
                    <a:pt x="55372" y="60388"/>
                  </a:moveTo>
                  <a:lnTo>
                    <a:pt x="10617" y="74790"/>
                  </a:lnTo>
                  <a:lnTo>
                    <a:pt x="31737" y="140449"/>
                  </a:lnTo>
                  <a:lnTo>
                    <a:pt x="44551" y="136334"/>
                  </a:lnTo>
                  <a:lnTo>
                    <a:pt x="38257" y="116763"/>
                  </a:lnTo>
                  <a:lnTo>
                    <a:pt x="38138" y="116395"/>
                  </a:lnTo>
                  <a:lnTo>
                    <a:pt x="38036" y="116077"/>
                  </a:lnTo>
                  <a:lnTo>
                    <a:pt x="57162" y="109918"/>
                  </a:lnTo>
                  <a:lnTo>
                    <a:pt x="71305" y="109918"/>
                  </a:lnTo>
                  <a:lnTo>
                    <a:pt x="70014" y="105905"/>
                  </a:lnTo>
                  <a:lnTo>
                    <a:pt x="34772" y="105905"/>
                  </a:lnTo>
                  <a:lnTo>
                    <a:pt x="32588" y="99123"/>
                  </a:lnTo>
                  <a:lnTo>
                    <a:pt x="51714" y="92963"/>
                  </a:lnTo>
                  <a:lnTo>
                    <a:pt x="65851" y="92963"/>
                  </a:lnTo>
                  <a:lnTo>
                    <a:pt x="64556" y="88938"/>
                  </a:lnTo>
                  <a:lnTo>
                    <a:pt x="29311" y="88938"/>
                  </a:lnTo>
                  <a:lnTo>
                    <a:pt x="27127" y="82156"/>
                  </a:lnTo>
                  <a:lnTo>
                    <a:pt x="46253" y="76009"/>
                  </a:lnTo>
                  <a:lnTo>
                    <a:pt x="60397" y="76009"/>
                  </a:lnTo>
                  <a:lnTo>
                    <a:pt x="55372" y="60388"/>
                  </a:lnTo>
                  <a:close/>
                </a:path>
                <a:path w="265430" h="140969">
                  <a:moveTo>
                    <a:pt x="71305" y="109918"/>
                  </a:moveTo>
                  <a:lnTo>
                    <a:pt x="57162" y="109918"/>
                  </a:lnTo>
                  <a:lnTo>
                    <a:pt x="59143" y="116077"/>
                  </a:lnTo>
                  <a:lnTo>
                    <a:pt x="59245" y="116395"/>
                  </a:lnTo>
                  <a:lnTo>
                    <a:pt x="58267" y="118617"/>
                  </a:lnTo>
                  <a:lnTo>
                    <a:pt x="54305" y="119887"/>
                  </a:lnTo>
                  <a:lnTo>
                    <a:pt x="46583" y="121958"/>
                  </a:lnTo>
                  <a:lnTo>
                    <a:pt x="48285" y="124663"/>
                  </a:lnTo>
                  <a:lnTo>
                    <a:pt x="50507" y="128562"/>
                  </a:lnTo>
                  <a:lnTo>
                    <a:pt x="53251" y="133642"/>
                  </a:lnTo>
                  <a:lnTo>
                    <a:pt x="58077" y="132054"/>
                  </a:lnTo>
                  <a:lnTo>
                    <a:pt x="62179" y="130568"/>
                  </a:lnTo>
                  <a:lnTo>
                    <a:pt x="68910" y="127812"/>
                  </a:lnTo>
                  <a:lnTo>
                    <a:pt x="71196" y="125742"/>
                  </a:lnTo>
                  <a:lnTo>
                    <a:pt x="73527" y="120294"/>
                  </a:lnTo>
                  <a:lnTo>
                    <a:pt x="73507" y="116763"/>
                  </a:lnTo>
                  <a:lnTo>
                    <a:pt x="71305" y="109918"/>
                  </a:lnTo>
                  <a:close/>
                </a:path>
                <a:path w="265430" h="140969">
                  <a:moveTo>
                    <a:pt x="93065" y="47015"/>
                  </a:moveTo>
                  <a:lnTo>
                    <a:pt x="80352" y="51104"/>
                  </a:lnTo>
                  <a:lnTo>
                    <a:pt x="97078" y="103111"/>
                  </a:lnTo>
                  <a:lnTo>
                    <a:pt x="95897" y="105676"/>
                  </a:lnTo>
                  <a:lnTo>
                    <a:pt x="89306" y="107797"/>
                  </a:lnTo>
                  <a:lnTo>
                    <a:pt x="84924" y="109067"/>
                  </a:lnTo>
                  <a:lnTo>
                    <a:pt x="79133" y="110655"/>
                  </a:lnTo>
                  <a:lnTo>
                    <a:pt x="82067" y="115468"/>
                  </a:lnTo>
                  <a:lnTo>
                    <a:pt x="84404" y="119595"/>
                  </a:lnTo>
                  <a:lnTo>
                    <a:pt x="86131" y="123062"/>
                  </a:lnTo>
                  <a:lnTo>
                    <a:pt x="94742" y="120294"/>
                  </a:lnTo>
                  <a:lnTo>
                    <a:pt x="100634" y="118148"/>
                  </a:lnTo>
                  <a:lnTo>
                    <a:pt x="106997" y="115087"/>
                  </a:lnTo>
                  <a:lnTo>
                    <a:pt x="109143" y="112852"/>
                  </a:lnTo>
                  <a:lnTo>
                    <a:pt x="111328" y="106946"/>
                  </a:lnTo>
                  <a:lnTo>
                    <a:pt x="111240" y="104686"/>
                  </a:lnTo>
                  <a:lnTo>
                    <a:pt x="111188" y="103352"/>
                  </a:lnTo>
                  <a:lnTo>
                    <a:pt x="93065" y="47015"/>
                  </a:lnTo>
                  <a:close/>
                </a:path>
                <a:path w="265430" h="140969">
                  <a:moveTo>
                    <a:pt x="130826" y="65836"/>
                  </a:moveTo>
                  <a:lnTo>
                    <a:pt x="117614" y="65836"/>
                  </a:lnTo>
                  <a:lnTo>
                    <a:pt x="131521" y="109067"/>
                  </a:lnTo>
                  <a:lnTo>
                    <a:pt x="131648" y="109461"/>
                  </a:lnTo>
                  <a:lnTo>
                    <a:pt x="143426" y="105676"/>
                  </a:lnTo>
                  <a:lnTo>
                    <a:pt x="143644" y="105676"/>
                  </a:lnTo>
                  <a:lnTo>
                    <a:pt x="130826" y="65836"/>
                  </a:lnTo>
                  <a:close/>
                </a:path>
                <a:path w="265430" h="140969">
                  <a:moveTo>
                    <a:pt x="65851" y="92963"/>
                  </a:moveTo>
                  <a:lnTo>
                    <a:pt x="51714" y="92963"/>
                  </a:lnTo>
                  <a:lnTo>
                    <a:pt x="53898" y="99745"/>
                  </a:lnTo>
                  <a:lnTo>
                    <a:pt x="34772" y="105905"/>
                  </a:lnTo>
                  <a:lnTo>
                    <a:pt x="70014" y="105905"/>
                  </a:lnTo>
                  <a:lnTo>
                    <a:pt x="65851" y="92963"/>
                  </a:lnTo>
                  <a:close/>
                </a:path>
                <a:path w="265430" h="140969">
                  <a:moveTo>
                    <a:pt x="74345" y="56045"/>
                  </a:moveTo>
                  <a:lnTo>
                    <a:pt x="62572" y="59842"/>
                  </a:lnTo>
                  <a:lnTo>
                    <a:pt x="77000" y="104686"/>
                  </a:lnTo>
                  <a:lnTo>
                    <a:pt x="88773" y="100901"/>
                  </a:lnTo>
                  <a:lnTo>
                    <a:pt x="74345" y="56045"/>
                  </a:lnTo>
                  <a:close/>
                </a:path>
                <a:path w="265430" h="140969">
                  <a:moveTo>
                    <a:pt x="60397" y="76009"/>
                  </a:moveTo>
                  <a:lnTo>
                    <a:pt x="46253" y="76009"/>
                  </a:lnTo>
                  <a:lnTo>
                    <a:pt x="48437" y="82791"/>
                  </a:lnTo>
                  <a:lnTo>
                    <a:pt x="29311" y="88938"/>
                  </a:lnTo>
                  <a:lnTo>
                    <a:pt x="64556" y="88938"/>
                  </a:lnTo>
                  <a:lnTo>
                    <a:pt x="60609" y="76669"/>
                  </a:lnTo>
                  <a:lnTo>
                    <a:pt x="60487" y="76288"/>
                  </a:lnTo>
                  <a:lnTo>
                    <a:pt x="60397" y="76009"/>
                  </a:lnTo>
                  <a:close/>
                </a:path>
                <a:path w="265430" h="140969">
                  <a:moveTo>
                    <a:pt x="151739" y="72021"/>
                  </a:moveTo>
                  <a:lnTo>
                    <a:pt x="148793" y="84188"/>
                  </a:lnTo>
                  <a:lnTo>
                    <a:pt x="163104" y="85195"/>
                  </a:lnTo>
                  <a:lnTo>
                    <a:pt x="176109" y="86296"/>
                  </a:lnTo>
                  <a:lnTo>
                    <a:pt x="187807" y="87492"/>
                  </a:lnTo>
                  <a:lnTo>
                    <a:pt x="198196" y="88785"/>
                  </a:lnTo>
                  <a:lnTo>
                    <a:pt x="201036" y="76669"/>
                  </a:lnTo>
                  <a:lnTo>
                    <a:pt x="201126" y="76288"/>
                  </a:lnTo>
                  <a:lnTo>
                    <a:pt x="201191" y="76009"/>
                  </a:lnTo>
                  <a:lnTo>
                    <a:pt x="201307" y="75514"/>
                  </a:lnTo>
                  <a:lnTo>
                    <a:pt x="187985" y="74333"/>
                  </a:lnTo>
                  <a:lnTo>
                    <a:pt x="188550" y="73202"/>
                  </a:lnTo>
                  <a:lnTo>
                    <a:pt x="173583" y="73202"/>
                  </a:lnTo>
                  <a:lnTo>
                    <a:pt x="165074" y="72605"/>
                  </a:lnTo>
                  <a:lnTo>
                    <a:pt x="157797" y="72212"/>
                  </a:lnTo>
                  <a:lnTo>
                    <a:pt x="151739" y="72021"/>
                  </a:lnTo>
                  <a:close/>
                </a:path>
                <a:path w="265430" h="140969">
                  <a:moveTo>
                    <a:pt x="122618" y="12865"/>
                  </a:moveTo>
                  <a:lnTo>
                    <a:pt x="109118" y="13576"/>
                  </a:lnTo>
                  <a:lnTo>
                    <a:pt x="109091" y="36956"/>
                  </a:lnTo>
                  <a:lnTo>
                    <a:pt x="108965" y="39992"/>
                  </a:lnTo>
                  <a:lnTo>
                    <a:pt x="108855" y="41300"/>
                  </a:lnTo>
                  <a:lnTo>
                    <a:pt x="108019" y="48437"/>
                  </a:lnTo>
                  <a:lnTo>
                    <a:pt x="107943" y="49085"/>
                  </a:lnTo>
                  <a:lnTo>
                    <a:pt x="107820" y="50139"/>
                  </a:lnTo>
                  <a:lnTo>
                    <a:pt x="107707" y="51104"/>
                  </a:lnTo>
                  <a:lnTo>
                    <a:pt x="107610" y="51930"/>
                  </a:lnTo>
                  <a:lnTo>
                    <a:pt x="107484" y="53011"/>
                  </a:lnTo>
                  <a:lnTo>
                    <a:pt x="105117" y="64769"/>
                  </a:lnTo>
                  <a:lnTo>
                    <a:pt x="108610" y="71119"/>
                  </a:lnTo>
                  <a:lnTo>
                    <a:pt x="111544" y="76669"/>
                  </a:lnTo>
                  <a:lnTo>
                    <a:pt x="113893" y="81381"/>
                  </a:lnTo>
                  <a:lnTo>
                    <a:pt x="115197" y="76669"/>
                  </a:lnTo>
                  <a:lnTo>
                    <a:pt x="116492" y="71335"/>
                  </a:lnTo>
                  <a:lnTo>
                    <a:pt x="117614" y="65836"/>
                  </a:lnTo>
                  <a:lnTo>
                    <a:pt x="130826" y="65836"/>
                  </a:lnTo>
                  <a:lnTo>
                    <a:pt x="121640" y="37287"/>
                  </a:lnTo>
                  <a:lnTo>
                    <a:pt x="121653" y="36956"/>
                  </a:lnTo>
                  <a:lnTo>
                    <a:pt x="121904" y="34061"/>
                  </a:lnTo>
                  <a:lnTo>
                    <a:pt x="122014" y="32791"/>
                  </a:lnTo>
                  <a:lnTo>
                    <a:pt x="122138" y="31368"/>
                  </a:lnTo>
                  <a:lnTo>
                    <a:pt x="122242" y="30175"/>
                  </a:lnTo>
                  <a:lnTo>
                    <a:pt x="122363" y="28130"/>
                  </a:lnTo>
                  <a:lnTo>
                    <a:pt x="122544" y="23647"/>
                  </a:lnTo>
                  <a:lnTo>
                    <a:pt x="122618" y="12865"/>
                  </a:lnTo>
                  <a:close/>
                </a:path>
                <a:path w="265430" h="140969">
                  <a:moveTo>
                    <a:pt x="196350" y="57594"/>
                  </a:moveTo>
                  <a:lnTo>
                    <a:pt x="181711" y="57594"/>
                  </a:lnTo>
                  <a:lnTo>
                    <a:pt x="173583" y="73202"/>
                  </a:lnTo>
                  <a:lnTo>
                    <a:pt x="188550" y="73202"/>
                  </a:lnTo>
                  <a:lnTo>
                    <a:pt x="196350" y="57594"/>
                  </a:lnTo>
                  <a:close/>
                </a:path>
                <a:path w="265430" h="140969">
                  <a:moveTo>
                    <a:pt x="26352" y="39992"/>
                  </a:moveTo>
                  <a:lnTo>
                    <a:pt x="15584" y="47015"/>
                  </a:lnTo>
                  <a:lnTo>
                    <a:pt x="13510" y="48437"/>
                  </a:lnTo>
                  <a:lnTo>
                    <a:pt x="15684" y="50139"/>
                  </a:lnTo>
                  <a:lnTo>
                    <a:pt x="17868" y="51930"/>
                  </a:lnTo>
                  <a:lnTo>
                    <a:pt x="20027" y="53771"/>
                  </a:lnTo>
                  <a:lnTo>
                    <a:pt x="0" y="60210"/>
                  </a:lnTo>
                  <a:lnTo>
                    <a:pt x="3511" y="71119"/>
                  </a:lnTo>
                  <a:lnTo>
                    <a:pt x="3581" y="71335"/>
                  </a:lnTo>
                  <a:lnTo>
                    <a:pt x="74763" y="48437"/>
                  </a:lnTo>
                  <a:lnTo>
                    <a:pt x="36601" y="48437"/>
                  </a:lnTo>
                  <a:lnTo>
                    <a:pt x="33362" y="45669"/>
                  </a:lnTo>
                  <a:lnTo>
                    <a:pt x="29946" y="42849"/>
                  </a:lnTo>
                  <a:lnTo>
                    <a:pt x="26352" y="39992"/>
                  </a:lnTo>
                  <a:close/>
                </a:path>
                <a:path w="265430" h="140969">
                  <a:moveTo>
                    <a:pt x="156858" y="49085"/>
                  </a:moveTo>
                  <a:lnTo>
                    <a:pt x="142849" y="49085"/>
                  </a:lnTo>
                  <a:lnTo>
                    <a:pt x="142821" y="51930"/>
                  </a:lnTo>
                  <a:lnTo>
                    <a:pt x="142697" y="58800"/>
                  </a:lnTo>
                  <a:lnTo>
                    <a:pt x="146011" y="69075"/>
                  </a:lnTo>
                  <a:lnTo>
                    <a:pt x="181711" y="57594"/>
                  </a:lnTo>
                  <a:lnTo>
                    <a:pt x="196350" y="57594"/>
                  </a:lnTo>
                  <a:lnTo>
                    <a:pt x="198171" y="53949"/>
                  </a:lnTo>
                  <a:lnTo>
                    <a:pt x="156832" y="53949"/>
                  </a:lnTo>
                  <a:lnTo>
                    <a:pt x="156858" y="49085"/>
                  </a:lnTo>
                  <a:close/>
                </a:path>
                <a:path w="265430" h="140969">
                  <a:moveTo>
                    <a:pt x="196430" y="41300"/>
                  </a:moveTo>
                  <a:lnTo>
                    <a:pt x="196168" y="41300"/>
                  </a:lnTo>
                  <a:lnTo>
                    <a:pt x="156832" y="53949"/>
                  </a:lnTo>
                  <a:lnTo>
                    <a:pt x="198171" y="53949"/>
                  </a:lnTo>
                  <a:lnTo>
                    <a:pt x="199593" y="51104"/>
                  </a:lnTo>
                  <a:lnTo>
                    <a:pt x="196430" y="41300"/>
                  </a:lnTo>
                  <a:close/>
                </a:path>
                <a:path w="265430" h="140969">
                  <a:moveTo>
                    <a:pt x="156505" y="28130"/>
                  </a:moveTo>
                  <a:lnTo>
                    <a:pt x="142392" y="28130"/>
                  </a:lnTo>
                  <a:lnTo>
                    <a:pt x="142460" y="30175"/>
                  </a:lnTo>
                  <a:lnTo>
                    <a:pt x="142577" y="33705"/>
                  </a:lnTo>
                  <a:lnTo>
                    <a:pt x="142697" y="37287"/>
                  </a:lnTo>
                  <a:lnTo>
                    <a:pt x="127762" y="42087"/>
                  </a:lnTo>
                  <a:lnTo>
                    <a:pt x="131216" y="52831"/>
                  </a:lnTo>
                  <a:lnTo>
                    <a:pt x="142849" y="49085"/>
                  </a:lnTo>
                  <a:lnTo>
                    <a:pt x="156858" y="49085"/>
                  </a:lnTo>
                  <a:lnTo>
                    <a:pt x="156883" y="44576"/>
                  </a:lnTo>
                  <a:lnTo>
                    <a:pt x="193497" y="32791"/>
                  </a:lnTo>
                  <a:lnTo>
                    <a:pt x="156679" y="32791"/>
                  </a:lnTo>
                  <a:lnTo>
                    <a:pt x="156553" y="29413"/>
                  </a:lnTo>
                  <a:lnTo>
                    <a:pt x="156505" y="28130"/>
                  </a:lnTo>
                  <a:close/>
                </a:path>
                <a:path w="265430" h="140969">
                  <a:moveTo>
                    <a:pt x="75831" y="28333"/>
                  </a:moveTo>
                  <a:lnTo>
                    <a:pt x="59232" y="29413"/>
                  </a:lnTo>
                  <a:lnTo>
                    <a:pt x="58191" y="33705"/>
                  </a:lnTo>
                  <a:lnTo>
                    <a:pt x="57023" y="37985"/>
                  </a:lnTo>
                  <a:lnTo>
                    <a:pt x="55788" y="42087"/>
                  </a:lnTo>
                  <a:lnTo>
                    <a:pt x="55727" y="42290"/>
                  </a:lnTo>
                  <a:lnTo>
                    <a:pt x="36601" y="48437"/>
                  </a:lnTo>
                  <a:lnTo>
                    <a:pt x="74763" y="48437"/>
                  </a:lnTo>
                  <a:lnTo>
                    <a:pt x="96951" y="41300"/>
                  </a:lnTo>
                  <a:lnTo>
                    <a:pt x="95659" y="37287"/>
                  </a:lnTo>
                  <a:lnTo>
                    <a:pt x="95553" y="36956"/>
                  </a:lnTo>
                  <a:lnTo>
                    <a:pt x="72313" y="36956"/>
                  </a:lnTo>
                  <a:lnTo>
                    <a:pt x="73571" y="34061"/>
                  </a:lnTo>
                  <a:lnTo>
                    <a:pt x="74662" y="31368"/>
                  </a:lnTo>
                  <a:lnTo>
                    <a:pt x="75831" y="28333"/>
                  </a:lnTo>
                  <a:close/>
                </a:path>
                <a:path w="265430" h="140969">
                  <a:moveTo>
                    <a:pt x="93370" y="30175"/>
                  </a:moveTo>
                  <a:lnTo>
                    <a:pt x="72313" y="36956"/>
                  </a:lnTo>
                  <a:lnTo>
                    <a:pt x="95553" y="36956"/>
                  </a:lnTo>
                  <a:lnTo>
                    <a:pt x="93370" y="30175"/>
                  </a:lnTo>
                  <a:close/>
                </a:path>
                <a:path w="265430" h="140969">
                  <a:moveTo>
                    <a:pt x="194462" y="20637"/>
                  </a:moveTo>
                  <a:lnTo>
                    <a:pt x="156679" y="32791"/>
                  </a:lnTo>
                  <a:lnTo>
                    <a:pt x="193497" y="32791"/>
                  </a:lnTo>
                  <a:lnTo>
                    <a:pt x="197916" y="31368"/>
                  </a:lnTo>
                  <a:lnTo>
                    <a:pt x="194462" y="20637"/>
                  </a:lnTo>
                  <a:close/>
                </a:path>
                <a:path w="265430" h="140969">
                  <a:moveTo>
                    <a:pt x="154863" y="0"/>
                  </a:moveTo>
                  <a:lnTo>
                    <a:pt x="140830" y="4508"/>
                  </a:lnTo>
                  <a:lnTo>
                    <a:pt x="141782" y="16687"/>
                  </a:lnTo>
                  <a:lnTo>
                    <a:pt x="126187" y="21704"/>
                  </a:lnTo>
                  <a:lnTo>
                    <a:pt x="129590" y="32257"/>
                  </a:lnTo>
                  <a:lnTo>
                    <a:pt x="142392" y="28130"/>
                  </a:lnTo>
                  <a:lnTo>
                    <a:pt x="156505" y="28130"/>
                  </a:lnTo>
                  <a:lnTo>
                    <a:pt x="156337" y="23647"/>
                  </a:lnTo>
                  <a:lnTo>
                    <a:pt x="188379" y="13334"/>
                  </a:lnTo>
                  <a:lnTo>
                    <a:pt x="188014" y="12204"/>
                  </a:lnTo>
                  <a:lnTo>
                    <a:pt x="155727" y="12204"/>
                  </a:lnTo>
                  <a:lnTo>
                    <a:pt x="154863" y="0"/>
                  </a:lnTo>
                  <a:close/>
                </a:path>
                <a:path w="265430" h="140969">
                  <a:moveTo>
                    <a:pt x="184975" y="2793"/>
                  </a:moveTo>
                  <a:lnTo>
                    <a:pt x="155727" y="12204"/>
                  </a:lnTo>
                  <a:lnTo>
                    <a:pt x="188014" y="12204"/>
                  </a:lnTo>
                  <a:lnTo>
                    <a:pt x="184975" y="2793"/>
                  </a:lnTo>
                  <a:close/>
                </a:path>
                <a:path w="265430" h="140969">
                  <a:moveTo>
                    <a:pt x="245478" y="1168"/>
                  </a:moveTo>
                  <a:lnTo>
                    <a:pt x="242840" y="1168"/>
                  </a:lnTo>
                  <a:lnTo>
                    <a:pt x="238442" y="2590"/>
                  </a:lnTo>
                  <a:lnTo>
                    <a:pt x="236677" y="4000"/>
                  </a:lnTo>
                  <a:lnTo>
                    <a:pt x="234302" y="8166"/>
                  </a:lnTo>
                  <a:lnTo>
                    <a:pt x="234200" y="9118"/>
                  </a:lnTo>
                  <a:lnTo>
                    <a:pt x="234073" y="10299"/>
                  </a:lnTo>
                  <a:lnTo>
                    <a:pt x="235458" y="14630"/>
                  </a:lnTo>
                  <a:lnTo>
                    <a:pt x="236880" y="16205"/>
                  </a:lnTo>
                  <a:lnTo>
                    <a:pt x="241402" y="18338"/>
                  </a:lnTo>
                  <a:lnTo>
                    <a:pt x="243446" y="18338"/>
                  </a:lnTo>
                  <a:lnTo>
                    <a:pt x="248310" y="16776"/>
                  </a:lnTo>
                  <a:lnTo>
                    <a:pt x="250126" y="15354"/>
                  </a:lnTo>
                  <a:lnTo>
                    <a:pt x="252476" y="11239"/>
                  </a:lnTo>
                  <a:lnTo>
                    <a:pt x="252717" y="9118"/>
                  </a:lnTo>
                  <a:lnTo>
                    <a:pt x="251294" y="4724"/>
                  </a:lnTo>
                  <a:lnTo>
                    <a:pt x="249847" y="3124"/>
                  </a:lnTo>
                  <a:lnTo>
                    <a:pt x="245478" y="1168"/>
                  </a:lnTo>
                  <a:close/>
                </a:path>
                <a:path w="265430" h="140969">
                  <a:moveTo>
                    <a:pt x="257835" y="39560"/>
                  </a:moveTo>
                  <a:lnTo>
                    <a:pt x="255218" y="39560"/>
                  </a:lnTo>
                  <a:lnTo>
                    <a:pt x="250761" y="40982"/>
                  </a:lnTo>
                  <a:lnTo>
                    <a:pt x="248983" y="42405"/>
                  </a:lnTo>
                  <a:lnTo>
                    <a:pt x="246646" y="46558"/>
                  </a:lnTo>
                  <a:lnTo>
                    <a:pt x="246418" y="48691"/>
                  </a:lnTo>
                  <a:lnTo>
                    <a:pt x="247815" y="53022"/>
                  </a:lnTo>
                  <a:lnTo>
                    <a:pt x="249237" y="54597"/>
                  </a:lnTo>
                  <a:lnTo>
                    <a:pt x="253801" y="56718"/>
                  </a:lnTo>
                  <a:lnTo>
                    <a:pt x="255828" y="56718"/>
                  </a:lnTo>
                  <a:lnTo>
                    <a:pt x="260604" y="55181"/>
                  </a:lnTo>
                  <a:lnTo>
                    <a:pt x="262394" y="53759"/>
                  </a:lnTo>
                  <a:lnTo>
                    <a:pt x="264795" y="49593"/>
                  </a:lnTo>
                  <a:lnTo>
                    <a:pt x="265061" y="47485"/>
                  </a:lnTo>
                  <a:lnTo>
                    <a:pt x="263664" y="43154"/>
                  </a:lnTo>
                  <a:lnTo>
                    <a:pt x="262216" y="41554"/>
                  </a:lnTo>
                  <a:lnTo>
                    <a:pt x="257835" y="395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2169" y="1690307"/>
              <a:ext cx="287200" cy="14983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82697" y="1218260"/>
              <a:ext cx="1766265" cy="869950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4307687" y="904887"/>
              <a:ext cx="616585" cy="284480"/>
            </a:xfrm>
            <a:custGeom>
              <a:avLst/>
              <a:gdLst/>
              <a:ahLst/>
              <a:cxnLst/>
              <a:rect l="l" t="t" r="r" b="b"/>
              <a:pathLst>
                <a:path w="616585" h="284480">
                  <a:moveTo>
                    <a:pt x="428282" y="49682"/>
                  </a:moveTo>
                  <a:lnTo>
                    <a:pt x="413537" y="48437"/>
                  </a:lnTo>
                  <a:lnTo>
                    <a:pt x="402526" y="48437"/>
                  </a:lnTo>
                  <a:lnTo>
                    <a:pt x="391845" y="49682"/>
                  </a:lnTo>
                  <a:lnTo>
                    <a:pt x="428282" y="49682"/>
                  </a:lnTo>
                  <a:close/>
                </a:path>
                <a:path w="616585" h="284480">
                  <a:moveTo>
                    <a:pt x="616102" y="177177"/>
                  </a:moveTo>
                  <a:lnTo>
                    <a:pt x="608749" y="159588"/>
                  </a:lnTo>
                  <a:lnTo>
                    <a:pt x="563257" y="119507"/>
                  </a:lnTo>
                  <a:lnTo>
                    <a:pt x="518871" y="107657"/>
                  </a:lnTo>
                  <a:lnTo>
                    <a:pt x="509168" y="91313"/>
                  </a:lnTo>
                  <a:lnTo>
                    <a:pt x="459117" y="56146"/>
                  </a:lnTo>
                  <a:lnTo>
                    <a:pt x="428282" y="49695"/>
                  </a:lnTo>
                  <a:lnTo>
                    <a:pt x="391845" y="49695"/>
                  </a:lnTo>
                  <a:lnTo>
                    <a:pt x="373481" y="43586"/>
                  </a:lnTo>
                  <a:lnTo>
                    <a:pt x="306171" y="8102"/>
                  </a:lnTo>
                  <a:lnTo>
                    <a:pt x="258305" y="647"/>
                  </a:lnTo>
                  <a:lnTo>
                    <a:pt x="230390" y="0"/>
                  </a:lnTo>
                  <a:lnTo>
                    <a:pt x="165506" y="19088"/>
                  </a:lnTo>
                  <a:lnTo>
                    <a:pt x="116967" y="57302"/>
                  </a:lnTo>
                  <a:lnTo>
                    <a:pt x="91401" y="109042"/>
                  </a:lnTo>
                  <a:lnTo>
                    <a:pt x="69900" y="113919"/>
                  </a:lnTo>
                  <a:lnTo>
                    <a:pt x="19405" y="147231"/>
                  </a:lnTo>
                  <a:lnTo>
                    <a:pt x="0" y="203085"/>
                  </a:lnTo>
                  <a:lnTo>
                    <a:pt x="4508" y="221919"/>
                  </a:lnTo>
                  <a:lnTo>
                    <a:pt x="44234" y="266712"/>
                  </a:lnTo>
                  <a:lnTo>
                    <a:pt x="111137" y="284378"/>
                  </a:lnTo>
                  <a:lnTo>
                    <a:pt x="513194" y="284238"/>
                  </a:lnTo>
                  <a:lnTo>
                    <a:pt x="587603" y="254304"/>
                  </a:lnTo>
                  <a:lnTo>
                    <a:pt x="614794" y="200456"/>
                  </a:lnTo>
                  <a:lnTo>
                    <a:pt x="616102" y="177177"/>
                  </a:lnTo>
                  <a:close/>
                </a:path>
              </a:pathLst>
            </a:custGeom>
            <a:solidFill>
              <a:srgbClr val="7DC9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4466385" y="926895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CU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4002875" y="2184806"/>
            <a:ext cx="616585" cy="284480"/>
          </a:xfrm>
          <a:custGeom>
            <a:avLst/>
            <a:gdLst/>
            <a:ahLst/>
            <a:cxnLst/>
            <a:rect l="l" t="t" r="r" b="b"/>
            <a:pathLst>
              <a:path w="616585" h="284480">
                <a:moveTo>
                  <a:pt x="428472" y="49682"/>
                </a:moveTo>
                <a:lnTo>
                  <a:pt x="413727" y="48437"/>
                </a:lnTo>
                <a:lnTo>
                  <a:pt x="402704" y="48437"/>
                </a:lnTo>
                <a:lnTo>
                  <a:pt x="392023" y="49682"/>
                </a:lnTo>
                <a:lnTo>
                  <a:pt x="428472" y="49682"/>
                </a:lnTo>
                <a:close/>
              </a:path>
              <a:path w="616585" h="284480">
                <a:moveTo>
                  <a:pt x="616356" y="177177"/>
                </a:moveTo>
                <a:lnTo>
                  <a:pt x="609003" y="159588"/>
                </a:lnTo>
                <a:lnTo>
                  <a:pt x="563499" y="119507"/>
                </a:lnTo>
                <a:lnTo>
                  <a:pt x="519087" y="107657"/>
                </a:lnTo>
                <a:lnTo>
                  <a:pt x="509384" y="91313"/>
                </a:lnTo>
                <a:lnTo>
                  <a:pt x="459308" y="56146"/>
                </a:lnTo>
                <a:lnTo>
                  <a:pt x="428459" y="49695"/>
                </a:lnTo>
                <a:lnTo>
                  <a:pt x="392010" y="49695"/>
                </a:lnTo>
                <a:lnTo>
                  <a:pt x="373646" y="43586"/>
                </a:lnTo>
                <a:lnTo>
                  <a:pt x="306311" y="8102"/>
                </a:lnTo>
                <a:lnTo>
                  <a:pt x="258419" y="647"/>
                </a:lnTo>
                <a:lnTo>
                  <a:pt x="230492" y="0"/>
                </a:lnTo>
                <a:lnTo>
                  <a:pt x="165582" y="19088"/>
                </a:lnTo>
                <a:lnTo>
                  <a:pt x="117017" y="57302"/>
                </a:lnTo>
                <a:lnTo>
                  <a:pt x="91452" y="109042"/>
                </a:lnTo>
                <a:lnTo>
                  <a:pt x="69938" y="113919"/>
                </a:lnTo>
                <a:lnTo>
                  <a:pt x="19418" y="147231"/>
                </a:lnTo>
                <a:lnTo>
                  <a:pt x="0" y="203085"/>
                </a:lnTo>
                <a:lnTo>
                  <a:pt x="4521" y="221919"/>
                </a:lnTo>
                <a:lnTo>
                  <a:pt x="44259" y="266712"/>
                </a:lnTo>
                <a:lnTo>
                  <a:pt x="111188" y="284378"/>
                </a:lnTo>
                <a:lnTo>
                  <a:pt x="513410" y="284238"/>
                </a:lnTo>
                <a:lnTo>
                  <a:pt x="587857" y="254304"/>
                </a:lnTo>
                <a:lnTo>
                  <a:pt x="615048" y="200456"/>
                </a:lnTo>
                <a:lnTo>
                  <a:pt x="616356" y="177177"/>
                </a:lnTo>
                <a:close/>
              </a:path>
            </a:pathLst>
          </a:custGeom>
          <a:solidFill>
            <a:srgbClr val="7DC9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4160394" y="2191339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CU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2680097" y="953693"/>
            <a:ext cx="1888489" cy="1548765"/>
            <a:chOff x="2680097" y="953693"/>
            <a:chExt cx="1888489" cy="1548765"/>
          </a:xfrm>
        </p:grpSpPr>
        <p:pic>
          <p:nvPicPr>
            <p:cNvPr id="71" name="object 7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37422" y="1313260"/>
              <a:ext cx="353615" cy="26193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25518" y="1757363"/>
              <a:ext cx="363138" cy="270267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4313642" y="1190627"/>
              <a:ext cx="250190" cy="123189"/>
            </a:xfrm>
            <a:custGeom>
              <a:avLst/>
              <a:gdLst/>
              <a:ahLst/>
              <a:cxnLst/>
              <a:rect l="l" t="t" r="r" b="b"/>
              <a:pathLst>
                <a:path w="250189" h="123190">
                  <a:moveTo>
                    <a:pt x="250024" y="0"/>
                  </a:moveTo>
                  <a:lnTo>
                    <a:pt x="0" y="12263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186236" y="2027635"/>
              <a:ext cx="120650" cy="218440"/>
            </a:xfrm>
            <a:custGeom>
              <a:avLst/>
              <a:gdLst/>
              <a:ahLst/>
              <a:cxnLst/>
              <a:rect l="l" t="t" r="r" b="b"/>
              <a:pathLst>
                <a:path w="120650" h="218439">
                  <a:moveTo>
                    <a:pt x="120256" y="0"/>
                  </a:moveTo>
                  <a:lnTo>
                    <a:pt x="0" y="21788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49879" y="1434592"/>
              <a:ext cx="1289037" cy="465569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2684859" y="1821657"/>
              <a:ext cx="37465" cy="180340"/>
            </a:xfrm>
            <a:custGeom>
              <a:avLst/>
              <a:gdLst/>
              <a:ahLst/>
              <a:cxnLst/>
              <a:rect l="l" t="t" r="r" b="b"/>
              <a:pathLst>
                <a:path w="37464" h="180339">
                  <a:moveTo>
                    <a:pt x="0" y="0"/>
                  </a:moveTo>
                  <a:lnTo>
                    <a:pt x="36906" y="179781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11118" y="1147762"/>
              <a:ext cx="328610" cy="24407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67064" y="953693"/>
              <a:ext cx="531019" cy="133699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3375421" y="1087042"/>
              <a:ext cx="57150" cy="60960"/>
            </a:xfrm>
            <a:custGeom>
              <a:avLst/>
              <a:gdLst/>
              <a:ahLst/>
              <a:cxnLst/>
              <a:rect l="l" t="t" r="r" b="b"/>
              <a:pathLst>
                <a:path w="57150" h="60959">
                  <a:moveTo>
                    <a:pt x="57150" y="0"/>
                  </a:moveTo>
                  <a:lnTo>
                    <a:pt x="0" y="60718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11131" y="1940725"/>
              <a:ext cx="329799" cy="24407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27784" y="2366962"/>
              <a:ext cx="531018" cy="134895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3475437" y="2184795"/>
              <a:ext cx="18415" cy="182245"/>
            </a:xfrm>
            <a:custGeom>
              <a:avLst/>
              <a:gdLst/>
              <a:ahLst/>
              <a:cxnLst/>
              <a:rect l="l" t="t" r="r" b="b"/>
              <a:pathLst>
                <a:path w="18414" h="182244">
                  <a:moveTo>
                    <a:pt x="17856" y="18216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3147171" y="2474611"/>
            <a:ext cx="1720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DU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2518172" y="1440992"/>
            <a:ext cx="1618615" cy="630555"/>
            <a:chOff x="2518172" y="1440992"/>
            <a:chExt cx="1618615" cy="630555"/>
          </a:xfrm>
        </p:grpSpPr>
        <p:pic>
          <p:nvPicPr>
            <p:cNvPr id="85" name="object 8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470173" y="1440992"/>
              <a:ext cx="666381" cy="63049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18172" y="1575196"/>
              <a:ext cx="333370" cy="246453"/>
            </a:xfrm>
            <a:prstGeom prst="rect">
              <a:avLst/>
            </a:prstGeom>
          </p:spPr>
        </p:pic>
      </p:grpSp>
      <p:sp>
        <p:nvSpPr>
          <p:cNvPr id="87" name="object 87" descr=""/>
          <p:cNvSpPr txBox="1"/>
          <p:nvPr/>
        </p:nvSpPr>
        <p:spPr>
          <a:xfrm>
            <a:off x="3269805" y="1499490"/>
            <a:ext cx="55372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25G/50G/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800" spc="-10" b="1">
                <a:latin typeface="Arial"/>
                <a:cs typeface="Arial"/>
              </a:rPr>
              <a:t>100G/200G </a:t>
            </a:r>
            <a:r>
              <a:rPr dirty="0" sz="800" spc="-25" b="1">
                <a:latin typeface="Arial"/>
                <a:cs typeface="Arial"/>
              </a:rPr>
              <a:t>OTN</a:t>
            </a:r>
            <a:endParaRPr sz="800">
              <a:latin typeface="Arial"/>
              <a:cs typeface="Arial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7783106" y="1026324"/>
            <a:ext cx="800735" cy="285750"/>
          </a:xfrm>
          <a:custGeom>
            <a:avLst/>
            <a:gdLst/>
            <a:ahLst/>
            <a:cxnLst/>
            <a:rect l="l" t="t" r="r" b="b"/>
            <a:pathLst>
              <a:path w="800734" h="285750">
                <a:moveTo>
                  <a:pt x="800468" y="177914"/>
                </a:moveTo>
                <a:lnTo>
                  <a:pt x="790917" y="160248"/>
                </a:lnTo>
                <a:lnTo>
                  <a:pt x="731812" y="120015"/>
                </a:lnTo>
                <a:lnTo>
                  <a:pt x="674128" y="108102"/>
                </a:lnTo>
                <a:lnTo>
                  <a:pt x="661543" y="91694"/>
                </a:lnTo>
                <a:lnTo>
                  <a:pt x="596506" y="56375"/>
                </a:lnTo>
                <a:lnTo>
                  <a:pt x="556450" y="49898"/>
                </a:lnTo>
                <a:lnTo>
                  <a:pt x="537298" y="48653"/>
                </a:lnTo>
                <a:lnTo>
                  <a:pt x="522986" y="48653"/>
                </a:lnTo>
                <a:lnTo>
                  <a:pt x="509104" y="49898"/>
                </a:lnTo>
                <a:lnTo>
                  <a:pt x="485254" y="43764"/>
                </a:lnTo>
                <a:lnTo>
                  <a:pt x="397802" y="8140"/>
                </a:lnTo>
                <a:lnTo>
                  <a:pt x="335610" y="647"/>
                </a:lnTo>
                <a:lnTo>
                  <a:pt x="299339" y="0"/>
                </a:lnTo>
                <a:lnTo>
                  <a:pt x="215036" y="19164"/>
                </a:lnTo>
                <a:lnTo>
                  <a:pt x="151968" y="57543"/>
                </a:lnTo>
                <a:lnTo>
                  <a:pt x="118757" y="109499"/>
                </a:lnTo>
                <a:lnTo>
                  <a:pt x="90830" y="114401"/>
                </a:lnTo>
                <a:lnTo>
                  <a:pt x="25222" y="147853"/>
                </a:lnTo>
                <a:lnTo>
                  <a:pt x="0" y="203936"/>
                </a:lnTo>
                <a:lnTo>
                  <a:pt x="5867" y="222846"/>
                </a:lnTo>
                <a:lnTo>
                  <a:pt x="57480" y="267830"/>
                </a:lnTo>
                <a:lnTo>
                  <a:pt x="144399" y="285559"/>
                </a:lnTo>
                <a:lnTo>
                  <a:pt x="666762" y="285432"/>
                </a:lnTo>
                <a:lnTo>
                  <a:pt x="763447" y="255358"/>
                </a:lnTo>
                <a:lnTo>
                  <a:pt x="798766" y="201295"/>
                </a:lnTo>
                <a:lnTo>
                  <a:pt x="800468" y="177914"/>
                </a:lnTo>
                <a:close/>
              </a:path>
            </a:pathLst>
          </a:custGeom>
          <a:solidFill>
            <a:srgbClr val="7DC9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 txBox="1"/>
          <p:nvPr/>
        </p:nvSpPr>
        <p:spPr>
          <a:xfrm>
            <a:off x="7847758" y="1128872"/>
            <a:ext cx="5905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5344718" y="1147762"/>
            <a:ext cx="3117850" cy="1565910"/>
            <a:chOff x="5344718" y="1147762"/>
            <a:chExt cx="3117850" cy="1565910"/>
          </a:xfrm>
        </p:grpSpPr>
        <p:pic>
          <p:nvPicPr>
            <p:cNvPr id="91" name="object 9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44718" y="1147762"/>
              <a:ext cx="492912" cy="36671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44718" y="1757363"/>
              <a:ext cx="492912" cy="36551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23485" y="1209676"/>
              <a:ext cx="492908" cy="36551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23485" y="2001443"/>
              <a:ext cx="492908" cy="365518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12393" y="1574926"/>
              <a:ext cx="31750" cy="426631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30963" y="1315288"/>
              <a:ext cx="1099235" cy="884593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7660475" y="2427693"/>
              <a:ext cx="802005" cy="285750"/>
            </a:xfrm>
            <a:custGeom>
              <a:avLst/>
              <a:gdLst/>
              <a:ahLst/>
              <a:cxnLst/>
              <a:rect l="l" t="t" r="r" b="b"/>
              <a:pathLst>
                <a:path w="802004" h="285750">
                  <a:moveTo>
                    <a:pt x="557276" y="49885"/>
                  </a:moveTo>
                  <a:lnTo>
                    <a:pt x="538086" y="48641"/>
                  </a:lnTo>
                  <a:lnTo>
                    <a:pt x="523760" y="48641"/>
                  </a:lnTo>
                  <a:lnTo>
                    <a:pt x="509854" y="49885"/>
                  </a:lnTo>
                  <a:lnTo>
                    <a:pt x="557276" y="49885"/>
                  </a:lnTo>
                  <a:close/>
                </a:path>
                <a:path w="802004" h="285750">
                  <a:moveTo>
                    <a:pt x="801662" y="177914"/>
                  </a:moveTo>
                  <a:lnTo>
                    <a:pt x="792086" y="160248"/>
                  </a:lnTo>
                  <a:lnTo>
                    <a:pt x="732904" y="120015"/>
                  </a:lnTo>
                  <a:lnTo>
                    <a:pt x="675132" y="108102"/>
                  </a:lnTo>
                  <a:lnTo>
                    <a:pt x="662520" y="91694"/>
                  </a:lnTo>
                  <a:lnTo>
                    <a:pt x="597395" y="56375"/>
                  </a:lnTo>
                  <a:lnTo>
                    <a:pt x="557276" y="49898"/>
                  </a:lnTo>
                  <a:lnTo>
                    <a:pt x="509854" y="49898"/>
                  </a:lnTo>
                  <a:lnTo>
                    <a:pt x="485978" y="43764"/>
                  </a:lnTo>
                  <a:lnTo>
                    <a:pt x="398386" y="8140"/>
                  </a:lnTo>
                  <a:lnTo>
                    <a:pt x="336105" y="647"/>
                  </a:lnTo>
                  <a:lnTo>
                    <a:pt x="299783" y="0"/>
                  </a:lnTo>
                  <a:lnTo>
                    <a:pt x="215353" y="19177"/>
                  </a:lnTo>
                  <a:lnTo>
                    <a:pt x="152196" y="57543"/>
                  </a:lnTo>
                  <a:lnTo>
                    <a:pt x="118935" y="109499"/>
                  </a:lnTo>
                  <a:lnTo>
                    <a:pt x="90957" y="114401"/>
                  </a:lnTo>
                  <a:lnTo>
                    <a:pt x="25260" y="147853"/>
                  </a:lnTo>
                  <a:lnTo>
                    <a:pt x="0" y="203936"/>
                  </a:lnTo>
                  <a:lnTo>
                    <a:pt x="5880" y="222846"/>
                  </a:lnTo>
                  <a:lnTo>
                    <a:pt x="57556" y="267830"/>
                  </a:lnTo>
                  <a:lnTo>
                    <a:pt x="144602" y="285559"/>
                  </a:lnTo>
                  <a:lnTo>
                    <a:pt x="667753" y="285432"/>
                  </a:lnTo>
                  <a:lnTo>
                    <a:pt x="764578" y="255358"/>
                  </a:lnTo>
                  <a:lnTo>
                    <a:pt x="799947" y="201295"/>
                  </a:lnTo>
                  <a:lnTo>
                    <a:pt x="801662" y="177914"/>
                  </a:lnTo>
                  <a:close/>
                </a:path>
              </a:pathLst>
            </a:custGeom>
            <a:solidFill>
              <a:srgbClr val="7DC9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 txBox="1"/>
          <p:nvPr/>
        </p:nvSpPr>
        <p:spPr>
          <a:xfrm>
            <a:off x="7725125" y="2530237"/>
            <a:ext cx="5905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9" name="object 99" descr=""/>
          <p:cNvSpPr/>
          <p:nvPr/>
        </p:nvSpPr>
        <p:spPr>
          <a:xfrm>
            <a:off x="5681650" y="844156"/>
            <a:ext cx="616585" cy="284480"/>
          </a:xfrm>
          <a:custGeom>
            <a:avLst/>
            <a:gdLst/>
            <a:ahLst/>
            <a:cxnLst/>
            <a:rect l="l" t="t" r="r" b="b"/>
            <a:pathLst>
              <a:path w="616585" h="284480">
                <a:moveTo>
                  <a:pt x="616356" y="177177"/>
                </a:moveTo>
                <a:lnTo>
                  <a:pt x="609003" y="159588"/>
                </a:lnTo>
                <a:lnTo>
                  <a:pt x="563499" y="119507"/>
                </a:lnTo>
                <a:lnTo>
                  <a:pt x="519087" y="107657"/>
                </a:lnTo>
                <a:lnTo>
                  <a:pt x="509384" y="91313"/>
                </a:lnTo>
                <a:lnTo>
                  <a:pt x="459308" y="56146"/>
                </a:lnTo>
                <a:lnTo>
                  <a:pt x="428459" y="49695"/>
                </a:lnTo>
                <a:lnTo>
                  <a:pt x="413727" y="48450"/>
                </a:lnTo>
                <a:lnTo>
                  <a:pt x="402704" y="48450"/>
                </a:lnTo>
                <a:lnTo>
                  <a:pt x="392010" y="49695"/>
                </a:lnTo>
                <a:lnTo>
                  <a:pt x="373646" y="43586"/>
                </a:lnTo>
                <a:lnTo>
                  <a:pt x="306311" y="8102"/>
                </a:lnTo>
                <a:lnTo>
                  <a:pt x="258419" y="647"/>
                </a:lnTo>
                <a:lnTo>
                  <a:pt x="230492" y="0"/>
                </a:lnTo>
                <a:lnTo>
                  <a:pt x="165582" y="19088"/>
                </a:lnTo>
                <a:lnTo>
                  <a:pt x="117017" y="57302"/>
                </a:lnTo>
                <a:lnTo>
                  <a:pt x="91452" y="109042"/>
                </a:lnTo>
                <a:lnTo>
                  <a:pt x="69938" y="113919"/>
                </a:lnTo>
                <a:lnTo>
                  <a:pt x="19418" y="147231"/>
                </a:lnTo>
                <a:lnTo>
                  <a:pt x="0" y="203085"/>
                </a:lnTo>
                <a:lnTo>
                  <a:pt x="4521" y="221919"/>
                </a:lnTo>
                <a:lnTo>
                  <a:pt x="44259" y="266712"/>
                </a:lnTo>
                <a:lnTo>
                  <a:pt x="111188" y="284378"/>
                </a:lnTo>
                <a:lnTo>
                  <a:pt x="513410" y="284238"/>
                </a:lnTo>
                <a:lnTo>
                  <a:pt x="587857" y="254304"/>
                </a:lnTo>
                <a:lnTo>
                  <a:pt x="615048" y="200456"/>
                </a:lnTo>
                <a:lnTo>
                  <a:pt x="616356" y="177177"/>
                </a:lnTo>
                <a:close/>
              </a:path>
            </a:pathLst>
          </a:custGeom>
          <a:solidFill>
            <a:srgbClr val="7DC9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 txBox="1"/>
          <p:nvPr/>
        </p:nvSpPr>
        <p:spPr>
          <a:xfrm>
            <a:off x="5839175" y="888366"/>
            <a:ext cx="3079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MEC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1" name="object 101" descr=""/>
          <p:cNvSpPr/>
          <p:nvPr/>
        </p:nvSpPr>
        <p:spPr>
          <a:xfrm>
            <a:off x="5620931" y="2245524"/>
            <a:ext cx="616585" cy="284480"/>
          </a:xfrm>
          <a:custGeom>
            <a:avLst/>
            <a:gdLst/>
            <a:ahLst/>
            <a:cxnLst/>
            <a:rect l="l" t="t" r="r" b="b"/>
            <a:pathLst>
              <a:path w="616585" h="284480">
                <a:moveTo>
                  <a:pt x="616356" y="177177"/>
                </a:moveTo>
                <a:lnTo>
                  <a:pt x="609003" y="159588"/>
                </a:lnTo>
                <a:lnTo>
                  <a:pt x="563499" y="119507"/>
                </a:lnTo>
                <a:lnTo>
                  <a:pt x="519087" y="107657"/>
                </a:lnTo>
                <a:lnTo>
                  <a:pt x="509384" y="91313"/>
                </a:lnTo>
                <a:lnTo>
                  <a:pt x="459308" y="56146"/>
                </a:lnTo>
                <a:lnTo>
                  <a:pt x="428459" y="49695"/>
                </a:lnTo>
                <a:lnTo>
                  <a:pt x="413715" y="48450"/>
                </a:lnTo>
                <a:lnTo>
                  <a:pt x="402704" y="48450"/>
                </a:lnTo>
                <a:lnTo>
                  <a:pt x="392010" y="49695"/>
                </a:lnTo>
                <a:lnTo>
                  <a:pt x="373646" y="43586"/>
                </a:lnTo>
                <a:lnTo>
                  <a:pt x="306311" y="8102"/>
                </a:lnTo>
                <a:lnTo>
                  <a:pt x="258419" y="647"/>
                </a:lnTo>
                <a:lnTo>
                  <a:pt x="230492" y="0"/>
                </a:lnTo>
                <a:lnTo>
                  <a:pt x="165582" y="19088"/>
                </a:lnTo>
                <a:lnTo>
                  <a:pt x="117017" y="57302"/>
                </a:lnTo>
                <a:lnTo>
                  <a:pt x="91452" y="109042"/>
                </a:lnTo>
                <a:lnTo>
                  <a:pt x="69938" y="113919"/>
                </a:lnTo>
                <a:lnTo>
                  <a:pt x="19418" y="147231"/>
                </a:lnTo>
                <a:lnTo>
                  <a:pt x="0" y="203085"/>
                </a:lnTo>
                <a:lnTo>
                  <a:pt x="4521" y="221919"/>
                </a:lnTo>
                <a:lnTo>
                  <a:pt x="44259" y="266712"/>
                </a:lnTo>
                <a:lnTo>
                  <a:pt x="111188" y="284378"/>
                </a:lnTo>
                <a:lnTo>
                  <a:pt x="513410" y="284238"/>
                </a:lnTo>
                <a:lnTo>
                  <a:pt x="587857" y="254304"/>
                </a:lnTo>
                <a:lnTo>
                  <a:pt x="615048" y="200456"/>
                </a:lnTo>
                <a:lnTo>
                  <a:pt x="616356" y="177177"/>
                </a:lnTo>
                <a:close/>
              </a:path>
            </a:pathLst>
          </a:custGeom>
          <a:solidFill>
            <a:srgbClr val="7DC9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 txBox="1"/>
          <p:nvPr/>
        </p:nvSpPr>
        <p:spPr>
          <a:xfrm>
            <a:off x="5778454" y="2289731"/>
            <a:ext cx="3079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MEC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2478887" y="977051"/>
            <a:ext cx="5706110" cy="2403475"/>
            <a:chOff x="2478887" y="977051"/>
            <a:chExt cx="5706110" cy="2403475"/>
          </a:xfrm>
        </p:grpSpPr>
        <p:sp>
          <p:nvSpPr>
            <p:cNvPr id="104" name="object 104" descr=""/>
            <p:cNvSpPr/>
            <p:nvPr/>
          </p:nvSpPr>
          <p:spPr>
            <a:xfrm>
              <a:off x="5591177" y="981814"/>
              <a:ext cx="250190" cy="166370"/>
            </a:xfrm>
            <a:custGeom>
              <a:avLst/>
              <a:gdLst/>
              <a:ahLst/>
              <a:cxnLst/>
              <a:rect l="l" t="t" r="r" b="b"/>
              <a:pathLst>
                <a:path w="250189" h="166369">
                  <a:moveTo>
                    <a:pt x="0" y="165950"/>
                  </a:moveTo>
                  <a:lnTo>
                    <a:pt x="250024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591176" y="2122884"/>
              <a:ext cx="189865" cy="260350"/>
            </a:xfrm>
            <a:custGeom>
              <a:avLst/>
              <a:gdLst/>
              <a:ahLst/>
              <a:cxnLst/>
              <a:rect l="l" t="t" r="r" b="b"/>
              <a:pathLst>
                <a:path w="189864" h="260350">
                  <a:moveTo>
                    <a:pt x="0" y="0"/>
                  </a:moveTo>
                  <a:lnTo>
                    <a:pt x="189306" y="260299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7416405" y="1299273"/>
              <a:ext cx="763905" cy="92710"/>
            </a:xfrm>
            <a:custGeom>
              <a:avLst/>
              <a:gdLst/>
              <a:ahLst/>
              <a:cxnLst/>
              <a:rect l="l" t="t" r="r" b="b"/>
              <a:pathLst>
                <a:path w="763904" h="92709">
                  <a:moveTo>
                    <a:pt x="0" y="92570"/>
                  </a:moveTo>
                  <a:lnTo>
                    <a:pt x="76379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7416405" y="2184796"/>
              <a:ext cx="311150" cy="439420"/>
            </a:xfrm>
            <a:custGeom>
              <a:avLst/>
              <a:gdLst/>
              <a:ahLst/>
              <a:cxnLst/>
              <a:rect l="l" t="t" r="r" b="b"/>
              <a:pathLst>
                <a:path w="311150" h="439419">
                  <a:moveTo>
                    <a:pt x="0" y="0"/>
                  </a:moveTo>
                  <a:lnTo>
                    <a:pt x="310756" y="438899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87731" y="1693364"/>
              <a:ext cx="636361" cy="321698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4310462" y="3342084"/>
              <a:ext cx="3652520" cy="0"/>
            </a:xfrm>
            <a:custGeom>
              <a:avLst/>
              <a:gdLst/>
              <a:ahLst/>
              <a:cxnLst/>
              <a:rect l="l" t="t" r="r" b="b"/>
              <a:pathLst>
                <a:path w="3652520" h="0">
                  <a:moveTo>
                    <a:pt x="0" y="0"/>
                  </a:moveTo>
                  <a:lnTo>
                    <a:pt x="3652037" y="0"/>
                  </a:lnTo>
                </a:path>
              </a:pathLst>
            </a:custGeom>
            <a:ln w="127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246956" y="3303981"/>
              <a:ext cx="3779520" cy="76200"/>
            </a:xfrm>
            <a:custGeom>
              <a:avLst/>
              <a:gdLst/>
              <a:ahLst/>
              <a:cxnLst/>
              <a:rect l="l" t="t" r="r" b="b"/>
              <a:pathLst>
                <a:path w="377952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3779520" h="76200">
                  <a:moveTo>
                    <a:pt x="3779050" y="38100"/>
                  </a:moveTo>
                  <a:lnTo>
                    <a:pt x="3702850" y="0"/>
                  </a:lnTo>
                  <a:lnTo>
                    <a:pt x="3702850" y="76200"/>
                  </a:lnTo>
                  <a:lnTo>
                    <a:pt x="3779050" y="3810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78887" y="2001443"/>
              <a:ext cx="484580" cy="121132"/>
            </a:xfrm>
            <a:prstGeom prst="rect">
              <a:avLst/>
            </a:prstGeom>
          </p:spPr>
        </p:pic>
      </p:grpSp>
      <p:sp>
        <p:nvSpPr>
          <p:cNvPr id="112" name="object 112" descr=""/>
          <p:cNvSpPr txBox="1"/>
          <p:nvPr/>
        </p:nvSpPr>
        <p:spPr>
          <a:xfrm>
            <a:off x="4610450" y="1499490"/>
            <a:ext cx="648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100G/200G OTN/ROADM</a:t>
            </a:r>
            <a:endParaRPr sz="800">
              <a:latin typeface="Arial"/>
              <a:cs typeface="Arial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3004296" y="3364866"/>
            <a:ext cx="8318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FF0000"/>
                </a:solidFill>
                <a:latin typeface="Microsoft YaHei"/>
                <a:cs typeface="Microsoft YaHei"/>
              </a:rPr>
              <a:t>中传</a:t>
            </a:r>
            <a:r>
              <a:rPr dirty="0" sz="900" spc="-30" b="1">
                <a:solidFill>
                  <a:srgbClr val="FF0000"/>
                </a:solidFill>
                <a:latin typeface="Microsoft YaHei"/>
                <a:cs typeface="Microsoft YaHei"/>
              </a:rPr>
              <a:t>（</a:t>
            </a:r>
            <a:r>
              <a:rPr dirty="0" sz="900" spc="-30" b="1">
                <a:solidFill>
                  <a:srgbClr val="FF0000"/>
                </a:solidFill>
                <a:latin typeface="Arial"/>
                <a:cs typeface="Arial"/>
              </a:rPr>
              <a:t>DU-</a:t>
            </a:r>
            <a:r>
              <a:rPr dirty="0" sz="900" spc="-25" b="1">
                <a:solidFill>
                  <a:srgbClr val="FF0000"/>
                </a:solidFill>
                <a:latin typeface="Arial"/>
                <a:cs typeface="Arial"/>
              </a:rPr>
              <a:t>CU</a:t>
            </a:r>
            <a:r>
              <a:rPr dirty="0" sz="900" spc="-25" b="1">
                <a:solidFill>
                  <a:srgbClr val="FF0000"/>
                </a:solidFill>
                <a:latin typeface="Microsoft YaHei"/>
                <a:cs typeface="Microsoft YaHei"/>
              </a:rPr>
              <a:t>）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5517639" y="3364866"/>
            <a:ext cx="1457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FF0000"/>
                </a:solidFill>
                <a:latin typeface="Microsoft YaHei"/>
                <a:cs typeface="Microsoft YaHei"/>
              </a:rPr>
              <a:t>回传</a:t>
            </a:r>
            <a:r>
              <a:rPr dirty="0" sz="900" spc="-30" b="1">
                <a:solidFill>
                  <a:srgbClr val="FF0000"/>
                </a:solidFill>
                <a:latin typeface="Microsoft YaHei"/>
                <a:cs typeface="Microsoft YaHei"/>
              </a:rPr>
              <a:t>（</a:t>
            </a:r>
            <a:r>
              <a:rPr dirty="0" sz="900" spc="-30" b="1">
                <a:solidFill>
                  <a:srgbClr val="FF0000"/>
                </a:solidFill>
                <a:latin typeface="Arial"/>
                <a:cs typeface="Arial"/>
              </a:rPr>
              <a:t>CU-</a:t>
            </a:r>
            <a:r>
              <a:rPr dirty="0" sz="900" spc="-20" b="1">
                <a:solidFill>
                  <a:srgbClr val="FF0000"/>
                </a:solidFill>
                <a:latin typeface="Arial"/>
                <a:cs typeface="Arial"/>
              </a:rPr>
              <a:t>MEC/New</a:t>
            </a:r>
            <a:r>
              <a:rPr dirty="0" sz="9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F0000"/>
                </a:solidFill>
                <a:latin typeface="Arial"/>
                <a:cs typeface="Arial"/>
              </a:rPr>
              <a:t>Core</a:t>
            </a:r>
            <a:r>
              <a:rPr dirty="0" sz="900" spc="-20" b="1">
                <a:solidFill>
                  <a:srgbClr val="FF0000"/>
                </a:solidFill>
                <a:latin typeface="Microsoft YaHei"/>
                <a:cs typeface="Microsoft YaHei"/>
              </a:rPr>
              <a:t>）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3543650" y="1044670"/>
            <a:ext cx="1720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latin typeface="Arial MT"/>
                <a:cs typeface="Arial MT"/>
              </a:rPr>
              <a:t>DU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6" name="object 116" descr=""/>
          <p:cNvGrpSpPr/>
          <p:nvPr/>
        </p:nvGrpSpPr>
        <p:grpSpPr>
          <a:xfrm>
            <a:off x="1980011" y="3181346"/>
            <a:ext cx="676275" cy="76200"/>
            <a:chOff x="1980011" y="3181346"/>
            <a:chExt cx="676275" cy="76200"/>
          </a:xfrm>
        </p:grpSpPr>
        <p:sp>
          <p:nvSpPr>
            <p:cNvPr id="117" name="object 117" descr=""/>
            <p:cNvSpPr/>
            <p:nvPr/>
          </p:nvSpPr>
          <p:spPr>
            <a:xfrm>
              <a:off x="2043508" y="3219449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 h="0">
                  <a:moveTo>
                    <a:pt x="0" y="0"/>
                  </a:moveTo>
                  <a:lnTo>
                    <a:pt x="549275" y="0"/>
                  </a:lnTo>
                </a:path>
              </a:pathLst>
            </a:custGeom>
            <a:ln w="127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980006" y="3181349"/>
              <a:ext cx="676275" cy="76200"/>
            </a:xfrm>
            <a:custGeom>
              <a:avLst/>
              <a:gdLst/>
              <a:ahLst/>
              <a:cxnLst/>
              <a:rect l="l" t="t" r="r" b="b"/>
              <a:pathLst>
                <a:path w="67627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676275" h="76200">
                  <a:moveTo>
                    <a:pt x="676275" y="38100"/>
                  </a:moveTo>
                  <a:lnTo>
                    <a:pt x="600075" y="0"/>
                  </a:lnTo>
                  <a:lnTo>
                    <a:pt x="600075" y="76200"/>
                  </a:lnTo>
                  <a:lnTo>
                    <a:pt x="676275" y="3810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 descr=""/>
          <p:cNvSpPr txBox="1"/>
          <p:nvPr/>
        </p:nvSpPr>
        <p:spPr>
          <a:xfrm>
            <a:off x="2224436" y="3077497"/>
            <a:ext cx="2235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45">
                <a:latin typeface="Microsoft YaHei"/>
                <a:cs typeface="Microsoft YaHei"/>
              </a:rPr>
              <a:t>中传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2627711" y="3181346"/>
            <a:ext cx="5400040" cy="76200"/>
            <a:chOff x="2627711" y="3181346"/>
            <a:chExt cx="5400040" cy="76200"/>
          </a:xfrm>
        </p:grpSpPr>
        <p:sp>
          <p:nvSpPr>
            <p:cNvPr id="121" name="object 121" descr=""/>
            <p:cNvSpPr/>
            <p:nvPr/>
          </p:nvSpPr>
          <p:spPr>
            <a:xfrm>
              <a:off x="2691208" y="3219449"/>
              <a:ext cx="5273040" cy="0"/>
            </a:xfrm>
            <a:custGeom>
              <a:avLst/>
              <a:gdLst/>
              <a:ahLst/>
              <a:cxnLst/>
              <a:rect l="l" t="t" r="r" b="b"/>
              <a:pathLst>
                <a:path w="5273040" h="0">
                  <a:moveTo>
                    <a:pt x="0" y="0"/>
                  </a:moveTo>
                  <a:lnTo>
                    <a:pt x="5272481" y="0"/>
                  </a:lnTo>
                </a:path>
              </a:pathLst>
            </a:custGeom>
            <a:ln w="12700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2627706" y="3181349"/>
              <a:ext cx="5400040" cy="76200"/>
            </a:xfrm>
            <a:custGeom>
              <a:avLst/>
              <a:gdLst/>
              <a:ahLst/>
              <a:cxnLst/>
              <a:rect l="l" t="t" r="r" b="b"/>
              <a:pathLst>
                <a:path w="540004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5400040" h="76200">
                  <a:moveTo>
                    <a:pt x="5399481" y="38100"/>
                  </a:moveTo>
                  <a:lnTo>
                    <a:pt x="5323281" y="0"/>
                  </a:lnTo>
                  <a:lnTo>
                    <a:pt x="5323281" y="76200"/>
                  </a:lnTo>
                  <a:lnTo>
                    <a:pt x="5399481" y="38100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5055744" y="3041779"/>
            <a:ext cx="2235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45">
                <a:latin typeface="Microsoft YaHei"/>
                <a:cs typeface="Microsoft YaHei"/>
              </a:rPr>
              <a:t>回传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365823" y="3670185"/>
            <a:ext cx="2378075" cy="1094105"/>
          </a:xfrm>
          <a:prstGeom prst="rect">
            <a:avLst/>
          </a:prstGeom>
          <a:ln w="25400">
            <a:solidFill>
              <a:srgbClr val="BBE0E3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84"/>
              </a:spcBef>
            </a:pPr>
            <a:r>
              <a:rPr dirty="0" sz="1000" spc="-20" b="1">
                <a:solidFill>
                  <a:srgbClr val="FF0000"/>
                </a:solidFill>
                <a:latin typeface="Microsoft YaHei"/>
                <a:cs typeface="Microsoft YaHei"/>
              </a:rPr>
              <a:t>前传：</a:t>
            </a:r>
            <a:endParaRPr sz="10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29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5">
                <a:solidFill>
                  <a:srgbClr val="2C2C2E"/>
                </a:solidFill>
                <a:latin typeface="Microsoft YaHei"/>
                <a:cs typeface="Microsoft YaHei"/>
              </a:rPr>
              <a:t>光纤直驱为主：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CPRI</a:t>
            </a: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、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eCPRI</a:t>
            </a:r>
            <a:endParaRPr sz="900">
              <a:latin typeface="Arial MT"/>
              <a:cs typeface="Arial MT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有源</a:t>
            </a:r>
            <a:r>
              <a:rPr dirty="0" sz="900">
                <a:solidFill>
                  <a:srgbClr val="2C2C2E"/>
                </a:solidFill>
                <a:latin typeface="Arial MT"/>
                <a:cs typeface="Arial MT"/>
              </a:rPr>
              <a:t>/</a:t>
            </a: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无源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WDM</a:t>
            </a:r>
            <a:r>
              <a:rPr dirty="0" sz="900" spc="-5">
                <a:solidFill>
                  <a:srgbClr val="2C2C2E"/>
                </a:solidFill>
                <a:latin typeface="Microsoft YaHei"/>
                <a:cs typeface="Microsoft YaHei"/>
              </a:rPr>
              <a:t>承载：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eCPRI</a:t>
            </a:r>
            <a:endParaRPr sz="900">
              <a:latin typeface="Arial MT"/>
              <a:cs typeface="Arial MT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CWDM</a:t>
            </a:r>
            <a:r>
              <a:rPr dirty="0" sz="900" spc="-5">
                <a:solidFill>
                  <a:srgbClr val="2C2C2E"/>
                </a:solidFill>
                <a:latin typeface="Microsoft YaHei"/>
                <a:cs typeface="Microsoft YaHei"/>
              </a:rPr>
              <a:t>：点到点，</a:t>
            </a:r>
            <a:r>
              <a:rPr dirty="0" sz="900">
                <a:solidFill>
                  <a:srgbClr val="2C2C2E"/>
                </a:solidFill>
                <a:latin typeface="Arial MT"/>
                <a:cs typeface="Arial MT"/>
              </a:rPr>
              <a:t>25G</a:t>
            </a:r>
            <a:r>
              <a:rPr dirty="0" sz="900" spc="-25">
                <a:solidFill>
                  <a:srgbClr val="2C2C2E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2C2E"/>
                </a:solidFill>
                <a:latin typeface="Arial MT"/>
                <a:cs typeface="Arial MT"/>
              </a:rPr>
              <a:t>NRZ/50G</a:t>
            </a:r>
            <a:r>
              <a:rPr dirty="0" sz="900" spc="-20">
                <a:solidFill>
                  <a:srgbClr val="2C2C2E"/>
                </a:solidFill>
                <a:latin typeface="Arial MT"/>
                <a:cs typeface="Arial MT"/>
              </a:rPr>
              <a:t> PAM4</a:t>
            </a:r>
            <a:endParaRPr sz="900">
              <a:latin typeface="Arial MT"/>
              <a:cs typeface="Arial MT"/>
            </a:endParaRPr>
          </a:p>
          <a:p>
            <a:pPr marL="167005" indent="-103505">
              <a:lnSpc>
                <a:spcPct val="100000"/>
              </a:lnSpc>
              <a:spcBef>
                <a:spcPts val="219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DWDM</a:t>
            </a:r>
            <a:r>
              <a:rPr dirty="0" sz="900" spc="-10">
                <a:solidFill>
                  <a:srgbClr val="2C2C2E"/>
                </a:solidFill>
                <a:latin typeface="Microsoft YaHei"/>
                <a:cs typeface="Microsoft YaHei"/>
              </a:rPr>
              <a:t>：点到点或环网，光层波长直达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b="1">
                <a:solidFill>
                  <a:srgbClr val="FF0000"/>
                </a:solidFill>
                <a:latin typeface="Microsoft YaHei"/>
                <a:cs typeface="Microsoft YaHei"/>
              </a:rPr>
              <a:t>超低时延</a:t>
            </a:r>
            <a:r>
              <a:rPr dirty="0" sz="900" spc="-10" b="1">
                <a:solidFill>
                  <a:srgbClr val="FF0000"/>
                </a:solidFill>
                <a:latin typeface="Arial"/>
                <a:cs typeface="Arial"/>
              </a:rPr>
              <a:t>OTN</a:t>
            </a:r>
            <a:r>
              <a:rPr dirty="0" sz="900" b="1">
                <a:solidFill>
                  <a:srgbClr val="FF0000"/>
                </a:solidFill>
                <a:latin typeface="Microsoft YaHei"/>
                <a:cs typeface="Microsoft YaHei"/>
              </a:rPr>
              <a:t>技术：单节点</a:t>
            </a:r>
            <a:r>
              <a:rPr dirty="0" sz="900" spc="-10" b="1">
                <a:solidFill>
                  <a:srgbClr val="FF0000"/>
                </a:solidFill>
                <a:latin typeface="Arial"/>
                <a:cs typeface="Arial"/>
              </a:rPr>
              <a:t>1us</a:t>
            </a:r>
            <a:r>
              <a:rPr dirty="0" sz="900" spc="-25" b="1">
                <a:solidFill>
                  <a:srgbClr val="FF0000"/>
                </a:solidFill>
                <a:latin typeface="Microsoft YaHei"/>
                <a:cs typeface="Microsoft YaHei"/>
              </a:rPr>
              <a:t>量级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25" name="object 125" descr=""/>
          <p:cNvSpPr txBox="1"/>
          <p:nvPr/>
        </p:nvSpPr>
        <p:spPr>
          <a:xfrm>
            <a:off x="2925660" y="3670185"/>
            <a:ext cx="2621915" cy="1094105"/>
          </a:xfrm>
          <a:prstGeom prst="rect">
            <a:avLst/>
          </a:prstGeom>
          <a:ln w="25400">
            <a:solidFill>
              <a:srgbClr val="BBE0E3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84"/>
              </a:spcBef>
            </a:pPr>
            <a:r>
              <a:rPr dirty="0" sz="1000" spc="-20" b="1">
                <a:solidFill>
                  <a:srgbClr val="FF0000"/>
                </a:solidFill>
                <a:latin typeface="Microsoft YaHei"/>
                <a:cs typeface="Microsoft YaHei"/>
              </a:rPr>
              <a:t>中传：</a:t>
            </a:r>
            <a:endParaRPr sz="10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29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DWDM/OTN</a:t>
            </a:r>
            <a:r>
              <a:rPr dirty="0" sz="900" spc="-15">
                <a:solidFill>
                  <a:srgbClr val="2C2C2E"/>
                </a:solidFill>
                <a:latin typeface="Microsoft YaHei"/>
                <a:cs typeface="Microsoft YaHei"/>
              </a:rPr>
              <a:t>：环网为主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城区：光层波长直达</a:t>
            </a:r>
            <a:r>
              <a:rPr dirty="0" sz="900" spc="-10">
                <a:solidFill>
                  <a:srgbClr val="2C2C2E"/>
                </a:solidFill>
                <a:latin typeface="Microsoft YaHei"/>
                <a:cs typeface="Microsoft YaHei"/>
              </a:rPr>
              <a:t>（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ROADM</a:t>
            </a: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调度</a:t>
            </a:r>
            <a:r>
              <a:rPr dirty="0" sz="900" spc="-50">
                <a:solidFill>
                  <a:srgbClr val="2C2C2E"/>
                </a:solidFill>
                <a:latin typeface="Microsoft YaHei"/>
                <a:cs typeface="Microsoft YaHei"/>
              </a:rPr>
              <a:t>）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郊区：中间节点转发，带宽收敛（分组处理</a:t>
            </a:r>
            <a:r>
              <a:rPr dirty="0" sz="900" spc="-50">
                <a:solidFill>
                  <a:srgbClr val="2C2C2E"/>
                </a:solidFill>
                <a:latin typeface="Microsoft YaHei"/>
                <a:cs typeface="Microsoft YaHei"/>
              </a:rPr>
              <a:t>）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9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20">
                <a:solidFill>
                  <a:srgbClr val="2C2C2E"/>
                </a:solidFill>
                <a:latin typeface="Arial MT"/>
                <a:cs typeface="Arial MT"/>
              </a:rPr>
              <a:t>CU</a:t>
            </a:r>
            <a:r>
              <a:rPr dirty="0" sz="900" spc="-5">
                <a:solidFill>
                  <a:srgbClr val="2C2C2E"/>
                </a:solidFill>
                <a:latin typeface="Microsoft YaHei"/>
                <a:cs typeface="Microsoft YaHei"/>
              </a:rPr>
              <a:t>所在承载设备须支持路由转发功能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5" b="1">
                <a:solidFill>
                  <a:srgbClr val="FF0000"/>
                </a:solidFill>
                <a:latin typeface="Microsoft YaHei"/>
                <a:cs typeface="Microsoft YaHei"/>
              </a:rPr>
              <a:t>超高精度时间同步技术：</a:t>
            </a:r>
            <a:r>
              <a:rPr dirty="0" sz="900" spc="-10" b="1">
                <a:solidFill>
                  <a:srgbClr val="FF0000"/>
                </a:solidFill>
                <a:latin typeface="Arial"/>
                <a:cs typeface="Arial"/>
              </a:rPr>
              <a:t>IEEE1588V2.1</a:t>
            </a:r>
            <a:endParaRPr sz="900">
              <a:latin typeface="Arial"/>
              <a:cs typeface="Arial"/>
            </a:endParaRPr>
          </a:p>
        </p:txBody>
      </p:sp>
      <p:sp>
        <p:nvSpPr>
          <p:cNvPr id="126" name="object 126" descr=""/>
          <p:cNvSpPr txBox="1"/>
          <p:nvPr/>
        </p:nvSpPr>
        <p:spPr>
          <a:xfrm>
            <a:off x="5730773" y="3670185"/>
            <a:ext cx="2945765" cy="1082675"/>
          </a:xfrm>
          <a:prstGeom prst="rect">
            <a:avLst/>
          </a:prstGeom>
          <a:ln w="25400">
            <a:solidFill>
              <a:srgbClr val="BBE0E3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84"/>
              </a:spcBef>
            </a:pPr>
            <a:r>
              <a:rPr dirty="0" sz="1000" spc="-20" b="1">
                <a:solidFill>
                  <a:srgbClr val="FF0000"/>
                </a:solidFill>
                <a:latin typeface="Microsoft YaHei"/>
                <a:cs typeface="Microsoft YaHei"/>
              </a:rPr>
              <a:t>回传：</a:t>
            </a:r>
            <a:endParaRPr sz="10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29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DWDM/OTN/ROADM</a:t>
            </a:r>
            <a:r>
              <a:rPr dirty="0" sz="900" spc="-5">
                <a:solidFill>
                  <a:srgbClr val="2C2C2E"/>
                </a:solidFill>
                <a:latin typeface="Microsoft YaHei"/>
                <a:cs typeface="Microsoft YaHei"/>
              </a:rPr>
              <a:t>：环网、</a:t>
            </a:r>
            <a:r>
              <a:rPr dirty="0" sz="900" spc="-20">
                <a:solidFill>
                  <a:srgbClr val="2C2C2E"/>
                </a:solidFill>
                <a:latin typeface="Arial MT"/>
                <a:cs typeface="Arial MT"/>
              </a:rPr>
              <a:t>Mesh</a:t>
            </a:r>
            <a:endParaRPr sz="900">
              <a:latin typeface="Arial MT"/>
              <a:cs typeface="Arial MT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光层波长直达</a:t>
            </a:r>
            <a:r>
              <a:rPr dirty="0" sz="900" spc="-10">
                <a:solidFill>
                  <a:srgbClr val="2C2C2E"/>
                </a:solidFill>
                <a:latin typeface="Microsoft YaHei"/>
                <a:cs typeface="Microsoft YaHei"/>
              </a:rPr>
              <a:t>（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ROADM</a:t>
            </a: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调度</a:t>
            </a:r>
            <a:r>
              <a:rPr dirty="0" sz="900" spc="-50">
                <a:solidFill>
                  <a:srgbClr val="2C2C2E"/>
                </a:solidFill>
                <a:latin typeface="Microsoft YaHei"/>
                <a:cs typeface="Microsoft YaHei"/>
              </a:rPr>
              <a:t>）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支持路由转发功能：转发、动态路由、</a:t>
            </a:r>
            <a:r>
              <a:rPr dirty="0" sz="900" spc="-25">
                <a:solidFill>
                  <a:srgbClr val="2C2C2E"/>
                </a:solidFill>
                <a:latin typeface="Arial MT"/>
                <a:cs typeface="Arial MT"/>
              </a:rPr>
              <a:t>VPN</a:t>
            </a:r>
            <a:endParaRPr sz="900">
              <a:latin typeface="Arial MT"/>
              <a:cs typeface="Arial MT"/>
            </a:endParaRPr>
          </a:p>
          <a:p>
            <a:pPr marL="167005" indent="-103505">
              <a:lnSpc>
                <a:spcPct val="100000"/>
              </a:lnSpc>
              <a:spcBef>
                <a:spcPts val="219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>
                <a:solidFill>
                  <a:srgbClr val="2C2C2E"/>
                </a:solidFill>
                <a:latin typeface="Microsoft YaHei"/>
                <a:cs typeface="Microsoft YaHei"/>
              </a:rPr>
              <a:t>未来回传网络与城域</a:t>
            </a:r>
            <a:r>
              <a:rPr dirty="0" sz="900" spc="-10">
                <a:solidFill>
                  <a:srgbClr val="2C2C2E"/>
                </a:solidFill>
                <a:latin typeface="Arial MT"/>
                <a:cs typeface="Arial MT"/>
              </a:rPr>
              <a:t>DCI</a:t>
            </a:r>
            <a:r>
              <a:rPr dirty="0" sz="900" spc="-10">
                <a:solidFill>
                  <a:srgbClr val="2C2C2E"/>
                </a:solidFill>
                <a:latin typeface="Microsoft YaHei"/>
                <a:cs typeface="Microsoft YaHei"/>
              </a:rPr>
              <a:t>网络逐渐融合</a:t>
            </a:r>
            <a:endParaRPr sz="900">
              <a:latin typeface="Microsoft YaHei"/>
              <a:cs typeface="Microsoft YaHei"/>
            </a:endParaRPr>
          </a:p>
          <a:p>
            <a:pPr marL="167005" indent="-103505">
              <a:lnSpc>
                <a:spcPct val="100000"/>
              </a:lnSpc>
              <a:spcBef>
                <a:spcPts val="215"/>
              </a:spcBef>
              <a:buSzPct val="88888"/>
              <a:buFont typeface="Wingdings"/>
              <a:buChar char=""/>
              <a:tabLst>
                <a:tab pos="167005" algn="l"/>
              </a:tabLst>
            </a:pPr>
            <a:r>
              <a:rPr dirty="0" sz="900" spc="-5" b="1">
                <a:solidFill>
                  <a:srgbClr val="FF0000"/>
                </a:solidFill>
                <a:latin typeface="Microsoft YaHei"/>
                <a:cs typeface="Microsoft YaHei"/>
              </a:rPr>
              <a:t>新型转发及控制技术：</a:t>
            </a:r>
            <a:r>
              <a:rPr dirty="0" sz="900" spc="-10" b="1">
                <a:solidFill>
                  <a:srgbClr val="FF0000"/>
                </a:solidFill>
                <a:latin typeface="Arial"/>
                <a:cs typeface="Arial"/>
              </a:rPr>
              <a:t>SR</a:t>
            </a:r>
            <a:r>
              <a:rPr dirty="0" sz="900" b="1">
                <a:solidFill>
                  <a:srgbClr val="FF0000"/>
                </a:solidFill>
                <a:latin typeface="Microsoft YaHei"/>
                <a:cs typeface="Microsoft YaHei"/>
              </a:rPr>
              <a:t>、</a:t>
            </a:r>
            <a:r>
              <a:rPr dirty="0" sz="900" spc="-20" b="1">
                <a:solidFill>
                  <a:srgbClr val="FF0000"/>
                </a:solidFill>
                <a:latin typeface="Arial"/>
                <a:cs typeface="Arial"/>
              </a:rPr>
              <a:t>EVPN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4139806" y="1059662"/>
            <a:ext cx="3221990" cy="1095375"/>
            <a:chOff x="4139806" y="1059662"/>
            <a:chExt cx="3221990" cy="1095375"/>
          </a:xfrm>
        </p:grpSpPr>
        <p:pic>
          <p:nvPicPr>
            <p:cNvPr id="128" name="object 1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39806" y="1221587"/>
              <a:ext cx="326230" cy="202399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39806" y="1653781"/>
              <a:ext cx="326230" cy="202399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81626" y="1653781"/>
              <a:ext cx="414336" cy="255981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81626" y="1059662"/>
              <a:ext cx="414336" cy="25598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48488" y="1091806"/>
              <a:ext cx="413142" cy="255981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948488" y="1897856"/>
              <a:ext cx="413142" cy="2571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9942" y="137830"/>
            <a:ext cx="54241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业务对传输承载的带宽要求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475015" y="1999941"/>
            <a:ext cx="2459990" cy="1055370"/>
            <a:chOff x="4475015" y="1999941"/>
            <a:chExt cx="2459990" cy="1055370"/>
          </a:xfrm>
        </p:grpSpPr>
        <p:sp>
          <p:nvSpPr>
            <p:cNvPr id="4" name="object 4" descr=""/>
            <p:cNvSpPr/>
            <p:nvPr/>
          </p:nvSpPr>
          <p:spPr>
            <a:xfrm>
              <a:off x="4484540" y="2004703"/>
              <a:ext cx="2423795" cy="0"/>
            </a:xfrm>
            <a:custGeom>
              <a:avLst/>
              <a:gdLst/>
              <a:ahLst/>
              <a:cxnLst/>
              <a:rect l="l" t="t" r="r" b="b"/>
              <a:pathLst>
                <a:path w="2423795" h="0">
                  <a:moveTo>
                    <a:pt x="0" y="0"/>
                  </a:moveTo>
                  <a:lnTo>
                    <a:pt x="2423782" y="0"/>
                  </a:lnTo>
                </a:path>
              </a:pathLst>
            </a:custGeom>
            <a:ln w="9525">
              <a:solidFill>
                <a:srgbClr val="63A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84540" y="2345965"/>
              <a:ext cx="2423795" cy="0"/>
            </a:xfrm>
            <a:custGeom>
              <a:avLst/>
              <a:gdLst/>
              <a:ahLst/>
              <a:cxnLst/>
              <a:rect l="l" t="t" r="r" b="b"/>
              <a:pathLst>
                <a:path w="2423795" h="0">
                  <a:moveTo>
                    <a:pt x="0" y="0"/>
                  </a:moveTo>
                  <a:lnTo>
                    <a:pt x="2423782" y="0"/>
                  </a:lnTo>
                </a:path>
              </a:pathLst>
            </a:custGeom>
            <a:ln w="9525">
              <a:solidFill>
                <a:srgbClr val="63A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89302" y="2695900"/>
              <a:ext cx="2423795" cy="0"/>
            </a:xfrm>
            <a:custGeom>
              <a:avLst/>
              <a:gdLst/>
              <a:ahLst/>
              <a:cxnLst/>
              <a:rect l="l" t="t" r="r" b="b"/>
              <a:pathLst>
                <a:path w="2423795" h="0">
                  <a:moveTo>
                    <a:pt x="0" y="0"/>
                  </a:moveTo>
                  <a:lnTo>
                    <a:pt x="2423782" y="0"/>
                  </a:lnTo>
                </a:path>
              </a:pathLst>
            </a:custGeom>
            <a:ln w="9525">
              <a:solidFill>
                <a:srgbClr val="63A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84540" y="3045410"/>
              <a:ext cx="2440940" cy="0"/>
            </a:xfrm>
            <a:custGeom>
              <a:avLst/>
              <a:gdLst/>
              <a:ahLst/>
              <a:cxnLst/>
              <a:rect l="l" t="t" r="r" b="b"/>
              <a:pathLst>
                <a:path w="2440940" h="0">
                  <a:moveTo>
                    <a:pt x="0" y="0"/>
                  </a:moveTo>
                  <a:lnTo>
                    <a:pt x="2440470" y="0"/>
                  </a:lnTo>
                </a:path>
              </a:pathLst>
            </a:custGeom>
            <a:ln w="19050">
              <a:solidFill>
                <a:srgbClr val="63A4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4484540" y="1652296"/>
            <a:ext cx="2423795" cy="0"/>
          </a:xfrm>
          <a:custGeom>
            <a:avLst/>
            <a:gdLst/>
            <a:ahLst/>
            <a:cxnLst/>
            <a:rect l="l" t="t" r="r" b="b"/>
            <a:pathLst>
              <a:path w="2423795" h="0">
                <a:moveTo>
                  <a:pt x="0" y="0"/>
                </a:moveTo>
                <a:lnTo>
                  <a:pt x="2423782" y="0"/>
                </a:lnTo>
              </a:path>
            </a:pathLst>
          </a:custGeom>
          <a:ln w="9525">
            <a:solidFill>
              <a:srgbClr val="63A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484540" y="1352550"/>
            <a:ext cx="2440940" cy="0"/>
          </a:xfrm>
          <a:custGeom>
            <a:avLst/>
            <a:gdLst/>
            <a:ahLst/>
            <a:cxnLst/>
            <a:rect l="l" t="t" r="r" b="b"/>
            <a:pathLst>
              <a:path w="2440940" h="0">
                <a:moveTo>
                  <a:pt x="0" y="0"/>
                </a:moveTo>
                <a:lnTo>
                  <a:pt x="2440470" y="0"/>
                </a:lnTo>
              </a:path>
            </a:pathLst>
          </a:custGeom>
          <a:ln w="19050">
            <a:solidFill>
              <a:srgbClr val="63A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633957" y="2489650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SimSun"/>
                <a:cs typeface="SimSun"/>
              </a:rPr>
              <a:t>接入环</a:t>
            </a:r>
            <a:endParaRPr sz="90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33957" y="2132463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SimSun"/>
                <a:cs typeface="SimSun"/>
              </a:rPr>
              <a:t>汇聚环</a:t>
            </a:r>
            <a:endParaRPr sz="90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33957" y="1775275"/>
            <a:ext cx="368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SimSun"/>
                <a:cs typeface="SimSun"/>
              </a:rPr>
              <a:t>核心层</a:t>
            </a:r>
            <a:endParaRPr sz="900">
              <a:latin typeface="SimSun"/>
              <a:cs typeface="SimSu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343618" y="2195132"/>
            <a:ext cx="1565275" cy="848360"/>
            <a:chOff x="5343618" y="2195132"/>
            <a:chExt cx="1565275" cy="84836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0962" y="2195132"/>
              <a:ext cx="255574" cy="1362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6175" y="2790817"/>
              <a:ext cx="300036" cy="2524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2456" y="2790817"/>
              <a:ext cx="300033" cy="2524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8727" y="2790817"/>
              <a:ext cx="300034" cy="2524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3618" y="2790817"/>
              <a:ext cx="300033" cy="25244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9895" y="2790817"/>
              <a:ext cx="300036" cy="2524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2923" y="2576131"/>
              <a:ext cx="199148" cy="936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9181" y="2576131"/>
              <a:ext cx="199143" cy="93675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5582298" y="2502214"/>
            <a:ext cx="135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Microsoft YaHei"/>
                <a:cs typeface="Microsoft YaHei"/>
              </a:rPr>
              <a:t>···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027340" y="1795709"/>
            <a:ext cx="1879600" cy="1247775"/>
            <a:chOff x="5027340" y="1795709"/>
            <a:chExt cx="1879600" cy="1247775"/>
          </a:xfrm>
        </p:grpSpPr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3855" y="1795709"/>
              <a:ext cx="292821" cy="154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7340" y="2790817"/>
              <a:ext cx="300030" cy="252445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139664" y="2686375"/>
              <a:ext cx="38100" cy="104775"/>
            </a:xfrm>
            <a:custGeom>
              <a:avLst/>
              <a:gdLst/>
              <a:ahLst/>
              <a:cxnLst/>
              <a:rect l="l" t="t" r="r" b="b"/>
              <a:pathLst>
                <a:path w="38100" h="104775">
                  <a:moveTo>
                    <a:pt x="0" y="0"/>
                  </a:moveTo>
                  <a:lnTo>
                    <a:pt x="37693" y="1044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425912" y="2669810"/>
              <a:ext cx="67945" cy="121285"/>
            </a:xfrm>
            <a:custGeom>
              <a:avLst/>
              <a:gdLst/>
              <a:ahLst/>
              <a:cxnLst/>
              <a:rect l="l" t="t" r="r" b="b"/>
              <a:pathLst>
                <a:path w="67945" h="121285">
                  <a:moveTo>
                    <a:pt x="0" y="0"/>
                  </a:moveTo>
                  <a:lnTo>
                    <a:pt x="67729" y="12100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809918" y="2669810"/>
              <a:ext cx="90170" cy="121285"/>
            </a:xfrm>
            <a:custGeom>
              <a:avLst/>
              <a:gdLst/>
              <a:ahLst/>
              <a:cxnLst/>
              <a:rect l="l" t="t" r="r" b="b"/>
              <a:pathLst>
                <a:path w="90170" h="121285">
                  <a:moveTo>
                    <a:pt x="90081" y="0"/>
                  </a:moveTo>
                  <a:lnTo>
                    <a:pt x="0" y="12100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126190" y="2669810"/>
              <a:ext cx="60325" cy="121285"/>
            </a:xfrm>
            <a:custGeom>
              <a:avLst/>
              <a:gdLst/>
              <a:ahLst/>
              <a:cxnLst/>
              <a:rect l="l" t="t" r="r" b="b"/>
              <a:pathLst>
                <a:path w="60325" h="121285">
                  <a:moveTo>
                    <a:pt x="60058" y="0"/>
                  </a:moveTo>
                  <a:lnTo>
                    <a:pt x="0" y="12100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442475" y="2669810"/>
              <a:ext cx="30480" cy="121285"/>
            </a:xfrm>
            <a:custGeom>
              <a:avLst/>
              <a:gdLst/>
              <a:ahLst/>
              <a:cxnLst/>
              <a:rect l="l" t="t" r="r" b="b"/>
              <a:pathLst>
                <a:path w="30479" h="121285">
                  <a:moveTo>
                    <a:pt x="30022" y="0"/>
                  </a:moveTo>
                  <a:lnTo>
                    <a:pt x="0" y="121005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411716" y="2331411"/>
              <a:ext cx="60960" cy="245110"/>
            </a:xfrm>
            <a:custGeom>
              <a:avLst/>
              <a:gdLst/>
              <a:ahLst/>
              <a:cxnLst/>
              <a:rect l="l" t="t" r="r" b="b"/>
              <a:pathLst>
                <a:path w="60960" h="245110">
                  <a:moveTo>
                    <a:pt x="0" y="0"/>
                  </a:moveTo>
                  <a:lnTo>
                    <a:pt x="60782" y="2447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186243" y="2331411"/>
              <a:ext cx="572770" cy="245110"/>
            </a:xfrm>
            <a:custGeom>
              <a:avLst/>
              <a:gdLst/>
              <a:ahLst/>
              <a:cxnLst/>
              <a:rect l="l" t="t" r="r" b="b"/>
              <a:pathLst>
                <a:path w="572770" h="245110">
                  <a:moveTo>
                    <a:pt x="572503" y="0"/>
                  </a:moveTo>
                  <a:lnTo>
                    <a:pt x="0" y="2447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3934" y="2195132"/>
              <a:ext cx="255573" cy="136279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4691360" y="2846815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SimSun"/>
                <a:cs typeface="SimSun"/>
              </a:rPr>
              <a:t>基站</a:t>
            </a:r>
            <a:endParaRPr sz="90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942703" y="2149772"/>
            <a:ext cx="135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Microsoft YaHei"/>
                <a:cs typeface="Microsoft YaHei"/>
              </a:rPr>
              <a:t>···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0400" y="1663090"/>
            <a:ext cx="799934" cy="1380172"/>
          </a:xfrm>
          <a:prstGeom prst="rect">
            <a:avLst/>
          </a:prstGeom>
        </p:spPr>
      </p:pic>
      <p:graphicFrame>
        <p:nvGraphicFramePr>
          <p:cNvPr id="37" name="object 37" descr=""/>
          <p:cNvGraphicFramePr>
            <a:graphicFrameLocks noGrp="1"/>
          </p:cNvGraphicFramePr>
          <p:nvPr/>
        </p:nvGraphicFramePr>
        <p:xfrm>
          <a:off x="6753984" y="1346200"/>
          <a:ext cx="2223770" cy="1688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/>
                <a:gridCol w="1129030"/>
              </a:tblGrid>
              <a:tr h="310515">
                <a:tc>
                  <a:txBody>
                    <a:bodyPr/>
                    <a:lstStyle/>
                    <a:p>
                      <a:pPr algn="ctr" marL="2933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900" spc="-15" b="1">
                          <a:latin typeface="Microsoft YaHei"/>
                          <a:cs typeface="Microsoft YaHei"/>
                        </a:rPr>
                        <a:t>接入比例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1915">
                    <a:lnT w="12700">
                      <a:solidFill>
                        <a:srgbClr val="2D2D8A"/>
                      </a:solidFill>
                      <a:prstDash val="solid"/>
                    </a:lnT>
                    <a:lnB w="12700">
                      <a:solidFill>
                        <a:srgbClr val="2D2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900" b="1">
                          <a:latin typeface="Microsoft YaHei"/>
                          <a:cs typeface="Microsoft YaHei"/>
                        </a:rPr>
                        <a:t>等效基站数（个</a:t>
                      </a:r>
                      <a:r>
                        <a:rPr dirty="0" sz="900" spc="-50" b="1">
                          <a:latin typeface="Microsoft YaHei"/>
                          <a:cs typeface="Microsoft YaHei"/>
                        </a:rPr>
                        <a:t>）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1915">
                    <a:lnT w="12700">
                      <a:solidFill>
                        <a:srgbClr val="2D2D8A"/>
                      </a:solidFill>
                      <a:prstDash val="solid"/>
                    </a:lnT>
                    <a:lnB w="12700">
                      <a:solidFill>
                        <a:srgbClr val="2D2D8A"/>
                      </a:solidFill>
                      <a:prstDash val="solid"/>
                    </a:lnB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algn="ctr" marL="29337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900" spc="-25" b="1">
                          <a:latin typeface="Microsoft YaHei"/>
                          <a:cs typeface="Microsoft YaHei"/>
                        </a:rPr>
                        <a:t>×12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99060">
                    <a:lnT w="12700">
                      <a:solidFill>
                        <a:srgbClr val="2D2D8A"/>
                      </a:solidFill>
                      <a:prstDash val="solid"/>
                    </a:lnT>
                    <a:lnB w="12700">
                      <a:solidFill>
                        <a:srgbClr val="70AD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100" spc="-25" b="1">
                          <a:solidFill>
                            <a:srgbClr val="C00000"/>
                          </a:solidFill>
                          <a:latin typeface="Microsoft YaHei"/>
                          <a:cs typeface="Microsoft YaHei"/>
                        </a:rPr>
                        <a:t>864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3185">
                    <a:lnT w="12700">
                      <a:solidFill>
                        <a:srgbClr val="2D2D8A"/>
                      </a:solidFill>
                      <a:prstDash val="solid"/>
                    </a:lnT>
                    <a:lnB w="12700">
                      <a:solidFill>
                        <a:srgbClr val="70AD47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marL="29337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900" spc="-25" b="1">
                          <a:latin typeface="Microsoft YaHei"/>
                          <a:cs typeface="Microsoft YaHei"/>
                        </a:rPr>
                        <a:t>×12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99060">
                    <a:lnT w="12700">
                      <a:solidFill>
                        <a:srgbClr val="70AD4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ts val="1255"/>
                        </a:lnSpc>
                        <a:spcBef>
                          <a:spcPts val="655"/>
                        </a:spcBef>
                      </a:pPr>
                      <a:r>
                        <a:rPr dirty="0" sz="1100" spc="-25" b="1">
                          <a:solidFill>
                            <a:srgbClr val="C00000"/>
                          </a:solidFill>
                          <a:latin typeface="Microsoft YaHei"/>
                          <a:cs typeface="Microsoft YaHei"/>
                        </a:rPr>
                        <a:t>72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3185">
                    <a:lnT w="12700">
                      <a:solidFill>
                        <a:srgbClr val="70AD47"/>
                      </a:solidFill>
                      <a:prstDash val="solid"/>
                    </a:lnT>
                  </a:tcPr>
                </a:tc>
              </a:tr>
              <a:tr h="89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70AD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70AD47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29400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900" spc="-25" b="1">
                          <a:latin typeface="Microsoft YaHei"/>
                          <a:cs typeface="Microsoft YaHei"/>
                        </a:rPr>
                        <a:t>×6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9906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70AD4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100" spc="-50" b="1">
                          <a:solidFill>
                            <a:srgbClr val="C00000"/>
                          </a:solidFill>
                          <a:latin typeface="Microsoft YaHei"/>
                          <a:cs typeface="Microsoft YaHei"/>
                        </a:rPr>
                        <a:t>6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3185">
                    <a:lnT w="12700">
                      <a:solidFill>
                        <a:srgbClr val="70AD47"/>
                      </a:solidFill>
                      <a:prstDash val="solid"/>
                    </a:lnT>
                  </a:tcPr>
                </a:tc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70AD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70AD47"/>
                      </a:solidFill>
                      <a:prstDash val="solid"/>
                    </a:lnB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algn="ctr" marL="29400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900" spc="-25" b="1">
                          <a:latin typeface="Microsoft YaHei"/>
                          <a:cs typeface="Microsoft YaHei"/>
                        </a:rPr>
                        <a:t>×1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9906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70AD47"/>
                      </a:solidFill>
                      <a:prstDash val="solid"/>
                    </a:lnT>
                    <a:lnB w="12700">
                      <a:solidFill>
                        <a:srgbClr val="2D2D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100" spc="-50" b="1">
                          <a:solidFill>
                            <a:srgbClr val="C00000"/>
                          </a:solidFill>
                          <a:latin typeface="Microsoft YaHei"/>
                          <a:cs typeface="Microsoft YaHei"/>
                        </a:rPr>
                        <a:t>1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83185">
                    <a:lnT w="12700">
                      <a:solidFill>
                        <a:srgbClr val="70AD47"/>
                      </a:solidFill>
                      <a:prstDash val="solid"/>
                    </a:lnT>
                    <a:lnB w="12700">
                      <a:solidFill>
                        <a:srgbClr val="2D2D8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8" name="object 3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43295" y="1795709"/>
            <a:ext cx="1020216" cy="404183"/>
          </a:xfrm>
          <a:prstGeom prst="rect">
            <a:avLst/>
          </a:prstGeom>
        </p:spPr>
      </p:pic>
      <p:sp>
        <p:nvSpPr>
          <p:cNvPr id="39" name="object 39" descr=""/>
          <p:cNvSpPr/>
          <p:nvPr/>
        </p:nvSpPr>
        <p:spPr>
          <a:xfrm>
            <a:off x="1773547" y="3152114"/>
            <a:ext cx="6264910" cy="308610"/>
          </a:xfrm>
          <a:custGeom>
            <a:avLst/>
            <a:gdLst/>
            <a:ahLst/>
            <a:cxnLst/>
            <a:rect l="l" t="t" r="r" b="b"/>
            <a:pathLst>
              <a:path w="6264909" h="308610">
                <a:moveTo>
                  <a:pt x="0" y="51346"/>
                </a:moveTo>
                <a:lnTo>
                  <a:pt x="4034" y="31359"/>
                </a:lnTo>
                <a:lnTo>
                  <a:pt x="15038" y="15038"/>
                </a:lnTo>
                <a:lnTo>
                  <a:pt x="31359" y="4034"/>
                </a:lnTo>
                <a:lnTo>
                  <a:pt x="51346" y="0"/>
                </a:lnTo>
                <a:lnTo>
                  <a:pt x="6213144" y="0"/>
                </a:lnTo>
                <a:lnTo>
                  <a:pt x="6233131" y="4034"/>
                </a:lnTo>
                <a:lnTo>
                  <a:pt x="6249452" y="15038"/>
                </a:lnTo>
                <a:lnTo>
                  <a:pt x="6260456" y="31359"/>
                </a:lnTo>
                <a:lnTo>
                  <a:pt x="6264490" y="51346"/>
                </a:lnTo>
                <a:lnTo>
                  <a:pt x="6264490" y="256705"/>
                </a:lnTo>
                <a:lnTo>
                  <a:pt x="6260456" y="276691"/>
                </a:lnTo>
                <a:lnTo>
                  <a:pt x="6249452" y="293012"/>
                </a:lnTo>
                <a:lnTo>
                  <a:pt x="6233131" y="304016"/>
                </a:lnTo>
                <a:lnTo>
                  <a:pt x="6213144" y="308051"/>
                </a:lnTo>
                <a:lnTo>
                  <a:pt x="51346" y="308051"/>
                </a:lnTo>
                <a:lnTo>
                  <a:pt x="31359" y="304016"/>
                </a:lnTo>
                <a:lnTo>
                  <a:pt x="15038" y="293012"/>
                </a:lnTo>
                <a:lnTo>
                  <a:pt x="4034" y="276691"/>
                </a:lnTo>
                <a:lnTo>
                  <a:pt x="0" y="256705"/>
                </a:lnTo>
                <a:lnTo>
                  <a:pt x="0" y="51346"/>
                </a:lnTo>
                <a:close/>
              </a:path>
            </a:pathLst>
          </a:custGeom>
          <a:ln w="25399">
            <a:solidFill>
              <a:srgbClr val="70AD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844462" y="3220289"/>
            <a:ext cx="3277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2260" algn="l"/>
              </a:tabLst>
            </a:pPr>
            <a:r>
              <a:rPr dirty="0" sz="900" spc="-10">
                <a:latin typeface="Microsoft YaHei"/>
                <a:cs typeface="Microsoft YaHei"/>
              </a:rPr>
              <a:t>5*2.85+1*6.23=</a:t>
            </a:r>
            <a:r>
              <a:rPr dirty="0" sz="900" spc="-10" b="1">
                <a:solidFill>
                  <a:srgbClr val="C00000"/>
                </a:solidFill>
                <a:latin typeface="Microsoft YaHei"/>
                <a:cs typeface="Microsoft YaHei"/>
              </a:rPr>
              <a:t>20.48G</a:t>
            </a:r>
            <a:r>
              <a:rPr dirty="0" sz="900" b="1">
                <a:solidFill>
                  <a:srgbClr val="C00000"/>
                </a:solidFill>
                <a:latin typeface="Microsoft YaHei"/>
                <a:cs typeface="Microsoft YaHei"/>
              </a:rPr>
              <a:t>	</a:t>
            </a:r>
            <a:r>
              <a:rPr dirty="0" sz="900" spc="-10">
                <a:latin typeface="Microsoft YaHei"/>
                <a:cs typeface="Microsoft YaHei"/>
              </a:rPr>
              <a:t>(60*2.85+12*6.23</a:t>
            </a:r>
            <a:r>
              <a:rPr dirty="0" sz="900" spc="75">
                <a:latin typeface="Microsoft YaHei"/>
                <a:cs typeface="Microsoft YaHei"/>
              </a:rPr>
              <a:t> </a:t>
            </a:r>
            <a:r>
              <a:rPr dirty="0" sz="900" spc="-10">
                <a:latin typeface="Microsoft YaHei"/>
                <a:cs typeface="Microsoft YaHei"/>
              </a:rPr>
              <a:t>)/2=</a:t>
            </a:r>
            <a:r>
              <a:rPr dirty="0" sz="900" spc="-10" b="1">
                <a:solidFill>
                  <a:srgbClr val="C00000"/>
                </a:solidFill>
                <a:latin typeface="Microsoft YaHei"/>
                <a:cs typeface="Microsoft YaHei"/>
              </a:rPr>
              <a:t>122.88G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93020" y="3220289"/>
            <a:ext cx="181863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Microsoft YaHei"/>
                <a:cs typeface="Microsoft YaHei"/>
              </a:rPr>
              <a:t>(720*6.85+144*6.23)/8=</a:t>
            </a:r>
            <a:r>
              <a:rPr dirty="0" sz="900" spc="-10" b="1">
                <a:solidFill>
                  <a:srgbClr val="C00000"/>
                </a:solidFill>
                <a:latin typeface="Microsoft YaHei"/>
                <a:cs typeface="Microsoft YaHei"/>
              </a:rPr>
              <a:t>368.64G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61936" y="3170974"/>
            <a:ext cx="960119" cy="308610"/>
          </a:xfrm>
          <a:prstGeom prst="rect">
            <a:avLst/>
          </a:prstGeom>
          <a:solidFill>
            <a:srgbClr val="72BFC5"/>
          </a:solidFill>
          <a:ln w="25400">
            <a:solidFill>
              <a:srgbClr val="1E1E64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645"/>
              </a:spcBef>
            </a:pPr>
            <a:r>
              <a:rPr dirty="0" sz="900" spc="-15">
                <a:solidFill>
                  <a:srgbClr val="FFFFFF"/>
                </a:solidFill>
                <a:latin typeface="SimSun"/>
                <a:cs typeface="SimSun"/>
              </a:rPr>
              <a:t>低频共站</a:t>
            </a:r>
            <a:endParaRPr sz="900">
              <a:latin typeface="SimSun"/>
              <a:cs typeface="SimSun"/>
            </a:endParaRPr>
          </a:p>
        </p:txBody>
      </p:sp>
      <p:graphicFrame>
        <p:nvGraphicFramePr>
          <p:cNvPr id="43" name="object 43" descr=""/>
          <p:cNvGraphicFramePr>
            <a:graphicFrameLocks noGrp="1"/>
          </p:cNvGraphicFramePr>
          <p:nvPr/>
        </p:nvGraphicFramePr>
        <p:xfrm>
          <a:off x="1415200" y="1357717"/>
          <a:ext cx="2810510" cy="1186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8105"/>
                <a:gridCol w="764540"/>
                <a:gridCol w="622300"/>
              </a:tblGrid>
              <a:tr h="2330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基站（频宽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Hz）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302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带宽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（G）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5719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19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均值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0165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峰值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0165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 spc="-10" b="1">
                          <a:latin typeface="Microsoft YaHei"/>
                          <a:cs typeface="Microsoft YaHei"/>
                        </a:rPr>
                        <a:t>4G(20M)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334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900" spc="-20">
                          <a:latin typeface="Microsoft YaHei"/>
                          <a:cs typeface="Microsoft YaHei"/>
                        </a:rPr>
                        <a:t>0.45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5719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900" spc="-20">
                          <a:latin typeface="Microsoft YaHei"/>
                          <a:cs typeface="Microsoft YaHei"/>
                        </a:rPr>
                        <a:t>0.63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45719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800" spc="-10" b="1">
                          <a:latin typeface="Microsoft YaHei"/>
                          <a:cs typeface="Microsoft YaHei"/>
                        </a:rPr>
                        <a:t>5G低频(100M)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900" spc="-25">
                          <a:latin typeface="Microsoft YaHei"/>
                          <a:cs typeface="Microsoft YaHei"/>
                        </a:rPr>
                        <a:t>2.4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0165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900" spc="-25">
                          <a:latin typeface="Microsoft YaHei"/>
                          <a:cs typeface="Microsoft YaHei"/>
                        </a:rPr>
                        <a:t>5.6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0165"/>
                </a:tc>
              </a:tr>
              <a:tr h="198120">
                <a:tc>
                  <a:txBody>
                    <a:bodyPr/>
                    <a:lstStyle/>
                    <a:p>
                      <a:pPr algn="ctr" marR="533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800" spc="-10" b="1">
                          <a:latin typeface="Microsoft YaHei"/>
                          <a:cs typeface="Microsoft YaHei"/>
                        </a:rPr>
                        <a:t>低频共站（4G+5G低</a:t>
                      </a:r>
                      <a:r>
                        <a:rPr dirty="0" sz="800" spc="-50" b="1">
                          <a:latin typeface="Microsoft YaHei"/>
                          <a:cs typeface="Microsoft YaHei"/>
                        </a:rPr>
                        <a:t>）</a:t>
                      </a:r>
                      <a:endParaRPr sz="8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14604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00" spc="-20">
                          <a:latin typeface="Microsoft YaHei"/>
                          <a:cs typeface="Microsoft YaHei"/>
                        </a:rPr>
                        <a:t>2.85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35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00" spc="-20">
                          <a:latin typeface="Microsoft YaHei"/>
                          <a:cs typeface="Microsoft YaHei"/>
                        </a:rPr>
                        <a:t>6.23</a:t>
                      </a:r>
                      <a:endParaRPr sz="9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635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4" name="object 44" descr=""/>
          <p:cNvGrpSpPr/>
          <p:nvPr/>
        </p:nvGrpSpPr>
        <p:grpSpPr>
          <a:xfrm>
            <a:off x="237157" y="1404178"/>
            <a:ext cx="1168400" cy="452755"/>
            <a:chOff x="237157" y="1404178"/>
            <a:chExt cx="1168400" cy="452755"/>
          </a:xfrm>
        </p:grpSpPr>
        <p:sp>
          <p:nvSpPr>
            <p:cNvPr id="45" name="object 45" descr=""/>
            <p:cNvSpPr/>
            <p:nvPr/>
          </p:nvSpPr>
          <p:spPr>
            <a:xfrm>
              <a:off x="249857" y="1493483"/>
              <a:ext cx="1143000" cy="350520"/>
            </a:xfrm>
            <a:custGeom>
              <a:avLst/>
              <a:gdLst/>
              <a:ahLst/>
              <a:cxnLst/>
              <a:rect l="l" t="t" r="r" b="b"/>
              <a:pathLst>
                <a:path w="1143000" h="350519">
                  <a:moveTo>
                    <a:pt x="571207" y="0"/>
                  </a:moveTo>
                  <a:lnTo>
                    <a:pt x="499557" y="1364"/>
                  </a:lnTo>
                  <a:lnTo>
                    <a:pt x="430562" y="5347"/>
                  </a:lnTo>
                  <a:lnTo>
                    <a:pt x="364758" y="11786"/>
                  </a:lnTo>
                  <a:lnTo>
                    <a:pt x="302680" y="20516"/>
                  </a:lnTo>
                  <a:lnTo>
                    <a:pt x="244865" y="31373"/>
                  </a:lnTo>
                  <a:lnTo>
                    <a:pt x="191846" y="44193"/>
                  </a:lnTo>
                  <a:lnTo>
                    <a:pt x="144160" y="58813"/>
                  </a:lnTo>
                  <a:lnTo>
                    <a:pt x="102341" y="75067"/>
                  </a:lnTo>
                  <a:lnTo>
                    <a:pt x="66926" y="92792"/>
                  </a:lnTo>
                  <a:lnTo>
                    <a:pt x="17445" y="131998"/>
                  </a:lnTo>
                  <a:lnTo>
                    <a:pt x="0" y="175120"/>
                  </a:lnTo>
                  <a:lnTo>
                    <a:pt x="4450" y="197088"/>
                  </a:lnTo>
                  <a:lnTo>
                    <a:pt x="38448" y="238416"/>
                  </a:lnTo>
                  <a:lnTo>
                    <a:pt x="102341" y="275173"/>
                  </a:lnTo>
                  <a:lnTo>
                    <a:pt x="144160" y="291427"/>
                  </a:lnTo>
                  <a:lnTo>
                    <a:pt x="191846" y="306046"/>
                  </a:lnTo>
                  <a:lnTo>
                    <a:pt x="244865" y="318866"/>
                  </a:lnTo>
                  <a:lnTo>
                    <a:pt x="302680" y="329723"/>
                  </a:lnTo>
                  <a:lnTo>
                    <a:pt x="364758" y="338453"/>
                  </a:lnTo>
                  <a:lnTo>
                    <a:pt x="430562" y="344892"/>
                  </a:lnTo>
                  <a:lnTo>
                    <a:pt x="499557" y="348876"/>
                  </a:lnTo>
                  <a:lnTo>
                    <a:pt x="571207" y="350240"/>
                  </a:lnTo>
                  <a:lnTo>
                    <a:pt x="642861" y="348876"/>
                  </a:lnTo>
                  <a:lnTo>
                    <a:pt x="711858" y="344892"/>
                  </a:lnTo>
                  <a:lnTo>
                    <a:pt x="777664" y="338453"/>
                  </a:lnTo>
                  <a:lnTo>
                    <a:pt x="839743" y="329723"/>
                  </a:lnTo>
                  <a:lnTo>
                    <a:pt x="897560" y="318866"/>
                  </a:lnTo>
                  <a:lnTo>
                    <a:pt x="950579" y="306046"/>
                  </a:lnTo>
                  <a:lnTo>
                    <a:pt x="998266" y="291427"/>
                  </a:lnTo>
                  <a:lnTo>
                    <a:pt x="1040085" y="275173"/>
                  </a:lnTo>
                  <a:lnTo>
                    <a:pt x="1075501" y="257448"/>
                  </a:lnTo>
                  <a:lnTo>
                    <a:pt x="1124983" y="218241"/>
                  </a:lnTo>
                  <a:lnTo>
                    <a:pt x="1142428" y="175120"/>
                  </a:lnTo>
                  <a:lnTo>
                    <a:pt x="1137977" y="153152"/>
                  </a:lnTo>
                  <a:lnTo>
                    <a:pt x="1103979" y="111824"/>
                  </a:lnTo>
                  <a:lnTo>
                    <a:pt x="1040085" y="75067"/>
                  </a:lnTo>
                  <a:lnTo>
                    <a:pt x="998266" y="58813"/>
                  </a:lnTo>
                  <a:lnTo>
                    <a:pt x="950579" y="44193"/>
                  </a:lnTo>
                  <a:lnTo>
                    <a:pt x="897560" y="31373"/>
                  </a:lnTo>
                  <a:lnTo>
                    <a:pt x="839743" y="20516"/>
                  </a:lnTo>
                  <a:lnTo>
                    <a:pt x="777664" y="11786"/>
                  </a:lnTo>
                  <a:lnTo>
                    <a:pt x="711858" y="5347"/>
                  </a:lnTo>
                  <a:lnTo>
                    <a:pt x="642861" y="1364"/>
                  </a:lnTo>
                  <a:lnTo>
                    <a:pt x="571207" y="0"/>
                  </a:lnTo>
                  <a:close/>
                </a:path>
              </a:pathLst>
            </a:custGeom>
            <a:solidFill>
              <a:srgbClr val="F1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49857" y="1493483"/>
              <a:ext cx="1143000" cy="350520"/>
            </a:xfrm>
            <a:custGeom>
              <a:avLst/>
              <a:gdLst/>
              <a:ahLst/>
              <a:cxnLst/>
              <a:rect l="l" t="t" r="r" b="b"/>
              <a:pathLst>
                <a:path w="1143000" h="350519">
                  <a:moveTo>
                    <a:pt x="0" y="175120"/>
                  </a:moveTo>
                  <a:lnTo>
                    <a:pt x="17445" y="131998"/>
                  </a:lnTo>
                  <a:lnTo>
                    <a:pt x="66926" y="92792"/>
                  </a:lnTo>
                  <a:lnTo>
                    <a:pt x="102341" y="75067"/>
                  </a:lnTo>
                  <a:lnTo>
                    <a:pt x="144160" y="58813"/>
                  </a:lnTo>
                  <a:lnTo>
                    <a:pt x="191846" y="44193"/>
                  </a:lnTo>
                  <a:lnTo>
                    <a:pt x="244865" y="31373"/>
                  </a:lnTo>
                  <a:lnTo>
                    <a:pt x="302680" y="20516"/>
                  </a:lnTo>
                  <a:lnTo>
                    <a:pt x="364758" y="11786"/>
                  </a:lnTo>
                  <a:lnTo>
                    <a:pt x="430562" y="5347"/>
                  </a:lnTo>
                  <a:lnTo>
                    <a:pt x="499557" y="1364"/>
                  </a:lnTo>
                  <a:lnTo>
                    <a:pt x="571207" y="0"/>
                  </a:lnTo>
                  <a:lnTo>
                    <a:pt x="642861" y="1364"/>
                  </a:lnTo>
                  <a:lnTo>
                    <a:pt x="711858" y="5347"/>
                  </a:lnTo>
                  <a:lnTo>
                    <a:pt x="777664" y="11786"/>
                  </a:lnTo>
                  <a:lnTo>
                    <a:pt x="839743" y="20516"/>
                  </a:lnTo>
                  <a:lnTo>
                    <a:pt x="897560" y="31373"/>
                  </a:lnTo>
                  <a:lnTo>
                    <a:pt x="950579" y="44193"/>
                  </a:lnTo>
                  <a:lnTo>
                    <a:pt x="998266" y="58813"/>
                  </a:lnTo>
                  <a:lnTo>
                    <a:pt x="1040085" y="75067"/>
                  </a:lnTo>
                  <a:lnTo>
                    <a:pt x="1075501" y="92792"/>
                  </a:lnTo>
                  <a:lnTo>
                    <a:pt x="1124983" y="131998"/>
                  </a:lnTo>
                  <a:lnTo>
                    <a:pt x="1142428" y="175120"/>
                  </a:lnTo>
                  <a:lnTo>
                    <a:pt x="1137977" y="197088"/>
                  </a:lnTo>
                  <a:lnTo>
                    <a:pt x="1124983" y="218241"/>
                  </a:lnTo>
                  <a:lnTo>
                    <a:pt x="1075501" y="257448"/>
                  </a:lnTo>
                  <a:lnTo>
                    <a:pt x="1040085" y="275173"/>
                  </a:lnTo>
                  <a:lnTo>
                    <a:pt x="998266" y="291427"/>
                  </a:lnTo>
                  <a:lnTo>
                    <a:pt x="950579" y="306046"/>
                  </a:lnTo>
                  <a:lnTo>
                    <a:pt x="897560" y="318866"/>
                  </a:lnTo>
                  <a:lnTo>
                    <a:pt x="839743" y="329723"/>
                  </a:lnTo>
                  <a:lnTo>
                    <a:pt x="777664" y="338453"/>
                  </a:lnTo>
                  <a:lnTo>
                    <a:pt x="711858" y="344892"/>
                  </a:lnTo>
                  <a:lnTo>
                    <a:pt x="642861" y="348876"/>
                  </a:lnTo>
                  <a:lnTo>
                    <a:pt x="571207" y="350240"/>
                  </a:lnTo>
                  <a:lnTo>
                    <a:pt x="499557" y="348876"/>
                  </a:lnTo>
                  <a:lnTo>
                    <a:pt x="430562" y="344892"/>
                  </a:lnTo>
                  <a:lnTo>
                    <a:pt x="364758" y="338453"/>
                  </a:lnTo>
                  <a:lnTo>
                    <a:pt x="302680" y="329723"/>
                  </a:lnTo>
                  <a:lnTo>
                    <a:pt x="244865" y="318866"/>
                  </a:lnTo>
                  <a:lnTo>
                    <a:pt x="191846" y="306046"/>
                  </a:lnTo>
                  <a:lnTo>
                    <a:pt x="144160" y="291427"/>
                  </a:lnTo>
                  <a:lnTo>
                    <a:pt x="102341" y="275173"/>
                  </a:lnTo>
                  <a:lnTo>
                    <a:pt x="66926" y="257448"/>
                  </a:lnTo>
                  <a:lnTo>
                    <a:pt x="17445" y="218241"/>
                  </a:lnTo>
                  <a:lnTo>
                    <a:pt x="0" y="175120"/>
                  </a:lnTo>
                  <a:close/>
                </a:path>
              </a:pathLst>
            </a:custGeom>
            <a:ln w="25400">
              <a:solidFill>
                <a:srgbClr val="F1F9F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147" y="1404178"/>
              <a:ext cx="154778" cy="225455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370700" y="1495054"/>
            <a:ext cx="922019" cy="3251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76250">
              <a:lnSpc>
                <a:spcPct val="100000"/>
              </a:lnSpc>
              <a:spcBef>
                <a:spcPts val="265"/>
              </a:spcBef>
            </a:pPr>
            <a:r>
              <a:rPr dirty="0" sz="900" spc="-10">
                <a:latin typeface="Microsoft YaHei"/>
                <a:cs typeface="Microsoft YaHei"/>
              </a:rPr>
              <a:t>4G/LTE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800" spc="-20">
                <a:latin typeface="Microsoft YaHei"/>
                <a:cs typeface="Microsoft YaHei"/>
              </a:rPr>
              <a:t>3</a:t>
            </a:r>
            <a:r>
              <a:rPr dirty="0" baseline="3472" sz="1200" spc="-15">
                <a:latin typeface="SimSun"/>
                <a:cs typeface="SimSun"/>
              </a:rPr>
              <a:t>小区</a:t>
            </a:r>
            <a:r>
              <a:rPr dirty="0" sz="800" spc="5">
                <a:latin typeface="Microsoft YaHei"/>
                <a:cs typeface="Microsoft YaHei"/>
              </a:rPr>
              <a:t>, </a:t>
            </a:r>
            <a:r>
              <a:rPr dirty="0" sz="800" spc="-20">
                <a:latin typeface="Microsoft YaHei"/>
                <a:cs typeface="Microsoft YaHei"/>
              </a:rPr>
              <a:t>3</a:t>
            </a:r>
            <a:r>
              <a:rPr dirty="0" baseline="3472" sz="1200" spc="-15">
                <a:latin typeface="SimSun"/>
                <a:cs typeface="SimSun"/>
              </a:rPr>
              <a:t>载波</a:t>
            </a:r>
            <a:r>
              <a:rPr dirty="0" sz="800" spc="5">
                <a:latin typeface="Microsoft YaHei"/>
                <a:cs typeface="Microsoft YaHei"/>
              </a:rPr>
              <a:t>, </a:t>
            </a:r>
            <a:r>
              <a:rPr dirty="0" sz="800" spc="-20">
                <a:latin typeface="Microsoft YaHei"/>
                <a:cs typeface="Microsoft YaHei"/>
              </a:rPr>
              <a:t>4</a:t>
            </a:r>
            <a:r>
              <a:rPr dirty="0" baseline="3472" sz="1200" spc="-44">
                <a:latin typeface="SimSun"/>
                <a:cs typeface="SimSun"/>
              </a:rPr>
              <a:t>天线</a:t>
            </a:r>
            <a:endParaRPr baseline="3472" sz="1200">
              <a:latin typeface="SimSun"/>
              <a:cs typeface="SimSun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256024" y="1966417"/>
            <a:ext cx="1168400" cy="450215"/>
            <a:chOff x="256024" y="1966417"/>
            <a:chExt cx="1168400" cy="450215"/>
          </a:xfrm>
        </p:grpSpPr>
        <p:sp>
          <p:nvSpPr>
            <p:cNvPr id="50" name="object 50" descr=""/>
            <p:cNvSpPr/>
            <p:nvPr/>
          </p:nvSpPr>
          <p:spPr>
            <a:xfrm>
              <a:off x="268724" y="2053216"/>
              <a:ext cx="1143000" cy="350520"/>
            </a:xfrm>
            <a:custGeom>
              <a:avLst/>
              <a:gdLst/>
              <a:ahLst/>
              <a:cxnLst/>
              <a:rect l="l" t="t" r="r" b="b"/>
              <a:pathLst>
                <a:path w="1143000" h="350519">
                  <a:moveTo>
                    <a:pt x="571207" y="0"/>
                  </a:moveTo>
                  <a:lnTo>
                    <a:pt x="499557" y="1364"/>
                  </a:lnTo>
                  <a:lnTo>
                    <a:pt x="430562" y="5347"/>
                  </a:lnTo>
                  <a:lnTo>
                    <a:pt x="364758" y="11786"/>
                  </a:lnTo>
                  <a:lnTo>
                    <a:pt x="302680" y="20516"/>
                  </a:lnTo>
                  <a:lnTo>
                    <a:pt x="244865" y="31373"/>
                  </a:lnTo>
                  <a:lnTo>
                    <a:pt x="191846" y="44193"/>
                  </a:lnTo>
                  <a:lnTo>
                    <a:pt x="144160" y="58813"/>
                  </a:lnTo>
                  <a:lnTo>
                    <a:pt x="102341" y="75067"/>
                  </a:lnTo>
                  <a:lnTo>
                    <a:pt x="66926" y="92792"/>
                  </a:lnTo>
                  <a:lnTo>
                    <a:pt x="17445" y="131998"/>
                  </a:lnTo>
                  <a:lnTo>
                    <a:pt x="0" y="175120"/>
                  </a:lnTo>
                  <a:lnTo>
                    <a:pt x="4450" y="197088"/>
                  </a:lnTo>
                  <a:lnTo>
                    <a:pt x="38448" y="238416"/>
                  </a:lnTo>
                  <a:lnTo>
                    <a:pt x="102341" y="275173"/>
                  </a:lnTo>
                  <a:lnTo>
                    <a:pt x="144160" y="291427"/>
                  </a:lnTo>
                  <a:lnTo>
                    <a:pt x="191846" y="306046"/>
                  </a:lnTo>
                  <a:lnTo>
                    <a:pt x="244865" y="318866"/>
                  </a:lnTo>
                  <a:lnTo>
                    <a:pt x="302680" y="329723"/>
                  </a:lnTo>
                  <a:lnTo>
                    <a:pt x="364758" y="338453"/>
                  </a:lnTo>
                  <a:lnTo>
                    <a:pt x="430562" y="344892"/>
                  </a:lnTo>
                  <a:lnTo>
                    <a:pt x="499557" y="348876"/>
                  </a:lnTo>
                  <a:lnTo>
                    <a:pt x="571207" y="350240"/>
                  </a:lnTo>
                  <a:lnTo>
                    <a:pt x="642861" y="348876"/>
                  </a:lnTo>
                  <a:lnTo>
                    <a:pt x="711858" y="344892"/>
                  </a:lnTo>
                  <a:lnTo>
                    <a:pt x="777664" y="338453"/>
                  </a:lnTo>
                  <a:lnTo>
                    <a:pt x="839743" y="329723"/>
                  </a:lnTo>
                  <a:lnTo>
                    <a:pt x="897560" y="318866"/>
                  </a:lnTo>
                  <a:lnTo>
                    <a:pt x="950579" y="306046"/>
                  </a:lnTo>
                  <a:lnTo>
                    <a:pt x="998266" y="291427"/>
                  </a:lnTo>
                  <a:lnTo>
                    <a:pt x="1040085" y="275173"/>
                  </a:lnTo>
                  <a:lnTo>
                    <a:pt x="1075501" y="257448"/>
                  </a:lnTo>
                  <a:lnTo>
                    <a:pt x="1124983" y="218241"/>
                  </a:lnTo>
                  <a:lnTo>
                    <a:pt x="1142428" y="175120"/>
                  </a:lnTo>
                  <a:lnTo>
                    <a:pt x="1137977" y="153152"/>
                  </a:lnTo>
                  <a:lnTo>
                    <a:pt x="1103979" y="111824"/>
                  </a:lnTo>
                  <a:lnTo>
                    <a:pt x="1040085" y="75067"/>
                  </a:lnTo>
                  <a:lnTo>
                    <a:pt x="998266" y="58813"/>
                  </a:lnTo>
                  <a:lnTo>
                    <a:pt x="950579" y="44193"/>
                  </a:lnTo>
                  <a:lnTo>
                    <a:pt x="897560" y="31373"/>
                  </a:lnTo>
                  <a:lnTo>
                    <a:pt x="839743" y="20516"/>
                  </a:lnTo>
                  <a:lnTo>
                    <a:pt x="777664" y="11786"/>
                  </a:lnTo>
                  <a:lnTo>
                    <a:pt x="711858" y="5347"/>
                  </a:lnTo>
                  <a:lnTo>
                    <a:pt x="642861" y="1364"/>
                  </a:lnTo>
                  <a:lnTo>
                    <a:pt x="571207" y="0"/>
                  </a:lnTo>
                  <a:close/>
                </a:path>
              </a:pathLst>
            </a:custGeom>
            <a:solidFill>
              <a:srgbClr val="D6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68724" y="2053216"/>
              <a:ext cx="1143000" cy="350520"/>
            </a:xfrm>
            <a:custGeom>
              <a:avLst/>
              <a:gdLst/>
              <a:ahLst/>
              <a:cxnLst/>
              <a:rect l="l" t="t" r="r" b="b"/>
              <a:pathLst>
                <a:path w="1143000" h="350519">
                  <a:moveTo>
                    <a:pt x="0" y="175120"/>
                  </a:moveTo>
                  <a:lnTo>
                    <a:pt x="17445" y="131998"/>
                  </a:lnTo>
                  <a:lnTo>
                    <a:pt x="66926" y="92792"/>
                  </a:lnTo>
                  <a:lnTo>
                    <a:pt x="102341" y="75067"/>
                  </a:lnTo>
                  <a:lnTo>
                    <a:pt x="144160" y="58813"/>
                  </a:lnTo>
                  <a:lnTo>
                    <a:pt x="191846" y="44193"/>
                  </a:lnTo>
                  <a:lnTo>
                    <a:pt x="244865" y="31373"/>
                  </a:lnTo>
                  <a:lnTo>
                    <a:pt x="302680" y="20516"/>
                  </a:lnTo>
                  <a:lnTo>
                    <a:pt x="364758" y="11786"/>
                  </a:lnTo>
                  <a:lnTo>
                    <a:pt x="430562" y="5347"/>
                  </a:lnTo>
                  <a:lnTo>
                    <a:pt x="499557" y="1364"/>
                  </a:lnTo>
                  <a:lnTo>
                    <a:pt x="571207" y="0"/>
                  </a:lnTo>
                  <a:lnTo>
                    <a:pt x="642861" y="1364"/>
                  </a:lnTo>
                  <a:lnTo>
                    <a:pt x="711858" y="5347"/>
                  </a:lnTo>
                  <a:lnTo>
                    <a:pt x="777664" y="11786"/>
                  </a:lnTo>
                  <a:lnTo>
                    <a:pt x="839743" y="20516"/>
                  </a:lnTo>
                  <a:lnTo>
                    <a:pt x="897560" y="31373"/>
                  </a:lnTo>
                  <a:lnTo>
                    <a:pt x="950579" y="44193"/>
                  </a:lnTo>
                  <a:lnTo>
                    <a:pt x="998266" y="58813"/>
                  </a:lnTo>
                  <a:lnTo>
                    <a:pt x="1040085" y="75067"/>
                  </a:lnTo>
                  <a:lnTo>
                    <a:pt x="1075501" y="92792"/>
                  </a:lnTo>
                  <a:lnTo>
                    <a:pt x="1124983" y="131998"/>
                  </a:lnTo>
                  <a:lnTo>
                    <a:pt x="1142428" y="175120"/>
                  </a:lnTo>
                  <a:lnTo>
                    <a:pt x="1137977" y="197088"/>
                  </a:lnTo>
                  <a:lnTo>
                    <a:pt x="1124983" y="218241"/>
                  </a:lnTo>
                  <a:lnTo>
                    <a:pt x="1075501" y="257448"/>
                  </a:lnTo>
                  <a:lnTo>
                    <a:pt x="1040085" y="275173"/>
                  </a:lnTo>
                  <a:lnTo>
                    <a:pt x="998266" y="291427"/>
                  </a:lnTo>
                  <a:lnTo>
                    <a:pt x="950579" y="306046"/>
                  </a:lnTo>
                  <a:lnTo>
                    <a:pt x="897560" y="318866"/>
                  </a:lnTo>
                  <a:lnTo>
                    <a:pt x="839743" y="329723"/>
                  </a:lnTo>
                  <a:lnTo>
                    <a:pt x="777664" y="338453"/>
                  </a:lnTo>
                  <a:lnTo>
                    <a:pt x="711858" y="344892"/>
                  </a:lnTo>
                  <a:lnTo>
                    <a:pt x="642861" y="348876"/>
                  </a:lnTo>
                  <a:lnTo>
                    <a:pt x="571207" y="350240"/>
                  </a:lnTo>
                  <a:lnTo>
                    <a:pt x="499557" y="348876"/>
                  </a:lnTo>
                  <a:lnTo>
                    <a:pt x="430562" y="344892"/>
                  </a:lnTo>
                  <a:lnTo>
                    <a:pt x="364758" y="338453"/>
                  </a:lnTo>
                  <a:lnTo>
                    <a:pt x="302680" y="329723"/>
                  </a:lnTo>
                  <a:lnTo>
                    <a:pt x="244865" y="318866"/>
                  </a:lnTo>
                  <a:lnTo>
                    <a:pt x="191846" y="306046"/>
                  </a:lnTo>
                  <a:lnTo>
                    <a:pt x="144160" y="291427"/>
                  </a:lnTo>
                  <a:lnTo>
                    <a:pt x="102341" y="275173"/>
                  </a:lnTo>
                  <a:lnTo>
                    <a:pt x="66926" y="257448"/>
                  </a:lnTo>
                  <a:lnTo>
                    <a:pt x="17445" y="218241"/>
                  </a:lnTo>
                  <a:lnTo>
                    <a:pt x="0" y="175120"/>
                  </a:lnTo>
                  <a:close/>
                </a:path>
              </a:pathLst>
            </a:custGeom>
            <a:ln w="25400">
              <a:solidFill>
                <a:srgbClr val="D6EC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1647" y="1966417"/>
              <a:ext cx="281000" cy="235407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518622" y="2062384"/>
            <a:ext cx="746125" cy="32194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254"/>
              </a:spcBef>
            </a:pPr>
            <a:r>
              <a:rPr dirty="0" sz="900" spc="-10">
                <a:latin typeface="Microsoft YaHei"/>
                <a:cs typeface="Microsoft YaHei"/>
              </a:rPr>
              <a:t>5G</a:t>
            </a:r>
            <a:r>
              <a:rPr dirty="0" sz="900" spc="-25">
                <a:latin typeface="SimSun"/>
                <a:cs typeface="SimSun"/>
              </a:rPr>
              <a:t>低频</a:t>
            </a:r>
            <a:endParaRPr sz="9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0">
                <a:latin typeface="Microsoft YaHei"/>
                <a:cs typeface="Microsoft YaHei"/>
              </a:rPr>
              <a:t>3</a:t>
            </a:r>
            <a:r>
              <a:rPr dirty="0" baseline="3472" sz="1200" spc="-15">
                <a:latin typeface="SimSun"/>
                <a:cs typeface="SimSun"/>
              </a:rPr>
              <a:t>小区</a:t>
            </a:r>
            <a:r>
              <a:rPr dirty="0" sz="800" spc="10">
                <a:latin typeface="Microsoft YaHei"/>
                <a:cs typeface="Microsoft YaHei"/>
              </a:rPr>
              <a:t>, </a:t>
            </a:r>
            <a:r>
              <a:rPr dirty="0" sz="800" spc="-20">
                <a:latin typeface="Microsoft YaHei"/>
                <a:cs typeface="Microsoft YaHei"/>
              </a:rPr>
              <a:t>64</a:t>
            </a:r>
            <a:r>
              <a:rPr dirty="0" baseline="3472" sz="1200" spc="-44">
                <a:latin typeface="SimSun"/>
                <a:cs typeface="SimSun"/>
              </a:rPr>
              <a:t>天线</a:t>
            </a:r>
            <a:endParaRPr baseline="3472" sz="1200">
              <a:latin typeface="SimSun"/>
              <a:cs typeface="SimSun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5040096" y="1868865"/>
            <a:ext cx="1724025" cy="801370"/>
            <a:chOff x="5040096" y="1868865"/>
            <a:chExt cx="1724025" cy="801370"/>
          </a:xfrm>
        </p:grpSpPr>
        <p:sp>
          <p:nvSpPr>
            <p:cNvPr id="55" name="object 55" descr=""/>
            <p:cNvSpPr/>
            <p:nvPr/>
          </p:nvSpPr>
          <p:spPr>
            <a:xfrm>
              <a:off x="6572076" y="2622970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 h="0">
                  <a:moveTo>
                    <a:pt x="0" y="0"/>
                  </a:moveTo>
                  <a:lnTo>
                    <a:pt x="8709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432" y="2576131"/>
              <a:ext cx="199143" cy="9367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6678" y="2576131"/>
              <a:ext cx="199148" cy="9367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0096" y="2576131"/>
              <a:ext cx="199144" cy="936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6341" y="2576131"/>
              <a:ext cx="199148" cy="93675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5899995" y="2331411"/>
              <a:ext cx="511809" cy="245110"/>
            </a:xfrm>
            <a:custGeom>
              <a:avLst/>
              <a:gdLst/>
              <a:ahLst/>
              <a:cxnLst/>
              <a:rect l="l" t="t" r="r" b="b"/>
              <a:pathLst>
                <a:path w="511810" h="245110">
                  <a:moveTo>
                    <a:pt x="511721" y="0"/>
                  </a:moveTo>
                  <a:lnTo>
                    <a:pt x="0" y="2447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999577" y="2622970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 h="0">
                  <a:moveTo>
                    <a:pt x="8709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239241" y="2622970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 h="0">
                  <a:moveTo>
                    <a:pt x="8709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139659" y="2331411"/>
              <a:ext cx="1272540" cy="245110"/>
            </a:xfrm>
            <a:custGeom>
              <a:avLst/>
              <a:gdLst/>
              <a:ahLst/>
              <a:cxnLst/>
              <a:rect l="l" t="t" r="r" b="b"/>
              <a:pathLst>
                <a:path w="1272539" h="245110">
                  <a:moveTo>
                    <a:pt x="1272057" y="0"/>
                  </a:moveTo>
                  <a:lnTo>
                    <a:pt x="0" y="2447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425909" y="2331411"/>
              <a:ext cx="1332865" cy="245110"/>
            </a:xfrm>
            <a:custGeom>
              <a:avLst/>
              <a:gdLst/>
              <a:ahLst/>
              <a:cxnLst/>
              <a:rect l="l" t="t" r="r" b="b"/>
              <a:pathLst>
                <a:path w="1332865" h="245110">
                  <a:moveTo>
                    <a:pt x="1332839" y="0"/>
                  </a:moveTo>
                  <a:lnTo>
                    <a:pt x="0" y="24471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0270" y="2195132"/>
              <a:ext cx="255574" cy="13627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3243" y="2195132"/>
              <a:ext cx="255569" cy="136279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5401016" y="1951545"/>
              <a:ext cx="791210" cy="243840"/>
            </a:xfrm>
            <a:custGeom>
              <a:avLst/>
              <a:gdLst/>
              <a:ahLst/>
              <a:cxnLst/>
              <a:rect l="l" t="t" r="r" b="b"/>
              <a:pathLst>
                <a:path w="791210" h="243839">
                  <a:moveTo>
                    <a:pt x="790790" y="0"/>
                  </a:moveTo>
                  <a:lnTo>
                    <a:pt x="0" y="2435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539505" y="2263270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91452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528811" y="2263270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91452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337936" y="1873628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4" h="0">
                  <a:moveTo>
                    <a:pt x="274688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 descr=""/>
          <p:cNvGrpSpPr/>
          <p:nvPr/>
        </p:nvGrpSpPr>
        <p:grpSpPr>
          <a:xfrm>
            <a:off x="194523" y="877392"/>
            <a:ext cx="2057400" cy="422909"/>
            <a:chOff x="194523" y="877392"/>
            <a:chExt cx="2057400" cy="422909"/>
          </a:xfrm>
        </p:grpSpPr>
        <p:sp>
          <p:nvSpPr>
            <p:cNvPr id="72" name="object 72" descr=""/>
            <p:cNvSpPr/>
            <p:nvPr/>
          </p:nvSpPr>
          <p:spPr>
            <a:xfrm>
              <a:off x="207223" y="890092"/>
              <a:ext cx="2032000" cy="397510"/>
            </a:xfrm>
            <a:custGeom>
              <a:avLst/>
              <a:gdLst/>
              <a:ahLst/>
              <a:cxnLst/>
              <a:rect l="l" t="t" r="r" b="b"/>
              <a:pathLst>
                <a:path w="2032000" h="397509">
                  <a:moveTo>
                    <a:pt x="1965350" y="0"/>
                  </a:moveTo>
                  <a:lnTo>
                    <a:pt x="66243" y="0"/>
                  </a:lnTo>
                  <a:lnTo>
                    <a:pt x="40456" y="5205"/>
                  </a:lnTo>
                  <a:lnTo>
                    <a:pt x="19400" y="19400"/>
                  </a:lnTo>
                  <a:lnTo>
                    <a:pt x="5205" y="40456"/>
                  </a:lnTo>
                  <a:lnTo>
                    <a:pt x="0" y="66243"/>
                  </a:lnTo>
                  <a:lnTo>
                    <a:pt x="0" y="331216"/>
                  </a:lnTo>
                  <a:lnTo>
                    <a:pt x="5205" y="356997"/>
                  </a:lnTo>
                  <a:lnTo>
                    <a:pt x="19400" y="378053"/>
                  </a:lnTo>
                  <a:lnTo>
                    <a:pt x="40456" y="392252"/>
                  </a:lnTo>
                  <a:lnTo>
                    <a:pt x="66243" y="397459"/>
                  </a:lnTo>
                  <a:lnTo>
                    <a:pt x="1965350" y="397459"/>
                  </a:lnTo>
                  <a:lnTo>
                    <a:pt x="1991136" y="392252"/>
                  </a:lnTo>
                  <a:lnTo>
                    <a:pt x="2012192" y="378053"/>
                  </a:lnTo>
                  <a:lnTo>
                    <a:pt x="2026388" y="356997"/>
                  </a:lnTo>
                  <a:lnTo>
                    <a:pt x="2031593" y="331216"/>
                  </a:lnTo>
                  <a:lnTo>
                    <a:pt x="2031593" y="66243"/>
                  </a:lnTo>
                  <a:lnTo>
                    <a:pt x="2026388" y="40456"/>
                  </a:lnTo>
                  <a:lnTo>
                    <a:pt x="2012192" y="19400"/>
                  </a:lnTo>
                  <a:lnTo>
                    <a:pt x="1991136" y="5205"/>
                  </a:lnTo>
                  <a:lnTo>
                    <a:pt x="1965350" y="0"/>
                  </a:lnTo>
                  <a:close/>
                </a:path>
              </a:pathLst>
            </a:custGeom>
            <a:solidFill>
              <a:srgbClr val="003B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07223" y="890092"/>
              <a:ext cx="2032000" cy="397510"/>
            </a:xfrm>
            <a:custGeom>
              <a:avLst/>
              <a:gdLst/>
              <a:ahLst/>
              <a:cxnLst/>
              <a:rect l="l" t="t" r="r" b="b"/>
              <a:pathLst>
                <a:path w="2032000" h="397509">
                  <a:moveTo>
                    <a:pt x="0" y="66243"/>
                  </a:moveTo>
                  <a:lnTo>
                    <a:pt x="5205" y="40456"/>
                  </a:lnTo>
                  <a:lnTo>
                    <a:pt x="19400" y="19400"/>
                  </a:lnTo>
                  <a:lnTo>
                    <a:pt x="40456" y="5205"/>
                  </a:lnTo>
                  <a:lnTo>
                    <a:pt x="66243" y="0"/>
                  </a:lnTo>
                  <a:lnTo>
                    <a:pt x="1965350" y="0"/>
                  </a:lnTo>
                  <a:lnTo>
                    <a:pt x="1991136" y="5205"/>
                  </a:lnTo>
                  <a:lnTo>
                    <a:pt x="2012192" y="19400"/>
                  </a:lnTo>
                  <a:lnTo>
                    <a:pt x="2026388" y="40456"/>
                  </a:lnTo>
                  <a:lnTo>
                    <a:pt x="2031593" y="66243"/>
                  </a:lnTo>
                  <a:lnTo>
                    <a:pt x="2031593" y="331216"/>
                  </a:lnTo>
                  <a:lnTo>
                    <a:pt x="2026388" y="356997"/>
                  </a:lnTo>
                  <a:lnTo>
                    <a:pt x="2012192" y="378053"/>
                  </a:lnTo>
                  <a:lnTo>
                    <a:pt x="1991136" y="392252"/>
                  </a:lnTo>
                  <a:lnTo>
                    <a:pt x="1965350" y="397459"/>
                  </a:lnTo>
                  <a:lnTo>
                    <a:pt x="66243" y="397459"/>
                  </a:lnTo>
                  <a:lnTo>
                    <a:pt x="40456" y="392252"/>
                  </a:lnTo>
                  <a:lnTo>
                    <a:pt x="19400" y="378053"/>
                  </a:lnTo>
                  <a:lnTo>
                    <a:pt x="5205" y="356997"/>
                  </a:lnTo>
                  <a:lnTo>
                    <a:pt x="0" y="331216"/>
                  </a:lnTo>
                  <a:lnTo>
                    <a:pt x="0" y="66243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379265" y="966391"/>
            <a:ext cx="16871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5G</a:t>
            </a:r>
            <a:r>
              <a:rPr dirty="0" sz="1400" spc="-25">
                <a:solidFill>
                  <a:srgbClr val="FFFFFF"/>
                </a:solidFill>
                <a:latin typeface="SimSun"/>
                <a:cs typeface="SimSun"/>
              </a:rPr>
              <a:t>单站带宽测算模型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4471842" y="877392"/>
            <a:ext cx="2080895" cy="422909"/>
            <a:chOff x="4471842" y="877392"/>
            <a:chExt cx="2080895" cy="422909"/>
          </a:xfrm>
        </p:grpSpPr>
        <p:sp>
          <p:nvSpPr>
            <p:cNvPr id="76" name="object 76" descr=""/>
            <p:cNvSpPr/>
            <p:nvPr/>
          </p:nvSpPr>
          <p:spPr>
            <a:xfrm>
              <a:off x="4484542" y="890092"/>
              <a:ext cx="2055495" cy="397510"/>
            </a:xfrm>
            <a:custGeom>
              <a:avLst/>
              <a:gdLst/>
              <a:ahLst/>
              <a:cxnLst/>
              <a:rect l="l" t="t" r="r" b="b"/>
              <a:pathLst>
                <a:path w="2055495" h="397509">
                  <a:moveTo>
                    <a:pt x="1988718" y="0"/>
                  </a:moveTo>
                  <a:lnTo>
                    <a:pt x="66243" y="0"/>
                  </a:lnTo>
                  <a:lnTo>
                    <a:pt x="40456" y="5205"/>
                  </a:lnTo>
                  <a:lnTo>
                    <a:pt x="19400" y="19400"/>
                  </a:lnTo>
                  <a:lnTo>
                    <a:pt x="5205" y="40456"/>
                  </a:lnTo>
                  <a:lnTo>
                    <a:pt x="0" y="66243"/>
                  </a:lnTo>
                  <a:lnTo>
                    <a:pt x="0" y="331216"/>
                  </a:lnTo>
                  <a:lnTo>
                    <a:pt x="5205" y="356997"/>
                  </a:lnTo>
                  <a:lnTo>
                    <a:pt x="19400" y="378053"/>
                  </a:lnTo>
                  <a:lnTo>
                    <a:pt x="40456" y="392252"/>
                  </a:lnTo>
                  <a:lnTo>
                    <a:pt x="66243" y="397459"/>
                  </a:lnTo>
                  <a:lnTo>
                    <a:pt x="1988718" y="397459"/>
                  </a:lnTo>
                  <a:lnTo>
                    <a:pt x="2014504" y="392252"/>
                  </a:lnTo>
                  <a:lnTo>
                    <a:pt x="2035560" y="378053"/>
                  </a:lnTo>
                  <a:lnTo>
                    <a:pt x="2049756" y="356997"/>
                  </a:lnTo>
                  <a:lnTo>
                    <a:pt x="2054961" y="331216"/>
                  </a:lnTo>
                  <a:lnTo>
                    <a:pt x="2054961" y="66243"/>
                  </a:lnTo>
                  <a:lnTo>
                    <a:pt x="2049756" y="40456"/>
                  </a:lnTo>
                  <a:lnTo>
                    <a:pt x="2035560" y="19400"/>
                  </a:lnTo>
                  <a:lnTo>
                    <a:pt x="2014504" y="5205"/>
                  </a:lnTo>
                  <a:lnTo>
                    <a:pt x="1988718" y="0"/>
                  </a:lnTo>
                  <a:close/>
                </a:path>
              </a:pathLst>
            </a:custGeom>
            <a:solidFill>
              <a:srgbClr val="003B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484542" y="890092"/>
              <a:ext cx="2055495" cy="397510"/>
            </a:xfrm>
            <a:custGeom>
              <a:avLst/>
              <a:gdLst/>
              <a:ahLst/>
              <a:cxnLst/>
              <a:rect l="l" t="t" r="r" b="b"/>
              <a:pathLst>
                <a:path w="2055495" h="397509">
                  <a:moveTo>
                    <a:pt x="0" y="66243"/>
                  </a:moveTo>
                  <a:lnTo>
                    <a:pt x="5205" y="40456"/>
                  </a:lnTo>
                  <a:lnTo>
                    <a:pt x="19400" y="19400"/>
                  </a:lnTo>
                  <a:lnTo>
                    <a:pt x="40456" y="5205"/>
                  </a:lnTo>
                  <a:lnTo>
                    <a:pt x="66243" y="0"/>
                  </a:lnTo>
                  <a:lnTo>
                    <a:pt x="1988718" y="0"/>
                  </a:lnTo>
                  <a:lnTo>
                    <a:pt x="2014504" y="5205"/>
                  </a:lnTo>
                  <a:lnTo>
                    <a:pt x="2035560" y="19400"/>
                  </a:lnTo>
                  <a:lnTo>
                    <a:pt x="2049756" y="40456"/>
                  </a:lnTo>
                  <a:lnTo>
                    <a:pt x="2054961" y="66243"/>
                  </a:lnTo>
                  <a:lnTo>
                    <a:pt x="2054961" y="331216"/>
                  </a:lnTo>
                  <a:lnTo>
                    <a:pt x="2049756" y="356997"/>
                  </a:lnTo>
                  <a:lnTo>
                    <a:pt x="2035560" y="378053"/>
                  </a:lnTo>
                  <a:lnTo>
                    <a:pt x="2014504" y="392252"/>
                  </a:lnTo>
                  <a:lnTo>
                    <a:pt x="1988718" y="397459"/>
                  </a:lnTo>
                  <a:lnTo>
                    <a:pt x="66243" y="397459"/>
                  </a:lnTo>
                  <a:lnTo>
                    <a:pt x="40456" y="392252"/>
                  </a:lnTo>
                  <a:lnTo>
                    <a:pt x="19400" y="378053"/>
                  </a:lnTo>
                  <a:lnTo>
                    <a:pt x="5205" y="356997"/>
                  </a:lnTo>
                  <a:lnTo>
                    <a:pt x="0" y="331216"/>
                  </a:lnTo>
                  <a:lnTo>
                    <a:pt x="0" y="66243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4599499" y="966391"/>
            <a:ext cx="1756410" cy="593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5G</a:t>
            </a:r>
            <a:r>
              <a:rPr dirty="0" sz="1400" spc="-25">
                <a:solidFill>
                  <a:srgbClr val="FFFFFF"/>
                </a:solidFill>
                <a:latin typeface="SimSun"/>
                <a:cs typeface="SimSun"/>
              </a:rPr>
              <a:t>回传带宽测算模型</a:t>
            </a:r>
            <a:endParaRPr sz="1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  <a:tabLst>
                <a:tab pos="1262380" algn="l"/>
              </a:tabLst>
            </a:pPr>
            <a:r>
              <a:rPr dirty="0" sz="900">
                <a:latin typeface="SimSun"/>
                <a:cs typeface="SimSun"/>
              </a:rPr>
              <a:t>网络层</a:t>
            </a:r>
            <a:r>
              <a:rPr dirty="0" sz="900" spc="-50">
                <a:latin typeface="SimSun"/>
                <a:cs typeface="SimSun"/>
              </a:rPr>
              <a:t>次</a:t>
            </a:r>
            <a:r>
              <a:rPr dirty="0" sz="900">
                <a:latin typeface="SimSun"/>
                <a:cs typeface="SimSun"/>
              </a:rPr>
              <a:t>	网络拓</a:t>
            </a:r>
            <a:r>
              <a:rPr dirty="0" sz="900" spc="-50">
                <a:latin typeface="SimSun"/>
                <a:cs typeface="SimSun"/>
              </a:rPr>
              <a:t>扑</a:t>
            </a:r>
            <a:endParaRPr sz="900">
              <a:latin typeface="SimSun"/>
              <a:cs typeface="SimSu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460452" y="4129099"/>
            <a:ext cx="11963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baseline="2525" sz="1650" spc="-30">
                <a:latin typeface="SimSun"/>
                <a:cs typeface="SimSun"/>
              </a:rPr>
              <a:t>均值站</a:t>
            </a:r>
            <a:r>
              <a:rPr dirty="0" sz="1100" spc="-10">
                <a:latin typeface="Microsoft YaHei"/>
                <a:cs typeface="Microsoft YaHei"/>
              </a:rPr>
              <a:t>:</a:t>
            </a:r>
            <a:r>
              <a:rPr dirty="0" baseline="2525" sz="1650" spc="-30">
                <a:latin typeface="SimSun"/>
                <a:cs typeface="SimSun"/>
              </a:rPr>
              <a:t>峰值站</a:t>
            </a:r>
            <a:r>
              <a:rPr dirty="0" sz="1100" spc="-20">
                <a:latin typeface="Microsoft YaHei"/>
                <a:cs typeface="Microsoft YaHei"/>
              </a:rPr>
              <a:t>=5:1</a:t>
            </a:r>
            <a:r>
              <a:rPr dirty="0" baseline="2525" sz="1650" spc="-104">
                <a:latin typeface="SimSun"/>
                <a:cs typeface="SimSun"/>
              </a:rPr>
              <a:t>收敛比 </a:t>
            </a:r>
            <a:r>
              <a:rPr dirty="0" sz="1100" spc="-10">
                <a:latin typeface="Microsoft YaHei"/>
                <a:cs typeface="Microsoft YaHei"/>
              </a:rPr>
              <a:t>8:4:1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322483" y="3601716"/>
            <a:ext cx="1578610" cy="316230"/>
            <a:chOff x="322483" y="3601716"/>
            <a:chExt cx="1578610" cy="316230"/>
          </a:xfrm>
        </p:grpSpPr>
        <p:sp>
          <p:nvSpPr>
            <p:cNvPr id="81" name="object 81" descr=""/>
            <p:cNvSpPr/>
            <p:nvPr/>
          </p:nvSpPr>
          <p:spPr>
            <a:xfrm>
              <a:off x="335183" y="3614416"/>
              <a:ext cx="1553210" cy="290830"/>
            </a:xfrm>
            <a:custGeom>
              <a:avLst/>
              <a:gdLst/>
              <a:ahLst/>
              <a:cxnLst/>
              <a:rect l="l" t="t" r="r" b="b"/>
              <a:pathLst>
                <a:path w="1553210" h="290829">
                  <a:moveTo>
                    <a:pt x="1504276" y="0"/>
                  </a:moveTo>
                  <a:lnTo>
                    <a:pt x="48387" y="0"/>
                  </a:lnTo>
                  <a:lnTo>
                    <a:pt x="29553" y="3802"/>
                  </a:lnTo>
                  <a:lnTo>
                    <a:pt x="14173" y="14173"/>
                  </a:lnTo>
                  <a:lnTo>
                    <a:pt x="3802" y="29553"/>
                  </a:lnTo>
                  <a:lnTo>
                    <a:pt x="0" y="48387"/>
                  </a:lnTo>
                  <a:lnTo>
                    <a:pt x="0" y="241935"/>
                  </a:lnTo>
                  <a:lnTo>
                    <a:pt x="3802" y="260768"/>
                  </a:lnTo>
                  <a:lnTo>
                    <a:pt x="14173" y="276148"/>
                  </a:lnTo>
                  <a:lnTo>
                    <a:pt x="29553" y="286519"/>
                  </a:lnTo>
                  <a:lnTo>
                    <a:pt x="48387" y="290322"/>
                  </a:lnTo>
                  <a:lnTo>
                    <a:pt x="1504276" y="290322"/>
                  </a:lnTo>
                  <a:lnTo>
                    <a:pt x="1523110" y="286519"/>
                  </a:lnTo>
                  <a:lnTo>
                    <a:pt x="1538490" y="276148"/>
                  </a:lnTo>
                  <a:lnTo>
                    <a:pt x="1548861" y="260768"/>
                  </a:lnTo>
                  <a:lnTo>
                    <a:pt x="1552663" y="241935"/>
                  </a:lnTo>
                  <a:lnTo>
                    <a:pt x="1552663" y="48387"/>
                  </a:lnTo>
                  <a:lnTo>
                    <a:pt x="1548861" y="29553"/>
                  </a:lnTo>
                  <a:lnTo>
                    <a:pt x="1538490" y="14173"/>
                  </a:lnTo>
                  <a:lnTo>
                    <a:pt x="1523110" y="3802"/>
                  </a:lnTo>
                  <a:lnTo>
                    <a:pt x="1504276" y="0"/>
                  </a:lnTo>
                  <a:close/>
                </a:path>
              </a:pathLst>
            </a:custGeom>
            <a:solidFill>
              <a:srgbClr val="003B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35183" y="3614416"/>
              <a:ext cx="1553210" cy="290830"/>
            </a:xfrm>
            <a:custGeom>
              <a:avLst/>
              <a:gdLst/>
              <a:ahLst/>
              <a:cxnLst/>
              <a:rect l="l" t="t" r="r" b="b"/>
              <a:pathLst>
                <a:path w="1553210" h="290829">
                  <a:moveTo>
                    <a:pt x="0" y="48387"/>
                  </a:moveTo>
                  <a:lnTo>
                    <a:pt x="3802" y="29553"/>
                  </a:lnTo>
                  <a:lnTo>
                    <a:pt x="14173" y="14173"/>
                  </a:lnTo>
                  <a:lnTo>
                    <a:pt x="29553" y="3802"/>
                  </a:lnTo>
                  <a:lnTo>
                    <a:pt x="48387" y="0"/>
                  </a:lnTo>
                  <a:lnTo>
                    <a:pt x="1504276" y="0"/>
                  </a:lnTo>
                  <a:lnTo>
                    <a:pt x="1523110" y="3802"/>
                  </a:lnTo>
                  <a:lnTo>
                    <a:pt x="1538490" y="14173"/>
                  </a:lnTo>
                  <a:lnTo>
                    <a:pt x="1548861" y="29553"/>
                  </a:lnTo>
                  <a:lnTo>
                    <a:pt x="1552663" y="48387"/>
                  </a:lnTo>
                  <a:lnTo>
                    <a:pt x="1552663" y="241935"/>
                  </a:lnTo>
                  <a:lnTo>
                    <a:pt x="1548861" y="260768"/>
                  </a:lnTo>
                  <a:lnTo>
                    <a:pt x="1538490" y="276148"/>
                  </a:lnTo>
                  <a:lnTo>
                    <a:pt x="1523110" y="286519"/>
                  </a:lnTo>
                  <a:lnTo>
                    <a:pt x="1504276" y="290322"/>
                  </a:lnTo>
                  <a:lnTo>
                    <a:pt x="48387" y="290322"/>
                  </a:lnTo>
                  <a:lnTo>
                    <a:pt x="29553" y="286519"/>
                  </a:lnTo>
                  <a:lnTo>
                    <a:pt x="14173" y="276148"/>
                  </a:lnTo>
                  <a:lnTo>
                    <a:pt x="3802" y="260768"/>
                  </a:lnTo>
                  <a:lnTo>
                    <a:pt x="0" y="241935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475053" y="3637149"/>
            <a:ext cx="12719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solidFill>
                  <a:srgbClr val="FFFFFF"/>
                </a:solidFill>
                <a:latin typeface="SimSun"/>
                <a:cs typeface="SimSun"/>
              </a:rPr>
              <a:t>回传网带宽需求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2232469" y="3642238"/>
            <a:ext cx="5987415" cy="838835"/>
            <a:chOff x="2232469" y="3642238"/>
            <a:chExt cx="5987415" cy="838835"/>
          </a:xfrm>
        </p:grpSpPr>
        <p:sp>
          <p:nvSpPr>
            <p:cNvPr id="85" name="object 85" descr=""/>
            <p:cNvSpPr/>
            <p:nvPr/>
          </p:nvSpPr>
          <p:spPr>
            <a:xfrm>
              <a:off x="6114819" y="3751407"/>
              <a:ext cx="2098675" cy="708025"/>
            </a:xfrm>
            <a:custGeom>
              <a:avLst/>
              <a:gdLst/>
              <a:ahLst/>
              <a:cxnLst/>
              <a:rect l="l" t="t" r="r" b="b"/>
              <a:pathLst>
                <a:path w="2098675" h="708025">
                  <a:moveTo>
                    <a:pt x="0" y="353796"/>
                  </a:moveTo>
                  <a:lnTo>
                    <a:pt x="8833" y="307675"/>
                  </a:lnTo>
                  <a:lnTo>
                    <a:pt x="34597" y="263347"/>
                  </a:lnTo>
                  <a:lnTo>
                    <a:pt x="76184" y="221185"/>
                  </a:lnTo>
                  <a:lnTo>
                    <a:pt x="132490" y="181562"/>
                  </a:lnTo>
                  <a:lnTo>
                    <a:pt x="165817" y="162819"/>
                  </a:lnTo>
                  <a:lnTo>
                    <a:pt x="202408" y="144851"/>
                  </a:lnTo>
                  <a:lnTo>
                    <a:pt x="242126" y="127705"/>
                  </a:lnTo>
                  <a:lnTo>
                    <a:pt x="284833" y="111426"/>
                  </a:lnTo>
                  <a:lnTo>
                    <a:pt x="330389" y="96062"/>
                  </a:lnTo>
                  <a:lnTo>
                    <a:pt x="378658" y="81659"/>
                  </a:lnTo>
                  <a:lnTo>
                    <a:pt x="429500" y="68264"/>
                  </a:lnTo>
                  <a:lnTo>
                    <a:pt x="482777" y="55923"/>
                  </a:lnTo>
                  <a:lnTo>
                    <a:pt x="538352" y="44683"/>
                  </a:lnTo>
                  <a:lnTo>
                    <a:pt x="596085" y="34591"/>
                  </a:lnTo>
                  <a:lnTo>
                    <a:pt x="655839" y="25694"/>
                  </a:lnTo>
                  <a:lnTo>
                    <a:pt x="717476" y="18037"/>
                  </a:lnTo>
                  <a:lnTo>
                    <a:pt x="780857" y="11668"/>
                  </a:lnTo>
                  <a:lnTo>
                    <a:pt x="845844" y="6633"/>
                  </a:lnTo>
                  <a:lnTo>
                    <a:pt x="912298" y="2979"/>
                  </a:lnTo>
                  <a:lnTo>
                    <a:pt x="980082" y="752"/>
                  </a:lnTo>
                  <a:lnTo>
                    <a:pt x="1049058" y="0"/>
                  </a:lnTo>
                  <a:lnTo>
                    <a:pt x="1118033" y="752"/>
                  </a:lnTo>
                  <a:lnTo>
                    <a:pt x="1185817" y="2979"/>
                  </a:lnTo>
                  <a:lnTo>
                    <a:pt x="1252272" y="6633"/>
                  </a:lnTo>
                  <a:lnTo>
                    <a:pt x="1317258" y="11668"/>
                  </a:lnTo>
                  <a:lnTo>
                    <a:pt x="1380639" y="18037"/>
                  </a:lnTo>
                  <a:lnTo>
                    <a:pt x="1442276" y="25694"/>
                  </a:lnTo>
                  <a:lnTo>
                    <a:pt x="1502030" y="34591"/>
                  </a:lnTo>
                  <a:lnTo>
                    <a:pt x="1559764" y="44683"/>
                  </a:lnTo>
                  <a:lnTo>
                    <a:pt x="1615338" y="55923"/>
                  </a:lnTo>
                  <a:lnTo>
                    <a:pt x="1668616" y="68264"/>
                  </a:lnTo>
                  <a:lnTo>
                    <a:pt x="1719458" y="81659"/>
                  </a:lnTo>
                  <a:lnTo>
                    <a:pt x="1767726" y="96062"/>
                  </a:lnTo>
                  <a:lnTo>
                    <a:pt x="1813283" y="111426"/>
                  </a:lnTo>
                  <a:lnTo>
                    <a:pt x="1855989" y="127705"/>
                  </a:lnTo>
                  <a:lnTo>
                    <a:pt x="1895707" y="144851"/>
                  </a:lnTo>
                  <a:lnTo>
                    <a:pt x="1932298" y="162819"/>
                  </a:lnTo>
                  <a:lnTo>
                    <a:pt x="1965625" y="181562"/>
                  </a:lnTo>
                  <a:lnTo>
                    <a:pt x="2021931" y="221185"/>
                  </a:lnTo>
                  <a:lnTo>
                    <a:pt x="2063518" y="263347"/>
                  </a:lnTo>
                  <a:lnTo>
                    <a:pt x="2089282" y="307675"/>
                  </a:lnTo>
                  <a:lnTo>
                    <a:pt x="2098116" y="353796"/>
                  </a:lnTo>
                  <a:lnTo>
                    <a:pt x="2095884" y="377059"/>
                  </a:lnTo>
                  <a:lnTo>
                    <a:pt x="2089282" y="399920"/>
                  </a:lnTo>
                  <a:lnTo>
                    <a:pt x="2063518" y="444250"/>
                  </a:lnTo>
                  <a:lnTo>
                    <a:pt x="2021931" y="486413"/>
                  </a:lnTo>
                  <a:lnTo>
                    <a:pt x="1965625" y="526036"/>
                  </a:lnTo>
                  <a:lnTo>
                    <a:pt x="1932298" y="544778"/>
                  </a:lnTo>
                  <a:lnTo>
                    <a:pt x="1895707" y="562746"/>
                  </a:lnTo>
                  <a:lnTo>
                    <a:pt x="1855989" y="579893"/>
                  </a:lnTo>
                  <a:lnTo>
                    <a:pt x="1813283" y="596171"/>
                  </a:lnTo>
                  <a:lnTo>
                    <a:pt x="1767726" y="611535"/>
                  </a:lnTo>
                  <a:lnTo>
                    <a:pt x="1719458" y="625937"/>
                  </a:lnTo>
                  <a:lnTo>
                    <a:pt x="1668616" y="639332"/>
                  </a:lnTo>
                  <a:lnTo>
                    <a:pt x="1615338" y="651672"/>
                  </a:lnTo>
                  <a:lnTo>
                    <a:pt x="1559764" y="662912"/>
                  </a:lnTo>
                  <a:lnTo>
                    <a:pt x="1502030" y="673003"/>
                  </a:lnTo>
                  <a:lnTo>
                    <a:pt x="1442276" y="681900"/>
                  </a:lnTo>
                  <a:lnTo>
                    <a:pt x="1380639" y="689556"/>
                  </a:lnTo>
                  <a:lnTo>
                    <a:pt x="1317258" y="695925"/>
                  </a:lnTo>
                  <a:lnTo>
                    <a:pt x="1252272" y="700960"/>
                  </a:lnTo>
                  <a:lnTo>
                    <a:pt x="1185817" y="704614"/>
                  </a:lnTo>
                  <a:lnTo>
                    <a:pt x="1118033" y="706840"/>
                  </a:lnTo>
                  <a:lnTo>
                    <a:pt x="1049058" y="707593"/>
                  </a:lnTo>
                  <a:lnTo>
                    <a:pt x="980082" y="706840"/>
                  </a:lnTo>
                  <a:lnTo>
                    <a:pt x="912298" y="704614"/>
                  </a:lnTo>
                  <a:lnTo>
                    <a:pt x="845844" y="700960"/>
                  </a:lnTo>
                  <a:lnTo>
                    <a:pt x="780857" y="695925"/>
                  </a:lnTo>
                  <a:lnTo>
                    <a:pt x="717476" y="689556"/>
                  </a:lnTo>
                  <a:lnTo>
                    <a:pt x="655839" y="681900"/>
                  </a:lnTo>
                  <a:lnTo>
                    <a:pt x="596085" y="673003"/>
                  </a:lnTo>
                  <a:lnTo>
                    <a:pt x="538352" y="662912"/>
                  </a:lnTo>
                  <a:lnTo>
                    <a:pt x="482777" y="651672"/>
                  </a:lnTo>
                  <a:lnTo>
                    <a:pt x="429500" y="639332"/>
                  </a:lnTo>
                  <a:lnTo>
                    <a:pt x="378658" y="625937"/>
                  </a:lnTo>
                  <a:lnTo>
                    <a:pt x="330389" y="611535"/>
                  </a:lnTo>
                  <a:lnTo>
                    <a:pt x="284833" y="596171"/>
                  </a:lnTo>
                  <a:lnTo>
                    <a:pt x="242126" y="579893"/>
                  </a:lnTo>
                  <a:lnTo>
                    <a:pt x="202408" y="562746"/>
                  </a:lnTo>
                  <a:lnTo>
                    <a:pt x="165817" y="544778"/>
                  </a:lnTo>
                  <a:lnTo>
                    <a:pt x="132490" y="526036"/>
                  </a:lnTo>
                  <a:lnTo>
                    <a:pt x="76184" y="486413"/>
                  </a:lnTo>
                  <a:lnTo>
                    <a:pt x="34597" y="444250"/>
                  </a:lnTo>
                  <a:lnTo>
                    <a:pt x="8833" y="399920"/>
                  </a:lnTo>
                  <a:lnTo>
                    <a:pt x="0" y="353796"/>
                  </a:lnTo>
                  <a:close/>
                </a:path>
              </a:pathLst>
            </a:custGeom>
            <a:ln w="127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373487" y="3751453"/>
              <a:ext cx="1915795" cy="246379"/>
            </a:xfrm>
            <a:custGeom>
              <a:avLst/>
              <a:gdLst/>
              <a:ahLst/>
              <a:cxnLst/>
              <a:rect l="l" t="t" r="r" b="b"/>
              <a:pathLst>
                <a:path w="1915795" h="246379">
                  <a:moveTo>
                    <a:pt x="0" y="239428"/>
                  </a:moveTo>
                  <a:lnTo>
                    <a:pt x="37317" y="200622"/>
                  </a:lnTo>
                  <a:lnTo>
                    <a:pt x="88917" y="164496"/>
                  </a:lnTo>
                  <a:lnTo>
                    <a:pt x="153558" y="131291"/>
                  </a:lnTo>
                  <a:lnTo>
                    <a:pt x="190379" y="115861"/>
                  </a:lnTo>
                  <a:lnTo>
                    <a:pt x="229993" y="101252"/>
                  </a:lnTo>
                  <a:lnTo>
                    <a:pt x="272246" y="87496"/>
                  </a:lnTo>
                  <a:lnTo>
                    <a:pt x="316980" y="74623"/>
                  </a:lnTo>
                  <a:lnTo>
                    <a:pt x="364041" y="62663"/>
                  </a:lnTo>
                  <a:lnTo>
                    <a:pt x="413274" y="51646"/>
                  </a:lnTo>
                  <a:lnTo>
                    <a:pt x="464522" y="41605"/>
                  </a:lnTo>
                  <a:lnTo>
                    <a:pt x="517631" y="32567"/>
                  </a:lnTo>
                  <a:lnTo>
                    <a:pt x="572444" y="24565"/>
                  </a:lnTo>
                  <a:lnTo>
                    <a:pt x="628806" y="17629"/>
                  </a:lnTo>
                  <a:lnTo>
                    <a:pt x="686563" y="11789"/>
                  </a:lnTo>
                  <a:lnTo>
                    <a:pt x="745557" y="7076"/>
                  </a:lnTo>
                  <a:lnTo>
                    <a:pt x="805634" y="3519"/>
                  </a:lnTo>
                  <a:lnTo>
                    <a:pt x="866638" y="1150"/>
                  </a:lnTo>
                  <a:lnTo>
                    <a:pt x="928413" y="0"/>
                  </a:lnTo>
                  <a:lnTo>
                    <a:pt x="990805" y="97"/>
                  </a:lnTo>
                  <a:lnTo>
                    <a:pt x="1053657" y="1474"/>
                  </a:lnTo>
                  <a:lnTo>
                    <a:pt x="1116815" y="4160"/>
                  </a:lnTo>
                  <a:lnTo>
                    <a:pt x="1180122" y="8186"/>
                  </a:lnTo>
                  <a:lnTo>
                    <a:pt x="1248468" y="14094"/>
                  </a:lnTo>
                  <a:lnTo>
                    <a:pt x="1314678" y="21467"/>
                  </a:lnTo>
                  <a:lnTo>
                    <a:pt x="1378571" y="30248"/>
                  </a:lnTo>
                  <a:lnTo>
                    <a:pt x="1439965" y="40377"/>
                  </a:lnTo>
                  <a:lnTo>
                    <a:pt x="1498678" y="51795"/>
                  </a:lnTo>
                  <a:lnTo>
                    <a:pt x="1554529" y="64445"/>
                  </a:lnTo>
                  <a:lnTo>
                    <a:pt x="1607336" y="78268"/>
                  </a:lnTo>
                  <a:lnTo>
                    <a:pt x="1656918" y="93204"/>
                  </a:lnTo>
                  <a:lnTo>
                    <a:pt x="1703092" y="109196"/>
                  </a:lnTo>
                  <a:lnTo>
                    <a:pt x="1745678" y="126185"/>
                  </a:lnTo>
                  <a:lnTo>
                    <a:pt x="1784494" y="144112"/>
                  </a:lnTo>
                  <a:lnTo>
                    <a:pt x="1819359" y="162918"/>
                  </a:lnTo>
                  <a:lnTo>
                    <a:pt x="1876506" y="202934"/>
                  </a:lnTo>
                  <a:lnTo>
                    <a:pt x="1898426" y="224027"/>
                  </a:lnTo>
                  <a:lnTo>
                    <a:pt x="1915668" y="245765"/>
                  </a:lnTo>
                </a:path>
              </a:pathLst>
            </a:custGeom>
            <a:ln w="127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238819" y="3762850"/>
              <a:ext cx="2330450" cy="648970"/>
            </a:xfrm>
            <a:custGeom>
              <a:avLst/>
              <a:gdLst/>
              <a:ahLst/>
              <a:cxnLst/>
              <a:rect l="l" t="t" r="r" b="b"/>
              <a:pathLst>
                <a:path w="2330450" h="648970">
                  <a:moveTo>
                    <a:pt x="0" y="324396"/>
                  </a:moveTo>
                  <a:lnTo>
                    <a:pt x="8423" y="285186"/>
                  </a:lnTo>
                  <a:lnTo>
                    <a:pt x="33045" y="247365"/>
                  </a:lnTo>
                  <a:lnTo>
                    <a:pt x="72890" y="211203"/>
                  </a:lnTo>
                  <a:lnTo>
                    <a:pt x="126983" y="176973"/>
                  </a:lnTo>
                  <a:lnTo>
                    <a:pt x="194349" y="144945"/>
                  </a:lnTo>
                  <a:lnTo>
                    <a:pt x="232705" y="129842"/>
                  </a:lnTo>
                  <a:lnTo>
                    <a:pt x="274013" y="115391"/>
                  </a:lnTo>
                  <a:lnTo>
                    <a:pt x="318152" y="101627"/>
                  </a:lnTo>
                  <a:lnTo>
                    <a:pt x="365000" y="88583"/>
                  </a:lnTo>
                  <a:lnTo>
                    <a:pt x="414435" y="76293"/>
                  </a:lnTo>
                  <a:lnTo>
                    <a:pt x="466336" y="64792"/>
                  </a:lnTo>
                  <a:lnTo>
                    <a:pt x="520579" y="54112"/>
                  </a:lnTo>
                  <a:lnTo>
                    <a:pt x="577044" y="44289"/>
                  </a:lnTo>
                  <a:lnTo>
                    <a:pt x="635609" y="35356"/>
                  </a:lnTo>
                  <a:lnTo>
                    <a:pt x="696151" y="27346"/>
                  </a:lnTo>
                  <a:lnTo>
                    <a:pt x="758549" y="20295"/>
                  </a:lnTo>
                  <a:lnTo>
                    <a:pt x="822681" y="14235"/>
                  </a:lnTo>
                  <a:lnTo>
                    <a:pt x="888425" y="9200"/>
                  </a:lnTo>
                  <a:lnTo>
                    <a:pt x="955659" y="5226"/>
                  </a:lnTo>
                  <a:lnTo>
                    <a:pt x="1024262" y="2345"/>
                  </a:lnTo>
                  <a:lnTo>
                    <a:pt x="1094111" y="592"/>
                  </a:lnTo>
                  <a:lnTo>
                    <a:pt x="1165085" y="0"/>
                  </a:lnTo>
                  <a:lnTo>
                    <a:pt x="1236058" y="592"/>
                  </a:lnTo>
                  <a:lnTo>
                    <a:pt x="1305908" y="2345"/>
                  </a:lnTo>
                  <a:lnTo>
                    <a:pt x="1374510" y="5226"/>
                  </a:lnTo>
                  <a:lnTo>
                    <a:pt x="1441744" y="9200"/>
                  </a:lnTo>
                  <a:lnTo>
                    <a:pt x="1507489" y="14235"/>
                  </a:lnTo>
                  <a:lnTo>
                    <a:pt x="1571621" y="20295"/>
                  </a:lnTo>
                  <a:lnTo>
                    <a:pt x="1634019" y="27346"/>
                  </a:lnTo>
                  <a:lnTo>
                    <a:pt x="1694561" y="35356"/>
                  </a:lnTo>
                  <a:lnTo>
                    <a:pt x="1753125" y="44289"/>
                  </a:lnTo>
                  <a:lnTo>
                    <a:pt x="1809590" y="54112"/>
                  </a:lnTo>
                  <a:lnTo>
                    <a:pt x="1863834" y="64792"/>
                  </a:lnTo>
                  <a:lnTo>
                    <a:pt x="1915734" y="76293"/>
                  </a:lnTo>
                  <a:lnTo>
                    <a:pt x="1965169" y="88583"/>
                  </a:lnTo>
                  <a:lnTo>
                    <a:pt x="2012017" y="101627"/>
                  </a:lnTo>
                  <a:lnTo>
                    <a:pt x="2056156" y="115391"/>
                  </a:lnTo>
                  <a:lnTo>
                    <a:pt x="2097465" y="129842"/>
                  </a:lnTo>
                  <a:lnTo>
                    <a:pt x="2135820" y="144945"/>
                  </a:lnTo>
                  <a:lnTo>
                    <a:pt x="2171102" y="160667"/>
                  </a:lnTo>
                  <a:lnTo>
                    <a:pt x="2231953" y="193830"/>
                  </a:lnTo>
                  <a:lnTo>
                    <a:pt x="2279044" y="229060"/>
                  </a:lnTo>
                  <a:lnTo>
                    <a:pt x="2311399" y="266085"/>
                  </a:lnTo>
                  <a:lnTo>
                    <a:pt x="2328044" y="304634"/>
                  </a:lnTo>
                  <a:lnTo>
                    <a:pt x="2330170" y="324396"/>
                  </a:lnTo>
                  <a:lnTo>
                    <a:pt x="2328044" y="344157"/>
                  </a:lnTo>
                  <a:lnTo>
                    <a:pt x="2321746" y="363605"/>
                  </a:lnTo>
                  <a:lnTo>
                    <a:pt x="2297124" y="401426"/>
                  </a:lnTo>
                  <a:lnTo>
                    <a:pt x="2257279" y="437588"/>
                  </a:lnTo>
                  <a:lnTo>
                    <a:pt x="2203186" y="471818"/>
                  </a:lnTo>
                  <a:lnTo>
                    <a:pt x="2135820" y="503846"/>
                  </a:lnTo>
                  <a:lnTo>
                    <a:pt x="2097465" y="518949"/>
                  </a:lnTo>
                  <a:lnTo>
                    <a:pt x="2056156" y="533400"/>
                  </a:lnTo>
                  <a:lnTo>
                    <a:pt x="2012017" y="547164"/>
                  </a:lnTo>
                  <a:lnTo>
                    <a:pt x="1965169" y="560208"/>
                  </a:lnTo>
                  <a:lnTo>
                    <a:pt x="1915734" y="572498"/>
                  </a:lnTo>
                  <a:lnTo>
                    <a:pt x="1863834" y="583999"/>
                  </a:lnTo>
                  <a:lnTo>
                    <a:pt x="1809590" y="594679"/>
                  </a:lnTo>
                  <a:lnTo>
                    <a:pt x="1753125" y="604502"/>
                  </a:lnTo>
                  <a:lnTo>
                    <a:pt x="1694561" y="613435"/>
                  </a:lnTo>
                  <a:lnTo>
                    <a:pt x="1634019" y="621445"/>
                  </a:lnTo>
                  <a:lnTo>
                    <a:pt x="1571621" y="628497"/>
                  </a:lnTo>
                  <a:lnTo>
                    <a:pt x="1507489" y="634557"/>
                  </a:lnTo>
                  <a:lnTo>
                    <a:pt x="1441744" y="639591"/>
                  </a:lnTo>
                  <a:lnTo>
                    <a:pt x="1374510" y="643565"/>
                  </a:lnTo>
                  <a:lnTo>
                    <a:pt x="1305908" y="646446"/>
                  </a:lnTo>
                  <a:lnTo>
                    <a:pt x="1236058" y="648200"/>
                  </a:lnTo>
                  <a:lnTo>
                    <a:pt x="1165085" y="648792"/>
                  </a:lnTo>
                  <a:lnTo>
                    <a:pt x="1094111" y="648200"/>
                  </a:lnTo>
                  <a:lnTo>
                    <a:pt x="1024262" y="646446"/>
                  </a:lnTo>
                  <a:lnTo>
                    <a:pt x="955659" y="643565"/>
                  </a:lnTo>
                  <a:lnTo>
                    <a:pt x="888425" y="639591"/>
                  </a:lnTo>
                  <a:lnTo>
                    <a:pt x="822681" y="634557"/>
                  </a:lnTo>
                  <a:lnTo>
                    <a:pt x="758549" y="628497"/>
                  </a:lnTo>
                  <a:lnTo>
                    <a:pt x="696151" y="621445"/>
                  </a:lnTo>
                  <a:lnTo>
                    <a:pt x="635609" y="613435"/>
                  </a:lnTo>
                  <a:lnTo>
                    <a:pt x="577044" y="604502"/>
                  </a:lnTo>
                  <a:lnTo>
                    <a:pt x="520579" y="594679"/>
                  </a:lnTo>
                  <a:lnTo>
                    <a:pt x="466336" y="583999"/>
                  </a:lnTo>
                  <a:lnTo>
                    <a:pt x="414435" y="572498"/>
                  </a:lnTo>
                  <a:lnTo>
                    <a:pt x="365000" y="560208"/>
                  </a:lnTo>
                  <a:lnTo>
                    <a:pt x="318152" y="547164"/>
                  </a:lnTo>
                  <a:lnTo>
                    <a:pt x="274013" y="533400"/>
                  </a:lnTo>
                  <a:lnTo>
                    <a:pt x="232705" y="518949"/>
                  </a:lnTo>
                  <a:lnTo>
                    <a:pt x="194349" y="503846"/>
                  </a:lnTo>
                  <a:lnTo>
                    <a:pt x="159068" y="488124"/>
                  </a:lnTo>
                  <a:lnTo>
                    <a:pt x="98217" y="454961"/>
                  </a:lnTo>
                  <a:lnTo>
                    <a:pt x="51126" y="419732"/>
                  </a:lnTo>
                  <a:lnTo>
                    <a:pt x="18771" y="382706"/>
                  </a:lnTo>
                  <a:lnTo>
                    <a:pt x="2126" y="344157"/>
                  </a:lnTo>
                  <a:lnTo>
                    <a:pt x="0" y="324396"/>
                  </a:lnTo>
                  <a:close/>
                </a:path>
              </a:pathLst>
            </a:custGeom>
            <a:ln w="127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62144" y="3642238"/>
              <a:ext cx="255616" cy="21623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03904" y="4264571"/>
              <a:ext cx="255612" cy="21623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7114" y="4244784"/>
              <a:ext cx="255610" cy="21623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7114" y="3718344"/>
              <a:ext cx="255610" cy="216232"/>
            </a:xfrm>
            <a:prstGeom prst="rect">
              <a:avLst/>
            </a:prstGeom>
          </p:spPr>
        </p:pic>
      </p:grpSp>
      <p:sp>
        <p:nvSpPr>
          <p:cNvPr id="92" name="object 92" descr=""/>
          <p:cNvSpPr txBox="1"/>
          <p:nvPr/>
        </p:nvSpPr>
        <p:spPr>
          <a:xfrm>
            <a:off x="2996214" y="3870776"/>
            <a:ext cx="894715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435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接入层</a:t>
            </a:r>
            <a:endParaRPr sz="1200">
              <a:latin typeface="SimSun"/>
              <a:cs typeface="SimSun"/>
            </a:endParaRPr>
          </a:p>
          <a:p>
            <a:pPr algn="ctr">
              <a:lnSpc>
                <a:spcPts val="1315"/>
              </a:lnSpc>
            </a:pPr>
            <a:r>
              <a:rPr dirty="0" sz="1100" spc="-10" b="1">
                <a:solidFill>
                  <a:srgbClr val="FF0000"/>
                </a:solidFill>
                <a:latin typeface="Microsoft YaHei"/>
                <a:cs typeface="Microsoft YaHei"/>
              </a:rPr>
              <a:t>25GE/100GE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4255338" y="3655491"/>
            <a:ext cx="2252345" cy="808355"/>
            <a:chOff x="4255338" y="3655491"/>
            <a:chExt cx="2252345" cy="808355"/>
          </a:xfrm>
        </p:grpSpPr>
        <p:pic>
          <p:nvPicPr>
            <p:cNvPr id="94" name="object 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6656" y="4104514"/>
              <a:ext cx="292127" cy="24712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5338" y="3775154"/>
              <a:ext cx="292128" cy="24712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50067" y="3655491"/>
              <a:ext cx="292131" cy="24712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8578" y="3778961"/>
              <a:ext cx="365159" cy="30891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41993" y="4154451"/>
              <a:ext cx="365156" cy="308912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30039" y="4211510"/>
              <a:ext cx="1767814" cy="217957"/>
            </a:xfrm>
            <a:prstGeom prst="rect">
              <a:avLst/>
            </a:prstGeom>
          </p:spPr>
        </p:pic>
      </p:grpSp>
      <p:sp>
        <p:nvSpPr>
          <p:cNvPr id="100" name="object 100" descr=""/>
          <p:cNvSpPr txBox="1"/>
          <p:nvPr/>
        </p:nvSpPr>
        <p:spPr>
          <a:xfrm>
            <a:off x="4780417" y="3892702"/>
            <a:ext cx="1167130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ts val="1435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汇聚层</a:t>
            </a:r>
            <a:endParaRPr sz="1200">
              <a:latin typeface="SimSun"/>
              <a:cs typeface="SimSun"/>
            </a:endParaRPr>
          </a:p>
          <a:p>
            <a:pPr algn="ctr">
              <a:lnSpc>
                <a:spcPts val="1315"/>
              </a:lnSpc>
            </a:pPr>
            <a:r>
              <a:rPr dirty="0" sz="1100" spc="-10" b="1">
                <a:solidFill>
                  <a:srgbClr val="FF0000"/>
                </a:solidFill>
                <a:latin typeface="Microsoft YaHei"/>
                <a:cs typeface="Microsoft YaHei"/>
              </a:rPr>
              <a:t>N*100GE/400GE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6709874" y="3870776"/>
            <a:ext cx="1167130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ts val="1435"/>
              </a:lnSpc>
              <a:spcBef>
                <a:spcPts val="100"/>
              </a:spcBef>
            </a:pPr>
            <a:r>
              <a:rPr dirty="0" sz="1200" spc="-20">
                <a:latin typeface="SimSun"/>
                <a:cs typeface="SimSun"/>
              </a:rPr>
              <a:t>核心层</a:t>
            </a:r>
            <a:endParaRPr sz="1200">
              <a:latin typeface="SimSun"/>
              <a:cs typeface="SimSun"/>
            </a:endParaRPr>
          </a:p>
          <a:p>
            <a:pPr algn="ctr">
              <a:lnSpc>
                <a:spcPts val="1315"/>
              </a:lnSpc>
            </a:pPr>
            <a:r>
              <a:rPr dirty="0" sz="1100" spc="-10" b="1">
                <a:solidFill>
                  <a:srgbClr val="FF0000"/>
                </a:solidFill>
                <a:latin typeface="Microsoft YaHei"/>
                <a:cs typeface="Microsoft YaHei"/>
              </a:rPr>
              <a:t>400GE/N*400GE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102" name="object 102" descr=""/>
          <p:cNvGrpSpPr/>
          <p:nvPr/>
        </p:nvGrpSpPr>
        <p:grpSpPr>
          <a:xfrm>
            <a:off x="5143563" y="3783648"/>
            <a:ext cx="3096260" cy="779145"/>
            <a:chOff x="5143563" y="3783648"/>
            <a:chExt cx="3096260" cy="779145"/>
          </a:xfrm>
        </p:grpSpPr>
        <p:pic>
          <p:nvPicPr>
            <p:cNvPr id="103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43563" y="4315371"/>
              <a:ext cx="292127" cy="24712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64017" y="3783648"/>
              <a:ext cx="365160" cy="30891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74496" y="4180979"/>
              <a:ext cx="365162" cy="308909"/>
            </a:xfrm>
            <a:prstGeom prst="rect">
              <a:avLst/>
            </a:prstGeom>
          </p:spPr>
        </p:pic>
      </p:grpSp>
      <p:sp>
        <p:nvSpPr>
          <p:cNvPr id="106" name="object 106" descr=""/>
          <p:cNvSpPr txBox="1"/>
          <p:nvPr/>
        </p:nvSpPr>
        <p:spPr>
          <a:xfrm>
            <a:off x="1489887" y="2545098"/>
            <a:ext cx="25380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50000"/>
              </a:lnSpc>
              <a:spcBef>
                <a:spcPts val="100"/>
              </a:spcBef>
            </a:pPr>
            <a:r>
              <a:rPr dirty="0" sz="800" spc="-10">
                <a:latin typeface="Microsoft YaHei"/>
                <a:cs typeface="Microsoft YaHei"/>
              </a:rPr>
              <a:t>*Source：5G按NGMN数据规划原则，4G</a:t>
            </a:r>
            <a:r>
              <a:rPr dirty="0" sz="800" spc="-20">
                <a:latin typeface="Microsoft YaHei"/>
                <a:cs typeface="Microsoft YaHei"/>
              </a:rPr>
              <a:t>按实际统计数据并考虑部分裕量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07" name="object 107" descr=""/>
          <p:cNvSpPr/>
          <p:nvPr/>
        </p:nvSpPr>
        <p:spPr>
          <a:xfrm>
            <a:off x="3527425" y="2360231"/>
            <a:ext cx="473709" cy="149860"/>
          </a:xfrm>
          <a:custGeom>
            <a:avLst/>
            <a:gdLst/>
            <a:ahLst/>
            <a:cxnLst/>
            <a:rect l="l" t="t" r="r" b="b"/>
            <a:pathLst>
              <a:path w="473710" h="149860">
                <a:moveTo>
                  <a:pt x="0" y="0"/>
                </a:moveTo>
                <a:lnTo>
                  <a:pt x="473303" y="0"/>
                </a:lnTo>
                <a:lnTo>
                  <a:pt x="473303" y="149390"/>
                </a:lnTo>
                <a:lnTo>
                  <a:pt x="0" y="14939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 txBox="1"/>
          <p:nvPr/>
        </p:nvSpPr>
        <p:spPr>
          <a:xfrm>
            <a:off x="179514" y="4731994"/>
            <a:ext cx="8641080" cy="292735"/>
          </a:xfrm>
          <a:prstGeom prst="rect">
            <a:avLst/>
          </a:prstGeom>
          <a:solidFill>
            <a:srgbClr val="CC6600"/>
          </a:solidFill>
        </p:spPr>
        <p:txBody>
          <a:bodyPr wrap="square" lIns="0" tIns="425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300" spc="-10">
                <a:solidFill>
                  <a:srgbClr val="FFFFFF"/>
                </a:solidFill>
                <a:latin typeface="SimSun"/>
                <a:cs typeface="SimSun"/>
              </a:rPr>
              <a:t>传输网带宽应按单站均值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2.85G</a:t>
            </a:r>
            <a:r>
              <a:rPr dirty="0" sz="1300" spc="-10">
                <a:solidFill>
                  <a:srgbClr val="FFFFFF"/>
                </a:solidFill>
                <a:latin typeface="SimSun"/>
                <a:cs typeface="SimSun"/>
              </a:rPr>
              <a:t>，峰值</a:t>
            </a: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6.23G</a:t>
            </a:r>
            <a:r>
              <a:rPr dirty="0" sz="1300" spc="-25">
                <a:solidFill>
                  <a:srgbClr val="FFFFFF"/>
                </a:solidFill>
                <a:latin typeface="SimSun"/>
                <a:cs typeface="SimSun"/>
              </a:rPr>
              <a:t>规划</a:t>
            </a:r>
            <a:endParaRPr sz="13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53560" y="895603"/>
            <a:ext cx="4191000" cy="414655"/>
          </a:xfrm>
          <a:custGeom>
            <a:avLst/>
            <a:gdLst/>
            <a:ahLst/>
            <a:cxnLst/>
            <a:rect l="l" t="t" r="r" b="b"/>
            <a:pathLst>
              <a:path w="4191000" h="414655">
                <a:moveTo>
                  <a:pt x="4121365" y="0"/>
                </a:moveTo>
                <a:lnTo>
                  <a:pt x="69049" y="0"/>
                </a:lnTo>
                <a:lnTo>
                  <a:pt x="42171" y="5425"/>
                </a:lnTo>
                <a:lnTo>
                  <a:pt x="20223" y="20223"/>
                </a:lnTo>
                <a:lnTo>
                  <a:pt x="5425" y="42171"/>
                </a:lnTo>
                <a:lnTo>
                  <a:pt x="0" y="69049"/>
                </a:lnTo>
                <a:lnTo>
                  <a:pt x="0" y="345224"/>
                </a:lnTo>
                <a:lnTo>
                  <a:pt x="5425" y="372095"/>
                </a:lnTo>
                <a:lnTo>
                  <a:pt x="20223" y="394039"/>
                </a:lnTo>
                <a:lnTo>
                  <a:pt x="42171" y="408835"/>
                </a:lnTo>
                <a:lnTo>
                  <a:pt x="69049" y="414261"/>
                </a:lnTo>
                <a:lnTo>
                  <a:pt x="4121365" y="414261"/>
                </a:lnTo>
                <a:lnTo>
                  <a:pt x="4148244" y="408835"/>
                </a:lnTo>
                <a:lnTo>
                  <a:pt x="4170192" y="394039"/>
                </a:lnTo>
                <a:lnTo>
                  <a:pt x="4184989" y="372095"/>
                </a:lnTo>
                <a:lnTo>
                  <a:pt x="4190415" y="345224"/>
                </a:lnTo>
                <a:lnTo>
                  <a:pt x="4190415" y="69049"/>
                </a:lnTo>
                <a:lnTo>
                  <a:pt x="4184989" y="42171"/>
                </a:lnTo>
                <a:lnTo>
                  <a:pt x="4170192" y="20223"/>
                </a:lnTo>
                <a:lnTo>
                  <a:pt x="4148244" y="5425"/>
                </a:lnTo>
                <a:lnTo>
                  <a:pt x="4121365" y="0"/>
                </a:lnTo>
                <a:close/>
              </a:path>
            </a:pathLst>
          </a:custGeom>
          <a:solidFill>
            <a:srgbClr val="0B4F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323622" y="968880"/>
            <a:ext cx="10502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FFFFFF"/>
                </a:solidFill>
                <a:latin typeface="Microsoft YaHei"/>
                <a:cs typeface="Microsoft YaHei"/>
              </a:rPr>
              <a:t>5G</a:t>
            </a:r>
            <a:r>
              <a:rPr dirty="0" sz="1500" spc="-15" b="1">
                <a:solidFill>
                  <a:srgbClr val="FFFFFF"/>
                </a:solidFill>
                <a:latin typeface="Microsoft YaHei"/>
                <a:cs typeface="Microsoft YaHei"/>
              </a:rPr>
              <a:t>时延需求</a:t>
            </a:r>
            <a:endParaRPr sz="15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9575" y="152654"/>
            <a:ext cx="54241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业务对传输承载的时延要求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86244" y="848617"/>
            <a:ext cx="4066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SimSun"/>
                <a:cs typeface="SimSun"/>
              </a:rPr>
              <a:t>3GPP协议中规定的时延指标：</a:t>
            </a:r>
            <a:r>
              <a:rPr dirty="0" sz="1200">
                <a:solidFill>
                  <a:srgbClr val="440DB3"/>
                </a:solidFill>
                <a:latin typeface="SimSun"/>
                <a:cs typeface="SimSun"/>
              </a:rPr>
              <a:t>eMBB场景空口用户面时延</a:t>
            </a:r>
            <a:r>
              <a:rPr dirty="0" sz="1200" spc="-20">
                <a:solidFill>
                  <a:srgbClr val="440DB3"/>
                </a:solidFill>
                <a:latin typeface="SimSun"/>
                <a:cs typeface="SimSun"/>
              </a:rPr>
              <a:t>≤4ms</a:t>
            </a:r>
            <a:endParaRPr sz="1200">
              <a:latin typeface="SimSun"/>
              <a:cs typeface="SimSu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95" y="1297609"/>
            <a:ext cx="4265342" cy="192220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07977" y="1217950"/>
            <a:ext cx="2771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imSun"/>
                <a:cs typeface="SimSun"/>
              </a:rPr>
              <a:t>IMT2020</a:t>
            </a:r>
            <a:r>
              <a:rPr dirty="0" sz="1200" spc="10">
                <a:latin typeface="SimSun"/>
                <a:cs typeface="SimSun"/>
              </a:rPr>
              <a:t> </a:t>
            </a:r>
            <a:r>
              <a:rPr dirty="0" sz="1200">
                <a:latin typeface="SimSun"/>
                <a:cs typeface="SimSun"/>
              </a:rPr>
              <a:t>5G</a:t>
            </a:r>
            <a:r>
              <a:rPr dirty="0" sz="1200" spc="-5">
                <a:latin typeface="SimSun"/>
                <a:cs typeface="SimSun"/>
              </a:rPr>
              <a:t>承载白皮书中对时延的分配：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8644" y="3162165"/>
            <a:ext cx="17805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SimSun"/>
                <a:cs typeface="SimSun"/>
              </a:rPr>
              <a:t>eMBB场景AR业务</a:t>
            </a:r>
            <a:r>
              <a:rPr dirty="0" sz="1200" spc="-10">
                <a:solidFill>
                  <a:srgbClr val="C00000"/>
                </a:solidFill>
                <a:latin typeface="SimSun"/>
                <a:cs typeface="SimSun"/>
              </a:rPr>
              <a:t>PDB：</a:t>
            </a:r>
            <a:r>
              <a:rPr dirty="0" sz="1200" spc="-10">
                <a:solidFill>
                  <a:srgbClr val="440DB3"/>
                </a:solidFill>
                <a:latin typeface="SimSun"/>
                <a:cs typeface="SimSun"/>
              </a:rPr>
              <a:t>10ms</a:t>
            </a:r>
            <a:endParaRPr sz="1200">
              <a:latin typeface="SimSun"/>
              <a:cs typeface="SimSun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223116" y="3437107"/>
          <a:ext cx="4481830" cy="96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145"/>
                <a:gridCol w="749935"/>
                <a:gridCol w="597534"/>
                <a:gridCol w="791844"/>
                <a:gridCol w="575944"/>
                <a:gridCol w="1151889"/>
              </a:tblGrid>
              <a:tr h="411480">
                <a:tc>
                  <a:txBody>
                    <a:bodyPr/>
                    <a:lstStyle/>
                    <a:p>
                      <a:pPr marL="169545">
                        <a:lnSpc>
                          <a:spcPts val="1055"/>
                        </a:lnSpc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5QI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45745" marR="107314" indent="-131445">
                        <a:lnSpc>
                          <a:spcPts val="1080"/>
                        </a:lnSpc>
                        <a:spcBef>
                          <a:spcPts val="1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Resource 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8425" marR="90170" indent="5715">
                        <a:lnSpc>
                          <a:spcPts val="1080"/>
                        </a:lnSpc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Default Priority Level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98120" marR="191770" indent="13335">
                        <a:lnSpc>
                          <a:spcPts val="1080"/>
                        </a:lnSpc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Packet Delay Budget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3505" marR="97155">
                        <a:lnSpc>
                          <a:spcPts val="1080"/>
                        </a:lnSpc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Packet Error 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055"/>
                        </a:lnSpc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80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ts val="1055"/>
                        </a:lnSpc>
                      </a:pPr>
                      <a:r>
                        <a:rPr dirty="0" sz="900" spc="-10">
                          <a:latin typeface="Arial MT"/>
                          <a:cs typeface="Arial MT"/>
                        </a:rPr>
                        <a:t>Non-</a:t>
                      </a:r>
                      <a:r>
                        <a:rPr dirty="0" sz="900" spc="-25">
                          <a:latin typeface="Arial MT"/>
                          <a:cs typeface="Arial MT"/>
                        </a:rPr>
                        <a:t>GBR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68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1055"/>
                        </a:lnSpc>
                      </a:pPr>
                      <a:r>
                        <a:rPr dirty="0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919"/>
                        </a:lnSpc>
                      </a:pPr>
                      <a:r>
                        <a:rPr dirty="0" baseline="-21604" sz="1350" spc="-15">
                          <a:latin typeface="Arial MT"/>
                          <a:cs typeface="Arial MT"/>
                        </a:rPr>
                        <a:t>10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700" spc="-60">
                          <a:latin typeface="Arial MT"/>
                          <a:cs typeface="Arial MT"/>
                        </a:rPr>
                        <a:t>6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92710">
                        <a:lnSpc>
                          <a:spcPts val="1080"/>
                        </a:lnSpc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9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Latency</a:t>
                      </a:r>
                      <a:r>
                        <a:rPr dirty="0" sz="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20">
                          <a:latin typeface="Arial MT"/>
                          <a:cs typeface="Arial MT"/>
                        </a:rPr>
                        <a:t>eMBB </a:t>
                      </a:r>
                      <a:r>
                        <a:rPr dirty="0" sz="900" spc="-10">
                          <a:latin typeface="Arial MT"/>
                          <a:cs typeface="Arial MT"/>
                        </a:rPr>
                        <a:t>applications </a:t>
                      </a:r>
                      <a:r>
                        <a:rPr dirty="0" sz="9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Augmented Reality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2344" y="1667756"/>
            <a:ext cx="1461415" cy="2536041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166600" y="2851448"/>
            <a:ext cx="443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>
                <a:latin typeface="Microsoft YaHei"/>
                <a:cs typeface="Microsoft YaHei"/>
              </a:rPr>
              <a:t>传送网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42426" y="3678783"/>
            <a:ext cx="443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>
                <a:latin typeface="SimSun"/>
                <a:cs typeface="SimSun"/>
              </a:rPr>
              <a:t>核心网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09894" y="1384715"/>
            <a:ext cx="479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Microsoft YaHei"/>
                <a:cs typeface="Microsoft YaHei"/>
              </a:rPr>
              <a:t>eMBB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83685" y="1868154"/>
            <a:ext cx="461645" cy="62928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365"/>
              </a:spcBef>
            </a:pPr>
            <a:r>
              <a:rPr dirty="0" sz="1100" spc="-25">
                <a:latin typeface="Microsoft YaHei"/>
                <a:cs typeface="Microsoft YaHei"/>
              </a:rPr>
              <a:t>RAN</a:t>
            </a:r>
            <a:endParaRPr sz="1100">
              <a:latin typeface="Microsoft YaHei"/>
              <a:cs typeface="Microsoft YaHei"/>
            </a:endParaRPr>
          </a:p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100" spc="-10">
                <a:latin typeface="Microsoft YaHei"/>
                <a:cs typeface="Microsoft YaHei"/>
              </a:rPr>
              <a:t>Latenc</a:t>
            </a:r>
            <a:endParaRPr sz="1100">
              <a:latin typeface="Microsoft YaHei"/>
              <a:cs typeface="Microsoft YaHei"/>
            </a:endParaRPr>
          </a:p>
          <a:p>
            <a:pPr algn="r" marR="5080">
              <a:lnSpc>
                <a:spcPct val="100000"/>
              </a:lnSpc>
              <a:spcBef>
                <a:spcPts val="260"/>
              </a:spcBef>
            </a:pPr>
            <a:r>
              <a:rPr dirty="0" sz="1100" spc="-50">
                <a:latin typeface="Microsoft YaHei"/>
                <a:cs typeface="Microsoft YaHei"/>
              </a:rPr>
              <a:t>y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87917" y="2720816"/>
            <a:ext cx="669925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 marR="5080" indent="-67310">
              <a:lnSpc>
                <a:spcPct val="120000"/>
              </a:lnSpc>
              <a:spcBef>
                <a:spcPts val="100"/>
              </a:spcBef>
            </a:pPr>
            <a:r>
              <a:rPr dirty="0" sz="1100" spc="-10">
                <a:latin typeface="Microsoft YaHei"/>
                <a:cs typeface="Microsoft YaHei"/>
              </a:rPr>
              <a:t>Transport Latency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125288" y="3513706"/>
            <a:ext cx="535305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7790">
              <a:lnSpc>
                <a:spcPct val="120000"/>
              </a:lnSpc>
              <a:spcBef>
                <a:spcPts val="100"/>
              </a:spcBef>
            </a:pPr>
            <a:r>
              <a:rPr dirty="0" sz="1100" spc="-20">
                <a:latin typeface="Microsoft YaHei"/>
                <a:cs typeface="Microsoft YaHei"/>
              </a:rPr>
              <a:t>Core </a:t>
            </a:r>
            <a:r>
              <a:rPr dirty="0" sz="1100" spc="-10">
                <a:latin typeface="Microsoft YaHei"/>
                <a:cs typeface="Microsoft YaHei"/>
              </a:rPr>
              <a:t>Latency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956604" y="1610707"/>
            <a:ext cx="2540" cy="353695"/>
          </a:xfrm>
          <a:custGeom>
            <a:avLst/>
            <a:gdLst/>
            <a:ahLst/>
            <a:cxnLst/>
            <a:rect l="l" t="t" r="r" b="b"/>
            <a:pathLst>
              <a:path w="2540" h="353694">
                <a:moveTo>
                  <a:pt x="2247" y="0"/>
                </a:moveTo>
                <a:lnTo>
                  <a:pt x="0" y="353415"/>
                </a:lnTo>
              </a:path>
            </a:pathLst>
          </a:custGeom>
          <a:ln w="9524">
            <a:solidFill>
              <a:srgbClr val="80808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756244" y="1996079"/>
            <a:ext cx="327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Microsoft YaHei"/>
                <a:cs typeface="Microsoft YaHei"/>
              </a:rPr>
              <a:t>4ms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743594" y="2701081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YaHei"/>
                <a:cs typeface="Microsoft YaHei"/>
              </a:rPr>
              <a:t>~1.5</a:t>
            </a:r>
            <a:endParaRPr sz="1200">
              <a:latin typeface="Microsoft YaHei"/>
              <a:cs typeface="Microsoft YaHei"/>
            </a:endParaRPr>
          </a:p>
          <a:p>
            <a:pPr marL="69850">
              <a:lnSpc>
                <a:spcPct val="100000"/>
              </a:lnSpc>
            </a:pPr>
            <a:r>
              <a:rPr dirty="0" sz="1200" spc="-25">
                <a:latin typeface="Microsoft YaHei"/>
                <a:cs typeface="Microsoft YaHei"/>
              </a:rPr>
              <a:t>ms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774989" y="3527242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YaHei"/>
                <a:cs typeface="Microsoft YaHei"/>
              </a:rPr>
              <a:t>~4.5</a:t>
            </a:r>
            <a:endParaRPr sz="1200">
              <a:latin typeface="Microsoft YaHei"/>
              <a:cs typeface="Microsoft YaHei"/>
            </a:endParaRPr>
          </a:p>
          <a:p>
            <a:pPr marL="69850">
              <a:lnSpc>
                <a:spcPct val="100000"/>
              </a:lnSpc>
            </a:pPr>
            <a:r>
              <a:rPr dirty="0" sz="1200" spc="-25">
                <a:latin typeface="Microsoft YaHei"/>
                <a:cs typeface="Microsoft YaHei"/>
              </a:rPr>
              <a:t>ms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8249170" y="2654053"/>
            <a:ext cx="282575" cy="1645920"/>
          </a:xfrm>
          <a:custGeom>
            <a:avLst/>
            <a:gdLst/>
            <a:ahLst/>
            <a:cxnLst/>
            <a:rect l="l" t="t" r="r" b="b"/>
            <a:pathLst>
              <a:path w="282575" h="1645920">
                <a:moveTo>
                  <a:pt x="0" y="0"/>
                </a:moveTo>
                <a:lnTo>
                  <a:pt x="54912" y="1847"/>
                </a:lnTo>
                <a:lnTo>
                  <a:pt x="99753" y="6886"/>
                </a:lnTo>
                <a:lnTo>
                  <a:pt x="129985" y="14358"/>
                </a:lnTo>
                <a:lnTo>
                  <a:pt x="141071" y="23507"/>
                </a:lnTo>
                <a:lnTo>
                  <a:pt x="141071" y="799439"/>
                </a:lnTo>
                <a:lnTo>
                  <a:pt x="152157" y="808588"/>
                </a:lnTo>
                <a:lnTo>
                  <a:pt x="182389" y="816060"/>
                </a:lnTo>
                <a:lnTo>
                  <a:pt x="227230" y="821099"/>
                </a:lnTo>
                <a:lnTo>
                  <a:pt x="282143" y="822947"/>
                </a:lnTo>
                <a:lnTo>
                  <a:pt x="227230" y="824795"/>
                </a:lnTo>
                <a:lnTo>
                  <a:pt x="182389" y="829833"/>
                </a:lnTo>
                <a:lnTo>
                  <a:pt x="152157" y="837306"/>
                </a:lnTo>
                <a:lnTo>
                  <a:pt x="141071" y="846455"/>
                </a:lnTo>
                <a:lnTo>
                  <a:pt x="141071" y="1622374"/>
                </a:lnTo>
                <a:lnTo>
                  <a:pt x="129985" y="1631530"/>
                </a:lnTo>
                <a:lnTo>
                  <a:pt x="99753" y="1639006"/>
                </a:lnTo>
                <a:lnTo>
                  <a:pt x="54912" y="1644046"/>
                </a:lnTo>
                <a:lnTo>
                  <a:pt x="0" y="1645894"/>
                </a:lnTo>
              </a:path>
            </a:pathLst>
          </a:custGeom>
          <a:ln w="952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8630067" y="3339331"/>
            <a:ext cx="343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0000"/>
                </a:solidFill>
                <a:latin typeface="Microsoft YaHei"/>
                <a:cs typeface="Microsoft YaHei"/>
              </a:rPr>
              <a:t>6ms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9514" y="4659985"/>
            <a:ext cx="8641080" cy="292735"/>
          </a:xfrm>
          <a:prstGeom prst="rect">
            <a:avLst/>
          </a:prstGeom>
          <a:solidFill>
            <a:srgbClr val="0070C0"/>
          </a:solidFill>
        </p:spPr>
        <p:txBody>
          <a:bodyPr wrap="square" lIns="0" tIns="42545" rIns="0" bIns="0" rtlCol="0" vert="horz">
            <a:spAutoFit/>
          </a:bodyPr>
          <a:lstStyle/>
          <a:p>
            <a:pPr marL="333375">
              <a:lnSpc>
                <a:spcPct val="100000"/>
              </a:lnSpc>
              <a:spcBef>
                <a:spcPts val="335"/>
              </a:spcBef>
            </a:pPr>
            <a:r>
              <a:rPr dirty="0" sz="1300">
                <a:solidFill>
                  <a:srgbClr val="FFFFFF"/>
                </a:solidFill>
                <a:latin typeface="SimSun"/>
                <a:cs typeface="SimSun"/>
              </a:rPr>
              <a:t>满足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eMBB</a:t>
            </a:r>
            <a:r>
              <a:rPr dirty="0" sz="1300" spc="-10">
                <a:solidFill>
                  <a:srgbClr val="FFFFFF"/>
                </a:solidFill>
                <a:latin typeface="SimSun"/>
                <a:cs typeface="SimSun"/>
              </a:rPr>
              <a:t>场景低时延业务需要保证网络与基站间的时延在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6ms</a:t>
            </a:r>
            <a:r>
              <a:rPr dirty="0" sz="1300" spc="-10">
                <a:solidFill>
                  <a:srgbClr val="FFFFFF"/>
                </a:solidFill>
                <a:latin typeface="SimSun"/>
                <a:cs typeface="SimSun"/>
              </a:rPr>
              <a:t>以内，当不需要支持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dirty="0" sz="1300" spc="-15">
                <a:solidFill>
                  <a:srgbClr val="FFFFFF"/>
                </a:solidFill>
                <a:latin typeface="SimSun"/>
                <a:cs typeface="SimSun"/>
              </a:rPr>
              <a:t>类业务时，时延可放宽</a:t>
            </a:r>
            <a:endParaRPr sz="13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3805" y="112660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前传的挑战：光纤资源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318062" y="1452722"/>
            <a:ext cx="3051175" cy="1365250"/>
            <a:chOff x="5318062" y="1452722"/>
            <a:chExt cx="3051175" cy="1365250"/>
          </a:xfrm>
        </p:grpSpPr>
        <p:sp>
          <p:nvSpPr>
            <p:cNvPr id="4" name="object 4" descr=""/>
            <p:cNvSpPr/>
            <p:nvPr/>
          </p:nvSpPr>
          <p:spPr>
            <a:xfrm>
              <a:off x="5346637" y="1481297"/>
              <a:ext cx="2226310" cy="1155065"/>
            </a:xfrm>
            <a:custGeom>
              <a:avLst/>
              <a:gdLst/>
              <a:ahLst/>
              <a:cxnLst/>
              <a:rect l="l" t="t" r="r" b="b"/>
              <a:pathLst>
                <a:path w="2226309" h="1155064">
                  <a:moveTo>
                    <a:pt x="0" y="577291"/>
                  </a:moveTo>
                  <a:lnTo>
                    <a:pt x="6985" y="512252"/>
                  </a:lnTo>
                  <a:lnTo>
                    <a:pt x="27439" y="449325"/>
                  </a:lnTo>
                  <a:lnTo>
                    <a:pt x="60611" y="388902"/>
                  </a:lnTo>
                  <a:lnTo>
                    <a:pt x="105749" y="331371"/>
                  </a:lnTo>
                  <a:lnTo>
                    <a:pt x="132570" y="303812"/>
                  </a:lnTo>
                  <a:lnTo>
                    <a:pt x="162100" y="277122"/>
                  </a:lnTo>
                  <a:lnTo>
                    <a:pt x="194247" y="251350"/>
                  </a:lnTo>
                  <a:lnTo>
                    <a:pt x="228915" y="226545"/>
                  </a:lnTo>
                  <a:lnTo>
                    <a:pt x="266011" y="202756"/>
                  </a:lnTo>
                  <a:lnTo>
                    <a:pt x="305440" y="180031"/>
                  </a:lnTo>
                  <a:lnTo>
                    <a:pt x="347109" y="158419"/>
                  </a:lnTo>
                  <a:lnTo>
                    <a:pt x="390924" y="137968"/>
                  </a:lnTo>
                  <a:lnTo>
                    <a:pt x="436791" y="118728"/>
                  </a:lnTo>
                  <a:lnTo>
                    <a:pt x="484616" y="100747"/>
                  </a:lnTo>
                  <a:lnTo>
                    <a:pt x="534305" y="84074"/>
                  </a:lnTo>
                  <a:lnTo>
                    <a:pt x="585764" y="68758"/>
                  </a:lnTo>
                  <a:lnTo>
                    <a:pt x="638899" y="54847"/>
                  </a:lnTo>
                  <a:lnTo>
                    <a:pt x="693616" y="42390"/>
                  </a:lnTo>
                  <a:lnTo>
                    <a:pt x="749821" y="31436"/>
                  </a:lnTo>
                  <a:lnTo>
                    <a:pt x="807420" y="22033"/>
                  </a:lnTo>
                  <a:lnTo>
                    <a:pt x="866320" y="14231"/>
                  </a:lnTo>
                  <a:lnTo>
                    <a:pt x="926425" y="8078"/>
                  </a:lnTo>
                  <a:lnTo>
                    <a:pt x="987643" y="3622"/>
                  </a:lnTo>
                  <a:lnTo>
                    <a:pt x="1049880" y="913"/>
                  </a:lnTo>
                  <a:lnTo>
                    <a:pt x="1113040" y="0"/>
                  </a:lnTo>
                  <a:lnTo>
                    <a:pt x="1176188" y="913"/>
                  </a:lnTo>
                  <a:lnTo>
                    <a:pt x="1238424" y="3622"/>
                  </a:lnTo>
                  <a:lnTo>
                    <a:pt x="1299642" y="8078"/>
                  </a:lnTo>
                  <a:lnTo>
                    <a:pt x="1359748" y="14231"/>
                  </a:lnTo>
                  <a:lnTo>
                    <a:pt x="1418648" y="22033"/>
                  </a:lnTo>
                  <a:lnTo>
                    <a:pt x="1476247" y="31436"/>
                  </a:lnTo>
                  <a:lnTo>
                    <a:pt x="1532452" y="42390"/>
                  </a:lnTo>
                  <a:lnTo>
                    <a:pt x="1587169" y="54847"/>
                  </a:lnTo>
                  <a:lnTo>
                    <a:pt x="1640304" y="68758"/>
                  </a:lnTo>
                  <a:lnTo>
                    <a:pt x="1691763" y="84074"/>
                  </a:lnTo>
                  <a:lnTo>
                    <a:pt x="1741451" y="100747"/>
                  </a:lnTo>
                  <a:lnTo>
                    <a:pt x="1789276" y="118728"/>
                  </a:lnTo>
                  <a:lnTo>
                    <a:pt x="1835143" y="137968"/>
                  </a:lnTo>
                  <a:lnTo>
                    <a:pt x="1878958" y="158419"/>
                  </a:lnTo>
                  <a:lnTo>
                    <a:pt x="1920628" y="180031"/>
                  </a:lnTo>
                  <a:lnTo>
                    <a:pt x="1960057" y="202756"/>
                  </a:lnTo>
                  <a:lnTo>
                    <a:pt x="1997153" y="226545"/>
                  </a:lnTo>
                  <a:lnTo>
                    <a:pt x="2031821" y="251350"/>
                  </a:lnTo>
                  <a:lnTo>
                    <a:pt x="2063967" y="277122"/>
                  </a:lnTo>
                  <a:lnTo>
                    <a:pt x="2093498" y="303812"/>
                  </a:lnTo>
                  <a:lnTo>
                    <a:pt x="2120319" y="331371"/>
                  </a:lnTo>
                  <a:lnTo>
                    <a:pt x="2165457" y="388902"/>
                  </a:lnTo>
                  <a:lnTo>
                    <a:pt x="2198629" y="449325"/>
                  </a:lnTo>
                  <a:lnTo>
                    <a:pt x="2219083" y="512252"/>
                  </a:lnTo>
                  <a:lnTo>
                    <a:pt x="2226068" y="577291"/>
                  </a:lnTo>
                  <a:lnTo>
                    <a:pt x="2224306" y="610050"/>
                  </a:lnTo>
                  <a:lnTo>
                    <a:pt x="2219083" y="642330"/>
                  </a:lnTo>
                  <a:lnTo>
                    <a:pt x="2198629" y="705257"/>
                  </a:lnTo>
                  <a:lnTo>
                    <a:pt x="2165457" y="765681"/>
                  </a:lnTo>
                  <a:lnTo>
                    <a:pt x="2120319" y="823213"/>
                  </a:lnTo>
                  <a:lnTo>
                    <a:pt x="2093498" y="850773"/>
                  </a:lnTo>
                  <a:lnTo>
                    <a:pt x="2063968" y="877463"/>
                  </a:lnTo>
                  <a:lnTo>
                    <a:pt x="2031822" y="903235"/>
                  </a:lnTo>
                  <a:lnTo>
                    <a:pt x="1997154" y="928041"/>
                  </a:lnTo>
                  <a:lnTo>
                    <a:pt x="1960058" y="951831"/>
                  </a:lnTo>
                  <a:lnTo>
                    <a:pt x="1920629" y="974557"/>
                  </a:lnTo>
                  <a:lnTo>
                    <a:pt x="1878960" y="996169"/>
                  </a:lnTo>
                  <a:lnTo>
                    <a:pt x="1835145" y="1016621"/>
                  </a:lnTo>
                  <a:lnTo>
                    <a:pt x="1789279" y="1035861"/>
                  </a:lnTo>
                  <a:lnTo>
                    <a:pt x="1741454" y="1053843"/>
                  </a:lnTo>
                  <a:lnTo>
                    <a:pt x="1691766" y="1070516"/>
                  </a:lnTo>
                  <a:lnTo>
                    <a:pt x="1640308" y="1085833"/>
                  </a:lnTo>
                  <a:lnTo>
                    <a:pt x="1587174" y="1099745"/>
                  </a:lnTo>
                  <a:lnTo>
                    <a:pt x="1532457" y="1112202"/>
                  </a:lnTo>
                  <a:lnTo>
                    <a:pt x="1476253" y="1123157"/>
                  </a:lnTo>
                  <a:lnTo>
                    <a:pt x="1418655" y="1132560"/>
                  </a:lnTo>
                  <a:lnTo>
                    <a:pt x="1359756" y="1140362"/>
                  </a:lnTo>
                  <a:lnTo>
                    <a:pt x="1299652" y="1146516"/>
                  </a:lnTo>
                  <a:lnTo>
                    <a:pt x="1238435" y="1150972"/>
                  </a:lnTo>
                  <a:lnTo>
                    <a:pt x="1176200" y="1153681"/>
                  </a:lnTo>
                  <a:lnTo>
                    <a:pt x="1113040" y="1154595"/>
                  </a:lnTo>
                  <a:lnTo>
                    <a:pt x="1049880" y="1153681"/>
                  </a:lnTo>
                  <a:lnTo>
                    <a:pt x="987643" y="1150972"/>
                  </a:lnTo>
                  <a:lnTo>
                    <a:pt x="926425" y="1146516"/>
                  </a:lnTo>
                  <a:lnTo>
                    <a:pt x="866320" y="1140362"/>
                  </a:lnTo>
                  <a:lnTo>
                    <a:pt x="807420" y="1132560"/>
                  </a:lnTo>
                  <a:lnTo>
                    <a:pt x="749821" y="1123157"/>
                  </a:lnTo>
                  <a:lnTo>
                    <a:pt x="693616" y="1112202"/>
                  </a:lnTo>
                  <a:lnTo>
                    <a:pt x="638899" y="1099745"/>
                  </a:lnTo>
                  <a:lnTo>
                    <a:pt x="585764" y="1085833"/>
                  </a:lnTo>
                  <a:lnTo>
                    <a:pt x="534305" y="1070516"/>
                  </a:lnTo>
                  <a:lnTo>
                    <a:pt x="484616" y="1053843"/>
                  </a:lnTo>
                  <a:lnTo>
                    <a:pt x="436791" y="1035861"/>
                  </a:lnTo>
                  <a:lnTo>
                    <a:pt x="390924" y="1016621"/>
                  </a:lnTo>
                  <a:lnTo>
                    <a:pt x="347109" y="996169"/>
                  </a:lnTo>
                  <a:lnTo>
                    <a:pt x="305440" y="974557"/>
                  </a:lnTo>
                  <a:lnTo>
                    <a:pt x="266011" y="951831"/>
                  </a:lnTo>
                  <a:lnTo>
                    <a:pt x="228915" y="928041"/>
                  </a:lnTo>
                  <a:lnTo>
                    <a:pt x="194247" y="903235"/>
                  </a:lnTo>
                  <a:lnTo>
                    <a:pt x="162100" y="877463"/>
                  </a:lnTo>
                  <a:lnTo>
                    <a:pt x="132570" y="850773"/>
                  </a:lnTo>
                  <a:lnTo>
                    <a:pt x="105749" y="823213"/>
                  </a:lnTo>
                  <a:lnTo>
                    <a:pt x="60611" y="765681"/>
                  </a:lnTo>
                  <a:lnTo>
                    <a:pt x="27439" y="705257"/>
                  </a:lnTo>
                  <a:lnTo>
                    <a:pt x="6985" y="642330"/>
                  </a:lnTo>
                  <a:lnTo>
                    <a:pt x="0" y="577291"/>
                  </a:lnTo>
                  <a:close/>
                </a:path>
              </a:pathLst>
            </a:custGeom>
            <a:ln w="5714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50364" y="1744125"/>
              <a:ext cx="1718945" cy="1073785"/>
            </a:xfrm>
            <a:custGeom>
              <a:avLst/>
              <a:gdLst/>
              <a:ahLst/>
              <a:cxnLst/>
              <a:rect l="l" t="t" r="r" b="b"/>
              <a:pathLst>
                <a:path w="1718945" h="1073785">
                  <a:moveTo>
                    <a:pt x="1153096" y="0"/>
                  </a:moveTo>
                  <a:lnTo>
                    <a:pt x="1153096" y="177977"/>
                  </a:lnTo>
                  <a:lnTo>
                    <a:pt x="827277" y="9855"/>
                  </a:lnTo>
                  <a:lnTo>
                    <a:pt x="0" y="443395"/>
                  </a:lnTo>
                  <a:lnTo>
                    <a:pt x="158038" y="443395"/>
                  </a:lnTo>
                  <a:lnTo>
                    <a:pt x="158038" y="1073594"/>
                  </a:lnTo>
                  <a:lnTo>
                    <a:pt x="1569580" y="1073594"/>
                  </a:lnTo>
                  <a:lnTo>
                    <a:pt x="1569580" y="443395"/>
                  </a:lnTo>
                  <a:lnTo>
                    <a:pt x="1718690" y="443395"/>
                  </a:lnTo>
                  <a:lnTo>
                    <a:pt x="1343075" y="276313"/>
                  </a:lnTo>
                  <a:lnTo>
                    <a:pt x="1343075" y="2070"/>
                  </a:lnTo>
                  <a:lnTo>
                    <a:pt x="1153096" y="0"/>
                  </a:lnTo>
                  <a:close/>
                </a:path>
              </a:pathLst>
            </a:custGeom>
            <a:solidFill>
              <a:srgbClr val="C1C1C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129443" y="1980205"/>
            <a:ext cx="14770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20">
                <a:latin typeface="Microsoft YaHei"/>
                <a:cs typeface="Microsoft YaHei"/>
              </a:rPr>
              <a:t>综合业务接入点（</a:t>
            </a:r>
            <a:r>
              <a:rPr dirty="0" sz="1100" spc="-20">
                <a:latin typeface="Arial MT"/>
                <a:cs typeface="Arial MT"/>
              </a:rPr>
              <a:t>CO</a:t>
            </a:r>
            <a:r>
              <a:rPr dirty="0" sz="1100" spc="-20">
                <a:latin typeface="Microsoft YaHei"/>
                <a:cs typeface="Microsoft YaHei"/>
              </a:rPr>
              <a:t>）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148405" y="2382431"/>
            <a:ext cx="4078604" cy="890269"/>
            <a:chOff x="4148405" y="2382431"/>
            <a:chExt cx="4078604" cy="89026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0550" y="2544216"/>
              <a:ext cx="363139" cy="1239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2070" y="2492603"/>
              <a:ext cx="363139" cy="12399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2571" y="2437486"/>
              <a:ext cx="363137" cy="124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7909" y="2382431"/>
              <a:ext cx="363139" cy="1239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6270" y="2542921"/>
              <a:ext cx="420127" cy="14051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148405" y="2511286"/>
              <a:ext cx="1424305" cy="745490"/>
            </a:xfrm>
            <a:custGeom>
              <a:avLst/>
              <a:gdLst/>
              <a:ahLst/>
              <a:cxnLst/>
              <a:rect l="l" t="t" r="r" b="b"/>
              <a:pathLst>
                <a:path w="1424304" h="745489">
                  <a:moveTo>
                    <a:pt x="712127" y="0"/>
                  </a:moveTo>
                  <a:lnTo>
                    <a:pt x="650682" y="1367"/>
                  </a:lnTo>
                  <a:lnTo>
                    <a:pt x="590689" y="5394"/>
                  </a:lnTo>
                  <a:lnTo>
                    <a:pt x="532361" y="11969"/>
                  </a:lnTo>
                  <a:lnTo>
                    <a:pt x="475911" y="20980"/>
                  </a:lnTo>
                  <a:lnTo>
                    <a:pt x="421555" y="32316"/>
                  </a:lnTo>
                  <a:lnTo>
                    <a:pt x="369504" y="45865"/>
                  </a:lnTo>
                  <a:lnTo>
                    <a:pt x="319974" y="61514"/>
                  </a:lnTo>
                  <a:lnTo>
                    <a:pt x="273178" y="79153"/>
                  </a:lnTo>
                  <a:lnTo>
                    <a:pt x="229330" y="98669"/>
                  </a:lnTo>
                  <a:lnTo>
                    <a:pt x="188643" y="119950"/>
                  </a:lnTo>
                  <a:lnTo>
                    <a:pt x="151331" y="142885"/>
                  </a:lnTo>
                  <a:lnTo>
                    <a:pt x="117609" y="167361"/>
                  </a:lnTo>
                  <a:lnTo>
                    <a:pt x="87689" y="193268"/>
                  </a:lnTo>
                  <a:lnTo>
                    <a:pt x="40113" y="248924"/>
                  </a:lnTo>
                  <a:lnTo>
                    <a:pt x="10313" y="308959"/>
                  </a:lnTo>
                  <a:lnTo>
                    <a:pt x="0" y="372478"/>
                  </a:lnTo>
                  <a:lnTo>
                    <a:pt x="2613" y="404617"/>
                  </a:lnTo>
                  <a:lnTo>
                    <a:pt x="22884" y="466505"/>
                  </a:lnTo>
                  <a:lnTo>
                    <a:pt x="61786" y="524462"/>
                  </a:lnTo>
                  <a:lnTo>
                    <a:pt x="117609" y="577594"/>
                  </a:lnTo>
                  <a:lnTo>
                    <a:pt x="151331" y="602071"/>
                  </a:lnTo>
                  <a:lnTo>
                    <a:pt x="188643" y="625006"/>
                  </a:lnTo>
                  <a:lnTo>
                    <a:pt x="229330" y="646287"/>
                  </a:lnTo>
                  <a:lnTo>
                    <a:pt x="273178" y="665803"/>
                  </a:lnTo>
                  <a:lnTo>
                    <a:pt x="319974" y="683441"/>
                  </a:lnTo>
                  <a:lnTo>
                    <a:pt x="369504" y="699091"/>
                  </a:lnTo>
                  <a:lnTo>
                    <a:pt x="421555" y="712639"/>
                  </a:lnTo>
                  <a:lnTo>
                    <a:pt x="475911" y="723975"/>
                  </a:lnTo>
                  <a:lnTo>
                    <a:pt x="532361" y="732987"/>
                  </a:lnTo>
                  <a:lnTo>
                    <a:pt x="590689" y="739562"/>
                  </a:lnTo>
                  <a:lnTo>
                    <a:pt x="650682" y="743589"/>
                  </a:lnTo>
                  <a:lnTo>
                    <a:pt x="712127" y="744956"/>
                  </a:lnTo>
                  <a:lnTo>
                    <a:pt x="773571" y="743589"/>
                  </a:lnTo>
                  <a:lnTo>
                    <a:pt x="833564" y="739562"/>
                  </a:lnTo>
                  <a:lnTo>
                    <a:pt x="891892" y="732987"/>
                  </a:lnTo>
                  <a:lnTo>
                    <a:pt x="948340" y="723975"/>
                  </a:lnTo>
                  <a:lnTo>
                    <a:pt x="1002696" y="712639"/>
                  </a:lnTo>
                  <a:lnTo>
                    <a:pt x="1054746" y="699091"/>
                  </a:lnTo>
                  <a:lnTo>
                    <a:pt x="1104275" y="683441"/>
                  </a:lnTo>
                  <a:lnTo>
                    <a:pt x="1151070" y="665803"/>
                  </a:lnTo>
                  <a:lnTo>
                    <a:pt x="1194917" y="646287"/>
                  </a:lnTo>
                  <a:lnTo>
                    <a:pt x="1235603" y="625006"/>
                  </a:lnTo>
                  <a:lnTo>
                    <a:pt x="1272914" y="602071"/>
                  </a:lnTo>
                  <a:lnTo>
                    <a:pt x="1306636" y="577594"/>
                  </a:lnTo>
                  <a:lnTo>
                    <a:pt x="1336555" y="551687"/>
                  </a:lnTo>
                  <a:lnTo>
                    <a:pt x="1384129" y="496031"/>
                  </a:lnTo>
                  <a:lnTo>
                    <a:pt x="1413928" y="435996"/>
                  </a:lnTo>
                  <a:lnTo>
                    <a:pt x="1424241" y="372478"/>
                  </a:lnTo>
                  <a:lnTo>
                    <a:pt x="1421627" y="340339"/>
                  </a:lnTo>
                  <a:lnTo>
                    <a:pt x="1401358" y="278450"/>
                  </a:lnTo>
                  <a:lnTo>
                    <a:pt x="1362457" y="220493"/>
                  </a:lnTo>
                  <a:lnTo>
                    <a:pt x="1306636" y="167361"/>
                  </a:lnTo>
                  <a:lnTo>
                    <a:pt x="1272914" y="142885"/>
                  </a:lnTo>
                  <a:lnTo>
                    <a:pt x="1235603" y="119950"/>
                  </a:lnTo>
                  <a:lnTo>
                    <a:pt x="1194917" y="98669"/>
                  </a:lnTo>
                  <a:lnTo>
                    <a:pt x="1151070" y="79153"/>
                  </a:lnTo>
                  <a:lnTo>
                    <a:pt x="1104275" y="61514"/>
                  </a:lnTo>
                  <a:lnTo>
                    <a:pt x="1054746" y="45865"/>
                  </a:lnTo>
                  <a:lnTo>
                    <a:pt x="1002696" y="32316"/>
                  </a:lnTo>
                  <a:lnTo>
                    <a:pt x="948340" y="20980"/>
                  </a:lnTo>
                  <a:lnTo>
                    <a:pt x="891892" y="11969"/>
                  </a:lnTo>
                  <a:lnTo>
                    <a:pt x="833564" y="5394"/>
                  </a:lnTo>
                  <a:lnTo>
                    <a:pt x="773571" y="1367"/>
                  </a:lnTo>
                  <a:lnTo>
                    <a:pt x="712127" y="0"/>
                  </a:lnTo>
                  <a:close/>
                </a:path>
              </a:pathLst>
            </a:custGeom>
            <a:solidFill>
              <a:srgbClr val="BFE1EB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8838" y="2713596"/>
              <a:ext cx="279634" cy="5585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3856" y="2692353"/>
              <a:ext cx="108262" cy="15854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9457" y="2556586"/>
              <a:ext cx="108261" cy="1585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7823" y="2689661"/>
              <a:ext cx="108261" cy="158542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511043" y="2695934"/>
            <a:ext cx="6724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4495" algn="l"/>
              </a:tabLst>
            </a:pPr>
            <a:r>
              <a:rPr dirty="0" sz="1000" spc="-25">
                <a:latin typeface="Arial MT"/>
                <a:cs typeface="Arial MT"/>
              </a:rPr>
              <a:t>BBU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baseline="2777" sz="1500" spc="-37">
                <a:latin typeface="Arial MT"/>
                <a:cs typeface="Arial MT"/>
              </a:rPr>
              <a:t>PTN</a:t>
            </a:r>
            <a:endParaRPr baseline="2777" sz="15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67772" y="2529547"/>
            <a:ext cx="3160395" cy="763905"/>
            <a:chOff x="667772" y="2529547"/>
            <a:chExt cx="3160395" cy="763905"/>
          </a:xfrm>
        </p:grpSpPr>
        <p:sp>
          <p:nvSpPr>
            <p:cNvPr id="20" name="object 20" descr=""/>
            <p:cNvSpPr/>
            <p:nvPr/>
          </p:nvSpPr>
          <p:spPr>
            <a:xfrm>
              <a:off x="2403415" y="2529547"/>
              <a:ext cx="1424305" cy="745490"/>
            </a:xfrm>
            <a:custGeom>
              <a:avLst/>
              <a:gdLst/>
              <a:ahLst/>
              <a:cxnLst/>
              <a:rect l="l" t="t" r="r" b="b"/>
              <a:pathLst>
                <a:path w="1424304" h="745489">
                  <a:moveTo>
                    <a:pt x="712127" y="0"/>
                  </a:moveTo>
                  <a:lnTo>
                    <a:pt x="650682" y="1367"/>
                  </a:lnTo>
                  <a:lnTo>
                    <a:pt x="590689" y="5394"/>
                  </a:lnTo>
                  <a:lnTo>
                    <a:pt x="532361" y="11969"/>
                  </a:lnTo>
                  <a:lnTo>
                    <a:pt x="475911" y="20980"/>
                  </a:lnTo>
                  <a:lnTo>
                    <a:pt x="421555" y="32316"/>
                  </a:lnTo>
                  <a:lnTo>
                    <a:pt x="369504" y="45865"/>
                  </a:lnTo>
                  <a:lnTo>
                    <a:pt x="319974" y="61514"/>
                  </a:lnTo>
                  <a:lnTo>
                    <a:pt x="273178" y="79153"/>
                  </a:lnTo>
                  <a:lnTo>
                    <a:pt x="229330" y="98669"/>
                  </a:lnTo>
                  <a:lnTo>
                    <a:pt x="188643" y="119950"/>
                  </a:lnTo>
                  <a:lnTo>
                    <a:pt x="151331" y="142885"/>
                  </a:lnTo>
                  <a:lnTo>
                    <a:pt x="117609" y="167361"/>
                  </a:lnTo>
                  <a:lnTo>
                    <a:pt x="87689" y="193268"/>
                  </a:lnTo>
                  <a:lnTo>
                    <a:pt x="40113" y="248924"/>
                  </a:lnTo>
                  <a:lnTo>
                    <a:pt x="10313" y="308959"/>
                  </a:lnTo>
                  <a:lnTo>
                    <a:pt x="0" y="372478"/>
                  </a:lnTo>
                  <a:lnTo>
                    <a:pt x="2613" y="404617"/>
                  </a:lnTo>
                  <a:lnTo>
                    <a:pt x="22884" y="466505"/>
                  </a:lnTo>
                  <a:lnTo>
                    <a:pt x="61786" y="524462"/>
                  </a:lnTo>
                  <a:lnTo>
                    <a:pt x="117609" y="577594"/>
                  </a:lnTo>
                  <a:lnTo>
                    <a:pt x="151331" y="602071"/>
                  </a:lnTo>
                  <a:lnTo>
                    <a:pt x="188643" y="625006"/>
                  </a:lnTo>
                  <a:lnTo>
                    <a:pt x="229330" y="646287"/>
                  </a:lnTo>
                  <a:lnTo>
                    <a:pt x="273178" y="665803"/>
                  </a:lnTo>
                  <a:lnTo>
                    <a:pt x="319974" y="683441"/>
                  </a:lnTo>
                  <a:lnTo>
                    <a:pt x="369504" y="699091"/>
                  </a:lnTo>
                  <a:lnTo>
                    <a:pt x="421555" y="712639"/>
                  </a:lnTo>
                  <a:lnTo>
                    <a:pt x="475911" y="723975"/>
                  </a:lnTo>
                  <a:lnTo>
                    <a:pt x="532361" y="732987"/>
                  </a:lnTo>
                  <a:lnTo>
                    <a:pt x="590689" y="739562"/>
                  </a:lnTo>
                  <a:lnTo>
                    <a:pt x="650682" y="743589"/>
                  </a:lnTo>
                  <a:lnTo>
                    <a:pt x="712127" y="744956"/>
                  </a:lnTo>
                  <a:lnTo>
                    <a:pt x="773571" y="743589"/>
                  </a:lnTo>
                  <a:lnTo>
                    <a:pt x="833564" y="739562"/>
                  </a:lnTo>
                  <a:lnTo>
                    <a:pt x="891892" y="732987"/>
                  </a:lnTo>
                  <a:lnTo>
                    <a:pt x="948340" y="723975"/>
                  </a:lnTo>
                  <a:lnTo>
                    <a:pt x="1002696" y="712639"/>
                  </a:lnTo>
                  <a:lnTo>
                    <a:pt x="1054746" y="699091"/>
                  </a:lnTo>
                  <a:lnTo>
                    <a:pt x="1104275" y="683441"/>
                  </a:lnTo>
                  <a:lnTo>
                    <a:pt x="1151070" y="665803"/>
                  </a:lnTo>
                  <a:lnTo>
                    <a:pt x="1194917" y="646287"/>
                  </a:lnTo>
                  <a:lnTo>
                    <a:pt x="1235603" y="625006"/>
                  </a:lnTo>
                  <a:lnTo>
                    <a:pt x="1272914" y="602071"/>
                  </a:lnTo>
                  <a:lnTo>
                    <a:pt x="1306636" y="577594"/>
                  </a:lnTo>
                  <a:lnTo>
                    <a:pt x="1336555" y="551687"/>
                  </a:lnTo>
                  <a:lnTo>
                    <a:pt x="1384129" y="496031"/>
                  </a:lnTo>
                  <a:lnTo>
                    <a:pt x="1413928" y="435996"/>
                  </a:lnTo>
                  <a:lnTo>
                    <a:pt x="1424241" y="372478"/>
                  </a:lnTo>
                  <a:lnTo>
                    <a:pt x="1421627" y="340339"/>
                  </a:lnTo>
                  <a:lnTo>
                    <a:pt x="1401358" y="278450"/>
                  </a:lnTo>
                  <a:lnTo>
                    <a:pt x="1362457" y="220493"/>
                  </a:lnTo>
                  <a:lnTo>
                    <a:pt x="1306636" y="167361"/>
                  </a:lnTo>
                  <a:lnTo>
                    <a:pt x="1272914" y="142885"/>
                  </a:lnTo>
                  <a:lnTo>
                    <a:pt x="1235603" y="119950"/>
                  </a:lnTo>
                  <a:lnTo>
                    <a:pt x="1194917" y="98669"/>
                  </a:lnTo>
                  <a:lnTo>
                    <a:pt x="1151070" y="79153"/>
                  </a:lnTo>
                  <a:lnTo>
                    <a:pt x="1104275" y="61514"/>
                  </a:lnTo>
                  <a:lnTo>
                    <a:pt x="1054746" y="45865"/>
                  </a:lnTo>
                  <a:lnTo>
                    <a:pt x="1002696" y="32316"/>
                  </a:lnTo>
                  <a:lnTo>
                    <a:pt x="948340" y="20980"/>
                  </a:lnTo>
                  <a:lnTo>
                    <a:pt x="891892" y="11969"/>
                  </a:lnTo>
                  <a:lnTo>
                    <a:pt x="833564" y="5394"/>
                  </a:lnTo>
                  <a:lnTo>
                    <a:pt x="773571" y="1367"/>
                  </a:lnTo>
                  <a:lnTo>
                    <a:pt x="712127" y="0"/>
                  </a:lnTo>
                  <a:close/>
                </a:path>
              </a:pathLst>
            </a:custGeom>
            <a:solidFill>
              <a:srgbClr val="BFE1EB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3852" y="2731858"/>
              <a:ext cx="279641" cy="55857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8866" y="2710615"/>
              <a:ext cx="108263" cy="15854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4471" y="2574848"/>
              <a:ext cx="108257" cy="158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2838" y="2707923"/>
              <a:ext cx="108258" cy="158542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67772" y="2532152"/>
              <a:ext cx="1424305" cy="745490"/>
            </a:xfrm>
            <a:custGeom>
              <a:avLst/>
              <a:gdLst/>
              <a:ahLst/>
              <a:cxnLst/>
              <a:rect l="l" t="t" r="r" b="b"/>
              <a:pathLst>
                <a:path w="1424305" h="745489">
                  <a:moveTo>
                    <a:pt x="712127" y="0"/>
                  </a:moveTo>
                  <a:lnTo>
                    <a:pt x="650682" y="1367"/>
                  </a:lnTo>
                  <a:lnTo>
                    <a:pt x="590689" y="5394"/>
                  </a:lnTo>
                  <a:lnTo>
                    <a:pt x="532361" y="11969"/>
                  </a:lnTo>
                  <a:lnTo>
                    <a:pt x="475911" y="20980"/>
                  </a:lnTo>
                  <a:lnTo>
                    <a:pt x="421555" y="32316"/>
                  </a:lnTo>
                  <a:lnTo>
                    <a:pt x="369504" y="45865"/>
                  </a:lnTo>
                  <a:lnTo>
                    <a:pt x="319974" y="61514"/>
                  </a:lnTo>
                  <a:lnTo>
                    <a:pt x="273178" y="79153"/>
                  </a:lnTo>
                  <a:lnTo>
                    <a:pt x="229330" y="98669"/>
                  </a:lnTo>
                  <a:lnTo>
                    <a:pt x="188643" y="119950"/>
                  </a:lnTo>
                  <a:lnTo>
                    <a:pt x="151331" y="142885"/>
                  </a:lnTo>
                  <a:lnTo>
                    <a:pt x="117609" y="167361"/>
                  </a:lnTo>
                  <a:lnTo>
                    <a:pt x="87689" y="193268"/>
                  </a:lnTo>
                  <a:lnTo>
                    <a:pt x="40113" y="248924"/>
                  </a:lnTo>
                  <a:lnTo>
                    <a:pt x="10313" y="308959"/>
                  </a:lnTo>
                  <a:lnTo>
                    <a:pt x="0" y="372478"/>
                  </a:lnTo>
                  <a:lnTo>
                    <a:pt x="2613" y="404617"/>
                  </a:lnTo>
                  <a:lnTo>
                    <a:pt x="22884" y="466505"/>
                  </a:lnTo>
                  <a:lnTo>
                    <a:pt x="61786" y="524462"/>
                  </a:lnTo>
                  <a:lnTo>
                    <a:pt x="117609" y="577594"/>
                  </a:lnTo>
                  <a:lnTo>
                    <a:pt x="151331" y="602071"/>
                  </a:lnTo>
                  <a:lnTo>
                    <a:pt x="188643" y="625006"/>
                  </a:lnTo>
                  <a:lnTo>
                    <a:pt x="229330" y="646287"/>
                  </a:lnTo>
                  <a:lnTo>
                    <a:pt x="273178" y="665803"/>
                  </a:lnTo>
                  <a:lnTo>
                    <a:pt x="319974" y="683441"/>
                  </a:lnTo>
                  <a:lnTo>
                    <a:pt x="369504" y="699091"/>
                  </a:lnTo>
                  <a:lnTo>
                    <a:pt x="421555" y="712639"/>
                  </a:lnTo>
                  <a:lnTo>
                    <a:pt x="475911" y="723975"/>
                  </a:lnTo>
                  <a:lnTo>
                    <a:pt x="532361" y="732987"/>
                  </a:lnTo>
                  <a:lnTo>
                    <a:pt x="590689" y="739562"/>
                  </a:lnTo>
                  <a:lnTo>
                    <a:pt x="650682" y="743589"/>
                  </a:lnTo>
                  <a:lnTo>
                    <a:pt x="712127" y="744956"/>
                  </a:lnTo>
                  <a:lnTo>
                    <a:pt x="773571" y="743589"/>
                  </a:lnTo>
                  <a:lnTo>
                    <a:pt x="833564" y="739562"/>
                  </a:lnTo>
                  <a:lnTo>
                    <a:pt x="891892" y="732987"/>
                  </a:lnTo>
                  <a:lnTo>
                    <a:pt x="948340" y="723975"/>
                  </a:lnTo>
                  <a:lnTo>
                    <a:pt x="1002696" y="712639"/>
                  </a:lnTo>
                  <a:lnTo>
                    <a:pt x="1054746" y="699091"/>
                  </a:lnTo>
                  <a:lnTo>
                    <a:pt x="1104275" y="683441"/>
                  </a:lnTo>
                  <a:lnTo>
                    <a:pt x="1151070" y="665803"/>
                  </a:lnTo>
                  <a:lnTo>
                    <a:pt x="1194917" y="646287"/>
                  </a:lnTo>
                  <a:lnTo>
                    <a:pt x="1235603" y="625006"/>
                  </a:lnTo>
                  <a:lnTo>
                    <a:pt x="1272914" y="602071"/>
                  </a:lnTo>
                  <a:lnTo>
                    <a:pt x="1306636" y="577594"/>
                  </a:lnTo>
                  <a:lnTo>
                    <a:pt x="1336555" y="551687"/>
                  </a:lnTo>
                  <a:lnTo>
                    <a:pt x="1384129" y="496031"/>
                  </a:lnTo>
                  <a:lnTo>
                    <a:pt x="1413928" y="435996"/>
                  </a:lnTo>
                  <a:lnTo>
                    <a:pt x="1424241" y="372478"/>
                  </a:lnTo>
                  <a:lnTo>
                    <a:pt x="1421627" y="340339"/>
                  </a:lnTo>
                  <a:lnTo>
                    <a:pt x="1401358" y="278450"/>
                  </a:lnTo>
                  <a:lnTo>
                    <a:pt x="1362457" y="220493"/>
                  </a:lnTo>
                  <a:lnTo>
                    <a:pt x="1306636" y="167361"/>
                  </a:lnTo>
                  <a:lnTo>
                    <a:pt x="1272914" y="142885"/>
                  </a:lnTo>
                  <a:lnTo>
                    <a:pt x="1235603" y="119950"/>
                  </a:lnTo>
                  <a:lnTo>
                    <a:pt x="1194917" y="98669"/>
                  </a:lnTo>
                  <a:lnTo>
                    <a:pt x="1151070" y="79153"/>
                  </a:lnTo>
                  <a:lnTo>
                    <a:pt x="1104275" y="61514"/>
                  </a:lnTo>
                  <a:lnTo>
                    <a:pt x="1054746" y="45865"/>
                  </a:lnTo>
                  <a:lnTo>
                    <a:pt x="1002696" y="32316"/>
                  </a:lnTo>
                  <a:lnTo>
                    <a:pt x="948340" y="20980"/>
                  </a:lnTo>
                  <a:lnTo>
                    <a:pt x="891892" y="11969"/>
                  </a:lnTo>
                  <a:lnTo>
                    <a:pt x="833564" y="5394"/>
                  </a:lnTo>
                  <a:lnTo>
                    <a:pt x="773571" y="1367"/>
                  </a:lnTo>
                  <a:lnTo>
                    <a:pt x="712127" y="0"/>
                  </a:lnTo>
                  <a:close/>
                </a:path>
              </a:pathLst>
            </a:custGeom>
            <a:solidFill>
              <a:srgbClr val="BFE1EB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8206" y="2734461"/>
              <a:ext cx="279644" cy="5585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3231" y="2713220"/>
              <a:ext cx="108254" cy="15854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826" y="2577452"/>
              <a:ext cx="108261" cy="158545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712716" y="2862045"/>
            <a:ext cx="3695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1</a:t>
            </a:r>
            <a:r>
              <a:rPr dirty="0" sz="1100" spc="-35">
                <a:latin typeface="Microsoft YaHei"/>
                <a:cs typeface="Microsoft YaHei"/>
              </a:rPr>
              <a:t>频点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517192" y="1201384"/>
            <a:ext cx="3444875" cy="1668145"/>
            <a:chOff x="1517192" y="1201384"/>
            <a:chExt cx="3444875" cy="1668145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7192" y="2710528"/>
              <a:ext cx="108261" cy="15854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537620" y="1201384"/>
              <a:ext cx="1424305" cy="745490"/>
            </a:xfrm>
            <a:custGeom>
              <a:avLst/>
              <a:gdLst/>
              <a:ahLst/>
              <a:cxnLst/>
              <a:rect l="l" t="t" r="r" b="b"/>
              <a:pathLst>
                <a:path w="1424304" h="745489">
                  <a:moveTo>
                    <a:pt x="712127" y="0"/>
                  </a:moveTo>
                  <a:lnTo>
                    <a:pt x="650682" y="1367"/>
                  </a:lnTo>
                  <a:lnTo>
                    <a:pt x="590689" y="5394"/>
                  </a:lnTo>
                  <a:lnTo>
                    <a:pt x="532361" y="11969"/>
                  </a:lnTo>
                  <a:lnTo>
                    <a:pt x="475911" y="20980"/>
                  </a:lnTo>
                  <a:lnTo>
                    <a:pt x="421555" y="32316"/>
                  </a:lnTo>
                  <a:lnTo>
                    <a:pt x="369504" y="45865"/>
                  </a:lnTo>
                  <a:lnTo>
                    <a:pt x="319974" y="61514"/>
                  </a:lnTo>
                  <a:lnTo>
                    <a:pt x="273178" y="79153"/>
                  </a:lnTo>
                  <a:lnTo>
                    <a:pt x="229330" y="98669"/>
                  </a:lnTo>
                  <a:lnTo>
                    <a:pt x="188643" y="119950"/>
                  </a:lnTo>
                  <a:lnTo>
                    <a:pt x="151331" y="142885"/>
                  </a:lnTo>
                  <a:lnTo>
                    <a:pt x="117609" y="167361"/>
                  </a:lnTo>
                  <a:lnTo>
                    <a:pt x="87689" y="193268"/>
                  </a:lnTo>
                  <a:lnTo>
                    <a:pt x="40113" y="248924"/>
                  </a:lnTo>
                  <a:lnTo>
                    <a:pt x="10313" y="308959"/>
                  </a:lnTo>
                  <a:lnTo>
                    <a:pt x="0" y="372478"/>
                  </a:lnTo>
                  <a:lnTo>
                    <a:pt x="2613" y="404617"/>
                  </a:lnTo>
                  <a:lnTo>
                    <a:pt x="22884" y="466506"/>
                  </a:lnTo>
                  <a:lnTo>
                    <a:pt x="61786" y="524465"/>
                  </a:lnTo>
                  <a:lnTo>
                    <a:pt x="117609" y="577598"/>
                  </a:lnTo>
                  <a:lnTo>
                    <a:pt x="151331" y="602076"/>
                  </a:lnTo>
                  <a:lnTo>
                    <a:pt x="188643" y="625011"/>
                  </a:lnTo>
                  <a:lnTo>
                    <a:pt x="229330" y="646294"/>
                  </a:lnTo>
                  <a:lnTo>
                    <a:pt x="273178" y="665810"/>
                  </a:lnTo>
                  <a:lnTo>
                    <a:pt x="319974" y="683450"/>
                  </a:lnTo>
                  <a:lnTo>
                    <a:pt x="369504" y="699100"/>
                  </a:lnTo>
                  <a:lnTo>
                    <a:pt x="421555" y="712650"/>
                  </a:lnTo>
                  <a:lnTo>
                    <a:pt x="475911" y="723986"/>
                  </a:lnTo>
                  <a:lnTo>
                    <a:pt x="532361" y="732998"/>
                  </a:lnTo>
                  <a:lnTo>
                    <a:pt x="590689" y="739574"/>
                  </a:lnTo>
                  <a:lnTo>
                    <a:pt x="650682" y="743601"/>
                  </a:lnTo>
                  <a:lnTo>
                    <a:pt x="712127" y="744969"/>
                  </a:lnTo>
                  <a:lnTo>
                    <a:pt x="773571" y="743601"/>
                  </a:lnTo>
                  <a:lnTo>
                    <a:pt x="833564" y="739574"/>
                  </a:lnTo>
                  <a:lnTo>
                    <a:pt x="891892" y="732998"/>
                  </a:lnTo>
                  <a:lnTo>
                    <a:pt x="948340" y="723986"/>
                  </a:lnTo>
                  <a:lnTo>
                    <a:pt x="1002696" y="712650"/>
                  </a:lnTo>
                  <a:lnTo>
                    <a:pt x="1054746" y="699100"/>
                  </a:lnTo>
                  <a:lnTo>
                    <a:pt x="1104275" y="683450"/>
                  </a:lnTo>
                  <a:lnTo>
                    <a:pt x="1151070" y="665810"/>
                  </a:lnTo>
                  <a:lnTo>
                    <a:pt x="1194917" y="646294"/>
                  </a:lnTo>
                  <a:lnTo>
                    <a:pt x="1235603" y="625011"/>
                  </a:lnTo>
                  <a:lnTo>
                    <a:pt x="1272914" y="602076"/>
                  </a:lnTo>
                  <a:lnTo>
                    <a:pt x="1306636" y="577598"/>
                  </a:lnTo>
                  <a:lnTo>
                    <a:pt x="1336555" y="551690"/>
                  </a:lnTo>
                  <a:lnTo>
                    <a:pt x="1384129" y="496033"/>
                  </a:lnTo>
                  <a:lnTo>
                    <a:pt x="1413928" y="435997"/>
                  </a:lnTo>
                  <a:lnTo>
                    <a:pt x="1424241" y="372478"/>
                  </a:lnTo>
                  <a:lnTo>
                    <a:pt x="1421627" y="340339"/>
                  </a:lnTo>
                  <a:lnTo>
                    <a:pt x="1401358" y="278450"/>
                  </a:lnTo>
                  <a:lnTo>
                    <a:pt x="1362457" y="220493"/>
                  </a:lnTo>
                  <a:lnTo>
                    <a:pt x="1306636" y="167361"/>
                  </a:lnTo>
                  <a:lnTo>
                    <a:pt x="1272914" y="142885"/>
                  </a:lnTo>
                  <a:lnTo>
                    <a:pt x="1235603" y="119950"/>
                  </a:lnTo>
                  <a:lnTo>
                    <a:pt x="1194917" y="98669"/>
                  </a:lnTo>
                  <a:lnTo>
                    <a:pt x="1151070" y="79153"/>
                  </a:lnTo>
                  <a:lnTo>
                    <a:pt x="1104275" y="61514"/>
                  </a:lnTo>
                  <a:lnTo>
                    <a:pt x="1054746" y="45865"/>
                  </a:lnTo>
                  <a:lnTo>
                    <a:pt x="1002696" y="32316"/>
                  </a:lnTo>
                  <a:lnTo>
                    <a:pt x="948340" y="20980"/>
                  </a:lnTo>
                  <a:lnTo>
                    <a:pt x="891892" y="11969"/>
                  </a:lnTo>
                  <a:lnTo>
                    <a:pt x="833564" y="5394"/>
                  </a:lnTo>
                  <a:lnTo>
                    <a:pt x="773571" y="1367"/>
                  </a:lnTo>
                  <a:lnTo>
                    <a:pt x="712127" y="0"/>
                  </a:lnTo>
                  <a:close/>
                </a:path>
              </a:pathLst>
            </a:custGeom>
            <a:solidFill>
              <a:srgbClr val="BFE1EB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8053" y="1403692"/>
              <a:ext cx="279638" cy="55857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3075" y="1382458"/>
              <a:ext cx="108258" cy="15854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8671" y="1246682"/>
              <a:ext cx="108263" cy="158546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3582564" y="1531277"/>
            <a:ext cx="3695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2</a:t>
            </a:r>
            <a:r>
              <a:rPr dirty="0" sz="1100" spc="-35">
                <a:latin typeface="Microsoft YaHei"/>
                <a:cs typeface="Microsoft YaHei"/>
              </a:rPr>
              <a:t>频点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85292" y="1087297"/>
            <a:ext cx="3910329" cy="1033780"/>
            <a:chOff x="585292" y="1087297"/>
            <a:chExt cx="3910329" cy="103378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038" y="1379766"/>
              <a:ext cx="108263" cy="15854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85292" y="1087297"/>
              <a:ext cx="1705610" cy="1033780"/>
            </a:xfrm>
            <a:custGeom>
              <a:avLst/>
              <a:gdLst/>
              <a:ahLst/>
              <a:cxnLst/>
              <a:rect l="l" t="t" r="r" b="b"/>
              <a:pathLst>
                <a:path w="1705610" h="1033780">
                  <a:moveTo>
                    <a:pt x="1704987" y="0"/>
                  </a:moveTo>
                  <a:lnTo>
                    <a:pt x="0" y="0"/>
                  </a:lnTo>
                  <a:lnTo>
                    <a:pt x="0" y="1033310"/>
                  </a:lnTo>
                  <a:lnTo>
                    <a:pt x="1704987" y="1033310"/>
                  </a:lnTo>
                  <a:lnTo>
                    <a:pt x="1704987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352" y="1141361"/>
              <a:ext cx="929777" cy="780181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585292" y="1087297"/>
            <a:ext cx="1705610" cy="1033780"/>
          </a:xfrm>
          <a:prstGeom prst="rect">
            <a:avLst/>
          </a:prstGeom>
          <a:ln w="9525">
            <a:solidFill>
              <a:srgbClr val="DADAD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425450">
              <a:lnSpc>
                <a:spcPct val="100000"/>
              </a:lnSpc>
            </a:pPr>
            <a:r>
              <a:rPr dirty="0" sz="1100" spc="-25">
                <a:latin typeface="Microsoft YaHei"/>
                <a:cs typeface="Microsoft YaHei"/>
              </a:rPr>
              <a:t>宏基站示意图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173491" y="1215419"/>
            <a:ext cx="4638675" cy="1622425"/>
            <a:chOff x="1173491" y="1215419"/>
            <a:chExt cx="4638675" cy="1622425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9396" y="1372430"/>
              <a:ext cx="279636" cy="55857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4416" y="1351191"/>
              <a:ext cx="108261" cy="15854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0016" y="1215419"/>
              <a:ext cx="108262" cy="15854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8381" y="1348498"/>
              <a:ext cx="108263" cy="15854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387045" y="2362564"/>
              <a:ext cx="735330" cy="292100"/>
            </a:xfrm>
            <a:custGeom>
              <a:avLst/>
              <a:gdLst/>
              <a:ahLst/>
              <a:cxnLst/>
              <a:rect l="l" t="t" r="r" b="b"/>
              <a:pathLst>
                <a:path w="735330" h="292100">
                  <a:moveTo>
                    <a:pt x="735177" y="0"/>
                  </a:moveTo>
                  <a:lnTo>
                    <a:pt x="0" y="291553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594001" y="2551531"/>
              <a:ext cx="534670" cy="212090"/>
            </a:xfrm>
            <a:custGeom>
              <a:avLst/>
              <a:gdLst/>
              <a:ahLst/>
              <a:cxnLst/>
              <a:rect l="l" t="t" r="r" b="b"/>
              <a:pathLst>
                <a:path w="534669" h="212089">
                  <a:moveTo>
                    <a:pt x="534669" y="0"/>
                  </a:moveTo>
                  <a:lnTo>
                    <a:pt x="0" y="212039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78253" y="2461714"/>
              <a:ext cx="935990" cy="371475"/>
            </a:xfrm>
            <a:custGeom>
              <a:avLst/>
              <a:gdLst/>
              <a:ahLst/>
              <a:cxnLst/>
              <a:rect l="l" t="t" r="r" b="b"/>
              <a:pathLst>
                <a:path w="935989" h="371475">
                  <a:moveTo>
                    <a:pt x="935685" y="0"/>
                  </a:moveTo>
                  <a:lnTo>
                    <a:pt x="0" y="371068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115443" y="2345735"/>
              <a:ext cx="735330" cy="292100"/>
            </a:xfrm>
            <a:custGeom>
              <a:avLst/>
              <a:gdLst/>
              <a:ahLst/>
              <a:cxnLst/>
              <a:rect l="l" t="t" r="r" b="b"/>
              <a:pathLst>
                <a:path w="735329" h="292100">
                  <a:moveTo>
                    <a:pt x="735177" y="0"/>
                  </a:moveTo>
                  <a:lnTo>
                    <a:pt x="0" y="291553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322400" y="2534699"/>
              <a:ext cx="534670" cy="212090"/>
            </a:xfrm>
            <a:custGeom>
              <a:avLst/>
              <a:gdLst/>
              <a:ahLst/>
              <a:cxnLst/>
              <a:rect l="l" t="t" r="r" b="b"/>
              <a:pathLst>
                <a:path w="534670" h="212089">
                  <a:moveTo>
                    <a:pt x="534670" y="0"/>
                  </a:moveTo>
                  <a:lnTo>
                    <a:pt x="0" y="212039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06650" y="2444884"/>
              <a:ext cx="935990" cy="371475"/>
            </a:xfrm>
            <a:custGeom>
              <a:avLst/>
              <a:gdLst/>
              <a:ahLst/>
              <a:cxnLst/>
              <a:rect l="l" t="t" r="r" b="b"/>
              <a:pathLst>
                <a:path w="935989" h="371475">
                  <a:moveTo>
                    <a:pt x="935685" y="0"/>
                  </a:moveTo>
                  <a:lnTo>
                    <a:pt x="0" y="371068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830442" y="2356953"/>
              <a:ext cx="735330" cy="292100"/>
            </a:xfrm>
            <a:custGeom>
              <a:avLst/>
              <a:gdLst/>
              <a:ahLst/>
              <a:cxnLst/>
              <a:rect l="l" t="t" r="r" b="b"/>
              <a:pathLst>
                <a:path w="735329" h="292100">
                  <a:moveTo>
                    <a:pt x="735177" y="0"/>
                  </a:moveTo>
                  <a:lnTo>
                    <a:pt x="0" y="291553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037399" y="2545920"/>
              <a:ext cx="534670" cy="212090"/>
            </a:xfrm>
            <a:custGeom>
              <a:avLst/>
              <a:gdLst/>
              <a:ahLst/>
              <a:cxnLst/>
              <a:rect l="l" t="t" r="r" b="b"/>
              <a:pathLst>
                <a:path w="534670" h="212089">
                  <a:moveTo>
                    <a:pt x="534670" y="0"/>
                  </a:moveTo>
                  <a:lnTo>
                    <a:pt x="0" y="212039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621650" y="2456105"/>
              <a:ext cx="935990" cy="371475"/>
            </a:xfrm>
            <a:custGeom>
              <a:avLst/>
              <a:gdLst/>
              <a:ahLst/>
              <a:cxnLst/>
              <a:rect l="l" t="t" r="r" b="b"/>
              <a:pathLst>
                <a:path w="935989" h="371475">
                  <a:moveTo>
                    <a:pt x="935685" y="0"/>
                  </a:moveTo>
                  <a:lnTo>
                    <a:pt x="0" y="371068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122142" y="2368174"/>
              <a:ext cx="735330" cy="292100"/>
            </a:xfrm>
            <a:custGeom>
              <a:avLst/>
              <a:gdLst/>
              <a:ahLst/>
              <a:cxnLst/>
              <a:rect l="l" t="t" r="r" b="b"/>
              <a:pathLst>
                <a:path w="735329" h="292100">
                  <a:moveTo>
                    <a:pt x="735177" y="0"/>
                  </a:moveTo>
                  <a:lnTo>
                    <a:pt x="0" y="291553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933448" y="2456105"/>
              <a:ext cx="935990" cy="371475"/>
            </a:xfrm>
            <a:custGeom>
              <a:avLst/>
              <a:gdLst/>
              <a:ahLst/>
              <a:cxnLst/>
              <a:rect l="l" t="t" r="r" b="b"/>
              <a:pathLst>
                <a:path w="935989" h="371475">
                  <a:moveTo>
                    <a:pt x="935685" y="0"/>
                  </a:moveTo>
                  <a:lnTo>
                    <a:pt x="0" y="371068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335798" y="2551531"/>
              <a:ext cx="534670" cy="212090"/>
            </a:xfrm>
            <a:custGeom>
              <a:avLst/>
              <a:gdLst/>
              <a:ahLst/>
              <a:cxnLst/>
              <a:rect l="l" t="t" r="r" b="b"/>
              <a:pathLst>
                <a:path w="534670" h="212089">
                  <a:moveTo>
                    <a:pt x="534670" y="0"/>
                  </a:moveTo>
                  <a:lnTo>
                    <a:pt x="0" y="212039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371835" y="2340123"/>
              <a:ext cx="1519555" cy="0"/>
            </a:xfrm>
            <a:custGeom>
              <a:avLst/>
              <a:gdLst/>
              <a:ahLst/>
              <a:cxnLst/>
              <a:rect l="l" t="t" r="r" b="b"/>
              <a:pathLst>
                <a:path w="1519554" h="0">
                  <a:moveTo>
                    <a:pt x="151918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371835" y="2354967"/>
              <a:ext cx="1519555" cy="0"/>
            </a:xfrm>
            <a:custGeom>
              <a:avLst/>
              <a:gdLst/>
              <a:ahLst/>
              <a:cxnLst/>
              <a:rect l="l" t="t" r="r" b="b"/>
              <a:pathLst>
                <a:path w="1519554" h="0">
                  <a:moveTo>
                    <a:pt x="151918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371835" y="2370980"/>
              <a:ext cx="1485265" cy="0"/>
            </a:xfrm>
            <a:custGeom>
              <a:avLst/>
              <a:gdLst/>
              <a:ahLst/>
              <a:cxnLst/>
              <a:rect l="l" t="t" r="r" b="b"/>
              <a:pathLst>
                <a:path w="1485264" h="0">
                  <a:moveTo>
                    <a:pt x="0" y="0"/>
                  </a:moveTo>
                  <a:lnTo>
                    <a:pt x="148490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128812" y="2352484"/>
              <a:ext cx="219710" cy="226695"/>
            </a:xfrm>
            <a:custGeom>
              <a:avLst/>
              <a:gdLst/>
              <a:ahLst/>
              <a:cxnLst/>
              <a:rect l="l" t="t" r="r" b="b"/>
              <a:pathLst>
                <a:path w="219710" h="226694">
                  <a:moveTo>
                    <a:pt x="219443" y="0"/>
                  </a:moveTo>
                  <a:lnTo>
                    <a:pt x="0" y="0"/>
                  </a:lnTo>
                  <a:lnTo>
                    <a:pt x="0" y="226339"/>
                  </a:lnTo>
                  <a:lnTo>
                    <a:pt x="219443" y="226339"/>
                  </a:lnTo>
                  <a:lnTo>
                    <a:pt x="21944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348249" y="2318722"/>
              <a:ext cx="34290" cy="260350"/>
            </a:xfrm>
            <a:custGeom>
              <a:avLst/>
              <a:gdLst/>
              <a:ahLst/>
              <a:cxnLst/>
              <a:rect l="l" t="t" r="r" b="b"/>
              <a:pathLst>
                <a:path w="34289" h="260350">
                  <a:moveTo>
                    <a:pt x="33756" y="0"/>
                  </a:moveTo>
                  <a:lnTo>
                    <a:pt x="0" y="33756"/>
                  </a:lnTo>
                  <a:lnTo>
                    <a:pt x="0" y="260095"/>
                  </a:lnTo>
                  <a:lnTo>
                    <a:pt x="33756" y="226339"/>
                  </a:lnTo>
                  <a:lnTo>
                    <a:pt x="33756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128809" y="2318722"/>
              <a:ext cx="253365" cy="34290"/>
            </a:xfrm>
            <a:custGeom>
              <a:avLst/>
              <a:gdLst/>
              <a:ahLst/>
              <a:cxnLst/>
              <a:rect l="l" t="t" r="r" b="b"/>
              <a:pathLst>
                <a:path w="253364" h="34289">
                  <a:moveTo>
                    <a:pt x="253199" y="0"/>
                  </a:moveTo>
                  <a:lnTo>
                    <a:pt x="33756" y="0"/>
                  </a:lnTo>
                  <a:lnTo>
                    <a:pt x="0" y="33756"/>
                  </a:lnTo>
                  <a:lnTo>
                    <a:pt x="219443" y="33756"/>
                  </a:lnTo>
                  <a:lnTo>
                    <a:pt x="25319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128809" y="2318722"/>
              <a:ext cx="253365" cy="260350"/>
            </a:xfrm>
            <a:custGeom>
              <a:avLst/>
              <a:gdLst/>
              <a:ahLst/>
              <a:cxnLst/>
              <a:rect l="l" t="t" r="r" b="b"/>
              <a:pathLst>
                <a:path w="253364" h="260350">
                  <a:moveTo>
                    <a:pt x="0" y="33756"/>
                  </a:moveTo>
                  <a:lnTo>
                    <a:pt x="33756" y="0"/>
                  </a:lnTo>
                  <a:lnTo>
                    <a:pt x="253199" y="0"/>
                  </a:lnTo>
                  <a:lnTo>
                    <a:pt x="253199" y="226339"/>
                  </a:lnTo>
                  <a:lnTo>
                    <a:pt x="219443" y="260095"/>
                  </a:lnTo>
                  <a:lnTo>
                    <a:pt x="0" y="260095"/>
                  </a:lnTo>
                  <a:lnTo>
                    <a:pt x="0" y="33756"/>
                  </a:lnTo>
                  <a:close/>
                </a:path>
                <a:path w="253364" h="260350">
                  <a:moveTo>
                    <a:pt x="0" y="33756"/>
                  </a:moveTo>
                  <a:lnTo>
                    <a:pt x="219443" y="33756"/>
                  </a:lnTo>
                  <a:lnTo>
                    <a:pt x="2531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7752" y="2352479"/>
              <a:ext cx="216849" cy="226339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4066736" y="2320489"/>
              <a:ext cx="1519555" cy="0"/>
            </a:xfrm>
            <a:custGeom>
              <a:avLst/>
              <a:gdLst/>
              <a:ahLst/>
              <a:cxnLst/>
              <a:rect l="l" t="t" r="r" b="b"/>
              <a:pathLst>
                <a:path w="1519554" h="0">
                  <a:moveTo>
                    <a:pt x="151918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066736" y="2330659"/>
              <a:ext cx="1519555" cy="0"/>
            </a:xfrm>
            <a:custGeom>
              <a:avLst/>
              <a:gdLst/>
              <a:ahLst/>
              <a:cxnLst/>
              <a:rect l="l" t="t" r="r" b="b"/>
              <a:pathLst>
                <a:path w="1519554" h="0">
                  <a:moveTo>
                    <a:pt x="151918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066736" y="2340828"/>
              <a:ext cx="1519555" cy="0"/>
            </a:xfrm>
            <a:custGeom>
              <a:avLst/>
              <a:gdLst/>
              <a:ahLst/>
              <a:cxnLst/>
              <a:rect l="l" t="t" r="r" b="b"/>
              <a:pathLst>
                <a:path w="1519554" h="0">
                  <a:moveTo>
                    <a:pt x="151918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068970" y="2351230"/>
              <a:ext cx="1519555" cy="0"/>
            </a:xfrm>
            <a:custGeom>
              <a:avLst/>
              <a:gdLst/>
              <a:ahLst/>
              <a:cxnLst/>
              <a:rect l="l" t="t" r="r" b="b"/>
              <a:pathLst>
                <a:path w="1519554" h="0">
                  <a:moveTo>
                    <a:pt x="151918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068970" y="2361401"/>
              <a:ext cx="1483995" cy="42545"/>
            </a:xfrm>
            <a:custGeom>
              <a:avLst/>
              <a:gdLst/>
              <a:ahLst/>
              <a:cxnLst/>
              <a:rect l="l" t="t" r="r" b="b"/>
              <a:pathLst>
                <a:path w="1483995" h="42544">
                  <a:moveTo>
                    <a:pt x="0" y="0"/>
                  </a:moveTo>
                  <a:lnTo>
                    <a:pt x="1483456" y="0"/>
                  </a:lnTo>
                </a:path>
                <a:path w="1483995" h="42544">
                  <a:moveTo>
                    <a:pt x="0" y="20688"/>
                  </a:moveTo>
                  <a:lnTo>
                    <a:pt x="1483456" y="20688"/>
                  </a:lnTo>
                </a:path>
                <a:path w="1483995" h="42544">
                  <a:moveTo>
                    <a:pt x="698" y="11455"/>
                  </a:moveTo>
                  <a:lnTo>
                    <a:pt x="1483456" y="11455"/>
                  </a:lnTo>
                </a:path>
                <a:path w="1483995" h="42544">
                  <a:moveTo>
                    <a:pt x="698" y="32142"/>
                  </a:moveTo>
                  <a:lnTo>
                    <a:pt x="1483456" y="32142"/>
                  </a:lnTo>
                </a:path>
                <a:path w="1483995" h="42544">
                  <a:moveTo>
                    <a:pt x="698" y="42312"/>
                  </a:moveTo>
                  <a:lnTo>
                    <a:pt x="1483456" y="42312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856736" y="2352484"/>
              <a:ext cx="219710" cy="226695"/>
            </a:xfrm>
            <a:custGeom>
              <a:avLst/>
              <a:gdLst/>
              <a:ahLst/>
              <a:cxnLst/>
              <a:rect l="l" t="t" r="r" b="b"/>
              <a:pathLst>
                <a:path w="219710" h="226694">
                  <a:moveTo>
                    <a:pt x="219443" y="0"/>
                  </a:moveTo>
                  <a:lnTo>
                    <a:pt x="0" y="0"/>
                  </a:lnTo>
                  <a:lnTo>
                    <a:pt x="0" y="226339"/>
                  </a:lnTo>
                  <a:lnTo>
                    <a:pt x="219443" y="226339"/>
                  </a:lnTo>
                  <a:lnTo>
                    <a:pt x="21944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076179" y="2318722"/>
              <a:ext cx="34290" cy="260350"/>
            </a:xfrm>
            <a:custGeom>
              <a:avLst/>
              <a:gdLst/>
              <a:ahLst/>
              <a:cxnLst/>
              <a:rect l="l" t="t" r="r" b="b"/>
              <a:pathLst>
                <a:path w="34289" h="260350">
                  <a:moveTo>
                    <a:pt x="33756" y="0"/>
                  </a:moveTo>
                  <a:lnTo>
                    <a:pt x="0" y="33756"/>
                  </a:lnTo>
                  <a:lnTo>
                    <a:pt x="0" y="260095"/>
                  </a:lnTo>
                  <a:lnTo>
                    <a:pt x="33756" y="226339"/>
                  </a:lnTo>
                  <a:lnTo>
                    <a:pt x="33756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856739" y="2318722"/>
              <a:ext cx="253365" cy="34290"/>
            </a:xfrm>
            <a:custGeom>
              <a:avLst/>
              <a:gdLst/>
              <a:ahLst/>
              <a:cxnLst/>
              <a:rect l="l" t="t" r="r" b="b"/>
              <a:pathLst>
                <a:path w="253364" h="34289">
                  <a:moveTo>
                    <a:pt x="253199" y="0"/>
                  </a:moveTo>
                  <a:lnTo>
                    <a:pt x="33756" y="0"/>
                  </a:lnTo>
                  <a:lnTo>
                    <a:pt x="0" y="33756"/>
                  </a:lnTo>
                  <a:lnTo>
                    <a:pt x="219443" y="33756"/>
                  </a:lnTo>
                  <a:lnTo>
                    <a:pt x="25319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856739" y="2318722"/>
              <a:ext cx="253365" cy="260350"/>
            </a:xfrm>
            <a:custGeom>
              <a:avLst/>
              <a:gdLst/>
              <a:ahLst/>
              <a:cxnLst/>
              <a:rect l="l" t="t" r="r" b="b"/>
              <a:pathLst>
                <a:path w="253364" h="260350">
                  <a:moveTo>
                    <a:pt x="0" y="33756"/>
                  </a:moveTo>
                  <a:lnTo>
                    <a:pt x="33756" y="0"/>
                  </a:lnTo>
                  <a:lnTo>
                    <a:pt x="253199" y="0"/>
                  </a:lnTo>
                  <a:lnTo>
                    <a:pt x="253199" y="226339"/>
                  </a:lnTo>
                  <a:lnTo>
                    <a:pt x="219443" y="260095"/>
                  </a:lnTo>
                  <a:lnTo>
                    <a:pt x="0" y="260095"/>
                  </a:lnTo>
                  <a:lnTo>
                    <a:pt x="0" y="33756"/>
                  </a:lnTo>
                  <a:close/>
                </a:path>
                <a:path w="253364" h="260350">
                  <a:moveTo>
                    <a:pt x="0" y="33756"/>
                  </a:moveTo>
                  <a:lnTo>
                    <a:pt x="219443" y="33756"/>
                  </a:lnTo>
                  <a:lnTo>
                    <a:pt x="253199" y="0"/>
                  </a:lnTo>
                </a:path>
                <a:path w="253364" h="260350">
                  <a:moveTo>
                    <a:pt x="219443" y="33756"/>
                  </a:moveTo>
                  <a:lnTo>
                    <a:pt x="219443" y="2600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872039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82423" y="0"/>
                  </a:moveTo>
                  <a:lnTo>
                    <a:pt x="0" y="0"/>
                  </a:lnTo>
                  <a:lnTo>
                    <a:pt x="0" y="206070"/>
                  </a:lnTo>
                  <a:lnTo>
                    <a:pt x="82423" y="206070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872039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0" y="0"/>
                  </a:moveTo>
                  <a:lnTo>
                    <a:pt x="82423" y="0"/>
                  </a:lnTo>
                  <a:lnTo>
                    <a:pt x="82423" y="206070"/>
                  </a:lnTo>
                  <a:lnTo>
                    <a:pt x="0" y="20607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974846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82423" y="0"/>
                  </a:moveTo>
                  <a:lnTo>
                    <a:pt x="0" y="0"/>
                  </a:lnTo>
                  <a:lnTo>
                    <a:pt x="0" y="206070"/>
                  </a:lnTo>
                  <a:lnTo>
                    <a:pt x="82423" y="206070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974846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0" y="0"/>
                  </a:moveTo>
                  <a:lnTo>
                    <a:pt x="82423" y="0"/>
                  </a:lnTo>
                  <a:lnTo>
                    <a:pt x="82423" y="206070"/>
                  </a:lnTo>
                  <a:lnTo>
                    <a:pt x="0" y="20607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940855" y="245518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0"/>
                  </a:moveTo>
                  <a:lnTo>
                    <a:pt x="0" y="91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984189" y="2456096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w="0" h="10160">
                  <a:moveTo>
                    <a:pt x="0" y="0"/>
                  </a:moveTo>
                  <a:lnTo>
                    <a:pt x="0" y="1007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552427" y="2352484"/>
              <a:ext cx="219710" cy="226695"/>
            </a:xfrm>
            <a:custGeom>
              <a:avLst/>
              <a:gdLst/>
              <a:ahLst/>
              <a:cxnLst/>
              <a:rect l="l" t="t" r="r" b="b"/>
              <a:pathLst>
                <a:path w="219710" h="226694">
                  <a:moveTo>
                    <a:pt x="219443" y="0"/>
                  </a:moveTo>
                  <a:lnTo>
                    <a:pt x="0" y="0"/>
                  </a:lnTo>
                  <a:lnTo>
                    <a:pt x="0" y="226339"/>
                  </a:lnTo>
                  <a:lnTo>
                    <a:pt x="219443" y="226339"/>
                  </a:lnTo>
                  <a:lnTo>
                    <a:pt x="21944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771865" y="2318722"/>
              <a:ext cx="34290" cy="260350"/>
            </a:xfrm>
            <a:custGeom>
              <a:avLst/>
              <a:gdLst/>
              <a:ahLst/>
              <a:cxnLst/>
              <a:rect l="l" t="t" r="r" b="b"/>
              <a:pathLst>
                <a:path w="34289" h="260350">
                  <a:moveTo>
                    <a:pt x="33756" y="0"/>
                  </a:moveTo>
                  <a:lnTo>
                    <a:pt x="0" y="33756"/>
                  </a:lnTo>
                  <a:lnTo>
                    <a:pt x="0" y="260095"/>
                  </a:lnTo>
                  <a:lnTo>
                    <a:pt x="33756" y="226339"/>
                  </a:lnTo>
                  <a:lnTo>
                    <a:pt x="33756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552424" y="2318722"/>
              <a:ext cx="253365" cy="34290"/>
            </a:xfrm>
            <a:custGeom>
              <a:avLst/>
              <a:gdLst/>
              <a:ahLst/>
              <a:cxnLst/>
              <a:rect l="l" t="t" r="r" b="b"/>
              <a:pathLst>
                <a:path w="253364" h="34289">
                  <a:moveTo>
                    <a:pt x="253199" y="0"/>
                  </a:moveTo>
                  <a:lnTo>
                    <a:pt x="33756" y="0"/>
                  </a:lnTo>
                  <a:lnTo>
                    <a:pt x="0" y="33756"/>
                  </a:lnTo>
                  <a:lnTo>
                    <a:pt x="219443" y="33756"/>
                  </a:lnTo>
                  <a:lnTo>
                    <a:pt x="25319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552424" y="2318722"/>
              <a:ext cx="253365" cy="260350"/>
            </a:xfrm>
            <a:custGeom>
              <a:avLst/>
              <a:gdLst/>
              <a:ahLst/>
              <a:cxnLst/>
              <a:rect l="l" t="t" r="r" b="b"/>
              <a:pathLst>
                <a:path w="253364" h="260350">
                  <a:moveTo>
                    <a:pt x="0" y="33756"/>
                  </a:moveTo>
                  <a:lnTo>
                    <a:pt x="33756" y="0"/>
                  </a:lnTo>
                  <a:lnTo>
                    <a:pt x="253199" y="0"/>
                  </a:lnTo>
                  <a:lnTo>
                    <a:pt x="253199" y="226339"/>
                  </a:lnTo>
                  <a:lnTo>
                    <a:pt x="219443" y="260095"/>
                  </a:lnTo>
                  <a:lnTo>
                    <a:pt x="0" y="260095"/>
                  </a:lnTo>
                  <a:lnTo>
                    <a:pt x="0" y="33756"/>
                  </a:lnTo>
                  <a:close/>
                </a:path>
                <a:path w="253364" h="260350">
                  <a:moveTo>
                    <a:pt x="0" y="33756"/>
                  </a:moveTo>
                  <a:lnTo>
                    <a:pt x="219443" y="33756"/>
                  </a:lnTo>
                  <a:lnTo>
                    <a:pt x="253199" y="0"/>
                  </a:lnTo>
                </a:path>
                <a:path w="253364" h="260350">
                  <a:moveTo>
                    <a:pt x="219443" y="33756"/>
                  </a:moveTo>
                  <a:lnTo>
                    <a:pt x="219443" y="2600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567718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82423" y="0"/>
                  </a:moveTo>
                  <a:lnTo>
                    <a:pt x="0" y="0"/>
                  </a:lnTo>
                  <a:lnTo>
                    <a:pt x="0" y="206070"/>
                  </a:lnTo>
                  <a:lnTo>
                    <a:pt x="82423" y="206070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567718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0" y="0"/>
                  </a:moveTo>
                  <a:lnTo>
                    <a:pt x="82423" y="0"/>
                  </a:lnTo>
                  <a:lnTo>
                    <a:pt x="82423" y="206070"/>
                  </a:lnTo>
                  <a:lnTo>
                    <a:pt x="0" y="20607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670524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82423" y="0"/>
                  </a:moveTo>
                  <a:lnTo>
                    <a:pt x="0" y="0"/>
                  </a:lnTo>
                  <a:lnTo>
                    <a:pt x="0" y="206070"/>
                  </a:lnTo>
                  <a:lnTo>
                    <a:pt x="82423" y="206070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670524" y="2361768"/>
              <a:ext cx="82550" cy="206375"/>
            </a:xfrm>
            <a:custGeom>
              <a:avLst/>
              <a:gdLst/>
              <a:ahLst/>
              <a:cxnLst/>
              <a:rect l="l" t="t" r="r" b="b"/>
              <a:pathLst>
                <a:path w="82550" h="206375">
                  <a:moveTo>
                    <a:pt x="0" y="0"/>
                  </a:moveTo>
                  <a:lnTo>
                    <a:pt x="82423" y="0"/>
                  </a:lnTo>
                  <a:lnTo>
                    <a:pt x="82423" y="206070"/>
                  </a:lnTo>
                  <a:lnTo>
                    <a:pt x="0" y="20607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636540" y="245518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0"/>
                  </a:moveTo>
                  <a:lnTo>
                    <a:pt x="0" y="91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679874" y="2456096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w="0" h="10160">
                  <a:moveTo>
                    <a:pt x="0" y="0"/>
                  </a:moveTo>
                  <a:lnTo>
                    <a:pt x="0" y="1007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222902" y="1297169"/>
              <a:ext cx="1171575" cy="316230"/>
            </a:xfrm>
            <a:custGeom>
              <a:avLst/>
              <a:gdLst/>
              <a:ahLst/>
              <a:cxnLst/>
              <a:rect l="l" t="t" r="r" b="b"/>
              <a:pathLst>
                <a:path w="1171575" h="316230">
                  <a:moveTo>
                    <a:pt x="1171041" y="31612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450680" y="1443042"/>
              <a:ext cx="949960" cy="256540"/>
            </a:xfrm>
            <a:custGeom>
              <a:avLst/>
              <a:gdLst/>
              <a:ahLst/>
              <a:cxnLst/>
              <a:rect l="l" t="t" r="r" b="b"/>
              <a:pathLst>
                <a:path w="949960" h="256539">
                  <a:moveTo>
                    <a:pt x="949490" y="256311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015228" y="1414992"/>
              <a:ext cx="1424305" cy="384810"/>
            </a:xfrm>
            <a:custGeom>
              <a:avLst/>
              <a:gdLst/>
              <a:ahLst/>
              <a:cxnLst/>
              <a:rect l="l" t="t" r="r" b="b"/>
              <a:pathLst>
                <a:path w="1424304" h="384810">
                  <a:moveTo>
                    <a:pt x="1424241" y="384467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AE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389765" y="1619250"/>
              <a:ext cx="219710" cy="226695"/>
            </a:xfrm>
            <a:custGeom>
              <a:avLst/>
              <a:gdLst/>
              <a:ahLst/>
              <a:cxnLst/>
              <a:rect l="l" t="t" r="r" b="b"/>
              <a:pathLst>
                <a:path w="219710" h="226694">
                  <a:moveTo>
                    <a:pt x="219443" y="0"/>
                  </a:moveTo>
                  <a:lnTo>
                    <a:pt x="0" y="0"/>
                  </a:lnTo>
                  <a:lnTo>
                    <a:pt x="0" y="226339"/>
                  </a:lnTo>
                  <a:lnTo>
                    <a:pt x="219443" y="226339"/>
                  </a:lnTo>
                  <a:lnTo>
                    <a:pt x="21944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609210" y="1585487"/>
              <a:ext cx="34290" cy="260350"/>
            </a:xfrm>
            <a:custGeom>
              <a:avLst/>
              <a:gdLst/>
              <a:ahLst/>
              <a:cxnLst/>
              <a:rect l="l" t="t" r="r" b="b"/>
              <a:pathLst>
                <a:path w="34289" h="260350">
                  <a:moveTo>
                    <a:pt x="33756" y="0"/>
                  </a:moveTo>
                  <a:lnTo>
                    <a:pt x="0" y="33756"/>
                  </a:lnTo>
                  <a:lnTo>
                    <a:pt x="0" y="260096"/>
                  </a:lnTo>
                  <a:lnTo>
                    <a:pt x="33756" y="226339"/>
                  </a:lnTo>
                  <a:lnTo>
                    <a:pt x="33756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389770" y="1585487"/>
              <a:ext cx="253365" cy="34290"/>
            </a:xfrm>
            <a:custGeom>
              <a:avLst/>
              <a:gdLst/>
              <a:ahLst/>
              <a:cxnLst/>
              <a:rect l="l" t="t" r="r" b="b"/>
              <a:pathLst>
                <a:path w="253364" h="34290">
                  <a:moveTo>
                    <a:pt x="253199" y="0"/>
                  </a:moveTo>
                  <a:lnTo>
                    <a:pt x="33756" y="0"/>
                  </a:lnTo>
                  <a:lnTo>
                    <a:pt x="0" y="33756"/>
                  </a:lnTo>
                  <a:lnTo>
                    <a:pt x="219443" y="33756"/>
                  </a:lnTo>
                  <a:lnTo>
                    <a:pt x="25319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389770" y="1585487"/>
              <a:ext cx="253365" cy="260350"/>
            </a:xfrm>
            <a:custGeom>
              <a:avLst/>
              <a:gdLst/>
              <a:ahLst/>
              <a:cxnLst/>
              <a:rect l="l" t="t" r="r" b="b"/>
              <a:pathLst>
                <a:path w="253364" h="260350">
                  <a:moveTo>
                    <a:pt x="0" y="33756"/>
                  </a:moveTo>
                  <a:lnTo>
                    <a:pt x="33756" y="0"/>
                  </a:lnTo>
                  <a:lnTo>
                    <a:pt x="253199" y="0"/>
                  </a:lnTo>
                  <a:lnTo>
                    <a:pt x="253199" y="226339"/>
                  </a:lnTo>
                  <a:lnTo>
                    <a:pt x="219443" y="260096"/>
                  </a:lnTo>
                  <a:lnTo>
                    <a:pt x="0" y="260096"/>
                  </a:lnTo>
                  <a:lnTo>
                    <a:pt x="0" y="33756"/>
                  </a:lnTo>
                  <a:close/>
                </a:path>
                <a:path w="253364" h="260350">
                  <a:moveTo>
                    <a:pt x="0" y="33756"/>
                  </a:moveTo>
                  <a:lnTo>
                    <a:pt x="219443" y="33756"/>
                  </a:lnTo>
                  <a:lnTo>
                    <a:pt x="2531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8719" y="1619243"/>
              <a:ext cx="216844" cy="226339"/>
            </a:xfrm>
            <a:prstGeom prst="rect">
              <a:avLst/>
            </a:prstGeom>
          </p:spPr>
        </p:pic>
      </p:grpSp>
      <p:sp>
        <p:nvSpPr>
          <p:cNvPr id="100" name="object 100" descr=""/>
          <p:cNvSpPr txBox="1"/>
          <p:nvPr/>
        </p:nvSpPr>
        <p:spPr>
          <a:xfrm>
            <a:off x="1548507" y="2588787"/>
            <a:ext cx="1269365" cy="45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icrosoft YaHei"/>
                <a:cs typeface="Microsoft YaHei"/>
              </a:rPr>
              <a:t>光交箱</a:t>
            </a:r>
            <a:r>
              <a:rPr dirty="0" sz="1000" spc="-5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tabLst>
                <a:tab pos="899794" algn="l"/>
              </a:tabLst>
            </a:pPr>
            <a:r>
              <a:rPr dirty="0" sz="1100" spc="-10">
                <a:latin typeface="Arial MT"/>
                <a:cs typeface="Arial MT"/>
              </a:rPr>
              <a:t>3</a:t>
            </a:r>
            <a:r>
              <a:rPr dirty="0" sz="1100" spc="-20">
                <a:latin typeface="Microsoft YaHei"/>
                <a:cs typeface="Microsoft YaHei"/>
              </a:rPr>
              <a:t>对光</a:t>
            </a:r>
            <a:r>
              <a:rPr dirty="0" sz="1100" spc="-50">
                <a:latin typeface="Microsoft YaHei"/>
                <a:cs typeface="Microsoft YaHei"/>
              </a:rPr>
              <a:t>纤</a:t>
            </a:r>
            <a:r>
              <a:rPr dirty="0" sz="1100">
                <a:latin typeface="Microsoft YaHei"/>
                <a:cs typeface="Microsoft YaHei"/>
              </a:rPr>
              <a:t>	</a:t>
            </a:r>
            <a:r>
              <a:rPr dirty="0" baseline="-5050" sz="1650" spc="-15">
                <a:latin typeface="Arial MT"/>
                <a:cs typeface="Arial MT"/>
              </a:rPr>
              <a:t>2</a:t>
            </a:r>
            <a:r>
              <a:rPr dirty="0" baseline="-5050" sz="1650" spc="-30">
                <a:latin typeface="Microsoft YaHei"/>
                <a:cs typeface="Microsoft YaHei"/>
              </a:rPr>
              <a:t>频</a:t>
            </a:r>
            <a:r>
              <a:rPr dirty="0" baseline="-5050" sz="1650" spc="-75">
                <a:latin typeface="Microsoft YaHei"/>
                <a:cs typeface="Microsoft YaHei"/>
              </a:rPr>
              <a:t>点</a:t>
            </a:r>
            <a:endParaRPr baseline="-5050" sz="1650">
              <a:latin typeface="Microsoft YaHei"/>
              <a:cs typeface="Microsoft YaHei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3246756" y="2583570"/>
            <a:ext cx="131635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356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icrosoft YaHei"/>
                <a:cs typeface="Microsoft YaHei"/>
              </a:rPr>
              <a:t>光交箱</a:t>
            </a:r>
            <a:r>
              <a:rPr dirty="0" sz="1000" spc="-5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tabLst>
                <a:tab pos="946150" algn="l"/>
              </a:tabLst>
            </a:pPr>
            <a:r>
              <a:rPr dirty="0" sz="1100" spc="-10">
                <a:latin typeface="Arial MT"/>
                <a:cs typeface="Arial MT"/>
              </a:rPr>
              <a:t>6</a:t>
            </a:r>
            <a:r>
              <a:rPr dirty="0" sz="1100" spc="-20">
                <a:latin typeface="Microsoft YaHei"/>
                <a:cs typeface="Microsoft YaHei"/>
              </a:rPr>
              <a:t>对光</a:t>
            </a:r>
            <a:r>
              <a:rPr dirty="0" sz="1100" spc="-50">
                <a:latin typeface="Microsoft YaHei"/>
                <a:cs typeface="Microsoft YaHei"/>
              </a:rPr>
              <a:t>纤</a:t>
            </a:r>
            <a:r>
              <a:rPr dirty="0" sz="1100">
                <a:latin typeface="Microsoft YaHei"/>
                <a:cs typeface="Microsoft YaHei"/>
              </a:rPr>
              <a:t>	</a:t>
            </a:r>
            <a:r>
              <a:rPr dirty="0" sz="1100" spc="-10">
                <a:latin typeface="Arial MT"/>
                <a:cs typeface="Arial MT"/>
              </a:rPr>
              <a:t>1</a:t>
            </a:r>
            <a:r>
              <a:rPr dirty="0" sz="1100" spc="-20">
                <a:latin typeface="Microsoft YaHei"/>
                <a:cs typeface="Microsoft YaHei"/>
              </a:rPr>
              <a:t>频</a:t>
            </a:r>
            <a:r>
              <a:rPr dirty="0" sz="1100" spc="-50">
                <a:latin typeface="Microsoft YaHei"/>
                <a:cs typeface="Microsoft YaHei"/>
              </a:rPr>
              <a:t>点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5029140" y="2507183"/>
            <a:ext cx="950594" cy="5111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484505">
              <a:lnSpc>
                <a:spcPct val="100000"/>
              </a:lnSpc>
              <a:spcBef>
                <a:spcPts val="720"/>
              </a:spcBef>
            </a:pPr>
            <a:r>
              <a:rPr dirty="0" sz="1000">
                <a:latin typeface="Microsoft YaHei"/>
                <a:cs typeface="Microsoft YaHei"/>
              </a:rPr>
              <a:t>光交箱</a:t>
            </a:r>
            <a:r>
              <a:rPr dirty="0" sz="1000" spc="-50"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dirty="0" sz="1100" spc="-10">
                <a:latin typeface="Arial MT"/>
                <a:cs typeface="Arial MT"/>
              </a:rPr>
              <a:t>3</a:t>
            </a:r>
            <a:r>
              <a:rPr dirty="0" sz="1100" spc="-35">
                <a:latin typeface="Microsoft YaHei"/>
                <a:cs typeface="Microsoft YaHei"/>
              </a:rPr>
              <a:t>对光纤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5302030" y="1821573"/>
            <a:ext cx="4654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icrosoft YaHei"/>
                <a:cs typeface="Microsoft YaHei"/>
              </a:rPr>
              <a:t>光交箱</a:t>
            </a:r>
            <a:r>
              <a:rPr dirty="0" sz="1000" spc="-50"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2960302" y="2171521"/>
            <a:ext cx="4654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6</a:t>
            </a:r>
            <a:r>
              <a:rPr dirty="0" sz="1000" spc="-20">
                <a:latin typeface="Microsoft YaHei"/>
                <a:cs typeface="Microsoft YaHei"/>
              </a:rPr>
              <a:t>芯光纤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4636746" y="2174066"/>
            <a:ext cx="536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18</a:t>
            </a:r>
            <a:r>
              <a:rPr dirty="0" sz="1000" spc="-20">
                <a:latin typeface="Microsoft YaHei"/>
                <a:cs typeface="Microsoft YaHei"/>
              </a:rPr>
              <a:t>芯光纤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6107421" y="2544630"/>
            <a:ext cx="536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24</a:t>
            </a:r>
            <a:r>
              <a:rPr dirty="0" sz="1000" spc="-20">
                <a:latin typeface="Microsoft YaHei"/>
                <a:cs typeface="Microsoft YaHei"/>
              </a:rPr>
              <a:t>芯光纤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6045193" y="1646981"/>
            <a:ext cx="4654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6</a:t>
            </a:r>
            <a:r>
              <a:rPr dirty="0" sz="1000" spc="-20">
                <a:latin typeface="Microsoft YaHei"/>
                <a:cs typeface="Microsoft YaHei"/>
              </a:rPr>
              <a:t>芯光纤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4380961" y="1515413"/>
            <a:ext cx="5829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6</a:t>
            </a:r>
            <a:r>
              <a:rPr dirty="0" sz="1100" spc="-35">
                <a:latin typeface="Microsoft YaHei"/>
                <a:cs typeface="Microsoft YaHei"/>
              </a:rPr>
              <a:t>对光纤</a:t>
            </a:r>
            <a:endParaRPr sz="1100">
              <a:latin typeface="Microsoft YaHei"/>
              <a:cs typeface="Microsoft YaHei"/>
            </a:endParaRPr>
          </a:p>
          <a:p>
            <a:pPr marL="222885">
              <a:lnSpc>
                <a:spcPct val="100000"/>
              </a:lnSpc>
              <a:spcBef>
                <a:spcPts val="1320"/>
              </a:spcBef>
            </a:pPr>
            <a:r>
              <a:rPr dirty="0" sz="1000">
                <a:latin typeface="Microsoft YaHei"/>
                <a:cs typeface="Microsoft YaHei"/>
              </a:rPr>
              <a:t>基站</a:t>
            </a:r>
            <a:r>
              <a:rPr dirty="0" sz="1000" spc="-50">
                <a:latin typeface="Arial MT"/>
                <a:cs typeface="Arial MT"/>
              </a:rPr>
              <a:t>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9" name="object 109" descr=""/>
          <p:cNvSpPr/>
          <p:nvPr/>
        </p:nvSpPr>
        <p:spPr>
          <a:xfrm>
            <a:off x="445769" y="928674"/>
            <a:ext cx="8256270" cy="2545715"/>
          </a:xfrm>
          <a:custGeom>
            <a:avLst/>
            <a:gdLst/>
            <a:ahLst/>
            <a:cxnLst/>
            <a:rect l="l" t="t" r="r" b="b"/>
            <a:pathLst>
              <a:path w="8256270" h="2545715">
                <a:moveTo>
                  <a:pt x="0" y="0"/>
                </a:moveTo>
                <a:lnTo>
                  <a:pt x="8255939" y="0"/>
                </a:lnTo>
                <a:lnTo>
                  <a:pt x="8255939" y="2545702"/>
                </a:lnTo>
                <a:lnTo>
                  <a:pt x="0" y="2545702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 txBox="1"/>
          <p:nvPr/>
        </p:nvSpPr>
        <p:spPr>
          <a:xfrm>
            <a:off x="547353" y="3243764"/>
            <a:ext cx="5616575" cy="134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7535">
              <a:lnSpc>
                <a:spcPct val="100000"/>
              </a:lnSpc>
              <a:spcBef>
                <a:spcPts val="100"/>
              </a:spcBef>
              <a:tabLst>
                <a:tab pos="2357755" algn="l"/>
                <a:tab pos="4109085" algn="l"/>
              </a:tabLst>
            </a:pPr>
            <a:r>
              <a:rPr dirty="0" sz="1000">
                <a:latin typeface="Microsoft YaHei"/>
                <a:cs typeface="Microsoft YaHei"/>
              </a:rPr>
              <a:t>基站</a:t>
            </a:r>
            <a:r>
              <a:rPr dirty="0" sz="1000" spc="-50">
                <a:latin typeface="Arial MT"/>
                <a:cs typeface="Arial MT"/>
              </a:rPr>
              <a:t>A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baseline="2777" sz="1500">
                <a:latin typeface="Microsoft YaHei"/>
                <a:cs typeface="Microsoft YaHei"/>
              </a:rPr>
              <a:t>基站</a:t>
            </a:r>
            <a:r>
              <a:rPr dirty="0" baseline="2777" sz="1500" spc="-75">
                <a:latin typeface="Arial MT"/>
                <a:cs typeface="Arial MT"/>
              </a:rPr>
              <a:t>B</a:t>
            </a:r>
            <a:r>
              <a:rPr dirty="0" baseline="2777" sz="1500">
                <a:latin typeface="Arial MT"/>
                <a:cs typeface="Arial MT"/>
              </a:rPr>
              <a:t>	</a:t>
            </a:r>
            <a:r>
              <a:rPr dirty="0" baseline="5555" sz="1500">
                <a:latin typeface="Microsoft YaHei"/>
                <a:cs typeface="Microsoft YaHei"/>
              </a:rPr>
              <a:t>基站</a:t>
            </a:r>
            <a:r>
              <a:rPr dirty="0" baseline="5555" sz="1500" spc="-75">
                <a:latin typeface="Arial MT"/>
                <a:cs typeface="Arial MT"/>
              </a:rPr>
              <a:t>C</a:t>
            </a:r>
            <a:endParaRPr baseline="5555"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Arial MT"/>
              <a:cs typeface="Arial MT"/>
            </a:endParaRPr>
          </a:p>
          <a:p>
            <a:pPr marL="83820" indent="-79375">
              <a:lnSpc>
                <a:spcPct val="100000"/>
              </a:lnSpc>
              <a:spcBef>
                <a:spcPts val="5"/>
              </a:spcBef>
              <a:buSzPct val="93750"/>
              <a:buChar char="•"/>
              <a:tabLst>
                <a:tab pos="83820" algn="l"/>
              </a:tabLst>
            </a:pPr>
            <a:r>
              <a:rPr dirty="0" sz="1600" spc="-20">
                <a:latin typeface="Arial MT"/>
                <a:cs typeface="Arial MT"/>
              </a:rPr>
              <a:t>5G</a:t>
            </a:r>
            <a:r>
              <a:rPr dirty="0" sz="1600">
                <a:latin typeface="SimSun"/>
                <a:cs typeface="SimSun"/>
              </a:rPr>
              <a:t>初期（低频组网</a:t>
            </a:r>
            <a:r>
              <a:rPr dirty="0" sz="1600" spc="-25">
                <a:latin typeface="SimSun"/>
                <a:cs typeface="SimSun"/>
              </a:rPr>
              <a:t>）：</a:t>
            </a:r>
            <a:endParaRPr sz="1600">
              <a:latin typeface="SimSun"/>
              <a:cs typeface="SimSun"/>
            </a:endParaRPr>
          </a:p>
          <a:p>
            <a:pPr marL="412115">
              <a:lnSpc>
                <a:spcPct val="100000"/>
              </a:lnSpc>
              <a:spcBef>
                <a:spcPts val="280"/>
              </a:spcBef>
            </a:pPr>
            <a:r>
              <a:rPr dirty="0" sz="1400" spc="-10">
                <a:latin typeface="Arial MT"/>
                <a:cs typeface="Arial MT"/>
              </a:rPr>
              <a:t>–</a:t>
            </a:r>
            <a:r>
              <a:rPr dirty="0" sz="1400" spc="-20">
                <a:latin typeface="SimSun"/>
                <a:cs typeface="SimSun"/>
              </a:rPr>
              <a:t>单个基站：</a:t>
            </a:r>
            <a:r>
              <a:rPr dirty="0" sz="1400" spc="-10">
                <a:latin typeface="Arial MT"/>
                <a:cs typeface="Arial MT"/>
              </a:rPr>
              <a:t>3</a:t>
            </a:r>
            <a:r>
              <a:rPr dirty="0" sz="1400" spc="-20">
                <a:latin typeface="SimSun"/>
                <a:cs typeface="SimSun"/>
              </a:rPr>
              <a:t>个</a:t>
            </a:r>
            <a:r>
              <a:rPr dirty="0" sz="1400" spc="-10">
                <a:latin typeface="Arial MT"/>
                <a:cs typeface="Arial MT"/>
              </a:rPr>
              <a:t>Cell</a:t>
            </a:r>
            <a:r>
              <a:rPr dirty="0" sz="1400" spc="-10">
                <a:latin typeface="SimSun"/>
                <a:cs typeface="SimSun"/>
              </a:rPr>
              <a:t>，</a:t>
            </a:r>
            <a:r>
              <a:rPr dirty="0" sz="1400" spc="-10">
                <a:latin typeface="Arial MT"/>
                <a:cs typeface="Arial MT"/>
              </a:rPr>
              <a:t>6</a:t>
            </a:r>
            <a:r>
              <a:rPr dirty="0" sz="1400" spc="-20">
                <a:latin typeface="SimSun"/>
                <a:cs typeface="SimSun"/>
              </a:rPr>
              <a:t>根光纤（单纤单向</a:t>
            </a:r>
            <a:r>
              <a:rPr dirty="0" sz="1400" spc="-10">
                <a:latin typeface="SimSun"/>
                <a:cs typeface="SimSun"/>
              </a:rPr>
              <a:t>）</a:t>
            </a:r>
            <a:r>
              <a:rPr dirty="0" sz="1400" spc="-10">
                <a:latin typeface="Arial MT"/>
                <a:cs typeface="Arial MT"/>
              </a:rPr>
              <a:t>/3</a:t>
            </a:r>
            <a:r>
              <a:rPr dirty="0" sz="1400" spc="-20">
                <a:latin typeface="SimSun"/>
                <a:cs typeface="SimSun"/>
              </a:rPr>
              <a:t>根光纤（但纤双向</a:t>
            </a:r>
            <a:r>
              <a:rPr dirty="0" sz="1400" spc="-50">
                <a:latin typeface="SimSun"/>
                <a:cs typeface="SimSun"/>
              </a:rPr>
              <a:t>）</a:t>
            </a:r>
            <a:endParaRPr sz="1400">
              <a:latin typeface="SimSun"/>
              <a:cs typeface="SimSun"/>
            </a:endParaRPr>
          </a:p>
          <a:p>
            <a:pPr marL="412115">
              <a:lnSpc>
                <a:spcPct val="100000"/>
              </a:lnSpc>
              <a:spcBef>
                <a:spcPts val="254"/>
              </a:spcBef>
            </a:pPr>
            <a:r>
              <a:rPr dirty="0" sz="1400" spc="-10">
                <a:latin typeface="Arial MT"/>
                <a:cs typeface="Arial MT"/>
              </a:rPr>
              <a:t>–3G/4G/5G</a:t>
            </a:r>
            <a:r>
              <a:rPr dirty="0" sz="1400" spc="-25">
                <a:latin typeface="SimSun"/>
                <a:cs typeface="SimSun"/>
              </a:rPr>
              <a:t>共站：所需光纤资源累加</a:t>
            </a:r>
            <a:endParaRPr sz="1400">
              <a:latin typeface="SimSun"/>
              <a:cs typeface="SimSun"/>
            </a:endParaRPr>
          </a:p>
          <a:p>
            <a:pPr marL="83820" indent="-79375">
              <a:lnSpc>
                <a:spcPct val="100000"/>
              </a:lnSpc>
              <a:spcBef>
                <a:spcPts val="254"/>
              </a:spcBef>
              <a:buSzPct val="93750"/>
              <a:buChar char="•"/>
              <a:tabLst>
                <a:tab pos="83820" algn="l"/>
              </a:tabLst>
            </a:pPr>
            <a:r>
              <a:rPr dirty="0" sz="1600" spc="-20">
                <a:latin typeface="Arial MT"/>
                <a:cs typeface="Arial MT"/>
              </a:rPr>
              <a:t>5G</a:t>
            </a:r>
            <a:r>
              <a:rPr dirty="0" sz="1600">
                <a:latin typeface="SimSun"/>
                <a:cs typeface="SimSun"/>
              </a:rPr>
              <a:t>成熟期（</a:t>
            </a:r>
            <a:r>
              <a:rPr dirty="0" sz="1600" spc="-5">
                <a:latin typeface="SimSun"/>
                <a:cs typeface="SimSun"/>
              </a:rPr>
              <a:t>高频组网或低频增点</a:t>
            </a:r>
            <a:r>
              <a:rPr dirty="0" sz="1600" spc="-10">
                <a:latin typeface="SimSun"/>
                <a:cs typeface="SimSun"/>
              </a:rPr>
              <a:t>）</a:t>
            </a:r>
            <a:r>
              <a:rPr dirty="0" sz="1600" spc="-15">
                <a:latin typeface="SimSun"/>
                <a:cs typeface="SimSun"/>
              </a:rPr>
              <a:t>：增加更多的光纤资源</a:t>
            </a:r>
            <a:endParaRPr sz="1600">
              <a:latin typeface="SimSun"/>
              <a:cs typeface="SimSun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6291071" y="4208526"/>
            <a:ext cx="2256790" cy="481330"/>
            <a:chOff x="6291071" y="4208526"/>
            <a:chExt cx="2256790" cy="481330"/>
          </a:xfrm>
        </p:grpSpPr>
        <p:pic>
          <p:nvPicPr>
            <p:cNvPr id="112" name="object 1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2219" y="4228337"/>
              <a:ext cx="2215132" cy="461009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91071" y="4208526"/>
              <a:ext cx="2134360" cy="426719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77927" y="4254055"/>
              <a:ext cx="2123262" cy="369328"/>
            </a:xfrm>
            <a:prstGeom prst="rect">
              <a:avLst/>
            </a:prstGeom>
          </p:spPr>
        </p:pic>
      </p:grpSp>
      <p:sp>
        <p:nvSpPr>
          <p:cNvPr id="115" name="object 115" descr=""/>
          <p:cNvSpPr txBox="1"/>
          <p:nvPr/>
        </p:nvSpPr>
        <p:spPr>
          <a:xfrm>
            <a:off x="6377932" y="4254054"/>
            <a:ext cx="2123440" cy="369570"/>
          </a:xfrm>
          <a:prstGeom prst="rect">
            <a:avLst/>
          </a:prstGeom>
          <a:ln w="9525">
            <a:solidFill>
              <a:srgbClr val="B6DCD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1800" spc="-5" b="1">
                <a:solidFill>
                  <a:srgbClr val="FF0000"/>
                </a:solidFill>
                <a:latin typeface="Microsoft YaHei"/>
                <a:cs typeface="Microsoft YaHei"/>
              </a:rPr>
              <a:t>解决方案：</a:t>
            </a:r>
            <a:r>
              <a:rPr dirty="0" sz="1800" spc="-20" b="1">
                <a:solidFill>
                  <a:srgbClr val="FF0000"/>
                </a:solidFill>
                <a:latin typeface="Arial"/>
                <a:cs typeface="Arial"/>
              </a:rPr>
              <a:t>WDM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0632" y="112660"/>
            <a:ext cx="29857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前传承载方案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6360" y="1514855"/>
            <a:ext cx="396227" cy="7254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52747" y="1657597"/>
            <a:ext cx="12446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O A D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19892" y="1329677"/>
            <a:ext cx="2515870" cy="872490"/>
            <a:chOff x="1019892" y="1329677"/>
            <a:chExt cx="2515870" cy="87249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6847" y="1763001"/>
              <a:ext cx="1429524" cy="4151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6898" y="1849932"/>
              <a:ext cx="1429423" cy="381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27830" y="1337614"/>
              <a:ext cx="412115" cy="304800"/>
            </a:xfrm>
            <a:custGeom>
              <a:avLst/>
              <a:gdLst/>
              <a:ahLst/>
              <a:cxnLst/>
              <a:rect l="l" t="t" r="r" b="b"/>
              <a:pathLst>
                <a:path w="412115" h="304800">
                  <a:moveTo>
                    <a:pt x="0" y="0"/>
                  </a:moveTo>
                  <a:lnTo>
                    <a:pt x="411568" y="304253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27830" y="1764624"/>
              <a:ext cx="412115" cy="1270"/>
            </a:xfrm>
            <a:custGeom>
              <a:avLst/>
              <a:gdLst/>
              <a:ahLst/>
              <a:cxnLst/>
              <a:rect l="l" t="t" r="r" b="b"/>
              <a:pathLst>
                <a:path w="412115" h="1269">
                  <a:moveTo>
                    <a:pt x="0" y="0"/>
                  </a:moveTo>
                  <a:lnTo>
                    <a:pt x="411568" y="1016"/>
                  </a:lnTo>
                </a:path>
              </a:pathLst>
            </a:custGeom>
            <a:ln w="15875">
              <a:solidFill>
                <a:srgbClr val="008F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30448" y="1857310"/>
              <a:ext cx="409575" cy="336550"/>
            </a:xfrm>
            <a:custGeom>
              <a:avLst/>
              <a:gdLst/>
              <a:ahLst/>
              <a:cxnLst/>
              <a:rect l="l" t="t" r="r" b="b"/>
              <a:pathLst>
                <a:path w="409575" h="336550">
                  <a:moveTo>
                    <a:pt x="0" y="336346"/>
                  </a:moveTo>
                  <a:lnTo>
                    <a:pt x="408952" y="0"/>
                  </a:lnTo>
                </a:path>
              </a:pathLst>
            </a:custGeom>
            <a:ln w="1587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05387" y="1760355"/>
              <a:ext cx="322580" cy="0"/>
            </a:xfrm>
            <a:custGeom>
              <a:avLst/>
              <a:gdLst/>
              <a:ahLst/>
              <a:cxnLst/>
              <a:rect l="l" t="t" r="r" b="b"/>
              <a:pathLst>
                <a:path w="322579" h="0">
                  <a:moveTo>
                    <a:pt x="0" y="0"/>
                  </a:moveTo>
                  <a:lnTo>
                    <a:pt x="322262" y="0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335925" y="2043220"/>
            <a:ext cx="4127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E3E3E"/>
                </a:solidFill>
                <a:latin typeface="Arial MT"/>
                <a:cs typeface="Arial MT"/>
              </a:rPr>
              <a:t>5G</a:t>
            </a:r>
            <a:r>
              <a:rPr dirty="0" sz="1000" spc="-2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3E3E3E"/>
                </a:solidFill>
                <a:latin typeface="Arial MT"/>
                <a:cs typeface="Arial MT"/>
              </a:rPr>
              <a:t>DU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7758" y="1278678"/>
            <a:ext cx="286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3E3E3E"/>
                </a:solidFill>
                <a:latin typeface="Arial MT"/>
                <a:cs typeface="Arial MT"/>
              </a:rPr>
              <a:t>AAU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0176" y="1616028"/>
            <a:ext cx="286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3E3E3E"/>
                </a:solidFill>
                <a:latin typeface="Arial MT"/>
                <a:cs typeface="Arial MT"/>
              </a:rPr>
              <a:t>AAU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20176" y="2026295"/>
            <a:ext cx="286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3E3E3E"/>
                </a:solidFill>
                <a:latin typeface="Arial MT"/>
                <a:cs typeface="Arial MT"/>
              </a:rPr>
              <a:t>AAU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38060" y="1118812"/>
            <a:ext cx="2520950" cy="1294130"/>
            <a:chOff x="838060" y="1118812"/>
            <a:chExt cx="2520950" cy="1294130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060" y="1118812"/>
              <a:ext cx="192388" cy="129364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2655" y="1511820"/>
              <a:ext cx="396240" cy="72541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3059647" y="1653306"/>
            <a:ext cx="4813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7359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dirty="0" u="heavy" sz="1000">
                <a:solidFill>
                  <a:srgbClr val="FFFFFF"/>
                </a:solidFill>
                <a:uFill>
                  <a:solidFill>
                    <a:srgbClr val="008FD4"/>
                  </a:solidFill>
                </a:uFill>
                <a:latin typeface="Arial MT"/>
                <a:cs typeface="Arial MT"/>
              </a:rPr>
              <a:t>	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9647" y="1805756"/>
            <a:ext cx="4889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dirty="0" u="heavy" sz="1000">
                <a:solidFill>
                  <a:srgbClr val="FFFFFF"/>
                </a:solidFill>
                <a:uFill>
                  <a:solidFill>
                    <a:srgbClr val="92D050"/>
                  </a:solidFill>
                </a:uFill>
                <a:latin typeface="Arial MT"/>
                <a:cs typeface="Arial MT"/>
              </a:rPr>
              <a:t>	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059647" y="1958206"/>
            <a:ext cx="1174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393697" y="843533"/>
            <a:ext cx="2670810" cy="1146175"/>
            <a:chOff x="1393697" y="843533"/>
            <a:chExt cx="2670810" cy="1146175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9334" y="1705724"/>
              <a:ext cx="249184" cy="28371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0147" y="1705712"/>
              <a:ext cx="249184" cy="28371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3697" y="843533"/>
              <a:ext cx="2670809" cy="40995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9392" y="873937"/>
              <a:ext cx="2579116" cy="313740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1796982" y="2236923"/>
            <a:ext cx="941069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0000"/>
                </a:solidFill>
                <a:latin typeface="Microsoft YaHei"/>
                <a:cs typeface="Microsoft YaHei"/>
              </a:rPr>
              <a:t>无源</a:t>
            </a:r>
            <a:r>
              <a:rPr dirty="0" sz="1600" spc="-25">
                <a:solidFill>
                  <a:srgbClr val="FF0000"/>
                </a:solidFill>
                <a:latin typeface="Arial MT"/>
                <a:cs typeface="Arial MT"/>
              </a:rPr>
              <a:t>WDM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376230" y="1299912"/>
            <a:ext cx="2444115" cy="1143000"/>
            <a:chOff x="5376230" y="1299912"/>
            <a:chExt cx="2444115" cy="1143000"/>
          </a:xfrm>
        </p:grpSpPr>
        <p:sp>
          <p:nvSpPr>
            <p:cNvPr id="29" name="object 29" descr=""/>
            <p:cNvSpPr/>
            <p:nvPr/>
          </p:nvSpPr>
          <p:spPr>
            <a:xfrm>
              <a:off x="5390518" y="1314200"/>
              <a:ext cx="2415540" cy="1114425"/>
            </a:xfrm>
            <a:custGeom>
              <a:avLst/>
              <a:gdLst/>
              <a:ahLst/>
              <a:cxnLst/>
              <a:rect l="l" t="t" r="r" b="b"/>
              <a:pathLst>
                <a:path w="2415540" h="1114425">
                  <a:moveTo>
                    <a:pt x="1549321" y="1008587"/>
                  </a:moveTo>
                  <a:lnTo>
                    <a:pt x="922348" y="1008587"/>
                  </a:lnTo>
                  <a:lnTo>
                    <a:pt x="954196" y="1034524"/>
                  </a:lnTo>
                  <a:lnTo>
                    <a:pt x="991129" y="1057302"/>
                  </a:lnTo>
                  <a:lnTo>
                    <a:pt x="1032560" y="1076645"/>
                  </a:lnTo>
                  <a:lnTo>
                    <a:pt x="1077897" y="1092278"/>
                  </a:lnTo>
                  <a:lnTo>
                    <a:pt x="1126551" y="1103926"/>
                  </a:lnTo>
                  <a:lnTo>
                    <a:pt x="1181062" y="1111632"/>
                  </a:lnTo>
                  <a:lnTo>
                    <a:pt x="1235401" y="1114178"/>
                  </a:lnTo>
                  <a:lnTo>
                    <a:pt x="1288840" y="1111812"/>
                  </a:lnTo>
                  <a:lnTo>
                    <a:pt x="1340652" y="1104776"/>
                  </a:lnTo>
                  <a:lnTo>
                    <a:pt x="1390109" y="1093318"/>
                  </a:lnTo>
                  <a:lnTo>
                    <a:pt x="1436486" y="1077681"/>
                  </a:lnTo>
                  <a:lnTo>
                    <a:pt x="1479054" y="1058111"/>
                  </a:lnTo>
                  <a:lnTo>
                    <a:pt x="1517085" y="1034854"/>
                  </a:lnTo>
                  <a:lnTo>
                    <a:pt x="1549321" y="1008587"/>
                  </a:lnTo>
                  <a:close/>
                </a:path>
                <a:path w="2415540" h="1114425">
                  <a:moveTo>
                    <a:pt x="592892" y="98005"/>
                  </a:moveTo>
                  <a:lnTo>
                    <a:pt x="542656" y="100169"/>
                  </a:lnTo>
                  <a:lnTo>
                    <a:pt x="482713" y="108422"/>
                  </a:lnTo>
                  <a:lnTo>
                    <a:pt x="427144" y="122231"/>
                  </a:lnTo>
                  <a:lnTo>
                    <a:pt x="376613" y="141048"/>
                  </a:lnTo>
                  <a:lnTo>
                    <a:pt x="331787" y="164322"/>
                  </a:lnTo>
                  <a:lnTo>
                    <a:pt x="293328" y="191506"/>
                  </a:lnTo>
                  <a:lnTo>
                    <a:pt x="261902" y="222049"/>
                  </a:lnTo>
                  <a:lnTo>
                    <a:pt x="238174" y="255404"/>
                  </a:lnTo>
                  <a:lnTo>
                    <a:pt x="222808" y="291020"/>
                  </a:lnTo>
                  <a:lnTo>
                    <a:pt x="216469" y="328350"/>
                  </a:lnTo>
                  <a:lnTo>
                    <a:pt x="219822" y="366843"/>
                  </a:lnTo>
                  <a:lnTo>
                    <a:pt x="217790" y="370311"/>
                  </a:lnTo>
                  <a:lnTo>
                    <a:pt x="162015" y="378216"/>
                  </a:lnTo>
                  <a:lnTo>
                    <a:pt x="111356" y="393888"/>
                  </a:lnTo>
                  <a:lnTo>
                    <a:pt x="67791" y="416523"/>
                  </a:lnTo>
                  <a:lnTo>
                    <a:pt x="33297" y="445317"/>
                  </a:lnTo>
                  <a:lnTo>
                    <a:pt x="8181" y="483239"/>
                  </a:lnTo>
                  <a:lnTo>
                    <a:pt x="0" y="522637"/>
                  </a:lnTo>
                  <a:lnTo>
                    <a:pt x="7924" y="561511"/>
                  </a:lnTo>
                  <a:lnTo>
                    <a:pt x="31128" y="597863"/>
                  </a:lnTo>
                  <a:lnTo>
                    <a:pt x="68783" y="629694"/>
                  </a:lnTo>
                  <a:lnTo>
                    <a:pt x="120063" y="655006"/>
                  </a:lnTo>
                  <a:lnTo>
                    <a:pt x="88214" y="681636"/>
                  </a:lnTo>
                  <a:lnTo>
                    <a:pt x="66531" y="711595"/>
                  </a:lnTo>
                  <a:lnTo>
                    <a:pt x="55600" y="743768"/>
                  </a:lnTo>
                  <a:lnTo>
                    <a:pt x="55782" y="758770"/>
                  </a:lnTo>
                  <a:lnTo>
                    <a:pt x="55904" y="768748"/>
                  </a:lnTo>
                  <a:lnTo>
                    <a:pt x="56005" y="777041"/>
                  </a:lnTo>
                  <a:lnTo>
                    <a:pt x="93062" y="841867"/>
                  </a:lnTo>
                  <a:lnTo>
                    <a:pt x="126876" y="867902"/>
                  </a:lnTo>
                  <a:lnTo>
                    <a:pt x="168719" y="888612"/>
                  </a:lnTo>
                  <a:lnTo>
                    <a:pt x="216967" y="903196"/>
                  </a:lnTo>
                  <a:lnTo>
                    <a:pt x="270001" y="910850"/>
                  </a:lnTo>
                  <a:lnTo>
                    <a:pt x="326269" y="910850"/>
                  </a:lnTo>
                  <a:lnTo>
                    <a:pt x="329207" y="914048"/>
                  </a:lnTo>
                  <a:lnTo>
                    <a:pt x="361496" y="943800"/>
                  </a:lnTo>
                  <a:lnTo>
                    <a:pt x="396730" y="968749"/>
                  </a:lnTo>
                  <a:lnTo>
                    <a:pt x="435903" y="990435"/>
                  </a:lnTo>
                  <a:lnTo>
                    <a:pt x="478462" y="1008768"/>
                  </a:lnTo>
                  <a:lnTo>
                    <a:pt x="523851" y="1023664"/>
                  </a:lnTo>
                  <a:lnTo>
                    <a:pt x="571516" y="1035033"/>
                  </a:lnTo>
                  <a:lnTo>
                    <a:pt x="620904" y="1042790"/>
                  </a:lnTo>
                  <a:lnTo>
                    <a:pt x="671459" y="1046848"/>
                  </a:lnTo>
                  <a:lnTo>
                    <a:pt x="722627" y="1047118"/>
                  </a:lnTo>
                  <a:lnTo>
                    <a:pt x="773855" y="1043514"/>
                  </a:lnTo>
                  <a:lnTo>
                    <a:pt x="824587" y="1035949"/>
                  </a:lnTo>
                  <a:lnTo>
                    <a:pt x="874269" y="1024336"/>
                  </a:lnTo>
                  <a:lnTo>
                    <a:pt x="922348" y="1008587"/>
                  </a:lnTo>
                  <a:lnTo>
                    <a:pt x="1549321" y="1008587"/>
                  </a:lnTo>
                  <a:lnTo>
                    <a:pt x="1549854" y="1008153"/>
                  </a:lnTo>
                  <a:lnTo>
                    <a:pt x="1576632" y="978255"/>
                  </a:lnTo>
                  <a:lnTo>
                    <a:pt x="1596692" y="945405"/>
                  </a:lnTo>
                  <a:lnTo>
                    <a:pt x="1937498" y="945405"/>
                  </a:lnTo>
                  <a:lnTo>
                    <a:pt x="1973913" y="929519"/>
                  </a:lnTo>
                  <a:lnTo>
                    <a:pt x="2013161" y="905273"/>
                  </a:lnTo>
                  <a:lnTo>
                    <a:pt x="2045395" y="877129"/>
                  </a:lnTo>
                  <a:lnTo>
                    <a:pt x="2069694" y="845657"/>
                  </a:lnTo>
                  <a:lnTo>
                    <a:pt x="2090811" y="774996"/>
                  </a:lnTo>
                  <a:lnTo>
                    <a:pt x="2138361" y="768748"/>
                  </a:lnTo>
                  <a:lnTo>
                    <a:pt x="2184061" y="758770"/>
                  </a:lnTo>
                  <a:lnTo>
                    <a:pt x="2227361" y="745208"/>
                  </a:lnTo>
                  <a:lnTo>
                    <a:pt x="2267710" y="728209"/>
                  </a:lnTo>
                  <a:lnTo>
                    <a:pt x="2313362" y="702258"/>
                  </a:lnTo>
                  <a:lnTo>
                    <a:pt x="2350798" y="672838"/>
                  </a:lnTo>
                  <a:lnTo>
                    <a:pt x="2379874" y="640635"/>
                  </a:lnTo>
                  <a:lnTo>
                    <a:pt x="2400447" y="606336"/>
                  </a:lnTo>
                  <a:lnTo>
                    <a:pt x="2415511" y="534192"/>
                  </a:lnTo>
                  <a:lnTo>
                    <a:pt x="2409717" y="497720"/>
                  </a:lnTo>
                  <a:lnTo>
                    <a:pt x="2394846" y="461895"/>
                  </a:lnTo>
                  <a:lnTo>
                    <a:pt x="2370757" y="427405"/>
                  </a:lnTo>
                  <a:lnTo>
                    <a:pt x="2337306" y="394936"/>
                  </a:lnTo>
                  <a:lnTo>
                    <a:pt x="2341225" y="388893"/>
                  </a:lnTo>
                  <a:lnTo>
                    <a:pt x="2344807" y="382771"/>
                  </a:lnTo>
                  <a:lnTo>
                    <a:pt x="2348048" y="376575"/>
                  </a:lnTo>
                  <a:lnTo>
                    <a:pt x="2350945" y="370311"/>
                  </a:lnTo>
                  <a:lnTo>
                    <a:pt x="2360874" y="332851"/>
                  </a:lnTo>
                  <a:lnTo>
                    <a:pt x="2358815" y="296023"/>
                  </a:lnTo>
                  <a:lnTo>
                    <a:pt x="2322101" y="227964"/>
                  </a:lnTo>
                  <a:lnTo>
                    <a:pt x="2289126" y="198584"/>
                  </a:lnTo>
                  <a:lnTo>
                    <a:pt x="2247529" y="173538"/>
                  </a:lnTo>
                  <a:lnTo>
                    <a:pt x="2198149" y="153751"/>
                  </a:lnTo>
                  <a:lnTo>
                    <a:pt x="2141827" y="140148"/>
                  </a:lnTo>
                  <a:lnTo>
                    <a:pt x="2137661" y="130509"/>
                  </a:lnTo>
                  <a:lnTo>
                    <a:pt x="784121" y="130509"/>
                  </a:lnTo>
                  <a:lnTo>
                    <a:pt x="739078" y="116372"/>
                  </a:lnTo>
                  <a:lnTo>
                    <a:pt x="691757" y="106188"/>
                  </a:lnTo>
                  <a:lnTo>
                    <a:pt x="642811" y="100039"/>
                  </a:lnTo>
                  <a:lnTo>
                    <a:pt x="592892" y="98005"/>
                  </a:lnTo>
                  <a:close/>
                </a:path>
                <a:path w="2415540" h="1114425">
                  <a:moveTo>
                    <a:pt x="1937498" y="945405"/>
                  </a:moveTo>
                  <a:lnTo>
                    <a:pt x="1596692" y="945405"/>
                  </a:lnTo>
                  <a:lnTo>
                    <a:pt x="1635965" y="958528"/>
                  </a:lnTo>
                  <a:lnTo>
                    <a:pt x="1677541" y="968104"/>
                  </a:lnTo>
                  <a:lnTo>
                    <a:pt x="1720812" y="974021"/>
                  </a:lnTo>
                  <a:lnTo>
                    <a:pt x="1765171" y="976164"/>
                  </a:lnTo>
                  <a:lnTo>
                    <a:pt x="1823279" y="973190"/>
                  </a:lnTo>
                  <a:lnTo>
                    <a:pt x="1878052" y="964046"/>
                  </a:lnTo>
                  <a:lnTo>
                    <a:pt x="1928570" y="949299"/>
                  </a:lnTo>
                  <a:lnTo>
                    <a:pt x="1937498" y="945405"/>
                  </a:lnTo>
                  <a:close/>
                </a:path>
                <a:path w="2415540" h="1114425">
                  <a:moveTo>
                    <a:pt x="1035022" y="31175"/>
                  </a:moveTo>
                  <a:lnTo>
                    <a:pt x="984532" y="35233"/>
                  </a:lnTo>
                  <a:lnTo>
                    <a:pt x="935994" y="44582"/>
                  </a:lnTo>
                  <a:lnTo>
                    <a:pt x="890547" y="59003"/>
                  </a:lnTo>
                  <a:lnTo>
                    <a:pt x="849328" y="78277"/>
                  </a:lnTo>
                  <a:lnTo>
                    <a:pt x="813473" y="102185"/>
                  </a:lnTo>
                  <a:lnTo>
                    <a:pt x="784121" y="130509"/>
                  </a:lnTo>
                  <a:lnTo>
                    <a:pt x="2137661" y="130509"/>
                  </a:lnTo>
                  <a:lnTo>
                    <a:pt x="2129572" y="111797"/>
                  </a:lnTo>
                  <a:lnTo>
                    <a:pt x="2109880" y="85375"/>
                  </a:lnTo>
                  <a:lnTo>
                    <a:pt x="2109328" y="84878"/>
                  </a:lnTo>
                  <a:lnTo>
                    <a:pt x="1256040" y="84878"/>
                  </a:lnTo>
                  <a:lnTo>
                    <a:pt x="1240152" y="75730"/>
                  </a:lnTo>
                  <a:lnTo>
                    <a:pt x="1205484" y="59729"/>
                  </a:lnTo>
                  <a:lnTo>
                    <a:pt x="1137313" y="39809"/>
                  </a:lnTo>
                  <a:lnTo>
                    <a:pt x="1086328" y="32628"/>
                  </a:lnTo>
                  <a:lnTo>
                    <a:pt x="1035022" y="31175"/>
                  </a:lnTo>
                  <a:close/>
                </a:path>
                <a:path w="2415540" h="1114425">
                  <a:moveTo>
                    <a:pt x="1475989" y="0"/>
                  </a:moveTo>
                  <a:lnTo>
                    <a:pt x="1422644" y="3487"/>
                  </a:lnTo>
                  <a:lnTo>
                    <a:pt x="1372015" y="14131"/>
                  </a:lnTo>
                  <a:lnTo>
                    <a:pt x="1326063" y="31519"/>
                  </a:lnTo>
                  <a:lnTo>
                    <a:pt x="1286751" y="55239"/>
                  </a:lnTo>
                  <a:lnTo>
                    <a:pt x="1256040" y="84878"/>
                  </a:lnTo>
                  <a:lnTo>
                    <a:pt x="2109328" y="84878"/>
                  </a:lnTo>
                  <a:lnTo>
                    <a:pt x="2083273" y="61451"/>
                  </a:lnTo>
                  <a:lnTo>
                    <a:pt x="2081538" y="60354"/>
                  </a:lnTo>
                  <a:lnTo>
                    <a:pt x="1667990" y="60354"/>
                  </a:lnTo>
                  <a:lnTo>
                    <a:pt x="1649863" y="47058"/>
                  </a:lnTo>
                  <a:lnTo>
                    <a:pt x="1629590" y="35233"/>
                  </a:lnTo>
                  <a:lnTo>
                    <a:pt x="1607147" y="24848"/>
                  </a:lnTo>
                  <a:lnTo>
                    <a:pt x="1582976" y="16146"/>
                  </a:lnTo>
                  <a:lnTo>
                    <a:pt x="1530087" y="4082"/>
                  </a:lnTo>
                  <a:lnTo>
                    <a:pt x="1475989" y="0"/>
                  </a:lnTo>
                  <a:close/>
                </a:path>
                <a:path w="2415540" h="1114425">
                  <a:moveTo>
                    <a:pt x="1852607" y="849"/>
                  </a:moveTo>
                  <a:lnTo>
                    <a:pt x="1801386" y="6618"/>
                  </a:lnTo>
                  <a:lnTo>
                    <a:pt x="1752518" y="18512"/>
                  </a:lnTo>
                  <a:lnTo>
                    <a:pt x="1707540" y="36450"/>
                  </a:lnTo>
                  <a:lnTo>
                    <a:pt x="1667990" y="60354"/>
                  </a:lnTo>
                  <a:lnTo>
                    <a:pt x="2081538" y="60354"/>
                  </a:lnTo>
                  <a:lnTo>
                    <a:pt x="2005014" y="21075"/>
                  </a:lnTo>
                  <a:lnTo>
                    <a:pt x="1955958" y="7998"/>
                  </a:lnTo>
                  <a:lnTo>
                    <a:pt x="1904644" y="1282"/>
                  </a:lnTo>
                  <a:lnTo>
                    <a:pt x="1852607" y="84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390518" y="1314200"/>
              <a:ext cx="2415540" cy="1114425"/>
            </a:xfrm>
            <a:custGeom>
              <a:avLst/>
              <a:gdLst/>
              <a:ahLst/>
              <a:cxnLst/>
              <a:rect l="l" t="t" r="r" b="b"/>
              <a:pathLst>
                <a:path w="2415540" h="1114425">
                  <a:moveTo>
                    <a:pt x="219822" y="366843"/>
                  </a:moveTo>
                  <a:lnTo>
                    <a:pt x="216469" y="328350"/>
                  </a:lnTo>
                  <a:lnTo>
                    <a:pt x="238174" y="255404"/>
                  </a:lnTo>
                  <a:lnTo>
                    <a:pt x="261902" y="222049"/>
                  </a:lnTo>
                  <a:lnTo>
                    <a:pt x="293328" y="191506"/>
                  </a:lnTo>
                  <a:lnTo>
                    <a:pt x="331787" y="164322"/>
                  </a:lnTo>
                  <a:lnTo>
                    <a:pt x="376613" y="141048"/>
                  </a:lnTo>
                  <a:lnTo>
                    <a:pt x="427144" y="122231"/>
                  </a:lnTo>
                  <a:lnTo>
                    <a:pt x="482713" y="108422"/>
                  </a:lnTo>
                  <a:lnTo>
                    <a:pt x="542656" y="100169"/>
                  </a:lnTo>
                  <a:lnTo>
                    <a:pt x="592892" y="98005"/>
                  </a:lnTo>
                  <a:lnTo>
                    <a:pt x="642811" y="100039"/>
                  </a:lnTo>
                  <a:lnTo>
                    <a:pt x="691757" y="106188"/>
                  </a:lnTo>
                  <a:lnTo>
                    <a:pt x="739078" y="116372"/>
                  </a:lnTo>
                  <a:lnTo>
                    <a:pt x="784121" y="130509"/>
                  </a:lnTo>
                  <a:lnTo>
                    <a:pt x="813473" y="102185"/>
                  </a:lnTo>
                  <a:lnTo>
                    <a:pt x="849328" y="78277"/>
                  </a:lnTo>
                  <a:lnTo>
                    <a:pt x="890547" y="59003"/>
                  </a:lnTo>
                  <a:lnTo>
                    <a:pt x="935994" y="44582"/>
                  </a:lnTo>
                  <a:lnTo>
                    <a:pt x="984532" y="35233"/>
                  </a:lnTo>
                  <a:lnTo>
                    <a:pt x="1035022" y="31175"/>
                  </a:lnTo>
                  <a:lnTo>
                    <a:pt x="1086328" y="32628"/>
                  </a:lnTo>
                  <a:lnTo>
                    <a:pt x="1137313" y="39809"/>
                  </a:lnTo>
                  <a:lnTo>
                    <a:pt x="1186838" y="52938"/>
                  </a:lnTo>
                  <a:lnTo>
                    <a:pt x="1223277" y="67336"/>
                  </a:lnTo>
                  <a:lnTo>
                    <a:pt x="1256040" y="84878"/>
                  </a:lnTo>
                  <a:lnTo>
                    <a:pt x="1286751" y="55239"/>
                  </a:lnTo>
                  <a:lnTo>
                    <a:pt x="1326063" y="31519"/>
                  </a:lnTo>
                  <a:lnTo>
                    <a:pt x="1372015" y="14131"/>
                  </a:lnTo>
                  <a:lnTo>
                    <a:pt x="1422644" y="3487"/>
                  </a:lnTo>
                  <a:lnTo>
                    <a:pt x="1475989" y="0"/>
                  </a:lnTo>
                  <a:lnTo>
                    <a:pt x="1530087" y="4082"/>
                  </a:lnTo>
                  <a:lnTo>
                    <a:pt x="1582976" y="16146"/>
                  </a:lnTo>
                  <a:lnTo>
                    <a:pt x="1629512" y="35188"/>
                  </a:lnTo>
                  <a:lnTo>
                    <a:pt x="1667990" y="60354"/>
                  </a:lnTo>
                  <a:lnTo>
                    <a:pt x="1707540" y="36450"/>
                  </a:lnTo>
                  <a:lnTo>
                    <a:pt x="1752518" y="18512"/>
                  </a:lnTo>
                  <a:lnTo>
                    <a:pt x="1801386" y="6618"/>
                  </a:lnTo>
                  <a:lnTo>
                    <a:pt x="1852607" y="849"/>
                  </a:lnTo>
                  <a:lnTo>
                    <a:pt x="1904644" y="1282"/>
                  </a:lnTo>
                  <a:lnTo>
                    <a:pt x="1955958" y="7998"/>
                  </a:lnTo>
                  <a:lnTo>
                    <a:pt x="2005014" y="21075"/>
                  </a:lnTo>
                  <a:lnTo>
                    <a:pt x="2050273" y="40593"/>
                  </a:lnTo>
                  <a:lnTo>
                    <a:pt x="2083273" y="61451"/>
                  </a:lnTo>
                  <a:lnTo>
                    <a:pt x="2129572" y="111797"/>
                  </a:lnTo>
                  <a:lnTo>
                    <a:pt x="2141827" y="140148"/>
                  </a:lnTo>
                  <a:lnTo>
                    <a:pt x="2198149" y="153751"/>
                  </a:lnTo>
                  <a:lnTo>
                    <a:pt x="2247529" y="173538"/>
                  </a:lnTo>
                  <a:lnTo>
                    <a:pt x="2289126" y="198584"/>
                  </a:lnTo>
                  <a:lnTo>
                    <a:pt x="2322101" y="227964"/>
                  </a:lnTo>
                  <a:lnTo>
                    <a:pt x="2345610" y="260752"/>
                  </a:lnTo>
                  <a:lnTo>
                    <a:pt x="2360874" y="332851"/>
                  </a:lnTo>
                  <a:lnTo>
                    <a:pt x="2350945" y="370311"/>
                  </a:lnTo>
                  <a:lnTo>
                    <a:pt x="2348048" y="376575"/>
                  </a:lnTo>
                  <a:lnTo>
                    <a:pt x="2344807" y="382771"/>
                  </a:lnTo>
                  <a:lnTo>
                    <a:pt x="2341225" y="388893"/>
                  </a:lnTo>
                  <a:lnTo>
                    <a:pt x="2337306" y="394936"/>
                  </a:lnTo>
                  <a:lnTo>
                    <a:pt x="2370757" y="427405"/>
                  </a:lnTo>
                  <a:lnTo>
                    <a:pt x="2394846" y="461895"/>
                  </a:lnTo>
                  <a:lnTo>
                    <a:pt x="2409717" y="497720"/>
                  </a:lnTo>
                  <a:lnTo>
                    <a:pt x="2415511" y="534192"/>
                  </a:lnTo>
                  <a:lnTo>
                    <a:pt x="2412374" y="570626"/>
                  </a:lnTo>
                  <a:lnTo>
                    <a:pt x="2379874" y="640635"/>
                  </a:lnTo>
                  <a:lnTo>
                    <a:pt x="2350798" y="672838"/>
                  </a:lnTo>
                  <a:lnTo>
                    <a:pt x="2313362" y="702258"/>
                  </a:lnTo>
                  <a:lnTo>
                    <a:pt x="2267710" y="728209"/>
                  </a:lnTo>
                  <a:lnTo>
                    <a:pt x="2227361" y="745208"/>
                  </a:lnTo>
                  <a:lnTo>
                    <a:pt x="2184061" y="758770"/>
                  </a:lnTo>
                  <a:lnTo>
                    <a:pt x="2138361" y="768748"/>
                  </a:lnTo>
                  <a:lnTo>
                    <a:pt x="2090811" y="774996"/>
                  </a:lnTo>
                  <a:lnTo>
                    <a:pt x="2069694" y="845657"/>
                  </a:lnTo>
                  <a:lnTo>
                    <a:pt x="2045395" y="877129"/>
                  </a:lnTo>
                  <a:lnTo>
                    <a:pt x="2013161" y="905273"/>
                  </a:lnTo>
                  <a:lnTo>
                    <a:pt x="1973913" y="929519"/>
                  </a:lnTo>
                  <a:lnTo>
                    <a:pt x="1928570" y="949299"/>
                  </a:lnTo>
                  <a:lnTo>
                    <a:pt x="1878052" y="964046"/>
                  </a:lnTo>
                  <a:lnTo>
                    <a:pt x="1823279" y="973190"/>
                  </a:lnTo>
                  <a:lnTo>
                    <a:pt x="1765171" y="976164"/>
                  </a:lnTo>
                  <a:lnTo>
                    <a:pt x="1720812" y="974021"/>
                  </a:lnTo>
                  <a:lnTo>
                    <a:pt x="1677541" y="968104"/>
                  </a:lnTo>
                  <a:lnTo>
                    <a:pt x="1635965" y="958528"/>
                  </a:lnTo>
                  <a:lnTo>
                    <a:pt x="1596692" y="945405"/>
                  </a:lnTo>
                  <a:lnTo>
                    <a:pt x="1576632" y="978255"/>
                  </a:lnTo>
                  <a:lnTo>
                    <a:pt x="1549854" y="1008153"/>
                  </a:lnTo>
                  <a:lnTo>
                    <a:pt x="1517085" y="1034854"/>
                  </a:lnTo>
                  <a:lnTo>
                    <a:pt x="1479054" y="1058111"/>
                  </a:lnTo>
                  <a:lnTo>
                    <a:pt x="1436486" y="1077681"/>
                  </a:lnTo>
                  <a:lnTo>
                    <a:pt x="1390109" y="1093318"/>
                  </a:lnTo>
                  <a:lnTo>
                    <a:pt x="1340652" y="1104776"/>
                  </a:lnTo>
                  <a:lnTo>
                    <a:pt x="1288840" y="1111812"/>
                  </a:lnTo>
                  <a:lnTo>
                    <a:pt x="1235401" y="1114178"/>
                  </a:lnTo>
                  <a:lnTo>
                    <a:pt x="1181062" y="1111632"/>
                  </a:lnTo>
                  <a:lnTo>
                    <a:pt x="1126551" y="1103926"/>
                  </a:lnTo>
                  <a:lnTo>
                    <a:pt x="1077897" y="1092278"/>
                  </a:lnTo>
                  <a:lnTo>
                    <a:pt x="1032560" y="1076645"/>
                  </a:lnTo>
                  <a:lnTo>
                    <a:pt x="991129" y="1057302"/>
                  </a:lnTo>
                  <a:lnTo>
                    <a:pt x="954196" y="1034524"/>
                  </a:lnTo>
                  <a:lnTo>
                    <a:pt x="922348" y="1008587"/>
                  </a:lnTo>
                  <a:lnTo>
                    <a:pt x="874269" y="1024336"/>
                  </a:lnTo>
                  <a:lnTo>
                    <a:pt x="824587" y="1035949"/>
                  </a:lnTo>
                  <a:lnTo>
                    <a:pt x="773855" y="1043514"/>
                  </a:lnTo>
                  <a:lnTo>
                    <a:pt x="722627" y="1047118"/>
                  </a:lnTo>
                  <a:lnTo>
                    <a:pt x="671459" y="1046848"/>
                  </a:lnTo>
                  <a:lnTo>
                    <a:pt x="620904" y="1042790"/>
                  </a:lnTo>
                  <a:lnTo>
                    <a:pt x="571516" y="1035033"/>
                  </a:lnTo>
                  <a:lnTo>
                    <a:pt x="523851" y="1023664"/>
                  </a:lnTo>
                  <a:lnTo>
                    <a:pt x="478462" y="1008768"/>
                  </a:lnTo>
                  <a:lnTo>
                    <a:pt x="435903" y="990435"/>
                  </a:lnTo>
                  <a:lnTo>
                    <a:pt x="396730" y="968749"/>
                  </a:lnTo>
                  <a:lnTo>
                    <a:pt x="361496" y="943800"/>
                  </a:lnTo>
                  <a:lnTo>
                    <a:pt x="330756" y="915674"/>
                  </a:lnTo>
                  <a:lnTo>
                    <a:pt x="326197" y="910772"/>
                  </a:lnTo>
                  <a:lnTo>
                    <a:pt x="270001" y="910850"/>
                  </a:lnTo>
                  <a:lnTo>
                    <a:pt x="216967" y="903196"/>
                  </a:lnTo>
                  <a:lnTo>
                    <a:pt x="168719" y="888612"/>
                  </a:lnTo>
                  <a:lnTo>
                    <a:pt x="126876" y="867902"/>
                  </a:lnTo>
                  <a:lnTo>
                    <a:pt x="93062" y="841867"/>
                  </a:lnTo>
                  <a:lnTo>
                    <a:pt x="68897" y="811313"/>
                  </a:lnTo>
                  <a:lnTo>
                    <a:pt x="55600" y="743768"/>
                  </a:lnTo>
                  <a:lnTo>
                    <a:pt x="66531" y="711595"/>
                  </a:lnTo>
                  <a:lnTo>
                    <a:pt x="88214" y="681636"/>
                  </a:lnTo>
                  <a:lnTo>
                    <a:pt x="120063" y="655006"/>
                  </a:lnTo>
                  <a:lnTo>
                    <a:pt x="68783" y="629694"/>
                  </a:lnTo>
                  <a:lnTo>
                    <a:pt x="31128" y="597863"/>
                  </a:lnTo>
                  <a:lnTo>
                    <a:pt x="7924" y="561511"/>
                  </a:lnTo>
                  <a:lnTo>
                    <a:pt x="0" y="522637"/>
                  </a:lnTo>
                  <a:lnTo>
                    <a:pt x="8181" y="483239"/>
                  </a:lnTo>
                  <a:lnTo>
                    <a:pt x="33297" y="445317"/>
                  </a:lnTo>
                  <a:lnTo>
                    <a:pt x="67791" y="416523"/>
                  </a:lnTo>
                  <a:lnTo>
                    <a:pt x="111356" y="393888"/>
                  </a:lnTo>
                  <a:lnTo>
                    <a:pt x="162015" y="378216"/>
                  </a:lnTo>
                  <a:lnTo>
                    <a:pt x="217790" y="370311"/>
                  </a:lnTo>
                  <a:lnTo>
                    <a:pt x="219822" y="366843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513170" y="1964863"/>
              <a:ext cx="1489710" cy="353695"/>
            </a:xfrm>
            <a:custGeom>
              <a:avLst/>
              <a:gdLst/>
              <a:ahLst/>
              <a:cxnLst/>
              <a:rect l="l" t="t" r="r" b="b"/>
              <a:pathLst>
                <a:path w="1489709" h="353694">
                  <a:moveTo>
                    <a:pt x="141452" y="20548"/>
                  </a:moveTo>
                  <a:lnTo>
                    <a:pt x="104532" y="20584"/>
                  </a:lnTo>
                  <a:lnTo>
                    <a:pt x="68235" y="17113"/>
                  </a:lnTo>
                  <a:lnTo>
                    <a:pt x="33183" y="10222"/>
                  </a:lnTo>
                  <a:lnTo>
                    <a:pt x="0" y="0"/>
                  </a:lnTo>
                </a:path>
                <a:path w="1489709" h="353694">
                  <a:moveTo>
                    <a:pt x="799566" y="353428"/>
                  </a:moveTo>
                  <a:lnTo>
                    <a:pt x="788825" y="342697"/>
                  </a:lnTo>
                  <a:lnTo>
                    <a:pt x="779016" y="331628"/>
                  </a:lnTo>
                  <a:lnTo>
                    <a:pt x="770157" y="320245"/>
                  </a:lnTo>
                  <a:lnTo>
                    <a:pt x="762266" y="308571"/>
                  </a:lnTo>
                </a:path>
                <a:path w="1489709" h="353694">
                  <a:moveTo>
                    <a:pt x="1489163" y="241579"/>
                  </a:moveTo>
                  <a:lnTo>
                    <a:pt x="1486998" y="254055"/>
                  </a:lnTo>
                  <a:lnTo>
                    <a:pt x="1483788" y="266433"/>
                  </a:lnTo>
                  <a:lnTo>
                    <a:pt x="1479544" y="278687"/>
                  </a:lnTo>
                  <a:lnTo>
                    <a:pt x="1474279" y="290791"/>
                  </a:lnTo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84134" y="1888041"/>
              <a:ext cx="210146" cy="21252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174357" y="1370935"/>
              <a:ext cx="1552575" cy="404495"/>
            </a:xfrm>
            <a:custGeom>
              <a:avLst/>
              <a:gdLst/>
              <a:ahLst/>
              <a:cxnLst/>
              <a:rect l="l" t="t" r="r" b="b"/>
              <a:pathLst>
                <a:path w="1552575" h="404494">
                  <a:moveTo>
                    <a:pt x="1552321" y="335470"/>
                  </a:moveTo>
                  <a:lnTo>
                    <a:pt x="1536972" y="354841"/>
                  </a:lnTo>
                  <a:lnTo>
                    <a:pt x="1518245" y="372910"/>
                  </a:lnTo>
                  <a:lnTo>
                    <a:pt x="1496344" y="389502"/>
                  </a:lnTo>
                  <a:lnTo>
                    <a:pt x="1471472" y="404444"/>
                  </a:lnTo>
                </a:path>
                <a:path w="1552575" h="404494">
                  <a:moveTo>
                    <a:pt x="1358328" y="79540"/>
                  </a:moveTo>
                  <a:lnTo>
                    <a:pt x="1360331" y="87626"/>
                  </a:lnTo>
                  <a:lnTo>
                    <a:pt x="1361709" y="95761"/>
                  </a:lnTo>
                  <a:lnTo>
                    <a:pt x="1362464" y="103928"/>
                  </a:lnTo>
                  <a:lnTo>
                    <a:pt x="1362595" y="112115"/>
                  </a:lnTo>
                </a:path>
                <a:path w="1552575" h="404494">
                  <a:moveTo>
                    <a:pt x="841997" y="41541"/>
                  </a:moveTo>
                  <a:lnTo>
                    <a:pt x="850534" y="30473"/>
                  </a:lnTo>
                  <a:lnTo>
                    <a:pt x="860309" y="19832"/>
                  </a:lnTo>
                  <a:lnTo>
                    <a:pt x="871281" y="9660"/>
                  </a:lnTo>
                  <a:lnTo>
                    <a:pt x="883412" y="0"/>
                  </a:lnTo>
                </a:path>
                <a:path w="1552575" h="404494">
                  <a:moveTo>
                    <a:pt x="454609" y="61341"/>
                  </a:moveTo>
                  <a:lnTo>
                    <a:pt x="458291" y="52103"/>
                  </a:lnTo>
                  <a:lnTo>
                    <a:pt x="462870" y="43037"/>
                  </a:lnTo>
                  <a:lnTo>
                    <a:pt x="468335" y="34166"/>
                  </a:lnTo>
                  <a:lnTo>
                    <a:pt x="474675" y="25514"/>
                  </a:lnTo>
                </a:path>
                <a:path w="1552575" h="404494">
                  <a:moveTo>
                    <a:pt x="0" y="73507"/>
                  </a:moveTo>
                  <a:lnTo>
                    <a:pt x="19379" y="81149"/>
                  </a:lnTo>
                  <a:lnTo>
                    <a:pt x="37971" y="89506"/>
                  </a:lnTo>
                  <a:lnTo>
                    <a:pt x="55723" y="98553"/>
                  </a:lnTo>
                  <a:lnTo>
                    <a:pt x="72580" y="108267"/>
                  </a:lnTo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300696" y="1454950"/>
              <a:ext cx="310515" cy="917575"/>
            </a:xfrm>
            <a:custGeom>
              <a:avLst/>
              <a:gdLst/>
              <a:ahLst/>
              <a:cxnLst/>
              <a:rect l="l" t="t" r="r" b="b"/>
              <a:pathLst>
                <a:path w="310515" h="917575">
                  <a:moveTo>
                    <a:pt x="309956" y="0"/>
                  </a:moveTo>
                  <a:lnTo>
                    <a:pt x="0" y="0"/>
                  </a:lnTo>
                  <a:lnTo>
                    <a:pt x="0" y="917397"/>
                  </a:lnTo>
                  <a:lnTo>
                    <a:pt x="309956" y="917397"/>
                  </a:lnTo>
                  <a:lnTo>
                    <a:pt x="309956" y="0"/>
                  </a:lnTo>
                  <a:close/>
                </a:path>
              </a:pathLst>
            </a:custGeom>
            <a:solidFill>
              <a:srgbClr val="93CD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300696" y="1454950"/>
            <a:ext cx="310515" cy="91757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99695" marR="88265" indent="-5080">
              <a:lnSpc>
                <a:spcPct val="100000"/>
              </a:lnSpc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O T 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550030" y="1055927"/>
            <a:ext cx="3550285" cy="1326515"/>
            <a:chOff x="4550030" y="1055927"/>
            <a:chExt cx="3550285" cy="1326515"/>
          </a:xfrm>
        </p:grpSpPr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50030" y="2054764"/>
              <a:ext cx="143842" cy="188709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4742505" y="1060690"/>
              <a:ext cx="790575" cy="480695"/>
            </a:xfrm>
            <a:custGeom>
              <a:avLst/>
              <a:gdLst/>
              <a:ahLst/>
              <a:cxnLst/>
              <a:rect l="l" t="t" r="r" b="b"/>
              <a:pathLst>
                <a:path w="790575" h="480694">
                  <a:moveTo>
                    <a:pt x="0" y="0"/>
                  </a:moveTo>
                  <a:lnTo>
                    <a:pt x="790486" y="480517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651932" y="1827048"/>
              <a:ext cx="881380" cy="14604"/>
            </a:xfrm>
            <a:custGeom>
              <a:avLst/>
              <a:gdLst/>
              <a:ahLst/>
              <a:cxnLst/>
              <a:rect l="l" t="t" r="r" b="b"/>
              <a:pathLst>
                <a:path w="881379" h="14605">
                  <a:moveTo>
                    <a:pt x="0" y="14020"/>
                  </a:moveTo>
                  <a:lnTo>
                    <a:pt x="88104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709175" y="2109141"/>
              <a:ext cx="840740" cy="268605"/>
            </a:xfrm>
            <a:custGeom>
              <a:avLst/>
              <a:gdLst/>
              <a:ahLst/>
              <a:cxnLst/>
              <a:rect l="l" t="t" r="r" b="b"/>
              <a:pathLst>
                <a:path w="840739" h="268605">
                  <a:moveTo>
                    <a:pt x="0" y="268376"/>
                  </a:moveTo>
                  <a:lnTo>
                    <a:pt x="840422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640594" y="1422618"/>
              <a:ext cx="892810" cy="285115"/>
            </a:xfrm>
            <a:custGeom>
              <a:avLst/>
              <a:gdLst/>
              <a:ahLst/>
              <a:cxnLst/>
              <a:rect l="l" t="t" r="r" b="b"/>
              <a:pathLst>
                <a:path w="892810" h="285114">
                  <a:moveTo>
                    <a:pt x="0" y="0"/>
                  </a:moveTo>
                  <a:lnTo>
                    <a:pt x="892390" y="284861"/>
                  </a:lnTo>
                </a:path>
              </a:pathLst>
            </a:custGeom>
            <a:ln w="952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613434" y="1550631"/>
              <a:ext cx="481965" cy="0"/>
            </a:xfrm>
            <a:custGeom>
              <a:avLst/>
              <a:gdLst/>
              <a:ahLst/>
              <a:cxnLst/>
              <a:rect l="l" t="t" r="r" b="b"/>
              <a:pathLst>
                <a:path w="481965" h="0">
                  <a:moveTo>
                    <a:pt x="0" y="0"/>
                  </a:moveTo>
                  <a:lnTo>
                    <a:pt x="48193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613434" y="1635189"/>
              <a:ext cx="481965" cy="0"/>
            </a:xfrm>
            <a:custGeom>
              <a:avLst/>
              <a:gdLst/>
              <a:ahLst/>
              <a:cxnLst/>
              <a:rect l="l" t="t" r="r" b="b"/>
              <a:pathLst>
                <a:path w="481965" h="0">
                  <a:moveTo>
                    <a:pt x="0" y="0"/>
                  </a:moveTo>
                  <a:lnTo>
                    <a:pt x="48193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663388" y="1965163"/>
              <a:ext cx="869950" cy="184150"/>
            </a:xfrm>
            <a:custGeom>
              <a:avLst/>
              <a:gdLst/>
              <a:ahLst/>
              <a:cxnLst/>
              <a:rect l="l" t="t" r="r" b="b"/>
              <a:pathLst>
                <a:path w="869950" h="184150">
                  <a:moveTo>
                    <a:pt x="0" y="183959"/>
                  </a:moveTo>
                  <a:lnTo>
                    <a:pt x="869594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4370626" y="1770024"/>
            <a:ext cx="286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AAU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470266" y="2553909"/>
            <a:ext cx="3022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RRU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938904" y="1721795"/>
            <a:ext cx="12255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25G/50G/100G/200G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946450" y="2186144"/>
            <a:ext cx="5943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n*10G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CP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4766360" y="2237143"/>
            <a:ext cx="767080" cy="339725"/>
          </a:xfrm>
          <a:custGeom>
            <a:avLst/>
            <a:gdLst/>
            <a:ahLst/>
            <a:cxnLst/>
            <a:rect l="l" t="t" r="r" b="b"/>
            <a:pathLst>
              <a:path w="767079" h="339725">
                <a:moveTo>
                  <a:pt x="0" y="339686"/>
                </a:moveTo>
                <a:lnTo>
                  <a:pt x="766622" y="0"/>
                </a:lnTo>
              </a:path>
            </a:pathLst>
          </a:custGeom>
          <a:ln w="952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4960428" y="1441902"/>
            <a:ext cx="5276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n*25G CPRI/eC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475259" y="1619106"/>
            <a:ext cx="212725" cy="734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5"/>
              </a:lnSpc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PRI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 MT"/>
              <a:cs typeface="Arial MT"/>
            </a:endParaRPr>
          </a:p>
          <a:p>
            <a:pPr marL="52069">
              <a:lnSpc>
                <a:spcPct val="100000"/>
              </a:lnSpc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RI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8093242" y="1495374"/>
            <a:ext cx="486409" cy="855344"/>
            <a:chOff x="8093242" y="1495374"/>
            <a:chExt cx="486409" cy="855344"/>
          </a:xfrm>
        </p:grpSpPr>
        <p:pic>
          <p:nvPicPr>
            <p:cNvPr id="53" name="object 5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36156" y="1495386"/>
              <a:ext cx="242918" cy="278708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3242" y="1495374"/>
              <a:ext cx="242918" cy="27870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36154" y="2071624"/>
              <a:ext cx="242910" cy="27871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3252" y="2071624"/>
              <a:ext cx="242905" cy="278701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8132320" y="1331558"/>
            <a:ext cx="4127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212121"/>
                </a:solidFill>
                <a:latin typeface="Arial"/>
                <a:cs typeface="Arial"/>
              </a:rPr>
              <a:t>5G</a:t>
            </a:r>
            <a:r>
              <a:rPr dirty="0" sz="1000" spc="-20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212121"/>
                </a:solidFill>
                <a:latin typeface="Arial"/>
                <a:cs typeface="Arial"/>
              </a:rPr>
              <a:t>DU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5532983" y="1453184"/>
            <a:ext cx="310515" cy="917575"/>
          </a:xfrm>
          <a:prstGeom prst="rect">
            <a:avLst/>
          </a:prstGeom>
          <a:solidFill>
            <a:srgbClr val="93CDDD"/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99695" marR="88265" indent="-5080">
              <a:lnSpc>
                <a:spcPct val="100000"/>
              </a:lnSpc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O T 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4551446" y="873938"/>
            <a:ext cx="191135" cy="1136650"/>
            <a:chOff x="4551446" y="873938"/>
            <a:chExt cx="191135" cy="1136650"/>
          </a:xfrm>
        </p:grpSpPr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1772" y="873938"/>
              <a:ext cx="160724" cy="37350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60227" y="1253197"/>
              <a:ext cx="160730" cy="37349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51446" y="1636598"/>
              <a:ext cx="160723" cy="373499"/>
            </a:xfrm>
            <a:prstGeom prst="rect">
              <a:avLst/>
            </a:prstGeom>
          </p:spPr>
        </p:pic>
      </p:grpSp>
      <p:sp>
        <p:nvSpPr>
          <p:cNvPr id="63" name="object 63" descr=""/>
          <p:cNvSpPr txBox="1"/>
          <p:nvPr/>
        </p:nvSpPr>
        <p:spPr>
          <a:xfrm>
            <a:off x="4392033" y="1361123"/>
            <a:ext cx="286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AAU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4421556" y="996413"/>
            <a:ext cx="2863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AAU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4568341" y="2275445"/>
            <a:ext cx="184150" cy="420370"/>
            <a:chOff x="4568341" y="2275445"/>
            <a:chExt cx="184150" cy="420370"/>
          </a:xfrm>
        </p:grpSpPr>
        <p:pic>
          <p:nvPicPr>
            <p:cNvPr id="66" name="object 6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68341" y="2275445"/>
              <a:ext cx="143840" cy="188709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08151" y="2506993"/>
              <a:ext cx="143837" cy="188709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4406983" y="2011312"/>
            <a:ext cx="327025" cy="47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" marR="5080" indent="-25400">
              <a:lnSpc>
                <a:spcPct val="148600"/>
              </a:lnSpc>
              <a:spcBef>
                <a:spcPts val="100"/>
              </a:spcBef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RRU RRU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8085896" y="1923507"/>
            <a:ext cx="5048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212121"/>
                </a:solidFill>
                <a:latin typeface="Arial"/>
                <a:cs typeface="Arial"/>
              </a:rPr>
              <a:t>4G</a:t>
            </a:r>
            <a:r>
              <a:rPr dirty="0" sz="1000" spc="-20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212121"/>
                </a:solidFill>
                <a:latin typeface="Arial"/>
                <a:cs typeface="Arial"/>
              </a:rPr>
              <a:t>BBU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5842914" y="1716354"/>
            <a:ext cx="2252980" cy="591185"/>
            <a:chOff x="5842914" y="1716354"/>
            <a:chExt cx="2252980" cy="591185"/>
          </a:xfrm>
        </p:grpSpPr>
        <p:sp>
          <p:nvSpPr>
            <p:cNvPr id="71" name="object 71" descr=""/>
            <p:cNvSpPr/>
            <p:nvPr/>
          </p:nvSpPr>
          <p:spPr>
            <a:xfrm>
              <a:off x="7610642" y="1721116"/>
              <a:ext cx="481965" cy="0"/>
            </a:xfrm>
            <a:custGeom>
              <a:avLst/>
              <a:gdLst/>
              <a:ahLst/>
              <a:cxnLst/>
              <a:rect l="l" t="t" r="r" b="b"/>
              <a:pathLst>
                <a:path w="481965" h="0">
                  <a:moveTo>
                    <a:pt x="0" y="0"/>
                  </a:moveTo>
                  <a:lnTo>
                    <a:pt x="48193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613433" y="2131912"/>
              <a:ext cx="481965" cy="0"/>
            </a:xfrm>
            <a:custGeom>
              <a:avLst/>
              <a:gdLst/>
              <a:ahLst/>
              <a:cxnLst/>
              <a:rect l="l" t="t" r="r" b="b"/>
              <a:pathLst>
                <a:path w="481965" h="0">
                  <a:moveTo>
                    <a:pt x="0" y="0"/>
                  </a:moveTo>
                  <a:lnTo>
                    <a:pt x="48193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613433" y="2216471"/>
              <a:ext cx="481965" cy="0"/>
            </a:xfrm>
            <a:custGeom>
              <a:avLst/>
              <a:gdLst/>
              <a:ahLst/>
              <a:cxnLst/>
              <a:rect l="l" t="t" r="r" b="b"/>
              <a:pathLst>
                <a:path w="481965" h="0">
                  <a:moveTo>
                    <a:pt x="0" y="0"/>
                  </a:moveTo>
                  <a:lnTo>
                    <a:pt x="48193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610642" y="2302396"/>
              <a:ext cx="481965" cy="0"/>
            </a:xfrm>
            <a:custGeom>
              <a:avLst/>
              <a:gdLst/>
              <a:ahLst/>
              <a:cxnLst/>
              <a:rect l="l" t="t" r="r" b="b"/>
              <a:pathLst>
                <a:path w="481965" h="0">
                  <a:moveTo>
                    <a:pt x="0" y="0"/>
                  </a:moveTo>
                  <a:lnTo>
                    <a:pt x="481939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2914" y="1892833"/>
              <a:ext cx="1457794" cy="39865"/>
            </a:xfrm>
            <a:prstGeom prst="rect">
              <a:avLst/>
            </a:prstGeom>
          </p:spPr>
        </p:pic>
      </p:grpSp>
      <p:sp>
        <p:nvSpPr>
          <p:cNvPr id="76" name="object 76" descr=""/>
          <p:cNvSpPr txBox="1"/>
          <p:nvPr/>
        </p:nvSpPr>
        <p:spPr>
          <a:xfrm>
            <a:off x="5749595" y="2526191"/>
            <a:ext cx="142684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0000"/>
                </a:solidFill>
                <a:latin typeface="Microsoft YaHei"/>
                <a:cs typeface="Microsoft YaHei"/>
              </a:rPr>
              <a:t>有源</a:t>
            </a:r>
            <a:r>
              <a:rPr dirty="0" sz="1600" spc="-10">
                <a:solidFill>
                  <a:srgbClr val="FF0000"/>
                </a:solidFill>
                <a:latin typeface="Arial MT"/>
                <a:cs typeface="Arial MT"/>
              </a:rPr>
              <a:t>WDM/OTN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613511" y="2808117"/>
            <a:ext cx="3956050" cy="20459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400" spc="-20">
                <a:solidFill>
                  <a:srgbClr val="FF0000"/>
                </a:solidFill>
                <a:latin typeface="Microsoft YaHei"/>
                <a:cs typeface="Microsoft YaHei"/>
              </a:rPr>
              <a:t>有源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WDM/OTN</a:t>
            </a:r>
            <a:r>
              <a:rPr dirty="0" sz="1400" spc="-25">
                <a:solidFill>
                  <a:srgbClr val="FF0000"/>
                </a:solidFill>
                <a:latin typeface="Microsoft YaHei"/>
                <a:cs typeface="Microsoft YaHei"/>
              </a:rPr>
              <a:t>方案的优势：</a:t>
            </a:r>
            <a:endParaRPr sz="14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320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组网灵活：星型、链型、环型组网。</a:t>
            </a:r>
            <a:endParaRPr sz="12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290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>
                <a:latin typeface="Microsoft YaHei"/>
                <a:cs typeface="Microsoft YaHei"/>
              </a:rPr>
              <a:t>大带宽传送：单通道</a:t>
            </a:r>
            <a:r>
              <a:rPr dirty="0" sz="1200" spc="-10">
                <a:latin typeface="Arial MT"/>
                <a:cs typeface="Arial MT"/>
              </a:rPr>
              <a:t>10G/25G/50G/100G/200G</a:t>
            </a:r>
            <a:r>
              <a:rPr dirty="0" sz="1200" spc="-50">
                <a:latin typeface="Microsoft YaHei"/>
                <a:cs typeface="Microsoft YaHei"/>
              </a:rPr>
              <a:t>。</a:t>
            </a:r>
            <a:endParaRPr sz="12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285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>
                <a:latin typeface="Microsoft YaHei"/>
                <a:cs typeface="Microsoft YaHei"/>
              </a:rPr>
              <a:t>多制式前传：同时支持</a:t>
            </a:r>
            <a:r>
              <a:rPr dirty="0" sz="1200" spc="-10">
                <a:latin typeface="Arial MT"/>
                <a:cs typeface="Arial MT"/>
              </a:rPr>
              <a:t>CPRI</a:t>
            </a:r>
            <a:r>
              <a:rPr dirty="0" sz="1200">
                <a:latin typeface="Microsoft YaHei"/>
                <a:cs typeface="Microsoft YaHei"/>
              </a:rPr>
              <a:t>、</a:t>
            </a:r>
            <a:r>
              <a:rPr dirty="0" sz="1200" spc="-10">
                <a:latin typeface="Arial MT"/>
                <a:cs typeface="Arial MT"/>
              </a:rPr>
              <a:t>eCPRI</a:t>
            </a:r>
            <a:r>
              <a:rPr dirty="0" sz="1200" spc="-5">
                <a:latin typeface="Microsoft YaHei"/>
                <a:cs typeface="Microsoft YaHei"/>
              </a:rPr>
              <a:t>，兼容</a:t>
            </a:r>
            <a:r>
              <a:rPr dirty="0" sz="1200" spc="-10">
                <a:latin typeface="Arial MT"/>
                <a:cs typeface="Arial MT"/>
              </a:rPr>
              <a:t>4G</a:t>
            </a:r>
            <a:r>
              <a:rPr dirty="0" sz="1200">
                <a:latin typeface="Microsoft YaHei"/>
                <a:cs typeface="Microsoft YaHei"/>
              </a:rPr>
              <a:t>和</a:t>
            </a:r>
            <a:r>
              <a:rPr dirty="0" sz="1200" spc="-10">
                <a:latin typeface="Arial MT"/>
                <a:cs typeface="Arial MT"/>
              </a:rPr>
              <a:t>5G</a:t>
            </a:r>
            <a:r>
              <a:rPr dirty="0" sz="1200" spc="-50">
                <a:latin typeface="Microsoft YaHei"/>
                <a:cs typeface="Microsoft YaHei"/>
              </a:rPr>
              <a:t>。</a:t>
            </a:r>
            <a:endParaRPr sz="12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290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>
                <a:latin typeface="Microsoft YaHei"/>
                <a:cs typeface="Microsoft YaHei"/>
              </a:rPr>
              <a:t>完善的</a:t>
            </a:r>
            <a:r>
              <a:rPr dirty="0" sz="1200" spc="-10">
                <a:latin typeface="Arial MT"/>
                <a:cs typeface="Arial MT"/>
              </a:rPr>
              <a:t>OAM</a:t>
            </a:r>
            <a:r>
              <a:rPr dirty="0" sz="1200" spc="-10">
                <a:latin typeface="Microsoft YaHei"/>
                <a:cs typeface="Microsoft YaHei"/>
              </a:rPr>
              <a:t>：</a:t>
            </a:r>
            <a:r>
              <a:rPr dirty="0" sz="1200" spc="-10">
                <a:latin typeface="Arial MT"/>
                <a:cs typeface="Arial MT"/>
              </a:rPr>
              <a:t>LOS/LOF/BDI/BEI/AIS/FEC/PT/TTI/DM…</a:t>
            </a:r>
            <a:endParaRPr sz="1200">
              <a:latin typeface="Arial MT"/>
              <a:cs typeface="Arial MT"/>
            </a:endParaRPr>
          </a:p>
          <a:p>
            <a:pPr marL="132080" indent="-123825">
              <a:lnSpc>
                <a:spcPct val="100000"/>
              </a:lnSpc>
              <a:spcBef>
                <a:spcPts val="285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高精度同步：</a:t>
            </a:r>
            <a:r>
              <a:rPr dirty="0" sz="1200" spc="-10">
                <a:latin typeface="Arial MT"/>
                <a:cs typeface="Arial MT"/>
              </a:rPr>
              <a:t>ns</a:t>
            </a:r>
            <a:r>
              <a:rPr dirty="0" sz="1200" spc="-10">
                <a:latin typeface="Microsoft YaHei"/>
                <a:cs typeface="Microsoft YaHei"/>
              </a:rPr>
              <a:t>级别同步精度。</a:t>
            </a:r>
            <a:endParaRPr sz="12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290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多业务统一承载：移动宽带、固网宽带、高价值专线等。</a:t>
            </a:r>
            <a:endParaRPr sz="12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290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无损传输：业务透传，硬管道隔离。</a:t>
            </a:r>
            <a:endParaRPr sz="1200">
              <a:latin typeface="Microsoft YaHei"/>
              <a:cs typeface="Microsoft YaHei"/>
            </a:endParaRPr>
          </a:p>
          <a:p>
            <a:pPr marL="132080" indent="-123825">
              <a:lnSpc>
                <a:spcPct val="100000"/>
              </a:lnSpc>
              <a:spcBef>
                <a:spcPts val="285"/>
              </a:spcBef>
              <a:buSzPct val="91666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安全可靠：光层保护或电层保护。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465349" y="2980060"/>
            <a:ext cx="3837304" cy="186308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400" spc="-20">
                <a:solidFill>
                  <a:srgbClr val="FF0000"/>
                </a:solidFill>
                <a:latin typeface="Microsoft YaHei"/>
                <a:cs typeface="Microsoft YaHei"/>
              </a:rPr>
              <a:t>有源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WDM/OTN</a:t>
            </a:r>
            <a:r>
              <a:rPr dirty="0" sz="1400" spc="-25">
                <a:solidFill>
                  <a:srgbClr val="FF0000"/>
                </a:solidFill>
                <a:latin typeface="Microsoft YaHei"/>
                <a:cs typeface="Microsoft YaHei"/>
              </a:rPr>
              <a:t>方案的优势：</a:t>
            </a:r>
            <a:endParaRPr sz="1400">
              <a:latin typeface="Microsoft YaHei"/>
              <a:cs typeface="Microsoft YaHei"/>
            </a:endParaRPr>
          </a:p>
          <a:p>
            <a:pPr marL="132080" indent="-128270">
              <a:lnSpc>
                <a:spcPct val="100000"/>
              </a:lnSpc>
              <a:spcBef>
                <a:spcPts val="320"/>
              </a:spcBef>
              <a:buSzPct val="87500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节约光纤：单纤双向或双纤双向，</a:t>
            </a:r>
            <a:r>
              <a:rPr dirty="0" sz="1200" spc="-10">
                <a:latin typeface="Arial MT"/>
                <a:cs typeface="Arial MT"/>
              </a:rPr>
              <a:t>40</a:t>
            </a:r>
            <a:r>
              <a:rPr dirty="0" sz="1200">
                <a:latin typeface="Microsoft YaHei"/>
                <a:cs typeface="Microsoft YaHei"/>
              </a:rPr>
              <a:t>波</a:t>
            </a:r>
            <a:r>
              <a:rPr dirty="0" sz="1200" spc="-10">
                <a:latin typeface="Arial MT"/>
                <a:cs typeface="Arial MT"/>
              </a:rPr>
              <a:t>/80</a:t>
            </a:r>
            <a:r>
              <a:rPr dirty="0" sz="1200" spc="-25">
                <a:latin typeface="Microsoft YaHei"/>
                <a:cs typeface="Microsoft YaHei"/>
              </a:rPr>
              <a:t>波。</a:t>
            </a:r>
            <a:endParaRPr sz="1200">
              <a:latin typeface="Microsoft YaHei"/>
              <a:cs typeface="Microsoft YaHei"/>
            </a:endParaRPr>
          </a:p>
          <a:p>
            <a:pPr marL="132080" indent="-128270">
              <a:lnSpc>
                <a:spcPct val="100000"/>
              </a:lnSpc>
              <a:spcBef>
                <a:spcPts val="290"/>
              </a:spcBef>
              <a:buSzPct val="87500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节约成本：减少光模块数量。</a:t>
            </a:r>
            <a:endParaRPr sz="1200">
              <a:latin typeface="Microsoft YaHei"/>
              <a:cs typeface="Microsoft YaHei"/>
            </a:endParaRPr>
          </a:p>
          <a:p>
            <a:pPr marL="132080" indent="-128270">
              <a:lnSpc>
                <a:spcPct val="100000"/>
              </a:lnSpc>
              <a:spcBef>
                <a:spcPts val="285"/>
              </a:spcBef>
              <a:buSzPct val="87500"/>
              <a:buFont typeface="Wingdings"/>
              <a:buChar char=""/>
              <a:tabLst>
                <a:tab pos="132080" algn="l"/>
              </a:tabLst>
            </a:pPr>
            <a:r>
              <a:rPr dirty="0" sz="1200">
                <a:latin typeface="Microsoft YaHei"/>
                <a:cs typeface="Microsoft YaHei"/>
              </a:rPr>
              <a:t>维护简单：无源</a:t>
            </a:r>
            <a:r>
              <a:rPr dirty="0" sz="1200" spc="-10">
                <a:latin typeface="Arial MT"/>
                <a:cs typeface="Arial MT"/>
              </a:rPr>
              <a:t>OAD</a:t>
            </a:r>
            <a:r>
              <a:rPr dirty="0" sz="1200" spc="-15">
                <a:latin typeface="Microsoft YaHei"/>
                <a:cs typeface="Microsoft YaHei"/>
              </a:rPr>
              <a:t>免维护。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 spc="-20">
                <a:solidFill>
                  <a:srgbClr val="FF0000"/>
                </a:solidFill>
                <a:latin typeface="Microsoft YaHei"/>
                <a:cs typeface="Microsoft YaHei"/>
              </a:rPr>
              <a:t>有源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WDM/OTN</a:t>
            </a:r>
            <a:r>
              <a:rPr dirty="0" sz="1400" spc="-25">
                <a:solidFill>
                  <a:srgbClr val="FF0000"/>
                </a:solidFill>
                <a:latin typeface="Microsoft YaHei"/>
                <a:cs typeface="Microsoft YaHei"/>
              </a:rPr>
              <a:t>方案的挑战：</a:t>
            </a:r>
            <a:endParaRPr sz="1400">
              <a:latin typeface="Microsoft YaHei"/>
              <a:cs typeface="Microsoft YaHei"/>
            </a:endParaRPr>
          </a:p>
          <a:p>
            <a:pPr marL="132080" indent="-128270">
              <a:lnSpc>
                <a:spcPct val="100000"/>
              </a:lnSpc>
              <a:spcBef>
                <a:spcPts val="320"/>
              </a:spcBef>
              <a:buSzPct val="87500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彩光模块：封装和功耗做到白光模块水平。</a:t>
            </a:r>
            <a:endParaRPr sz="1200">
              <a:latin typeface="Microsoft YaHei"/>
              <a:cs typeface="Microsoft YaHei"/>
            </a:endParaRPr>
          </a:p>
          <a:p>
            <a:pPr marL="132080" indent="-128270">
              <a:lnSpc>
                <a:spcPct val="100000"/>
              </a:lnSpc>
              <a:spcBef>
                <a:spcPts val="290"/>
              </a:spcBef>
              <a:buSzPct val="87500"/>
              <a:buFont typeface="Wingdings"/>
              <a:buChar char=""/>
              <a:tabLst>
                <a:tab pos="132080" algn="l"/>
              </a:tabLst>
            </a:pPr>
            <a:r>
              <a:rPr dirty="0" sz="1200" spc="-5">
                <a:latin typeface="Microsoft YaHei"/>
                <a:cs typeface="Microsoft YaHei"/>
              </a:rPr>
              <a:t>设备管理：无线设备管理彩光模块。</a:t>
            </a:r>
            <a:endParaRPr sz="1200">
              <a:latin typeface="Microsoft YaHei"/>
              <a:cs typeface="Microsoft YaHei"/>
            </a:endParaRPr>
          </a:p>
          <a:p>
            <a:pPr marL="132080" indent="-128270">
              <a:lnSpc>
                <a:spcPct val="100000"/>
              </a:lnSpc>
              <a:spcBef>
                <a:spcPts val="285"/>
              </a:spcBef>
              <a:buSzPct val="87500"/>
              <a:buFont typeface="Wingdings"/>
              <a:buChar char=""/>
              <a:tabLst>
                <a:tab pos="132080" algn="l"/>
              </a:tabLst>
            </a:pPr>
            <a:r>
              <a:rPr dirty="0" sz="1200">
                <a:solidFill>
                  <a:srgbClr val="FF0000"/>
                </a:solidFill>
                <a:latin typeface="Microsoft YaHei"/>
                <a:cs typeface="Microsoft YaHei"/>
              </a:rPr>
              <a:t>建议：采用时延优化的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OTN</a:t>
            </a:r>
            <a:r>
              <a:rPr dirty="0" sz="1200">
                <a:solidFill>
                  <a:srgbClr val="FF0000"/>
                </a:solidFill>
                <a:latin typeface="Microsoft YaHei"/>
                <a:cs typeface="Microsoft YaHei"/>
              </a:rPr>
              <a:t>封装，继承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OTN</a:t>
            </a:r>
            <a:r>
              <a:rPr dirty="0" sz="1200" spc="-10">
                <a:solidFill>
                  <a:srgbClr val="FF0000"/>
                </a:solidFill>
                <a:latin typeface="Microsoft YaHei"/>
                <a:cs typeface="Microsoft YaHei"/>
              </a:rPr>
              <a:t>维护手段。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439397" y="873939"/>
            <a:ext cx="2579370" cy="314325"/>
          </a:xfrm>
          <a:prstGeom prst="rect">
            <a:avLst/>
          </a:prstGeom>
          <a:ln w="9525">
            <a:solidFill>
              <a:srgbClr val="B6DCDF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312420">
              <a:lnSpc>
                <a:spcPct val="100000"/>
              </a:lnSpc>
              <a:spcBef>
                <a:spcPts val="309"/>
              </a:spcBef>
            </a:pPr>
            <a:r>
              <a:rPr dirty="0" sz="1400" spc="-25" b="1">
                <a:solidFill>
                  <a:srgbClr val="FF0000"/>
                </a:solidFill>
                <a:latin typeface="Microsoft YaHei"/>
                <a:cs typeface="Microsoft YaHei"/>
              </a:rPr>
              <a:t>共同的挑战：降低时延！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3614" y="165460"/>
            <a:ext cx="40919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低成本大带宽传输技术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33887" y="1407205"/>
            <a:ext cx="3027045" cy="872490"/>
            <a:chOff x="633887" y="1407205"/>
            <a:chExt cx="3027045" cy="872490"/>
          </a:xfrm>
        </p:grpSpPr>
        <p:sp>
          <p:nvSpPr>
            <p:cNvPr id="4" name="object 4" descr=""/>
            <p:cNvSpPr/>
            <p:nvPr/>
          </p:nvSpPr>
          <p:spPr>
            <a:xfrm>
              <a:off x="742478" y="1568949"/>
              <a:ext cx="622300" cy="666115"/>
            </a:xfrm>
            <a:custGeom>
              <a:avLst/>
              <a:gdLst/>
              <a:ahLst/>
              <a:cxnLst/>
              <a:rect l="l" t="t" r="r" b="b"/>
              <a:pathLst>
                <a:path w="622300" h="666114">
                  <a:moveTo>
                    <a:pt x="310972" y="0"/>
                  </a:moveTo>
                  <a:lnTo>
                    <a:pt x="265019" y="3611"/>
                  </a:lnTo>
                  <a:lnTo>
                    <a:pt x="221160" y="14100"/>
                  </a:lnTo>
                  <a:lnTo>
                    <a:pt x="179875" y="30954"/>
                  </a:lnTo>
                  <a:lnTo>
                    <a:pt x="141645" y="53655"/>
                  </a:lnTo>
                  <a:lnTo>
                    <a:pt x="106952" y="81690"/>
                  </a:lnTo>
                  <a:lnTo>
                    <a:pt x="76277" y="114543"/>
                  </a:lnTo>
                  <a:lnTo>
                    <a:pt x="50100" y="151699"/>
                  </a:lnTo>
                  <a:lnTo>
                    <a:pt x="28903" y="192642"/>
                  </a:lnTo>
                  <a:lnTo>
                    <a:pt x="13166" y="236857"/>
                  </a:lnTo>
                  <a:lnTo>
                    <a:pt x="3371" y="283830"/>
                  </a:lnTo>
                  <a:lnTo>
                    <a:pt x="0" y="333044"/>
                  </a:lnTo>
                  <a:lnTo>
                    <a:pt x="0" y="666076"/>
                  </a:lnTo>
                  <a:lnTo>
                    <a:pt x="621944" y="666076"/>
                  </a:lnTo>
                  <a:lnTo>
                    <a:pt x="621944" y="333044"/>
                  </a:lnTo>
                  <a:lnTo>
                    <a:pt x="618572" y="283830"/>
                  </a:lnTo>
                  <a:lnTo>
                    <a:pt x="608777" y="236857"/>
                  </a:lnTo>
                  <a:lnTo>
                    <a:pt x="593041" y="192642"/>
                  </a:lnTo>
                  <a:lnTo>
                    <a:pt x="571844" y="151699"/>
                  </a:lnTo>
                  <a:lnTo>
                    <a:pt x="545667" y="114543"/>
                  </a:lnTo>
                  <a:lnTo>
                    <a:pt x="514991" y="81690"/>
                  </a:lnTo>
                  <a:lnTo>
                    <a:pt x="480298" y="53655"/>
                  </a:lnTo>
                  <a:lnTo>
                    <a:pt x="442068" y="30954"/>
                  </a:lnTo>
                  <a:lnTo>
                    <a:pt x="400783" y="14100"/>
                  </a:lnTo>
                  <a:lnTo>
                    <a:pt x="356924" y="3611"/>
                  </a:lnTo>
                  <a:lnTo>
                    <a:pt x="310972" y="0"/>
                  </a:lnTo>
                  <a:close/>
                </a:path>
              </a:pathLst>
            </a:custGeom>
            <a:solidFill>
              <a:srgbClr val="00B0F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3214" y="1470705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w="0" h="808355">
                  <a:moveTo>
                    <a:pt x="0" y="80780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75120" y="14072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3887" y="2241055"/>
              <a:ext cx="2963545" cy="0"/>
            </a:xfrm>
            <a:custGeom>
              <a:avLst/>
              <a:gdLst/>
              <a:ahLst/>
              <a:cxnLst/>
              <a:rect l="l" t="t" r="r" b="b"/>
              <a:pathLst>
                <a:path w="2963545" h="0">
                  <a:moveTo>
                    <a:pt x="0" y="0"/>
                  </a:moveTo>
                  <a:lnTo>
                    <a:pt x="2963202" y="0"/>
                  </a:lnTo>
                </a:path>
              </a:pathLst>
            </a:custGeom>
            <a:ln w="12700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584384" y="22029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6075" y="1569040"/>
              <a:ext cx="2482850" cy="666115"/>
            </a:xfrm>
            <a:custGeom>
              <a:avLst/>
              <a:gdLst/>
              <a:ahLst/>
              <a:cxnLst/>
              <a:rect l="l" t="t" r="r" b="b"/>
              <a:pathLst>
                <a:path w="2482850" h="666114">
                  <a:moveTo>
                    <a:pt x="0" y="8349"/>
                  </a:moveTo>
                  <a:lnTo>
                    <a:pt x="56358" y="5653"/>
                  </a:lnTo>
                  <a:lnTo>
                    <a:pt x="112024" y="3212"/>
                  </a:lnTo>
                  <a:lnTo>
                    <a:pt x="166309" y="1285"/>
                  </a:lnTo>
                  <a:lnTo>
                    <a:pt x="218522" y="129"/>
                  </a:lnTo>
                  <a:lnTo>
                    <a:pt x="267973" y="0"/>
                  </a:lnTo>
                  <a:lnTo>
                    <a:pt x="313971" y="1155"/>
                  </a:lnTo>
                  <a:lnTo>
                    <a:pt x="355826" y="3852"/>
                  </a:lnTo>
                  <a:lnTo>
                    <a:pt x="449077" y="18711"/>
                  </a:lnTo>
                  <a:lnTo>
                    <a:pt x="487133" y="32325"/>
                  </a:lnTo>
                  <a:lnTo>
                    <a:pt x="517332" y="55871"/>
                  </a:lnTo>
                  <a:lnTo>
                    <a:pt x="549986" y="96030"/>
                  </a:lnTo>
                  <a:lnTo>
                    <a:pt x="569780" y="131755"/>
                  </a:lnTo>
                  <a:lnTo>
                    <a:pt x="587420" y="178059"/>
                  </a:lnTo>
                  <a:lnTo>
                    <a:pt x="604279" y="230531"/>
                  </a:lnTo>
                  <a:lnTo>
                    <a:pt x="621733" y="284761"/>
                  </a:lnTo>
                  <a:lnTo>
                    <a:pt x="641157" y="336339"/>
                  </a:lnTo>
                  <a:lnTo>
                    <a:pt x="663925" y="380854"/>
                  </a:lnTo>
                  <a:lnTo>
                    <a:pt x="691413" y="413898"/>
                  </a:lnTo>
                  <a:lnTo>
                    <a:pt x="729349" y="444378"/>
                  </a:lnTo>
                  <a:lnTo>
                    <a:pt x="790628" y="454139"/>
                  </a:lnTo>
                  <a:lnTo>
                    <a:pt x="831739" y="453969"/>
                  </a:lnTo>
                  <a:lnTo>
                    <a:pt x="891326" y="454655"/>
                  </a:lnTo>
                  <a:lnTo>
                    <a:pt x="974267" y="457738"/>
                  </a:lnTo>
                  <a:lnTo>
                    <a:pt x="1007367" y="459146"/>
                  </a:lnTo>
                  <a:lnTo>
                    <a:pt x="1044814" y="460321"/>
                  </a:lnTo>
                  <a:lnTo>
                    <a:pt x="1086227" y="461291"/>
                  </a:lnTo>
                  <a:lnTo>
                    <a:pt x="1131226" y="462086"/>
                  </a:lnTo>
                  <a:lnTo>
                    <a:pt x="1179432" y="462737"/>
                  </a:lnTo>
                  <a:lnTo>
                    <a:pt x="1230463" y="463271"/>
                  </a:lnTo>
                  <a:lnTo>
                    <a:pt x="1283940" y="463719"/>
                  </a:lnTo>
                  <a:lnTo>
                    <a:pt x="1339483" y="464111"/>
                  </a:lnTo>
                  <a:lnTo>
                    <a:pt x="1396711" y="464475"/>
                  </a:lnTo>
                  <a:lnTo>
                    <a:pt x="1455245" y="464841"/>
                  </a:lnTo>
                  <a:lnTo>
                    <a:pt x="1514704" y="465238"/>
                  </a:lnTo>
                  <a:lnTo>
                    <a:pt x="1574708" y="465697"/>
                  </a:lnTo>
                  <a:lnTo>
                    <a:pt x="1634877" y="466246"/>
                  </a:lnTo>
                  <a:lnTo>
                    <a:pt x="1694830" y="466915"/>
                  </a:lnTo>
                  <a:lnTo>
                    <a:pt x="1754188" y="467734"/>
                  </a:lnTo>
                  <a:lnTo>
                    <a:pt x="1812571" y="468731"/>
                  </a:lnTo>
                  <a:lnTo>
                    <a:pt x="1869598" y="469937"/>
                  </a:lnTo>
                  <a:lnTo>
                    <a:pt x="1924889" y="471380"/>
                  </a:lnTo>
                  <a:lnTo>
                    <a:pt x="1978064" y="473091"/>
                  </a:lnTo>
                  <a:lnTo>
                    <a:pt x="2028743" y="475098"/>
                  </a:lnTo>
                  <a:lnTo>
                    <a:pt x="2076545" y="477432"/>
                  </a:lnTo>
                  <a:lnTo>
                    <a:pt x="2121091" y="480122"/>
                  </a:lnTo>
                  <a:lnTo>
                    <a:pt x="2162001" y="483196"/>
                  </a:lnTo>
                  <a:lnTo>
                    <a:pt x="2231390" y="490619"/>
                  </a:lnTo>
                  <a:lnTo>
                    <a:pt x="2312767" y="506995"/>
                  </a:lnTo>
                  <a:lnTo>
                    <a:pt x="2371219" y="528810"/>
                  </a:lnTo>
                  <a:lnTo>
                    <a:pt x="2411072" y="554135"/>
                  </a:lnTo>
                  <a:lnTo>
                    <a:pt x="2452291" y="607611"/>
                  </a:lnTo>
                  <a:lnTo>
                    <a:pt x="2462311" y="631909"/>
                  </a:lnTo>
                  <a:lnTo>
                    <a:pt x="2471042" y="652012"/>
                  </a:lnTo>
                  <a:lnTo>
                    <a:pt x="2482811" y="665993"/>
                  </a:lnTo>
                </a:path>
              </a:pathLst>
            </a:custGeom>
            <a:ln w="9525">
              <a:solidFill>
                <a:srgbClr val="000066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30285" y="1578881"/>
              <a:ext cx="2399665" cy="675005"/>
            </a:xfrm>
            <a:custGeom>
              <a:avLst/>
              <a:gdLst/>
              <a:ahLst/>
              <a:cxnLst/>
              <a:rect l="l" t="t" r="r" b="b"/>
              <a:pathLst>
                <a:path w="2399665" h="675005">
                  <a:moveTo>
                    <a:pt x="0" y="661200"/>
                  </a:moveTo>
                  <a:lnTo>
                    <a:pt x="8817" y="590969"/>
                  </a:lnTo>
                  <a:lnTo>
                    <a:pt x="17605" y="521461"/>
                  </a:lnTo>
                  <a:lnTo>
                    <a:pt x="26332" y="453399"/>
                  </a:lnTo>
                  <a:lnTo>
                    <a:pt x="34968" y="387506"/>
                  </a:lnTo>
                  <a:lnTo>
                    <a:pt x="43485" y="324505"/>
                  </a:lnTo>
                  <a:lnTo>
                    <a:pt x="51851" y="265119"/>
                  </a:lnTo>
                  <a:lnTo>
                    <a:pt x="60037" y="210070"/>
                  </a:lnTo>
                  <a:lnTo>
                    <a:pt x="68013" y="160082"/>
                  </a:lnTo>
                  <a:lnTo>
                    <a:pt x="75749" y="115876"/>
                  </a:lnTo>
                  <a:lnTo>
                    <a:pt x="83215" y="78177"/>
                  </a:lnTo>
                  <a:lnTo>
                    <a:pt x="97216" y="25187"/>
                  </a:lnTo>
                  <a:lnTo>
                    <a:pt x="109778" y="6896"/>
                  </a:lnTo>
                  <a:lnTo>
                    <a:pt x="115203" y="17075"/>
                  </a:lnTo>
                  <a:lnTo>
                    <a:pt x="123756" y="86816"/>
                  </a:lnTo>
                  <a:lnTo>
                    <a:pt x="127175" y="140549"/>
                  </a:lnTo>
                  <a:lnTo>
                    <a:pt x="130217" y="202971"/>
                  </a:lnTo>
                  <a:lnTo>
                    <a:pt x="133027" y="271169"/>
                  </a:lnTo>
                  <a:lnTo>
                    <a:pt x="135751" y="342228"/>
                  </a:lnTo>
                  <a:lnTo>
                    <a:pt x="138536" y="413234"/>
                  </a:lnTo>
                  <a:lnTo>
                    <a:pt x="141526" y="481274"/>
                  </a:lnTo>
                  <a:lnTo>
                    <a:pt x="144868" y="543433"/>
                  </a:lnTo>
                  <a:lnTo>
                    <a:pt x="148708" y="596797"/>
                  </a:lnTo>
                  <a:lnTo>
                    <a:pt x="153190" y="638452"/>
                  </a:lnTo>
                  <a:lnTo>
                    <a:pt x="164668" y="674979"/>
                  </a:lnTo>
                  <a:lnTo>
                    <a:pt x="171490" y="666178"/>
                  </a:lnTo>
                  <a:lnTo>
                    <a:pt x="187943" y="604337"/>
                  </a:lnTo>
                  <a:lnTo>
                    <a:pt x="197254" y="556085"/>
                  </a:lnTo>
                  <a:lnTo>
                    <a:pt x="207073" y="499471"/>
                  </a:lnTo>
                  <a:lnTo>
                    <a:pt x="217241" y="436887"/>
                  </a:lnTo>
                  <a:lnTo>
                    <a:pt x="227597" y="370728"/>
                  </a:lnTo>
                  <a:lnTo>
                    <a:pt x="237981" y="303388"/>
                  </a:lnTo>
                  <a:lnTo>
                    <a:pt x="248232" y="237259"/>
                  </a:lnTo>
                  <a:lnTo>
                    <a:pt x="258191" y="174737"/>
                  </a:lnTo>
                  <a:lnTo>
                    <a:pt x="267696" y="118215"/>
                  </a:lnTo>
                  <a:lnTo>
                    <a:pt x="276588" y="70086"/>
                  </a:lnTo>
                  <a:lnTo>
                    <a:pt x="284706" y="32745"/>
                  </a:lnTo>
                  <a:lnTo>
                    <a:pt x="297980" y="0"/>
                  </a:lnTo>
                  <a:lnTo>
                    <a:pt x="303062" y="9741"/>
                  </a:lnTo>
                  <a:lnTo>
                    <a:pt x="309180" y="78952"/>
                  </a:lnTo>
                  <a:lnTo>
                    <a:pt x="310713" y="132608"/>
                  </a:lnTo>
                  <a:lnTo>
                    <a:pt x="311560" y="195090"/>
                  </a:lnTo>
                  <a:lnTo>
                    <a:pt x="311970" y="263491"/>
                  </a:lnTo>
                  <a:lnTo>
                    <a:pt x="312191" y="334903"/>
                  </a:lnTo>
                  <a:lnTo>
                    <a:pt x="312472" y="406421"/>
                  </a:lnTo>
                  <a:lnTo>
                    <a:pt x="313061" y="475139"/>
                  </a:lnTo>
                  <a:lnTo>
                    <a:pt x="314208" y="538148"/>
                  </a:lnTo>
                  <a:lnTo>
                    <a:pt x="316160" y="592544"/>
                  </a:lnTo>
                  <a:lnTo>
                    <a:pt x="319166" y="635418"/>
                  </a:lnTo>
                  <a:lnTo>
                    <a:pt x="329336" y="674979"/>
                  </a:lnTo>
                  <a:lnTo>
                    <a:pt x="336935" y="667047"/>
                  </a:lnTo>
                  <a:lnTo>
                    <a:pt x="356625" y="603141"/>
                  </a:lnTo>
                  <a:lnTo>
                    <a:pt x="368201" y="552769"/>
                  </a:lnTo>
                  <a:lnTo>
                    <a:pt x="380589" y="493854"/>
                  </a:lnTo>
                  <a:lnTo>
                    <a:pt x="393532" y="429195"/>
                  </a:lnTo>
                  <a:lnTo>
                    <a:pt x="406771" y="361595"/>
                  </a:lnTo>
                  <a:lnTo>
                    <a:pt x="420050" y="293855"/>
                  </a:lnTo>
                  <a:lnTo>
                    <a:pt x="433113" y="228775"/>
                  </a:lnTo>
                  <a:lnTo>
                    <a:pt x="445701" y="169157"/>
                  </a:lnTo>
                  <a:lnTo>
                    <a:pt x="457558" y="117802"/>
                  </a:lnTo>
                  <a:lnTo>
                    <a:pt x="468426" y="77511"/>
                  </a:lnTo>
                  <a:lnTo>
                    <a:pt x="486168" y="41325"/>
                  </a:lnTo>
                  <a:lnTo>
                    <a:pt x="493041" y="50243"/>
                  </a:lnTo>
                  <a:lnTo>
                    <a:pt x="501948" y="116145"/>
                  </a:lnTo>
                  <a:lnTo>
                    <a:pt x="504624" y="167393"/>
                  </a:lnTo>
                  <a:lnTo>
                    <a:pt x="506544" y="227013"/>
                  </a:lnTo>
                  <a:lnTo>
                    <a:pt x="508029" y="292138"/>
                  </a:lnTo>
                  <a:lnTo>
                    <a:pt x="509400" y="359900"/>
                  </a:lnTo>
                  <a:lnTo>
                    <a:pt x="510979" y="427429"/>
                  </a:lnTo>
                  <a:lnTo>
                    <a:pt x="513086" y="491858"/>
                  </a:lnTo>
                  <a:lnTo>
                    <a:pt x="516042" y="550318"/>
                  </a:lnTo>
                  <a:lnTo>
                    <a:pt x="520169" y="599940"/>
                  </a:lnTo>
                  <a:lnTo>
                    <a:pt x="525789" y="637857"/>
                  </a:lnTo>
                  <a:lnTo>
                    <a:pt x="549424" y="670313"/>
                  </a:lnTo>
                  <a:lnTo>
                    <a:pt x="569730" y="653612"/>
                  </a:lnTo>
                  <a:lnTo>
                    <a:pt x="592855" y="618643"/>
                  </a:lnTo>
                  <a:lnTo>
                    <a:pt x="617512" y="572954"/>
                  </a:lnTo>
                  <a:lnTo>
                    <a:pt x="642413" y="524090"/>
                  </a:lnTo>
                  <a:lnTo>
                    <a:pt x="666274" y="479598"/>
                  </a:lnTo>
                  <a:lnTo>
                    <a:pt x="687807" y="447026"/>
                  </a:lnTo>
                  <a:lnTo>
                    <a:pt x="705726" y="433920"/>
                  </a:lnTo>
                  <a:lnTo>
                    <a:pt x="723242" y="448784"/>
                  </a:lnTo>
                  <a:lnTo>
                    <a:pt x="735639" y="487759"/>
                  </a:lnTo>
                  <a:lnTo>
                    <a:pt x="745421" y="538980"/>
                  </a:lnTo>
                  <a:lnTo>
                    <a:pt x="755095" y="590575"/>
                  </a:lnTo>
                  <a:lnTo>
                    <a:pt x="767165" y="630678"/>
                  </a:lnTo>
                  <a:lnTo>
                    <a:pt x="784136" y="647420"/>
                  </a:lnTo>
                  <a:lnTo>
                    <a:pt x="807320" y="633122"/>
                  </a:lnTo>
                  <a:lnTo>
                    <a:pt x="834967" y="595735"/>
                  </a:lnTo>
                  <a:lnTo>
                    <a:pt x="865009" y="546855"/>
                  </a:lnTo>
                  <a:lnTo>
                    <a:pt x="895377" y="498077"/>
                  </a:lnTo>
                  <a:lnTo>
                    <a:pt x="924003" y="460995"/>
                  </a:lnTo>
                  <a:lnTo>
                    <a:pt x="948816" y="447205"/>
                  </a:lnTo>
                  <a:lnTo>
                    <a:pt x="969433" y="464596"/>
                  </a:lnTo>
                  <a:lnTo>
                    <a:pt x="987438" y="505471"/>
                  </a:lnTo>
                  <a:lnTo>
                    <a:pt x="1003701" y="558044"/>
                  </a:lnTo>
                  <a:lnTo>
                    <a:pt x="1019094" y="610528"/>
                  </a:lnTo>
                  <a:lnTo>
                    <a:pt x="1034485" y="651136"/>
                  </a:lnTo>
                  <a:lnTo>
                    <a:pt x="1050747" y="668083"/>
                  </a:lnTo>
                  <a:lnTo>
                    <a:pt x="1071388" y="647726"/>
                  </a:lnTo>
                  <a:lnTo>
                    <a:pt x="1092278" y="597038"/>
                  </a:lnTo>
                  <a:lnTo>
                    <a:pt x="1113042" y="535867"/>
                  </a:lnTo>
                  <a:lnTo>
                    <a:pt x="1133304" y="484061"/>
                  </a:lnTo>
                  <a:lnTo>
                    <a:pt x="1152690" y="461467"/>
                  </a:lnTo>
                  <a:lnTo>
                    <a:pt x="1170406" y="480788"/>
                  </a:lnTo>
                  <a:lnTo>
                    <a:pt x="1186703" y="528799"/>
                  </a:lnTo>
                  <a:lnTo>
                    <a:pt x="1202768" y="586435"/>
                  </a:lnTo>
                  <a:lnTo>
                    <a:pt x="1219787" y="634629"/>
                  </a:lnTo>
                  <a:lnTo>
                    <a:pt x="1238948" y="654316"/>
                  </a:lnTo>
                  <a:lnTo>
                    <a:pt x="1256684" y="638647"/>
                  </a:lnTo>
                  <a:lnTo>
                    <a:pt x="1275458" y="600715"/>
                  </a:lnTo>
                  <a:lnTo>
                    <a:pt x="1295171" y="551813"/>
                  </a:lnTo>
                  <a:lnTo>
                    <a:pt x="1315722" y="503231"/>
                  </a:lnTo>
                  <a:lnTo>
                    <a:pt x="1337011" y="466262"/>
                  </a:lnTo>
                  <a:lnTo>
                    <a:pt x="1358938" y="452196"/>
                  </a:lnTo>
                  <a:lnTo>
                    <a:pt x="1382260" y="468874"/>
                  </a:lnTo>
                  <a:lnTo>
                    <a:pt x="1407203" y="508841"/>
                  </a:lnTo>
                  <a:lnTo>
                    <a:pt x="1432885" y="560420"/>
                  </a:lnTo>
                  <a:lnTo>
                    <a:pt x="1458424" y="611937"/>
                  </a:lnTo>
                  <a:lnTo>
                    <a:pt x="1482938" y="651717"/>
                  </a:lnTo>
                  <a:lnTo>
                    <a:pt x="1505546" y="668083"/>
                  </a:lnTo>
                  <a:lnTo>
                    <a:pt x="1525613" y="653395"/>
                  </a:lnTo>
                  <a:lnTo>
                    <a:pt x="1543708" y="615458"/>
                  </a:lnTo>
                  <a:lnTo>
                    <a:pt x="1560779" y="565785"/>
                  </a:lnTo>
                  <a:lnTo>
                    <a:pt x="1577774" y="515886"/>
                  </a:lnTo>
                  <a:lnTo>
                    <a:pt x="1595640" y="477276"/>
                  </a:lnTo>
                  <a:lnTo>
                    <a:pt x="1615325" y="461467"/>
                  </a:lnTo>
                  <a:lnTo>
                    <a:pt x="1637035" y="475781"/>
                  </a:lnTo>
                  <a:lnTo>
                    <a:pt x="1660053" y="512482"/>
                  </a:lnTo>
                  <a:lnTo>
                    <a:pt x="1683942" y="560471"/>
                  </a:lnTo>
                  <a:lnTo>
                    <a:pt x="1708266" y="608652"/>
                  </a:lnTo>
                  <a:lnTo>
                    <a:pt x="1732588" y="645927"/>
                  </a:lnTo>
                  <a:lnTo>
                    <a:pt x="1756473" y="661200"/>
                  </a:lnTo>
                  <a:lnTo>
                    <a:pt x="1780271" y="647232"/>
                  </a:lnTo>
                  <a:lnTo>
                    <a:pt x="1804395" y="611456"/>
                  </a:lnTo>
                  <a:lnTo>
                    <a:pt x="1828519" y="564775"/>
                  </a:lnTo>
                  <a:lnTo>
                    <a:pt x="1852315" y="518094"/>
                  </a:lnTo>
                  <a:lnTo>
                    <a:pt x="1875458" y="482318"/>
                  </a:lnTo>
                  <a:lnTo>
                    <a:pt x="1918432" y="483511"/>
                  </a:lnTo>
                  <a:lnTo>
                    <a:pt x="1938079" y="520533"/>
                  </a:lnTo>
                  <a:lnTo>
                    <a:pt x="1957071" y="568459"/>
                  </a:lnTo>
                  <a:lnTo>
                    <a:pt x="1975921" y="616331"/>
                  </a:lnTo>
                  <a:lnTo>
                    <a:pt x="1995138" y="653192"/>
                  </a:lnTo>
                  <a:lnTo>
                    <a:pt x="2015236" y="668083"/>
                  </a:lnTo>
                  <a:lnTo>
                    <a:pt x="2036233" y="653778"/>
                  </a:lnTo>
                  <a:lnTo>
                    <a:pt x="2057719" y="617589"/>
                  </a:lnTo>
                  <a:lnTo>
                    <a:pt x="2079575" y="570388"/>
                  </a:lnTo>
                  <a:lnTo>
                    <a:pt x="2101682" y="523048"/>
                  </a:lnTo>
                  <a:lnTo>
                    <a:pt x="2123921" y="486440"/>
                  </a:lnTo>
                  <a:lnTo>
                    <a:pt x="2146173" y="471436"/>
                  </a:lnTo>
                  <a:lnTo>
                    <a:pt x="2174167" y="489900"/>
                  </a:lnTo>
                  <a:lnTo>
                    <a:pt x="2203597" y="535241"/>
                  </a:lnTo>
                  <a:lnTo>
                    <a:pt x="2232597" y="590326"/>
                  </a:lnTo>
                  <a:lnTo>
                    <a:pt x="2259302" y="638024"/>
                  </a:lnTo>
                  <a:lnTo>
                    <a:pt x="2281847" y="661200"/>
                  </a:lnTo>
                  <a:lnTo>
                    <a:pt x="2302844" y="643174"/>
                  </a:lnTo>
                  <a:lnTo>
                    <a:pt x="2318264" y="595147"/>
                  </a:lnTo>
                  <a:lnTo>
                    <a:pt x="2331160" y="545710"/>
                  </a:lnTo>
                  <a:lnTo>
                    <a:pt x="2344585" y="523455"/>
                  </a:lnTo>
                  <a:lnTo>
                    <a:pt x="2358948" y="536447"/>
                  </a:lnTo>
                  <a:lnTo>
                    <a:pt x="2372763" y="569294"/>
                  </a:lnTo>
                  <a:lnTo>
                    <a:pt x="2386211" y="615379"/>
                  </a:lnTo>
                  <a:lnTo>
                    <a:pt x="2399474" y="668083"/>
                  </a:lnTo>
                </a:path>
              </a:pathLst>
            </a:custGeom>
            <a:ln w="9525">
              <a:solidFill>
                <a:srgbClr val="FFC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96334" y="2272950"/>
            <a:ext cx="20085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0">
                <a:solidFill>
                  <a:srgbClr val="FF0000"/>
                </a:solidFill>
                <a:latin typeface="Arial MT"/>
                <a:cs typeface="Arial MT"/>
              </a:rPr>
              <a:t>DMT: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Discrete</a:t>
            </a:r>
            <a:r>
              <a:rPr dirty="0" sz="14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Multi-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Tone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9681" y="1452563"/>
            <a:ext cx="3816339" cy="75354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888867" y="2258660"/>
            <a:ext cx="335915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PAM4:</a:t>
            </a:r>
            <a:r>
              <a:rPr dirty="0" sz="14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4-level</a:t>
            </a:r>
            <a:r>
              <a:rPr dirty="0" sz="1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Pulse</a:t>
            </a:r>
            <a:r>
              <a:rPr dirty="0" sz="14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Amplitude</a:t>
            </a:r>
            <a:r>
              <a:rPr dirty="0" sz="14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Modulation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0713" y="989043"/>
            <a:ext cx="6197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Microsoft YaHei"/>
                <a:cs typeface="Microsoft YaHei"/>
              </a:rPr>
              <a:t>短距非相干超频传输技术：</a:t>
            </a:r>
            <a:r>
              <a:rPr dirty="0" sz="1800" spc="-5">
                <a:solidFill>
                  <a:srgbClr val="FF0000"/>
                </a:solidFill>
                <a:latin typeface="Microsoft YaHei"/>
                <a:cs typeface="Microsoft YaHei"/>
              </a:rPr>
              <a:t>利用低速率光器件实现高速率传输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40713" y="2710629"/>
            <a:ext cx="4826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Microsoft YaHei"/>
                <a:cs typeface="Microsoft YaHei"/>
              </a:rPr>
              <a:t>中长距相干传输技术：</a:t>
            </a:r>
            <a:r>
              <a:rPr dirty="0" sz="1800" spc="-5">
                <a:solidFill>
                  <a:srgbClr val="FF0000"/>
                </a:solidFill>
                <a:latin typeface="Microsoft YaHei"/>
                <a:cs typeface="Microsoft YaHei"/>
              </a:rPr>
              <a:t>可插拔、低成本、低功耗</a:t>
            </a:r>
            <a:endParaRPr sz="1800">
              <a:latin typeface="Microsoft YaHei"/>
              <a:cs typeface="Microsoft YaHe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000" y="3222791"/>
            <a:ext cx="3522150" cy="1073716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905283" y="4322640"/>
            <a:ext cx="9131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0">
                <a:solidFill>
                  <a:srgbClr val="FF0000"/>
                </a:solidFill>
                <a:latin typeface="Microsoft YaHei"/>
                <a:cs typeface="Microsoft YaHei"/>
              </a:rPr>
              <a:t>硅光调制器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2045" y="3147813"/>
            <a:ext cx="2905120" cy="140232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247069" y="4458371"/>
            <a:ext cx="18688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CFP/CFP2-</a:t>
            </a:r>
            <a:r>
              <a:rPr dirty="0" sz="1400" spc="-25">
                <a:solidFill>
                  <a:srgbClr val="FF0000"/>
                </a:solidFill>
                <a:latin typeface="Arial MT"/>
                <a:cs typeface="Arial MT"/>
              </a:rPr>
              <a:t>DCO</a:t>
            </a:r>
            <a:r>
              <a:rPr dirty="0" sz="1400" spc="-35">
                <a:solidFill>
                  <a:srgbClr val="FF0000"/>
                </a:solidFill>
                <a:latin typeface="Microsoft YaHei"/>
                <a:cs typeface="Microsoft YaHei"/>
              </a:rPr>
              <a:t>光模块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5503" y="112660"/>
            <a:ext cx="334835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超低时延</a:t>
            </a:r>
            <a:r>
              <a:rPr dirty="0" spc="-30">
                <a:latin typeface="Times New Roman"/>
                <a:cs typeface="Times New Roman"/>
              </a:rPr>
              <a:t>OTN</a:t>
            </a:r>
            <a:r>
              <a:rPr dirty="0" spc="-45"/>
              <a:t>技术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82614" y="4121501"/>
            <a:ext cx="28257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10"/>
              </a:lnSpc>
            </a:pPr>
            <a:r>
              <a:rPr dirty="0" sz="2000" spc="-25" b="1">
                <a:solidFill>
                  <a:srgbClr val="002060"/>
                </a:solidFill>
                <a:latin typeface="Arial"/>
                <a:cs typeface="Arial"/>
              </a:rPr>
              <a:t>59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531" y="1069187"/>
            <a:ext cx="4591048" cy="1524927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03304" y="1102667"/>
          <a:ext cx="2797810" cy="151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7990"/>
                <a:gridCol w="1010919"/>
              </a:tblGrid>
              <a:tr h="303530">
                <a:tc>
                  <a:txBody>
                    <a:bodyPr/>
                    <a:lstStyle/>
                    <a:p>
                      <a:pPr marL="198120" marR="577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5G</a:t>
                      </a:r>
                      <a:r>
                        <a:rPr dirty="0" sz="1200" spc="-10" b="1">
                          <a:latin typeface="Microsoft YaHei"/>
                          <a:cs typeface="Microsoft YaHei"/>
                        </a:rPr>
                        <a:t>时延指标类型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00" spc="-15" b="1">
                          <a:latin typeface="Microsoft YaHei"/>
                          <a:cs typeface="Microsoft YaHei"/>
                        </a:rPr>
                        <a:t>时延指标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196850" marR="577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Microsoft YaHei"/>
                          <a:cs typeface="Microsoft YaHei"/>
                        </a:rPr>
                        <a:t>终端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-CU</a:t>
                      </a:r>
                      <a:r>
                        <a:rPr dirty="0" sz="1200" spc="-10">
                          <a:latin typeface="Microsoft YaHei"/>
                          <a:cs typeface="Microsoft YaHei"/>
                        </a:rPr>
                        <a:t>（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eMBB</a:t>
                      </a:r>
                      <a:r>
                        <a:rPr dirty="0" sz="1200" spc="-10">
                          <a:latin typeface="Microsoft YaHei"/>
                          <a:cs typeface="Microsoft YaHei"/>
                        </a:rPr>
                        <a:t>）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5">
                          <a:latin typeface="Arial MT"/>
                          <a:cs typeface="Arial MT"/>
                        </a:rPr>
                        <a:t>4ms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196850" marR="577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Microsoft YaHei"/>
                          <a:cs typeface="Microsoft YaHei"/>
                        </a:rPr>
                        <a:t>终端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-CU</a:t>
                      </a:r>
                      <a:r>
                        <a:rPr dirty="0" sz="1200" spc="-10">
                          <a:latin typeface="Microsoft YaHei"/>
                          <a:cs typeface="Microsoft YaHei"/>
                        </a:rPr>
                        <a:t>（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uRLLC</a:t>
                      </a:r>
                      <a:r>
                        <a:rPr dirty="0" sz="1200" spc="-10">
                          <a:latin typeface="Microsoft YaHei"/>
                          <a:cs typeface="Microsoft YaHei"/>
                        </a:rPr>
                        <a:t>）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0.5ms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196850" marR="577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20">
                          <a:latin typeface="Arial MT"/>
                          <a:cs typeface="Arial MT"/>
                        </a:rPr>
                        <a:t>eV2X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3~10ms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>
                          <a:latin typeface="Microsoft YaHei"/>
                          <a:cs typeface="Microsoft YaHei"/>
                        </a:rPr>
                        <a:t>前传时延</a:t>
                      </a:r>
                      <a:r>
                        <a:rPr dirty="0" sz="1200" spc="-10">
                          <a:latin typeface="Microsoft YaHei"/>
                          <a:cs typeface="Microsoft YaHei"/>
                        </a:rPr>
                        <a:t>（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AAU-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DU</a:t>
                      </a:r>
                      <a:r>
                        <a:rPr dirty="0" sz="1200" spc="-25">
                          <a:latin typeface="Microsoft YaHei"/>
                          <a:cs typeface="Microsoft YaHei"/>
                        </a:rPr>
                        <a:t>）</a:t>
                      </a:r>
                      <a:endParaRPr sz="12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100us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C0C0C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  <a:solidFill>
                      <a:srgbClr val="D1D1F0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657910" y="2863786"/>
            <a:ext cx="7696834" cy="1916430"/>
            <a:chOff x="657910" y="2863786"/>
            <a:chExt cx="7696834" cy="1916430"/>
          </a:xfrm>
        </p:grpSpPr>
        <p:sp>
          <p:nvSpPr>
            <p:cNvPr id="7" name="object 7" descr=""/>
            <p:cNvSpPr/>
            <p:nvPr/>
          </p:nvSpPr>
          <p:spPr>
            <a:xfrm>
              <a:off x="670610" y="2876486"/>
              <a:ext cx="7671434" cy="1891030"/>
            </a:xfrm>
            <a:custGeom>
              <a:avLst/>
              <a:gdLst/>
              <a:ahLst/>
              <a:cxnLst/>
              <a:rect l="l" t="t" r="r" b="b"/>
              <a:pathLst>
                <a:path w="7671434" h="1891029">
                  <a:moveTo>
                    <a:pt x="7670952" y="0"/>
                  </a:moveTo>
                  <a:lnTo>
                    <a:pt x="0" y="0"/>
                  </a:lnTo>
                  <a:lnTo>
                    <a:pt x="0" y="1890776"/>
                  </a:lnTo>
                  <a:lnTo>
                    <a:pt x="7670952" y="1890776"/>
                  </a:lnTo>
                  <a:lnTo>
                    <a:pt x="767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70610" y="2876486"/>
              <a:ext cx="7671434" cy="1891030"/>
            </a:xfrm>
            <a:custGeom>
              <a:avLst/>
              <a:gdLst/>
              <a:ahLst/>
              <a:cxnLst/>
              <a:rect l="l" t="t" r="r" b="b"/>
              <a:pathLst>
                <a:path w="7671434" h="1891029">
                  <a:moveTo>
                    <a:pt x="0" y="0"/>
                  </a:moveTo>
                  <a:lnTo>
                    <a:pt x="7670952" y="0"/>
                  </a:lnTo>
                  <a:lnTo>
                    <a:pt x="7670952" y="1890776"/>
                  </a:lnTo>
                  <a:lnTo>
                    <a:pt x="0" y="189077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6494" y="2862262"/>
            <a:ext cx="7474584" cy="15754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83515" marR="5080" indent="-171450">
              <a:lnSpc>
                <a:spcPts val="1939"/>
              </a:lnSpc>
              <a:spcBef>
                <a:spcPts val="345"/>
              </a:spcBef>
              <a:buChar char="•"/>
              <a:tabLst>
                <a:tab pos="183515" algn="l"/>
              </a:tabLst>
            </a:pPr>
            <a:r>
              <a:rPr dirty="0" sz="1800" spc="-10">
                <a:latin typeface="Arial MT"/>
                <a:cs typeface="Arial MT"/>
              </a:rPr>
              <a:t>OTN</a:t>
            </a:r>
            <a:r>
              <a:rPr dirty="0" sz="1800">
                <a:latin typeface="Microsoft YaHei"/>
                <a:cs typeface="Microsoft YaHei"/>
              </a:rPr>
              <a:t>将是</a:t>
            </a:r>
            <a:r>
              <a:rPr dirty="0" sz="1800" spc="-10">
                <a:latin typeface="Arial MT"/>
                <a:cs typeface="Arial MT"/>
              </a:rPr>
              <a:t>5G</a:t>
            </a:r>
            <a:r>
              <a:rPr dirty="0" sz="1800">
                <a:latin typeface="Microsoft YaHei"/>
                <a:cs typeface="Microsoft YaHei"/>
              </a:rPr>
              <a:t>前传承载的主流技术方案，满足</a:t>
            </a:r>
            <a:r>
              <a:rPr dirty="0" sz="1800">
                <a:latin typeface="Arial MT"/>
                <a:cs typeface="Arial MT"/>
              </a:rPr>
              <a:t>URLLC</a:t>
            </a:r>
            <a:r>
              <a:rPr dirty="0" sz="1800">
                <a:latin typeface="Microsoft YaHei"/>
                <a:cs typeface="Microsoft YaHei"/>
              </a:rPr>
              <a:t>业务需要对</a:t>
            </a:r>
            <a:r>
              <a:rPr dirty="0" sz="1800" spc="-10">
                <a:latin typeface="Arial MT"/>
                <a:cs typeface="Arial MT"/>
              </a:rPr>
              <a:t>OTN</a:t>
            </a:r>
            <a:r>
              <a:rPr dirty="0" sz="1800" spc="-25">
                <a:latin typeface="Microsoft YaHei"/>
                <a:cs typeface="Microsoft YaHei"/>
              </a:rPr>
              <a:t>设备</a:t>
            </a:r>
            <a:r>
              <a:rPr dirty="0" sz="1800" spc="-5">
                <a:latin typeface="Microsoft YaHei"/>
                <a:cs typeface="Microsoft YaHei"/>
              </a:rPr>
              <a:t>时延性能进行进一步优化</a:t>
            </a:r>
            <a:endParaRPr sz="1800">
              <a:latin typeface="Microsoft YaHei"/>
              <a:cs typeface="Microsoft YaHei"/>
            </a:endParaRPr>
          </a:p>
          <a:p>
            <a:pPr marL="183515" indent="-170815">
              <a:lnSpc>
                <a:spcPct val="100000"/>
              </a:lnSpc>
              <a:spcBef>
                <a:spcPts val="565"/>
              </a:spcBef>
              <a:buChar char="•"/>
              <a:tabLst>
                <a:tab pos="183515" algn="l"/>
              </a:tabLst>
            </a:pPr>
            <a:r>
              <a:rPr dirty="0" sz="1800" spc="-10">
                <a:latin typeface="Arial MT"/>
                <a:cs typeface="Arial MT"/>
              </a:rPr>
              <a:t>OTN</a:t>
            </a:r>
            <a:r>
              <a:rPr dirty="0" sz="1800" spc="-10">
                <a:latin typeface="Microsoft YaHei"/>
                <a:cs typeface="Microsoft YaHei"/>
              </a:rPr>
              <a:t>时延优化措施包括：</a:t>
            </a:r>
            <a:endParaRPr sz="1800">
              <a:latin typeface="Microsoft YaHei"/>
              <a:cs typeface="Microsoft YaHei"/>
            </a:endParaRPr>
          </a:p>
          <a:p>
            <a:pPr lvl="1" marL="525780" marR="32384" indent="-170180">
              <a:lnSpc>
                <a:spcPts val="1510"/>
              </a:lnSpc>
              <a:spcBef>
                <a:spcPts val="434"/>
              </a:spcBef>
              <a:buFont typeface="Arial MT"/>
              <a:buChar char="•"/>
              <a:tabLst>
                <a:tab pos="527050" algn="l"/>
              </a:tabLst>
            </a:pP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针对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5G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前传场景，旁路芯片内不必要的功能模块和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FIFO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缓存，并对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FIFO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缓存的深度和资	源调度进行了优化</a:t>
            </a:r>
            <a:endParaRPr sz="1400">
              <a:latin typeface="Microsoft YaHei"/>
              <a:cs typeface="Microsoft YaHei"/>
            </a:endParaRPr>
          </a:p>
          <a:p>
            <a:pPr lvl="1" marL="525780" indent="-17018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525780" algn="l"/>
              </a:tabLst>
            </a:pPr>
            <a:r>
              <a:rPr dirty="0" sz="1400" spc="-20">
                <a:latin typeface="Microsoft YaHei"/>
                <a:cs typeface="Microsoft YaHei"/>
              </a:rPr>
              <a:t>优化</a:t>
            </a:r>
            <a:r>
              <a:rPr dirty="0" sz="1400" spc="-10">
                <a:latin typeface="Arial MT"/>
                <a:cs typeface="Arial MT"/>
              </a:rPr>
              <a:t>OTN</a:t>
            </a:r>
            <a:r>
              <a:rPr dirty="0" sz="1400" spc="-20">
                <a:latin typeface="Microsoft YaHei"/>
                <a:cs typeface="Microsoft YaHei"/>
              </a:rPr>
              <a:t>成帧结构和映射封装方式</a:t>
            </a:r>
            <a:r>
              <a:rPr dirty="0" sz="1400">
                <a:latin typeface="Microsoft YaHei"/>
                <a:cs typeface="Microsoft YaHei"/>
              </a:rPr>
              <a:t>（</a:t>
            </a:r>
            <a:r>
              <a:rPr dirty="0" sz="1400">
                <a:latin typeface="Arial MT"/>
                <a:cs typeface="Arial MT"/>
              </a:rPr>
              <a:t>OTN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lite</a:t>
            </a:r>
            <a:r>
              <a:rPr dirty="0" sz="1400" spc="-10">
                <a:latin typeface="Microsoft YaHei"/>
                <a:cs typeface="Microsoft YaHei"/>
              </a:rPr>
              <a:t>）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69394" y="4441126"/>
            <a:ext cx="43135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 spc="-20">
                <a:latin typeface="Microsoft YaHei"/>
                <a:cs typeface="Microsoft YaHei"/>
              </a:rPr>
              <a:t>采用更大的支路时隙（</a:t>
            </a:r>
            <a:r>
              <a:rPr dirty="0" sz="1400" spc="-20">
                <a:latin typeface="Arial MT"/>
                <a:cs typeface="Arial MT"/>
              </a:rPr>
              <a:t>TS</a:t>
            </a:r>
            <a:r>
              <a:rPr dirty="0" sz="1400" spc="-20">
                <a:latin typeface="Microsoft YaHei"/>
                <a:cs typeface="Microsoft YaHei"/>
              </a:rPr>
              <a:t>），如</a:t>
            </a:r>
            <a:r>
              <a:rPr dirty="0" sz="1400" spc="-10">
                <a:latin typeface="Arial MT"/>
                <a:cs typeface="Arial MT"/>
              </a:rPr>
              <a:t>5Gbit/s</a:t>
            </a:r>
            <a:r>
              <a:rPr dirty="0" sz="1400" spc="-20">
                <a:latin typeface="Microsoft YaHei"/>
                <a:cs typeface="Microsoft YaHei"/>
              </a:rPr>
              <a:t>、</a:t>
            </a:r>
            <a:r>
              <a:rPr dirty="0" sz="1400" spc="-10">
                <a:latin typeface="Arial MT"/>
                <a:cs typeface="Arial MT"/>
              </a:rPr>
              <a:t>25Gbit/s</a:t>
            </a:r>
            <a:r>
              <a:rPr dirty="0" sz="1400" spc="-50">
                <a:latin typeface="Microsoft YaHei"/>
                <a:cs typeface="Microsoft YaHei"/>
              </a:rPr>
              <a:t>等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78466" y="4285170"/>
            <a:ext cx="2705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Microsoft YaHei"/>
                <a:cs typeface="Microsoft YaHei"/>
              </a:rPr>
              <a:t>目标：单节点时延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1us</a:t>
            </a:r>
            <a:r>
              <a:rPr dirty="0" sz="1800" spc="-25" b="1">
                <a:solidFill>
                  <a:srgbClr val="FF0000"/>
                </a:solidFill>
                <a:latin typeface="Microsoft YaHei"/>
                <a:cs typeface="Microsoft YaHei"/>
              </a:rPr>
              <a:t>量级</a:t>
            </a:r>
            <a:endParaRPr sz="18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24197" y="971551"/>
            <a:ext cx="19050" cy="3733800"/>
          </a:xfrm>
          <a:custGeom>
            <a:avLst/>
            <a:gdLst/>
            <a:ahLst/>
            <a:cxnLst/>
            <a:rect l="l" t="t" r="r" b="b"/>
            <a:pathLst>
              <a:path w="19050" h="3733800">
                <a:moveTo>
                  <a:pt x="19050" y="0"/>
                </a:moveTo>
                <a:lnTo>
                  <a:pt x="0" y="3733800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270250" y="965200"/>
            <a:ext cx="4584700" cy="498475"/>
            <a:chOff x="3270250" y="965200"/>
            <a:chExt cx="4584700" cy="4984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971550"/>
              <a:ext cx="4572000" cy="48577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76600" y="9715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74619" y="39229"/>
            <a:ext cx="30988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  <a:tab pos="1688464" algn="l"/>
                <a:tab pos="2526665" algn="l"/>
              </a:tabLst>
            </a:pPr>
            <a:r>
              <a:rPr dirty="0" sz="4400" spc="-50"/>
              <a:t>主</a:t>
            </a:r>
            <a:r>
              <a:rPr dirty="0" sz="4400"/>
              <a:t>	</a:t>
            </a:r>
            <a:r>
              <a:rPr dirty="0" sz="4400" spc="-50"/>
              <a:t>要</a:t>
            </a:r>
            <a:r>
              <a:rPr dirty="0" sz="4400"/>
              <a:t>	</a:t>
            </a:r>
            <a:r>
              <a:rPr dirty="0" sz="4400" spc="-50"/>
              <a:t>内</a:t>
            </a:r>
            <a:r>
              <a:rPr dirty="0" sz="4400"/>
              <a:t>	</a:t>
            </a:r>
            <a:r>
              <a:rPr dirty="0" sz="4400" spc="-50"/>
              <a:t>容</a:t>
            </a:r>
            <a:endParaRPr sz="4400"/>
          </a:p>
        </p:txBody>
      </p:sp>
      <p:grpSp>
        <p:nvGrpSpPr>
          <p:cNvPr id="7" name="object 7" descr=""/>
          <p:cNvGrpSpPr/>
          <p:nvPr/>
        </p:nvGrpSpPr>
        <p:grpSpPr>
          <a:xfrm>
            <a:off x="3270250" y="2032000"/>
            <a:ext cx="4584700" cy="498475"/>
            <a:chOff x="3270250" y="2032000"/>
            <a:chExt cx="4584700" cy="49847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2038350"/>
              <a:ext cx="4572000" cy="48577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276600" y="2038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3270250" y="3175000"/>
            <a:ext cx="4584700" cy="498475"/>
            <a:chOff x="3270250" y="3175000"/>
            <a:chExt cx="4584700" cy="49847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3181350"/>
              <a:ext cx="4572000" cy="48577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276600" y="3181350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379053" y="1007427"/>
            <a:ext cx="4360545" cy="260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YaHei"/>
                <a:cs typeface="Microsoft YaHei"/>
              </a:rPr>
              <a:t>一、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系统标准与产业发展概述</a:t>
            </a:r>
            <a:endParaRPr sz="2400">
              <a:latin typeface="Microsoft YaHei"/>
              <a:cs typeface="Microsoft YaHei"/>
            </a:endParaRPr>
          </a:p>
          <a:p>
            <a:pPr marL="12700" marR="5080">
              <a:lnSpc>
                <a:spcPts val="9000"/>
              </a:lnSpc>
              <a:spcBef>
                <a:spcPts val="520"/>
              </a:spcBef>
            </a:pPr>
            <a:r>
              <a:rPr dirty="0" sz="2400">
                <a:latin typeface="Microsoft YaHei"/>
                <a:cs typeface="Microsoft YaHei"/>
              </a:rPr>
              <a:t>二、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系统核心网络架构与技术</a:t>
            </a:r>
            <a:r>
              <a:rPr dirty="0" sz="2400">
                <a:latin typeface="Microsoft YaHei"/>
                <a:cs typeface="Microsoft YaHei"/>
              </a:rPr>
              <a:t>三、</a:t>
            </a:r>
            <a:r>
              <a:rPr dirty="0" sz="2400" spc="-20">
                <a:latin typeface="Times New Roman"/>
                <a:cs typeface="Times New Roman"/>
              </a:rPr>
              <a:t>5G</a:t>
            </a:r>
            <a:r>
              <a:rPr dirty="0" sz="2400" spc="-5">
                <a:latin typeface="Microsoft YaHei"/>
                <a:cs typeface="Microsoft YaHei"/>
              </a:rPr>
              <a:t>系统传输网络架构与技术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270250" y="4238228"/>
            <a:ext cx="4584700" cy="498475"/>
            <a:chOff x="3270250" y="4238228"/>
            <a:chExt cx="4584700" cy="498475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6600" y="4244578"/>
              <a:ext cx="4572000" cy="48577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276600" y="4244578"/>
              <a:ext cx="4572000" cy="485775"/>
            </a:xfrm>
            <a:custGeom>
              <a:avLst/>
              <a:gdLst/>
              <a:ahLst/>
              <a:cxnLst/>
              <a:rect l="l" t="t" r="r" b="b"/>
              <a:pathLst>
                <a:path w="4572000" h="485775">
                  <a:moveTo>
                    <a:pt x="0" y="80962"/>
                  </a:moveTo>
                  <a:lnTo>
                    <a:pt x="6362" y="49447"/>
                  </a:lnTo>
                  <a:lnTo>
                    <a:pt x="23712" y="23712"/>
                  </a:lnTo>
                  <a:lnTo>
                    <a:pt x="49447" y="6362"/>
                  </a:lnTo>
                  <a:lnTo>
                    <a:pt x="80962" y="0"/>
                  </a:lnTo>
                  <a:lnTo>
                    <a:pt x="4491037" y="0"/>
                  </a:lnTo>
                  <a:lnTo>
                    <a:pt x="4522552" y="6362"/>
                  </a:lnTo>
                  <a:lnTo>
                    <a:pt x="4548287" y="23712"/>
                  </a:lnTo>
                  <a:lnTo>
                    <a:pt x="4565637" y="49447"/>
                  </a:lnTo>
                  <a:lnTo>
                    <a:pt x="4572000" y="80962"/>
                  </a:lnTo>
                  <a:lnTo>
                    <a:pt x="4572000" y="404812"/>
                  </a:lnTo>
                  <a:lnTo>
                    <a:pt x="4565637" y="436327"/>
                  </a:lnTo>
                  <a:lnTo>
                    <a:pt x="4548287" y="462062"/>
                  </a:lnTo>
                  <a:lnTo>
                    <a:pt x="4522552" y="479412"/>
                  </a:lnTo>
                  <a:lnTo>
                    <a:pt x="4491037" y="485775"/>
                  </a:lnTo>
                  <a:lnTo>
                    <a:pt x="80962" y="485775"/>
                  </a:lnTo>
                  <a:lnTo>
                    <a:pt x="49447" y="479412"/>
                  </a:lnTo>
                  <a:lnTo>
                    <a:pt x="23712" y="462062"/>
                  </a:lnTo>
                  <a:lnTo>
                    <a:pt x="6362" y="436327"/>
                  </a:lnTo>
                  <a:lnTo>
                    <a:pt x="0" y="404812"/>
                  </a:lnTo>
                  <a:lnTo>
                    <a:pt x="0" y="8096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379053" y="4280456"/>
            <a:ext cx="4377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Microsoft YaHei"/>
                <a:cs typeface="Microsoft YaHei"/>
              </a:rPr>
              <a:t>四、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5G</a:t>
            </a:r>
            <a:r>
              <a:rPr dirty="0" sz="2400" spc="-5" b="1">
                <a:solidFill>
                  <a:srgbClr val="FF0000"/>
                </a:solidFill>
                <a:latin typeface="Microsoft YaHei"/>
                <a:cs typeface="Microsoft YaHei"/>
              </a:rPr>
              <a:t>系统无线网络架构与技术</a:t>
            </a:r>
            <a:endParaRPr sz="2400">
              <a:latin typeface="Microsoft YaHei"/>
              <a:cs typeface="Microsoft YaHe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400" y="971550"/>
            <a:ext cx="2749533" cy="3786212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7189051" y="3390903"/>
            <a:ext cx="1955164" cy="1162050"/>
          </a:xfrm>
          <a:custGeom>
            <a:avLst/>
            <a:gdLst/>
            <a:ahLst/>
            <a:cxnLst/>
            <a:rect l="l" t="t" r="r" b="b"/>
            <a:pathLst>
              <a:path w="1955165" h="1162050">
                <a:moveTo>
                  <a:pt x="507149" y="193675"/>
                </a:moveTo>
                <a:lnTo>
                  <a:pt x="512264" y="149264"/>
                </a:lnTo>
                <a:lnTo>
                  <a:pt x="526835" y="108497"/>
                </a:lnTo>
                <a:lnTo>
                  <a:pt x="549698" y="72537"/>
                </a:lnTo>
                <a:lnTo>
                  <a:pt x="579692" y="42545"/>
                </a:lnTo>
                <a:lnTo>
                  <a:pt x="615652" y="19683"/>
                </a:lnTo>
                <a:lnTo>
                  <a:pt x="656417" y="5114"/>
                </a:lnTo>
                <a:lnTo>
                  <a:pt x="700824" y="0"/>
                </a:lnTo>
                <a:lnTo>
                  <a:pt x="748449" y="0"/>
                </a:lnTo>
                <a:lnTo>
                  <a:pt x="1110399" y="0"/>
                </a:lnTo>
                <a:lnTo>
                  <a:pt x="1761274" y="0"/>
                </a:lnTo>
                <a:lnTo>
                  <a:pt x="1805680" y="5114"/>
                </a:lnTo>
                <a:lnTo>
                  <a:pt x="1846445" y="19683"/>
                </a:lnTo>
                <a:lnTo>
                  <a:pt x="1882406" y="42545"/>
                </a:lnTo>
                <a:lnTo>
                  <a:pt x="1912399" y="72537"/>
                </a:lnTo>
                <a:lnTo>
                  <a:pt x="1935262" y="108497"/>
                </a:lnTo>
                <a:lnTo>
                  <a:pt x="1949833" y="149264"/>
                </a:lnTo>
                <a:lnTo>
                  <a:pt x="1954949" y="193675"/>
                </a:lnTo>
                <a:lnTo>
                  <a:pt x="1954949" y="677862"/>
                </a:lnTo>
                <a:lnTo>
                  <a:pt x="1954949" y="968375"/>
                </a:lnTo>
                <a:lnTo>
                  <a:pt x="1949833" y="1012773"/>
                </a:lnTo>
                <a:lnTo>
                  <a:pt x="1935262" y="1053541"/>
                </a:lnTo>
                <a:lnTo>
                  <a:pt x="1912399" y="1089504"/>
                </a:lnTo>
                <a:lnTo>
                  <a:pt x="1882406" y="1119499"/>
                </a:lnTo>
                <a:lnTo>
                  <a:pt x="1846445" y="1142363"/>
                </a:lnTo>
                <a:lnTo>
                  <a:pt x="1805680" y="1156934"/>
                </a:lnTo>
                <a:lnTo>
                  <a:pt x="1761274" y="1162050"/>
                </a:lnTo>
                <a:lnTo>
                  <a:pt x="1110399" y="1162050"/>
                </a:lnTo>
                <a:lnTo>
                  <a:pt x="748449" y="1162050"/>
                </a:lnTo>
                <a:lnTo>
                  <a:pt x="700824" y="1162050"/>
                </a:lnTo>
                <a:lnTo>
                  <a:pt x="656417" y="1156934"/>
                </a:lnTo>
                <a:lnTo>
                  <a:pt x="615652" y="1142363"/>
                </a:lnTo>
                <a:lnTo>
                  <a:pt x="579692" y="1119499"/>
                </a:lnTo>
                <a:lnTo>
                  <a:pt x="549698" y="1089504"/>
                </a:lnTo>
                <a:lnTo>
                  <a:pt x="526835" y="1053541"/>
                </a:lnTo>
                <a:lnTo>
                  <a:pt x="512264" y="1012773"/>
                </a:lnTo>
                <a:lnTo>
                  <a:pt x="507149" y="968362"/>
                </a:lnTo>
                <a:lnTo>
                  <a:pt x="0" y="969137"/>
                </a:lnTo>
                <a:lnTo>
                  <a:pt x="507149" y="677862"/>
                </a:lnTo>
                <a:lnTo>
                  <a:pt x="507149" y="193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7848600" y="3496690"/>
            <a:ext cx="1143635" cy="90360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无线网络架构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无线网络技术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无线网络部署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5G</a:t>
            </a:r>
            <a:r>
              <a:rPr dirty="0" sz="1200" spc="-10" b="1">
                <a:solidFill>
                  <a:srgbClr val="C00000"/>
                </a:solidFill>
                <a:latin typeface="Microsoft YaHei"/>
                <a:cs typeface="Microsoft YaHei"/>
              </a:rPr>
              <a:t>网络频率策略</a:t>
            </a:r>
            <a:endParaRPr sz="12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8844" y="104838"/>
            <a:ext cx="578612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移动通信系统</a:t>
            </a:r>
            <a:r>
              <a:rPr dirty="0" spc="-30">
                <a:latin typeface="Times New Roman"/>
                <a:cs typeface="Times New Roman"/>
              </a:rPr>
              <a:t>RAN</a:t>
            </a:r>
            <a:r>
              <a:rPr dirty="0" spc="-45"/>
              <a:t>网络架构变迁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9383" y="730867"/>
            <a:ext cx="3822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Arial MT"/>
                <a:cs typeface="Arial MT"/>
              </a:rPr>
              <a:t>2G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14559" y="730867"/>
            <a:ext cx="416432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4989" algn="l"/>
                <a:tab pos="3794760" algn="l"/>
              </a:tabLst>
            </a:pPr>
            <a:r>
              <a:rPr dirty="0" sz="2100" spc="-25">
                <a:latin typeface="Arial MT"/>
                <a:cs typeface="Arial MT"/>
              </a:rPr>
              <a:t>3G</a:t>
            </a:r>
            <a:r>
              <a:rPr dirty="0" sz="2100">
                <a:latin typeface="Arial MT"/>
                <a:cs typeface="Arial MT"/>
              </a:rPr>
              <a:t>	</a:t>
            </a:r>
            <a:r>
              <a:rPr dirty="0" sz="2100" spc="-25">
                <a:latin typeface="Arial MT"/>
                <a:cs typeface="Arial MT"/>
              </a:rPr>
              <a:t>4G</a:t>
            </a:r>
            <a:r>
              <a:rPr dirty="0" sz="2100">
                <a:latin typeface="Arial MT"/>
                <a:cs typeface="Arial MT"/>
              </a:rPr>
              <a:t>	</a:t>
            </a:r>
            <a:r>
              <a:rPr dirty="0" sz="2100" spc="-25">
                <a:latin typeface="Arial MT"/>
                <a:cs typeface="Arial MT"/>
              </a:rPr>
              <a:t>5G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995765" y="730867"/>
            <a:ext cx="426084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Arial MT"/>
                <a:cs typeface="Arial MT"/>
              </a:rPr>
              <a:t>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94544" y="3127860"/>
            <a:ext cx="3968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latin typeface="Arial MT"/>
                <a:cs typeface="Arial MT"/>
              </a:rPr>
              <a:t>BTS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60432" y="1865797"/>
            <a:ext cx="4178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latin typeface="Arial MT"/>
                <a:cs typeface="Arial MT"/>
              </a:rPr>
              <a:t>BSC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144365" y="1811070"/>
            <a:ext cx="1050290" cy="633730"/>
          </a:xfrm>
          <a:custGeom>
            <a:avLst/>
            <a:gdLst/>
            <a:ahLst/>
            <a:cxnLst/>
            <a:rect l="l" t="t" r="r" b="b"/>
            <a:pathLst>
              <a:path w="1050289" h="633730">
                <a:moveTo>
                  <a:pt x="0" y="0"/>
                </a:moveTo>
                <a:lnTo>
                  <a:pt x="1050048" y="0"/>
                </a:lnTo>
                <a:lnTo>
                  <a:pt x="1050048" y="633552"/>
                </a:lnTo>
                <a:lnTo>
                  <a:pt x="0" y="6335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144365" y="2440635"/>
            <a:ext cx="1050290" cy="201930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218440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latin typeface="Microsoft YaHei"/>
                <a:cs typeface="Microsoft YaHei"/>
              </a:rPr>
              <a:t>部分</a:t>
            </a:r>
            <a:r>
              <a:rPr dirty="0" sz="1200" spc="-25">
                <a:latin typeface="Arial MT"/>
                <a:cs typeface="Arial MT"/>
              </a:rPr>
              <a:t>PHY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141127" y="1573034"/>
            <a:ext cx="1050290" cy="228600"/>
          </a:xfrm>
          <a:custGeom>
            <a:avLst/>
            <a:gdLst/>
            <a:ahLst/>
            <a:cxnLst/>
            <a:rect l="l" t="t" r="r" b="b"/>
            <a:pathLst>
              <a:path w="1050289" h="228600">
                <a:moveTo>
                  <a:pt x="0" y="0"/>
                </a:moveTo>
                <a:lnTo>
                  <a:pt x="1050061" y="0"/>
                </a:lnTo>
                <a:lnTo>
                  <a:pt x="1050061" y="227990"/>
                </a:lnTo>
                <a:lnTo>
                  <a:pt x="0" y="2279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141127" y="1573034"/>
            <a:ext cx="1050290" cy="2286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17780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140"/>
              </a:spcBef>
            </a:pPr>
            <a:r>
              <a:rPr dirty="0" sz="1200" spc="-10">
                <a:latin typeface="Arial MT"/>
                <a:cs typeface="Arial MT"/>
              </a:rPr>
              <a:t>RRC/PDCP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80620" y="1534833"/>
            <a:ext cx="1050290" cy="228600"/>
          </a:xfrm>
          <a:prstGeom prst="rect">
            <a:avLst/>
          </a:prstGeom>
          <a:solidFill>
            <a:srgbClr val="FFC000"/>
          </a:solidFill>
          <a:ln w="25400">
            <a:solidFill>
              <a:srgbClr val="89A4A7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140"/>
              </a:spcBef>
            </a:pPr>
            <a:r>
              <a:rPr dirty="0" sz="1200" spc="-10">
                <a:latin typeface="Arial MT"/>
                <a:cs typeface="Arial MT"/>
              </a:rPr>
              <a:t>RRC/PDCP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66650" y="3308248"/>
            <a:ext cx="1053465" cy="224154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140"/>
              </a:spcBef>
            </a:pPr>
            <a:r>
              <a:rPr dirty="0" sz="1200" spc="-25">
                <a:latin typeface="Arial MT"/>
                <a:cs typeface="Arial MT"/>
              </a:rPr>
              <a:t>PHY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66650" y="3531971"/>
            <a:ext cx="1053465" cy="424180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10"/>
              </a:spcBef>
            </a:pPr>
            <a:r>
              <a:rPr dirty="0" sz="1200" spc="-25">
                <a:latin typeface="Arial MT"/>
                <a:cs typeface="Arial MT"/>
              </a:rPr>
              <a:t>RRU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44365" y="1811070"/>
            <a:ext cx="1050290" cy="633730"/>
          </a:xfrm>
          <a:prstGeom prst="rect">
            <a:avLst/>
          </a:prstGeom>
          <a:solidFill>
            <a:srgbClr val="9A9A9A"/>
          </a:solidFill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Arial MT"/>
                <a:cs typeface="Arial MT"/>
              </a:rPr>
              <a:t>MAC/RLC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83858" y="2198497"/>
            <a:ext cx="1050290" cy="633730"/>
          </a:xfrm>
          <a:prstGeom prst="rect">
            <a:avLst/>
          </a:prstGeom>
          <a:solidFill>
            <a:srgbClr val="9A9A9A"/>
          </a:solidFill>
          <a:ln w="25400">
            <a:solidFill>
              <a:srgbClr val="89A4A7"/>
            </a:solidFill>
          </a:ln>
        </p:spPr>
        <p:txBody>
          <a:bodyPr wrap="square" lIns="0" tIns="174625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1375"/>
              </a:spcBef>
            </a:pPr>
            <a:r>
              <a:rPr dirty="0" sz="1200" spc="-10">
                <a:latin typeface="Arial MT"/>
                <a:cs typeface="Arial MT"/>
              </a:rPr>
              <a:t>MAC/RLC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602365" y="2679791"/>
            <a:ext cx="135255" cy="802640"/>
          </a:xfrm>
          <a:custGeom>
            <a:avLst/>
            <a:gdLst/>
            <a:ahLst/>
            <a:cxnLst/>
            <a:rect l="l" t="t" r="r" b="b"/>
            <a:pathLst>
              <a:path w="135254" h="802639">
                <a:moveTo>
                  <a:pt x="67614" y="0"/>
                </a:moveTo>
                <a:lnTo>
                  <a:pt x="0" y="67614"/>
                </a:lnTo>
                <a:lnTo>
                  <a:pt x="33807" y="67614"/>
                </a:lnTo>
                <a:lnTo>
                  <a:pt x="33807" y="734860"/>
                </a:lnTo>
                <a:lnTo>
                  <a:pt x="0" y="734860"/>
                </a:lnTo>
                <a:lnTo>
                  <a:pt x="67614" y="802474"/>
                </a:lnTo>
                <a:lnTo>
                  <a:pt x="135216" y="734860"/>
                </a:lnTo>
                <a:lnTo>
                  <a:pt x="101422" y="734860"/>
                </a:lnTo>
                <a:lnTo>
                  <a:pt x="101422" y="67614"/>
                </a:lnTo>
                <a:lnTo>
                  <a:pt x="135216" y="67614"/>
                </a:lnTo>
                <a:lnTo>
                  <a:pt x="67614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4141127" y="3526510"/>
            <a:ext cx="1050290" cy="413384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908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1200" spc="-25">
                <a:latin typeface="Arial MT"/>
                <a:cs typeface="Arial MT"/>
              </a:rPr>
              <a:t>RRU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175150" y="2382321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DU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169511" y="1547474"/>
            <a:ext cx="245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CU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119219" y="3566469"/>
            <a:ext cx="354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AAU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541865" y="2838043"/>
            <a:ext cx="118745" cy="401320"/>
          </a:xfrm>
          <a:custGeom>
            <a:avLst/>
            <a:gdLst/>
            <a:ahLst/>
            <a:cxnLst/>
            <a:rect l="l" t="t" r="r" b="b"/>
            <a:pathLst>
              <a:path w="118745" h="401319">
                <a:moveTo>
                  <a:pt x="59232" y="0"/>
                </a:moveTo>
                <a:lnTo>
                  <a:pt x="0" y="59232"/>
                </a:lnTo>
                <a:lnTo>
                  <a:pt x="29616" y="59232"/>
                </a:lnTo>
                <a:lnTo>
                  <a:pt x="29616" y="341998"/>
                </a:lnTo>
                <a:lnTo>
                  <a:pt x="0" y="341998"/>
                </a:lnTo>
                <a:lnTo>
                  <a:pt x="59232" y="401231"/>
                </a:lnTo>
                <a:lnTo>
                  <a:pt x="118465" y="341998"/>
                </a:lnTo>
                <a:lnTo>
                  <a:pt x="88849" y="341998"/>
                </a:lnTo>
                <a:lnTo>
                  <a:pt x="88849" y="59232"/>
                </a:lnTo>
                <a:lnTo>
                  <a:pt x="118465" y="59232"/>
                </a:lnTo>
                <a:lnTo>
                  <a:pt x="5923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536280" y="1773995"/>
            <a:ext cx="124460" cy="424815"/>
          </a:xfrm>
          <a:custGeom>
            <a:avLst/>
            <a:gdLst/>
            <a:ahLst/>
            <a:cxnLst/>
            <a:rect l="l" t="t" r="r" b="b"/>
            <a:pathLst>
              <a:path w="124459" h="424814">
                <a:moveTo>
                  <a:pt x="62026" y="0"/>
                </a:moveTo>
                <a:lnTo>
                  <a:pt x="0" y="62026"/>
                </a:lnTo>
                <a:lnTo>
                  <a:pt x="31013" y="62026"/>
                </a:lnTo>
                <a:lnTo>
                  <a:pt x="31013" y="362483"/>
                </a:lnTo>
                <a:lnTo>
                  <a:pt x="0" y="362483"/>
                </a:lnTo>
                <a:lnTo>
                  <a:pt x="62026" y="424510"/>
                </a:lnTo>
                <a:lnTo>
                  <a:pt x="124053" y="362483"/>
                </a:lnTo>
                <a:lnTo>
                  <a:pt x="93040" y="362483"/>
                </a:lnTo>
                <a:lnTo>
                  <a:pt x="93040" y="62026"/>
                </a:lnTo>
                <a:lnTo>
                  <a:pt x="124053" y="62026"/>
                </a:lnTo>
                <a:lnTo>
                  <a:pt x="62026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541865" y="1179225"/>
            <a:ext cx="118745" cy="364490"/>
          </a:xfrm>
          <a:custGeom>
            <a:avLst/>
            <a:gdLst/>
            <a:ahLst/>
            <a:cxnLst/>
            <a:rect l="l" t="t" r="r" b="b"/>
            <a:pathLst>
              <a:path w="118745" h="364490">
                <a:moveTo>
                  <a:pt x="59232" y="0"/>
                </a:moveTo>
                <a:lnTo>
                  <a:pt x="0" y="59232"/>
                </a:lnTo>
                <a:lnTo>
                  <a:pt x="29616" y="59232"/>
                </a:lnTo>
                <a:lnTo>
                  <a:pt x="29616" y="304698"/>
                </a:lnTo>
                <a:lnTo>
                  <a:pt x="0" y="304698"/>
                </a:lnTo>
                <a:lnTo>
                  <a:pt x="59232" y="363931"/>
                </a:lnTo>
                <a:lnTo>
                  <a:pt x="118465" y="304698"/>
                </a:lnTo>
                <a:lnTo>
                  <a:pt x="88849" y="304698"/>
                </a:lnTo>
                <a:lnTo>
                  <a:pt x="88849" y="59232"/>
                </a:lnTo>
                <a:lnTo>
                  <a:pt x="118465" y="59232"/>
                </a:lnTo>
                <a:lnTo>
                  <a:pt x="5923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607957" y="1181953"/>
            <a:ext cx="118745" cy="364490"/>
          </a:xfrm>
          <a:custGeom>
            <a:avLst/>
            <a:gdLst/>
            <a:ahLst/>
            <a:cxnLst/>
            <a:rect l="l" t="t" r="r" b="b"/>
            <a:pathLst>
              <a:path w="118745" h="364490">
                <a:moveTo>
                  <a:pt x="59232" y="0"/>
                </a:moveTo>
                <a:lnTo>
                  <a:pt x="0" y="59232"/>
                </a:lnTo>
                <a:lnTo>
                  <a:pt x="29616" y="59232"/>
                </a:lnTo>
                <a:lnTo>
                  <a:pt x="29616" y="304698"/>
                </a:lnTo>
                <a:lnTo>
                  <a:pt x="0" y="304698"/>
                </a:lnTo>
                <a:lnTo>
                  <a:pt x="59232" y="363931"/>
                </a:lnTo>
                <a:lnTo>
                  <a:pt x="118465" y="304698"/>
                </a:lnTo>
                <a:lnTo>
                  <a:pt x="88849" y="304698"/>
                </a:lnTo>
                <a:lnTo>
                  <a:pt x="88849" y="59232"/>
                </a:lnTo>
                <a:lnTo>
                  <a:pt x="118465" y="59232"/>
                </a:lnTo>
                <a:lnTo>
                  <a:pt x="5923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363283" y="1512252"/>
          <a:ext cx="1151890" cy="711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290"/>
              </a:tblGrid>
              <a:tr h="229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778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38100">
                      <a:solidFill>
                        <a:srgbClr val="89A4A7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40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LAPDM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38100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9A9A9A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SigL1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A7A8A7"/>
                    </a:solidFill>
                  </a:tcPr>
                </a:tc>
              </a:tr>
            </a:tbl>
          </a:graphicData>
        </a:graphic>
      </p:graphicFrame>
      <p:sp>
        <p:nvSpPr>
          <p:cNvPr id="27" name="object 27" descr=""/>
          <p:cNvSpPr txBox="1"/>
          <p:nvPr/>
        </p:nvSpPr>
        <p:spPr>
          <a:xfrm>
            <a:off x="393395" y="3531971"/>
            <a:ext cx="1033144" cy="408305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1079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1200" spc="-25">
                <a:latin typeface="Arial MT"/>
                <a:cs typeface="Arial MT"/>
              </a:rPr>
              <a:t>RRU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2302916" y="1552232"/>
            <a:ext cx="1050290" cy="228600"/>
          </a:xfrm>
          <a:custGeom>
            <a:avLst/>
            <a:gdLst/>
            <a:ahLst/>
            <a:cxnLst/>
            <a:rect l="l" t="t" r="r" b="b"/>
            <a:pathLst>
              <a:path w="1050289" h="228600">
                <a:moveTo>
                  <a:pt x="0" y="0"/>
                </a:moveTo>
                <a:lnTo>
                  <a:pt x="1050061" y="0"/>
                </a:lnTo>
                <a:lnTo>
                  <a:pt x="1050061" y="227990"/>
                </a:lnTo>
                <a:lnTo>
                  <a:pt x="0" y="2279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2302916" y="1552232"/>
            <a:ext cx="1050290" cy="2286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17780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140"/>
              </a:spcBef>
            </a:pPr>
            <a:r>
              <a:rPr dirty="0" sz="1200" spc="-10">
                <a:latin typeface="Arial MT"/>
                <a:cs typeface="Arial MT"/>
              </a:rPr>
              <a:t>RRC/PDCP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302916" y="1783714"/>
            <a:ext cx="1050290" cy="633730"/>
          </a:xfrm>
          <a:custGeom>
            <a:avLst/>
            <a:gdLst/>
            <a:ahLst/>
            <a:cxnLst/>
            <a:rect l="l" t="t" r="r" b="b"/>
            <a:pathLst>
              <a:path w="1050289" h="633730">
                <a:moveTo>
                  <a:pt x="0" y="0"/>
                </a:moveTo>
                <a:lnTo>
                  <a:pt x="1050061" y="0"/>
                </a:lnTo>
                <a:lnTo>
                  <a:pt x="1050061" y="633552"/>
                </a:lnTo>
                <a:lnTo>
                  <a:pt x="0" y="6335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302916" y="1783714"/>
            <a:ext cx="1050290" cy="633730"/>
          </a:xfrm>
          <a:prstGeom prst="rect">
            <a:avLst/>
          </a:prstGeom>
          <a:solidFill>
            <a:srgbClr val="9A9A9A"/>
          </a:solidFill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</a:pPr>
            <a:r>
              <a:rPr dirty="0" sz="1200" spc="-10">
                <a:latin typeface="Arial MT"/>
                <a:cs typeface="Arial MT"/>
              </a:rPr>
              <a:t>MAC/RLC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302916" y="2733255"/>
            <a:ext cx="1056640" cy="257810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sz="1200" spc="-25">
                <a:latin typeface="Arial MT"/>
                <a:cs typeface="Arial MT"/>
              </a:rPr>
              <a:t>PHY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309152" y="3515601"/>
            <a:ext cx="1050290" cy="424180"/>
          </a:xfrm>
          <a:prstGeom prst="rect">
            <a:avLst/>
          </a:prstGeom>
          <a:solidFill>
            <a:srgbClr val="A7A8A7"/>
          </a:solidFill>
          <a:ln w="25400">
            <a:solidFill>
              <a:srgbClr val="89A4A7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dirty="0" sz="1200" spc="-25">
                <a:latin typeface="Arial MT"/>
                <a:cs typeface="Arial MT"/>
              </a:rPr>
              <a:t>RRU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427383" y="1860270"/>
            <a:ext cx="4394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latin typeface="Arial MT"/>
                <a:cs typeface="Arial MT"/>
              </a:rPr>
              <a:t>RNC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589687" y="3219677"/>
            <a:ext cx="531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Node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0"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225698" y="2334260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Microsoft YaHei"/>
                <a:cs typeface="Microsoft YaHei"/>
              </a:rPr>
              <a:t>。。。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742270" y="4642891"/>
            <a:ext cx="3454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Microsoft YaHei"/>
                <a:cs typeface="Microsoft YaHei"/>
              </a:rPr>
              <a:t>网元功能：分离</a:t>
            </a:r>
            <a:r>
              <a:rPr dirty="0" sz="1800" b="1">
                <a:latin typeface="Arial"/>
                <a:cs typeface="Arial"/>
              </a:rPr>
              <a:t>——</a:t>
            </a:r>
            <a:r>
              <a:rPr dirty="0" sz="1800" b="1">
                <a:latin typeface="Microsoft YaHei"/>
                <a:cs typeface="Microsoft YaHei"/>
              </a:rPr>
              <a:t>融合</a:t>
            </a:r>
            <a:r>
              <a:rPr dirty="0" sz="1800" b="1">
                <a:latin typeface="Arial"/>
                <a:cs typeface="Arial"/>
              </a:rPr>
              <a:t>——</a:t>
            </a:r>
            <a:r>
              <a:rPr dirty="0" sz="1800" spc="-25" b="1">
                <a:latin typeface="Microsoft YaHei"/>
                <a:cs typeface="Microsoft YaHei"/>
              </a:rPr>
              <a:t>分离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815545" y="1147110"/>
            <a:ext cx="118745" cy="364490"/>
          </a:xfrm>
          <a:custGeom>
            <a:avLst/>
            <a:gdLst/>
            <a:ahLst/>
            <a:cxnLst/>
            <a:rect l="l" t="t" r="r" b="b"/>
            <a:pathLst>
              <a:path w="118744" h="364490">
                <a:moveTo>
                  <a:pt x="59232" y="0"/>
                </a:moveTo>
                <a:lnTo>
                  <a:pt x="0" y="59232"/>
                </a:lnTo>
                <a:lnTo>
                  <a:pt x="29616" y="59232"/>
                </a:lnTo>
                <a:lnTo>
                  <a:pt x="29616" y="304698"/>
                </a:lnTo>
                <a:lnTo>
                  <a:pt x="0" y="304698"/>
                </a:lnTo>
                <a:lnTo>
                  <a:pt x="59232" y="363931"/>
                </a:lnTo>
                <a:lnTo>
                  <a:pt x="118465" y="304698"/>
                </a:lnTo>
                <a:lnTo>
                  <a:pt x="88849" y="304698"/>
                </a:lnTo>
                <a:lnTo>
                  <a:pt x="88849" y="59232"/>
                </a:lnTo>
                <a:lnTo>
                  <a:pt x="118465" y="59232"/>
                </a:lnTo>
                <a:lnTo>
                  <a:pt x="5923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2787154" y="1155306"/>
            <a:ext cx="118745" cy="1583690"/>
          </a:xfrm>
          <a:custGeom>
            <a:avLst/>
            <a:gdLst/>
            <a:ahLst/>
            <a:cxnLst/>
            <a:rect l="l" t="t" r="r" b="b"/>
            <a:pathLst>
              <a:path w="118744" h="1583689">
                <a:moveTo>
                  <a:pt x="118465" y="1315745"/>
                </a:moveTo>
                <a:lnTo>
                  <a:pt x="59232" y="1256512"/>
                </a:lnTo>
                <a:lnTo>
                  <a:pt x="0" y="1315745"/>
                </a:lnTo>
                <a:lnTo>
                  <a:pt x="29616" y="1315745"/>
                </a:lnTo>
                <a:lnTo>
                  <a:pt x="29616" y="1524177"/>
                </a:lnTo>
                <a:lnTo>
                  <a:pt x="0" y="1524177"/>
                </a:lnTo>
                <a:lnTo>
                  <a:pt x="59232" y="1583410"/>
                </a:lnTo>
                <a:lnTo>
                  <a:pt x="118465" y="1524177"/>
                </a:lnTo>
                <a:lnTo>
                  <a:pt x="88849" y="1524177"/>
                </a:lnTo>
                <a:lnTo>
                  <a:pt x="88849" y="1315745"/>
                </a:lnTo>
                <a:lnTo>
                  <a:pt x="118465" y="1315745"/>
                </a:lnTo>
                <a:close/>
              </a:path>
              <a:path w="118744" h="1583689">
                <a:moveTo>
                  <a:pt x="118465" y="59232"/>
                </a:moveTo>
                <a:lnTo>
                  <a:pt x="59232" y="0"/>
                </a:lnTo>
                <a:lnTo>
                  <a:pt x="0" y="59232"/>
                </a:lnTo>
                <a:lnTo>
                  <a:pt x="29616" y="59232"/>
                </a:lnTo>
                <a:lnTo>
                  <a:pt x="29616" y="304698"/>
                </a:lnTo>
                <a:lnTo>
                  <a:pt x="0" y="304698"/>
                </a:lnTo>
                <a:lnTo>
                  <a:pt x="59232" y="363931"/>
                </a:lnTo>
                <a:lnTo>
                  <a:pt x="118465" y="304698"/>
                </a:lnTo>
                <a:lnTo>
                  <a:pt x="88849" y="304698"/>
                </a:lnTo>
                <a:lnTo>
                  <a:pt x="88849" y="59232"/>
                </a:lnTo>
                <a:lnTo>
                  <a:pt x="118465" y="5923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5311080" y="2476052"/>
            <a:ext cx="626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e-</a:t>
            </a:r>
            <a:r>
              <a:rPr dirty="0" sz="1200" spc="-20">
                <a:latin typeface="Arial MT"/>
                <a:cs typeface="Arial MT"/>
              </a:rPr>
              <a:t>NodeB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2775977" y="2990837"/>
            <a:ext cx="130175" cy="497205"/>
          </a:xfrm>
          <a:custGeom>
            <a:avLst/>
            <a:gdLst/>
            <a:ahLst/>
            <a:cxnLst/>
            <a:rect l="l" t="t" r="r" b="b"/>
            <a:pathLst>
              <a:path w="130175" h="497204">
                <a:moveTo>
                  <a:pt x="64820" y="0"/>
                </a:moveTo>
                <a:lnTo>
                  <a:pt x="0" y="64820"/>
                </a:lnTo>
                <a:lnTo>
                  <a:pt x="32410" y="64820"/>
                </a:lnTo>
                <a:lnTo>
                  <a:pt x="32410" y="432066"/>
                </a:lnTo>
                <a:lnTo>
                  <a:pt x="0" y="432066"/>
                </a:lnTo>
                <a:lnTo>
                  <a:pt x="64820" y="496887"/>
                </a:lnTo>
                <a:lnTo>
                  <a:pt x="129641" y="432066"/>
                </a:lnTo>
                <a:lnTo>
                  <a:pt x="97231" y="432066"/>
                </a:lnTo>
                <a:lnTo>
                  <a:pt x="97231" y="64820"/>
                </a:lnTo>
                <a:lnTo>
                  <a:pt x="129641" y="64820"/>
                </a:lnTo>
                <a:lnTo>
                  <a:pt x="648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804378" y="2257652"/>
            <a:ext cx="130175" cy="260985"/>
          </a:xfrm>
          <a:custGeom>
            <a:avLst/>
            <a:gdLst/>
            <a:ahLst/>
            <a:cxnLst/>
            <a:rect l="l" t="t" r="r" b="b"/>
            <a:pathLst>
              <a:path w="130175" h="260985">
                <a:moveTo>
                  <a:pt x="64820" y="0"/>
                </a:moveTo>
                <a:lnTo>
                  <a:pt x="0" y="64820"/>
                </a:lnTo>
                <a:lnTo>
                  <a:pt x="32410" y="64820"/>
                </a:lnTo>
                <a:lnTo>
                  <a:pt x="32410" y="195618"/>
                </a:lnTo>
                <a:lnTo>
                  <a:pt x="0" y="195618"/>
                </a:lnTo>
                <a:lnTo>
                  <a:pt x="64820" y="260426"/>
                </a:lnTo>
                <a:lnTo>
                  <a:pt x="129628" y="195618"/>
                </a:lnTo>
                <a:lnTo>
                  <a:pt x="97218" y="195618"/>
                </a:lnTo>
                <a:lnTo>
                  <a:pt x="97218" y="64820"/>
                </a:lnTo>
                <a:lnTo>
                  <a:pt x="129628" y="64820"/>
                </a:lnTo>
                <a:lnTo>
                  <a:pt x="648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00" y="3289147"/>
            <a:ext cx="129641" cy="221767"/>
          </a:xfrm>
          <a:prstGeom prst="rect">
            <a:avLst/>
          </a:prstGeom>
        </p:spPr>
      </p:pic>
      <p:sp>
        <p:nvSpPr>
          <p:cNvPr id="44" name="object 44" descr=""/>
          <p:cNvSpPr txBox="1"/>
          <p:nvPr/>
        </p:nvSpPr>
        <p:spPr>
          <a:xfrm>
            <a:off x="7767762" y="2576325"/>
            <a:ext cx="3968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latin typeface="Arial MT"/>
                <a:cs typeface="Arial MT"/>
              </a:rPr>
              <a:t>gNB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574115" y="4234421"/>
            <a:ext cx="683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23G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RAN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1338157" y="4073103"/>
            <a:ext cx="1219835" cy="543560"/>
          </a:xfrm>
          <a:custGeom>
            <a:avLst/>
            <a:gdLst/>
            <a:ahLst/>
            <a:cxnLst/>
            <a:rect l="l" t="t" r="r" b="b"/>
            <a:pathLst>
              <a:path w="1219835" h="543560">
                <a:moveTo>
                  <a:pt x="0" y="271652"/>
                </a:moveTo>
                <a:lnTo>
                  <a:pt x="14063" y="213378"/>
                </a:lnTo>
                <a:lnTo>
                  <a:pt x="54271" y="159458"/>
                </a:lnTo>
                <a:lnTo>
                  <a:pt x="83249" y="134546"/>
                </a:lnTo>
                <a:lnTo>
                  <a:pt x="117647" y="111220"/>
                </a:lnTo>
                <a:lnTo>
                  <a:pt x="157093" y="89645"/>
                </a:lnTo>
                <a:lnTo>
                  <a:pt x="201216" y="69988"/>
                </a:lnTo>
                <a:lnTo>
                  <a:pt x="249642" y="52414"/>
                </a:lnTo>
                <a:lnTo>
                  <a:pt x="302000" y="37089"/>
                </a:lnTo>
                <a:lnTo>
                  <a:pt x="357918" y="24179"/>
                </a:lnTo>
                <a:lnTo>
                  <a:pt x="417024" y="13849"/>
                </a:lnTo>
                <a:lnTo>
                  <a:pt x="478947" y="6265"/>
                </a:lnTo>
                <a:lnTo>
                  <a:pt x="543313" y="1594"/>
                </a:lnTo>
                <a:lnTo>
                  <a:pt x="609752" y="0"/>
                </a:lnTo>
                <a:lnTo>
                  <a:pt x="676193" y="1594"/>
                </a:lnTo>
                <a:lnTo>
                  <a:pt x="740561" y="6265"/>
                </a:lnTo>
                <a:lnTo>
                  <a:pt x="802486" y="13849"/>
                </a:lnTo>
                <a:lnTo>
                  <a:pt x="861593" y="24179"/>
                </a:lnTo>
                <a:lnTo>
                  <a:pt x="917513" y="37089"/>
                </a:lnTo>
                <a:lnTo>
                  <a:pt x="969872" y="52414"/>
                </a:lnTo>
                <a:lnTo>
                  <a:pt x="1018299" y="69988"/>
                </a:lnTo>
                <a:lnTo>
                  <a:pt x="1062422" y="89645"/>
                </a:lnTo>
                <a:lnTo>
                  <a:pt x="1101868" y="111220"/>
                </a:lnTo>
                <a:lnTo>
                  <a:pt x="1136267" y="134546"/>
                </a:lnTo>
                <a:lnTo>
                  <a:pt x="1165245" y="159458"/>
                </a:lnTo>
                <a:lnTo>
                  <a:pt x="1205453" y="213378"/>
                </a:lnTo>
                <a:lnTo>
                  <a:pt x="1219517" y="271652"/>
                </a:lnTo>
                <a:lnTo>
                  <a:pt x="1215939" y="301253"/>
                </a:lnTo>
                <a:lnTo>
                  <a:pt x="1205453" y="329931"/>
                </a:lnTo>
                <a:lnTo>
                  <a:pt x="1165245" y="383852"/>
                </a:lnTo>
                <a:lnTo>
                  <a:pt x="1136267" y="408765"/>
                </a:lnTo>
                <a:lnTo>
                  <a:pt x="1101868" y="432091"/>
                </a:lnTo>
                <a:lnTo>
                  <a:pt x="1062422" y="453665"/>
                </a:lnTo>
                <a:lnTo>
                  <a:pt x="1018299" y="473321"/>
                </a:lnTo>
                <a:lnTo>
                  <a:pt x="969872" y="490895"/>
                </a:lnTo>
                <a:lnTo>
                  <a:pt x="917513" y="506219"/>
                </a:lnTo>
                <a:lnTo>
                  <a:pt x="861593" y="519128"/>
                </a:lnTo>
                <a:lnTo>
                  <a:pt x="802486" y="529457"/>
                </a:lnTo>
                <a:lnTo>
                  <a:pt x="740561" y="537040"/>
                </a:lnTo>
                <a:lnTo>
                  <a:pt x="676193" y="541712"/>
                </a:lnTo>
                <a:lnTo>
                  <a:pt x="609752" y="543305"/>
                </a:lnTo>
                <a:lnTo>
                  <a:pt x="543313" y="541712"/>
                </a:lnTo>
                <a:lnTo>
                  <a:pt x="478947" y="537040"/>
                </a:lnTo>
                <a:lnTo>
                  <a:pt x="417024" y="529457"/>
                </a:lnTo>
                <a:lnTo>
                  <a:pt x="357918" y="519128"/>
                </a:lnTo>
                <a:lnTo>
                  <a:pt x="302000" y="506219"/>
                </a:lnTo>
                <a:lnTo>
                  <a:pt x="249642" y="490895"/>
                </a:lnTo>
                <a:lnTo>
                  <a:pt x="201216" y="473321"/>
                </a:lnTo>
                <a:lnTo>
                  <a:pt x="157093" y="453665"/>
                </a:lnTo>
                <a:lnTo>
                  <a:pt x="117647" y="432091"/>
                </a:lnTo>
                <a:lnTo>
                  <a:pt x="83249" y="408765"/>
                </a:lnTo>
                <a:lnTo>
                  <a:pt x="54271" y="383852"/>
                </a:lnTo>
                <a:lnTo>
                  <a:pt x="14063" y="329931"/>
                </a:lnTo>
                <a:lnTo>
                  <a:pt x="0" y="271652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3977246" y="4098026"/>
            <a:ext cx="1219835" cy="543560"/>
          </a:xfrm>
          <a:custGeom>
            <a:avLst/>
            <a:gdLst/>
            <a:ahLst/>
            <a:cxnLst/>
            <a:rect l="l" t="t" r="r" b="b"/>
            <a:pathLst>
              <a:path w="1219835" h="543560">
                <a:moveTo>
                  <a:pt x="0" y="271652"/>
                </a:moveTo>
                <a:lnTo>
                  <a:pt x="14063" y="213378"/>
                </a:lnTo>
                <a:lnTo>
                  <a:pt x="54271" y="159458"/>
                </a:lnTo>
                <a:lnTo>
                  <a:pt x="83249" y="134546"/>
                </a:lnTo>
                <a:lnTo>
                  <a:pt x="117647" y="111220"/>
                </a:lnTo>
                <a:lnTo>
                  <a:pt x="157093" y="89645"/>
                </a:lnTo>
                <a:lnTo>
                  <a:pt x="201216" y="69988"/>
                </a:lnTo>
                <a:lnTo>
                  <a:pt x="249642" y="52414"/>
                </a:lnTo>
                <a:lnTo>
                  <a:pt x="302000" y="37089"/>
                </a:lnTo>
                <a:lnTo>
                  <a:pt x="357918" y="24179"/>
                </a:lnTo>
                <a:lnTo>
                  <a:pt x="417024" y="13849"/>
                </a:lnTo>
                <a:lnTo>
                  <a:pt x="478947" y="6265"/>
                </a:lnTo>
                <a:lnTo>
                  <a:pt x="543313" y="1594"/>
                </a:lnTo>
                <a:lnTo>
                  <a:pt x="609752" y="0"/>
                </a:lnTo>
                <a:lnTo>
                  <a:pt x="676193" y="1594"/>
                </a:lnTo>
                <a:lnTo>
                  <a:pt x="740561" y="6265"/>
                </a:lnTo>
                <a:lnTo>
                  <a:pt x="802486" y="13849"/>
                </a:lnTo>
                <a:lnTo>
                  <a:pt x="861593" y="24179"/>
                </a:lnTo>
                <a:lnTo>
                  <a:pt x="917513" y="37089"/>
                </a:lnTo>
                <a:lnTo>
                  <a:pt x="969872" y="52414"/>
                </a:lnTo>
                <a:lnTo>
                  <a:pt x="1018299" y="69988"/>
                </a:lnTo>
                <a:lnTo>
                  <a:pt x="1062422" y="89645"/>
                </a:lnTo>
                <a:lnTo>
                  <a:pt x="1101868" y="111220"/>
                </a:lnTo>
                <a:lnTo>
                  <a:pt x="1136267" y="134546"/>
                </a:lnTo>
                <a:lnTo>
                  <a:pt x="1165245" y="159458"/>
                </a:lnTo>
                <a:lnTo>
                  <a:pt x="1205453" y="213378"/>
                </a:lnTo>
                <a:lnTo>
                  <a:pt x="1219517" y="271652"/>
                </a:lnTo>
                <a:lnTo>
                  <a:pt x="1215939" y="301253"/>
                </a:lnTo>
                <a:lnTo>
                  <a:pt x="1205453" y="329931"/>
                </a:lnTo>
                <a:lnTo>
                  <a:pt x="1165245" y="383852"/>
                </a:lnTo>
                <a:lnTo>
                  <a:pt x="1136267" y="408765"/>
                </a:lnTo>
                <a:lnTo>
                  <a:pt x="1101868" y="432091"/>
                </a:lnTo>
                <a:lnTo>
                  <a:pt x="1062422" y="453665"/>
                </a:lnTo>
                <a:lnTo>
                  <a:pt x="1018299" y="473321"/>
                </a:lnTo>
                <a:lnTo>
                  <a:pt x="969872" y="490895"/>
                </a:lnTo>
                <a:lnTo>
                  <a:pt x="917513" y="506219"/>
                </a:lnTo>
                <a:lnTo>
                  <a:pt x="861593" y="519128"/>
                </a:lnTo>
                <a:lnTo>
                  <a:pt x="802486" y="529457"/>
                </a:lnTo>
                <a:lnTo>
                  <a:pt x="740561" y="537040"/>
                </a:lnTo>
                <a:lnTo>
                  <a:pt x="676193" y="541712"/>
                </a:lnTo>
                <a:lnTo>
                  <a:pt x="609752" y="543305"/>
                </a:lnTo>
                <a:lnTo>
                  <a:pt x="543313" y="541712"/>
                </a:lnTo>
                <a:lnTo>
                  <a:pt x="478947" y="537040"/>
                </a:lnTo>
                <a:lnTo>
                  <a:pt x="417024" y="529457"/>
                </a:lnTo>
                <a:lnTo>
                  <a:pt x="357918" y="519128"/>
                </a:lnTo>
                <a:lnTo>
                  <a:pt x="302000" y="506219"/>
                </a:lnTo>
                <a:lnTo>
                  <a:pt x="249642" y="490895"/>
                </a:lnTo>
                <a:lnTo>
                  <a:pt x="201216" y="473321"/>
                </a:lnTo>
                <a:lnTo>
                  <a:pt x="157093" y="453665"/>
                </a:lnTo>
                <a:lnTo>
                  <a:pt x="117647" y="432091"/>
                </a:lnTo>
                <a:lnTo>
                  <a:pt x="83249" y="408765"/>
                </a:lnTo>
                <a:lnTo>
                  <a:pt x="54271" y="383852"/>
                </a:lnTo>
                <a:lnTo>
                  <a:pt x="14063" y="329931"/>
                </a:lnTo>
                <a:lnTo>
                  <a:pt x="0" y="271652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4251629" y="4246585"/>
            <a:ext cx="600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4G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RAN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5985564" y="4092575"/>
            <a:ext cx="1219835" cy="543560"/>
          </a:xfrm>
          <a:custGeom>
            <a:avLst/>
            <a:gdLst/>
            <a:ahLst/>
            <a:cxnLst/>
            <a:rect l="l" t="t" r="r" b="b"/>
            <a:pathLst>
              <a:path w="1219834" h="543560">
                <a:moveTo>
                  <a:pt x="0" y="271653"/>
                </a:moveTo>
                <a:lnTo>
                  <a:pt x="14063" y="213378"/>
                </a:lnTo>
                <a:lnTo>
                  <a:pt x="54271" y="159458"/>
                </a:lnTo>
                <a:lnTo>
                  <a:pt x="83249" y="134546"/>
                </a:lnTo>
                <a:lnTo>
                  <a:pt x="117647" y="111220"/>
                </a:lnTo>
                <a:lnTo>
                  <a:pt x="157093" y="89645"/>
                </a:lnTo>
                <a:lnTo>
                  <a:pt x="201216" y="69988"/>
                </a:lnTo>
                <a:lnTo>
                  <a:pt x="249642" y="52414"/>
                </a:lnTo>
                <a:lnTo>
                  <a:pt x="302000" y="37089"/>
                </a:lnTo>
                <a:lnTo>
                  <a:pt x="357918" y="24179"/>
                </a:lnTo>
                <a:lnTo>
                  <a:pt x="417024" y="13849"/>
                </a:lnTo>
                <a:lnTo>
                  <a:pt x="478947" y="6265"/>
                </a:lnTo>
                <a:lnTo>
                  <a:pt x="543313" y="1594"/>
                </a:lnTo>
                <a:lnTo>
                  <a:pt x="609752" y="0"/>
                </a:lnTo>
                <a:lnTo>
                  <a:pt x="676193" y="1594"/>
                </a:lnTo>
                <a:lnTo>
                  <a:pt x="740561" y="6265"/>
                </a:lnTo>
                <a:lnTo>
                  <a:pt x="802486" y="13849"/>
                </a:lnTo>
                <a:lnTo>
                  <a:pt x="861593" y="24179"/>
                </a:lnTo>
                <a:lnTo>
                  <a:pt x="917513" y="37089"/>
                </a:lnTo>
                <a:lnTo>
                  <a:pt x="969872" y="52414"/>
                </a:lnTo>
                <a:lnTo>
                  <a:pt x="1018299" y="69988"/>
                </a:lnTo>
                <a:lnTo>
                  <a:pt x="1062422" y="89645"/>
                </a:lnTo>
                <a:lnTo>
                  <a:pt x="1101868" y="111220"/>
                </a:lnTo>
                <a:lnTo>
                  <a:pt x="1136267" y="134546"/>
                </a:lnTo>
                <a:lnTo>
                  <a:pt x="1165245" y="159458"/>
                </a:lnTo>
                <a:lnTo>
                  <a:pt x="1205453" y="213378"/>
                </a:lnTo>
                <a:lnTo>
                  <a:pt x="1219517" y="271653"/>
                </a:lnTo>
                <a:lnTo>
                  <a:pt x="1215939" y="301253"/>
                </a:lnTo>
                <a:lnTo>
                  <a:pt x="1205453" y="329931"/>
                </a:lnTo>
                <a:lnTo>
                  <a:pt x="1165245" y="383852"/>
                </a:lnTo>
                <a:lnTo>
                  <a:pt x="1136267" y="408765"/>
                </a:lnTo>
                <a:lnTo>
                  <a:pt x="1101868" y="432091"/>
                </a:lnTo>
                <a:lnTo>
                  <a:pt x="1062422" y="453665"/>
                </a:lnTo>
                <a:lnTo>
                  <a:pt x="1018299" y="473321"/>
                </a:lnTo>
                <a:lnTo>
                  <a:pt x="969872" y="490895"/>
                </a:lnTo>
                <a:lnTo>
                  <a:pt x="917513" y="506219"/>
                </a:lnTo>
                <a:lnTo>
                  <a:pt x="861593" y="519128"/>
                </a:lnTo>
                <a:lnTo>
                  <a:pt x="802486" y="529457"/>
                </a:lnTo>
                <a:lnTo>
                  <a:pt x="740561" y="537040"/>
                </a:lnTo>
                <a:lnTo>
                  <a:pt x="676193" y="541712"/>
                </a:lnTo>
                <a:lnTo>
                  <a:pt x="609752" y="543306"/>
                </a:lnTo>
                <a:lnTo>
                  <a:pt x="543313" y="541712"/>
                </a:lnTo>
                <a:lnTo>
                  <a:pt x="478947" y="537040"/>
                </a:lnTo>
                <a:lnTo>
                  <a:pt x="417024" y="529457"/>
                </a:lnTo>
                <a:lnTo>
                  <a:pt x="357918" y="519128"/>
                </a:lnTo>
                <a:lnTo>
                  <a:pt x="302000" y="506219"/>
                </a:lnTo>
                <a:lnTo>
                  <a:pt x="249642" y="490895"/>
                </a:lnTo>
                <a:lnTo>
                  <a:pt x="201216" y="473321"/>
                </a:lnTo>
                <a:lnTo>
                  <a:pt x="157093" y="453665"/>
                </a:lnTo>
                <a:lnTo>
                  <a:pt x="117647" y="432091"/>
                </a:lnTo>
                <a:lnTo>
                  <a:pt x="83249" y="408765"/>
                </a:lnTo>
                <a:lnTo>
                  <a:pt x="54271" y="383852"/>
                </a:lnTo>
                <a:lnTo>
                  <a:pt x="14063" y="329931"/>
                </a:lnTo>
                <a:lnTo>
                  <a:pt x="0" y="271653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6267922" y="4241131"/>
            <a:ext cx="600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5G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RAN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2654141" y="4269875"/>
            <a:ext cx="1219835" cy="149860"/>
          </a:xfrm>
          <a:custGeom>
            <a:avLst/>
            <a:gdLst/>
            <a:ahLst/>
            <a:cxnLst/>
            <a:rect l="l" t="t" r="r" b="b"/>
            <a:pathLst>
              <a:path w="1219835" h="149860">
                <a:moveTo>
                  <a:pt x="1144587" y="0"/>
                </a:moveTo>
                <a:lnTo>
                  <a:pt x="1144587" y="37439"/>
                </a:lnTo>
                <a:lnTo>
                  <a:pt x="0" y="37439"/>
                </a:lnTo>
                <a:lnTo>
                  <a:pt x="0" y="112318"/>
                </a:lnTo>
                <a:lnTo>
                  <a:pt x="1144587" y="112318"/>
                </a:lnTo>
                <a:lnTo>
                  <a:pt x="1144587" y="149758"/>
                </a:lnTo>
                <a:lnTo>
                  <a:pt x="1219466" y="74879"/>
                </a:lnTo>
                <a:lnTo>
                  <a:pt x="1144587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5235219" y="4275334"/>
            <a:ext cx="744220" cy="149860"/>
          </a:xfrm>
          <a:custGeom>
            <a:avLst/>
            <a:gdLst/>
            <a:ahLst/>
            <a:cxnLst/>
            <a:rect l="l" t="t" r="r" b="b"/>
            <a:pathLst>
              <a:path w="744220" h="149860">
                <a:moveTo>
                  <a:pt x="669163" y="0"/>
                </a:moveTo>
                <a:lnTo>
                  <a:pt x="669163" y="37439"/>
                </a:lnTo>
                <a:lnTo>
                  <a:pt x="0" y="37439"/>
                </a:lnTo>
                <a:lnTo>
                  <a:pt x="0" y="112318"/>
                </a:lnTo>
                <a:lnTo>
                  <a:pt x="669163" y="112318"/>
                </a:lnTo>
                <a:lnTo>
                  <a:pt x="669163" y="149758"/>
                </a:lnTo>
                <a:lnTo>
                  <a:pt x="744054" y="74879"/>
                </a:lnTo>
                <a:lnTo>
                  <a:pt x="66916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477971" y="2680342"/>
            <a:ext cx="146050" cy="1146175"/>
          </a:xfrm>
          <a:custGeom>
            <a:avLst/>
            <a:gdLst/>
            <a:ahLst/>
            <a:cxnLst/>
            <a:rect l="l" t="t" r="r" b="b"/>
            <a:pathLst>
              <a:path w="146050" h="1146175">
                <a:moveTo>
                  <a:pt x="0" y="0"/>
                </a:moveTo>
                <a:lnTo>
                  <a:pt x="28355" y="954"/>
                </a:lnTo>
                <a:lnTo>
                  <a:pt x="51511" y="3556"/>
                </a:lnTo>
                <a:lnTo>
                  <a:pt x="67122" y="7415"/>
                </a:lnTo>
                <a:lnTo>
                  <a:pt x="72847" y="12141"/>
                </a:lnTo>
                <a:lnTo>
                  <a:pt x="72847" y="560908"/>
                </a:lnTo>
                <a:lnTo>
                  <a:pt x="78571" y="565634"/>
                </a:lnTo>
                <a:lnTo>
                  <a:pt x="94181" y="569493"/>
                </a:lnTo>
                <a:lnTo>
                  <a:pt x="117333" y="572095"/>
                </a:lnTo>
                <a:lnTo>
                  <a:pt x="145681" y="573049"/>
                </a:lnTo>
                <a:lnTo>
                  <a:pt x="117333" y="574003"/>
                </a:lnTo>
                <a:lnTo>
                  <a:pt x="94181" y="576605"/>
                </a:lnTo>
                <a:lnTo>
                  <a:pt x="78571" y="580464"/>
                </a:lnTo>
                <a:lnTo>
                  <a:pt x="72847" y="585190"/>
                </a:lnTo>
                <a:lnTo>
                  <a:pt x="72847" y="1133970"/>
                </a:lnTo>
                <a:lnTo>
                  <a:pt x="67122" y="1138696"/>
                </a:lnTo>
                <a:lnTo>
                  <a:pt x="51511" y="1142555"/>
                </a:lnTo>
                <a:lnTo>
                  <a:pt x="28355" y="1145157"/>
                </a:lnTo>
                <a:lnTo>
                  <a:pt x="0" y="1146111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3383988" y="2859102"/>
            <a:ext cx="146050" cy="977265"/>
          </a:xfrm>
          <a:custGeom>
            <a:avLst/>
            <a:gdLst/>
            <a:ahLst/>
            <a:cxnLst/>
            <a:rect l="l" t="t" r="r" b="b"/>
            <a:pathLst>
              <a:path w="146050" h="977264">
                <a:moveTo>
                  <a:pt x="0" y="0"/>
                </a:moveTo>
                <a:lnTo>
                  <a:pt x="28355" y="954"/>
                </a:lnTo>
                <a:lnTo>
                  <a:pt x="51511" y="3556"/>
                </a:lnTo>
                <a:lnTo>
                  <a:pt x="67122" y="7415"/>
                </a:lnTo>
                <a:lnTo>
                  <a:pt x="72847" y="12141"/>
                </a:lnTo>
                <a:lnTo>
                  <a:pt x="72847" y="476300"/>
                </a:lnTo>
                <a:lnTo>
                  <a:pt x="78571" y="481026"/>
                </a:lnTo>
                <a:lnTo>
                  <a:pt x="94181" y="484885"/>
                </a:lnTo>
                <a:lnTo>
                  <a:pt x="117333" y="487487"/>
                </a:lnTo>
                <a:lnTo>
                  <a:pt x="145681" y="488442"/>
                </a:lnTo>
                <a:lnTo>
                  <a:pt x="117333" y="489396"/>
                </a:lnTo>
                <a:lnTo>
                  <a:pt x="94181" y="491998"/>
                </a:lnTo>
                <a:lnTo>
                  <a:pt x="78571" y="495857"/>
                </a:lnTo>
                <a:lnTo>
                  <a:pt x="72847" y="500583"/>
                </a:lnTo>
                <a:lnTo>
                  <a:pt x="72847" y="964755"/>
                </a:lnTo>
                <a:lnTo>
                  <a:pt x="67122" y="969481"/>
                </a:lnTo>
                <a:lnTo>
                  <a:pt x="51511" y="973340"/>
                </a:lnTo>
                <a:lnTo>
                  <a:pt x="28355" y="975942"/>
                </a:lnTo>
                <a:lnTo>
                  <a:pt x="0" y="976896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5191176" y="1687026"/>
            <a:ext cx="161925" cy="2139950"/>
          </a:xfrm>
          <a:custGeom>
            <a:avLst/>
            <a:gdLst/>
            <a:ahLst/>
            <a:cxnLst/>
            <a:rect l="l" t="t" r="r" b="b"/>
            <a:pathLst>
              <a:path w="161925" h="2139950">
                <a:moveTo>
                  <a:pt x="0" y="0"/>
                </a:moveTo>
                <a:lnTo>
                  <a:pt x="31515" y="1060"/>
                </a:lnTo>
                <a:lnTo>
                  <a:pt x="57250" y="3952"/>
                </a:lnTo>
                <a:lnTo>
                  <a:pt x="74600" y="8240"/>
                </a:lnTo>
                <a:lnTo>
                  <a:pt x="80962" y="13487"/>
                </a:lnTo>
                <a:lnTo>
                  <a:pt x="80962" y="1056220"/>
                </a:lnTo>
                <a:lnTo>
                  <a:pt x="87324" y="1061473"/>
                </a:lnTo>
                <a:lnTo>
                  <a:pt x="104674" y="1065760"/>
                </a:lnTo>
                <a:lnTo>
                  <a:pt x="130409" y="1068649"/>
                </a:lnTo>
                <a:lnTo>
                  <a:pt x="161925" y="1069708"/>
                </a:lnTo>
                <a:lnTo>
                  <a:pt x="130409" y="1070769"/>
                </a:lnTo>
                <a:lnTo>
                  <a:pt x="104674" y="1073662"/>
                </a:lnTo>
                <a:lnTo>
                  <a:pt x="87324" y="1077953"/>
                </a:lnTo>
                <a:lnTo>
                  <a:pt x="80962" y="1083208"/>
                </a:lnTo>
                <a:lnTo>
                  <a:pt x="80962" y="2125929"/>
                </a:lnTo>
                <a:lnTo>
                  <a:pt x="74600" y="2131181"/>
                </a:lnTo>
                <a:lnTo>
                  <a:pt x="57250" y="2135468"/>
                </a:lnTo>
                <a:lnTo>
                  <a:pt x="31515" y="2138357"/>
                </a:lnTo>
                <a:lnTo>
                  <a:pt x="0" y="2139416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6" name="object 56" descr=""/>
          <p:cNvGraphicFramePr>
            <a:graphicFrameLocks noGrp="1"/>
          </p:cNvGraphicFramePr>
          <p:nvPr/>
        </p:nvGraphicFramePr>
        <p:xfrm>
          <a:off x="353517" y="2524480"/>
          <a:ext cx="1151890" cy="711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290"/>
              </a:tblGrid>
              <a:tr h="229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778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38100">
                      <a:solidFill>
                        <a:srgbClr val="89A4A7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40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LAPDM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38100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9A9A9A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SigL1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A7A8A7"/>
                    </a:solidFill>
                  </a:tcPr>
                </a:tc>
              </a:tr>
            </a:tbl>
          </a:graphicData>
        </a:graphic>
      </p:graphicFrame>
      <p:sp>
        <p:nvSpPr>
          <p:cNvPr id="57" name="object 57" descr=""/>
          <p:cNvSpPr/>
          <p:nvPr/>
        </p:nvSpPr>
        <p:spPr>
          <a:xfrm>
            <a:off x="7507721" y="1610631"/>
            <a:ext cx="161925" cy="2139950"/>
          </a:xfrm>
          <a:custGeom>
            <a:avLst/>
            <a:gdLst/>
            <a:ahLst/>
            <a:cxnLst/>
            <a:rect l="l" t="t" r="r" b="b"/>
            <a:pathLst>
              <a:path w="161925" h="2139950">
                <a:moveTo>
                  <a:pt x="0" y="0"/>
                </a:moveTo>
                <a:lnTo>
                  <a:pt x="31515" y="1060"/>
                </a:lnTo>
                <a:lnTo>
                  <a:pt x="57250" y="3952"/>
                </a:lnTo>
                <a:lnTo>
                  <a:pt x="74600" y="8240"/>
                </a:lnTo>
                <a:lnTo>
                  <a:pt x="80962" y="13487"/>
                </a:lnTo>
                <a:lnTo>
                  <a:pt x="80962" y="1056220"/>
                </a:lnTo>
                <a:lnTo>
                  <a:pt x="87324" y="1061473"/>
                </a:lnTo>
                <a:lnTo>
                  <a:pt x="104674" y="1065760"/>
                </a:lnTo>
                <a:lnTo>
                  <a:pt x="130409" y="1068649"/>
                </a:lnTo>
                <a:lnTo>
                  <a:pt x="161925" y="1069708"/>
                </a:lnTo>
                <a:lnTo>
                  <a:pt x="130409" y="1070769"/>
                </a:lnTo>
                <a:lnTo>
                  <a:pt x="104674" y="1073662"/>
                </a:lnTo>
                <a:lnTo>
                  <a:pt x="87324" y="1077953"/>
                </a:lnTo>
                <a:lnTo>
                  <a:pt x="80962" y="1083208"/>
                </a:lnTo>
                <a:lnTo>
                  <a:pt x="80962" y="2125929"/>
                </a:lnTo>
                <a:lnTo>
                  <a:pt x="74600" y="2131181"/>
                </a:lnTo>
                <a:lnTo>
                  <a:pt x="57250" y="2135468"/>
                </a:lnTo>
                <a:lnTo>
                  <a:pt x="31515" y="2138357"/>
                </a:lnTo>
                <a:lnTo>
                  <a:pt x="0" y="2139416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3609" y="2252207"/>
            <a:ext cx="4620260" cy="2393315"/>
            <a:chOff x="1043609" y="2252207"/>
            <a:chExt cx="4620260" cy="2393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609" y="2252207"/>
              <a:ext cx="1598090" cy="239329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211953" y="3654921"/>
              <a:ext cx="1439545" cy="791845"/>
            </a:xfrm>
            <a:custGeom>
              <a:avLst/>
              <a:gdLst/>
              <a:ahLst/>
              <a:cxnLst/>
              <a:rect l="l" t="t" r="r" b="b"/>
              <a:pathLst>
                <a:path w="1439545" h="791845">
                  <a:moveTo>
                    <a:pt x="130021" y="260427"/>
                  </a:moveTo>
                  <a:lnTo>
                    <a:pt x="128953" y="221543"/>
                  </a:lnTo>
                  <a:lnTo>
                    <a:pt x="139348" y="184691"/>
                  </a:lnTo>
                  <a:lnTo>
                    <a:pt x="160047" y="151010"/>
                  </a:lnTo>
                  <a:lnTo>
                    <a:pt x="189894" y="121638"/>
                  </a:lnTo>
                  <a:lnTo>
                    <a:pt x="227731" y="97712"/>
                  </a:lnTo>
                  <a:lnTo>
                    <a:pt x="272400" y="80371"/>
                  </a:lnTo>
                  <a:lnTo>
                    <a:pt x="322744" y="70752"/>
                  </a:lnTo>
                  <a:lnTo>
                    <a:pt x="360217" y="69300"/>
                  </a:lnTo>
                  <a:lnTo>
                    <a:pt x="397242" y="72487"/>
                  </a:lnTo>
                  <a:lnTo>
                    <a:pt x="433057" y="80202"/>
                  </a:lnTo>
                  <a:lnTo>
                    <a:pt x="466901" y="92330"/>
                  </a:lnTo>
                  <a:lnTo>
                    <a:pt x="494677" y="63281"/>
                  </a:lnTo>
                  <a:lnTo>
                    <a:pt x="530427" y="41473"/>
                  </a:lnTo>
                  <a:lnTo>
                    <a:pt x="571857" y="27431"/>
                  </a:lnTo>
                  <a:lnTo>
                    <a:pt x="616677" y="21681"/>
                  </a:lnTo>
                  <a:lnTo>
                    <a:pt x="662592" y="24749"/>
                  </a:lnTo>
                  <a:lnTo>
                    <a:pt x="707312" y="37161"/>
                  </a:lnTo>
                  <a:lnTo>
                    <a:pt x="748625" y="59881"/>
                  </a:lnTo>
                  <a:lnTo>
                    <a:pt x="775796" y="31530"/>
                  </a:lnTo>
                  <a:lnTo>
                    <a:pt x="812113" y="11661"/>
                  </a:lnTo>
                  <a:lnTo>
                    <a:pt x="854361" y="1078"/>
                  </a:lnTo>
                  <a:lnTo>
                    <a:pt x="899328" y="585"/>
                  </a:lnTo>
                  <a:lnTo>
                    <a:pt x="943799" y="10986"/>
                  </a:lnTo>
                  <a:lnTo>
                    <a:pt x="958228" y="17176"/>
                  </a:lnTo>
                  <a:lnTo>
                    <a:pt x="971579" y="24532"/>
                  </a:lnTo>
                  <a:lnTo>
                    <a:pt x="983727" y="32976"/>
                  </a:lnTo>
                  <a:lnTo>
                    <a:pt x="994548" y="42431"/>
                  </a:lnTo>
                  <a:lnTo>
                    <a:pt x="1033937" y="17263"/>
                  </a:lnTo>
                  <a:lnTo>
                    <a:pt x="1080211" y="3042"/>
                  </a:lnTo>
                  <a:lnTo>
                    <a:pt x="1129611" y="0"/>
                  </a:lnTo>
                  <a:lnTo>
                    <a:pt x="1178379" y="8370"/>
                  </a:lnTo>
                  <a:lnTo>
                    <a:pt x="1222755" y="28385"/>
                  </a:lnTo>
                  <a:lnTo>
                    <a:pt x="1258343" y="60234"/>
                  </a:lnTo>
                  <a:lnTo>
                    <a:pt x="1277415" y="99188"/>
                  </a:lnTo>
                  <a:lnTo>
                    <a:pt x="1329256" y="116817"/>
                  </a:lnTo>
                  <a:lnTo>
                    <a:pt x="1369716" y="144699"/>
                  </a:lnTo>
                  <a:lnTo>
                    <a:pt x="1396741" y="180136"/>
                  </a:lnTo>
                  <a:lnTo>
                    <a:pt x="1408273" y="220432"/>
                  </a:lnTo>
                  <a:lnTo>
                    <a:pt x="1402256" y="262891"/>
                  </a:lnTo>
                  <a:lnTo>
                    <a:pt x="1400085" y="268860"/>
                  </a:lnTo>
                  <a:lnTo>
                    <a:pt x="1397367" y="274714"/>
                  </a:lnTo>
                  <a:lnTo>
                    <a:pt x="1394103" y="280404"/>
                  </a:lnTo>
                  <a:lnTo>
                    <a:pt x="1424279" y="319727"/>
                  </a:lnTo>
                  <a:lnTo>
                    <a:pt x="1439089" y="362135"/>
                  </a:lnTo>
                  <a:lnTo>
                    <a:pt x="1438926" y="405370"/>
                  </a:lnTo>
                  <a:lnTo>
                    <a:pt x="1424187" y="447174"/>
                  </a:lnTo>
                  <a:lnTo>
                    <a:pt x="1395267" y="485286"/>
                  </a:lnTo>
                  <a:lnTo>
                    <a:pt x="1352561" y="517449"/>
                  </a:lnTo>
                  <a:lnTo>
                    <a:pt x="1302623" y="539189"/>
                  </a:lnTo>
                  <a:lnTo>
                    <a:pt x="1246961" y="550736"/>
                  </a:lnTo>
                  <a:lnTo>
                    <a:pt x="1239657" y="589036"/>
                  </a:lnTo>
                  <a:lnTo>
                    <a:pt x="1219844" y="623374"/>
                  </a:lnTo>
                  <a:lnTo>
                    <a:pt x="1189376" y="652384"/>
                  </a:lnTo>
                  <a:lnTo>
                    <a:pt x="1150104" y="674703"/>
                  </a:lnTo>
                  <a:lnTo>
                    <a:pt x="1103882" y="688968"/>
                  </a:lnTo>
                  <a:lnTo>
                    <a:pt x="1052562" y="693814"/>
                  </a:lnTo>
                  <a:lnTo>
                    <a:pt x="1026078" y="692287"/>
                  </a:lnTo>
                  <a:lnTo>
                    <a:pt x="1000246" y="688079"/>
                  </a:lnTo>
                  <a:lnTo>
                    <a:pt x="975425" y="681268"/>
                  </a:lnTo>
                  <a:lnTo>
                    <a:pt x="951978" y="671932"/>
                  </a:lnTo>
                  <a:lnTo>
                    <a:pt x="931334" y="707717"/>
                  </a:lnTo>
                  <a:lnTo>
                    <a:pt x="901398" y="738070"/>
                  </a:lnTo>
                  <a:lnTo>
                    <a:pt x="863855" y="762316"/>
                  </a:lnTo>
                  <a:lnTo>
                    <a:pt x="820391" y="779777"/>
                  </a:lnTo>
                  <a:lnTo>
                    <a:pt x="772690" y="789776"/>
                  </a:lnTo>
                  <a:lnTo>
                    <a:pt x="722438" y="791637"/>
                  </a:lnTo>
                  <a:lnTo>
                    <a:pt x="671321" y="784683"/>
                  </a:lnTo>
                  <a:lnTo>
                    <a:pt x="635304" y="773874"/>
                  </a:lnTo>
                  <a:lnTo>
                    <a:pt x="602523" y="758713"/>
                  </a:lnTo>
                  <a:lnTo>
                    <a:pt x="573664" y="739583"/>
                  </a:lnTo>
                  <a:lnTo>
                    <a:pt x="549413" y="716865"/>
                  </a:lnTo>
                  <a:lnTo>
                    <a:pt x="502267" y="733571"/>
                  </a:lnTo>
                  <a:lnTo>
                    <a:pt x="453137" y="742612"/>
                  </a:lnTo>
                  <a:lnTo>
                    <a:pt x="403445" y="744256"/>
                  </a:lnTo>
                  <a:lnTo>
                    <a:pt x="354611" y="738766"/>
                  </a:lnTo>
                  <a:lnTo>
                    <a:pt x="308054" y="726409"/>
                  </a:lnTo>
                  <a:lnTo>
                    <a:pt x="265196" y="707449"/>
                  </a:lnTo>
                  <a:lnTo>
                    <a:pt x="227455" y="682154"/>
                  </a:lnTo>
                  <a:lnTo>
                    <a:pt x="196252" y="650787"/>
                  </a:lnTo>
                  <a:lnTo>
                    <a:pt x="193521" y="647307"/>
                  </a:lnTo>
                  <a:lnTo>
                    <a:pt x="136003" y="643760"/>
                  </a:lnTo>
                  <a:lnTo>
                    <a:pt x="86486" y="624682"/>
                  </a:lnTo>
                  <a:lnTo>
                    <a:pt x="50160" y="593136"/>
                  </a:lnTo>
                  <a:lnTo>
                    <a:pt x="32218" y="552184"/>
                  </a:lnTo>
                  <a:lnTo>
                    <a:pt x="31982" y="528518"/>
                  </a:lnTo>
                  <a:lnTo>
                    <a:pt x="38510" y="505634"/>
                  </a:lnTo>
                  <a:lnTo>
                    <a:pt x="51455" y="484324"/>
                  </a:lnTo>
                  <a:lnTo>
                    <a:pt x="70471" y="465379"/>
                  </a:lnTo>
                  <a:lnTo>
                    <a:pt x="27567" y="436549"/>
                  </a:lnTo>
                  <a:lnTo>
                    <a:pt x="3521" y="398884"/>
                  </a:lnTo>
                  <a:lnTo>
                    <a:pt x="0" y="357182"/>
                  </a:lnTo>
                  <a:lnTo>
                    <a:pt x="18668" y="316243"/>
                  </a:lnTo>
                  <a:lnTo>
                    <a:pt x="39264" y="295764"/>
                  </a:lnTo>
                  <a:lnTo>
                    <a:pt x="65272" y="279666"/>
                  </a:lnTo>
                  <a:lnTo>
                    <a:pt x="95511" y="268518"/>
                  </a:lnTo>
                  <a:lnTo>
                    <a:pt x="128802" y="262891"/>
                  </a:lnTo>
                  <a:lnTo>
                    <a:pt x="130021" y="260427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83969" y="3694776"/>
              <a:ext cx="1321435" cy="674370"/>
            </a:xfrm>
            <a:custGeom>
              <a:avLst/>
              <a:gdLst/>
              <a:ahLst/>
              <a:cxnLst/>
              <a:rect l="l" t="t" r="r" b="b"/>
              <a:pathLst>
                <a:path w="1321435" h="674370">
                  <a:moveTo>
                    <a:pt x="84442" y="437057"/>
                  </a:moveTo>
                  <a:lnTo>
                    <a:pt x="62398" y="437083"/>
                  </a:lnTo>
                  <a:lnTo>
                    <a:pt x="40730" y="434611"/>
                  </a:lnTo>
                  <a:lnTo>
                    <a:pt x="19807" y="429708"/>
                  </a:lnTo>
                  <a:lnTo>
                    <a:pt x="0" y="422440"/>
                  </a:lnTo>
                </a:path>
                <a:path w="1321435" h="674370">
                  <a:moveTo>
                    <a:pt x="158953" y="596976"/>
                  </a:moveTo>
                  <a:lnTo>
                    <a:pt x="149962" y="599401"/>
                  </a:lnTo>
                  <a:lnTo>
                    <a:pt x="140785" y="601379"/>
                  </a:lnTo>
                  <a:lnTo>
                    <a:pt x="131456" y="602905"/>
                  </a:lnTo>
                  <a:lnTo>
                    <a:pt x="122008" y="603973"/>
                  </a:lnTo>
                </a:path>
                <a:path w="1321435" h="674370">
                  <a:moveTo>
                    <a:pt x="477316" y="673823"/>
                  </a:moveTo>
                  <a:lnTo>
                    <a:pt x="470905" y="666192"/>
                  </a:lnTo>
                  <a:lnTo>
                    <a:pt x="465051" y="658320"/>
                  </a:lnTo>
                  <a:lnTo>
                    <a:pt x="459764" y="650224"/>
                  </a:lnTo>
                  <a:lnTo>
                    <a:pt x="455053" y="641921"/>
                  </a:lnTo>
                </a:path>
                <a:path w="1321435" h="674370">
                  <a:moveTo>
                    <a:pt x="889000" y="594271"/>
                  </a:moveTo>
                  <a:lnTo>
                    <a:pt x="887705" y="603140"/>
                  </a:lnTo>
                  <a:lnTo>
                    <a:pt x="885788" y="611943"/>
                  </a:lnTo>
                  <a:lnTo>
                    <a:pt x="883254" y="620660"/>
                  </a:lnTo>
                  <a:lnTo>
                    <a:pt x="880110" y="629272"/>
                  </a:lnTo>
                </a:path>
                <a:path w="1321435" h="674370">
                  <a:moveTo>
                    <a:pt x="1065745" y="377964"/>
                  </a:moveTo>
                  <a:lnTo>
                    <a:pt x="1110959" y="400861"/>
                  </a:lnTo>
                  <a:lnTo>
                    <a:pt x="1145227" y="431666"/>
                  </a:lnTo>
                  <a:lnTo>
                    <a:pt x="1166853" y="468329"/>
                  </a:lnTo>
                  <a:lnTo>
                    <a:pt x="1174140" y="508800"/>
                  </a:lnTo>
                </a:path>
                <a:path w="1321435" h="674370">
                  <a:moveTo>
                    <a:pt x="1321409" y="238620"/>
                  </a:moveTo>
                  <a:lnTo>
                    <a:pt x="1312245" y="252391"/>
                  </a:lnTo>
                  <a:lnTo>
                    <a:pt x="1301065" y="265239"/>
                  </a:lnTo>
                  <a:lnTo>
                    <a:pt x="1287992" y="277039"/>
                  </a:lnTo>
                  <a:lnTo>
                    <a:pt x="1273149" y="287667"/>
                  </a:lnTo>
                </a:path>
                <a:path w="1321435" h="674370">
                  <a:moveTo>
                    <a:pt x="1205598" y="56578"/>
                  </a:moveTo>
                  <a:lnTo>
                    <a:pt x="1207439" y="64223"/>
                  </a:lnTo>
                  <a:lnTo>
                    <a:pt x="1208290" y="71983"/>
                  </a:lnTo>
                  <a:lnTo>
                    <a:pt x="1208151" y="79756"/>
                  </a:lnTo>
                </a:path>
                <a:path w="1321435" h="674370">
                  <a:moveTo>
                    <a:pt x="897369" y="29552"/>
                  </a:moveTo>
                  <a:lnTo>
                    <a:pt x="902463" y="21677"/>
                  </a:lnTo>
                  <a:lnTo>
                    <a:pt x="908299" y="14109"/>
                  </a:lnTo>
                  <a:lnTo>
                    <a:pt x="914851" y="6875"/>
                  </a:lnTo>
                  <a:lnTo>
                    <a:pt x="922096" y="0"/>
                  </a:lnTo>
                </a:path>
                <a:path w="1321435" h="674370">
                  <a:moveTo>
                    <a:pt x="666102" y="43637"/>
                  </a:moveTo>
                  <a:lnTo>
                    <a:pt x="668298" y="37063"/>
                  </a:lnTo>
                  <a:lnTo>
                    <a:pt x="671033" y="30611"/>
                  </a:lnTo>
                  <a:lnTo>
                    <a:pt x="674296" y="24300"/>
                  </a:lnTo>
                  <a:lnTo>
                    <a:pt x="678078" y="18148"/>
                  </a:lnTo>
                </a:path>
                <a:path w="1321435" h="674370">
                  <a:moveTo>
                    <a:pt x="394716" y="52285"/>
                  </a:moveTo>
                  <a:lnTo>
                    <a:pt x="406283" y="57719"/>
                  </a:lnTo>
                  <a:lnTo>
                    <a:pt x="417382" y="63663"/>
                  </a:lnTo>
                  <a:lnTo>
                    <a:pt x="427980" y="70100"/>
                  </a:lnTo>
                  <a:lnTo>
                    <a:pt x="438048" y="77012"/>
                  </a:lnTo>
                </a:path>
                <a:path w="1321435" h="674370">
                  <a:moveTo>
                    <a:pt x="65570" y="246595"/>
                  </a:moveTo>
                  <a:lnTo>
                    <a:pt x="63167" y="240179"/>
                  </a:lnTo>
                  <a:lnTo>
                    <a:pt x="61106" y="233699"/>
                  </a:lnTo>
                  <a:lnTo>
                    <a:pt x="59387" y="227161"/>
                  </a:lnTo>
                  <a:lnTo>
                    <a:pt x="58013" y="220573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5213" y="124519"/>
            <a:ext cx="3300729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0">
                <a:latin typeface="Times New Roman"/>
                <a:cs typeface="Times New Roman"/>
              </a:rPr>
              <a:t>SA&amp;NSA</a:t>
            </a:r>
            <a:r>
              <a:rPr dirty="0" spc="-40"/>
              <a:t>网络架构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83540" y="823681"/>
            <a:ext cx="3658870" cy="10496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34"/>
              </a:spcBef>
              <a:buFont typeface="Wingdings"/>
              <a:buChar char=""/>
              <a:tabLst>
                <a:tab pos="183515" algn="l"/>
              </a:tabLst>
            </a:pPr>
            <a:r>
              <a:rPr dirty="0" sz="1400" spc="-10">
                <a:latin typeface="Microsoft YaHei"/>
                <a:cs typeface="Microsoft YaHei"/>
              </a:rPr>
              <a:t>SA</a:t>
            </a:r>
            <a:r>
              <a:rPr dirty="0" sz="1400" spc="-10">
                <a:latin typeface="SimSun"/>
                <a:cs typeface="SimSun"/>
              </a:rPr>
              <a:t>：</a:t>
            </a:r>
            <a:r>
              <a:rPr dirty="0" sz="1400" spc="-10">
                <a:latin typeface="Arial MT"/>
                <a:cs typeface="Arial MT"/>
              </a:rPr>
              <a:t>Standalone</a:t>
            </a:r>
            <a:r>
              <a:rPr dirty="0" sz="1400" spc="-25">
                <a:latin typeface="SimSun"/>
                <a:cs typeface="SimSun"/>
              </a:rPr>
              <a:t>，独立组网，建立端到端的</a:t>
            </a:r>
            <a:endParaRPr sz="1400">
              <a:latin typeface="SimSun"/>
              <a:cs typeface="SimSun"/>
            </a:endParaRPr>
          </a:p>
          <a:p>
            <a:pPr marL="184150">
              <a:lnSpc>
                <a:spcPct val="100000"/>
              </a:lnSpc>
              <a:spcBef>
                <a:spcPts val="335"/>
              </a:spcBef>
            </a:pPr>
            <a:r>
              <a:rPr dirty="0" sz="1400" spc="-10">
                <a:latin typeface="Arial MT"/>
                <a:cs typeface="Arial MT"/>
              </a:rPr>
              <a:t>4G/5G</a:t>
            </a:r>
            <a:r>
              <a:rPr dirty="0" sz="1400" spc="-35">
                <a:latin typeface="SimSun"/>
                <a:cs typeface="SimSun"/>
              </a:rPr>
              <a:t>网络；</a:t>
            </a:r>
            <a:endParaRPr sz="1400">
              <a:latin typeface="SimSun"/>
              <a:cs typeface="SimSun"/>
            </a:endParaRPr>
          </a:p>
          <a:p>
            <a:pPr marL="183515" indent="-170815">
              <a:lnSpc>
                <a:spcPct val="100000"/>
              </a:lnSpc>
              <a:spcBef>
                <a:spcPts val="335"/>
              </a:spcBef>
              <a:buFont typeface="Wingdings"/>
              <a:buChar char=""/>
              <a:tabLst>
                <a:tab pos="183515" algn="l"/>
              </a:tabLst>
            </a:pPr>
            <a:r>
              <a:rPr dirty="0" sz="1400" spc="-20">
                <a:latin typeface="Microsoft YaHei"/>
                <a:cs typeface="Microsoft YaHei"/>
              </a:rPr>
              <a:t>NSA</a:t>
            </a:r>
            <a:r>
              <a:rPr dirty="0" sz="1400" spc="-20">
                <a:latin typeface="SimSun"/>
                <a:cs typeface="SimSun"/>
              </a:rPr>
              <a:t>：</a:t>
            </a:r>
            <a:r>
              <a:rPr dirty="0" sz="1400" spc="-20">
                <a:latin typeface="Arial MT"/>
                <a:cs typeface="Arial MT"/>
              </a:rPr>
              <a:t>Non-</a:t>
            </a:r>
            <a:r>
              <a:rPr dirty="0" sz="1400" spc="-10">
                <a:latin typeface="Arial MT"/>
                <a:cs typeface="Arial MT"/>
              </a:rPr>
              <a:t>standalone</a:t>
            </a:r>
            <a:r>
              <a:rPr dirty="0" sz="1400" spc="-20">
                <a:latin typeface="SimSun"/>
                <a:cs typeface="SimSun"/>
              </a:rPr>
              <a:t>，非独立组网，</a:t>
            </a:r>
            <a:r>
              <a:rPr dirty="0" sz="1400" spc="-10">
                <a:latin typeface="Arial MT"/>
                <a:cs typeface="Arial MT"/>
              </a:rPr>
              <a:t>5G</a:t>
            </a:r>
            <a:r>
              <a:rPr dirty="0" sz="1400" spc="-50">
                <a:latin typeface="SimSun"/>
                <a:cs typeface="SimSun"/>
              </a:rPr>
              <a:t>与</a:t>
            </a:r>
            <a:endParaRPr sz="1400">
              <a:latin typeface="SimSun"/>
              <a:cs typeface="SimSun"/>
            </a:endParaRPr>
          </a:p>
          <a:p>
            <a:pPr marL="183515">
              <a:lnSpc>
                <a:spcPct val="100000"/>
              </a:lnSpc>
              <a:spcBef>
                <a:spcPts val="340"/>
              </a:spcBef>
            </a:pPr>
            <a:r>
              <a:rPr dirty="0" sz="1400" spc="-10">
                <a:latin typeface="Arial MT"/>
                <a:cs typeface="Arial MT"/>
              </a:rPr>
              <a:t>4G</a:t>
            </a:r>
            <a:r>
              <a:rPr dirty="0" sz="1400" spc="-30">
                <a:latin typeface="SimSun"/>
                <a:cs typeface="SimSun"/>
              </a:rPr>
              <a:t>联合组网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74540" y="747471"/>
            <a:ext cx="4262120" cy="10496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34"/>
              </a:spcBef>
              <a:buFont typeface="Wingdings"/>
              <a:buChar char=""/>
              <a:tabLst>
                <a:tab pos="183515" algn="l"/>
              </a:tabLst>
            </a:pPr>
            <a:r>
              <a:rPr dirty="0" sz="1400" spc="-20">
                <a:latin typeface="Arial MT"/>
                <a:cs typeface="Arial MT"/>
              </a:rPr>
              <a:t>SA</a:t>
            </a:r>
            <a:r>
              <a:rPr dirty="0" sz="1400" spc="-165">
                <a:latin typeface="SimSun"/>
                <a:cs typeface="SimSun"/>
              </a:rPr>
              <a:t>： 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</a:t>
            </a:r>
            <a:r>
              <a:rPr dirty="0" sz="1400" spc="-20">
                <a:latin typeface="SimSun"/>
                <a:cs typeface="SimSun"/>
              </a:rPr>
              <a:t>、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  <a:p>
            <a:pPr marL="184150" marR="5080" indent="-171450">
              <a:lnSpc>
                <a:spcPct val="120000"/>
              </a:lnSpc>
              <a:buFont typeface="Wingdings"/>
              <a:buChar char=""/>
              <a:tabLst>
                <a:tab pos="184150" algn="l"/>
              </a:tabLst>
            </a:pPr>
            <a:r>
              <a:rPr dirty="0" sz="1400">
                <a:latin typeface="Arial MT"/>
                <a:cs typeface="Arial MT"/>
              </a:rPr>
              <a:t>NSA</a:t>
            </a:r>
            <a:r>
              <a:rPr dirty="0" sz="1400">
                <a:latin typeface="SimSun"/>
                <a:cs typeface="SimSun"/>
              </a:rPr>
              <a:t>：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3/3a/3x</a:t>
            </a:r>
            <a:r>
              <a:rPr dirty="0" sz="1400" spc="-20">
                <a:latin typeface="SimSun"/>
                <a:cs typeface="SimSun"/>
              </a:rPr>
              <a:t>、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4/4a</a:t>
            </a:r>
            <a:r>
              <a:rPr dirty="0" sz="1400" spc="-20">
                <a:latin typeface="SimSun"/>
                <a:cs typeface="SimSun"/>
              </a:rPr>
              <a:t>、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5</a:t>
            </a:r>
            <a:r>
              <a:rPr dirty="0" sz="1400" spc="-50">
                <a:latin typeface="SimSun"/>
                <a:cs typeface="SimSun"/>
              </a:rPr>
              <a:t>、 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20">
                <a:latin typeface="SimSun"/>
                <a:cs typeface="SimSun"/>
              </a:rPr>
              <a:t>（未入选</a:t>
            </a:r>
            <a:r>
              <a:rPr dirty="0" sz="1400">
                <a:latin typeface="Arial MT"/>
                <a:cs typeface="Arial MT"/>
              </a:rPr>
              <a:t>38.801</a:t>
            </a:r>
            <a:r>
              <a:rPr dirty="0" sz="1400" spc="-20">
                <a:latin typeface="SimSun"/>
                <a:cs typeface="SimSun"/>
              </a:rPr>
              <a:t>协议）</a:t>
            </a:r>
            <a:r>
              <a:rPr dirty="0" sz="1400" spc="-175">
                <a:latin typeface="SimSun"/>
                <a:cs typeface="SimSun"/>
              </a:rPr>
              <a:t> 、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7/7a/7x</a:t>
            </a:r>
            <a:r>
              <a:rPr dirty="0" sz="1400" spc="-50">
                <a:latin typeface="SimSun"/>
                <a:cs typeface="SimSun"/>
              </a:rPr>
              <a:t>、 </a:t>
            </a:r>
            <a:r>
              <a:rPr dirty="0" sz="1400">
                <a:latin typeface="Arial MT"/>
                <a:cs typeface="Arial MT"/>
              </a:rPr>
              <a:t>Option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8/8a</a:t>
            </a:r>
            <a:r>
              <a:rPr dirty="0" sz="1400" spc="-10">
                <a:latin typeface="SimSun"/>
                <a:cs typeface="SimSun"/>
              </a:rPr>
              <a:t>（</a:t>
            </a:r>
            <a:r>
              <a:rPr dirty="0" sz="1400" spc="-20">
                <a:latin typeface="SimSun"/>
                <a:cs typeface="SimSun"/>
              </a:rPr>
              <a:t>未入选</a:t>
            </a:r>
            <a:r>
              <a:rPr dirty="0" sz="1400" spc="-10">
                <a:latin typeface="Arial MT"/>
                <a:cs typeface="Arial MT"/>
              </a:rPr>
              <a:t>38.801</a:t>
            </a:r>
            <a:r>
              <a:rPr dirty="0" sz="1400" spc="-20">
                <a:latin typeface="SimSun"/>
                <a:cs typeface="SimSun"/>
              </a:rPr>
              <a:t>协议</a:t>
            </a:r>
            <a:r>
              <a:rPr dirty="0" sz="1400" spc="-50">
                <a:latin typeface="SimSun"/>
                <a:cs typeface="SimSun"/>
              </a:rPr>
              <a:t>）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51519" y="1923677"/>
            <a:ext cx="8713470" cy="0"/>
          </a:xfrm>
          <a:custGeom>
            <a:avLst/>
            <a:gdLst/>
            <a:ahLst/>
            <a:cxnLst/>
            <a:rect l="l" t="t" r="r" b="b"/>
            <a:pathLst>
              <a:path w="8713470" h="0">
                <a:moveTo>
                  <a:pt x="0" y="0"/>
                </a:moveTo>
                <a:lnTo>
                  <a:pt x="8712962" y="0"/>
                </a:lnTo>
              </a:path>
            </a:pathLst>
          </a:custGeom>
          <a:ln w="25400">
            <a:solidFill>
              <a:srgbClr val="7030A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66363" y="2002279"/>
            <a:ext cx="105664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1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4880" y="4698138"/>
            <a:ext cx="194437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10">
                <a:latin typeface="Microsoft YaHei"/>
                <a:cs typeface="Microsoft YaHei"/>
              </a:rPr>
              <a:t> + </a:t>
            </a:r>
            <a:r>
              <a:rPr dirty="0" sz="1400">
                <a:latin typeface="Microsoft YaHei"/>
                <a:cs typeface="Microsoft YaHei"/>
              </a:rPr>
              <a:t>eNB</a:t>
            </a:r>
            <a:r>
              <a:rPr dirty="0" sz="1400" spc="-5">
                <a:latin typeface="Microsoft YaHei"/>
                <a:cs typeface="Microsoft YaHei"/>
              </a:rPr>
              <a:t> </a:t>
            </a:r>
            <a:r>
              <a:rPr dirty="0" sz="1400" spc="-20">
                <a:latin typeface="Microsoft YaHei"/>
                <a:cs typeface="Microsoft YaHei"/>
              </a:rPr>
              <a:t>4G</a:t>
            </a:r>
            <a:r>
              <a:rPr dirty="0" sz="1400" spc="-30">
                <a:latin typeface="Microsoft YaHei"/>
                <a:cs typeface="Microsoft YaHei"/>
              </a:rPr>
              <a:t>独立组网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22571" y="2006718"/>
            <a:ext cx="105664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2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86844" y="4520488"/>
            <a:ext cx="3200400" cy="5378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NGC</a:t>
            </a:r>
            <a:r>
              <a:rPr dirty="0" sz="1400" spc="-10">
                <a:latin typeface="Microsoft YaHei"/>
                <a:cs typeface="Microsoft YaHei"/>
              </a:rPr>
              <a:t> + </a:t>
            </a:r>
            <a:r>
              <a:rPr dirty="0" sz="1400">
                <a:latin typeface="Microsoft YaHei"/>
                <a:cs typeface="Microsoft YaHei"/>
              </a:rPr>
              <a:t>GNB</a:t>
            </a:r>
            <a:r>
              <a:rPr dirty="0" sz="1400" spc="-10">
                <a:latin typeface="Microsoft YaHei"/>
                <a:cs typeface="Microsoft YaHei"/>
              </a:rPr>
              <a:t> 5G</a:t>
            </a:r>
            <a:r>
              <a:rPr dirty="0" sz="1400" spc="-25">
                <a:latin typeface="Microsoft YaHei"/>
                <a:cs typeface="Microsoft YaHei"/>
              </a:rPr>
              <a:t>独立的新建网络</a:t>
            </a:r>
            <a:endParaRPr sz="1400">
              <a:latin typeface="Microsoft YaHei"/>
              <a:cs typeface="Microsoft YaHei"/>
            </a:endParaRPr>
          </a:p>
          <a:p>
            <a:pPr marL="182880" indent="-17018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 spc="-20">
                <a:latin typeface="Microsoft YaHei"/>
                <a:cs typeface="Microsoft YaHei"/>
              </a:rPr>
              <a:t>终端在同一时刻无需同时支持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和</a:t>
            </a:r>
            <a:r>
              <a:rPr dirty="0" sz="1400" spc="-25">
                <a:latin typeface="Microsoft YaHei"/>
                <a:cs typeface="Microsoft YaHei"/>
              </a:rPr>
              <a:t>5G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444208" y="2230869"/>
            <a:ext cx="1948180" cy="2285365"/>
            <a:chOff x="6444208" y="2230869"/>
            <a:chExt cx="1948180" cy="2285365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9113" y="2965269"/>
              <a:ext cx="69405" cy="6939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783984" y="3385776"/>
              <a:ext cx="216535" cy="144145"/>
            </a:xfrm>
            <a:custGeom>
              <a:avLst/>
              <a:gdLst/>
              <a:ahLst/>
              <a:cxnLst/>
              <a:rect l="l" t="t" r="r" b="b"/>
              <a:pathLst>
                <a:path w="216534" h="144145">
                  <a:moveTo>
                    <a:pt x="0" y="0"/>
                  </a:moveTo>
                  <a:lnTo>
                    <a:pt x="216027" y="144018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00009" y="3097739"/>
              <a:ext cx="360045" cy="432434"/>
            </a:xfrm>
            <a:custGeom>
              <a:avLst/>
              <a:gdLst/>
              <a:ahLst/>
              <a:cxnLst/>
              <a:rect l="l" t="t" r="r" b="b"/>
              <a:pathLst>
                <a:path w="360045" h="432435">
                  <a:moveTo>
                    <a:pt x="0" y="432054"/>
                  </a:moveTo>
                  <a:lnTo>
                    <a:pt x="360045" y="0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208" y="2230869"/>
              <a:ext cx="1447787" cy="2285095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8128" y="3182603"/>
            <a:ext cx="113411" cy="113411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70532" y="3424360"/>
            <a:ext cx="157416" cy="157403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4423726" y="3693772"/>
            <a:ext cx="914400" cy="66548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 indent="81915">
              <a:lnSpc>
                <a:spcPct val="104299"/>
              </a:lnSpc>
              <a:spcBef>
                <a:spcPts val="25"/>
              </a:spcBef>
            </a:pP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5G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目标</a:t>
            </a:r>
            <a:r>
              <a:rPr dirty="0" sz="1400" spc="-50">
                <a:solidFill>
                  <a:srgbClr val="C00000"/>
                </a:solidFill>
                <a:latin typeface="SimSun"/>
                <a:cs typeface="SimSun"/>
              </a:rPr>
              <a:t> </a:t>
            </a: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网络形态，</a:t>
            </a:r>
            <a:endParaRPr sz="1400">
              <a:latin typeface="SimSun"/>
              <a:cs typeface="SimSun"/>
            </a:endParaRPr>
          </a:p>
          <a:p>
            <a:pPr marL="213360">
              <a:lnSpc>
                <a:spcPts val="1610"/>
              </a:lnSpc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优选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923583" y="3007445"/>
            <a:ext cx="2374265" cy="875665"/>
            <a:chOff x="1923583" y="3007445"/>
            <a:chExt cx="2374265" cy="875665"/>
          </a:xfrm>
        </p:grpSpPr>
        <p:sp>
          <p:nvSpPr>
            <p:cNvPr id="23" name="object 23" descr=""/>
            <p:cNvSpPr/>
            <p:nvPr/>
          </p:nvSpPr>
          <p:spPr>
            <a:xfrm>
              <a:off x="2641696" y="3078966"/>
              <a:ext cx="1643380" cy="791210"/>
            </a:xfrm>
            <a:custGeom>
              <a:avLst/>
              <a:gdLst/>
              <a:ahLst/>
              <a:cxnLst/>
              <a:rect l="l" t="t" r="r" b="b"/>
              <a:pathLst>
                <a:path w="1643379" h="791210">
                  <a:moveTo>
                    <a:pt x="148265" y="260318"/>
                  </a:moveTo>
                  <a:lnTo>
                    <a:pt x="147048" y="221434"/>
                  </a:lnTo>
                  <a:lnTo>
                    <a:pt x="158901" y="184582"/>
                  </a:lnTo>
                  <a:lnTo>
                    <a:pt x="182505" y="150901"/>
                  </a:lnTo>
                  <a:lnTo>
                    <a:pt x="216540" y="121529"/>
                  </a:lnTo>
                  <a:lnTo>
                    <a:pt x="259687" y="97603"/>
                  </a:lnTo>
                  <a:lnTo>
                    <a:pt x="310626" y="80262"/>
                  </a:lnTo>
                  <a:lnTo>
                    <a:pt x="368038" y="70643"/>
                  </a:lnTo>
                  <a:lnTo>
                    <a:pt x="410770" y="69191"/>
                  </a:lnTo>
                  <a:lnTo>
                    <a:pt x="452988" y="72378"/>
                  </a:lnTo>
                  <a:lnTo>
                    <a:pt x="493825" y="80093"/>
                  </a:lnTo>
                  <a:lnTo>
                    <a:pt x="532414" y="92221"/>
                  </a:lnTo>
                  <a:lnTo>
                    <a:pt x="564094" y="63172"/>
                  </a:lnTo>
                  <a:lnTo>
                    <a:pt x="604863" y="41364"/>
                  </a:lnTo>
                  <a:lnTo>
                    <a:pt x="652109" y="27322"/>
                  </a:lnTo>
                  <a:lnTo>
                    <a:pt x="703217" y="21572"/>
                  </a:lnTo>
                  <a:lnTo>
                    <a:pt x="755575" y="24640"/>
                  </a:lnTo>
                  <a:lnTo>
                    <a:pt x="806569" y="37052"/>
                  </a:lnTo>
                  <a:lnTo>
                    <a:pt x="842861" y="53261"/>
                  </a:lnTo>
                  <a:lnTo>
                    <a:pt x="853673" y="59772"/>
                  </a:lnTo>
                  <a:lnTo>
                    <a:pt x="884660" y="31421"/>
                  </a:lnTo>
                  <a:lnTo>
                    <a:pt x="926074" y="11552"/>
                  </a:lnTo>
                  <a:lnTo>
                    <a:pt x="974251" y="969"/>
                  </a:lnTo>
                  <a:lnTo>
                    <a:pt x="1025528" y="476"/>
                  </a:lnTo>
                  <a:lnTo>
                    <a:pt x="1076241" y="10877"/>
                  </a:lnTo>
                  <a:lnTo>
                    <a:pt x="1092695" y="17067"/>
                  </a:lnTo>
                  <a:lnTo>
                    <a:pt x="1107921" y="24423"/>
                  </a:lnTo>
                  <a:lnTo>
                    <a:pt x="1121775" y="32867"/>
                  </a:lnTo>
                  <a:lnTo>
                    <a:pt x="1134115" y="42322"/>
                  </a:lnTo>
                  <a:lnTo>
                    <a:pt x="1170885" y="20595"/>
                  </a:lnTo>
                  <a:lnTo>
                    <a:pt x="1213603" y="6442"/>
                  </a:lnTo>
                  <a:lnTo>
                    <a:pt x="1259789" y="0"/>
                  </a:lnTo>
                  <a:lnTo>
                    <a:pt x="1306963" y="1401"/>
                  </a:lnTo>
                  <a:lnTo>
                    <a:pt x="1352643" y="10782"/>
                  </a:lnTo>
                  <a:lnTo>
                    <a:pt x="1394351" y="28276"/>
                  </a:lnTo>
                  <a:lnTo>
                    <a:pt x="1434932" y="60124"/>
                  </a:lnTo>
                  <a:lnTo>
                    <a:pt x="1456682" y="99079"/>
                  </a:lnTo>
                  <a:lnTo>
                    <a:pt x="1506783" y="112985"/>
                  </a:lnTo>
                  <a:lnTo>
                    <a:pt x="1548142" y="134323"/>
                  </a:lnTo>
                  <a:lnTo>
                    <a:pt x="1579404" y="161532"/>
                  </a:lnTo>
                  <a:lnTo>
                    <a:pt x="1599211" y="193052"/>
                  </a:lnTo>
                  <a:lnTo>
                    <a:pt x="1606207" y="227322"/>
                  </a:lnTo>
                  <a:lnTo>
                    <a:pt x="1599036" y="262782"/>
                  </a:lnTo>
                  <a:lnTo>
                    <a:pt x="1596560" y="268751"/>
                  </a:lnTo>
                  <a:lnTo>
                    <a:pt x="1593461" y="274605"/>
                  </a:lnTo>
                  <a:lnTo>
                    <a:pt x="1589753" y="280295"/>
                  </a:lnTo>
                  <a:lnTo>
                    <a:pt x="1620328" y="313758"/>
                  </a:lnTo>
                  <a:lnTo>
                    <a:pt x="1637982" y="349726"/>
                  </a:lnTo>
                  <a:lnTo>
                    <a:pt x="1642998" y="386775"/>
                  </a:lnTo>
                  <a:lnTo>
                    <a:pt x="1635661" y="423484"/>
                  </a:lnTo>
                  <a:lnTo>
                    <a:pt x="1616254" y="458429"/>
                  </a:lnTo>
                  <a:lnTo>
                    <a:pt x="1585062" y="490189"/>
                  </a:lnTo>
                  <a:lnTo>
                    <a:pt x="1542369" y="517340"/>
                  </a:lnTo>
                  <a:lnTo>
                    <a:pt x="1485425" y="539080"/>
                  </a:lnTo>
                  <a:lnTo>
                    <a:pt x="1421948" y="550627"/>
                  </a:lnTo>
                  <a:lnTo>
                    <a:pt x="1413622" y="588927"/>
                  </a:lnTo>
                  <a:lnTo>
                    <a:pt x="1391030" y="623264"/>
                  </a:lnTo>
                  <a:lnTo>
                    <a:pt x="1356285" y="652275"/>
                  </a:lnTo>
                  <a:lnTo>
                    <a:pt x="1311502" y="674594"/>
                  </a:lnTo>
                  <a:lnTo>
                    <a:pt x="1258792" y="688859"/>
                  </a:lnTo>
                  <a:lnTo>
                    <a:pt x="1200269" y="693705"/>
                  </a:lnTo>
                  <a:lnTo>
                    <a:pt x="1170070" y="692177"/>
                  </a:lnTo>
                  <a:lnTo>
                    <a:pt x="1140612" y="687970"/>
                  </a:lnTo>
                  <a:lnTo>
                    <a:pt x="1112310" y="681159"/>
                  </a:lnTo>
                  <a:lnTo>
                    <a:pt x="1085575" y="671823"/>
                  </a:lnTo>
                  <a:lnTo>
                    <a:pt x="1065592" y="703418"/>
                  </a:lnTo>
                  <a:lnTo>
                    <a:pt x="1037314" y="730919"/>
                  </a:lnTo>
                  <a:lnTo>
                    <a:pt x="1002028" y="753873"/>
                  </a:lnTo>
                  <a:lnTo>
                    <a:pt x="961020" y="771828"/>
                  </a:lnTo>
                  <a:lnTo>
                    <a:pt x="915579" y="784328"/>
                  </a:lnTo>
                  <a:lnTo>
                    <a:pt x="866991" y="790922"/>
                  </a:lnTo>
                  <a:lnTo>
                    <a:pt x="816543" y="791155"/>
                  </a:lnTo>
                  <a:lnTo>
                    <a:pt x="765523" y="784574"/>
                  </a:lnTo>
                  <a:lnTo>
                    <a:pt x="724458" y="773765"/>
                  </a:lnTo>
                  <a:lnTo>
                    <a:pt x="687078" y="758604"/>
                  </a:lnTo>
                  <a:lnTo>
                    <a:pt x="654170" y="739473"/>
                  </a:lnTo>
                  <a:lnTo>
                    <a:pt x="626521" y="716756"/>
                  </a:lnTo>
                  <a:lnTo>
                    <a:pt x="578870" y="731989"/>
                  </a:lnTo>
                  <a:lnTo>
                    <a:pt x="529291" y="741143"/>
                  </a:lnTo>
                  <a:lnTo>
                    <a:pt x="478921" y="744405"/>
                  </a:lnTo>
                  <a:lnTo>
                    <a:pt x="428898" y="741960"/>
                  </a:lnTo>
                  <a:lnTo>
                    <a:pt x="380358" y="733997"/>
                  </a:lnTo>
                  <a:lnTo>
                    <a:pt x="334439" y="720700"/>
                  </a:lnTo>
                  <a:lnTo>
                    <a:pt x="292278" y="702257"/>
                  </a:lnTo>
                  <a:lnTo>
                    <a:pt x="255012" y="678854"/>
                  </a:lnTo>
                  <a:lnTo>
                    <a:pt x="223779" y="650678"/>
                  </a:lnTo>
                  <a:lnTo>
                    <a:pt x="220680" y="647198"/>
                  </a:lnTo>
                  <a:lnTo>
                    <a:pt x="167662" y="645700"/>
                  </a:lnTo>
                  <a:lnTo>
                    <a:pt x="119731" y="633872"/>
                  </a:lnTo>
                  <a:lnTo>
                    <a:pt x="79915" y="613279"/>
                  </a:lnTo>
                  <a:lnTo>
                    <a:pt x="51243" y="585491"/>
                  </a:lnTo>
                  <a:lnTo>
                    <a:pt x="36470" y="528409"/>
                  </a:lnTo>
                  <a:lnTo>
                    <a:pt x="43910" y="505525"/>
                  </a:lnTo>
                  <a:lnTo>
                    <a:pt x="58668" y="484215"/>
                  </a:lnTo>
                  <a:lnTo>
                    <a:pt x="80345" y="465270"/>
                  </a:lnTo>
                  <a:lnTo>
                    <a:pt x="31432" y="436440"/>
                  </a:lnTo>
                  <a:lnTo>
                    <a:pt x="4013" y="398775"/>
                  </a:lnTo>
                  <a:lnTo>
                    <a:pt x="0" y="357073"/>
                  </a:lnTo>
                  <a:lnTo>
                    <a:pt x="21290" y="316134"/>
                  </a:lnTo>
                  <a:lnTo>
                    <a:pt x="44771" y="295655"/>
                  </a:lnTo>
                  <a:lnTo>
                    <a:pt x="74427" y="279557"/>
                  </a:lnTo>
                  <a:lnTo>
                    <a:pt x="108912" y="268409"/>
                  </a:lnTo>
                  <a:lnTo>
                    <a:pt x="146880" y="262782"/>
                  </a:lnTo>
                  <a:lnTo>
                    <a:pt x="148265" y="26031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3583" y="3007445"/>
              <a:ext cx="69405" cy="6939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3476" y="3057380"/>
              <a:ext cx="113411" cy="11341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5680" y="3119409"/>
              <a:ext cx="157416" cy="15740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723816" y="3118725"/>
              <a:ext cx="1506855" cy="674370"/>
            </a:xfrm>
            <a:custGeom>
              <a:avLst/>
              <a:gdLst/>
              <a:ahLst/>
              <a:cxnLst/>
              <a:rect l="l" t="t" r="r" b="b"/>
              <a:pathLst>
                <a:path w="1506854" h="674370">
                  <a:moveTo>
                    <a:pt x="96291" y="437045"/>
                  </a:moveTo>
                  <a:lnTo>
                    <a:pt x="71158" y="437070"/>
                  </a:lnTo>
                  <a:lnTo>
                    <a:pt x="46450" y="434598"/>
                  </a:lnTo>
                  <a:lnTo>
                    <a:pt x="22589" y="429695"/>
                  </a:lnTo>
                  <a:lnTo>
                    <a:pt x="0" y="422427"/>
                  </a:lnTo>
                </a:path>
                <a:path w="1506854" h="674370">
                  <a:moveTo>
                    <a:pt x="181254" y="596963"/>
                  </a:moveTo>
                  <a:lnTo>
                    <a:pt x="171003" y="599389"/>
                  </a:lnTo>
                  <a:lnTo>
                    <a:pt x="160543" y="601367"/>
                  </a:lnTo>
                  <a:lnTo>
                    <a:pt x="149907" y="602892"/>
                  </a:lnTo>
                  <a:lnTo>
                    <a:pt x="139128" y="603961"/>
                  </a:lnTo>
                </a:path>
                <a:path w="1506854" h="674370">
                  <a:moveTo>
                    <a:pt x="544309" y="673811"/>
                  </a:moveTo>
                  <a:lnTo>
                    <a:pt x="536993" y="666179"/>
                  </a:lnTo>
                  <a:lnTo>
                    <a:pt x="530315" y="658307"/>
                  </a:lnTo>
                  <a:lnTo>
                    <a:pt x="524287" y="650211"/>
                  </a:lnTo>
                  <a:lnTo>
                    <a:pt x="518921" y="641908"/>
                  </a:lnTo>
                </a:path>
                <a:path w="1506854" h="674370">
                  <a:moveTo>
                    <a:pt x="1013752" y="594258"/>
                  </a:moveTo>
                  <a:lnTo>
                    <a:pt x="1012279" y="603127"/>
                  </a:lnTo>
                  <a:lnTo>
                    <a:pt x="1010094" y="611930"/>
                  </a:lnTo>
                  <a:lnTo>
                    <a:pt x="1007204" y="620647"/>
                  </a:lnTo>
                  <a:lnTo>
                    <a:pt x="1003617" y="629259"/>
                  </a:lnTo>
                </a:path>
                <a:path w="1506854" h="674370">
                  <a:moveTo>
                    <a:pt x="1215313" y="377952"/>
                  </a:moveTo>
                  <a:lnTo>
                    <a:pt x="1266869" y="400848"/>
                  </a:lnTo>
                  <a:lnTo>
                    <a:pt x="1305945" y="431653"/>
                  </a:lnTo>
                  <a:lnTo>
                    <a:pt x="1330608" y="468316"/>
                  </a:lnTo>
                  <a:lnTo>
                    <a:pt x="1338922" y="508787"/>
                  </a:lnTo>
                </a:path>
                <a:path w="1506854" h="674370">
                  <a:moveTo>
                    <a:pt x="1506855" y="238607"/>
                  </a:moveTo>
                  <a:lnTo>
                    <a:pt x="1496402" y="252379"/>
                  </a:lnTo>
                  <a:lnTo>
                    <a:pt x="1483653" y="265226"/>
                  </a:lnTo>
                  <a:lnTo>
                    <a:pt x="1468744" y="277026"/>
                  </a:lnTo>
                  <a:lnTo>
                    <a:pt x="1451813" y="287655"/>
                  </a:lnTo>
                </a:path>
                <a:path w="1506854" h="674370">
                  <a:moveTo>
                    <a:pt x="1374787" y="56565"/>
                  </a:moveTo>
                  <a:lnTo>
                    <a:pt x="1376895" y="64211"/>
                  </a:lnTo>
                  <a:lnTo>
                    <a:pt x="1377861" y="71970"/>
                  </a:lnTo>
                  <a:lnTo>
                    <a:pt x="1377695" y="79743"/>
                  </a:lnTo>
                </a:path>
                <a:path w="1506854" h="674370">
                  <a:moveTo>
                    <a:pt x="1023302" y="29540"/>
                  </a:moveTo>
                  <a:lnTo>
                    <a:pt x="1029107" y="21665"/>
                  </a:lnTo>
                  <a:lnTo>
                    <a:pt x="1035761" y="14098"/>
                  </a:lnTo>
                  <a:lnTo>
                    <a:pt x="1043233" y="6867"/>
                  </a:lnTo>
                  <a:lnTo>
                    <a:pt x="1051496" y="0"/>
                  </a:lnTo>
                </a:path>
                <a:path w="1506854" h="674370">
                  <a:moveTo>
                    <a:pt x="759586" y="43624"/>
                  </a:moveTo>
                  <a:lnTo>
                    <a:pt x="762088" y="37050"/>
                  </a:lnTo>
                  <a:lnTo>
                    <a:pt x="765203" y="30599"/>
                  </a:lnTo>
                  <a:lnTo>
                    <a:pt x="768923" y="24288"/>
                  </a:lnTo>
                  <a:lnTo>
                    <a:pt x="773239" y="18135"/>
                  </a:lnTo>
                </a:path>
                <a:path w="1506854" h="674370">
                  <a:moveTo>
                    <a:pt x="450100" y="52273"/>
                  </a:moveTo>
                  <a:lnTo>
                    <a:pt x="463294" y="57706"/>
                  </a:lnTo>
                  <a:lnTo>
                    <a:pt x="475951" y="63650"/>
                  </a:lnTo>
                  <a:lnTo>
                    <a:pt x="488037" y="70087"/>
                  </a:lnTo>
                  <a:lnTo>
                    <a:pt x="499516" y="77000"/>
                  </a:lnTo>
                </a:path>
                <a:path w="1506854" h="674370">
                  <a:moveTo>
                    <a:pt x="74777" y="246583"/>
                  </a:moveTo>
                  <a:lnTo>
                    <a:pt x="72030" y="240166"/>
                  </a:lnTo>
                  <a:lnTo>
                    <a:pt x="69675" y="233686"/>
                  </a:lnTo>
                  <a:lnTo>
                    <a:pt x="67716" y="227148"/>
                  </a:lnTo>
                  <a:lnTo>
                    <a:pt x="66154" y="220560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948089" y="3117707"/>
            <a:ext cx="913130" cy="664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1270">
              <a:lnSpc>
                <a:spcPct val="99600"/>
              </a:lnSpc>
              <a:spcBef>
                <a:spcPts val="105"/>
              </a:spcBef>
            </a:pP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4G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独立组</a:t>
            </a: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网，不涉及</a:t>
            </a:r>
            <a:r>
              <a:rPr dirty="0" sz="1400" spc="-50">
                <a:solidFill>
                  <a:srgbClr val="C00000"/>
                </a:solidFill>
                <a:latin typeface="SimSun"/>
                <a:cs typeface="SimSun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Arial MT"/>
                <a:cs typeface="Arial MT"/>
              </a:rPr>
              <a:t>5G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8411" y="1196237"/>
            <a:ext cx="637540" cy="38354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805"/>
              </a:spcBef>
            </a:pPr>
            <a:r>
              <a:rPr dirty="0" sz="1000" spc="-25">
                <a:latin typeface="Times New Roman"/>
                <a:cs typeface="Times New Roman"/>
              </a:rPr>
              <a:t>EPC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97770" y="2115403"/>
            <a:ext cx="1098550" cy="412115"/>
            <a:chOff x="297770" y="2115403"/>
            <a:chExt cx="1098550" cy="412115"/>
          </a:xfrm>
        </p:grpSpPr>
        <p:sp>
          <p:nvSpPr>
            <p:cNvPr id="4" name="object 4" descr=""/>
            <p:cNvSpPr/>
            <p:nvPr/>
          </p:nvSpPr>
          <p:spPr>
            <a:xfrm>
              <a:off x="299040" y="2116673"/>
              <a:ext cx="1096010" cy="409575"/>
            </a:xfrm>
            <a:custGeom>
              <a:avLst/>
              <a:gdLst/>
              <a:ahLst/>
              <a:cxnLst/>
              <a:rect l="l" t="t" r="r" b="b"/>
              <a:pathLst>
                <a:path w="1096010" h="409575">
                  <a:moveTo>
                    <a:pt x="547939" y="409077"/>
                  </a:moveTo>
                  <a:lnTo>
                    <a:pt x="479206" y="407484"/>
                  </a:lnTo>
                  <a:lnTo>
                    <a:pt x="413021" y="402830"/>
                  </a:lnTo>
                  <a:lnTo>
                    <a:pt x="349897" y="395309"/>
                  </a:lnTo>
                  <a:lnTo>
                    <a:pt x="290349" y="385112"/>
                  </a:lnTo>
                  <a:lnTo>
                    <a:pt x="234888" y="372431"/>
                  </a:lnTo>
                  <a:lnTo>
                    <a:pt x="184029" y="357457"/>
                  </a:lnTo>
                  <a:lnTo>
                    <a:pt x="138286" y="340381"/>
                  </a:lnTo>
                  <a:lnTo>
                    <a:pt x="98171" y="321396"/>
                  </a:lnTo>
                  <a:lnTo>
                    <a:pt x="64199" y="300693"/>
                  </a:lnTo>
                  <a:lnTo>
                    <a:pt x="16734" y="254901"/>
                  </a:lnTo>
                  <a:lnTo>
                    <a:pt x="0" y="204538"/>
                  </a:lnTo>
                  <a:lnTo>
                    <a:pt x="4269" y="178881"/>
                  </a:lnTo>
                  <a:lnTo>
                    <a:pt x="36882" y="130612"/>
                  </a:lnTo>
                  <a:lnTo>
                    <a:pt x="98171" y="87681"/>
                  </a:lnTo>
                  <a:lnTo>
                    <a:pt x="138286" y="68696"/>
                  </a:lnTo>
                  <a:lnTo>
                    <a:pt x="184029" y="51620"/>
                  </a:lnTo>
                  <a:lnTo>
                    <a:pt x="234888" y="36646"/>
                  </a:lnTo>
                  <a:lnTo>
                    <a:pt x="290349" y="23964"/>
                  </a:lnTo>
                  <a:lnTo>
                    <a:pt x="349897" y="13767"/>
                  </a:lnTo>
                  <a:lnTo>
                    <a:pt x="413021" y="6246"/>
                  </a:lnTo>
                  <a:lnTo>
                    <a:pt x="479206" y="1593"/>
                  </a:lnTo>
                  <a:lnTo>
                    <a:pt x="547939" y="0"/>
                  </a:lnTo>
                  <a:lnTo>
                    <a:pt x="616670" y="1593"/>
                  </a:lnTo>
                  <a:lnTo>
                    <a:pt x="682854" y="6246"/>
                  </a:lnTo>
                  <a:lnTo>
                    <a:pt x="745977" y="13767"/>
                  </a:lnTo>
                  <a:lnTo>
                    <a:pt x="805525" y="23964"/>
                  </a:lnTo>
                  <a:lnTo>
                    <a:pt x="860986" y="36646"/>
                  </a:lnTo>
                  <a:lnTo>
                    <a:pt x="911845" y="51620"/>
                  </a:lnTo>
                  <a:lnTo>
                    <a:pt x="957589" y="68696"/>
                  </a:lnTo>
                  <a:lnTo>
                    <a:pt x="997704" y="87681"/>
                  </a:lnTo>
                  <a:lnTo>
                    <a:pt x="1031677" y="108383"/>
                  </a:lnTo>
                  <a:lnTo>
                    <a:pt x="1079143" y="154175"/>
                  </a:lnTo>
                  <a:lnTo>
                    <a:pt x="1095878" y="204538"/>
                  </a:lnTo>
                  <a:lnTo>
                    <a:pt x="1091608" y="230195"/>
                  </a:lnTo>
                  <a:lnTo>
                    <a:pt x="1058994" y="278465"/>
                  </a:lnTo>
                  <a:lnTo>
                    <a:pt x="997704" y="321396"/>
                  </a:lnTo>
                  <a:lnTo>
                    <a:pt x="957589" y="340381"/>
                  </a:lnTo>
                  <a:lnTo>
                    <a:pt x="911845" y="357457"/>
                  </a:lnTo>
                  <a:lnTo>
                    <a:pt x="860986" y="372431"/>
                  </a:lnTo>
                  <a:lnTo>
                    <a:pt x="805525" y="385112"/>
                  </a:lnTo>
                  <a:lnTo>
                    <a:pt x="745977" y="395309"/>
                  </a:lnTo>
                  <a:lnTo>
                    <a:pt x="682854" y="402830"/>
                  </a:lnTo>
                  <a:lnTo>
                    <a:pt x="616670" y="407484"/>
                  </a:lnTo>
                  <a:lnTo>
                    <a:pt x="547939" y="409077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99040" y="2116673"/>
              <a:ext cx="1096010" cy="409575"/>
            </a:xfrm>
            <a:custGeom>
              <a:avLst/>
              <a:gdLst/>
              <a:ahLst/>
              <a:cxnLst/>
              <a:rect l="l" t="t" r="r" b="b"/>
              <a:pathLst>
                <a:path w="1096010" h="409575">
                  <a:moveTo>
                    <a:pt x="0" y="204538"/>
                  </a:moveTo>
                  <a:lnTo>
                    <a:pt x="16734" y="154175"/>
                  </a:lnTo>
                  <a:lnTo>
                    <a:pt x="64199" y="108383"/>
                  </a:lnTo>
                  <a:lnTo>
                    <a:pt x="98171" y="87681"/>
                  </a:lnTo>
                  <a:lnTo>
                    <a:pt x="138286" y="68696"/>
                  </a:lnTo>
                  <a:lnTo>
                    <a:pt x="184029" y="51620"/>
                  </a:lnTo>
                  <a:lnTo>
                    <a:pt x="234888" y="36646"/>
                  </a:lnTo>
                  <a:lnTo>
                    <a:pt x="290349" y="23964"/>
                  </a:lnTo>
                  <a:lnTo>
                    <a:pt x="349897" y="13767"/>
                  </a:lnTo>
                  <a:lnTo>
                    <a:pt x="413021" y="6246"/>
                  </a:lnTo>
                  <a:lnTo>
                    <a:pt x="479206" y="1593"/>
                  </a:lnTo>
                  <a:lnTo>
                    <a:pt x="547939" y="0"/>
                  </a:lnTo>
                  <a:lnTo>
                    <a:pt x="616670" y="1593"/>
                  </a:lnTo>
                  <a:lnTo>
                    <a:pt x="682854" y="6246"/>
                  </a:lnTo>
                  <a:lnTo>
                    <a:pt x="745977" y="13767"/>
                  </a:lnTo>
                  <a:lnTo>
                    <a:pt x="805525" y="23964"/>
                  </a:lnTo>
                  <a:lnTo>
                    <a:pt x="860986" y="36646"/>
                  </a:lnTo>
                  <a:lnTo>
                    <a:pt x="911845" y="51620"/>
                  </a:lnTo>
                  <a:lnTo>
                    <a:pt x="957589" y="68696"/>
                  </a:lnTo>
                  <a:lnTo>
                    <a:pt x="997704" y="87681"/>
                  </a:lnTo>
                  <a:lnTo>
                    <a:pt x="1031677" y="108383"/>
                  </a:lnTo>
                  <a:lnTo>
                    <a:pt x="1079143" y="154175"/>
                  </a:lnTo>
                  <a:lnTo>
                    <a:pt x="1095878" y="204538"/>
                  </a:lnTo>
                  <a:lnTo>
                    <a:pt x="1091608" y="230195"/>
                  </a:lnTo>
                  <a:lnTo>
                    <a:pt x="1079143" y="254901"/>
                  </a:lnTo>
                  <a:lnTo>
                    <a:pt x="1031677" y="300693"/>
                  </a:lnTo>
                  <a:lnTo>
                    <a:pt x="997704" y="321396"/>
                  </a:lnTo>
                  <a:lnTo>
                    <a:pt x="957589" y="340381"/>
                  </a:lnTo>
                  <a:lnTo>
                    <a:pt x="911845" y="357456"/>
                  </a:lnTo>
                  <a:lnTo>
                    <a:pt x="860986" y="372431"/>
                  </a:lnTo>
                  <a:lnTo>
                    <a:pt x="805525" y="385112"/>
                  </a:lnTo>
                  <a:lnTo>
                    <a:pt x="745977" y="395309"/>
                  </a:lnTo>
                  <a:lnTo>
                    <a:pt x="682854" y="402830"/>
                  </a:lnTo>
                  <a:lnTo>
                    <a:pt x="616670" y="407484"/>
                  </a:lnTo>
                  <a:lnTo>
                    <a:pt x="547939" y="409077"/>
                  </a:lnTo>
                  <a:lnTo>
                    <a:pt x="479206" y="407484"/>
                  </a:lnTo>
                  <a:lnTo>
                    <a:pt x="413021" y="402830"/>
                  </a:lnTo>
                  <a:lnTo>
                    <a:pt x="349897" y="395309"/>
                  </a:lnTo>
                  <a:lnTo>
                    <a:pt x="290349" y="385112"/>
                  </a:lnTo>
                  <a:lnTo>
                    <a:pt x="234888" y="372431"/>
                  </a:lnTo>
                  <a:lnTo>
                    <a:pt x="184029" y="357456"/>
                  </a:lnTo>
                  <a:lnTo>
                    <a:pt x="138286" y="340381"/>
                  </a:lnTo>
                  <a:lnTo>
                    <a:pt x="98171" y="321396"/>
                  </a:lnTo>
                  <a:lnTo>
                    <a:pt x="64199" y="300693"/>
                  </a:lnTo>
                  <a:lnTo>
                    <a:pt x="16734" y="254901"/>
                  </a:lnTo>
                  <a:lnTo>
                    <a:pt x="4269" y="230195"/>
                  </a:lnTo>
                  <a:lnTo>
                    <a:pt x="0" y="20453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18949" y="2220122"/>
            <a:ext cx="25654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imes New Roman"/>
                <a:cs typeface="Times New Roman"/>
              </a:rPr>
              <a:t>LTE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61200" y="1934202"/>
            <a:ext cx="2362200" cy="593090"/>
            <a:chOff x="461200" y="1934202"/>
            <a:chExt cx="2362200" cy="593090"/>
          </a:xfrm>
        </p:grpSpPr>
        <p:sp>
          <p:nvSpPr>
            <p:cNvPr id="8" name="object 8" descr=""/>
            <p:cNvSpPr/>
            <p:nvPr/>
          </p:nvSpPr>
          <p:spPr>
            <a:xfrm>
              <a:off x="529494" y="2229170"/>
              <a:ext cx="88900" cy="92075"/>
            </a:xfrm>
            <a:custGeom>
              <a:avLst/>
              <a:gdLst/>
              <a:ahLst/>
              <a:cxnLst/>
              <a:rect l="l" t="t" r="r" b="b"/>
              <a:pathLst>
                <a:path w="88900" h="92075">
                  <a:moveTo>
                    <a:pt x="62629" y="92041"/>
                  </a:moveTo>
                  <a:lnTo>
                    <a:pt x="0" y="92041"/>
                  </a:lnTo>
                  <a:lnTo>
                    <a:pt x="42238" y="0"/>
                  </a:lnTo>
                  <a:lnTo>
                    <a:pt x="83391" y="26267"/>
                  </a:lnTo>
                  <a:lnTo>
                    <a:pt x="88716" y="44887"/>
                  </a:lnTo>
                  <a:lnTo>
                    <a:pt x="86586" y="63466"/>
                  </a:lnTo>
                  <a:lnTo>
                    <a:pt x="77668" y="79889"/>
                  </a:lnTo>
                  <a:lnTo>
                    <a:pt x="62629" y="92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2101964"/>
              <a:ext cx="50977" cy="2941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02924" y="2101971"/>
              <a:ext cx="51435" cy="29845"/>
            </a:xfrm>
            <a:custGeom>
              <a:avLst/>
              <a:gdLst/>
              <a:ahLst/>
              <a:cxnLst/>
              <a:rect l="l" t="t" r="r" b="b"/>
              <a:pathLst>
                <a:path w="51434" h="29844">
                  <a:moveTo>
                    <a:pt x="50970" y="14699"/>
                  </a:moveTo>
                  <a:lnTo>
                    <a:pt x="48967" y="8978"/>
                  </a:lnTo>
                  <a:lnTo>
                    <a:pt x="43506" y="4305"/>
                  </a:lnTo>
                  <a:lnTo>
                    <a:pt x="35404" y="1155"/>
                  </a:lnTo>
                  <a:lnTo>
                    <a:pt x="25481" y="0"/>
                  </a:lnTo>
                  <a:lnTo>
                    <a:pt x="15563" y="1155"/>
                  </a:lnTo>
                  <a:lnTo>
                    <a:pt x="7463" y="4305"/>
                  </a:lnTo>
                  <a:lnTo>
                    <a:pt x="2002" y="8978"/>
                  </a:lnTo>
                  <a:lnTo>
                    <a:pt x="0" y="14699"/>
                  </a:lnTo>
                  <a:lnTo>
                    <a:pt x="2002" y="20421"/>
                  </a:lnTo>
                  <a:lnTo>
                    <a:pt x="7463" y="25093"/>
                  </a:lnTo>
                  <a:lnTo>
                    <a:pt x="15563" y="28244"/>
                  </a:lnTo>
                  <a:lnTo>
                    <a:pt x="25481" y="29399"/>
                  </a:lnTo>
                  <a:lnTo>
                    <a:pt x="35404" y="28244"/>
                  </a:lnTo>
                  <a:lnTo>
                    <a:pt x="43506" y="25093"/>
                  </a:lnTo>
                  <a:lnTo>
                    <a:pt x="48967" y="20421"/>
                  </a:lnTo>
                  <a:lnTo>
                    <a:pt x="50970" y="14699"/>
                  </a:lnTo>
                  <a:close/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875" y="2115324"/>
              <a:ext cx="101650" cy="20563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77872" y="2115316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4" h="205739">
                  <a:moveTo>
                    <a:pt x="101071" y="172649"/>
                  </a:moveTo>
                  <a:lnTo>
                    <a:pt x="75913" y="6"/>
                  </a:lnTo>
                  <a:lnTo>
                    <a:pt x="69199" y="8961"/>
                  </a:lnTo>
                  <a:lnTo>
                    <a:pt x="59907" y="14446"/>
                  </a:lnTo>
                  <a:lnTo>
                    <a:pt x="25158" y="0"/>
                  </a:lnTo>
                  <a:lnTo>
                    <a:pt x="0" y="172663"/>
                  </a:lnTo>
                  <a:lnTo>
                    <a:pt x="1390" y="184311"/>
                  </a:lnTo>
                  <a:lnTo>
                    <a:pt x="10112" y="194399"/>
                  </a:lnTo>
                  <a:lnTo>
                    <a:pt x="24754" y="201865"/>
                  </a:lnTo>
                  <a:lnTo>
                    <a:pt x="43903" y="205648"/>
                  </a:lnTo>
                  <a:lnTo>
                    <a:pt x="64095" y="204845"/>
                  </a:lnTo>
                  <a:lnTo>
                    <a:pt x="81580" y="199814"/>
                  </a:lnTo>
                  <a:lnTo>
                    <a:pt x="94519" y="191370"/>
                  </a:lnTo>
                  <a:lnTo>
                    <a:pt x="101071" y="180327"/>
                  </a:lnTo>
                  <a:lnTo>
                    <a:pt x="101651" y="177784"/>
                  </a:lnTo>
                  <a:lnTo>
                    <a:pt x="101651" y="175200"/>
                  </a:lnTo>
                  <a:lnTo>
                    <a:pt x="101071" y="172656"/>
                  </a:lnTo>
                  <a:close/>
                </a:path>
              </a:pathLst>
            </a:custGeom>
            <a:ln w="6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670" y="1970112"/>
              <a:ext cx="25488" cy="2556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15664" y="1970110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25488" y="12785"/>
                  </a:moveTo>
                  <a:lnTo>
                    <a:pt x="25488" y="5722"/>
                  </a:lnTo>
                  <a:lnTo>
                    <a:pt x="19784" y="0"/>
                  </a:lnTo>
                  <a:lnTo>
                    <a:pt x="12744" y="0"/>
                  </a:lnTo>
                  <a:lnTo>
                    <a:pt x="5711" y="0"/>
                  </a:lnTo>
                  <a:lnTo>
                    <a:pt x="0" y="5722"/>
                  </a:lnTo>
                  <a:lnTo>
                    <a:pt x="0" y="12785"/>
                  </a:lnTo>
                  <a:lnTo>
                    <a:pt x="0" y="19847"/>
                  </a:lnTo>
                  <a:lnTo>
                    <a:pt x="5711" y="25570"/>
                  </a:lnTo>
                  <a:lnTo>
                    <a:pt x="12744" y="25570"/>
                  </a:lnTo>
                  <a:lnTo>
                    <a:pt x="19784" y="25570"/>
                  </a:lnTo>
                  <a:lnTo>
                    <a:pt x="25488" y="19847"/>
                  </a:lnTo>
                  <a:lnTo>
                    <a:pt x="25488" y="12785"/>
                  </a:lnTo>
                  <a:close/>
                </a:path>
              </a:pathLst>
            </a:custGeom>
            <a:ln w="64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8409" y="1995676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120994"/>
                  </a:moveTo>
                  <a:lnTo>
                    <a:pt x="0" y="0"/>
                  </a:lnTo>
                </a:path>
              </a:pathLst>
            </a:custGeom>
            <a:ln w="6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4692" y="1937695"/>
              <a:ext cx="127635" cy="90805"/>
            </a:xfrm>
            <a:custGeom>
              <a:avLst/>
              <a:gdLst/>
              <a:ahLst/>
              <a:cxnLst/>
              <a:rect l="l" t="t" r="r" b="b"/>
              <a:pathLst>
                <a:path w="127634" h="90805">
                  <a:moveTo>
                    <a:pt x="36685" y="18082"/>
                  </a:moveTo>
                  <a:lnTo>
                    <a:pt x="28287" y="30769"/>
                  </a:lnTo>
                  <a:lnTo>
                    <a:pt x="25488" y="45202"/>
                  </a:lnTo>
                  <a:lnTo>
                    <a:pt x="28287" y="59634"/>
                  </a:lnTo>
                  <a:lnTo>
                    <a:pt x="36685" y="72321"/>
                  </a:lnTo>
                </a:path>
                <a:path w="127634" h="90805">
                  <a:moveTo>
                    <a:pt x="90751" y="72321"/>
                  </a:moveTo>
                  <a:lnTo>
                    <a:pt x="99144" y="59631"/>
                  </a:lnTo>
                  <a:lnTo>
                    <a:pt x="101942" y="45199"/>
                  </a:lnTo>
                  <a:lnTo>
                    <a:pt x="99144" y="30768"/>
                  </a:lnTo>
                  <a:lnTo>
                    <a:pt x="90751" y="18082"/>
                  </a:lnTo>
                </a:path>
                <a:path w="127634" h="90805">
                  <a:moveTo>
                    <a:pt x="18661" y="0"/>
                  </a:moveTo>
                  <a:lnTo>
                    <a:pt x="4665" y="21145"/>
                  </a:lnTo>
                  <a:lnTo>
                    <a:pt x="0" y="45198"/>
                  </a:lnTo>
                  <a:lnTo>
                    <a:pt x="4665" y="69252"/>
                  </a:lnTo>
                  <a:lnTo>
                    <a:pt x="18661" y="90397"/>
                  </a:lnTo>
                </a:path>
                <a:path w="127634" h="90805">
                  <a:moveTo>
                    <a:pt x="108775" y="90397"/>
                  </a:moveTo>
                  <a:lnTo>
                    <a:pt x="122767" y="69253"/>
                  </a:lnTo>
                  <a:lnTo>
                    <a:pt x="127431" y="45201"/>
                  </a:lnTo>
                  <a:lnTo>
                    <a:pt x="122767" y="21147"/>
                  </a:lnTo>
                  <a:lnTo>
                    <a:pt x="108775" y="0"/>
                  </a:lnTo>
                </a:path>
              </a:pathLst>
            </a:custGeom>
            <a:ln w="64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7870" y="1970111"/>
              <a:ext cx="102235" cy="351155"/>
            </a:xfrm>
            <a:custGeom>
              <a:avLst/>
              <a:gdLst/>
              <a:ahLst/>
              <a:cxnLst/>
              <a:rect l="l" t="t" r="r" b="b"/>
              <a:pathLst>
                <a:path w="102234" h="351155">
                  <a:moveTo>
                    <a:pt x="50539" y="131858"/>
                  </a:moveTo>
                  <a:lnTo>
                    <a:pt x="0" y="317868"/>
                  </a:lnTo>
                  <a:lnTo>
                    <a:pt x="1390" y="329516"/>
                  </a:lnTo>
                  <a:lnTo>
                    <a:pt x="10112" y="339603"/>
                  </a:lnTo>
                  <a:lnTo>
                    <a:pt x="24754" y="347067"/>
                  </a:lnTo>
                  <a:lnTo>
                    <a:pt x="43903" y="350846"/>
                  </a:lnTo>
                  <a:lnTo>
                    <a:pt x="64099" y="350047"/>
                  </a:lnTo>
                  <a:lnTo>
                    <a:pt x="81586" y="345018"/>
                  </a:lnTo>
                  <a:lnTo>
                    <a:pt x="94525" y="336575"/>
                  </a:lnTo>
                  <a:lnTo>
                    <a:pt x="101078" y="325533"/>
                  </a:lnTo>
                  <a:lnTo>
                    <a:pt x="101657" y="322989"/>
                  </a:lnTo>
                  <a:lnTo>
                    <a:pt x="101657" y="320405"/>
                  </a:lnTo>
                  <a:lnTo>
                    <a:pt x="101078" y="317861"/>
                  </a:lnTo>
                  <a:lnTo>
                    <a:pt x="76108" y="146544"/>
                  </a:lnTo>
                  <a:lnTo>
                    <a:pt x="74080" y="140820"/>
                  </a:lnTo>
                  <a:lnTo>
                    <a:pt x="68596" y="136149"/>
                  </a:lnTo>
                  <a:lnTo>
                    <a:pt x="60475" y="133004"/>
                  </a:lnTo>
                  <a:lnTo>
                    <a:pt x="50539" y="131858"/>
                  </a:lnTo>
                </a:path>
                <a:path w="102234" h="351155">
                  <a:moveTo>
                    <a:pt x="63283" y="12785"/>
                  </a:moveTo>
                  <a:lnTo>
                    <a:pt x="63283" y="5722"/>
                  </a:lnTo>
                  <a:lnTo>
                    <a:pt x="57578" y="0"/>
                  </a:lnTo>
                  <a:lnTo>
                    <a:pt x="50539" y="0"/>
                  </a:lnTo>
                  <a:lnTo>
                    <a:pt x="43499" y="0"/>
                  </a:lnTo>
                  <a:lnTo>
                    <a:pt x="37794" y="5722"/>
                  </a:lnTo>
                  <a:lnTo>
                    <a:pt x="37794" y="12785"/>
                  </a:lnTo>
                  <a:lnTo>
                    <a:pt x="37794" y="19847"/>
                  </a:lnTo>
                  <a:lnTo>
                    <a:pt x="43499" y="25570"/>
                  </a:lnTo>
                  <a:lnTo>
                    <a:pt x="50539" y="25570"/>
                  </a:lnTo>
                  <a:lnTo>
                    <a:pt x="57578" y="25570"/>
                  </a:lnTo>
                  <a:lnTo>
                    <a:pt x="63283" y="19847"/>
                  </a:lnTo>
                  <a:lnTo>
                    <a:pt x="63283" y="12785"/>
                  </a:lnTo>
                  <a:close/>
                </a:path>
                <a:path w="102234" h="351155">
                  <a:moveTo>
                    <a:pt x="50539" y="131858"/>
                  </a:moveTo>
                  <a:lnTo>
                    <a:pt x="50539" y="25570"/>
                  </a:lnTo>
                </a:path>
              </a:pathLst>
            </a:custGeom>
            <a:ln w="1350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726227" y="2116672"/>
              <a:ext cx="1096010" cy="409575"/>
            </a:xfrm>
            <a:custGeom>
              <a:avLst/>
              <a:gdLst/>
              <a:ahLst/>
              <a:cxnLst/>
              <a:rect l="l" t="t" r="r" b="b"/>
              <a:pathLst>
                <a:path w="1096010" h="409575">
                  <a:moveTo>
                    <a:pt x="547939" y="409077"/>
                  </a:moveTo>
                  <a:lnTo>
                    <a:pt x="479206" y="407484"/>
                  </a:lnTo>
                  <a:lnTo>
                    <a:pt x="413021" y="402830"/>
                  </a:lnTo>
                  <a:lnTo>
                    <a:pt x="349897" y="395309"/>
                  </a:lnTo>
                  <a:lnTo>
                    <a:pt x="290349" y="385112"/>
                  </a:lnTo>
                  <a:lnTo>
                    <a:pt x="234888" y="372431"/>
                  </a:lnTo>
                  <a:lnTo>
                    <a:pt x="184029" y="357456"/>
                  </a:lnTo>
                  <a:lnTo>
                    <a:pt x="138286" y="340381"/>
                  </a:lnTo>
                  <a:lnTo>
                    <a:pt x="98171" y="321396"/>
                  </a:lnTo>
                  <a:lnTo>
                    <a:pt x="64199" y="300693"/>
                  </a:lnTo>
                  <a:lnTo>
                    <a:pt x="16734" y="254901"/>
                  </a:lnTo>
                  <a:lnTo>
                    <a:pt x="0" y="204538"/>
                  </a:lnTo>
                  <a:lnTo>
                    <a:pt x="4269" y="178881"/>
                  </a:lnTo>
                  <a:lnTo>
                    <a:pt x="36882" y="130612"/>
                  </a:lnTo>
                  <a:lnTo>
                    <a:pt x="98171" y="87681"/>
                  </a:lnTo>
                  <a:lnTo>
                    <a:pt x="138286" y="68696"/>
                  </a:lnTo>
                  <a:lnTo>
                    <a:pt x="184029" y="51620"/>
                  </a:lnTo>
                  <a:lnTo>
                    <a:pt x="234888" y="36646"/>
                  </a:lnTo>
                  <a:lnTo>
                    <a:pt x="290349" y="23964"/>
                  </a:lnTo>
                  <a:lnTo>
                    <a:pt x="349897" y="13767"/>
                  </a:lnTo>
                  <a:lnTo>
                    <a:pt x="413021" y="6246"/>
                  </a:lnTo>
                  <a:lnTo>
                    <a:pt x="479206" y="1593"/>
                  </a:lnTo>
                  <a:lnTo>
                    <a:pt x="547939" y="0"/>
                  </a:lnTo>
                  <a:lnTo>
                    <a:pt x="616670" y="1593"/>
                  </a:lnTo>
                  <a:lnTo>
                    <a:pt x="682854" y="6246"/>
                  </a:lnTo>
                  <a:lnTo>
                    <a:pt x="745977" y="13767"/>
                  </a:lnTo>
                  <a:lnTo>
                    <a:pt x="805525" y="23964"/>
                  </a:lnTo>
                  <a:lnTo>
                    <a:pt x="860986" y="36646"/>
                  </a:lnTo>
                  <a:lnTo>
                    <a:pt x="911845" y="51620"/>
                  </a:lnTo>
                  <a:lnTo>
                    <a:pt x="957589" y="68696"/>
                  </a:lnTo>
                  <a:lnTo>
                    <a:pt x="997704" y="87681"/>
                  </a:lnTo>
                  <a:lnTo>
                    <a:pt x="1031677" y="108383"/>
                  </a:lnTo>
                  <a:lnTo>
                    <a:pt x="1079143" y="154175"/>
                  </a:lnTo>
                  <a:lnTo>
                    <a:pt x="1095878" y="204538"/>
                  </a:lnTo>
                  <a:lnTo>
                    <a:pt x="1091608" y="230195"/>
                  </a:lnTo>
                  <a:lnTo>
                    <a:pt x="1058994" y="278465"/>
                  </a:lnTo>
                  <a:lnTo>
                    <a:pt x="997704" y="321396"/>
                  </a:lnTo>
                  <a:lnTo>
                    <a:pt x="957589" y="340381"/>
                  </a:lnTo>
                  <a:lnTo>
                    <a:pt x="911845" y="357456"/>
                  </a:lnTo>
                  <a:lnTo>
                    <a:pt x="860986" y="372431"/>
                  </a:lnTo>
                  <a:lnTo>
                    <a:pt x="805525" y="385112"/>
                  </a:lnTo>
                  <a:lnTo>
                    <a:pt x="745977" y="395309"/>
                  </a:lnTo>
                  <a:lnTo>
                    <a:pt x="682854" y="402830"/>
                  </a:lnTo>
                  <a:lnTo>
                    <a:pt x="616670" y="407484"/>
                  </a:lnTo>
                  <a:lnTo>
                    <a:pt x="547939" y="409077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26227" y="2116672"/>
              <a:ext cx="1096010" cy="409575"/>
            </a:xfrm>
            <a:custGeom>
              <a:avLst/>
              <a:gdLst/>
              <a:ahLst/>
              <a:cxnLst/>
              <a:rect l="l" t="t" r="r" b="b"/>
              <a:pathLst>
                <a:path w="1096010" h="409575">
                  <a:moveTo>
                    <a:pt x="0" y="204538"/>
                  </a:moveTo>
                  <a:lnTo>
                    <a:pt x="16734" y="154175"/>
                  </a:lnTo>
                  <a:lnTo>
                    <a:pt x="64199" y="108383"/>
                  </a:lnTo>
                  <a:lnTo>
                    <a:pt x="98171" y="87681"/>
                  </a:lnTo>
                  <a:lnTo>
                    <a:pt x="138286" y="68696"/>
                  </a:lnTo>
                  <a:lnTo>
                    <a:pt x="184029" y="51620"/>
                  </a:lnTo>
                  <a:lnTo>
                    <a:pt x="234888" y="36646"/>
                  </a:lnTo>
                  <a:lnTo>
                    <a:pt x="290349" y="23964"/>
                  </a:lnTo>
                  <a:lnTo>
                    <a:pt x="349897" y="13767"/>
                  </a:lnTo>
                  <a:lnTo>
                    <a:pt x="413021" y="6246"/>
                  </a:lnTo>
                  <a:lnTo>
                    <a:pt x="479206" y="1593"/>
                  </a:lnTo>
                  <a:lnTo>
                    <a:pt x="547939" y="0"/>
                  </a:lnTo>
                  <a:lnTo>
                    <a:pt x="616670" y="1593"/>
                  </a:lnTo>
                  <a:lnTo>
                    <a:pt x="682854" y="6246"/>
                  </a:lnTo>
                  <a:lnTo>
                    <a:pt x="745977" y="13767"/>
                  </a:lnTo>
                  <a:lnTo>
                    <a:pt x="805525" y="23964"/>
                  </a:lnTo>
                  <a:lnTo>
                    <a:pt x="860986" y="36646"/>
                  </a:lnTo>
                  <a:lnTo>
                    <a:pt x="911845" y="51620"/>
                  </a:lnTo>
                  <a:lnTo>
                    <a:pt x="957589" y="68696"/>
                  </a:lnTo>
                  <a:lnTo>
                    <a:pt x="997704" y="87681"/>
                  </a:lnTo>
                  <a:lnTo>
                    <a:pt x="1031677" y="108383"/>
                  </a:lnTo>
                  <a:lnTo>
                    <a:pt x="1079143" y="154175"/>
                  </a:lnTo>
                  <a:lnTo>
                    <a:pt x="1095878" y="204538"/>
                  </a:lnTo>
                  <a:lnTo>
                    <a:pt x="1091608" y="230195"/>
                  </a:lnTo>
                  <a:lnTo>
                    <a:pt x="1058994" y="278465"/>
                  </a:lnTo>
                  <a:lnTo>
                    <a:pt x="997704" y="321396"/>
                  </a:lnTo>
                  <a:lnTo>
                    <a:pt x="957589" y="340381"/>
                  </a:lnTo>
                  <a:lnTo>
                    <a:pt x="911845" y="357456"/>
                  </a:lnTo>
                  <a:lnTo>
                    <a:pt x="860986" y="372431"/>
                  </a:lnTo>
                  <a:lnTo>
                    <a:pt x="805525" y="385112"/>
                  </a:lnTo>
                  <a:lnTo>
                    <a:pt x="745977" y="395309"/>
                  </a:lnTo>
                  <a:lnTo>
                    <a:pt x="682854" y="402830"/>
                  </a:lnTo>
                  <a:lnTo>
                    <a:pt x="616670" y="407484"/>
                  </a:lnTo>
                  <a:lnTo>
                    <a:pt x="547939" y="409077"/>
                  </a:lnTo>
                  <a:lnTo>
                    <a:pt x="479206" y="407484"/>
                  </a:lnTo>
                  <a:lnTo>
                    <a:pt x="413021" y="402830"/>
                  </a:lnTo>
                  <a:lnTo>
                    <a:pt x="349897" y="395309"/>
                  </a:lnTo>
                  <a:lnTo>
                    <a:pt x="290349" y="385112"/>
                  </a:lnTo>
                  <a:lnTo>
                    <a:pt x="234888" y="372431"/>
                  </a:lnTo>
                  <a:lnTo>
                    <a:pt x="184029" y="357456"/>
                  </a:lnTo>
                  <a:lnTo>
                    <a:pt x="138286" y="340381"/>
                  </a:lnTo>
                  <a:lnTo>
                    <a:pt x="98171" y="321396"/>
                  </a:lnTo>
                  <a:lnTo>
                    <a:pt x="64199" y="300693"/>
                  </a:lnTo>
                  <a:lnTo>
                    <a:pt x="16734" y="254901"/>
                  </a:lnTo>
                  <a:lnTo>
                    <a:pt x="0" y="20453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382216" y="2220122"/>
            <a:ext cx="35687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535" algn="l"/>
              </a:tabLst>
            </a:pPr>
            <a:r>
              <a:rPr dirty="0" u="dash" sz="1000">
                <a:uFill>
                  <a:solidFill>
                    <a:srgbClr val="4677BF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174040" y="2220122"/>
            <a:ext cx="20066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imes New Roman"/>
                <a:cs typeface="Times New Roman"/>
              </a:rPr>
              <a:t>NR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45708" y="1578483"/>
            <a:ext cx="1811655" cy="1618615"/>
            <a:chOff x="845708" y="1578483"/>
            <a:chExt cx="1811655" cy="1618615"/>
          </a:xfrm>
        </p:grpSpPr>
        <p:sp>
          <p:nvSpPr>
            <p:cNvPr id="23" name="object 23" descr=""/>
            <p:cNvSpPr/>
            <p:nvPr/>
          </p:nvSpPr>
          <p:spPr>
            <a:xfrm>
              <a:off x="2568332" y="2229170"/>
              <a:ext cx="88900" cy="92075"/>
            </a:xfrm>
            <a:custGeom>
              <a:avLst/>
              <a:gdLst/>
              <a:ahLst/>
              <a:cxnLst/>
              <a:rect l="l" t="t" r="r" b="b"/>
              <a:pathLst>
                <a:path w="88900" h="92075">
                  <a:moveTo>
                    <a:pt x="62629" y="92041"/>
                  </a:moveTo>
                  <a:lnTo>
                    <a:pt x="0" y="92041"/>
                  </a:lnTo>
                  <a:lnTo>
                    <a:pt x="42238" y="0"/>
                  </a:lnTo>
                  <a:lnTo>
                    <a:pt x="83384" y="26267"/>
                  </a:lnTo>
                  <a:lnTo>
                    <a:pt x="88713" y="44887"/>
                  </a:lnTo>
                  <a:lnTo>
                    <a:pt x="86585" y="63466"/>
                  </a:lnTo>
                  <a:lnTo>
                    <a:pt x="77668" y="79889"/>
                  </a:lnTo>
                  <a:lnTo>
                    <a:pt x="62629" y="92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1752" y="2101964"/>
              <a:ext cx="50977" cy="2941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541763" y="2101971"/>
              <a:ext cx="51435" cy="29845"/>
            </a:xfrm>
            <a:custGeom>
              <a:avLst/>
              <a:gdLst/>
              <a:ahLst/>
              <a:cxnLst/>
              <a:rect l="l" t="t" r="r" b="b"/>
              <a:pathLst>
                <a:path w="51435" h="29844">
                  <a:moveTo>
                    <a:pt x="50970" y="14699"/>
                  </a:moveTo>
                  <a:lnTo>
                    <a:pt x="48967" y="8978"/>
                  </a:lnTo>
                  <a:lnTo>
                    <a:pt x="43506" y="4305"/>
                  </a:lnTo>
                  <a:lnTo>
                    <a:pt x="35404" y="1155"/>
                  </a:lnTo>
                  <a:lnTo>
                    <a:pt x="25481" y="0"/>
                  </a:lnTo>
                  <a:lnTo>
                    <a:pt x="15563" y="1155"/>
                  </a:lnTo>
                  <a:lnTo>
                    <a:pt x="7463" y="4305"/>
                  </a:lnTo>
                  <a:lnTo>
                    <a:pt x="2002" y="8978"/>
                  </a:lnTo>
                  <a:lnTo>
                    <a:pt x="0" y="14699"/>
                  </a:lnTo>
                  <a:lnTo>
                    <a:pt x="2002" y="20421"/>
                  </a:lnTo>
                  <a:lnTo>
                    <a:pt x="7463" y="25093"/>
                  </a:lnTo>
                  <a:lnTo>
                    <a:pt x="15563" y="28244"/>
                  </a:lnTo>
                  <a:lnTo>
                    <a:pt x="25481" y="29399"/>
                  </a:lnTo>
                  <a:lnTo>
                    <a:pt x="35404" y="28244"/>
                  </a:lnTo>
                  <a:lnTo>
                    <a:pt x="43506" y="25093"/>
                  </a:lnTo>
                  <a:lnTo>
                    <a:pt x="48967" y="20421"/>
                  </a:lnTo>
                  <a:lnTo>
                    <a:pt x="50970" y="14699"/>
                  </a:lnTo>
                  <a:close/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6720" y="2115324"/>
              <a:ext cx="101638" cy="20563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516710" y="2115316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101071" y="172649"/>
                  </a:moveTo>
                  <a:lnTo>
                    <a:pt x="75913" y="6"/>
                  </a:lnTo>
                  <a:lnTo>
                    <a:pt x="69199" y="8961"/>
                  </a:lnTo>
                  <a:lnTo>
                    <a:pt x="59907" y="14446"/>
                  </a:lnTo>
                  <a:lnTo>
                    <a:pt x="25158" y="0"/>
                  </a:lnTo>
                  <a:lnTo>
                    <a:pt x="0" y="172663"/>
                  </a:lnTo>
                  <a:lnTo>
                    <a:pt x="1390" y="184311"/>
                  </a:lnTo>
                  <a:lnTo>
                    <a:pt x="10112" y="194399"/>
                  </a:lnTo>
                  <a:lnTo>
                    <a:pt x="24754" y="201865"/>
                  </a:lnTo>
                  <a:lnTo>
                    <a:pt x="43903" y="205648"/>
                  </a:lnTo>
                  <a:lnTo>
                    <a:pt x="64095" y="204845"/>
                  </a:lnTo>
                  <a:lnTo>
                    <a:pt x="81580" y="199814"/>
                  </a:lnTo>
                  <a:lnTo>
                    <a:pt x="94519" y="191370"/>
                  </a:lnTo>
                  <a:lnTo>
                    <a:pt x="101071" y="180327"/>
                  </a:lnTo>
                  <a:lnTo>
                    <a:pt x="101651" y="177784"/>
                  </a:lnTo>
                  <a:lnTo>
                    <a:pt x="101651" y="175200"/>
                  </a:lnTo>
                  <a:lnTo>
                    <a:pt x="101071" y="172656"/>
                  </a:lnTo>
                  <a:close/>
                </a:path>
              </a:pathLst>
            </a:custGeom>
            <a:ln w="6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4503" y="1970112"/>
              <a:ext cx="25488" cy="25565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2554502" y="1970110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5">
                  <a:moveTo>
                    <a:pt x="25488" y="12785"/>
                  </a:moveTo>
                  <a:lnTo>
                    <a:pt x="25488" y="5722"/>
                  </a:lnTo>
                  <a:lnTo>
                    <a:pt x="19784" y="0"/>
                  </a:lnTo>
                  <a:lnTo>
                    <a:pt x="12744" y="0"/>
                  </a:lnTo>
                  <a:lnTo>
                    <a:pt x="5711" y="0"/>
                  </a:lnTo>
                  <a:lnTo>
                    <a:pt x="0" y="5722"/>
                  </a:lnTo>
                  <a:lnTo>
                    <a:pt x="0" y="12785"/>
                  </a:lnTo>
                  <a:lnTo>
                    <a:pt x="0" y="19847"/>
                  </a:lnTo>
                  <a:lnTo>
                    <a:pt x="5711" y="25570"/>
                  </a:lnTo>
                  <a:lnTo>
                    <a:pt x="12744" y="25570"/>
                  </a:lnTo>
                  <a:lnTo>
                    <a:pt x="19784" y="25570"/>
                  </a:lnTo>
                  <a:lnTo>
                    <a:pt x="25488" y="19847"/>
                  </a:lnTo>
                  <a:lnTo>
                    <a:pt x="25488" y="12785"/>
                  </a:lnTo>
                  <a:close/>
                </a:path>
              </a:pathLst>
            </a:custGeom>
            <a:ln w="64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567248" y="1995676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5">
                  <a:moveTo>
                    <a:pt x="0" y="120994"/>
                  </a:moveTo>
                  <a:lnTo>
                    <a:pt x="0" y="0"/>
                  </a:lnTo>
                </a:path>
              </a:pathLst>
            </a:custGeom>
            <a:ln w="6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503531" y="1937695"/>
              <a:ext cx="127635" cy="90805"/>
            </a:xfrm>
            <a:custGeom>
              <a:avLst/>
              <a:gdLst/>
              <a:ahLst/>
              <a:cxnLst/>
              <a:rect l="l" t="t" r="r" b="b"/>
              <a:pathLst>
                <a:path w="127635" h="90805">
                  <a:moveTo>
                    <a:pt x="36685" y="18082"/>
                  </a:moveTo>
                  <a:lnTo>
                    <a:pt x="28287" y="30769"/>
                  </a:lnTo>
                  <a:lnTo>
                    <a:pt x="25488" y="45202"/>
                  </a:lnTo>
                  <a:lnTo>
                    <a:pt x="28287" y="59634"/>
                  </a:lnTo>
                  <a:lnTo>
                    <a:pt x="36685" y="72321"/>
                  </a:lnTo>
                </a:path>
                <a:path w="127635" h="90805">
                  <a:moveTo>
                    <a:pt x="90751" y="72321"/>
                  </a:moveTo>
                  <a:lnTo>
                    <a:pt x="99144" y="59631"/>
                  </a:lnTo>
                  <a:lnTo>
                    <a:pt x="101942" y="45199"/>
                  </a:lnTo>
                  <a:lnTo>
                    <a:pt x="99144" y="30768"/>
                  </a:lnTo>
                  <a:lnTo>
                    <a:pt x="90751" y="18082"/>
                  </a:lnTo>
                </a:path>
                <a:path w="127635" h="90805">
                  <a:moveTo>
                    <a:pt x="18661" y="0"/>
                  </a:moveTo>
                  <a:lnTo>
                    <a:pt x="4665" y="21145"/>
                  </a:lnTo>
                  <a:lnTo>
                    <a:pt x="0" y="45198"/>
                  </a:lnTo>
                  <a:lnTo>
                    <a:pt x="4665" y="69252"/>
                  </a:lnTo>
                  <a:lnTo>
                    <a:pt x="18661" y="90397"/>
                  </a:lnTo>
                </a:path>
                <a:path w="127635" h="90805">
                  <a:moveTo>
                    <a:pt x="108775" y="90397"/>
                  </a:moveTo>
                  <a:lnTo>
                    <a:pt x="122767" y="69253"/>
                  </a:lnTo>
                  <a:lnTo>
                    <a:pt x="127431" y="45201"/>
                  </a:lnTo>
                  <a:lnTo>
                    <a:pt x="122767" y="21147"/>
                  </a:lnTo>
                  <a:lnTo>
                    <a:pt x="108775" y="0"/>
                  </a:lnTo>
                </a:path>
              </a:pathLst>
            </a:custGeom>
            <a:ln w="64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16709" y="1970111"/>
              <a:ext cx="102235" cy="351155"/>
            </a:xfrm>
            <a:custGeom>
              <a:avLst/>
              <a:gdLst/>
              <a:ahLst/>
              <a:cxnLst/>
              <a:rect l="l" t="t" r="r" b="b"/>
              <a:pathLst>
                <a:path w="102235" h="351155">
                  <a:moveTo>
                    <a:pt x="50539" y="131858"/>
                  </a:moveTo>
                  <a:lnTo>
                    <a:pt x="0" y="317868"/>
                  </a:lnTo>
                  <a:lnTo>
                    <a:pt x="1390" y="329516"/>
                  </a:lnTo>
                  <a:lnTo>
                    <a:pt x="10112" y="339603"/>
                  </a:lnTo>
                  <a:lnTo>
                    <a:pt x="24754" y="347067"/>
                  </a:lnTo>
                  <a:lnTo>
                    <a:pt x="43903" y="350846"/>
                  </a:lnTo>
                  <a:lnTo>
                    <a:pt x="64099" y="350047"/>
                  </a:lnTo>
                  <a:lnTo>
                    <a:pt x="81586" y="345018"/>
                  </a:lnTo>
                  <a:lnTo>
                    <a:pt x="94525" y="336575"/>
                  </a:lnTo>
                  <a:lnTo>
                    <a:pt x="101078" y="325533"/>
                  </a:lnTo>
                  <a:lnTo>
                    <a:pt x="101657" y="322989"/>
                  </a:lnTo>
                  <a:lnTo>
                    <a:pt x="101657" y="320405"/>
                  </a:lnTo>
                  <a:lnTo>
                    <a:pt x="101078" y="317861"/>
                  </a:lnTo>
                  <a:lnTo>
                    <a:pt x="76108" y="146544"/>
                  </a:lnTo>
                  <a:lnTo>
                    <a:pt x="74080" y="140820"/>
                  </a:lnTo>
                  <a:lnTo>
                    <a:pt x="68596" y="136149"/>
                  </a:lnTo>
                  <a:lnTo>
                    <a:pt x="60475" y="133004"/>
                  </a:lnTo>
                  <a:lnTo>
                    <a:pt x="50539" y="131858"/>
                  </a:lnTo>
                </a:path>
                <a:path w="102235" h="351155">
                  <a:moveTo>
                    <a:pt x="63283" y="12785"/>
                  </a:moveTo>
                  <a:lnTo>
                    <a:pt x="63283" y="5722"/>
                  </a:lnTo>
                  <a:lnTo>
                    <a:pt x="57578" y="0"/>
                  </a:lnTo>
                  <a:lnTo>
                    <a:pt x="50539" y="0"/>
                  </a:lnTo>
                  <a:lnTo>
                    <a:pt x="43499" y="0"/>
                  </a:lnTo>
                  <a:lnTo>
                    <a:pt x="37794" y="5722"/>
                  </a:lnTo>
                  <a:lnTo>
                    <a:pt x="37794" y="12785"/>
                  </a:lnTo>
                  <a:lnTo>
                    <a:pt x="37794" y="19847"/>
                  </a:lnTo>
                  <a:lnTo>
                    <a:pt x="43499" y="25570"/>
                  </a:lnTo>
                  <a:lnTo>
                    <a:pt x="50539" y="25570"/>
                  </a:lnTo>
                  <a:lnTo>
                    <a:pt x="57578" y="25570"/>
                  </a:lnTo>
                  <a:lnTo>
                    <a:pt x="63283" y="19847"/>
                  </a:lnTo>
                  <a:lnTo>
                    <a:pt x="63283" y="12785"/>
                  </a:lnTo>
                  <a:close/>
                </a:path>
                <a:path w="102235" h="351155">
                  <a:moveTo>
                    <a:pt x="50539" y="131858"/>
                  </a:moveTo>
                  <a:lnTo>
                    <a:pt x="50539" y="25570"/>
                  </a:lnTo>
                </a:path>
              </a:pathLst>
            </a:custGeom>
            <a:ln w="1350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0691" y="1579753"/>
              <a:ext cx="1905" cy="546735"/>
            </a:xfrm>
            <a:custGeom>
              <a:avLst/>
              <a:gdLst/>
              <a:ahLst/>
              <a:cxnLst/>
              <a:rect l="l" t="t" r="r" b="b"/>
              <a:pathLst>
                <a:path w="1905" h="546735">
                  <a:moveTo>
                    <a:pt x="0" y="0"/>
                  </a:moveTo>
                  <a:lnTo>
                    <a:pt x="1881" y="546713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46978" y="1579753"/>
              <a:ext cx="0" cy="537210"/>
            </a:xfrm>
            <a:custGeom>
              <a:avLst/>
              <a:gdLst/>
              <a:ahLst/>
              <a:cxnLst/>
              <a:rect l="l" t="t" r="r" b="b"/>
              <a:pathLst>
                <a:path w="0" h="537210">
                  <a:moveTo>
                    <a:pt x="0" y="0"/>
                  </a:moveTo>
                  <a:lnTo>
                    <a:pt x="0" y="53691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94916" y="2321211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69" h="0">
                  <a:moveTo>
                    <a:pt x="0" y="0"/>
                  </a:moveTo>
                  <a:lnTo>
                    <a:pt x="331312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6690" y="3121240"/>
              <a:ext cx="148729" cy="6850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5855" y="2947098"/>
              <a:ext cx="102972" cy="204224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495851" y="3097651"/>
              <a:ext cx="46990" cy="53975"/>
            </a:xfrm>
            <a:custGeom>
              <a:avLst/>
              <a:gdLst/>
              <a:ahLst/>
              <a:cxnLst/>
              <a:rect l="l" t="t" r="r" b="b"/>
              <a:pathLst>
                <a:path w="46990" h="53975">
                  <a:moveTo>
                    <a:pt x="42067" y="37724"/>
                  </a:moveTo>
                  <a:lnTo>
                    <a:pt x="46083" y="27323"/>
                  </a:lnTo>
                  <a:lnTo>
                    <a:pt x="46542" y="17193"/>
                  </a:lnTo>
                  <a:lnTo>
                    <a:pt x="43592" y="8476"/>
                  </a:lnTo>
                  <a:lnTo>
                    <a:pt x="37387" y="2310"/>
                  </a:lnTo>
                  <a:lnTo>
                    <a:pt x="28963" y="0"/>
                  </a:lnTo>
                  <a:lnTo>
                    <a:pt x="19962" y="1795"/>
                  </a:lnTo>
                  <a:lnTo>
                    <a:pt x="11446" y="7258"/>
                  </a:lnTo>
                  <a:lnTo>
                    <a:pt x="4474" y="15948"/>
                  </a:lnTo>
                  <a:lnTo>
                    <a:pt x="458" y="26353"/>
                  </a:lnTo>
                  <a:lnTo>
                    <a:pt x="0" y="36483"/>
                  </a:lnTo>
                  <a:lnTo>
                    <a:pt x="2949" y="45199"/>
                  </a:lnTo>
                  <a:lnTo>
                    <a:pt x="9154" y="51361"/>
                  </a:lnTo>
                  <a:lnTo>
                    <a:pt x="17581" y="53672"/>
                  </a:lnTo>
                  <a:lnTo>
                    <a:pt x="26581" y="51876"/>
                  </a:lnTo>
                  <a:lnTo>
                    <a:pt x="35096" y="46414"/>
                  </a:lnTo>
                  <a:lnTo>
                    <a:pt x="42067" y="37724"/>
                  </a:lnTo>
                  <a:close/>
                </a:path>
              </a:pathLst>
            </a:custGeom>
            <a:ln w="64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6690" y="3076206"/>
              <a:ext cx="140284" cy="8583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356690" y="3076210"/>
              <a:ext cx="140335" cy="86360"/>
            </a:xfrm>
            <a:custGeom>
              <a:avLst/>
              <a:gdLst/>
              <a:ahLst/>
              <a:cxnLst/>
              <a:rect l="l" t="t" r="r" b="b"/>
              <a:pathLst>
                <a:path w="140334" h="86360">
                  <a:moveTo>
                    <a:pt x="64658" y="0"/>
                  </a:moveTo>
                  <a:lnTo>
                    <a:pt x="21350" y="23951"/>
                  </a:lnTo>
                  <a:lnTo>
                    <a:pt x="0" y="47819"/>
                  </a:lnTo>
                  <a:lnTo>
                    <a:pt x="3997" y="57764"/>
                  </a:lnTo>
                  <a:lnTo>
                    <a:pt x="39748" y="83892"/>
                  </a:lnTo>
                  <a:lnTo>
                    <a:pt x="53414" y="85826"/>
                  </a:lnTo>
                  <a:lnTo>
                    <a:pt x="67213" y="84868"/>
                  </a:lnTo>
                  <a:lnTo>
                    <a:pt x="80700" y="81001"/>
                  </a:lnTo>
                  <a:lnTo>
                    <a:pt x="140288" y="45026"/>
                  </a:lnTo>
                  <a:lnTo>
                    <a:pt x="64658" y="0"/>
                  </a:lnTo>
                  <a:close/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8998" y="2946552"/>
              <a:ext cx="134869" cy="152209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39006" y="2947091"/>
              <a:ext cx="135255" cy="151765"/>
            </a:xfrm>
            <a:custGeom>
              <a:avLst/>
              <a:gdLst/>
              <a:ahLst/>
              <a:cxnLst/>
              <a:rect l="l" t="t" r="r" b="b"/>
              <a:pathLst>
                <a:path w="135255" h="151764">
                  <a:moveTo>
                    <a:pt x="0" y="105678"/>
                  </a:moveTo>
                  <a:lnTo>
                    <a:pt x="78637" y="151679"/>
                  </a:lnTo>
                  <a:lnTo>
                    <a:pt x="83836" y="150623"/>
                  </a:lnTo>
                  <a:lnTo>
                    <a:pt x="128515" y="71733"/>
                  </a:lnTo>
                  <a:lnTo>
                    <a:pt x="134862" y="52973"/>
                  </a:lnTo>
                  <a:lnTo>
                    <a:pt x="133729" y="33974"/>
                  </a:lnTo>
                  <a:lnTo>
                    <a:pt x="108468" y="2360"/>
                  </a:lnTo>
                  <a:lnTo>
                    <a:pt x="102487" y="0"/>
                  </a:lnTo>
                  <a:lnTo>
                    <a:pt x="85677" y="152"/>
                  </a:lnTo>
                  <a:lnTo>
                    <a:pt x="69830" y="5018"/>
                  </a:lnTo>
                  <a:lnTo>
                    <a:pt x="55867" y="14165"/>
                  </a:lnTo>
                  <a:lnTo>
                    <a:pt x="44713" y="27160"/>
                  </a:lnTo>
                  <a:lnTo>
                    <a:pt x="0" y="105678"/>
                  </a:lnTo>
                  <a:close/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1358" y="3052775"/>
              <a:ext cx="96278" cy="6846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421349" y="3052770"/>
              <a:ext cx="96520" cy="68580"/>
            </a:xfrm>
            <a:custGeom>
              <a:avLst/>
              <a:gdLst/>
              <a:ahLst/>
              <a:cxnLst/>
              <a:rect l="l" t="t" r="r" b="b"/>
              <a:pathLst>
                <a:path w="96519" h="68580">
                  <a:moveTo>
                    <a:pt x="0" y="23439"/>
                  </a:moveTo>
                  <a:lnTo>
                    <a:pt x="75629" y="68465"/>
                  </a:lnTo>
                  <a:lnTo>
                    <a:pt x="78739" y="61081"/>
                  </a:lnTo>
                  <a:lnTo>
                    <a:pt x="83364" y="54719"/>
                  </a:lnTo>
                  <a:lnTo>
                    <a:pt x="89288" y="49614"/>
                  </a:lnTo>
                  <a:lnTo>
                    <a:pt x="96297" y="46000"/>
                  </a:lnTo>
                  <a:lnTo>
                    <a:pt x="17653" y="0"/>
                  </a:lnTo>
                  <a:lnTo>
                    <a:pt x="11199" y="4019"/>
                  </a:lnTo>
                  <a:lnTo>
                    <a:pt x="5966" y="9449"/>
                  </a:lnTo>
                  <a:lnTo>
                    <a:pt x="2163" y="16015"/>
                  </a:lnTo>
                  <a:lnTo>
                    <a:pt x="0" y="23439"/>
                  </a:lnTo>
                  <a:close/>
                </a:path>
              </a:pathLst>
            </a:custGeom>
            <a:ln w="64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397369" y="3123221"/>
              <a:ext cx="13335" cy="10160"/>
            </a:xfrm>
            <a:custGeom>
              <a:avLst/>
              <a:gdLst/>
              <a:ahLst/>
              <a:cxnLst/>
              <a:rect l="l" t="t" r="r" b="b"/>
              <a:pathLst>
                <a:path w="13334" h="10160">
                  <a:moveTo>
                    <a:pt x="4389" y="9957"/>
                  </a:moveTo>
                  <a:lnTo>
                    <a:pt x="1207" y="8855"/>
                  </a:lnTo>
                  <a:lnTo>
                    <a:pt x="0" y="4336"/>
                  </a:lnTo>
                  <a:lnTo>
                    <a:pt x="2204" y="1785"/>
                  </a:lnTo>
                  <a:lnTo>
                    <a:pt x="8846" y="0"/>
                  </a:lnTo>
                  <a:lnTo>
                    <a:pt x="12029" y="1102"/>
                  </a:lnTo>
                  <a:lnTo>
                    <a:pt x="12629" y="3362"/>
                  </a:lnTo>
                  <a:lnTo>
                    <a:pt x="13229" y="5621"/>
                  </a:lnTo>
                  <a:lnTo>
                    <a:pt x="11031" y="8171"/>
                  </a:lnTo>
                  <a:lnTo>
                    <a:pt x="4389" y="9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397369" y="3123221"/>
              <a:ext cx="13335" cy="10160"/>
            </a:xfrm>
            <a:custGeom>
              <a:avLst/>
              <a:gdLst/>
              <a:ahLst/>
              <a:cxnLst/>
              <a:rect l="l" t="t" r="r" b="b"/>
              <a:pathLst>
                <a:path w="13334" h="10160">
                  <a:moveTo>
                    <a:pt x="12629" y="3362"/>
                  </a:moveTo>
                  <a:lnTo>
                    <a:pt x="12029" y="1102"/>
                  </a:lnTo>
                  <a:lnTo>
                    <a:pt x="8846" y="0"/>
                  </a:lnTo>
                  <a:lnTo>
                    <a:pt x="5522" y="892"/>
                  </a:lnTo>
                  <a:lnTo>
                    <a:pt x="2204" y="1785"/>
                  </a:lnTo>
                  <a:lnTo>
                    <a:pt x="0" y="4336"/>
                  </a:lnTo>
                  <a:lnTo>
                    <a:pt x="606" y="6595"/>
                  </a:lnTo>
                  <a:lnTo>
                    <a:pt x="1207" y="8855"/>
                  </a:lnTo>
                  <a:lnTo>
                    <a:pt x="4389" y="9957"/>
                  </a:lnTo>
                  <a:lnTo>
                    <a:pt x="7707" y="9064"/>
                  </a:lnTo>
                  <a:lnTo>
                    <a:pt x="11031" y="8171"/>
                  </a:lnTo>
                  <a:lnTo>
                    <a:pt x="13229" y="5621"/>
                  </a:lnTo>
                  <a:lnTo>
                    <a:pt x="12629" y="3362"/>
                  </a:lnTo>
                  <a:close/>
                </a:path>
              </a:pathLst>
            </a:custGeom>
            <a:ln w="6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1683" y="2956420"/>
              <a:ext cx="84511" cy="8096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481677" y="2956417"/>
              <a:ext cx="85090" cy="81280"/>
            </a:xfrm>
            <a:custGeom>
              <a:avLst/>
              <a:gdLst/>
              <a:ahLst/>
              <a:cxnLst/>
              <a:rect l="l" t="t" r="r" b="b"/>
              <a:pathLst>
                <a:path w="85090" h="81280">
                  <a:moveTo>
                    <a:pt x="0" y="41386"/>
                  </a:moveTo>
                  <a:lnTo>
                    <a:pt x="68131" y="80967"/>
                  </a:lnTo>
                  <a:lnTo>
                    <a:pt x="79432" y="59922"/>
                  </a:lnTo>
                  <a:lnTo>
                    <a:pt x="84515" y="44913"/>
                  </a:lnTo>
                  <a:lnTo>
                    <a:pt x="65333" y="5391"/>
                  </a:lnTo>
                  <a:lnTo>
                    <a:pt x="52494" y="0"/>
                  </a:lnTo>
                  <a:lnTo>
                    <a:pt x="45535" y="6"/>
                  </a:lnTo>
                  <a:lnTo>
                    <a:pt x="11658" y="21356"/>
                  </a:lnTo>
                  <a:lnTo>
                    <a:pt x="0" y="41386"/>
                  </a:lnTo>
                  <a:close/>
                </a:path>
              </a:pathLst>
            </a:custGeom>
            <a:ln w="6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56687" y="2946771"/>
              <a:ext cx="242570" cy="243204"/>
            </a:xfrm>
            <a:custGeom>
              <a:avLst/>
              <a:gdLst/>
              <a:ahLst/>
              <a:cxnLst/>
              <a:rect l="l" t="t" r="r" b="b"/>
              <a:pathLst>
                <a:path w="242569" h="243205">
                  <a:moveTo>
                    <a:pt x="82318" y="105998"/>
                  </a:moveTo>
                  <a:lnTo>
                    <a:pt x="75934" y="110090"/>
                  </a:lnTo>
                  <a:lnTo>
                    <a:pt x="70736" y="115531"/>
                  </a:lnTo>
                  <a:lnTo>
                    <a:pt x="66915" y="122065"/>
                  </a:lnTo>
                  <a:lnTo>
                    <a:pt x="64665" y="129438"/>
                  </a:lnTo>
                  <a:lnTo>
                    <a:pt x="7518" y="162348"/>
                  </a:lnTo>
                  <a:lnTo>
                    <a:pt x="2966" y="165920"/>
                  </a:lnTo>
                  <a:lnTo>
                    <a:pt x="209" y="171386"/>
                  </a:lnTo>
                  <a:lnTo>
                    <a:pt x="0" y="177258"/>
                  </a:lnTo>
                  <a:lnTo>
                    <a:pt x="47" y="206076"/>
                  </a:lnTo>
                  <a:lnTo>
                    <a:pt x="27905" y="237600"/>
                  </a:lnTo>
                  <a:lnTo>
                    <a:pt x="52520" y="242713"/>
                  </a:lnTo>
                  <a:lnTo>
                    <a:pt x="63297" y="242614"/>
                  </a:lnTo>
                  <a:lnTo>
                    <a:pt x="73990" y="241234"/>
                  </a:lnTo>
                  <a:lnTo>
                    <a:pt x="84490" y="238580"/>
                  </a:lnTo>
                  <a:lnTo>
                    <a:pt x="145609" y="202456"/>
                  </a:lnTo>
                  <a:lnTo>
                    <a:pt x="154968" y="204416"/>
                  </a:lnTo>
                  <a:lnTo>
                    <a:pt x="185312" y="176493"/>
                  </a:lnTo>
                  <a:lnTo>
                    <a:pt x="183990" y="168477"/>
                  </a:lnTo>
                  <a:lnTo>
                    <a:pt x="240416" y="72533"/>
                  </a:lnTo>
                  <a:lnTo>
                    <a:pt x="242008" y="55830"/>
                  </a:lnTo>
                  <a:lnTo>
                    <a:pt x="238425" y="39872"/>
                  </a:lnTo>
                  <a:lnTo>
                    <a:pt x="230146" y="25871"/>
                  </a:lnTo>
                  <a:lnTo>
                    <a:pt x="217651" y="15039"/>
                  </a:lnTo>
                  <a:lnTo>
                    <a:pt x="184806" y="319"/>
                  </a:lnTo>
                  <a:lnTo>
                    <a:pt x="167812" y="0"/>
                  </a:lnTo>
                  <a:lnTo>
                    <a:pt x="151827" y="4744"/>
                  </a:lnTo>
                  <a:lnTo>
                    <a:pt x="137889" y="14066"/>
                  </a:lnTo>
                  <a:lnTo>
                    <a:pt x="127032" y="27479"/>
                  </a:lnTo>
                  <a:lnTo>
                    <a:pt x="82318" y="105998"/>
                  </a:lnTo>
                </a:path>
              </a:pathLst>
            </a:custGeom>
            <a:ln w="1350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9407" y="3010750"/>
              <a:ext cx="73406" cy="7189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65956" y="3013155"/>
              <a:ext cx="65621" cy="6830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846978" y="2525752"/>
              <a:ext cx="522605" cy="434975"/>
            </a:xfrm>
            <a:custGeom>
              <a:avLst/>
              <a:gdLst/>
              <a:ahLst/>
              <a:cxnLst/>
              <a:rect l="l" t="t" r="r" b="b"/>
              <a:pathLst>
                <a:path w="522605" h="434975">
                  <a:moveTo>
                    <a:pt x="0" y="0"/>
                  </a:moveTo>
                  <a:lnTo>
                    <a:pt x="522450" y="43464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27682" y="2514607"/>
              <a:ext cx="522605" cy="434975"/>
            </a:xfrm>
            <a:custGeom>
              <a:avLst/>
              <a:gdLst/>
              <a:ahLst/>
              <a:cxnLst/>
              <a:rect l="l" t="t" r="r" b="b"/>
              <a:pathLst>
                <a:path w="522605" h="434975">
                  <a:moveTo>
                    <a:pt x="0" y="0"/>
                  </a:moveTo>
                  <a:lnTo>
                    <a:pt x="522450" y="434648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675255" y="2525752"/>
              <a:ext cx="599440" cy="434975"/>
            </a:xfrm>
            <a:custGeom>
              <a:avLst/>
              <a:gdLst/>
              <a:ahLst/>
              <a:cxnLst/>
              <a:rect l="l" t="t" r="r" b="b"/>
              <a:pathLst>
                <a:path w="599439" h="434975">
                  <a:moveTo>
                    <a:pt x="598909" y="0"/>
                  </a:moveTo>
                  <a:lnTo>
                    <a:pt x="0" y="43464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2402846" y="139319"/>
            <a:ext cx="45853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SA&amp;NSA</a:t>
            </a:r>
            <a:r>
              <a:rPr dirty="0" spc="-10" b="0">
                <a:latin typeface="Times New Roman"/>
                <a:cs typeface="Times New Roman"/>
              </a:rPr>
              <a:t> – </a:t>
            </a:r>
            <a:r>
              <a:rPr dirty="0" spc="-20" b="0">
                <a:latin typeface="Times New Roman"/>
                <a:cs typeface="Times New Roman"/>
              </a:rPr>
              <a:t>OPTION3</a:t>
            </a:r>
            <a:r>
              <a:rPr dirty="0" spc="-45"/>
              <a:t>系列</a:t>
            </a:r>
          </a:p>
        </p:txBody>
      </p:sp>
      <p:sp>
        <p:nvSpPr>
          <p:cNvPr id="56" name="object 56" descr=""/>
          <p:cNvSpPr txBox="1"/>
          <p:nvPr/>
        </p:nvSpPr>
        <p:spPr>
          <a:xfrm>
            <a:off x="499973" y="798509"/>
            <a:ext cx="12007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3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8656" y="3790160"/>
            <a:ext cx="2785745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+LTE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marL="182245" marR="5080" indent="-170180">
              <a:lnSpc>
                <a:spcPct val="13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5">
                <a:latin typeface="Microsoft YaHei"/>
                <a:cs typeface="Microsoft YaHei"/>
              </a:rPr>
              <a:t>承载并转发，用户面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数据由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eNB</a:t>
            </a:r>
            <a:r>
              <a:rPr dirty="0" sz="1400" spc="-20">
                <a:latin typeface="Microsoft YaHei"/>
                <a:cs typeface="Microsoft YaHei"/>
              </a:rPr>
              <a:t>分流给</a:t>
            </a:r>
            <a:r>
              <a:rPr dirty="0" sz="1400">
                <a:latin typeface="Microsoft YaHei"/>
                <a:cs typeface="Microsoft YaHei"/>
              </a:rPr>
              <a:t>5G</a:t>
            </a:r>
            <a:r>
              <a:rPr dirty="0" sz="1400" spc="-1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3323687" y="1155883"/>
            <a:ext cx="691515" cy="413384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905"/>
              </a:spcBef>
            </a:pPr>
            <a:r>
              <a:rPr dirty="0" sz="1050" spc="-25">
                <a:latin typeface="Times New Roman"/>
                <a:cs typeface="Times New Roman"/>
              </a:rPr>
              <a:t>EPC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3072186" y="2146184"/>
            <a:ext cx="1192530" cy="442595"/>
            <a:chOff x="3072186" y="2146184"/>
            <a:chExt cx="1192530" cy="442595"/>
          </a:xfrm>
        </p:grpSpPr>
        <p:sp>
          <p:nvSpPr>
            <p:cNvPr id="60" name="object 60" descr=""/>
            <p:cNvSpPr/>
            <p:nvPr/>
          </p:nvSpPr>
          <p:spPr>
            <a:xfrm>
              <a:off x="3073455" y="2147454"/>
              <a:ext cx="1189990" cy="440055"/>
            </a:xfrm>
            <a:custGeom>
              <a:avLst/>
              <a:gdLst/>
              <a:ahLst/>
              <a:cxnLst/>
              <a:rect l="l" t="t" r="r" b="b"/>
              <a:pathLst>
                <a:path w="1189989" h="440055">
                  <a:moveTo>
                    <a:pt x="594907" y="439983"/>
                  </a:moveTo>
                  <a:lnTo>
                    <a:pt x="525529" y="438503"/>
                  </a:lnTo>
                  <a:lnTo>
                    <a:pt x="458501" y="434173"/>
                  </a:lnTo>
                  <a:lnTo>
                    <a:pt x="394270" y="427159"/>
                  </a:lnTo>
                  <a:lnTo>
                    <a:pt x="333283" y="417624"/>
                  </a:lnTo>
                  <a:lnTo>
                    <a:pt x="275985" y="405734"/>
                  </a:lnTo>
                  <a:lnTo>
                    <a:pt x="222823" y="391654"/>
                  </a:lnTo>
                  <a:lnTo>
                    <a:pt x="174245" y="375550"/>
                  </a:lnTo>
                  <a:lnTo>
                    <a:pt x="130695" y="357586"/>
                  </a:lnTo>
                  <a:lnTo>
                    <a:pt x="92620" y="337928"/>
                  </a:lnTo>
                  <a:lnTo>
                    <a:pt x="60467" y="316739"/>
                  </a:lnTo>
                  <a:lnTo>
                    <a:pt x="15712" y="270434"/>
                  </a:lnTo>
                  <a:lnTo>
                    <a:pt x="0" y="219991"/>
                  </a:lnTo>
                  <a:lnTo>
                    <a:pt x="4002" y="194335"/>
                  </a:lnTo>
                  <a:lnTo>
                    <a:pt x="34682" y="145796"/>
                  </a:lnTo>
                  <a:lnTo>
                    <a:pt x="92620" y="102055"/>
                  </a:lnTo>
                  <a:lnTo>
                    <a:pt x="130695" y="82397"/>
                  </a:lnTo>
                  <a:lnTo>
                    <a:pt x="174245" y="64433"/>
                  </a:lnTo>
                  <a:lnTo>
                    <a:pt x="222823" y="48329"/>
                  </a:lnTo>
                  <a:lnTo>
                    <a:pt x="275985" y="34249"/>
                  </a:lnTo>
                  <a:lnTo>
                    <a:pt x="333283" y="22359"/>
                  </a:lnTo>
                  <a:lnTo>
                    <a:pt x="394270" y="12824"/>
                  </a:lnTo>
                  <a:lnTo>
                    <a:pt x="458501" y="5810"/>
                  </a:lnTo>
                  <a:lnTo>
                    <a:pt x="525529" y="1480"/>
                  </a:lnTo>
                  <a:lnTo>
                    <a:pt x="594907" y="0"/>
                  </a:lnTo>
                  <a:lnTo>
                    <a:pt x="664285" y="1480"/>
                  </a:lnTo>
                  <a:lnTo>
                    <a:pt x="731313" y="5810"/>
                  </a:lnTo>
                  <a:lnTo>
                    <a:pt x="795544" y="12824"/>
                  </a:lnTo>
                  <a:lnTo>
                    <a:pt x="856531" y="22359"/>
                  </a:lnTo>
                  <a:lnTo>
                    <a:pt x="913829" y="34249"/>
                  </a:lnTo>
                  <a:lnTo>
                    <a:pt x="966990" y="48329"/>
                  </a:lnTo>
                  <a:lnTo>
                    <a:pt x="1015569" y="64433"/>
                  </a:lnTo>
                  <a:lnTo>
                    <a:pt x="1059119" y="82397"/>
                  </a:lnTo>
                  <a:lnTo>
                    <a:pt x="1097194" y="102055"/>
                  </a:lnTo>
                  <a:lnTo>
                    <a:pt x="1129347" y="123244"/>
                  </a:lnTo>
                  <a:lnTo>
                    <a:pt x="1174102" y="169549"/>
                  </a:lnTo>
                  <a:lnTo>
                    <a:pt x="1189814" y="219991"/>
                  </a:lnTo>
                  <a:lnTo>
                    <a:pt x="1185812" y="245648"/>
                  </a:lnTo>
                  <a:lnTo>
                    <a:pt x="1155132" y="294187"/>
                  </a:lnTo>
                  <a:lnTo>
                    <a:pt x="1097194" y="337928"/>
                  </a:lnTo>
                  <a:lnTo>
                    <a:pt x="1059119" y="357586"/>
                  </a:lnTo>
                  <a:lnTo>
                    <a:pt x="1015569" y="375550"/>
                  </a:lnTo>
                  <a:lnTo>
                    <a:pt x="966990" y="391654"/>
                  </a:lnTo>
                  <a:lnTo>
                    <a:pt x="913829" y="405734"/>
                  </a:lnTo>
                  <a:lnTo>
                    <a:pt x="856531" y="417624"/>
                  </a:lnTo>
                  <a:lnTo>
                    <a:pt x="795544" y="427159"/>
                  </a:lnTo>
                  <a:lnTo>
                    <a:pt x="731313" y="434173"/>
                  </a:lnTo>
                  <a:lnTo>
                    <a:pt x="664285" y="438503"/>
                  </a:lnTo>
                  <a:lnTo>
                    <a:pt x="594907" y="439983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073456" y="2147454"/>
              <a:ext cx="1189990" cy="440055"/>
            </a:xfrm>
            <a:custGeom>
              <a:avLst/>
              <a:gdLst/>
              <a:ahLst/>
              <a:cxnLst/>
              <a:rect l="l" t="t" r="r" b="b"/>
              <a:pathLst>
                <a:path w="1189989" h="440055">
                  <a:moveTo>
                    <a:pt x="0" y="219991"/>
                  </a:moveTo>
                  <a:lnTo>
                    <a:pt x="15712" y="169549"/>
                  </a:lnTo>
                  <a:lnTo>
                    <a:pt x="60467" y="123244"/>
                  </a:lnTo>
                  <a:lnTo>
                    <a:pt x="92620" y="102055"/>
                  </a:lnTo>
                  <a:lnTo>
                    <a:pt x="130695" y="82397"/>
                  </a:lnTo>
                  <a:lnTo>
                    <a:pt x="174245" y="64433"/>
                  </a:lnTo>
                  <a:lnTo>
                    <a:pt x="222823" y="48329"/>
                  </a:lnTo>
                  <a:lnTo>
                    <a:pt x="275985" y="34249"/>
                  </a:lnTo>
                  <a:lnTo>
                    <a:pt x="333283" y="22359"/>
                  </a:lnTo>
                  <a:lnTo>
                    <a:pt x="394270" y="12824"/>
                  </a:lnTo>
                  <a:lnTo>
                    <a:pt x="458501" y="5810"/>
                  </a:lnTo>
                  <a:lnTo>
                    <a:pt x="525529" y="1480"/>
                  </a:lnTo>
                  <a:lnTo>
                    <a:pt x="594907" y="0"/>
                  </a:lnTo>
                  <a:lnTo>
                    <a:pt x="664285" y="1480"/>
                  </a:lnTo>
                  <a:lnTo>
                    <a:pt x="731313" y="5810"/>
                  </a:lnTo>
                  <a:lnTo>
                    <a:pt x="795544" y="12824"/>
                  </a:lnTo>
                  <a:lnTo>
                    <a:pt x="856531" y="22359"/>
                  </a:lnTo>
                  <a:lnTo>
                    <a:pt x="913829" y="34249"/>
                  </a:lnTo>
                  <a:lnTo>
                    <a:pt x="966990" y="48329"/>
                  </a:lnTo>
                  <a:lnTo>
                    <a:pt x="1015569" y="64433"/>
                  </a:lnTo>
                  <a:lnTo>
                    <a:pt x="1059119" y="82397"/>
                  </a:lnTo>
                  <a:lnTo>
                    <a:pt x="1097194" y="102055"/>
                  </a:lnTo>
                  <a:lnTo>
                    <a:pt x="1129347" y="123244"/>
                  </a:lnTo>
                  <a:lnTo>
                    <a:pt x="1174102" y="169549"/>
                  </a:lnTo>
                  <a:lnTo>
                    <a:pt x="1189814" y="219991"/>
                  </a:lnTo>
                  <a:lnTo>
                    <a:pt x="1185812" y="245648"/>
                  </a:lnTo>
                  <a:lnTo>
                    <a:pt x="1155132" y="294187"/>
                  </a:lnTo>
                  <a:lnTo>
                    <a:pt x="1097194" y="337928"/>
                  </a:lnTo>
                  <a:lnTo>
                    <a:pt x="1059119" y="357586"/>
                  </a:lnTo>
                  <a:lnTo>
                    <a:pt x="1015569" y="375550"/>
                  </a:lnTo>
                  <a:lnTo>
                    <a:pt x="966990" y="391654"/>
                  </a:lnTo>
                  <a:lnTo>
                    <a:pt x="913829" y="405734"/>
                  </a:lnTo>
                  <a:lnTo>
                    <a:pt x="856531" y="417624"/>
                  </a:lnTo>
                  <a:lnTo>
                    <a:pt x="795544" y="427159"/>
                  </a:lnTo>
                  <a:lnTo>
                    <a:pt x="731313" y="434173"/>
                  </a:lnTo>
                  <a:lnTo>
                    <a:pt x="664285" y="438503"/>
                  </a:lnTo>
                  <a:lnTo>
                    <a:pt x="594907" y="439983"/>
                  </a:lnTo>
                  <a:lnTo>
                    <a:pt x="525529" y="438503"/>
                  </a:lnTo>
                  <a:lnTo>
                    <a:pt x="458501" y="434173"/>
                  </a:lnTo>
                  <a:lnTo>
                    <a:pt x="394270" y="427159"/>
                  </a:lnTo>
                  <a:lnTo>
                    <a:pt x="333283" y="417624"/>
                  </a:lnTo>
                  <a:lnTo>
                    <a:pt x="275985" y="405734"/>
                  </a:lnTo>
                  <a:lnTo>
                    <a:pt x="222823" y="391654"/>
                  </a:lnTo>
                  <a:lnTo>
                    <a:pt x="174245" y="375550"/>
                  </a:lnTo>
                  <a:lnTo>
                    <a:pt x="130695" y="357586"/>
                  </a:lnTo>
                  <a:lnTo>
                    <a:pt x="92620" y="337928"/>
                  </a:lnTo>
                  <a:lnTo>
                    <a:pt x="60467" y="316739"/>
                  </a:lnTo>
                  <a:lnTo>
                    <a:pt x="15712" y="270434"/>
                  </a:lnTo>
                  <a:lnTo>
                    <a:pt x="0" y="21999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3530447" y="2259677"/>
            <a:ext cx="276225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Times New Roman"/>
                <a:cs typeface="Times New Roman"/>
              </a:rPr>
              <a:t>LTE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3249501" y="1951146"/>
            <a:ext cx="2564765" cy="638175"/>
            <a:chOff x="3249501" y="1951146"/>
            <a:chExt cx="2564765" cy="638175"/>
          </a:xfrm>
        </p:grpSpPr>
        <p:sp>
          <p:nvSpPr>
            <p:cNvPr id="64" name="object 64" descr=""/>
            <p:cNvSpPr/>
            <p:nvPr/>
          </p:nvSpPr>
          <p:spPr>
            <a:xfrm>
              <a:off x="3323688" y="2267625"/>
              <a:ext cx="96520" cy="100330"/>
            </a:xfrm>
            <a:custGeom>
              <a:avLst/>
              <a:gdLst/>
              <a:ahLst/>
              <a:cxnLst/>
              <a:rect l="l" t="t" r="r" b="b"/>
              <a:pathLst>
                <a:path w="96520" h="100330">
                  <a:moveTo>
                    <a:pt x="46466" y="820"/>
                  </a:moveTo>
                  <a:lnTo>
                    <a:pt x="45835" y="820"/>
                  </a:lnTo>
                  <a:lnTo>
                    <a:pt x="46854" y="0"/>
                  </a:lnTo>
                  <a:lnTo>
                    <a:pt x="46466" y="820"/>
                  </a:lnTo>
                  <a:close/>
                </a:path>
                <a:path w="96520" h="100330">
                  <a:moveTo>
                    <a:pt x="69057" y="98951"/>
                  </a:moveTo>
                  <a:lnTo>
                    <a:pt x="0" y="98951"/>
                  </a:lnTo>
                  <a:lnTo>
                    <a:pt x="46466" y="820"/>
                  </a:lnTo>
                  <a:lnTo>
                    <a:pt x="45835" y="820"/>
                  </a:lnTo>
                  <a:lnTo>
                    <a:pt x="82511" y="17726"/>
                  </a:lnTo>
                  <a:lnTo>
                    <a:pt x="96297" y="49101"/>
                  </a:lnTo>
                  <a:lnTo>
                    <a:pt x="93986" y="69084"/>
                  </a:lnTo>
                  <a:lnTo>
                    <a:pt x="84303" y="86748"/>
                  </a:lnTo>
                  <a:lnTo>
                    <a:pt x="69057" y="98951"/>
                  </a:lnTo>
                  <a:close/>
                </a:path>
                <a:path w="96520" h="100330">
                  <a:moveTo>
                    <a:pt x="67974" y="99818"/>
                  </a:moveTo>
                  <a:lnTo>
                    <a:pt x="69057" y="98951"/>
                  </a:lnTo>
                  <a:lnTo>
                    <a:pt x="70281" y="98951"/>
                  </a:lnTo>
                  <a:lnTo>
                    <a:pt x="67974" y="998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94811" y="2131631"/>
              <a:ext cx="55346" cy="31635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3294814" y="2131638"/>
              <a:ext cx="55880" cy="31750"/>
            </a:xfrm>
            <a:custGeom>
              <a:avLst/>
              <a:gdLst/>
              <a:ahLst/>
              <a:cxnLst/>
              <a:rect l="l" t="t" r="r" b="b"/>
              <a:pathLst>
                <a:path w="55879" h="31750">
                  <a:moveTo>
                    <a:pt x="55341" y="15814"/>
                  </a:moveTo>
                  <a:lnTo>
                    <a:pt x="53166" y="9660"/>
                  </a:lnTo>
                  <a:lnTo>
                    <a:pt x="47237" y="4633"/>
                  </a:lnTo>
                  <a:lnTo>
                    <a:pt x="38443" y="1243"/>
                  </a:lnTo>
                  <a:lnTo>
                    <a:pt x="27673" y="0"/>
                  </a:lnTo>
                  <a:lnTo>
                    <a:pt x="16900" y="1243"/>
                  </a:lnTo>
                  <a:lnTo>
                    <a:pt x="8104" y="4633"/>
                  </a:lnTo>
                  <a:lnTo>
                    <a:pt x="2174" y="9660"/>
                  </a:lnTo>
                  <a:lnTo>
                    <a:pt x="0" y="15814"/>
                  </a:lnTo>
                  <a:lnTo>
                    <a:pt x="2174" y="21969"/>
                  </a:lnTo>
                  <a:lnTo>
                    <a:pt x="8104" y="26996"/>
                  </a:lnTo>
                  <a:lnTo>
                    <a:pt x="16900" y="30386"/>
                  </a:lnTo>
                  <a:lnTo>
                    <a:pt x="27673" y="31629"/>
                  </a:lnTo>
                  <a:lnTo>
                    <a:pt x="38443" y="30386"/>
                  </a:lnTo>
                  <a:lnTo>
                    <a:pt x="47237" y="26996"/>
                  </a:lnTo>
                  <a:lnTo>
                    <a:pt x="53166" y="21969"/>
                  </a:lnTo>
                  <a:lnTo>
                    <a:pt x="55341" y="15814"/>
                  </a:lnTo>
                  <a:close/>
                </a:path>
              </a:pathLst>
            </a:custGeom>
            <a:ln w="6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65111" y="2145398"/>
              <a:ext cx="112872" cy="221780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3265119" y="2145394"/>
              <a:ext cx="113030" cy="222250"/>
            </a:xfrm>
            <a:custGeom>
              <a:avLst/>
              <a:gdLst/>
              <a:ahLst/>
              <a:cxnLst/>
              <a:rect l="l" t="t" r="r" b="b"/>
              <a:pathLst>
                <a:path w="113029" h="222250">
                  <a:moveTo>
                    <a:pt x="111279" y="186261"/>
                  </a:moveTo>
                  <a:lnTo>
                    <a:pt x="81995" y="0"/>
                  </a:lnTo>
                  <a:lnTo>
                    <a:pt x="44201" y="14906"/>
                  </a:lnTo>
                  <a:lnTo>
                    <a:pt x="29811" y="605"/>
                  </a:lnTo>
                  <a:lnTo>
                    <a:pt x="29284" y="0"/>
                  </a:lnTo>
                  <a:lnTo>
                    <a:pt x="0" y="186261"/>
                  </a:lnTo>
                  <a:lnTo>
                    <a:pt x="2495" y="186313"/>
                  </a:lnTo>
                  <a:lnTo>
                    <a:pt x="4004" y="198841"/>
                  </a:lnTo>
                  <a:lnTo>
                    <a:pt x="13474" y="209689"/>
                  </a:lnTo>
                  <a:lnTo>
                    <a:pt x="29372" y="217717"/>
                  </a:lnTo>
                  <a:lnTo>
                    <a:pt x="50163" y="221784"/>
                  </a:lnTo>
                  <a:lnTo>
                    <a:pt x="72087" y="220921"/>
                  </a:lnTo>
                  <a:lnTo>
                    <a:pt x="91071" y="215510"/>
                  </a:lnTo>
                  <a:lnTo>
                    <a:pt x="105119" y="206427"/>
                  </a:lnTo>
                  <a:lnTo>
                    <a:pt x="112234" y="194549"/>
                  </a:lnTo>
                  <a:lnTo>
                    <a:pt x="112861" y="191814"/>
                  </a:lnTo>
                  <a:lnTo>
                    <a:pt x="112861" y="189043"/>
                  </a:lnTo>
                  <a:lnTo>
                    <a:pt x="112234" y="186302"/>
                  </a:lnTo>
                  <a:lnTo>
                    <a:pt x="111279" y="186261"/>
                  </a:lnTo>
                  <a:close/>
                </a:path>
              </a:pathLst>
            </a:custGeom>
            <a:ln w="7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08654" y="1989823"/>
              <a:ext cx="27673" cy="2750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3308653" y="1989822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667" y="13748"/>
                  </a:moveTo>
                  <a:lnTo>
                    <a:pt x="27667" y="6152"/>
                  </a:lnTo>
                  <a:lnTo>
                    <a:pt x="21471" y="0"/>
                  </a:lnTo>
                  <a:lnTo>
                    <a:pt x="13833" y="0"/>
                  </a:lnTo>
                  <a:lnTo>
                    <a:pt x="6190" y="0"/>
                  </a:lnTo>
                  <a:lnTo>
                    <a:pt x="0" y="6152"/>
                  </a:lnTo>
                  <a:lnTo>
                    <a:pt x="0" y="13748"/>
                  </a:lnTo>
                  <a:lnTo>
                    <a:pt x="0" y="21344"/>
                  </a:lnTo>
                  <a:lnTo>
                    <a:pt x="6190" y="27496"/>
                  </a:lnTo>
                  <a:lnTo>
                    <a:pt x="13833" y="27496"/>
                  </a:lnTo>
                  <a:lnTo>
                    <a:pt x="21471" y="27496"/>
                  </a:lnTo>
                  <a:lnTo>
                    <a:pt x="27667" y="21344"/>
                  </a:lnTo>
                  <a:lnTo>
                    <a:pt x="27667" y="13748"/>
                  </a:lnTo>
                  <a:close/>
                </a:path>
              </a:pathLst>
            </a:custGeom>
            <a:ln w="7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323688" y="2017339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w="0" h="128269">
                  <a:moveTo>
                    <a:pt x="0" y="128054"/>
                  </a:moveTo>
                  <a:lnTo>
                    <a:pt x="0" y="0"/>
                  </a:lnTo>
                </a:path>
              </a:pathLst>
            </a:custGeom>
            <a:ln w="70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253311" y="1954956"/>
              <a:ext cx="138430" cy="97790"/>
            </a:xfrm>
            <a:custGeom>
              <a:avLst/>
              <a:gdLst/>
              <a:ahLst/>
              <a:cxnLst/>
              <a:rect l="l" t="t" r="r" b="b"/>
              <a:pathLst>
                <a:path w="138429" h="97789">
                  <a:moveTo>
                    <a:pt x="39826" y="19446"/>
                  </a:moveTo>
                  <a:lnTo>
                    <a:pt x="30707" y="33091"/>
                  </a:lnTo>
                  <a:lnTo>
                    <a:pt x="27667" y="48614"/>
                  </a:lnTo>
                  <a:lnTo>
                    <a:pt x="30707" y="64137"/>
                  </a:lnTo>
                  <a:lnTo>
                    <a:pt x="39826" y="77781"/>
                  </a:lnTo>
                </a:path>
                <a:path w="138429" h="97789">
                  <a:moveTo>
                    <a:pt x="98529" y="77781"/>
                  </a:moveTo>
                  <a:lnTo>
                    <a:pt x="107641" y="64135"/>
                  </a:lnTo>
                  <a:lnTo>
                    <a:pt x="110679" y="48614"/>
                  </a:lnTo>
                  <a:lnTo>
                    <a:pt x="107641" y="33093"/>
                  </a:lnTo>
                  <a:lnTo>
                    <a:pt x="98529" y="19446"/>
                  </a:lnTo>
                </a:path>
                <a:path w="138429" h="97789">
                  <a:moveTo>
                    <a:pt x="20258" y="0"/>
                  </a:moveTo>
                  <a:lnTo>
                    <a:pt x="5064" y="22743"/>
                  </a:lnTo>
                  <a:lnTo>
                    <a:pt x="0" y="48614"/>
                  </a:lnTo>
                  <a:lnTo>
                    <a:pt x="5064" y="74484"/>
                  </a:lnTo>
                  <a:lnTo>
                    <a:pt x="20258" y="97228"/>
                  </a:lnTo>
                </a:path>
                <a:path w="138429" h="97789">
                  <a:moveTo>
                    <a:pt x="118097" y="97228"/>
                  </a:moveTo>
                  <a:lnTo>
                    <a:pt x="133287" y="74484"/>
                  </a:lnTo>
                  <a:lnTo>
                    <a:pt x="138351" y="48614"/>
                  </a:lnTo>
                  <a:lnTo>
                    <a:pt x="133287" y="22743"/>
                  </a:lnTo>
                  <a:lnTo>
                    <a:pt x="118097" y="0"/>
                  </a:lnTo>
                </a:path>
              </a:pathLst>
            </a:custGeom>
            <a:ln w="7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265119" y="1989819"/>
              <a:ext cx="113030" cy="377825"/>
            </a:xfrm>
            <a:custGeom>
              <a:avLst/>
              <a:gdLst/>
              <a:ahLst/>
              <a:cxnLst/>
              <a:rect l="l" t="t" r="r" b="b"/>
              <a:pathLst>
                <a:path w="113029" h="377825">
                  <a:moveTo>
                    <a:pt x="57367" y="141820"/>
                  </a:moveTo>
                  <a:lnTo>
                    <a:pt x="47224" y="142925"/>
                  </a:lnTo>
                  <a:lnTo>
                    <a:pt x="38736" y="145955"/>
                  </a:lnTo>
                  <a:lnTo>
                    <a:pt x="32676" y="150507"/>
                  </a:lnTo>
                  <a:lnTo>
                    <a:pt x="29817" y="156180"/>
                  </a:lnTo>
                  <a:lnTo>
                    <a:pt x="29284" y="155574"/>
                  </a:lnTo>
                  <a:lnTo>
                    <a:pt x="0" y="341836"/>
                  </a:lnTo>
                  <a:lnTo>
                    <a:pt x="2500" y="341888"/>
                  </a:lnTo>
                  <a:lnTo>
                    <a:pt x="4006" y="354416"/>
                  </a:lnTo>
                  <a:lnTo>
                    <a:pt x="13475" y="365264"/>
                  </a:lnTo>
                  <a:lnTo>
                    <a:pt x="29372" y="373292"/>
                  </a:lnTo>
                  <a:lnTo>
                    <a:pt x="50163" y="377359"/>
                  </a:lnTo>
                  <a:lnTo>
                    <a:pt x="72087" y="376496"/>
                  </a:lnTo>
                  <a:lnTo>
                    <a:pt x="91071" y="371084"/>
                  </a:lnTo>
                  <a:lnTo>
                    <a:pt x="105119" y="362002"/>
                  </a:lnTo>
                  <a:lnTo>
                    <a:pt x="112234" y="350124"/>
                  </a:lnTo>
                  <a:lnTo>
                    <a:pt x="112866" y="347388"/>
                  </a:lnTo>
                  <a:lnTo>
                    <a:pt x="112866" y="344618"/>
                  </a:lnTo>
                  <a:lnTo>
                    <a:pt x="112234" y="341876"/>
                  </a:lnTo>
                  <a:lnTo>
                    <a:pt x="111279" y="341836"/>
                  </a:lnTo>
                  <a:lnTo>
                    <a:pt x="87852" y="155574"/>
                  </a:lnTo>
                  <a:lnTo>
                    <a:pt x="85134" y="157617"/>
                  </a:lnTo>
                  <a:lnTo>
                    <a:pt x="82930" y="151459"/>
                  </a:lnTo>
                  <a:lnTo>
                    <a:pt x="76972" y="146436"/>
                  </a:lnTo>
                  <a:lnTo>
                    <a:pt x="68154" y="143054"/>
                  </a:lnTo>
                  <a:lnTo>
                    <a:pt x="57367" y="141820"/>
                  </a:lnTo>
                </a:path>
                <a:path w="113029" h="377825">
                  <a:moveTo>
                    <a:pt x="71201" y="13748"/>
                  </a:moveTo>
                  <a:lnTo>
                    <a:pt x="71201" y="6158"/>
                  </a:lnTo>
                  <a:lnTo>
                    <a:pt x="65010" y="0"/>
                  </a:lnTo>
                  <a:lnTo>
                    <a:pt x="57367" y="0"/>
                  </a:lnTo>
                  <a:lnTo>
                    <a:pt x="49724" y="0"/>
                  </a:lnTo>
                  <a:lnTo>
                    <a:pt x="43533" y="6158"/>
                  </a:lnTo>
                  <a:lnTo>
                    <a:pt x="43533" y="13748"/>
                  </a:lnTo>
                  <a:lnTo>
                    <a:pt x="43533" y="21344"/>
                  </a:lnTo>
                  <a:lnTo>
                    <a:pt x="49724" y="27496"/>
                  </a:lnTo>
                  <a:lnTo>
                    <a:pt x="57367" y="27496"/>
                  </a:lnTo>
                  <a:lnTo>
                    <a:pt x="65010" y="27496"/>
                  </a:lnTo>
                  <a:lnTo>
                    <a:pt x="71201" y="21344"/>
                  </a:lnTo>
                  <a:lnTo>
                    <a:pt x="71201" y="13748"/>
                  </a:lnTo>
                  <a:close/>
                </a:path>
              </a:pathLst>
            </a:custGeom>
            <a:ln w="14596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323689" y="2017338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w="0" h="116839">
                  <a:moveTo>
                    <a:pt x="0" y="116413"/>
                  </a:moveTo>
                  <a:lnTo>
                    <a:pt x="0" y="0"/>
                  </a:lnTo>
                </a:path>
              </a:pathLst>
            </a:custGeom>
            <a:ln w="14642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622980" y="2147453"/>
              <a:ext cx="1189990" cy="440055"/>
            </a:xfrm>
            <a:custGeom>
              <a:avLst/>
              <a:gdLst/>
              <a:ahLst/>
              <a:cxnLst/>
              <a:rect l="l" t="t" r="r" b="b"/>
              <a:pathLst>
                <a:path w="1189989" h="440055">
                  <a:moveTo>
                    <a:pt x="594907" y="439984"/>
                  </a:moveTo>
                  <a:lnTo>
                    <a:pt x="525529" y="438504"/>
                  </a:lnTo>
                  <a:lnTo>
                    <a:pt x="458501" y="434174"/>
                  </a:lnTo>
                  <a:lnTo>
                    <a:pt x="394270" y="427159"/>
                  </a:lnTo>
                  <a:lnTo>
                    <a:pt x="333283" y="417624"/>
                  </a:lnTo>
                  <a:lnTo>
                    <a:pt x="275985" y="405734"/>
                  </a:lnTo>
                  <a:lnTo>
                    <a:pt x="222823" y="391655"/>
                  </a:lnTo>
                  <a:lnTo>
                    <a:pt x="174245" y="375550"/>
                  </a:lnTo>
                  <a:lnTo>
                    <a:pt x="130695" y="357586"/>
                  </a:lnTo>
                  <a:lnTo>
                    <a:pt x="92620" y="337928"/>
                  </a:lnTo>
                  <a:lnTo>
                    <a:pt x="60467" y="316739"/>
                  </a:lnTo>
                  <a:lnTo>
                    <a:pt x="15712" y="270434"/>
                  </a:lnTo>
                  <a:lnTo>
                    <a:pt x="0" y="219992"/>
                  </a:lnTo>
                  <a:lnTo>
                    <a:pt x="4002" y="194335"/>
                  </a:lnTo>
                  <a:lnTo>
                    <a:pt x="34682" y="145796"/>
                  </a:lnTo>
                  <a:lnTo>
                    <a:pt x="92620" y="102055"/>
                  </a:lnTo>
                  <a:lnTo>
                    <a:pt x="130695" y="82397"/>
                  </a:lnTo>
                  <a:lnTo>
                    <a:pt x="174245" y="64433"/>
                  </a:lnTo>
                  <a:lnTo>
                    <a:pt x="222823" y="48329"/>
                  </a:lnTo>
                  <a:lnTo>
                    <a:pt x="275985" y="34249"/>
                  </a:lnTo>
                  <a:lnTo>
                    <a:pt x="333283" y="22359"/>
                  </a:lnTo>
                  <a:lnTo>
                    <a:pt x="394270" y="12824"/>
                  </a:lnTo>
                  <a:lnTo>
                    <a:pt x="458501" y="5810"/>
                  </a:lnTo>
                  <a:lnTo>
                    <a:pt x="525529" y="1480"/>
                  </a:lnTo>
                  <a:lnTo>
                    <a:pt x="594907" y="0"/>
                  </a:lnTo>
                  <a:lnTo>
                    <a:pt x="664285" y="1480"/>
                  </a:lnTo>
                  <a:lnTo>
                    <a:pt x="731313" y="5810"/>
                  </a:lnTo>
                  <a:lnTo>
                    <a:pt x="795543" y="12824"/>
                  </a:lnTo>
                  <a:lnTo>
                    <a:pt x="856530" y="22359"/>
                  </a:lnTo>
                  <a:lnTo>
                    <a:pt x="913828" y="34249"/>
                  </a:lnTo>
                  <a:lnTo>
                    <a:pt x="966989" y="48329"/>
                  </a:lnTo>
                  <a:lnTo>
                    <a:pt x="1015567" y="64433"/>
                  </a:lnTo>
                  <a:lnTo>
                    <a:pt x="1059117" y="82397"/>
                  </a:lnTo>
                  <a:lnTo>
                    <a:pt x="1097191" y="102055"/>
                  </a:lnTo>
                  <a:lnTo>
                    <a:pt x="1129344" y="123244"/>
                  </a:lnTo>
                  <a:lnTo>
                    <a:pt x="1174101" y="169549"/>
                  </a:lnTo>
                  <a:lnTo>
                    <a:pt x="1189814" y="219992"/>
                  </a:lnTo>
                  <a:lnTo>
                    <a:pt x="1185812" y="245648"/>
                  </a:lnTo>
                  <a:lnTo>
                    <a:pt x="1155132" y="294187"/>
                  </a:lnTo>
                  <a:lnTo>
                    <a:pt x="1097194" y="337928"/>
                  </a:lnTo>
                  <a:lnTo>
                    <a:pt x="1059119" y="357586"/>
                  </a:lnTo>
                  <a:lnTo>
                    <a:pt x="1015569" y="375550"/>
                  </a:lnTo>
                  <a:lnTo>
                    <a:pt x="966990" y="391655"/>
                  </a:lnTo>
                  <a:lnTo>
                    <a:pt x="913829" y="405734"/>
                  </a:lnTo>
                  <a:lnTo>
                    <a:pt x="856531" y="417624"/>
                  </a:lnTo>
                  <a:lnTo>
                    <a:pt x="795544" y="427159"/>
                  </a:lnTo>
                  <a:lnTo>
                    <a:pt x="731313" y="434174"/>
                  </a:lnTo>
                  <a:lnTo>
                    <a:pt x="664285" y="438504"/>
                  </a:lnTo>
                  <a:lnTo>
                    <a:pt x="594907" y="439984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622980" y="2147452"/>
              <a:ext cx="1189990" cy="440055"/>
            </a:xfrm>
            <a:custGeom>
              <a:avLst/>
              <a:gdLst/>
              <a:ahLst/>
              <a:cxnLst/>
              <a:rect l="l" t="t" r="r" b="b"/>
              <a:pathLst>
                <a:path w="1189989" h="440055">
                  <a:moveTo>
                    <a:pt x="0" y="219992"/>
                  </a:moveTo>
                  <a:lnTo>
                    <a:pt x="15712" y="169549"/>
                  </a:lnTo>
                  <a:lnTo>
                    <a:pt x="60467" y="123244"/>
                  </a:lnTo>
                  <a:lnTo>
                    <a:pt x="92620" y="102055"/>
                  </a:lnTo>
                  <a:lnTo>
                    <a:pt x="130695" y="82397"/>
                  </a:lnTo>
                  <a:lnTo>
                    <a:pt x="174245" y="64433"/>
                  </a:lnTo>
                  <a:lnTo>
                    <a:pt x="222823" y="48329"/>
                  </a:lnTo>
                  <a:lnTo>
                    <a:pt x="275985" y="34249"/>
                  </a:lnTo>
                  <a:lnTo>
                    <a:pt x="333283" y="22359"/>
                  </a:lnTo>
                  <a:lnTo>
                    <a:pt x="394270" y="12824"/>
                  </a:lnTo>
                  <a:lnTo>
                    <a:pt x="458501" y="5810"/>
                  </a:lnTo>
                  <a:lnTo>
                    <a:pt x="525529" y="1480"/>
                  </a:lnTo>
                  <a:lnTo>
                    <a:pt x="594907" y="0"/>
                  </a:lnTo>
                  <a:lnTo>
                    <a:pt x="664285" y="1480"/>
                  </a:lnTo>
                  <a:lnTo>
                    <a:pt x="731313" y="5810"/>
                  </a:lnTo>
                  <a:lnTo>
                    <a:pt x="795543" y="12824"/>
                  </a:lnTo>
                  <a:lnTo>
                    <a:pt x="856530" y="22359"/>
                  </a:lnTo>
                  <a:lnTo>
                    <a:pt x="913828" y="34249"/>
                  </a:lnTo>
                  <a:lnTo>
                    <a:pt x="966989" y="48329"/>
                  </a:lnTo>
                  <a:lnTo>
                    <a:pt x="1015567" y="64433"/>
                  </a:lnTo>
                  <a:lnTo>
                    <a:pt x="1059117" y="82397"/>
                  </a:lnTo>
                  <a:lnTo>
                    <a:pt x="1097191" y="102055"/>
                  </a:lnTo>
                  <a:lnTo>
                    <a:pt x="1129344" y="123244"/>
                  </a:lnTo>
                  <a:lnTo>
                    <a:pt x="1174101" y="169549"/>
                  </a:lnTo>
                  <a:lnTo>
                    <a:pt x="1189814" y="219992"/>
                  </a:lnTo>
                  <a:lnTo>
                    <a:pt x="1185812" y="245648"/>
                  </a:lnTo>
                  <a:lnTo>
                    <a:pt x="1155132" y="294187"/>
                  </a:lnTo>
                  <a:lnTo>
                    <a:pt x="1097194" y="337928"/>
                  </a:lnTo>
                  <a:lnTo>
                    <a:pt x="1059119" y="357586"/>
                  </a:lnTo>
                  <a:lnTo>
                    <a:pt x="1015569" y="375550"/>
                  </a:lnTo>
                  <a:lnTo>
                    <a:pt x="966990" y="391655"/>
                  </a:lnTo>
                  <a:lnTo>
                    <a:pt x="913829" y="405734"/>
                  </a:lnTo>
                  <a:lnTo>
                    <a:pt x="856531" y="417624"/>
                  </a:lnTo>
                  <a:lnTo>
                    <a:pt x="795544" y="427159"/>
                  </a:lnTo>
                  <a:lnTo>
                    <a:pt x="731313" y="434174"/>
                  </a:lnTo>
                  <a:lnTo>
                    <a:pt x="664285" y="438504"/>
                  </a:lnTo>
                  <a:lnTo>
                    <a:pt x="594907" y="439984"/>
                  </a:lnTo>
                  <a:lnTo>
                    <a:pt x="525529" y="438504"/>
                  </a:lnTo>
                  <a:lnTo>
                    <a:pt x="458501" y="434174"/>
                  </a:lnTo>
                  <a:lnTo>
                    <a:pt x="394270" y="427159"/>
                  </a:lnTo>
                  <a:lnTo>
                    <a:pt x="333283" y="417624"/>
                  </a:lnTo>
                  <a:lnTo>
                    <a:pt x="275985" y="405734"/>
                  </a:lnTo>
                  <a:lnTo>
                    <a:pt x="222823" y="391655"/>
                  </a:lnTo>
                  <a:lnTo>
                    <a:pt x="174245" y="375550"/>
                  </a:lnTo>
                  <a:lnTo>
                    <a:pt x="130695" y="357586"/>
                  </a:lnTo>
                  <a:lnTo>
                    <a:pt x="92620" y="337928"/>
                  </a:lnTo>
                  <a:lnTo>
                    <a:pt x="60467" y="316739"/>
                  </a:lnTo>
                  <a:lnTo>
                    <a:pt x="15712" y="270434"/>
                  </a:lnTo>
                  <a:lnTo>
                    <a:pt x="0" y="2199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4248082" y="2259677"/>
            <a:ext cx="38862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5285" algn="l"/>
              </a:tabLst>
            </a:pPr>
            <a:r>
              <a:rPr dirty="0" u="dash" sz="1050">
                <a:uFill>
                  <a:solidFill>
                    <a:srgbClr val="4677BF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5110267" y="2259677"/>
            <a:ext cx="215265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Times New Roman"/>
                <a:cs typeface="Times New Roman"/>
              </a:rPr>
              <a:t>NR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3667971" y="1567876"/>
            <a:ext cx="1965960" cy="1741170"/>
            <a:chOff x="3667971" y="1567876"/>
            <a:chExt cx="1965960" cy="1741170"/>
          </a:xfrm>
        </p:grpSpPr>
        <p:sp>
          <p:nvSpPr>
            <p:cNvPr id="80" name="object 80" descr=""/>
            <p:cNvSpPr/>
            <p:nvPr/>
          </p:nvSpPr>
          <p:spPr>
            <a:xfrm>
              <a:off x="5537575" y="2267626"/>
              <a:ext cx="96520" cy="100330"/>
            </a:xfrm>
            <a:custGeom>
              <a:avLst/>
              <a:gdLst/>
              <a:ahLst/>
              <a:cxnLst/>
              <a:rect l="l" t="t" r="r" b="b"/>
              <a:pathLst>
                <a:path w="96520" h="100330">
                  <a:moveTo>
                    <a:pt x="46396" y="966"/>
                  </a:moveTo>
                  <a:lnTo>
                    <a:pt x="45560" y="820"/>
                  </a:lnTo>
                  <a:lnTo>
                    <a:pt x="46854" y="0"/>
                  </a:lnTo>
                  <a:lnTo>
                    <a:pt x="46466" y="820"/>
                  </a:lnTo>
                  <a:lnTo>
                    <a:pt x="46396" y="966"/>
                  </a:lnTo>
                  <a:close/>
                </a:path>
                <a:path w="96520" h="100330">
                  <a:moveTo>
                    <a:pt x="68776" y="98951"/>
                  </a:moveTo>
                  <a:lnTo>
                    <a:pt x="0" y="98951"/>
                  </a:lnTo>
                  <a:lnTo>
                    <a:pt x="46396" y="966"/>
                  </a:lnTo>
                  <a:lnTo>
                    <a:pt x="82230" y="17726"/>
                  </a:lnTo>
                  <a:lnTo>
                    <a:pt x="96016" y="49101"/>
                  </a:lnTo>
                  <a:lnTo>
                    <a:pt x="93705" y="69084"/>
                  </a:lnTo>
                  <a:lnTo>
                    <a:pt x="84022" y="86748"/>
                  </a:lnTo>
                  <a:lnTo>
                    <a:pt x="68776" y="98951"/>
                  </a:lnTo>
                  <a:close/>
                </a:path>
                <a:path w="96520" h="100330">
                  <a:moveTo>
                    <a:pt x="67693" y="99818"/>
                  </a:moveTo>
                  <a:lnTo>
                    <a:pt x="68776" y="98951"/>
                  </a:lnTo>
                  <a:lnTo>
                    <a:pt x="70281" y="98951"/>
                  </a:lnTo>
                  <a:lnTo>
                    <a:pt x="67693" y="998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08409" y="2131631"/>
              <a:ext cx="55346" cy="31635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5508419" y="2131638"/>
              <a:ext cx="55880" cy="31750"/>
            </a:xfrm>
            <a:custGeom>
              <a:avLst/>
              <a:gdLst/>
              <a:ahLst/>
              <a:cxnLst/>
              <a:rect l="l" t="t" r="r" b="b"/>
              <a:pathLst>
                <a:path w="55879" h="31750">
                  <a:moveTo>
                    <a:pt x="55341" y="15814"/>
                  </a:moveTo>
                  <a:lnTo>
                    <a:pt x="53166" y="9660"/>
                  </a:lnTo>
                  <a:lnTo>
                    <a:pt x="47237" y="4633"/>
                  </a:lnTo>
                  <a:lnTo>
                    <a:pt x="38443" y="1243"/>
                  </a:lnTo>
                  <a:lnTo>
                    <a:pt x="27673" y="0"/>
                  </a:lnTo>
                  <a:lnTo>
                    <a:pt x="16900" y="1243"/>
                  </a:lnTo>
                  <a:lnTo>
                    <a:pt x="8104" y="4633"/>
                  </a:lnTo>
                  <a:lnTo>
                    <a:pt x="2174" y="9660"/>
                  </a:lnTo>
                  <a:lnTo>
                    <a:pt x="0" y="15814"/>
                  </a:lnTo>
                  <a:lnTo>
                    <a:pt x="2174" y="21969"/>
                  </a:lnTo>
                  <a:lnTo>
                    <a:pt x="8104" y="26996"/>
                  </a:lnTo>
                  <a:lnTo>
                    <a:pt x="16900" y="30386"/>
                  </a:lnTo>
                  <a:lnTo>
                    <a:pt x="27673" y="31629"/>
                  </a:lnTo>
                  <a:lnTo>
                    <a:pt x="38443" y="30386"/>
                  </a:lnTo>
                  <a:lnTo>
                    <a:pt x="47237" y="26996"/>
                  </a:lnTo>
                  <a:lnTo>
                    <a:pt x="53166" y="21969"/>
                  </a:lnTo>
                  <a:lnTo>
                    <a:pt x="55341" y="15814"/>
                  </a:lnTo>
                  <a:close/>
                </a:path>
              </a:pathLst>
            </a:custGeom>
            <a:ln w="6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79000" y="2145398"/>
              <a:ext cx="112593" cy="221780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5479001" y="2145394"/>
              <a:ext cx="113030" cy="222250"/>
            </a:xfrm>
            <a:custGeom>
              <a:avLst/>
              <a:gdLst/>
              <a:ahLst/>
              <a:cxnLst/>
              <a:rect l="l" t="t" r="r" b="b"/>
              <a:pathLst>
                <a:path w="113029" h="222250">
                  <a:moveTo>
                    <a:pt x="111279" y="186261"/>
                  </a:moveTo>
                  <a:lnTo>
                    <a:pt x="81995" y="0"/>
                  </a:lnTo>
                  <a:lnTo>
                    <a:pt x="84642" y="611"/>
                  </a:lnTo>
                  <a:lnTo>
                    <a:pt x="43926" y="14906"/>
                  </a:lnTo>
                  <a:lnTo>
                    <a:pt x="29284" y="0"/>
                  </a:lnTo>
                  <a:lnTo>
                    <a:pt x="0" y="186261"/>
                  </a:lnTo>
                  <a:lnTo>
                    <a:pt x="2219" y="186313"/>
                  </a:lnTo>
                  <a:lnTo>
                    <a:pt x="3728" y="198841"/>
                  </a:lnTo>
                  <a:lnTo>
                    <a:pt x="13199" y="209689"/>
                  </a:lnTo>
                  <a:lnTo>
                    <a:pt x="29096" y="217717"/>
                  </a:lnTo>
                  <a:lnTo>
                    <a:pt x="49888" y="221784"/>
                  </a:lnTo>
                  <a:lnTo>
                    <a:pt x="71811" y="220921"/>
                  </a:lnTo>
                  <a:lnTo>
                    <a:pt x="90796" y="215510"/>
                  </a:lnTo>
                  <a:lnTo>
                    <a:pt x="104844" y="206427"/>
                  </a:lnTo>
                  <a:lnTo>
                    <a:pt x="111959" y="194549"/>
                  </a:lnTo>
                  <a:lnTo>
                    <a:pt x="112585" y="191814"/>
                  </a:lnTo>
                  <a:lnTo>
                    <a:pt x="112585" y="189043"/>
                  </a:lnTo>
                  <a:lnTo>
                    <a:pt x="111959" y="186302"/>
                  </a:lnTo>
                  <a:lnTo>
                    <a:pt x="111279" y="186261"/>
                  </a:lnTo>
                  <a:close/>
                </a:path>
              </a:pathLst>
            </a:custGeom>
            <a:ln w="7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22252" y="1989823"/>
              <a:ext cx="27673" cy="27508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5522258" y="1989823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667" y="13748"/>
                  </a:moveTo>
                  <a:lnTo>
                    <a:pt x="27667" y="6152"/>
                  </a:lnTo>
                  <a:lnTo>
                    <a:pt x="21471" y="0"/>
                  </a:lnTo>
                  <a:lnTo>
                    <a:pt x="13833" y="0"/>
                  </a:lnTo>
                  <a:lnTo>
                    <a:pt x="6190" y="0"/>
                  </a:lnTo>
                  <a:lnTo>
                    <a:pt x="0" y="6152"/>
                  </a:lnTo>
                  <a:lnTo>
                    <a:pt x="0" y="13748"/>
                  </a:lnTo>
                  <a:lnTo>
                    <a:pt x="0" y="21344"/>
                  </a:lnTo>
                  <a:lnTo>
                    <a:pt x="6190" y="27496"/>
                  </a:lnTo>
                  <a:lnTo>
                    <a:pt x="13833" y="27496"/>
                  </a:lnTo>
                  <a:lnTo>
                    <a:pt x="21471" y="27496"/>
                  </a:lnTo>
                  <a:lnTo>
                    <a:pt x="27667" y="21344"/>
                  </a:lnTo>
                  <a:lnTo>
                    <a:pt x="27667" y="13748"/>
                  </a:lnTo>
                  <a:close/>
                </a:path>
              </a:pathLst>
            </a:custGeom>
            <a:ln w="7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537570" y="2017339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w="0" h="128269">
                  <a:moveTo>
                    <a:pt x="0" y="128054"/>
                  </a:moveTo>
                  <a:lnTo>
                    <a:pt x="0" y="0"/>
                  </a:lnTo>
                </a:path>
              </a:pathLst>
            </a:custGeom>
            <a:ln w="70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466916" y="1954956"/>
              <a:ext cx="138430" cy="97790"/>
            </a:xfrm>
            <a:custGeom>
              <a:avLst/>
              <a:gdLst/>
              <a:ahLst/>
              <a:cxnLst/>
              <a:rect l="l" t="t" r="r" b="b"/>
              <a:pathLst>
                <a:path w="138429" h="97789">
                  <a:moveTo>
                    <a:pt x="39826" y="19446"/>
                  </a:moveTo>
                  <a:lnTo>
                    <a:pt x="30707" y="33091"/>
                  </a:lnTo>
                  <a:lnTo>
                    <a:pt x="27667" y="48614"/>
                  </a:lnTo>
                  <a:lnTo>
                    <a:pt x="30707" y="64137"/>
                  </a:lnTo>
                  <a:lnTo>
                    <a:pt x="39826" y="77781"/>
                  </a:lnTo>
                </a:path>
                <a:path w="138429" h="97789">
                  <a:moveTo>
                    <a:pt x="98529" y="77781"/>
                  </a:moveTo>
                  <a:lnTo>
                    <a:pt x="107641" y="64135"/>
                  </a:lnTo>
                  <a:lnTo>
                    <a:pt x="110679" y="48614"/>
                  </a:lnTo>
                  <a:lnTo>
                    <a:pt x="107641" y="33093"/>
                  </a:lnTo>
                  <a:lnTo>
                    <a:pt x="98529" y="19446"/>
                  </a:lnTo>
                </a:path>
                <a:path w="138429" h="97789">
                  <a:moveTo>
                    <a:pt x="20258" y="0"/>
                  </a:moveTo>
                  <a:lnTo>
                    <a:pt x="5064" y="22743"/>
                  </a:lnTo>
                  <a:lnTo>
                    <a:pt x="0" y="48614"/>
                  </a:lnTo>
                  <a:lnTo>
                    <a:pt x="5064" y="74484"/>
                  </a:lnTo>
                  <a:lnTo>
                    <a:pt x="20258" y="97228"/>
                  </a:lnTo>
                </a:path>
                <a:path w="138429" h="97789">
                  <a:moveTo>
                    <a:pt x="118097" y="97228"/>
                  </a:moveTo>
                  <a:lnTo>
                    <a:pt x="133287" y="74484"/>
                  </a:lnTo>
                  <a:lnTo>
                    <a:pt x="138351" y="48614"/>
                  </a:lnTo>
                  <a:lnTo>
                    <a:pt x="133287" y="22743"/>
                  </a:lnTo>
                  <a:lnTo>
                    <a:pt x="118097" y="0"/>
                  </a:lnTo>
                </a:path>
              </a:pathLst>
            </a:custGeom>
            <a:ln w="7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479004" y="1989819"/>
              <a:ext cx="113030" cy="377825"/>
            </a:xfrm>
            <a:custGeom>
              <a:avLst/>
              <a:gdLst/>
              <a:ahLst/>
              <a:cxnLst/>
              <a:rect l="l" t="t" r="r" b="b"/>
              <a:pathLst>
                <a:path w="113029" h="377825">
                  <a:moveTo>
                    <a:pt x="57086" y="141820"/>
                  </a:moveTo>
                  <a:lnTo>
                    <a:pt x="46943" y="142925"/>
                  </a:lnTo>
                  <a:lnTo>
                    <a:pt x="38455" y="145955"/>
                  </a:lnTo>
                  <a:lnTo>
                    <a:pt x="32395" y="150507"/>
                  </a:lnTo>
                  <a:lnTo>
                    <a:pt x="29535" y="156180"/>
                  </a:lnTo>
                  <a:lnTo>
                    <a:pt x="29284" y="155574"/>
                  </a:lnTo>
                  <a:lnTo>
                    <a:pt x="0" y="341836"/>
                  </a:lnTo>
                  <a:lnTo>
                    <a:pt x="2219" y="341888"/>
                  </a:lnTo>
                  <a:lnTo>
                    <a:pt x="3725" y="354416"/>
                  </a:lnTo>
                  <a:lnTo>
                    <a:pt x="13193" y="365264"/>
                  </a:lnTo>
                  <a:lnTo>
                    <a:pt x="29091" y="373292"/>
                  </a:lnTo>
                  <a:lnTo>
                    <a:pt x="49882" y="377359"/>
                  </a:lnTo>
                  <a:lnTo>
                    <a:pt x="71806" y="376496"/>
                  </a:lnTo>
                  <a:lnTo>
                    <a:pt x="90790" y="371084"/>
                  </a:lnTo>
                  <a:lnTo>
                    <a:pt x="104838" y="362002"/>
                  </a:lnTo>
                  <a:lnTo>
                    <a:pt x="111953" y="350124"/>
                  </a:lnTo>
                  <a:lnTo>
                    <a:pt x="112585" y="347388"/>
                  </a:lnTo>
                  <a:lnTo>
                    <a:pt x="112585" y="344618"/>
                  </a:lnTo>
                  <a:lnTo>
                    <a:pt x="111953" y="341876"/>
                  </a:lnTo>
                  <a:lnTo>
                    <a:pt x="111279" y="341836"/>
                  </a:lnTo>
                  <a:lnTo>
                    <a:pt x="81995" y="155574"/>
                  </a:lnTo>
                  <a:lnTo>
                    <a:pt x="84853" y="157617"/>
                  </a:lnTo>
                  <a:lnTo>
                    <a:pt x="82649" y="151459"/>
                  </a:lnTo>
                  <a:lnTo>
                    <a:pt x="76691" y="146436"/>
                  </a:lnTo>
                  <a:lnTo>
                    <a:pt x="67873" y="143054"/>
                  </a:lnTo>
                  <a:lnTo>
                    <a:pt x="57086" y="141820"/>
                  </a:lnTo>
                </a:path>
                <a:path w="113029" h="377825">
                  <a:moveTo>
                    <a:pt x="70920" y="13748"/>
                  </a:moveTo>
                  <a:lnTo>
                    <a:pt x="70920" y="6158"/>
                  </a:lnTo>
                  <a:lnTo>
                    <a:pt x="64729" y="0"/>
                  </a:lnTo>
                  <a:lnTo>
                    <a:pt x="57086" y="0"/>
                  </a:lnTo>
                  <a:lnTo>
                    <a:pt x="49443" y="0"/>
                  </a:lnTo>
                  <a:lnTo>
                    <a:pt x="43252" y="6158"/>
                  </a:lnTo>
                  <a:lnTo>
                    <a:pt x="43252" y="13748"/>
                  </a:lnTo>
                  <a:lnTo>
                    <a:pt x="43252" y="21344"/>
                  </a:lnTo>
                  <a:lnTo>
                    <a:pt x="49443" y="27496"/>
                  </a:lnTo>
                  <a:lnTo>
                    <a:pt x="57086" y="27496"/>
                  </a:lnTo>
                  <a:lnTo>
                    <a:pt x="64729" y="27496"/>
                  </a:lnTo>
                  <a:lnTo>
                    <a:pt x="70920" y="21344"/>
                  </a:lnTo>
                  <a:lnTo>
                    <a:pt x="70920" y="13748"/>
                  </a:lnTo>
                  <a:close/>
                </a:path>
              </a:pathLst>
            </a:custGeom>
            <a:ln w="14596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537571" y="2017338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w="0" h="116839">
                  <a:moveTo>
                    <a:pt x="0" y="116413"/>
                  </a:moveTo>
                  <a:lnTo>
                    <a:pt x="0" y="0"/>
                  </a:lnTo>
                </a:path>
              </a:pathLst>
            </a:custGeom>
            <a:ln w="14642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739524" y="1569146"/>
              <a:ext cx="0" cy="588010"/>
            </a:xfrm>
            <a:custGeom>
              <a:avLst/>
              <a:gdLst/>
              <a:ahLst/>
              <a:cxnLst/>
              <a:rect l="l" t="t" r="r" b="b"/>
              <a:pathLst>
                <a:path w="0" h="588010">
                  <a:moveTo>
                    <a:pt x="0" y="0"/>
                  </a:moveTo>
                  <a:lnTo>
                    <a:pt x="0" y="587887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669243" y="1569146"/>
              <a:ext cx="0" cy="576580"/>
            </a:xfrm>
            <a:custGeom>
              <a:avLst/>
              <a:gdLst/>
              <a:ahLst/>
              <a:cxnLst/>
              <a:rect l="l" t="t" r="r" b="b"/>
              <a:pathLst>
                <a:path w="0" h="576580">
                  <a:moveTo>
                    <a:pt x="0" y="0"/>
                  </a:moveTo>
                  <a:lnTo>
                    <a:pt x="0" y="57624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19791" y="3228035"/>
              <a:ext cx="163982" cy="73563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72859" y="3040621"/>
              <a:ext cx="111791" cy="219653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4372857" y="3202547"/>
              <a:ext cx="50800" cy="57785"/>
            </a:xfrm>
            <a:custGeom>
              <a:avLst/>
              <a:gdLst/>
              <a:ahLst/>
              <a:cxnLst/>
              <a:rect l="l" t="t" r="r" b="b"/>
              <a:pathLst>
                <a:path w="50800" h="57785">
                  <a:moveTo>
                    <a:pt x="45670" y="40574"/>
                  </a:moveTo>
                  <a:lnTo>
                    <a:pt x="50032" y="29385"/>
                  </a:lnTo>
                  <a:lnTo>
                    <a:pt x="50531" y="18490"/>
                  </a:lnTo>
                  <a:lnTo>
                    <a:pt x="47330" y="9115"/>
                  </a:lnTo>
                  <a:lnTo>
                    <a:pt x="40592" y="2484"/>
                  </a:lnTo>
                  <a:lnTo>
                    <a:pt x="31443" y="0"/>
                  </a:lnTo>
                  <a:lnTo>
                    <a:pt x="21672" y="1932"/>
                  </a:lnTo>
                  <a:lnTo>
                    <a:pt x="12428" y="7809"/>
                  </a:lnTo>
                  <a:lnTo>
                    <a:pt x="4860" y="17158"/>
                  </a:lnTo>
                  <a:lnTo>
                    <a:pt x="498" y="28346"/>
                  </a:lnTo>
                  <a:lnTo>
                    <a:pt x="0" y="39241"/>
                  </a:lnTo>
                  <a:lnTo>
                    <a:pt x="3200" y="48617"/>
                  </a:lnTo>
                  <a:lnTo>
                    <a:pt x="9938" y="55248"/>
                  </a:lnTo>
                  <a:lnTo>
                    <a:pt x="19085" y="57732"/>
                  </a:lnTo>
                  <a:lnTo>
                    <a:pt x="28856" y="55799"/>
                  </a:lnTo>
                  <a:lnTo>
                    <a:pt x="38101" y="49923"/>
                  </a:lnTo>
                  <a:lnTo>
                    <a:pt x="45670" y="40574"/>
                  </a:lnTo>
                  <a:close/>
                </a:path>
              </a:pathLst>
            </a:custGeom>
            <a:ln w="700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21759" y="3179482"/>
              <a:ext cx="150291" cy="92314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4221760" y="3179487"/>
              <a:ext cx="150495" cy="92710"/>
            </a:xfrm>
            <a:custGeom>
              <a:avLst/>
              <a:gdLst/>
              <a:ahLst/>
              <a:cxnLst/>
              <a:rect l="l" t="t" r="r" b="b"/>
              <a:pathLst>
                <a:path w="150495" h="92710">
                  <a:moveTo>
                    <a:pt x="70205" y="0"/>
                  </a:moveTo>
                  <a:lnTo>
                    <a:pt x="23184" y="25762"/>
                  </a:lnTo>
                  <a:lnTo>
                    <a:pt x="0" y="51431"/>
                  </a:lnTo>
                  <a:lnTo>
                    <a:pt x="4340" y="62127"/>
                  </a:lnTo>
                  <a:lnTo>
                    <a:pt x="43161" y="90230"/>
                  </a:lnTo>
                  <a:lnTo>
                    <a:pt x="58000" y="92311"/>
                  </a:lnTo>
                  <a:lnTo>
                    <a:pt x="72982" y="91281"/>
                  </a:lnTo>
                  <a:lnTo>
                    <a:pt x="87624" y="87123"/>
                  </a:lnTo>
                  <a:lnTo>
                    <a:pt x="85872" y="89294"/>
                  </a:lnTo>
                  <a:lnTo>
                    <a:pt x="150297" y="48550"/>
                  </a:lnTo>
                  <a:lnTo>
                    <a:pt x="68302" y="1984"/>
                  </a:lnTo>
                  <a:lnTo>
                    <a:pt x="70205" y="0"/>
                  </a:lnTo>
                  <a:close/>
                </a:path>
              </a:pathLst>
            </a:custGeom>
            <a:ln w="69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13491" y="3040037"/>
              <a:ext cx="144064" cy="164719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4313492" y="3040618"/>
              <a:ext cx="144145" cy="164465"/>
            </a:xfrm>
            <a:custGeom>
              <a:avLst/>
              <a:gdLst/>
              <a:ahLst/>
              <a:cxnLst/>
              <a:rect l="l" t="t" r="r" b="b"/>
              <a:pathLst>
                <a:path w="144145" h="164464">
                  <a:moveTo>
                    <a:pt x="0" y="111750"/>
                  </a:moveTo>
                  <a:lnTo>
                    <a:pt x="81995" y="164136"/>
                  </a:lnTo>
                  <a:lnTo>
                    <a:pt x="87852" y="164136"/>
                  </a:lnTo>
                  <a:lnTo>
                    <a:pt x="134707" y="76826"/>
                  </a:lnTo>
                  <a:lnTo>
                    <a:pt x="137172" y="77147"/>
                  </a:lnTo>
                  <a:lnTo>
                    <a:pt x="144067" y="56968"/>
                  </a:lnTo>
                  <a:lnTo>
                    <a:pt x="142839" y="36534"/>
                  </a:lnTo>
                  <a:lnTo>
                    <a:pt x="134090" y="18187"/>
                  </a:lnTo>
                  <a:lnTo>
                    <a:pt x="118425" y="4272"/>
                  </a:lnTo>
                  <a:lnTo>
                    <a:pt x="115408" y="2531"/>
                  </a:lnTo>
                  <a:lnTo>
                    <a:pt x="112222" y="1100"/>
                  </a:lnTo>
                  <a:lnTo>
                    <a:pt x="108913" y="0"/>
                  </a:lnTo>
                  <a:lnTo>
                    <a:pt x="90664" y="160"/>
                  </a:lnTo>
                  <a:lnTo>
                    <a:pt x="73458" y="5392"/>
                  </a:lnTo>
                  <a:lnTo>
                    <a:pt x="58298" y="15231"/>
                  </a:lnTo>
                  <a:lnTo>
                    <a:pt x="46186" y="29208"/>
                  </a:lnTo>
                  <a:lnTo>
                    <a:pt x="46854" y="30261"/>
                  </a:lnTo>
                  <a:lnTo>
                    <a:pt x="0" y="111750"/>
                  </a:lnTo>
                  <a:close/>
                </a:path>
              </a:pathLst>
            </a:custGeom>
            <a:ln w="70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90072" y="3152368"/>
              <a:ext cx="106438" cy="75666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4290065" y="3152369"/>
              <a:ext cx="106680" cy="76200"/>
            </a:xfrm>
            <a:custGeom>
              <a:avLst/>
              <a:gdLst/>
              <a:ahLst/>
              <a:cxnLst/>
              <a:rect l="l" t="t" r="r" b="b"/>
              <a:pathLst>
                <a:path w="106679" h="76200">
                  <a:moveTo>
                    <a:pt x="0" y="29103"/>
                  </a:moveTo>
                  <a:lnTo>
                    <a:pt x="81995" y="75668"/>
                  </a:lnTo>
                  <a:lnTo>
                    <a:pt x="84010" y="75546"/>
                  </a:lnTo>
                  <a:lnTo>
                    <a:pt x="87387" y="67603"/>
                  </a:lnTo>
                  <a:lnTo>
                    <a:pt x="92409" y="60760"/>
                  </a:lnTo>
                  <a:lnTo>
                    <a:pt x="98840" y="55268"/>
                  </a:lnTo>
                  <a:lnTo>
                    <a:pt x="106447" y="51379"/>
                  </a:lnTo>
                  <a:lnTo>
                    <a:pt x="105422" y="52385"/>
                  </a:lnTo>
                  <a:lnTo>
                    <a:pt x="23427" y="0"/>
                  </a:lnTo>
                  <a:lnTo>
                    <a:pt x="21072" y="1909"/>
                  </a:lnTo>
                  <a:lnTo>
                    <a:pt x="14062" y="6232"/>
                  </a:lnTo>
                  <a:lnTo>
                    <a:pt x="8380" y="12071"/>
                  </a:lnTo>
                  <a:lnTo>
                    <a:pt x="4252" y="19131"/>
                  </a:lnTo>
                  <a:lnTo>
                    <a:pt x="1903" y="27118"/>
                  </a:lnTo>
                  <a:lnTo>
                    <a:pt x="0" y="29103"/>
                  </a:lnTo>
                  <a:close/>
                </a:path>
              </a:pathLst>
            </a:custGeom>
            <a:ln w="6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265933" y="3230044"/>
              <a:ext cx="14604" cy="10795"/>
            </a:xfrm>
            <a:custGeom>
              <a:avLst/>
              <a:gdLst/>
              <a:ahLst/>
              <a:cxnLst/>
              <a:rect l="l" t="t" r="r" b="b"/>
              <a:pathLst>
                <a:path w="14604" h="10794">
                  <a:moveTo>
                    <a:pt x="4761" y="10715"/>
                  </a:moveTo>
                  <a:lnTo>
                    <a:pt x="1311" y="9522"/>
                  </a:lnTo>
                  <a:lnTo>
                    <a:pt x="0" y="4668"/>
                  </a:lnTo>
                  <a:lnTo>
                    <a:pt x="2389" y="1920"/>
                  </a:lnTo>
                  <a:lnTo>
                    <a:pt x="9605" y="0"/>
                  </a:lnTo>
                  <a:lnTo>
                    <a:pt x="13054" y="1193"/>
                  </a:lnTo>
                  <a:lnTo>
                    <a:pt x="13710" y="3620"/>
                  </a:lnTo>
                  <a:lnTo>
                    <a:pt x="14366" y="6047"/>
                  </a:lnTo>
                  <a:lnTo>
                    <a:pt x="11971" y="8795"/>
                  </a:lnTo>
                  <a:lnTo>
                    <a:pt x="4761" y="107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265933" y="3230044"/>
              <a:ext cx="14604" cy="10795"/>
            </a:xfrm>
            <a:custGeom>
              <a:avLst/>
              <a:gdLst/>
              <a:ahLst/>
              <a:cxnLst/>
              <a:rect l="l" t="t" r="r" b="b"/>
              <a:pathLst>
                <a:path w="14604" h="10794">
                  <a:moveTo>
                    <a:pt x="13710" y="3620"/>
                  </a:moveTo>
                  <a:lnTo>
                    <a:pt x="13054" y="1193"/>
                  </a:lnTo>
                  <a:lnTo>
                    <a:pt x="9605" y="0"/>
                  </a:lnTo>
                  <a:lnTo>
                    <a:pt x="5997" y="960"/>
                  </a:lnTo>
                  <a:lnTo>
                    <a:pt x="2389" y="1920"/>
                  </a:lnTo>
                  <a:lnTo>
                    <a:pt x="0" y="4668"/>
                  </a:lnTo>
                  <a:lnTo>
                    <a:pt x="655" y="7095"/>
                  </a:lnTo>
                  <a:lnTo>
                    <a:pt x="1311" y="9522"/>
                  </a:lnTo>
                  <a:lnTo>
                    <a:pt x="4761" y="10715"/>
                  </a:lnTo>
                  <a:lnTo>
                    <a:pt x="8369" y="9755"/>
                  </a:lnTo>
                  <a:lnTo>
                    <a:pt x="11971" y="8795"/>
                  </a:lnTo>
                  <a:lnTo>
                    <a:pt x="14366" y="6047"/>
                  </a:lnTo>
                  <a:lnTo>
                    <a:pt x="13710" y="3620"/>
                  </a:lnTo>
                  <a:close/>
                </a:path>
              </a:pathLst>
            </a:custGeom>
            <a:ln w="7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60354" y="3050654"/>
              <a:ext cx="88870" cy="84251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4360346" y="3050641"/>
              <a:ext cx="88900" cy="84455"/>
            </a:xfrm>
            <a:custGeom>
              <a:avLst/>
              <a:gdLst/>
              <a:ahLst/>
              <a:cxnLst/>
              <a:rect l="l" t="t" r="r" b="b"/>
              <a:pathLst>
                <a:path w="88900" h="84455">
                  <a:moveTo>
                    <a:pt x="0" y="43521"/>
                  </a:moveTo>
                  <a:lnTo>
                    <a:pt x="70281" y="84265"/>
                  </a:lnTo>
                  <a:lnTo>
                    <a:pt x="81995" y="66803"/>
                  </a:lnTo>
                  <a:lnTo>
                    <a:pt x="83360" y="64446"/>
                  </a:lnTo>
                  <a:lnTo>
                    <a:pt x="88881" y="48306"/>
                  </a:lnTo>
                  <a:lnTo>
                    <a:pt x="87842" y="31893"/>
                  </a:lnTo>
                  <a:lnTo>
                    <a:pt x="80737" y="17095"/>
                  </a:lnTo>
                  <a:lnTo>
                    <a:pt x="68056" y="5797"/>
                  </a:lnTo>
                  <a:lnTo>
                    <a:pt x="61531" y="1996"/>
                  </a:lnTo>
                  <a:lnTo>
                    <a:pt x="54117" y="0"/>
                  </a:lnTo>
                  <a:lnTo>
                    <a:pt x="46561" y="5"/>
                  </a:lnTo>
                  <a:lnTo>
                    <a:pt x="35580" y="2432"/>
                  </a:lnTo>
                  <a:lnTo>
                    <a:pt x="25546" y="7220"/>
                  </a:lnTo>
                  <a:lnTo>
                    <a:pt x="16822" y="14143"/>
                  </a:lnTo>
                  <a:lnTo>
                    <a:pt x="9775" y="22974"/>
                  </a:lnTo>
                  <a:lnTo>
                    <a:pt x="11713" y="20238"/>
                  </a:lnTo>
                  <a:lnTo>
                    <a:pt x="0" y="43521"/>
                  </a:lnTo>
                  <a:close/>
                </a:path>
              </a:pathLst>
            </a:custGeom>
            <a:ln w="70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219782" y="3040269"/>
              <a:ext cx="264795" cy="261620"/>
            </a:xfrm>
            <a:custGeom>
              <a:avLst/>
              <a:gdLst/>
              <a:ahLst/>
              <a:cxnLst/>
              <a:rect l="l" t="t" r="r" b="b"/>
              <a:pathLst>
                <a:path w="264795" h="261620">
                  <a:moveTo>
                    <a:pt x="91354" y="114005"/>
                  </a:moveTo>
                  <a:lnTo>
                    <a:pt x="84421" y="118407"/>
                  </a:lnTo>
                  <a:lnTo>
                    <a:pt x="78776" y="124259"/>
                  </a:lnTo>
                  <a:lnTo>
                    <a:pt x="74627" y="131287"/>
                  </a:lnTo>
                  <a:lnTo>
                    <a:pt x="72185" y="139215"/>
                  </a:lnTo>
                  <a:lnTo>
                    <a:pt x="70281" y="141200"/>
                  </a:lnTo>
                  <a:lnTo>
                    <a:pt x="11713" y="176124"/>
                  </a:lnTo>
                  <a:lnTo>
                    <a:pt x="10138" y="174616"/>
                  </a:lnTo>
                  <a:lnTo>
                    <a:pt x="5200" y="178452"/>
                  </a:lnTo>
                  <a:lnTo>
                    <a:pt x="2208" y="184331"/>
                  </a:lnTo>
                  <a:lnTo>
                    <a:pt x="1979" y="190646"/>
                  </a:lnTo>
                  <a:lnTo>
                    <a:pt x="0" y="187765"/>
                  </a:lnTo>
                  <a:lnTo>
                    <a:pt x="0" y="222689"/>
                  </a:lnTo>
                  <a:lnTo>
                    <a:pt x="2026" y="221641"/>
                  </a:lnTo>
                  <a:lnTo>
                    <a:pt x="8908" y="235884"/>
                  </a:lnTo>
                  <a:lnTo>
                    <a:pt x="19230" y="247388"/>
                  </a:lnTo>
                  <a:lnTo>
                    <a:pt x="32276" y="255552"/>
                  </a:lnTo>
                  <a:lnTo>
                    <a:pt x="47329" y="259772"/>
                  </a:lnTo>
                  <a:lnTo>
                    <a:pt x="59001" y="261050"/>
                  </a:lnTo>
                  <a:lnTo>
                    <a:pt x="70702" y="260942"/>
                  </a:lnTo>
                  <a:lnTo>
                    <a:pt x="82312" y="259457"/>
                  </a:lnTo>
                  <a:lnTo>
                    <a:pt x="93715" y="256606"/>
                  </a:lnTo>
                  <a:lnTo>
                    <a:pt x="93709" y="257613"/>
                  </a:lnTo>
                  <a:lnTo>
                    <a:pt x="158134" y="216868"/>
                  </a:lnTo>
                  <a:lnTo>
                    <a:pt x="160067" y="217753"/>
                  </a:lnTo>
                  <a:lnTo>
                    <a:pt x="170231" y="219859"/>
                  </a:lnTo>
                  <a:lnTo>
                    <a:pt x="201343" y="194051"/>
                  </a:lnTo>
                  <a:lnTo>
                    <a:pt x="202172" y="187680"/>
                  </a:lnTo>
                  <a:lnTo>
                    <a:pt x="201738" y="181205"/>
                  </a:lnTo>
                  <a:lnTo>
                    <a:pt x="199132" y="181944"/>
                  </a:lnTo>
                  <a:lnTo>
                    <a:pt x="263557" y="77172"/>
                  </a:lnTo>
                  <a:lnTo>
                    <a:pt x="263000" y="78010"/>
                  </a:lnTo>
                  <a:lnTo>
                    <a:pt x="264730" y="60047"/>
                  </a:lnTo>
                  <a:lnTo>
                    <a:pt x="260840" y="42886"/>
                  </a:lnTo>
                  <a:lnTo>
                    <a:pt x="251851" y="27828"/>
                  </a:lnTo>
                  <a:lnTo>
                    <a:pt x="238285" y="16177"/>
                  </a:lnTo>
                  <a:lnTo>
                    <a:pt x="240130" y="18966"/>
                  </a:lnTo>
                  <a:lnTo>
                    <a:pt x="204989" y="1504"/>
                  </a:lnTo>
                  <a:lnTo>
                    <a:pt x="202622" y="345"/>
                  </a:lnTo>
                  <a:lnTo>
                    <a:pt x="184173" y="0"/>
                  </a:lnTo>
                  <a:lnTo>
                    <a:pt x="166820" y="5101"/>
                  </a:lnTo>
                  <a:lnTo>
                    <a:pt x="151687" y="15126"/>
                  </a:lnTo>
                  <a:lnTo>
                    <a:pt x="139896" y="29553"/>
                  </a:lnTo>
                  <a:lnTo>
                    <a:pt x="140563" y="30607"/>
                  </a:lnTo>
                  <a:lnTo>
                    <a:pt x="93709" y="112096"/>
                  </a:lnTo>
                </a:path>
              </a:pathLst>
            </a:custGeom>
            <a:ln w="14596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30992" y="3111766"/>
              <a:ext cx="82219" cy="75438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339273" y="3113942"/>
              <a:ext cx="71438" cy="71040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3669241" y="2587764"/>
              <a:ext cx="568325" cy="466090"/>
            </a:xfrm>
            <a:custGeom>
              <a:avLst/>
              <a:gdLst/>
              <a:ahLst/>
              <a:cxnLst/>
              <a:rect l="l" t="t" r="r" b="b"/>
              <a:pathLst>
                <a:path w="568325" h="466089">
                  <a:moveTo>
                    <a:pt x="0" y="0"/>
                  </a:moveTo>
                  <a:lnTo>
                    <a:pt x="568112" y="465653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757094" y="2576122"/>
              <a:ext cx="568325" cy="466090"/>
            </a:xfrm>
            <a:custGeom>
              <a:avLst/>
              <a:gdLst/>
              <a:ahLst/>
              <a:cxnLst/>
              <a:rect l="l" t="t" r="r" b="b"/>
              <a:pathLst>
                <a:path w="568325" h="466089">
                  <a:moveTo>
                    <a:pt x="0" y="0"/>
                  </a:moveTo>
                  <a:lnTo>
                    <a:pt x="568112" y="465653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565337" y="2587763"/>
              <a:ext cx="650240" cy="466090"/>
            </a:xfrm>
            <a:custGeom>
              <a:avLst/>
              <a:gdLst/>
              <a:ahLst/>
              <a:cxnLst/>
              <a:rect l="l" t="t" r="r" b="b"/>
              <a:pathLst>
                <a:path w="650239" h="466089">
                  <a:moveTo>
                    <a:pt x="650108" y="0"/>
                  </a:moveTo>
                  <a:lnTo>
                    <a:pt x="0" y="465653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014795" y="1569146"/>
              <a:ext cx="1200785" cy="576580"/>
            </a:xfrm>
            <a:custGeom>
              <a:avLst/>
              <a:gdLst/>
              <a:ahLst/>
              <a:cxnLst/>
              <a:rect l="l" t="t" r="r" b="b"/>
              <a:pathLst>
                <a:path w="1200785" h="576580">
                  <a:moveTo>
                    <a:pt x="0" y="0"/>
                  </a:moveTo>
                  <a:lnTo>
                    <a:pt x="1200650" y="57624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 txBox="1"/>
          <p:nvPr/>
        </p:nvSpPr>
        <p:spPr>
          <a:xfrm>
            <a:off x="6315731" y="1002942"/>
            <a:ext cx="707390" cy="43370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119380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940"/>
              </a:spcBef>
            </a:pPr>
            <a:r>
              <a:rPr dirty="0" sz="1100" spc="-25">
                <a:latin typeface="Times New Roman"/>
                <a:cs typeface="Times New Roman"/>
              </a:rPr>
              <a:t>EPC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4" name="object 114" descr=""/>
          <p:cNvGrpSpPr/>
          <p:nvPr/>
        </p:nvGrpSpPr>
        <p:grpSpPr>
          <a:xfrm>
            <a:off x="6060001" y="2041795"/>
            <a:ext cx="1218565" cy="464820"/>
            <a:chOff x="6060001" y="2041795"/>
            <a:chExt cx="1218565" cy="464820"/>
          </a:xfrm>
        </p:grpSpPr>
        <p:sp>
          <p:nvSpPr>
            <p:cNvPr id="115" name="object 115" descr=""/>
            <p:cNvSpPr/>
            <p:nvPr/>
          </p:nvSpPr>
          <p:spPr>
            <a:xfrm>
              <a:off x="6061271" y="2043065"/>
              <a:ext cx="1216025" cy="462280"/>
            </a:xfrm>
            <a:custGeom>
              <a:avLst/>
              <a:gdLst/>
              <a:ahLst/>
              <a:cxnLst/>
              <a:rect l="l" t="t" r="r" b="b"/>
              <a:pathLst>
                <a:path w="1216025" h="462280">
                  <a:moveTo>
                    <a:pt x="607875" y="462271"/>
                  </a:moveTo>
                  <a:lnTo>
                    <a:pt x="541640" y="460915"/>
                  </a:lnTo>
                  <a:lnTo>
                    <a:pt x="477471" y="456940"/>
                  </a:lnTo>
                  <a:lnTo>
                    <a:pt x="415738" y="450488"/>
                  </a:lnTo>
                  <a:lnTo>
                    <a:pt x="356814" y="441699"/>
                  </a:lnTo>
                  <a:lnTo>
                    <a:pt x="301067" y="430715"/>
                  </a:lnTo>
                  <a:lnTo>
                    <a:pt x="248870" y="417676"/>
                  </a:lnTo>
                  <a:lnTo>
                    <a:pt x="200594" y="402723"/>
                  </a:lnTo>
                  <a:lnTo>
                    <a:pt x="156608" y="385998"/>
                  </a:lnTo>
                  <a:lnTo>
                    <a:pt x="117283" y="367642"/>
                  </a:lnTo>
                  <a:lnTo>
                    <a:pt x="82992" y="347795"/>
                  </a:lnTo>
                  <a:lnTo>
                    <a:pt x="30989" y="304193"/>
                  </a:lnTo>
                  <a:lnTo>
                    <a:pt x="3566" y="256320"/>
                  </a:lnTo>
                  <a:lnTo>
                    <a:pt x="0" y="231135"/>
                  </a:lnTo>
                  <a:lnTo>
                    <a:pt x="3566" y="205951"/>
                  </a:lnTo>
                  <a:lnTo>
                    <a:pt x="30989" y="158078"/>
                  </a:lnTo>
                  <a:lnTo>
                    <a:pt x="82992" y="114476"/>
                  </a:lnTo>
                  <a:lnTo>
                    <a:pt x="117283" y="94629"/>
                  </a:lnTo>
                  <a:lnTo>
                    <a:pt x="156608" y="76273"/>
                  </a:lnTo>
                  <a:lnTo>
                    <a:pt x="200594" y="59548"/>
                  </a:lnTo>
                  <a:lnTo>
                    <a:pt x="248870" y="44595"/>
                  </a:lnTo>
                  <a:lnTo>
                    <a:pt x="301067" y="31556"/>
                  </a:lnTo>
                  <a:lnTo>
                    <a:pt x="356814" y="20572"/>
                  </a:lnTo>
                  <a:lnTo>
                    <a:pt x="415738" y="11783"/>
                  </a:lnTo>
                  <a:lnTo>
                    <a:pt x="477471" y="5331"/>
                  </a:lnTo>
                  <a:lnTo>
                    <a:pt x="541640" y="1356"/>
                  </a:lnTo>
                  <a:lnTo>
                    <a:pt x="607875" y="0"/>
                  </a:lnTo>
                  <a:lnTo>
                    <a:pt x="674109" y="1356"/>
                  </a:lnTo>
                  <a:lnTo>
                    <a:pt x="738277" y="5331"/>
                  </a:lnTo>
                  <a:lnTo>
                    <a:pt x="800009" y="11783"/>
                  </a:lnTo>
                  <a:lnTo>
                    <a:pt x="858933" y="20572"/>
                  </a:lnTo>
                  <a:lnTo>
                    <a:pt x="914679" y="31556"/>
                  </a:lnTo>
                  <a:lnTo>
                    <a:pt x="966876" y="44595"/>
                  </a:lnTo>
                  <a:lnTo>
                    <a:pt x="1015153" y="59548"/>
                  </a:lnTo>
                  <a:lnTo>
                    <a:pt x="1059139" y="76273"/>
                  </a:lnTo>
                  <a:lnTo>
                    <a:pt x="1098464" y="94629"/>
                  </a:lnTo>
                  <a:lnTo>
                    <a:pt x="1132756" y="114476"/>
                  </a:lnTo>
                  <a:lnTo>
                    <a:pt x="1184760" y="158078"/>
                  </a:lnTo>
                  <a:lnTo>
                    <a:pt x="1212183" y="205951"/>
                  </a:lnTo>
                  <a:lnTo>
                    <a:pt x="1215750" y="231135"/>
                  </a:lnTo>
                  <a:lnTo>
                    <a:pt x="1212183" y="256320"/>
                  </a:lnTo>
                  <a:lnTo>
                    <a:pt x="1184760" y="304193"/>
                  </a:lnTo>
                  <a:lnTo>
                    <a:pt x="1132756" y="347795"/>
                  </a:lnTo>
                  <a:lnTo>
                    <a:pt x="1098464" y="367642"/>
                  </a:lnTo>
                  <a:lnTo>
                    <a:pt x="1059139" y="385998"/>
                  </a:lnTo>
                  <a:lnTo>
                    <a:pt x="1015153" y="402723"/>
                  </a:lnTo>
                  <a:lnTo>
                    <a:pt x="966876" y="417676"/>
                  </a:lnTo>
                  <a:lnTo>
                    <a:pt x="914679" y="430715"/>
                  </a:lnTo>
                  <a:lnTo>
                    <a:pt x="858933" y="441699"/>
                  </a:lnTo>
                  <a:lnTo>
                    <a:pt x="800009" y="450488"/>
                  </a:lnTo>
                  <a:lnTo>
                    <a:pt x="738277" y="456940"/>
                  </a:lnTo>
                  <a:lnTo>
                    <a:pt x="674109" y="460915"/>
                  </a:lnTo>
                  <a:lnTo>
                    <a:pt x="607875" y="46227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061271" y="2043065"/>
              <a:ext cx="1216025" cy="462280"/>
            </a:xfrm>
            <a:custGeom>
              <a:avLst/>
              <a:gdLst/>
              <a:ahLst/>
              <a:cxnLst/>
              <a:rect l="l" t="t" r="r" b="b"/>
              <a:pathLst>
                <a:path w="1216025" h="462280">
                  <a:moveTo>
                    <a:pt x="0" y="231135"/>
                  </a:moveTo>
                  <a:lnTo>
                    <a:pt x="14020" y="181551"/>
                  </a:lnTo>
                  <a:lnTo>
                    <a:pt x="54103" y="135673"/>
                  </a:lnTo>
                  <a:lnTo>
                    <a:pt x="117283" y="94629"/>
                  </a:lnTo>
                  <a:lnTo>
                    <a:pt x="156608" y="76273"/>
                  </a:lnTo>
                  <a:lnTo>
                    <a:pt x="200594" y="59548"/>
                  </a:lnTo>
                  <a:lnTo>
                    <a:pt x="248870" y="44595"/>
                  </a:lnTo>
                  <a:lnTo>
                    <a:pt x="301067" y="31556"/>
                  </a:lnTo>
                  <a:lnTo>
                    <a:pt x="356814" y="20572"/>
                  </a:lnTo>
                  <a:lnTo>
                    <a:pt x="415738" y="11783"/>
                  </a:lnTo>
                  <a:lnTo>
                    <a:pt x="477471" y="5331"/>
                  </a:lnTo>
                  <a:lnTo>
                    <a:pt x="541640" y="1356"/>
                  </a:lnTo>
                  <a:lnTo>
                    <a:pt x="607875" y="0"/>
                  </a:lnTo>
                  <a:lnTo>
                    <a:pt x="674109" y="1356"/>
                  </a:lnTo>
                  <a:lnTo>
                    <a:pt x="738277" y="5331"/>
                  </a:lnTo>
                  <a:lnTo>
                    <a:pt x="800009" y="11783"/>
                  </a:lnTo>
                  <a:lnTo>
                    <a:pt x="858933" y="20572"/>
                  </a:lnTo>
                  <a:lnTo>
                    <a:pt x="914679" y="31556"/>
                  </a:lnTo>
                  <a:lnTo>
                    <a:pt x="966876" y="44595"/>
                  </a:lnTo>
                  <a:lnTo>
                    <a:pt x="1015153" y="59548"/>
                  </a:lnTo>
                  <a:lnTo>
                    <a:pt x="1059139" y="76273"/>
                  </a:lnTo>
                  <a:lnTo>
                    <a:pt x="1098464" y="94629"/>
                  </a:lnTo>
                  <a:lnTo>
                    <a:pt x="1132756" y="114476"/>
                  </a:lnTo>
                  <a:lnTo>
                    <a:pt x="1184760" y="158078"/>
                  </a:lnTo>
                  <a:lnTo>
                    <a:pt x="1212183" y="205951"/>
                  </a:lnTo>
                  <a:lnTo>
                    <a:pt x="1215750" y="231135"/>
                  </a:lnTo>
                  <a:lnTo>
                    <a:pt x="1212183" y="256320"/>
                  </a:lnTo>
                  <a:lnTo>
                    <a:pt x="1201729" y="280720"/>
                  </a:lnTo>
                  <a:lnTo>
                    <a:pt x="1161645" y="326598"/>
                  </a:lnTo>
                  <a:lnTo>
                    <a:pt x="1098464" y="367642"/>
                  </a:lnTo>
                  <a:lnTo>
                    <a:pt x="1059139" y="385998"/>
                  </a:lnTo>
                  <a:lnTo>
                    <a:pt x="1015153" y="402723"/>
                  </a:lnTo>
                  <a:lnTo>
                    <a:pt x="966876" y="417676"/>
                  </a:lnTo>
                  <a:lnTo>
                    <a:pt x="914679" y="430715"/>
                  </a:lnTo>
                  <a:lnTo>
                    <a:pt x="858933" y="441699"/>
                  </a:lnTo>
                  <a:lnTo>
                    <a:pt x="800009" y="450488"/>
                  </a:lnTo>
                  <a:lnTo>
                    <a:pt x="738277" y="456940"/>
                  </a:lnTo>
                  <a:lnTo>
                    <a:pt x="674109" y="460915"/>
                  </a:lnTo>
                  <a:lnTo>
                    <a:pt x="607875" y="462271"/>
                  </a:lnTo>
                  <a:lnTo>
                    <a:pt x="541640" y="460915"/>
                  </a:lnTo>
                  <a:lnTo>
                    <a:pt x="477471" y="456940"/>
                  </a:lnTo>
                  <a:lnTo>
                    <a:pt x="415738" y="450488"/>
                  </a:lnTo>
                  <a:lnTo>
                    <a:pt x="356814" y="441699"/>
                  </a:lnTo>
                  <a:lnTo>
                    <a:pt x="301067" y="430715"/>
                  </a:lnTo>
                  <a:lnTo>
                    <a:pt x="248870" y="417676"/>
                  </a:lnTo>
                  <a:lnTo>
                    <a:pt x="200594" y="402723"/>
                  </a:lnTo>
                  <a:lnTo>
                    <a:pt x="156608" y="385998"/>
                  </a:lnTo>
                  <a:lnTo>
                    <a:pt x="117283" y="367642"/>
                  </a:lnTo>
                  <a:lnTo>
                    <a:pt x="82992" y="347795"/>
                  </a:lnTo>
                  <a:lnTo>
                    <a:pt x="30989" y="304193"/>
                  </a:lnTo>
                  <a:lnTo>
                    <a:pt x="3566" y="256320"/>
                  </a:lnTo>
                  <a:lnTo>
                    <a:pt x="0" y="2311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6528499" y="2161617"/>
            <a:ext cx="281305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25">
                <a:latin typeface="Times New Roman"/>
                <a:cs typeface="Times New Roman"/>
              </a:rPr>
              <a:t>LTE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8" name="object 118" descr=""/>
          <p:cNvGrpSpPr/>
          <p:nvPr/>
        </p:nvGrpSpPr>
        <p:grpSpPr>
          <a:xfrm>
            <a:off x="6241233" y="1837004"/>
            <a:ext cx="2620645" cy="669925"/>
            <a:chOff x="6241233" y="1837004"/>
            <a:chExt cx="2620645" cy="669925"/>
          </a:xfrm>
        </p:grpSpPr>
        <p:sp>
          <p:nvSpPr>
            <p:cNvPr id="119" name="object 119" descr=""/>
            <p:cNvSpPr/>
            <p:nvPr/>
          </p:nvSpPr>
          <p:spPr>
            <a:xfrm>
              <a:off x="6316931" y="2170191"/>
              <a:ext cx="98425" cy="104139"/>
            </a:xfrm>
            <a:custGeom>
              <a:avLst/>
              <a:gdLst/>
              <a:ahLst/>
              <a:cxnLst/>
              <a:rect l="l" t="t" r="r" b="b"/>
              <a:pathLst>
                <a:path w="98425" h="104139">
                  <a:moveTo>
                    <a:pt x="69480" y="104009"/>
                  </a:moveTo>
                  <a:lnTo>
                    <a:pt x="0" y="104009"/>
                  </a:lnTo>
                  <a:lnTo>
                    <a:pt x="46858" y="0"/>
                  </a:lnTo>
                  <a:lnTo>
                    <a:pt x="84334" y="17758"/>
                  </a:lnTo>
                  <a:lnTo>
                    <a:pt x="98417" y="50724"/>
                  </a:lnTo>
                  <a:lnTo>
                    <a:pt x="96056" y="71719"/>
                  </a:lnTo>
                  <a:lnTo>
                    <a:pt x="86164" y="90278"/>
                  </a:lnTo>
                  <a:lnTo>
                    <a:pt x="69480" y="1040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87465" y="2026450"/>
              <a:ext cx="56540" cy="33223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6287457" y="2026452"/>
              <a:ext cx="57150" cy="33655"/>
            </a:xfrm>
            <a:custGeom>
              <a:avLst/>
              <a:gdLst/>
              <a:ahLst/>
              <a:cxnLst/>
              <a:rect l="l" t="t" r="r" b="b"/>
              <a:pathLst>
                <a:path w="57150" h="33655">
                  <a:moveTo>
                    <a:pt x="56546" y="16611"/>
                  </a:moveTo>
                  <a:lnTo>
                    <a:pt x="54324" y="10145"/>
                  </a:lnTo>
                  <a:lnTo>
                    <a:pt x="48264" y="4865"/>
                  </a:lnTo>
                  <a:lnTo>
                    <a:pt x="39277" y="1305"/>
                  </a:lnTo>
                  <a:lnTo>
                    <a:pt x="28269" y="0"/>
                  </a:lnTo>
                  <a:lnTo>
                    <a:pt x="17265" y="1305"/>
                  </a:lnTo>
                  <a:lnTo>
                    <a:pt x="8280" y="4865"/>
                  </a:lnTo>
                  <a:lnTo>
                    <a:pt x="2221" y="10145"/>
                  </a:lnTo>
                  <a:lnTo>
                    <a:pt x="0" y="16611"/>
                  </a:lnTo>
                  <a:lnTo>
                    <a:pt x="2221" y="23076"/>
                  </a:lnTo>
                  <a:lnTo>
                    <a:pt x="8280" y="28356"/>
                  </a:lnTo>
                  <a:lnTo>
                    <a:pt x="17265" y="31917"/>
                  </a:lnTo>
                  <a:lnTo>
                    <a:pt x="28269" y="33222"/>
                  </a:lnTo>
                  <a:lnTo>
                    <a:pt x="39277" y="31917"/>
                  </a:lnTo>
                  <a:lnTo>
                    <a:pt x="48264" y="28356"/>
                  </a:lnTo>
                  <a:lnTo>
                    <a:pt x="54324" y="23076"/>
                  </a:lnTo>
                  <a:lnTo>
                    <a:pt x="56546" y="16611"/>
                  </a:lnTo>
                  <a:close/>
                </a:path>
              </a:pathLst>
            </a:custGeom>
            <a:ln w="7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59664" y="2041550"/>
              <a:ext cx="112775" cy="232371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6259663" y="2041533"/>
              <a:ext cx="113030" cy="232410"/>
            </a:xfrm>
            <a:custGeom>
              <a:avLst/>
              <a:gdLst/>
              <a:ahLst/>
              <a:cxnLst/>
              <a:rect l="l" t="t" r="r" b="b"/>
              <a:pathLst>
                <a:path w="113029" h="232410">
                  <a:moveTo>
                    <a:pt x="112127" y="195100"/>
                  </a:moveTo>
                  <a:lnTo>
                    <a:pt x="84216" y="7"/>
                  </a:lnTo>
                  <a:lnTo>
                    <a:pt x="76769" y="10126"/>
                  </a:lnTo>
                  <a:lnTo>
                    <a:pt x="66460" y="16324"/>
                  </a:lnTo>
                  <a:lnTo>
                    <a:pt x="27910" y="0"/>
                  </a:lnTo>
                  <a:lnTo>
                    <a:pt x="0" y="195115"/>
                  </a:lnTo>
                  <a:lnTo>
                    <a:pt x="1542" y="208278"/>
                  </a:lnTo>
                  <a:lnTo>
                    <a:pt x="11219" y="219677"/>
                  </a:lnTo>
                  <a:lnTo>
                    <a:pt x="27462" y="228114"/>
                  </a:lnTo>
                  <a:lnTo>
                    <a:pt x="48706" y="232389"/>
                  </a:lnTo>
                  <a:lnTo>
                    <a:pt x="71106" y="231482"/>
                  </a:lnTo>
                  <a:lnTo>
                    <a:pt x="90504" y="225797"/>
                  </a:lnTo>
                  <a:lnTo>
                    <a:pt x="104857" y="216255"/>
                  </a:lnTo>
                  <a:lnTo>
                    <a:pt x="112127" y="203776"/>
                  </a:lnTo>
                  <a:lnTo>
                    <a:pt x="112770" y="200902"/>
                  </a:lnTo>
                  <a:lnTo>
                    <a:pt x="112770" y="197982"/>
                  </a:lnTo>
                  <a:lnTo>
                    <a:pt x="112127" y="195107"/>
                  </a:lnTo>
                  <a:close/>
                </a:path>
              </a:pathLst>
            </a:custGeom>
            <a:ln w="7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301589" y="1877445"/>
              <a:ext cx="28575" cy="29209"/>
            </a:xfrm>
            <a:custGeom>
              <a:avLst/>
              <a:gdLst/>
              <a:ahLst/>
              <a:cxnLst/>
              <a:rect l="l" t="t" r="r" b="b"/>
              <a:pathLst>
                <a:path w="28575" h="29210">
                  <a:moveTo>
                    <a:pt x="28276" y="14447"/>
                  </a:moveTo>
                  <a:lnTo>
                    <a:pt x="28276" y="6467"/>
                  </a:lnTo>
                  <a:lnTo>
                    <a:pt x="21948" y="0"/>
                  </a:lnTo>
                  <a:lnTo>
                    <a:pt x="14138" y="0"/>
                  </a:lnTo>
                  <a:lnTo>
                    <a:pt x="6336" y="0"/>
                  </a:lnTo>
                  <a:lnTo>
                    <a:pt x="0" y="6467"/>
                  </a:lnTo>
                  <a:lnTo>
                    <a:pt x="0" y="14447"/>
                  </a:lnTo>
                  <a:lnTo>
                    <a:pt x="0" y="22428"/>
                  </a:lnTo>
                  <a:lnTo>
                    <a:pt x="6336" y="28895"/>
                  </a:lnTo>
                  <a:lnTo>
                    <a:pt x="14138" y="28895"/>
                  </a:lnTo>
                  <a:lnTo>
                    <a:pt x="21948" y="28895"/>
                  </a:lnTo>
                  <a:lnTo>
                    <a:pt x="28276" y="22428"/>
                  </a:lnTo>
                  <a:lnTo>
                    <a:pt x="28276" y="14447"/>
                  </a:lnTo>
                  <a:close/>
                </a:path>
              </a:pathLst>
            </a:custGeom>
            <a:ln w="7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01587" y="1877441"/>
              <a:ext cx="28282" cy="28905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6315729" y="1906336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136727"/>
                  </a:moveTo>
                  <a:lnTo>
                    <a:pt x="0" y="0"/>
                  </a:lnTo>
                </a:path>
              </a:pathLst>
            </a:custGeom>
            <a:ln w="7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245043" y="1840814"/>
              <a:ext cx="141605" cy="102235"/>
            </a:xfrm>
            <a:custGeom>
              <a:avLst/>
              <a:gdLst/>
              <a:ahLst/>
              <a:cxnLst/>
              <a:rect l="l" t="t" r="r" b="b"/>
              <a:pathLst>
                <a:path w="141604" h="102235">
                  <a:moveTo>
                    <a:pt x="40698" y="20433"/>
                  </a:moveTo>
                  <a:lnTo>
                    <a:pt x="31382" y="34770"/>
                  </a:lnTo>
                  <a:lnTo>
                    <a:pt x="28276" y="51079"/>
                  </a:lnTo>
                  <a:lnTo>
                    <a:pt x="31382" y="67389"/>
                  </a:lnTo>
                  <a:lnTo>
                    <a:pt x="40698" y="81726"/>
                  </a:lnTo>
                </a:path>
                <a:path w="141604" h="102235">
                  <a:moveTo>
                    <a:pt x="100677" y="81726"/>
                  </a:moveTo>
                  <a:lnTo>
                    <a:pt x="109989" y="67385"/>
                  </a:lnTo>
                  <a:lnTo>
                    <a:pt x="113093" y="51076"/>
                  </a:lnTo>
                  <a:lnTo>
                    <a:pt x="109989" y="34769"/>
                  </a:lnTo>
                  <a:lnTo>
                    <a:pt x="100677" y="20433"/>
                  </a:lnTo>
                </a:path>
                <a:path w="141604" h="102235">
                  <a:moveTo>
                    <a:pt x="20702" y="0"/>
                  </a:moveTo>
                  <a:lnTo>
                    <a:pt x="5175" y="23894"/>
                  </a:lnTo>
                  <a:lnTo>
                    <a:pt x="0" y="51076"/>
                  </a:lnTo>
                  <a:lnTo>
                    <a:pt x="5175" y="78257"/>
                  </a:lnTo>
                  <a:lnTo>
                    <a:pt x="20702" y="102152"/>
                  </a:lnTo>
                </a:path>
                <a:path w="141604" h="102235">
                  <a:moveTo>
                    <a:pt x="120673" y="102152"/>
                  </a:moveTo>
                  <a:lnTo>
                    <a:pt x="136196" y="78258"/>
                  </a:lnTo>
                  <a:lnTo>
                    <a:pt x="141370" y="51078"/>
                  </a:lnTo>
                  <a:lnTo>
                    <a:pt x="136196" y="23897"/>
                  </a:lnTo>
                  <a:lnTo>
                    <a:pt x="120673" y="0"/>
                  </a:lnTo>
                </a:path>
              </a:pathLst>
            </a:custGeom>
            <a:ln w="7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259662" y="1877446"/>
              <a:ext cx="113030" cy="396875"/>
            </a:xfrm>
            <a:custGeom>
              <a:avLst/>
              <a:gdLst/>
              <a:ahLst/>
              <a:cxnLst/>
              <a:rect l="l" t="t" r="r" b="b"/>
              <a:pathLst>
                <a:path w="113029" h="396875">
                  <a:moveTo>
                    <a:pt x="56067" y="149004"/>
                  </a:moveTo>
                  <a:lnTo>
                    <a:pt x="0" y="359202"/>
                  </a:lnTo>
                  <a:lnTo>
                    <a:pt x="1542" y="372365"/>
                  </a:lnTo>
                  <a:lnTo>
                    <a:pt x="11219" y="383764"/>
                  </a:lnTo>
                  <a:lnTo>
                    <a:pt x="27462" y="392198"/>
                  </a:lnTo>
                  <a:lnTo>
                    <a:pt x="48706" y="396469"/>
                  </a:lnTo>
                  <a:lnTo>
                    <a:pt x="71110" y="395566"/>
                  </a:lnTo>
                  <a:lnTo>
                    <a:pt x="90508" y="389883"/>
                  </a:lnTo>
                  <a:lnTo>
                    <a:pt x="104862" y="380341"/>
                  </a:lnTo>
                  <a:lnTo>
                    <a:pt x="112134" y="367863"/>
                  </a:lnTo>
                  <a:lnTo>
                    <a:pt x="112777" y="364989"/>
                  </a:lnTo>
                  <a:lnTo>
                    <a:pt x="112777" y="362069"/>
                  </a:lnTo>
                  <a:lnTo>
                    <a:pt x="112134" y="359194"/>
                  </a:lnTo>
                  <a:lnTo>
                    <a:pt x="84433" y="165600"/>
                  </a:lnTo>
                  <a:lnTo>
                    <a:pt x="82184" y="159132"/>
                  </a:lnTo>
                  <a:lnTo>
                    <a:pt x="76099" y="153854"/>
                  </a:lnTo>
                  <a:lnTo>
                    <a:pt x="67090" y="150300"/>
                  </a:lnTo>
                  <a:lnTo>
                    <a:pt x="56067" y="149004"/>
                  </a:lnTo>
                </a:path>
                <a:path w="113029" h="396875">
                  <a:moveTo>
                    <a:pt x="70205" y="14447"/>
                  </a:moveTo>
                  <a:lnTo>
                    <a:pt x="70205" y="6467"/>
                  </a:lnTo>
                  <a:lnTo>
                    <a:pt x="63877" y="0"/>
                  </a:lnTo>
                  <a:lnTo>
                    <a:pt x="56067" y="0"/>
                  </a:lnTo>
                  <a:lnTo>
                    <a:pt x="48257" y="0"/>
                  </a:lnTo>
                  <a:lnTo>
                    <a:pt x="41928" y="6467"/>
                  </a:lnTo>
                  <a:lnTo>
                    <a:pt x="41928" y="14447"/>
                  </a:lnTo>
                  <a:lnTo>
                    <a:pt x="41928" y="22428"/>
                  </a:lnTo>
                  <a:lnTo>
                    <a:pt x="48257" y="28895"/>
                  </a:lnTo>
                  <a:lnTo>
                    <a:pt x="56067" y="28895"/>
                  </a:lnTo>
                  <a:lnTo>
                    <a:pt x="63877" y="28895"/>
                  </a:lnTo>
                  <a:lnTo>
                    <a:pt x="70205" y="22428"/>
                  </a:lnTo>
                  <a:lnTo>
                    <a:pt x="70205" y="14447"/>
                  </a:lnTo>
                  <a:close/>
                </a:path>
                <a:path w="113029" h="396875">
                  <a:moveTo>
                    <a:pt x="56067" y="149004"/>
                  </a:moveTo>
                  <a:lnTo>
                    <a:pt x="56067" y="28895"/>
                  </a:lnTo>
                </a:path>
              </a:pathLst>
            </a:custGeom>
            <a:ln w="1512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7644571" y="2043065"/>
              <a:ext cx="1216025" cy="462280"/>
            </a:xfrm>
            <a:custGeom>
              <a:avLst/>
              <a:gdLst/>
              <a:ahLst/>
              <a:cxnLst/>
              <a:rect l="l" t="t" r="r" b="b"/>
              <a:pathLst>
                <a:path w="1216025" h="462280">
                  <a:moveTo>
                    <a:pt x="607875" y="462271"/>
                  </a:moveTo>
                  <a:lnTo>
                    <a:pt x="541640" y="460915"/>
                  </a:lnTo>
                  <a:lnTo>
                    <a:pt x="477471" y="456940"/>
                  </a:lnTo>
                  <a:lnTo>
                    <a:pt x="415738" y="450488"/>
                  </a:lnTo>
                  <a:lnTo>
                    <a:pt x="356814" y="441699"/>
                  </a:lnTo>
                  <a:lnTo>
                    <a:pt x="301067" y="430715"/>
                  </a:lnTo>
                  <a:lnTo>
                    <a:pt x="248870" y="417676"/>
                  </a:lnTo>
                  <a:lnTo>
                    <a:pt x="200594" y="402723"/>
                  </a:lnTo>
                  <a:lnTo>
                    <a:pt x="156608" y="385998"/>
                  </a:lnTo>
                  <a:lnTo>
                    <a:pt x="117283" y="367642"/>
                  </a:lnTo>
                  <a:lnTo>
                    <a:pt x="82992" y="347795"/>
                  </a:lnTo>
                  <a:lnTo>
                    <a:pt x="30989" y="304193"/>
                  </a:lnTo>
                  <a:lnTo>
                    <a:pt x="3566" y="256320"/>
                  </a:lnTo>
                  <a:lnTo>
                    <a:pt x="0" y="231135"/>
                  </a:lnTo>
                  <a:lnTo>
                    <a:pt x="3566" y="205951"/>
                  </a:lnTo>
                  <a:lnTo>
                    <a:pt x="30989" y="158078"/>
                  </a:lnTo>
                  <a:lnTo>
                    <a:pt x="82992" y="114476"/>
                  </a:lnTo>
                  <a:lnTo>
                    <a:pt x="117283" y="94629"/>
                  </a:lnTo>
                  <a:lnTo>
                    <a:pt x="156608" y="76273"/>
                  </a:lnTo>
                  <a:lnTo>
                    <a:pt x="200594" y="59548"/>
                  </a:lnTo>
                  <a:lnTo>
                    <a:pt x="248870" y="44595"/>
                  </a:lnTo>
                  <a:lnTo>
                    <a:pt x="301067" y="31556"/>
                  </a:lnTo>
                  <a:lnTo>
                    <a:pt x="356814" y="20572"/>
                  </a:lnTo>
                  <a:lnTo>
                    <a:pt x="415738" y="11783"/>
                  </a:lnTo>
                  <a:lnTo>
                    <a:pt x="477471" y="5331"/>
                  </a:lnTo>
                  <a:lnTo>
                    <a:pt x="541640" y="1356"/>
                  </a:lnTo>
                  <a:lnTo>
                    <a:pt x="607875" y="0"/>
                  </a:lnTo>
                  <a:lnTo>
                    <a:pt x="674109" y="1356"/>
                  </a:lnTo>
                  <a:lnTo>
                    <a:pt x="738277" y="5331"/>
                  </a:lnTo>
                  <a:lnTo>
                    <a:pt x="800009" y="11783"/>
                  </a:lnTo>
                  <a:lnTo>
                    <a:pt x="858933" y="20572"/>
                  </a:lnTo>
                  <a:lnTo>
                    <a:pt x="914679" y="31556"/>
                  </a:lnTo>
                  <a:lnTo>
                    <a:pt x="966876" y="44595"/>
                  </a:lnTo>
                  <a:lnTo>
                    <a:pt x="1015153" y="59548"/>
                  </a:lnTo>
                  <a:lnTo>
                    <a:pt x="1059139" y="76273"/>
                  </a:lnTo>
                  <a:lnTo>
                    <a:pt x="1098464" y="94629"/>
                  </a:lnTo>
                  <a:lnTo>
                    <a:pt x="1132756" y="114476"/>
                  </a:lnTo>
                  <a:lnTo>
                    <a:pt x="1184760" y="158078"/>
                  </a:lnTo>
                  <a:lnTo>
                    <a:pt x="1212183" y="205951"/>
                  </a:lnTo>
                  <a:lnTo>
                    <a:pt x="1215750" y="231135"/>
                  </a:lnTo>
                  <a:lnTo>
                    <a:pt x="1212183" y="256320"/>
                  </a:lnTo>
                  <a:lnTo>
                    <a:pt x="1184760" y="304193"/>
                  </a:lnTo>
                  <a:lnTo>
                    <a:pt x="1132756" y="347795"/>
                  </a:lnTo>
                  <a:lnTo>
                    <a:pt x="1098464" y="367642"/>
                  </a:lnTo>
                  <a:lnTo>
                    <a:pt x="1059139" y="385998"/>
                  </a:lnTo>
                  <a:lnTo>
                    <a:pt x="1015153" y="402723"/>
                  </a:lnTo>
                  <a:lnTo>
                    <a:pt x="966876" y="417676"/>
                  </a:lnTo>
                  <a:lnTo>
                    <a:pt x="914679" y="430715"/>
                  </a:lnTo>
                  <a:lnTo>
                    <a:pt x="858933" y="441699"/>
                  </a:lnTo>
                  <a:lnTo>
                    <a:pt x="800009" y="450488"/>
                  </a:lnTo>
                  <a:lnTo>
                    <a:pt x="738277" y="456940"/>
                  </a:lnTo>
                  <a:lnTo>
                    <a:pt x="674109" y="460915"/>
                  </a:lnTo>
                  <a:lnTo>
                    <a:pt x="607875" y="46227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7644571" y="2043065"/>
              <a:ext cx="1216025" cy="462280"/>
            </a:xfrm>
            <a:custGeom>
              <a:avLst/>
              <a:gdLst/>
              <a:ahLst/>
              <a:cxnLst/>
              <a:rect l="l" t="t" r="r" b="b"/>
              <a:pathLst>
                <a:path w="1216025" h="462280">
                  <a:moveTo>
                    <a:pt x="0" y="231135"/>
                  </a:moveTo>
                  <a:lnTo>
                    <a:pt x="14020" y="181551"/>
                  </a:lnTo>
                  <a:lnTo>
                    <a:pt x="54103" y="135673"/>
                  </a:lnTo>
                  <a:lnTo>
                    <a:pt x="117283" y="94629"/>
                  </a:lnTo>
                  <a:lnTo>
                    <a:pt x="156608" y="76273"/>
                  </a:lnTo>
                  <a:lnTo>
                    <a:pt x="200594" y="59548"/>
                  </a:lnTo>
                  <a:lnTo>
                    <a:pt x="248870" y="44595"/>
                  </a:lnTo>
                  <a:lnTo>
                    <a:pt x="301067" y="31556"/>
                  </a:lnTo>
                  <a:lnTo>
                    <a:pt x="356814" y="20572"/>
                  </a:lnTo>
                  <a:lnTo>
                    <a:pt x="415738" y="11783"/>
                  </a:lnTo>
                  <a:lnTo>
                    <a:pt x="477471" y="5331"/>
                  </a:lnTo>
                  <a:lnTo>
                    <a:pt x="541640" y="1356"/>
                  </a:lnTo>
                  <a:lnTo>
                    <a:pt x="607875" y="0"/>
                  </a:lnTo>
                  <a:lnTo>
                    <a:pt x="674109" y="1356"/>
                  </a:lnTo>
                  <a:lnTo>
                    <a:pt x="738277" y="5331"/>
                  </a:lnTo>
                  <a:lnTo>
                    <a:pt x="800009" y="11783"/>
                  </a:lnTo>
                  <a:lnTo>
                    <a:pt x="858933" y="20572"/>
                  </a:lnTo>
                  <a:lnTo>
                    <a:pt x="914679" y="31556"/>
                  </a:lnTo>
                  <a:lnTo>
                    <a:pt x="966876" y="44595"/>
                  </a:lnTo>
                  <a:lnTo>
                    <a:pt x="1015153" y="59548"/>
                  </a:lnTo>
                  <a:lnTo>
                    <a:pt x="1059139" y="76273"/>
                  </a:lnTo>
                  <a:lnTo>
                    <a:pt x="1098464" y="94629"/>
                  </a:lnTo>
                  <a:lnTo>
                    <a:pt x="1132756" y="114476"/>
                  </a:lnTo>
                  <a:lnTo>
                    <a:pt x="1184760" y="158078"/>
                  </a:lnTo>
                  <a:lnTo>
                    <a:pt x="1212183" y="205951"/>
                  </a:lnTo>
                  <a:lnTo>
                    <a:pt x="1215750" y="231135"/>
                  </a:lnTo>
                  <a:lnTo>
                    <a:pt x="1212183" y="256320"/>
                  </a:lnTo>
                  <a:lnTo>
                    <a:pt x="1184760" y="304193"/>
                  </a:lnTo>
                  <a:lnTo>
                    <a:pt x="1132756" y="347795"/>
                  </a:lnTo>
                  <a:lnTo>
                    <a:pt x="1098464" y="367642"/>
                  </a:lnTo>
                  <a:lnTo>
                    <a:pt x="1059139" y="385998"/>
                  </a:lnTo>
                  <a:lnTo>
                    <a:pt x="1015153" y="402723"/>
                  </a:lnTo>
                  <a:lnTo>
                    <a:pt x="966876" y="417676"/>
                  </a:lnTo>
                  <a:lnTo>
                    <a:pt x="914679" y="430715"/>
                  </a:lnTo>
                  <a:lnTo>
                    <a:pt x="858933" y="441699"/>
                  </a:lnTo>
                  <a:lnTo>
                    <a:pt x="800009" y="450488"/>
                  </a:lnTo>
                  <a:lnTo>
                    <a:pt x="738277" y="456940"/>
                  </a:lnTo>
                  <a:lnTo>
                    <a:pt x="674109" y="460915"/>
                  </a:lnTo>
                  <a:lnTo>
                    <a:pt x="607875" y="462271"/>
                  </a:lnTo>
                  <a:lnTo>
                    <a:pt x="541640" y="460915"/>
                  </a:lnTo>
                  <a:lnTo>
                    <a:pt x="477471" y="456940"/>
                  </a:lnTo>
                  <a:lnTo>
                    <a:pt x="415738" y="450488"/>
                  </a:lnTo>
                  <a:lnTo>
                    <a:pt x="356814" y="441699"/>
                  </a:lnTo>
                  <a:lnTo>
                    <a:pt x="301067" y="430715"/>
                  </a:lnTo>
                  <a:lnTo>
                    <a:pt x="248870" y="417676"/>
                  </a:lnTo>
                  <a:lnTo>
                    <a:pt x="200594" y="402723"/>
                  </a:lnTo>
                  <a:lnTo>
                    <a:pt x="156608" y="385998"/>
                  </a:lnTo>
                  <a:lnTo>
                    <a:pt x="117283" y="367642"/>
                  </a:lnTo>
                  <a:lnTo>
                    <a:pt x="82992" y="347795"/>
                  </a:lnTo>
                  <a:lnTo>
                    <a:pt x="30989" y="304193"/>
                  </a:lnTo>
                  <a:lnTo>
                    <a:pt x="3566" y="256320"/>
                  </a:lnTo>
                  <a:lnTo>
                    <a:pt x="0" y="2311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 descr=""/>
          <p:cNvSpPr txBox="1"/>
          <p:nvPr/>
        </p:nvSpPr>
        <p:spPr>
          <a:xfrm>
            <a:off x="7264318" y="2161617"/>
            <a:ext cx="393065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9730" algn="l"/>
              </a:tabLst>
            </a:pPr>
            <a:r>
              <a:rPr dirty="0" u="dash" sz="1100">
                <a:uFill>
                  <a:solidFill>
                    <a:srgbClr val="4677BF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8142756" y="2161618"/>
            <a:ext cx="219710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25">
                <a:latin typeface="Times New Roman"/>
                <a:cs typeface="Times New Roman"/>
              </a:rPr>
              <a:t>NR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33" name="object 133" descr=""/>
          <p:cNvGrpSpPr/>
          <p:nvPr/>
        </p:nvGrpSpPr>
        <p:grpSpPr>
          <a:xfrm>
            <a:off x="6667874" y="1435057"/>
            <a:ext cx="2009775" cy="1828164"/>
            <a:chOff x="6667874" y="1435057"/>
            <a:chExt cx="2009775" cy="1828164"/>
          </a:xfrm>
        </p:grpSpPr>
        <p:sp>
          <p:nvSpPr>
            <p:cNvPr id="134" name="object 134" descr=""/>
            <p:cNvSpPr/>
            <p:nvPr/>
          </p:nvSpPr>
          <p:spPr>
            <a:xfrm>
              <a:off x="8578788" y="2170191"/>
              <a:ext cx="98425" cy="104139"/>
            </a:xfrm>
            <a:custGeom>
              <a:avLst/>
              <a:gdLst/>
              <a:ahLst/>
              <a:cxnLst/>
              <a:rect l="l" t="t" r="r" b="b"/>
              <a:pathLst>
                <a:path w="98425" h="104139">
                  <a:moveTo>
                    <a:pt x="69480" y="104009"/>
                  </a:moveTo>
                  <a:lnTo>
                    <a:pt x="0" y="104009"/>
                  </a:lnTo>
                  <a:lnTo>
                    <a:pt x="46858" y="0"/>
                  </a:lnTo>
                  <a:lnTo>
                    <a:pt x="84334" y="17758"/>
                  </a:lnTo>
                  <a:lnTo>
                    <a:pt x="98417" y="50724"/>
                  </a:lnTo>
                  <a:lnTo>
                    <a:pt x="96056" y="71719"/>
                  </a:lnTo>
                  <a:lnTo>
                    <a:pt x="86164" y="90278"/>
                  </a:lnTo>
                  <a:lnTo>
                    <a:pt x="69480" y="1040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549309" y="2026450"/>
              <a:ext cx="56553" cy="33223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8549314" y="2026452"/>
              <a:ext cx="57150" cy="33655"/>
            </a:xfrm>
            <a:custGeom>
              <a:avLst/>
              <a:gdLst/>
              <a:ahLst/>
              <a:cxnLst/>
              <a:rect l="l" t="t" r="r" b="b"/>
              <a:pathLst>
                <a:path w="57150" h="33655">
                  <a:moveTo>
                    <a:pt x="56546" y="16611"/>
                  </a:moveTo>
                  <a:lnTo>
                    <a:pt x="54324" y="10145"/>
                  </a:lnTo>
                  <a:lnTo>
                    <a:pt x="48264" y="4865"/>
                  </a:lnTo>
                  <a:lnTo>
                    <a:pt x="39277" y="1305"/>
                  </a:lnTo>
                  <a:lnTo>
                    <a:pt x="28269" y="0"/>
                  </a:lnTo>
                  <a:lnTo>
                    <a:pt x="17265" y="1305"/>
                  </a:lnTo>
                  <a:lnTo>
                    <a:pt x="8280" y="4865"/>
                  </a:lnTo>
                  <a:lnTo>
                    <a:pt x="2221" y="10145"/>
                  </a:lnTo>
                  <a:lnTo>
                    <a:pt x="0" y="16611"/>
                  </a:lnTo>
                  <a:lnTo>
                    <a:pt x="2221" y="23076"/>
                  </a:lnTo>
                  <a:lnTo>
                    <a:pt x="8280" y="28356"/>
                  </a:lnTo>
                  <a:lnTo>
                    <a:pt x="17265" y="31917"/>
                  </a:lnTo>
                  <a:lnTo>
                    <a:pt x="28269" y="33222"/>
                  </a:lnTo>
                  <a:lnTo>
                    <a:pt x="39277" y="31917"/>
                  </a:lnTo>
                  <a:lnTo>
                    <a:pt x="48264" y="28356"/>
                  </a:lnTo>
                  <a:lnTo>
                    <a:pt x="54324" y="23076"/>
                  </a:lnTo>
                  <a:lnTo>
                    <a:pt x="56546" y="16611"/>
                  </a:lnTo>
                  <a:close/>
                </a:path>
              </a:pathLst>
            </a:custGeom>
            <a:ln w="7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8521520" y="2041532"/>
              <a:ext cx="113030" cy="232410"/>
            </a:xfrm>
            <a:custGeom>
              <a:avLst/>
              <a:gdLst/>
              <a:ahLst/>
              <a:cxnLst/>
              <a:rect l="l" t="t" r="r" b="b"/>
              <a:pathLst>
                <a:path w="113029" h="232410">
                  <a:moveTo>
                    <a:pt x="112127" y="195100"/>
                  </a:moveTo>
                  <a:lnTo>
                    <a:pt x="84216" y="7"/>
                  </a:lnTo>
                  <a:lnTo>
                    <a:pt x="76769" y="10126"/>
                  </a:lnTo>
                  <a:lnTo>
                    <a:pt x="66460" y="16324"/>
                  </a:lnTo>
                  <a:lnTo>
                    <a:pt x="27910" y="0"/>
                  </a:lnTo>
                  <a:lnTo>
                    <a:pt x="0" y="195115"/>
                  </a:lnTo>
                  <a:lnTo>
                    <a:pt x="1542" y="208278"/>
                  </a:lnTo>
                  <a:lnTo>
                    <a:pt x="11219" y="219677"/>
                  </a:lnTo>
                  <a:lnTo>
                    <a:pt x="27462" y="228114"/>
                  </a:lnTo>
                  <a:lnTo>
                    <a:pt x="48706" y="232389"/>
                  </a:lnTo>
                  <a:lnTo>
                    <a:pt x="71106" y="231482"/>
                  </a:lnTo>
                  <a:lnTo>
                    <a:pt x="90504" y="225797"/>
                  </a:lnTo>
                  <a:lnTo>
                    <a:pt x="104857" y="216255"/>
                  </a:lnTo>
                  <a:lnTo>
                    <a:pt x="112127" y="203776"/>
                  </a:lnTo>
                  <a:lnTo>
                    <a:pt x="112770" y="200902"/>
                  </a:lnTo>
                  <a:lnTo>
                    <a:pt x="112770" y="197982"/>
                  </a:lnTo>
                  <a:lnTo>
                    <a:pt x="112127" y="195107"/>
                  </a:lnTo>
                  <a:close/>
                </a:path>
              </a:pathLst>
            </a:custGeom>
            <a:ln w="7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521521" y="2041550"/>
              <a:ext cx="112763" cy="232371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563444" y="1877441"/>
              <a:ext cx="28282" cy="28905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8563447" y="1877445"/>
              <a:ext cx="28575" cy="29209"/>
            </a:xfrm>
            <a:custGeom>
              <a:avLst/>
              <a:gdLst/>
              <a:ahLst/>
              <a:cxnLst/>
              <a:rect l="l" t="t" r="r" b="b"/>
              <a:pathLst>
                <a:path w="28575" h="29210">
                  <a:moveTo>
                    <a:pt x="28276" y="14447"/>
                  </a:moveTo>
                  <a:lnTo>
                    <a:pt x="28276" y="6467"/>
                  </a:lnTo>
                  <a:lnTo>
                    <a:pt x="21948" y="0"/>
                  </a:lnTo>
                  <a:lnTo>
                    <a:pt x="14138" y="0"/>
                  </a:lnTo>
                  <a:lnTo>
                    <a:pt x="6336" y="0"/>
                  </a:lnTo>
                  <a:lnTo>
                    <a:pt x="0" y="6467"/>
                  </a:lnTo>
                  <a:lnTo>
                    <a:pt x="0" y="14447"/>
                  </a:lnTo>
                  <a:lnTo>
                    <a:pt x="0" y="22428"/>
                  </a:lnTo>
                  <a:lnTo>
                    <a:pt x="6336" y="28895"/>
                  </a:lnTo>
                  <a:lnTo>
                    <a:pt x="14138" y="28895"/>
                  </a:lnTo>
                  <a:lnTo>
                    <a:pt x="21948" y="28895"/>
                  </a:lnTo>
                  <a:lnTo>
                    <a:pt x="28276" y="22428"/>
                  </a:lnTo>
                  <a:lnTo>
                    <a:pt x="28276" y="14447"/>
                  </a:lnTo>
                  <a:close/>
                </a:path>
              </a:pathLst>
            </a:custGeom>
            <a:ln w="7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577587" y="1906336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136727"/>
                  </a:moveTo>
                  <a:lnTo>
                    <a:pt x="0" y="0"/>
                  </a:lnTo>
                </a:path>
              </a:pathLst>
            </a:custGeom>
            <a:ln w="7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506900" y="1840814"/>
              <a:ext cx="141605" cy="102235"/>
            </a:xfrm>
            <a:custGeom>
              <a:avLst/>
              <a:gdLst/>
              <a:ahLst/>
              <a:cxnLst/>
              <a:rect l="l" t="t" r="r" b="b"/>
              <a:pathLst>
                <a:path w="141604" h="102235">
                  <a:moveTo>
                    <a:pt x="40698" y="20433"/>
                  </a:moveTo>
                  <a:lnTo>
                    <a:pt x="31382" y="34770"/>
                  </a:lnTo>
                  <a:lnTo>
                    <a:pt x="28276" y="51079"/>
                  </a:lnTo>
                  <a:lnTo>
                    <a:pt x="31382" y="67389"/>
                  </a:lnTo>
                  <a:lnTo>
                    <a:pt x="40698" y="81726"/>
                  </a:lnTo>
                </a:path>
                <a:path w="141604" h="102235">
                  <a:moveTo>
                    <a:pt x="100677" y="81726"/>
                  </a:moveTo>
                  <a:lnTo>
                    <a:pt x="109989" y="67385"/>
                  </a:lnTo>
                  <a:lnTo>
                    <a:pt x="113093" y="51076"/>
                  </a:lnTo>
                  <a:lnTo>
                    <a:pt x="109989" y="34769"/>
                  </a:lnTo>
                  <a:lnTo>
                    <a:pt x="100677" y="20433"/>
                  </a:lnTo>
                </a:path>
                <a:path w="141604" h="102235">
                  <a:moveTo>
                    <a:pt x="20702" y="0"/>
                  </a:moveTo>
                  <a:lnTo>
                    <a:pt x="5175" y="23894"/>
                  </a:lnTo>
                  <a:lnTo>
                    <a:pt x="0" y="51076"/>
                  </a:lnTo>
                  <a:lnTo>
                    <a:pt x="5175" y="78257"/>
                  </a:lnTo>
                  <a:lnTo>
                    <a:pt x="20702" y="102152"/>
                  </a:lnTo>
                </a:path>
                <a:path w="141604" h="102235">
                  <a:moveTo>
                    <a:pt x="120673" y="102152"/>
                  </a:moveTo>
                  <a:lnTo>
                    <a:pt x="136196" y="78258"/>
                  </a:lnTo>
                  <a:lnTo>
                    <a:pt x="141370" y="51078"/>
                  </a:lnTo>
                  <a:lnTo>
                    <a:pt x="136196" y="23897"/>
                  </a:lnTo>
                  <a:lnTo>
                    <a:pt x="120673" y="0"/>
                  </a:lnTo>
                </a:path>
              </a:pathLst>
            </a:custGeom>
            <a:ln w="7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521519" y="1877446"/>
              <a:ext cx="113030" cy="396875"/>
            </a:xfrm>
            <a:custGeom>
              <a:avLst/>
              <a:gdLst/>
              <a:ahLst/>
              <a:cxnLst/>
              <a:rect l="l" t="t" r="r" b="b"/>
              <a:pathLst>
                <a:path w="113029" h="396875">
                  <a:moveTo>
                    <a:pt x="56067" y="149004"/>
                  </a:moveTo>
                  <a:lnTo>
                    <a:pt x="0" y="359202"/>
                  </a:lnTo>
                  <a:lnTo>
                    <a:pt x="1542" y="372365"/>
                  </a:lnTo>
                  <a:lnTo>
                    <a:pt x="11219" y="383764"/>
                  </a:lnTo>
                  <a:lnTo>
                    <a:pt x="27462" y="392198"/>
                  </a:lnTo>
                  <a:lnTo>
                    <a:pt x="48706" y="396469"/>
                  </a:lnTo>
                  <a:lnTo>
                    <a:pt x="71111" y="395566"/>
                  </a:lnTo>
                  <a:lnTo>
                    <a:pt x="90510" y="389883"/>
                  </a:lnTo>
                  <a:lnTo>
                    <a:pt x="104865" y="380341"/>
                  </a:lnTo>
                  <a:lnTo>
                    <a:pt x="112134" y="367863"/>
                  </a:lnTo>
                  <a:lnTo>
                    <a:pt x="112777" y="364989"/>
                  </a:lnTo>
                  <a:lnTo>
                    <a:pt x="112777" y="362069"/>
                  </a:lnTo>
                  <a:lnTo>
                    <a:pt x="112134" y="359194"/>
                  </a:lnTo>
                  <a:lnTo>
                    <a:pt x="84433" y="165600"/>
                  </a:lnTo>
                  <a:lnTo>
                    <a:pt x="82184" y="159132"/>
                  </a:lnTo>
                  <a:lnTo>
                    <a:pt x="76099" y="153854"/>
                  </a:lnTo>
                  <a:lnTo>
                    <a:pt x="67090" y="150300"/>
                  </a:lnTo>
                  <a:lnTo>
                    <a:pt x="56067" y="149004"/>
                  </a:lnTo>
                </a:path>
                <a:path w="113029" h="396875">
                  <a:moveTo>
                    <a:pt x="70205" y="14447"/>
                  </a:moveTo>
                  <a:lnTo>
                    <a:pt x="70205" y="6467"/>
                  </a:lnTo>
                  <a:lnTo>
                    <a:pt x="63877" y="0"/>
                  </a:lnTo>
                  <a:lnTo>
                    <a:pt x="56067" y="0"/>
                  </a:lnTo>
                  <a:lnTo>
                    <a:pt x="48257" y="0"/>
                  </a:lnTo>
                  <a:lnTo>
                    <a:pt x="41928" y="6467"/>
                  </a:lnTo>
                  <a:lnTo>
                    <a:pt x="41928" y="14447"/>
                  </a:lnTo>
                  <a:lnTo>
                    <a:pt x="41928" y="22428"/>
                  </a:lnTo>
                  <a:lnTo>
                    <a:pt x="48257" y="28895"/>
                  </a:lnTo>
                  <a:lnTo>
                    <a:pt x="56067" y="28895"/>
                  </a:lnTo>
                  <a:lnTo>
                    <a:pt x="63877" y="28895"/>
                  </a:lnTo>
                  <a:lnTo>
                    <a:pt x="70205" y="22428"/>
                  </a:lnTo>
                  <a:lnTo>
                    <a:pt x="70205" y="14447"/>
                  </a:lnTo>
                  <a:close/>
                </a:path>
                <a:path w="113029" h="396875">
                  <a:moveTo>
                    <a:pt x="56067" y="149004"/>
                  </a:moveTo>
                  <a:lnTo>
                    <a:pt x="56067" y="28895"/>
                  </a:lnTo>
                </a:path>
              </a:pathLst>
            </a:custGeom>
            <a:ln w="1512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6739828" y="1436327"/>
              <a:ext cx="2540" cy="617855"/>
            </a:xfrm>
            <a:custGeom>
              <a:avLst/>
              <a:gdLst/>
              <a:ahLst/>
              <a:cxnLst/>
              <a:rect l="l" t="t" r="r" b="b"/>
              <a:pathLst>
                <a:path w="2540" h="617855">
                  <a:moveTo>
                    <a:pt x="0" y="0"/>
                  </a:moveTo>
                  <a:lnTo>
                    <a:pt x="2087" y="617804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669144" y="1436327"/>
              <a:ext cx="0" cy="607060"/>
            </a:xfrm>
            <a:custGeom>
              <a:avLst/>
              <a:gdLst/>
              <a:ahLst/>
              <a:cxnLst/>
              <a:rect l="l" t="t" r="r" b="b"/>
              <a:pathLst>
                <a:path w="0" h="607060">
                  <a:moveTo>
                    <a:pt x="0" y="0"/>
                  </a:moveTo>
                  <a:lnTo>
                    <a:pt x="0" y="60673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796374" y="1436327"/>
              <a:ext cx="1456690" cy="607060"/>
            </a:xfrm>
            <a:custGeom>
              <a:avLst/>
              <a:gdLst/>
              <a:ahLst/>
              <a:cxnLst/>
              <a:rect l="l" t="t" r="r" b="b"/>
              <a:pathLst>
                <a:path w="1456690" h="607060">
                  <a:moveTo>
                    <a:pt x="0" y="0"/>
                  </a:moveTo>
                  <a:lnTo>
                    <a:pt x="1456073" y="60673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277018" y="2274201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5" h="0">
                  <a:moveTo>
                    <a:pt x="0" y="0"/>
                  </a:moveTo>
                  <a:lnTo>
                    <a:pt x="367552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34605" y="3178264"/>
              <a:ext cx="164998" cy="77411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88999" y="2981464"/>
              <a:ext cx="114230" cy="230797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7388994" y="3151605"/>
              <a:ext cx="52069" cy="60960"/>
            </a:xfrm>
            <a:custGeom>
              <a:avLst/>
              <a:gdLst/>
              <a:ahLst/>
              <a:cxnLst/>
              <a:rect l="l" t="t" r="r" b="b"/>
              <a:pathLst>
                <a:path w="52070" h="60960">
                  <a:moveTo>
                    <a:pt x="46668" y="42629"/>
                  </a:moveTo>
                  <a:lnTo>
                    <a:pt x="51124" y="30875"/>
                  </a:lnTo>
                  <a:lnTo>
                    <a:pt x="51633" y="19429"/>
                  </a:lnTo>
                  <a:lnTo>
                    <a:pt x="48361" y="9578"/>
                  </a:lnTo>
                  <a:lnTo>
                    <a:pt x="41477" y="2611"/>
                  </a:lnTo>
                  <a:lnTo>
                    <a:pt x="32131" y="0"/>
                  </a:lnTo>
                  <a:lnTo>
                    <a:pt x="22146" y="2029"/>
                  </a:lnTo>
                  <a:lnTo>
                    <a:pt x="12698" y="8202"/>
                  </a:lnTo>
                  <a:lnTo>
                    <a:pt x="4964" y="18022"/>
                  </a:lnTo>
                  <a:lnTo>
                    <a:pt x="508" y="29780"/>
                  </a:lnTo>
                  <a:lnTo>
                    <a:pt x="0" y="41227"/>
                  </a:lnTo>
                  <a:lnTo>
                    <a:pt x="3271" y="51077"/>
                  </a:lnTo>
                  <a:lnTo>
                    <a:pt x="10155" y="58040"/>
                  </a:lnTo>
                  <a:lnTo>
                    <a:pt x="19505" y="60651"/>
                  </a:lnTo>
                  <a:lnTo>
                    <a:pt x="29489" y="58622"/>
                  </a:lnTo>
                  <a:lnTo>
                    <a:pt x="38935" y="52449"/>
                  </a:lnTo>
                  <a:lnTo>
                    <a:pt x="46668" y="42629"/>
                  </a:lnTo>
                  <a:close/>
                </a:path>
              </a:pathLst>
            </a:custGeom>
            <a:ln w="724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234605" y="3127375"/>
              <a:ext cx="155638" cy="96994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7234612" y="3127376"/>
              <a:ext cx="156210" cy="97155"/>
            </a:xfrm>
            <a:custGeom>
              <a:avLst/>
              <a:gdLst/>
              <a:ahLst/>
              <a:cxnLst/>
              <a:rect l="l" t="t" r="r" b="b"/>
              <a:pathLst>
                <a:path w="156209" h="97155">
                  <a:moveTo>
                    <a:pt x="71731" y="0"/>
                  </a:moveTo>
                  <a:lnTo>
                    <a:pt x="23685" y="27066"/>
                  </a:lnTo>
                  <a:lnTo>
                    <a:pt x="0" y="54038"/>
                  </a:lnTo>
                  <a:lnTo>
                    <a:pt x="4434" y="65275"/>
                  </a:lnTo>
                  <a:lnTo>
                    <a:pt x="44095" y="94800"/>
                  </a:lnTo>
                  <a:lnTo>
                    <a:pt x="59257" y="96987"/>
                  </a:lnTo>
                  <a:lnTo>
                    <a:pt x="74565" y="95904"/>
                  </a:lnTo>
                  <a:lnTo>
                    <a:pt x="89528" y="91534"/>
                  </a:lnTo>
                  <a:lnTo>
                    <a:pt x="155634" y="50881"/>
                  </a:lnTo>
                  <a:lnTo>
                    <a:pt x="71731" y="0"/>
                  </a:lnTo>
                  <a:close/>
                </a:path>
              </a:pathLst>
            </a:custGeom>
            <a:ln w="7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325931" y="2980855"/>
              <a:ext cx="149616" cy="172021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7325931" y="2981468"/>
              <a:ext cx="149860" cy="171450"/>
            </a:xfrm>
            <a:custGeom>
              <a:avLst/>
              <a:gdLst/>
              <a:ahLst/>
              <a:cxnLst/>
              <a:rect l="l" t="t" r="r" b="b"/>
              <a:pathLst>
                <a:path w="149859" h="171450">
                  <a:moveTo>
                    <a:pt x="0" y="119420"/>
                  </a:moveTo>
                  <a:lnTo>
                    <a:pt x="87239" y="171402"/>
                  </a:lnTo>
                  <a:lnTo>
                    <a:pt x="93006" y="170210"/>
                  </a:lnTo>
                  <a:lnTo>
                    <a:pt x="142565" y="81061"/>
                  </a:lnTo>
                  <a:lnTo>
                    <a:pt x="149611" y="59861"/>
                  </a:lnTo>
                  <a:lnTo>
                    <a:pt x="148356" y="38392"/>
                  </a:lnTo>
                  <a:lnTo>
                    <a:pt x="123407" y="4494"/>
                  </a:lnTo>
                  <a:lnTo>
                    <a:pt x="113697" y="0"/>
                  </a:lnTo>
                  <a:lnTo>
                    <a:pt x="95049" y="172"/>
                  </a:lnTo>
                  <a:lnTo>
                    <a:pt x="77468" y="5671"/>
                  </a:lnTo>
                  <a:lnTo>
                    <a:pt x="61978" y="16007"/>
                  </a:lnTo>
                  <a:lnTo>
                    <a:pt x="49604" y="30692"/>
                  </a:lnTo>
                  <a:lnTo>
                    <a:pt x="0" y="119420"/>
                  </a:lnTo>
                  <a:close/>
                </a:path>
              </a:pathLst>
            </a:custGeom>
            <a:ln w="7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306334" y="3100895"/>
              <a:ext cx="106832" cy="77368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7306343" y="3100888"/>
              <a:ext cx="107314" cy="77470"/>
            </a:xfrm>
            <a:custGeom>
              <a:avLst/>
              <a:gdLst/>
              <a:ahLst/>
              <a:cxnLst/>
              <a:rect l="l" t="t" r="r" b="b"/>
              <a:pathLst>
                <a:path w="107315" h="77469">
                  <a:moveTo>
                    <a:pt x="0" y="26487"/>
                  </a:moveTo>
                  <a:lnTo>
                    <a:pt x="83902" y="77368"/>
                  </a:lnTo>
                  <a:lnTo>
                    <a:pt x="87352" y="69023"/>
                  </a:lnTo>
                  <a:lnTo>
                    <a:pt x="92482" y="61834"/>
                  </a:lnTo>
                  <a:lnTo>
                    <a:pt x="99055" y="56065"/>
                  </a:lnTo>
                  <a:lnTo>
                    <a:pt x="106830" y="51981"/>
                  </a:lnTo>
                  <a:lnTo>
                    <a:pt x="19591" y="0"/>
                  </a:lnTo>
                  <a:lnTo>
                    <a:pt x="12427" y="4541"/>
                  </a:lnTo>
                  <a:lnTo>
                    <a:pt x="6620" y="10678"/>
                  </a:lnTo>
                  <a:lnTo>
                    <a:pt x="2400" y="18097"/>
                  </a:lnTo>
                  <a:lnTo>
                    <a:pt x="0" y="26487"/>
                  </a:lnTo>
                  <a:close/>
                </a:path>
              </a:pathLst>
            </a:custGeom>
            <a:ln w="72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279740" y="3180499"/>
              <a:ext cx="15240" cy="11430"/>
            </a:xfrm>
            <a:custGeom>
              <a:avLst/>
              <a:gdLst/>
              <a:ahLst/>
              <a:cxnLst/>
              <a:rect l="l" t="t" r="r" b="b"/>
              <a:pathLst>
                <a:path w="15240" h="11430">
                  <a:moveTo>
                    <a:pt x="4869" y="11252"/>
                  </a:moveTo>
                  <a:lnTo>
                    <a:pt x="1339" y="10006"/>
                  </a:lnTo>
                  <a:lnTo>
                    <a:pt x="0" y="4900"/>
                  </a:lnTo>
                  <a:lnTo>
                    <a:pt x="2446" y="2018"/>
                  </a:lnTo>
                  <a:lnTo>
                    <a:pt x="9814" y="0"/>
                  </a:lnTo>
                  <a:lnTo>
                    <a:pt x="13345" y="1246"/>
                  </a:lnTo>
                  <a:lnTo>
                    <a:pt x="14011" y="3799"/>
                  </a:lnTo>
                  <a:lnTo>
                    <a:pt x="14676" y="6352"/>
                  </a:lnTo>
                  <a:lnTo>
                    <a:pt x="12238" y="9234"/>
                  </a:lnTo>
                  <a:lnTo>
                    <a:pt x="4869" y="112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7279740" y="3180499"/>
              <a:ext cx="15240" cy="11430"/>
            </a:xfrm>
            <a:custGeom>
              <a:avLst/>
              <a:gdLst/>
              <a:ahLst/>
              <a:cxnLst/>
              <a:rect l="l" t="t" r="r" b="b"/>
              <a:pathLst>
                <a:path w="15240" h="11430">
                  <a:moveTo>
                    <a:pt x="14011" y="3799"/>
                  </a:moveTo>
                  <a:lnTo>
                    <a:pt x="13345" y="1246"/>
                  </a:lnTo>
                  <a:lnTo>
                    <a:pt x="9814" y="0"/>
                  </a:lnTo>
                  <a:lnTo>
                    <a:pt x="6126" y="1009"/>
                  </a:lnTo>
                  <a:lnTo>
                    <a:pt x="2446" y="2018"/>
                  </a:lnTo>
                  <a:lnTo>
                    <a:pt x="0" y="4900"/>
                  </a:lnTo>
                  <a:lnTo>
                    <a:pt x="673" y="7453"/>
                  </a:lnTo>
                  <a:lnTo>
                    <a:pt x="1339" y="10006"/>
                  </a:lnTo>
                  <a:lnTo>
                    <a:pt x="4869" y="11252"/>
                  </a:lnTo>
                  <a:lnTo>
                    <a:pt x="8550" y="10243"/>
                  </a:lnTo>
                  <a:lnTo>
                    <a:pt x="12238" y="9234"/>
                  </a:lnTo>
                  <a:lnTo>
                    <a:pt x="14676" y="6352"/>
                  </a:lnTo>
                  <a:lnTo>
                    <a:pt x="14011" y="3799"/>
                  </a:lnTo>
                  <a:close/>
                </a:path>
              </a:pathLst>
            </a:custGeom>
            <a:ln w="7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373276" y="2992005"/>
              <a:ext cx="93754" cy="91503"/>
            </a:xfrm>
            <a:prstGeom prst="rect">
              <a:avLst/>
            </a:prstGeom>
          </p:spPr>
        </p:pic>
        <p:sp>
          <p:nvSpPr>
            <p:cNvPr id="160" name="object 160" descr=""/>
            <p:cNvSpPr/>
            <p:nvPr/>
          </p:nvSpPr>
          <p:spPr>
            <a:xfrm>
              <a:off x="7373271" y="2992006"/>
              <a:ext cx="93980" cy="92075"/>
            </a:xfrm>
            <a:custGeom>
              <a:avLst/>
              <a:gdLst/>
              <a:ahLst/>
              <a:cxnLst/>
              <a:rect l="l" t="t" r="r" b="b"/>
              <a:pathLst>
                <a:path w="93979" h="92075">
                  <a:moveTo>
                    <a:pt x="0" y="46768"/>
                  </a:moveTo>
                  <a:lnTo>
                    <a:pt x="75584" y="91495"/>
                  </a:lnTo>
                  <a:lnTo>
                    <a:pt x="88121" y="67714"/>
                  </a:lnTo>
                  <a:lnTo>
                    <a:pt x="93759" y="50754"/>
                  </a:lnTo>
                  <a:lnTo>
                    <a:pt x="72479" y="6092"/>
                  </a:lnTo>
                  <a:lnTo>
                    <a:pt x="58244" y="0"/>
                  </a:lnTo>
                  <a:lnTo>
                    <a:pt x="50516" y="7"/>
                  </a:lnTo>
                  <a:lnTo>
                    <a:pt x="12933" y="24133"/>
                  </a:lnTo>
                  <a:lnTo>
                    <a:pt x="0" y="46768"/>
                  </a:lnTo>
                  <a:close/>
                </a:path>
              </a:pathLst>
            </a:custGeom>
            <a:ln w="72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234608" y="2981107"/>
              <a:ext cx="268605" cy="274320"/>
            </a:xfrm>
            <a:custGeom>
              <a:avLst/>
              <a:gdLst/>
              <a:ahLst/>
              <a:cxnLst/>
              <a:rect l="l" t="t" r="r" b="b"/>
              <a:pathLst>
                <a:path w="268604" h="274320">
                  <a:moveTo>
                    <a:pt x="91323" y="119781"/>
                  </a:moveTo>
                  <a:lnTo>
                    <a:pt x="84240" y="124406"/>
                  </a:lnTo>
                  <a:lnTo>
                    <a:pt x="78472" y="130554"/>
                  </a:lnTo>
                  <a:lnTo>
                    <a:pt x="74232" y="137938"/>
                  </a:lnTo>
                  <a:lnTo>
                    <a:pt x="71731" y="146269"/>
                  </a:lnTo>
                  <a:lnTo>
                    <a:pt x="8340" y="183459"/>
                  </a:lnTo>
                  <a:lnTo>
                    <a:pt x="3291" y="187495"/>
                  </a:lnTo>
                  <a:lnTo>
                    <a:pt x="231" y="193672"/>
                  </a:lnTo>
                  <a:lnTo>
                    <a:pt x="0" y="200307"/>
                  </a:lnTo>
                  <a:lnTo>
                    <a:pt x="52" y="232873"/>
                  </a:lnTo>
                  <a:lnTo>
                    <a:pt x="30957" y="268497"/>
                  </a:lnTo>
                  <a:lnTo>
                    <a:pt x="58262" y="274274"/>
                  </a:lnTo>
                  <a:lnTo>
                    <a:pt x="70218" y="274162"/>
                  </a:lnTo>
                  <a:lnTo>
                    <a:pt x="82082" y="272602"/>
                  </a:lnTo>
                  <a:lnTo>
                    <a:pt x="93732" y="269604"/>
                  </a:lnTo>
                  <a:lnTo>
                    <a:pt x="161536" y="228783"/>
                  </a:lnTo>
                  <a:lnTo>
                    <a:pt x="171919" y="230998"/>
                  </a:lnTo>
                  <a:lnTo>
                    <a:pt x="203708" y="203883"/>
                  </a:lnTo>
                  <a:lnTo>
                    <a:pt x="204556" y="197189"/>
                  </a:lnTo>
                  <a:lnTo>
                    <a:pt x="204116" y="190385"/>
                  </a:lnTo>
                  <a:lnTo>
                    <a:pt x="266714" y="81965"/>
                  </a:lnTo>
                  <a:lnTo>
                    <a:pt x="268480" y="63089"/>
                  </a:lnTo>
                  <a:lnTo>
                    <a:pt x="264505" y="45056"/>
                  </a:lnTo>
                  <a:lnTo>
                    <a:pt x="255321" y="29235"/>
                  </a:lnTo>
                  <a:lnTo>
                    <a:pt x="241459" y="16995"/>
                  </a:lnTo>
                  <a:lnTo>
                    <a:pt x="205021" y="361"/>
                  </a:lnTo>
                  <a:lnTo>
                    <a:pt x="186168" y="0"/>
                  </a:lnTo>
                  <a:lnTo>
                    <a:pt x="168435" y="5361"/>
                  </a:lnTo>
                  <a:lnTo>
                    <a:pt x="152972" y="15895"/>
                  </a:lnTo>
                  <a:lnTo>
                    <a:pt x="140927" y="31053"/>
                  </a:lnTo>
                  <a:lnTo>
                    <a:pt x="91323" y="119781"/>
                  </a:lnTo>
                </a:path>
              </a:pathLst>
            </a:custGeom>
            <a:ln w="1512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348727" y="3053753"/>
              <a:ext cx="81432" cy="81241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355813" y="3056173"/>
              <a:ext cx="72830" cy="77087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6669144" y="2505339"/>
              <a:ext cx="579755" cy="491490"/>
            </a:xfrm>
            <a:custGeom>
              <a:avLst/>
              <a:gdLst/>
              <a:ahLst/>
              <a:cxnLst/>
              <a:rect l="l" t="t" r="r" b="b"/>
              <a:pathLst>
                <a:path w="579754" h="491489">
                  <a:moveTo>
                    <a:pt x="0" y="0"/>
                  </a:moveTo>
                  <a:lnTo>
                    <a:pt x="579598" y="49116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6758676" y="2492745"/>
              <a:ext cx="579755" cy="491490"/>
            </a:xfrm>
            <a:custGeom>
              <a:avLst/>
              <a:gdLst/>
              <a:ahLst/>
              <a:cxnLst/>
              <a:rect l="l" t="t" r="r" b="b"/>
              <a:pathLst>
                <a:path w="579754" h="491489">
                  <a:moveTo>
                    <a:pt x="0" y="0"/>
                  </a:moveTo>
                  <a:lnTo>
                    <a:pt x="579598" y="491167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588023" y="2505339"/>
              <a:ext cx="664845" cy="491490"/>
            </a:xfrm>
            <a:custGeom>
              <a:avLst/>
              <a:gdLst/>
              <a:ahLst/>
              <a:cxnLst/>
              <a:rect l="l" t="t" r="r" b="b"/>
              <a:pathLst>
                <a:path w="664845" h="491489">
                  <a:moveTo>
                    <a:pt x="664421" y="0"/>
                  </a:moveTo>
                  <a:lnTo>
                    <a:pt x="0" y="49116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 descr=""/>
          <p:cNvSpPr txBox="1"/>
          <p:nvPr/>
        </p:nvSpPr>
        <p:spPr>
          <a:xfrm>
            <a:off x="3273911" y="798509"/>
            <a:ext cx="129921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3a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 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68" name="object 168" descr=""/>
          <p:cNvSpPr txBox="1"/>
          <p:nvPr/>
        </p:nvSpPr>
        <p:spPr>
          <a:xfrm>
            <a:off x="6032443" y="775429"/>
            <a:ext cx="12909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35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3x</a:t>
            </a:r>
            <a:r>
              <a:rPr dirty="0" sz="1400" spc="-3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69" name="object 169" descr=""/>
          <p:cNvSpPr txBox="1"/>
          <p:nvPr/>
        </p:nvSpPr>
        <p:spPr>
          <a:xfrm>
            <a:off x="3355404" y="3713992"/>
            <a:ext cx="2637155" cy="113474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4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4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algn="just" marL="182245" marR="5080" indent="-170180">
              <a:lnSpc>
                <a:spcPct val="13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5">
                <a:latin typeface="Microsoft YaHei"/>
                <a:cs typeface="Microsoft YaHei"/>
              </a:rPr>
              <a:t>承载并转发，用户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面数据由EPC</a:t>
            </a:r>
            <a:r>
              <a:rPr dirty="0" sz="1400" spc="-25">
                <a:latin typeface="Microsoft YaHei"/>
                <a:cs typeface="Microsoft YaHei"/>
              </a:rPr>
              <a:t>分流，</a:t>
            </a:r>
            <a:r>
              <a:rPr dirty="0" sz="1400" spc="-35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与5G</a:t>
            </a:r>
            <a:r>
              <a:rPr dirty="0" sz="1400" spc="-50">
                <a:latin typeface="Microsoft YaHei"/>
                <a:cs typeface="Microsoft YaHei"/>
              </a:rPr>
              <a:t>独</a:t>
            </a:r>
            <a:r>
              <a:rPr dirty="0" sz="1400" spc="-50">
                <a:latin typeface="Microsoft YaHei"/>
                <a:cs typeface="Microsoft YaHei"/>
              </a:rPr>
              <a:t>	</a:t>
            </a:r>
            <a:r>
              <a:rPr dirty="0" sz="1400" spc="-35">
                <a:latin typeface="Microsoft YaHei"/>
                <a:cs typeface="Microsoft YaHei"/>
              </a:rPr>
              <a:t>立传输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70" name="object 170" descr=""/>
          <p:cNvSpPr txBox="1"/>
          <p:nvPr/>
        </p:nvSpPr>
        <p:spPr>
          <a:xfrm>
            <a:off x="6206438" y="3849992"/>
            <a:ext cx="2667000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+LTE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marL="182245" marR="5080" indent="-170180">
              <a:lnSpc>
                <a:spcPct val="13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承载并转发，由</a:t>
            </a:r>
            <a:r>
              <a:rPr dirty="0" sz="1400" spc="-25">
                <a:latin typeface="Microsoft YaHei"/>
                <a:cs typeface="Microsoft YaHei"/>
              </a:rPr>
              <a:t>5G 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NR将数据分流给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eNB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71" name="object 171" descr=""/>
          <p:cNvGrpSpPr/>
          <p:nvPr/>
        </p:nvGrpSpPr>
        <p:grpSpPr>
          <a:xfrm>
            <a:off x="1114919" y="2510915"/>
            <a:ext cx="2498090" cy="1148080"/>
            <a:chOff x="1114919" y="2510915"/>
            <a:chExt cx="2498090" cy="1148080"/>
          </a:xfrm>
        </p:grpSpPr>
        <p:sp>
          <p:nvSpPr>
            <p:cNvPr id="172" name="object 172" descr=""/>
            <p:cNvSpPr/>
            <p:nvPr/>
          </p:nvSpPr>
          <p:spPr>
            <a:xfrm>
              <a:off x="1798619" y="2698581"/>
              <a:ext cx="1801495" cy="947419"/>
            </a:xfrm>
            <a:custGeom>
              <a:avLst/>
              <a:gdLst/>
              <a:ahLst/>
              <a:cxnLst/>
              <a:rect l="l" t="t" r="r" b="b"/>
              <a:pathLst>
                <a:path w="1801495" h="947420">
                  <a:moveTo>
                    <a:pt x="163082" y="311855"/>
                  </a:moveTo>
                  <a:lnTo>
                    <a:pt x="161104" y="271048"/>
                  </a:lnTo>
                  <a:lnTo>
                    <a:pt x="170232" y="231971"/>
                  </a:lnTo>
                  <a:lnTo>
                    <a:pt x="189497" y="195537"/>
                  </a:lnTo>
                  <a:lnTo>
                    <a:pt x="217931" y="162657"/>
                  </a:lnTo>
                  <a:lnTo>
                    <a:pt x="254566" y="134245"/>
                  </a:lnTo>
                  <a:lnTo>
                    <a:pt x="298432" y="111214"/>
                  </a:lnTo>
                  <a:lnTo>
                    <a:pt x="348563" y="94476"/>
                  </a:lnTo>
                  <a:lnTo>
                    <a:pt x="403988" y="84944"/>
                  </a:lnTo>
                  <a:lnTo>
                    <a:pt x="450828" y="83204"/>
                  </a:lnTo>
                  <a:lnTo>
                    <a:pt x="497106" y="87017"/>
                  </a:lnTo>
                  <a:lnTo>
                    <a:pt x="541871" y="96246"/>
                  </a:lnTo>
                  <a:lnTo>
                    <a:pt x="584175" y="110751"/>
                  </a:lnTo>
                  <a:lnTo>
                    <a:pt x="613265" y="80447"/>
                  </a:lnTo>
                  <a:lnTo>
                    <a:pt x="649974" y="56442"/>
                  </a:lnTo>
                  <a:lnTo>
                    <a:pt x="692500" y="39133"/>
                  </a:lnTo>
                  <a:lnTo>
                    <a:pt x="739039" y="28914"/>
                  </a:lnTo>
                  <a:lnTo>
                    <a:pt x="787787" y="26182"/>
                  </a:lnTo>
                  <a:lnTo>
                    <a:pt x="836940" y="31332"/>
                  </a:lnTo>
                  <a:lnTo>
                    <a:pt x="884696" y="44761"/>
                  </a:lnTo>
                  <a:lnTo>
                    <a:pt x="924479" y="64142"/>
                  </a:lnTo>
                  <a:lnTo>
                    <a:pt x="936334" y="71927"/>
                  </a:lnTo>
                  <a:lnTo>
                    <a:pt x="963733" y="42987"/>
                  </a:lnTo>
                  <a:lnTo>
                    <a:pt x="999536" y="20981"/>
                  </a:lnTo>
                  <a:lnTo>
                    <a:pt x="1041420" y="6466"/>
                  </a:lnTo>
                  <a:lnTo>
                    <a:pt x="1087058" y="0"/>
                  </a:lnTo>
                  <a:lnTo>
                    <a:pt x="1134127" y="2139"/>
                  </a:lnTo>
                  <a:lnTo>
                    <a:pt x="1180301" y="13443"/>
                  </a:lnTo>
                  <a:lnTo>
                    <a:pt x="1215029" y="29647"/>
                  </a:lnTo>
                  <a:lnTo>
                    <a:pt x="1243737" y="51061"/>
                  </a:lnTo>
                  <a:lnTo>
                    <a:pt x="1284042" y="25066"/>
                  </a:lnTo>
                  <a:lnTo>
                    <a:pt x="1330870" y="8135"/>
                  </a:lnTo>
                  <a:lnTo>
                    <a:pt x="1381499" y="429"/>
                  </a:lnTo>
                  <a:lnTo>
                    <a:pt x="1433211" y="2105"/>
                  </a:lnTo>
                  <a:lnTo>
                    <a:pt x="1483286" y="13325"/>
                  </a:lnTo>
                  <a:lnTo>
                    <a:pt x="1529005" y="34246"/>
                  </a:lnTo>
                  <a:lnTo>
                    <a:pt x="1573483" y="72352"/>
                  </a:lnTo>
                  <a:lnTo>
                    <a:pt x="1597331" y="118955"/>
                  </a:lnTo>
                  <a:lnTo>
                    <a:pt x="1652248" y="135597"/>
                  </a:lnTo>
                  <a:lnTo>
                    <a:pt x="1697583" y="161128"/>
                  </a:lnTo>
                  <a:lnTo>
                    <a:pt x="1731849" y="193680"/>
                  </a:lnTo>
                  <a:lnTo>
                    <a:pt x="1753558" y="231387"/>
                  </a:lnTo>
                  <a:lnTo>
                    <a:pt x="1761225" y="272383"/>
                  </a:lnTo>
                  <a:lnTo>
                    <a:pt x="1753363" y="314801"/>
                  </a:lnTo>
                  <a:lnTo>
                    <a:pt x="1750658" y="321952"/>
                  </a:lnTo>
                  <a:lnTo>
                    <a:pt x="1747254" y="328949"/>
                  </a:lnTo>
                  <a:lnTo>
                    <a:pt x="1743190" y="335756"/>
                  </a:lnTo>
                  <a:lnTo>
                    <a:pt x="1773298" y="370584"/>
                  </a:lnTo>
                  <a:lnTo>
                    <a:pt x="1792531" y="407869"/>
                  </a:lnTo>
                  <a:lnTo>
                    <a:pt x="1801100" y="446472"/>
                  </a:lnTo>
                  <a:lnTo>
                    <a:pt x="1799211" y="485253"/>
                  </a:lnTo>
                  <a:lnTo>
                    <a:pt x="1787075" y="523071"/>
                  </a:lnTo>
                  <a:lnTo>
                    <a:pt x="1764898" y="558786"/>
                  </a:lnTo>
                  <a:lnTo>
                    <a:pt x="1732890" y="591258"/>
                  </a:lnTo>
                  <a:lnTo>
                    <a:pt x="1691260" y="619347"/>
                  </a:lnTo>
                  <a:lnTo>
                    <a:pt x="1628839" y="645346"/>
                  </a:lnTo>
                  <a:lnTo>
                    <a:pt x="1559256" y="659162"/>
                  </a:lnTo>
                  <a:lnTo>
                    <a:pt x="1552442" y="698691"/>
                  </a:lnTo>
                  <a:lnTo>
                    <a:pt x="1533897" y="734907"/>
                  </a:lnTo>
                  <a:lnTo>
                    <a:pt x="1505080" y="766782"/>
                  </a:lnTo>
                  <a:lnTo>
                    <a:pt x="1467449" y="793289"/>
                  </a:lnTo>
                  <a:lnTo>
                    <a:pt x="1422463" y="813402"/>
                  </a:lnTo>
                  <a:lnTo>
                    <a:pt x="1371578" y="826092"/>
                  </a:lnTo>
                  <a:lnTo>
                    <a:pt x="1316254" y="830333"/>
                  </a:lnTo>
                  <a:lnTo>
                    <a:pt x="1283152" y="828506"/>
                  </a:lnTo>
                  <a:lnTo>
                    <a:pt x="1250860" y="823470"/>
                  </a:lnTo>
                  <a:lnTo>
                    <a:pt x="1219833" y="815322"/>
                  </a:lnTo>
                  <a:lnTo>
                    <a:pt x="1190524" y="804158"/>
                  </a:lnTo>
                  <a:lnTo>
                    <a:pt x="1171532" y="837989"/>
                  </a:lnTo>
                  <a:lnTo>
                    <a:pt x="1145231" y="867997"/>
                  </a:lnTo>
                  <a:lnTo>
                    <a:pt x="1112611" y="893803"/>
                  </a:lnTo>
                  <a:lnTo>
                    <a:pt x="1074664" y="915024"/>
                  </a:lnTo>
                  <a:lnTo>
                    <a:pt x="1032380" y="931280"/>
                  </a:lnTo>
                  <a:lnTo>
                    <a:pt x="986751" y="942190"/>
                  </a:lnTo>
                  <a:lnTo>
                    <a:pt x="938767" y="947372"/>
                  </a:lnTo>
                  <a:lnTo>
                    <a:pt x="889420" y="946447"/>
                  </a:lnTo>
                  <a:lnTo>
                    <a:pt x="839699" y="939032"/>
                  </a:lnTo>
                  <a:lnTo>
                    <a:pt x="794685" y="926109"/>
                  </a:lnTo>
                  <a:lnTo>
                    <a:pt x="753711" y="907976"/>
                  </a:lnTo>
                  <a:lnTo>
                    <a:pt x="717638" y="885091"/>
                  </a:lnTo>
                  <a:lnTo>
                    <a:pt x="687325" y="857917"/>
                  </a:lnTo>
                  <a:lnTo>
                    <a:pt x="640433" y="874648"/>
                  </a:lnTo>
                  <a:lnTo>
                    <a:pt x="591728" y="885470"/>
                  </a:lnTo>
                  <a:lnTo>
                    <a:pt x="542117" y="890546"/>
                  </a:lnTo>
                  <a:lnTo>
                    <a:pt x="492511" y="890038"/>
                  </a:lnTo>
                  <a:lnTo>
                    <a:pt x="443818" y="884109"/>
                  </a:lnTo>
                  <a:lnTo>
                    <a:pt x="396947" y="872922"/>
                  </a:lnTo>
                  <a:lnTo>
                    <a:pt x="352807" y="856640"/>
                  </a:lnTo>
                  <a:lnTo>
                    <a:pt x="312306" y="835425"/>
                  </a:lnTo>
                  <a:lnTo>
                    <a:pt x="276354" y="809439"/>
                  </a:lnTo>
                  <a:lnTo>
                    <a:pt x="245860" y="778847"/>
                  </a:lnTo>
                  <a:lnTo>
                    <a:pt x="242469" y="774694"/>
                  </a:lnTo>
                  <a:lnTo>
                    <a:pt x="184349" y="772903"/>
                  </a:lnTo>
                  <a:lnTo>
                    <a:pt x="131804" y="758753"/>
                  </a:lnTo>
                  <a:lnTo>
                    <a:pt x="88156" y="734117"/>
                  </a:lnTo>
                  <a:lnTo>
                    <a:pt x="56725" y="700871"/>
                  </a:lnTo>
                  <a:lnTo>
                    <a:pt x="40831" y="660889"/>
                  </a:lnTo>
                  <a:lnTo>
                    <a:pt x="40530" y="632579"/>
                  </a:lnTo>
                  <a:lnTo>
                    <a:pt x="48688" y="605204"/>
                  </a:lnTo>
                  <a:lnTo>
                    <a:pt x="64868" y="579713"/>
                  </a:lnTo>
                  <a:lnTo>
                    <a:pt x="88634" y="557054"/>
                  </a:lnTo>
                  <a:lnTo>
                    <a:pt x="43917" y="530487"/>
                  </a:lnTo>
                  <a:lnTo>
                    <a:pt x="14016" y="496421"/>
                  </a:lnTo>
                  <a:lnTo>
                    <a:pt x="0" y="457796"/>
                  </a:lnTo>
                  <a:lnTo>
                    <a:pt x="2935" y="417549"/>
                  </a:lnTo>
                  <a:lnTo>
                    <a:pt x="23890" y="378619"/>
                  </a:lnTo>
                  <a:lnTo>
                    <a:pt x="82143" y="334866"/>
                  </a:lnTo>
                  <a:lnTo>
                    <a:pt x="119946" y="321531"/>
                  </a:lnTo>
                  <a:lnTo>
                    <a:pt x="161570" y="314801"/>
                  </a:lnTo>
                  <a:lnTo>
                    <a:pt x="163082" y="311855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14919" y="2510915"/>
              <a:ext cx="78041" cy="78054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48672" y="2588790"/>
              <a:ext cx="130682" cy="130683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31282" y="2686229"/>
              <a:ext cx="183337" cy="183337"/>
            </a:xfrm>
            <a:prstGeom prst="rect">
              <a:avLst/>
            </a:prstGeom>
          </p:spPr>
        </p:pic>
        <p:sp>
          <p:nvSpPr>
            <p:cNvPr id="176" name="object 176" descr=""/>
            <p:cNvSpPr/>
            <p:nvPr/>
          </p:nvSpPr>
          <p:spPr>
            <a:xfrm>
              <a:off x="1889184" y="2746568"/>
              <a:ext cx="1652270" cy="806450"/>
            </a:xfrm>
            <a:custGeom>
              <a:avLst/>
              <a:gdLst/>
              <a:ahLst/>
              <a:cxnLst/>
              <a:rect l="l" t="t" r="r" b="b"/>
              <a:pathLst>
                <a:path w="1652270" h="806450">
                  <a:moveTo>
                    <a:pt x="105562" y="522859"/>
                  </a:moveTo>
                  <a:lnTo>
                    <a:pt x="78009" y="522891"/>
                  </a:lnTo>
                  <a:lnTo>
                    <a:pt x="50923" y="519934"/>
                  </a:lnTo>
                  <a:lnTo>
                    <a:pt x="24766" y="514068"/>
                  </a:lnTo>
                  <a:lnTo>
                    <a:pt x="0" y="505371"/>
                  </a:lnTo>
                </a:path>
                <a:path w="1652270" h="806450">
                  <a:moveTo>
                    <a:pt x="198691" y="714171"/>
                  </a:moveTo>
                  <a:lnTo>
                    <a:pt x="187456" y="717077"/>
                  </a:lnTo>
                  <a:lnTo>
                    <a:pt x="175988" y="719447"/>
                  </a:lnTo>
                  <a:lnTo>
                    <a:pt x="164328" y="721270"/>
                  </a:lnTo>
                  <a:lnTo>
                    <a:pt x="152514" y="722541"/>
                  </a:lnTo>
                </a:path>
                <a:path w="1652270" h="806450">
                  <a:moveTo>
                    <a:pt x="596658" y="806107"/>
                  </a:moveTo>
                  <a:lnTo>
                    <a:pt x="588646" y="796975"/>
                  </a:lnTo>
                  <a:lnTo>
                    <a:pt x="581326" y="787558"/>
                  </a:lnTo>
                  <a:lnTo>
                    <a:pt x="574716" y="777875"/>
                  </a:lnTo>
                  <a:lnTo>
                    <a:pt x="568833" y="767943"/>
                  </a:lnTo>
                </a:path>
                <a:path w="1652270" h="806450">
                  <a:moveTo>
                    <a:pt x="1111262" y="710933"/>
                  </a:moveTo>
                  <a:lnTo>
                    <a:pt x="1109642" y="721549"/>
                  </a:lnTo>
                  <a:lnTo>
                    <a:pt x="1107244" y="732083"/>
                  </a:lnTo>
                  <a:lnTo>
                    <a:pt x="1104077" y="742510"/>
                  </a:lnTo>
                  <a:lnTo>
                    <a:pt x="1100150" y="752805"/>
                  </a:lnTo>
                </a:path>
                <a:path w="1652270" h="806450">
                  <a:moveTo>
                    <a:pt x="1332191" y="452158"/>
                  </a:moveTo>
                  <a:lnTo>
                    <a:pt x="1378430" y="473239"/>
                  </a:lnTo>
                  <a:lnTo>
                    <a:pt x="1416186" y="500686"/>
                  </a:lnTo>
                  <a:lnTo>
                    <a:pt x="1444373" y="533246"/>
                  </a:lnTo>
                  <a:lnTo>
                    <a:pt x="1461902" y="569663"/>
                  </a:lnTo>
                  <a:lnTo>
                    <a:pt x="1467688" y="608685"/>
                  </a:lnTo>
                </a:path>
                <a:path w="1652270" h="806450">
                  <a:moveTo>
                    <a:pt x="1651774" y="285457"/>
                  </a:moveTo>
                  <a:lnTo>
                    <a:pt x="1640320" y="301937"/>
                  </a:lnTo>
                  <a:lnTo>
                    <a:pt x="1626346" y="317311"/>
                  </a:lnTo>
                  <a:lnTo>
                    <a:pt x="1610005" y="331429"/>
                  </a:lnTo>
                  <a:lnTo>
                    <a:pt x="1591449" y="344144"/>
                  </a:lnTo>
                </a:path>
                <a:path w="1652270" h="806450">
                  <a:moveTo>
                    <a:pt x="1507007" y="67678"/>
                  </a:moveTo>
                  <a:lnTo>
                    <a:pt x="1508507" y="74560"/>
                  </a:lnTo>
                  <a:lnTo>
                    <a:pt x="1509539" y="81483"/>
                  </a:lnTo>
                  <a:lnTo>
                    <a:pt x="1510102" y="88434"/>
                  </a:lnTo>
                  <a:lnTo>
                    <a:pt x="1510195" y="95402"/>
                  </a:lnTo>
                </a:path>
                <a:path w="1652270" h="806450">
                  <a:moveTo>
                    <a:pt x="1121714" y="35344"/>
                  </a:moveTo>
                  <a:lnTo>
                    <a:pt x="1128084" y="25930"/>
                  </a:lnTo>
                  <a:lnTo>
                    <a:pt x="1135380" y="16876"/>
                  </a:lnTo>
                  <a:lnTo>
                    <a:pt x="1143571" y="8221"/>
                  </a:lnTo>
                  <a:lnTo>
                    <a:pt x="1152626" y="0"/>
                  </a:lnTo>
                </a:path>
                <a:path w="1652270" h="806450">
                  <a:moveTo>
                    <a:pt x="832637" y="52197"/>
                  </a:moveTo>
                  <a:lnTo>
                    <a:pt x="835385" y="44335"/>
                  </a:lnTo>
                  <a:lnTo>
                    <a:pt x="838804" y="36617"/>
                  </a:lnTo>
                  <a:lnTo>
                    <a:pt x="842883" y="29065"/>
                  </a:lnTo>
                  <a:lnTo>
                    <a:pt x="847610" y="21704"/>
                  </a:lnTo>
                </a:path>
                <a:path w="1652270" h="806450">
                  <a:moveTo>
                    <a:pt x="493395" y="62547"/>
                  </a:moveTo>
                  <a:lnTo>
                    <a:pt x="507857" y="69049"/>
                  </a:lnTo>
                  <a:lnTo>
                    <a:pt x="521730" y="76160"/>
                  </a:lnTo>
                  <a:lnTo>
                    <a:pt x="534976" y="83859"/>
                  </a:lnTo>
                  <a:lnTo>
                    <a:pt x="547560" y="92125"/>
                  </a:lnTo>
                </a:path>
                <a:path w="1652270" h="806450">
                  <a:moveTo>
                    <a:pt x="81978" y="294995"/>
                  </a:moveTo>
                  <a:lnTo>
                    <a:pt x="78971" y="287322"/>
                  </a:lnTo>
                  <a:lnTo>
                    <a:pt x="76390" y="279571"/>
                  </a:lnTo>
                  <a:lnTo>
                    <a:pt x="74238" y="271753"/>
                  </a:lnTo>
                  <a:lnTo>
                    <a:pt x="72517" y="263880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 descr=""/>
          <p:cNvSpPr txBox="1"/>
          <p:nvPr/>
        </p:nvSpPr>
        <p:spPr>
          <a:xfrm>
            <a:off x="2149215" y="2704603"/>
            <a:ext cx="972819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对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4G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网络影</a:t>
            </a: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响大，性能</a:t>
            </a: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受限于</a:t>
            </a:r>
            <a:r>
              <a:rPr dirty="0" sz="1400" spc="-25">
                <a:solidFill>
                  <a:srgbClr val="C00000"/>
                </a:solidFill>
                <a:latin typeface="Arial MT"/>
                <a:cs typeface="Arial MT"/>
              </a:rPr>
              <a:t>LTE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网络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178" name="object 178" descr=""/>
          <p:cNvGrpSpPr/>
          <p:nvPr/>
        </p:nvGrpSpPr>
        <p:grpSpPr>
          <a:xfrm>
            <a:off x="5448705" y="1100560"/>
            <a:ext cx="3197225" cy="2583180"/>
            <a:chOff x="5448705" y="1100560"/>
            <a:chExt cx="3197225" cy="2583180"/>
          </a:xfrm>
        </p:grpSpPr>
        <p:sp>
          <p:nvSpPr>
            <p:cNvPr id="179" name="object 179" descr=""/>
            <p:cNvSpPr/>
            <p:nvPr/>
          </p:nvSpPr>
          <p:spPr>
            <a:xfrm>
              <a:off x="8037941" y="1420347"/>
              <a:ext cx="216535" cy="144145"/>
            </a:xfrm>
            <a:custGeom>
              <a:avLst/>
              <a:gdLst/>
              <a:ahLst/>
              <a:cxnLst/>
              <a:rect l="l" t="t" r="r" b="b"/>
              <a:pathLst>
                <a:path w="216534" h="144144">
                  <a:moveTo>
                    <a:pt x="0" y="0"/>
                  </a:moveTo>
                  <a:lnTo>
                    <a:pt x="216027" y="144018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253966" y="1132310"/>
              <a:ext cx="360045" cy="432434"/>
            </a:xfrm>
            <a:custGeom>
              <a:avLst/>
              <a:gdLst/>
              <a:ahLst/>
              <a:cxnLst/>
              <a:rect l="l" t="t" r="r" b="b"/>
              <a:pathLst>
                <a:path w="360045" h="432434">
                  <a:moveTo>
                    <a:pt x="0" y="432053"/>
                  </a:moveTo>
                  <a:lnTo>
                    <a:pt x="360045" y="0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5615602" y="2698630"/>
              <a:ext cx="1153160" cy="972185"/>
            </a:xfrm>
            <a:custGeom>
              <a:avLst/>
              <a:gdLst/>
              <a:ahLst/>
              <a:cxnLst/>
              <a:rect l="l" t="t" r="r" b="b"/>
              <a:pathLst>
                <a:path w="1153159" h="972185">
                  <a:moveTo>
                    <a:pt x="104016" y="319958"/>
                  </a:moveTo>
                  <a:lnTo>
                    <a:pt x="103162" y="272238"/>
                  </a:lnTo>
                  <a:lnTo>
                    <a:pt x="111477" y="227011"/>
                  </a:lnTo>
                  <a:lnTo>
                    <a:pt x="128037" y="185675"/>
                  </a:lnTo>
                  <a:lnTo>
                    <a:pt x="151914" y="149626"/>
                  </a:lnTo>
                  <a:lnTo>
                    <a:pt x="182183" y="120263"/>
                  </a:lnTo>
                  <a:lnTo>
                    <a:pt x="217918" y="98982"/>
                  </a:lnTo>
                  <a:lnTo>
                    <a:pt x="258194" y="87180"/>
                  </a:lnTo>
                  <a:lnTo>
                    <a:pt x="288172" y="85391"/>
                  </a:lnTo>
                  <a:lnTo>
                    <a:pt x="317790" y="89304"/>
                  </a:lnTo>
                  <a:lnTo>
                    <a:pt x="346439" y="98774"/>
                  </a:lnTo>
                  <a:lnTo>
                    <a:pt x="373510" y="113659"/>
                  </a:lnTo>
                  <a:lnTo>
                    <a:pt x="401005" y="71924"/>
                  </a:lnTo>
                  <a:lnTo>
                    <a:pt x="437154" y="43171"/>
                  </a:lnTo>
                  <a:lnTo>
                    <a:pt x="478789" y="28515"/>
                  </a:lnTo>
                  <a:lnTo>
                    <a:pt x="522744" y="29071"/>
                  </a:lnTo>
                  <a:lnTo>
                    <a:pt x="565851" y="45955"/>
                  </a:lnTo>
                  <a:lnTo>
                    <a:pt x="598897" y="73832"/>
                  </a:lnTo>
                  <a:lnTo>
                    <a:pt x="627311" y="31927"/>
                  </a:lnTo>
                  <a:lnTo>
                    <a:pt x="666153" y="6673"/>
                  </a:lnTo>
                  <a:lnTo>
                    <a:pt x="710400" y="0"/>
                  </a:lnTo>
                  <a:lnTo>
                    <a:pt x="755030" y="13837"/>
                  </a:lnTo>
                  <a:lnTo>
                    <a:pt x="766577" y="21427"/>
                  </a:lnTo>
                  <a:lnTo>
                    <a:pt x="777260" y="30452"/>
                  </a:lnTo>
                  <a:lnTo>
                    <a:pt x="786979" y="40816"/>
                  </a:lnTo>
                  <a:lnTo>
                    <a:pt x="795632" y="52420"/>
                  </a:lnTo>
                  <a:lnTo>
                    <a:pt x="827147" y="21530"/>
                  </a:lnTo>
                  <a:lnTo>
                    <a:pt x="864169" y="4076"/>
                  </a:lnTo>
                  <a:lnTo>
                    <a:pt x="903691" y="343"/>
                  </a:lnTo>
                  <a:lnTo>
                    <a:pt x="942706" y="10614"/>
                  </a:lnTo>
                  <a:lnTo>
                    <a:pt x="978207" y="35173"/>
                  </a:lnTo>
                  <a:lnTo>
                    <a:pt x="1006671" y="74262"/>
                  </a:lnTo>
                  <a:lnTo>
                    <a:pt x="1021934" y="122067"/>
                  </a:lnTo>
                  <a:lnTo>
                    <a:pt x="1063405" y="143709"/>
                  </a:lnTo>
                  <a:lnTo>
                    <a:pt x="1095771" y="177931"/>
                  </a:lnTo>
                  <a:lnTo>
                    <a:pt x="1117387" y="221423"/>
                  </a:lnTo>
                  <a:lnTo>
                    <a:pt x="1126609" y="270876"/>
                  </a:lnTo>
                  <a:lnTo>
                    <a:pt x="1121794" y="322981"/>
                  </a:lnTo>
                  <a:lnTo>
                    <a:pt x="1120066" y="330308"/>
                  </a:lnTo>
                  <a:lnTo>
                    <a:pt x="1117882" y="337497"/>
                  </a:lnTo>
                  <a:lnTo>
                    <a:pt x="1115291" y="344482"/>
                  </a:lnTo>
                  <a:lnTo>
                    <a:pt x="1136733" y="385545"/>
                  </a:lnTo>
                  <a:lnTo>
                    <a:pt x="1149121" y="429685"/>
                  </a:lnTo>
                  <a:lnTo>
                    <a:pt x="1152642" y="475155"/>
                  </a:lnTo>
                  <a:lnTo>
                    <a:pt x="1147496" y="520207"/>
                  </a:lnTo>
                  <a:lnTo>
                    <a:pt x="1133883" y="563097"/>
                  </a:lnTo>
                  <a:lnTo>
                    <a:pt x="1112003" y="602077"/>
                  </a:lnTo>
                  <a:lnTo>
                    <a:pt x="1082055" y="635401"/>
                  </a:lnTo>
                  <a:lnTo>
                    <a:pt x="1042104" y="662075"/>
                  </a:lnTo>
                  <a:lnTo>
                    <a:pt x="997562" y="676244"/>
                  </a:lnTo>
                  <a:lnTo>
                    <a:pt x="991722" y="723251"/>
                  </a:lnTo>
                  <a:lnTo>
                    <a:pt x="975874" y="765394"/>
                  </a:lnTo>
                  <a:lnTo>
                    <a:pt x="951501" y="800997"/>
                  </a:lnTo>
                  <a:lnTo>
                    <a:pt x="920085" y="828390"/>
                  </a:lnTo>
                  <a:lnTo>
                    <a:pt x="883107" y="845897"/>
                  </a:lnTo>
                  <a:lnTo>
                    <a:pt x="842051" y="851847"/>
                  </a:lnTo>
                  <a:lnTo>
                    <a:pt x="820861" y="849970"/>
                  </a:lnTo>
                  <a:lnTo>
                    <a:pt x="800193" y="844803"/>
                  </a:lnTo>
                  <a:lnTo>
                    <a:pt x="780338" y="836443"/>
                  </a:lnTo>
                  <a:lnTo>
                    <a:pt x="761584" y="824986"/>
                  </a:lnTo>
                  <a:lnTo>
                    <a:pt x="745068" y="868907"/>
                  </a:lnTo>
                  <a:lnTo>
                    <a:pt x="721118" y="906161"/>
                  </a:lnTo>
                  <a:lnTo>
                    <a:pt x="691083" y="935918"/>
                  </a:lnTo>
                  <a:lnTo>
                    <a:pt x="656310" y="957347"/>
                  </a:lnTo>
                  <a:lnTo>
                    <a:pt x="618148" y="969618"/>
                  </a:lnTo>
                  <a:lnTo>
                    <a:pt x="577944" y="971901"/>
                  </a:lnTo>
                  <a:lnTo>
                    <a:pt x="537048" y="963365"/>
                  </a:lnTo>
                  <a:lnTo>
                    <a:pt x="508240" y="950101"/>
                  </a:lnTo>
                  <a:lnTo>
                    <a:pt x="482020" y="931498"/>
                  </a:lnTo>
                  <a:lnTo>
                    <a:pt x="458936" y="908023"/>
                  </a:lnTo>
                  <a:lnTo>
                    <a:pt x="439537" y="880142"/>
                  </a:lnTo>
                  <a:lnTo>
                    <a:pt x="396274" y="902796"/>
                  </a:lnTo>
                  <a:lnTo>
                    <a:pt x="351151" y="913226"/>
                  </a:lnTo>
                  <a:lnTo>
                    <a:pt x="305865" y="911917"/>
                  </a:lnTo>
                  <a:lnTo>
                    <a:pt x="262111" y="899356"/>
                  </a:lnTo>
                  <a:lnTo>
                    <a:pt x="221585" y="876030"/>
                  </a:lnTo>
                  <a:lnTo>
                    <a:pt x="185983" y="842425"/>
                  </a:lnTo>
                  <a:lnTo>
                    <a:pt x="157000" y="799027"/>
                  </a:lnTo>
                  <a:lnTo>
                    <a:pt x="154816" y="794760"/>
                  </a:lnTo>
                  <a:lnTo>
                    <a:pt x="108799" y="790409"/>
                  </a:lnTo>
                  <a:lnTo>
                    <a:pt x="69188" y="767000"/>
                  </a:lnTo>
                  <a:lnTo>
                    <a:pt x="40132" y="728286"/>
                  </a:lnTo>
                  <a:lnTo>
                    <a:pt x="25784" y="678022"/>
                  </a:lnTo>
                  <a:lnTo>
                    <a:pt x="25587" y="648975"/>
                  </a:lnTo>
                  <a:lnTo>
                    <a:pt x="30808" y="620891"/>
                  </a:lnTo>
                  <a:lnTo>
                    <a:pt x="41166" y="594740"/>
                  </a:lnTo>
                  <a:lnTo>
                    <a:pt x="56378" y="571494"/>
                  </a:lnTo>
                  <a:lnTo>
                    <a:pt x="22053" y="536107"/>
                  </a:lnTo>
                  <a:lnTo>
                    <a:pt x="2816" y="489878"/>
                  </a:lnTo>
                  <a:lnTo>
                    <a:pt x="0" y="438695"/>
                  </a:lnTo>
                  <a:lnTo>
                    <a:pt x="14938" y="388449"/>
                  </a:lnTo>
                  <a:lnTo>
                    <a:pt x="31411" y="363320"/>
                  </a:lnTo>
                  <a:lnTo>
                    <a:pt x="52217" y="343566"/>
                  </a:lnTo>
                  <a:lnTo>
                    <a:pt x="76412" y="329886"/>
                  </a:lnTo>
                  <a:lnTo>
                    <a:pt x="103050" y="322981"/>
                  </a:lnTo>
                  <a:lnTo>
                    <a:pt x="104016" y="31995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448705" y="2646760"/>
              <a:ext cx="322027" cy="266127"/>
            </a:xfrm>
            <a:prstGeom prst="rect">
              <a:avLst/>
            </a:prstGeom>
          </p:spPr>
        </p:pic>
        <p:sp>
          <p:nvSpPr>
            <p:cNvPr id="183" name="object 183" descr=""/>
            <p:cNvSpPr/>
            <p:nvPr/>
          </p:nvSpPr>
          <p:spPr>
            <a:xfrm>
              <a:off x="5673216" y="2747890"/>
              <a:ext cx="1057275" cy="827405"/>
            </a:xfrm>
            <a:custGeom>
              <a:avLst/>
              <a:gdLst/>
              <a:ahLst/>
              <a:cxnLst/>
              <a:rect l="l" t="t" r="r" b="b"/>
              <a:pathLst>
                <a:path w="1057275" h="827404">
                  <a:moveTo>
                    <a:pt x="67551" y="536384"/>
                  </a:moveTo>
                  <a:lnTo>
                    <a:pt x="49920" y="536416"/>
                  </a:lnTo>
                  <a:lnTo>
                    <a:pt x="32585" y="533385"/>
                  </a:lnTo>
                  <a:lnTo>
                    <a:pt x="15844" y="527370"/>
                  </a:lnTo>
                  <a:lnTo>
                    <a:pt x="0" y="518452"/>
                  </a:lnTo>
                </a:path>
                <a:path w="1057275" h="827404">
                  <a:moveTo>
                    <a:pt x="127152" y="732650"/>
                  </a:moveTo>
                  <a:lnTo>
                    <a:pt x="119963" y="735627"/>
                  </a:lnTo>
                  <a:lnTo>
                    <a:pt x="112623" y="738057"/>
                  </a:lnTo>
                  <a:lnTo>
                    <a:pt x="105160" y="739929"/>
                  </a:lnTo>
                  <a:lnTo>
                    <a:pt x="97599" y="741235"/>
                  </a:lnTo>
                </a:path>
                <a:path w="1057275" h="827404">
                  <a:moveTo>
                    <a:pt x="381850" y="826960"/>
                  </a:moveTo>
                  <a:lnTo>
                    <a:pt x="376725" y="817594"/>
                  </a:lnTo>
                  <a:lnTo>
                    <a:pt x="372043" y="807931"/>
                  </a:lnTo>
                  <a:lnTo>
                    <a:pt x="367813" y="797994"/>
                  </a:lnTo>
                  <a:lnTo>
                    <a:pt x="364045" y="787806"/>
                  </a:lnTo>
                </a:path>
                <a:path w="1057275" h="827404">
                  <a:moveTo>
                    <a:pt x="711200" y="729322"/>
                  </a:moveTo>
                  <a:lnTo>
                    <a:pt x="710160" y="740213"/>
                  </a:lnTo>
                  <a:lnTo>
                    <a:pt x="708625" y="751019"/>
                  </a:lnTo>
                  <a:lnTo>
                    <a:pt x="706599" y="761718"/>
                  </a:lnTo>
                  <a:lnTo>
                    <a:pt x="704088" y="772286"/>
                  </a:lnTo>
                </a:path>
                <a:path w="1057275" h="827404">
                  <a:moveTo>
                    <a:pt x="852601" y="463854"/>
                  </a:moveTo>
                  <a:lnTo>
                    <a:pt x="888768" y="491958"/>
                  </a:lnTo>
                  <a:lnTo>
                    <a:pt x="916181" y="529766"/>
                  </a:lnTo>
                  <a:lnTo>
                    <a:pt x="933483" y="574763"/>
                  </a:lnTo>
                  <a:lnTo>
                    <a:pt x="939317" y="624433"/>
                  </a:lnTo>
                </a:path>
                <a:path w="1057275" h="827404">
                  <a:moveTo>
                    <a:pt x="1057122" y="292836"/>
                  </a:moveTo>
                  <a:lnTo>
                    <a:pt x="1049795" y="309747"/>
                  </a:lnTo>
                  <a:lnTo>
                    <a:pt x="1040852" y="325518"/>
                  </a:lnTo>
                  <a:lnTo>
                    <a:pt x="1030392" y="340001"/>
                  </a:lnTo>
                  <a:lnTo>
                    <a:pt x="1018514" y="353047"/>
                  </a:lnTo>
                </a:path>
                <a:path w="1057275" h="827404">
                  <a:moveTo>
                    <a:pt x="964476" y="69430"/>
                  </a:moveTo>
                  <a:lnTo>
                    <a:pt x="965433" y="76493"/>
                  </a:lnTo>
                  <a:lnTo>
                    <a:pt x="966093" y="83596"/>
                  </a:lnTo>
                  <a:lnTo>
                    <a:pt x="966456" y="90724"/>
                  </a:lnTo>
                  <a:lnTo>
                    <a:pt x="966520" y="97866"/>
                  </a:lnTo>
                </a:path>
                <a:path w="1057275" h="827404">
                  <a:moveTo>
                    <a:pt x="717892" y="36271"/>
                  </a:moveTo>
                  <a:lnTo>
                    <a:pt x="721968" y="26606"/>
                  </a:lnTo>
                  <a:lnTo>
                    <a:pt x="726636" y="17316"/>
                  </a:lnTo>
                  <a:lnTo>
                    <a:pt x="731876" y="8435"/>
                  </a:lnTo>
                  <a:lnTo>
                    <a:pt x="737666" y="0"/>
                  </a:lnTo>
                </a:path>
                <a:path w="1057275" h="827404">
                  <a:moveTo>
                    <a:pt x="532879" y="53543"/>
                  </a:moveTo>
                  <a:lnTo>
                    <a:pt x="534638" y="45484"/>
                  </a:lnTo>
                  <a:lnTo>
                    <a:pt x="536825" y="37571"/>
                  </a:lnTo>
                  <a:lnTo>
                    <a:pt x="539437" y="29827"/>
                  </a:lnTo>
                  <a:lnTo>
                    <a:pt x="542467" y="22275"/>
                  </a:lnTo>
                </a:path>
                <a:path w="1057275" h="827404">
                  <a:moveTo>
                    <a:pt x="315760" y="64173"/>
                  </a:moveTo>
                  <a:lnTo>
                    <a:pt x="325018" y="70839"/>
                  </a:lnTo>
                  <a:lnTo>
                    <a:pt x="333900" y="78133"/>
                  </a:lnTo>
                  <a:lnTo>
                    <a:pt x="342379" y="86032"/>
                  </a:lnTo>
                  <a:lnTo>
                    <a:pt x="350431" y="94513"/>
                  </a:lnTo>
                </a:path>
                <a:path w="1057275" h="827404">
                  <a:moveTo>
                    <a:pt x="52451" y="302628"/>
                  </a:moveTo>
                  <a:lnTo>
                    <a:pt x="50529" y="294755"/>
                  </a:lnTo>
                  <a:lnTo>
                    <a:pt x="48880" y="286802"/>
                  </a:lnTo>
                  <a:lnTo>
                    <a:pt x="47505" y="278780"/>
                  </a:lnTo>
                  <a:lnTo>
                    <a:pt x="46405" y="270700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 descr=""/>
          <p:cNvSpPr txBox="1"/>
          <p:nvPr/>
        </p:nvSpPr>
        <p:spPr>
          <a:xfrm>
            <a:off x="5866786" y="2832112"/>
            <a:ext cx="567690" cy="656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645"/>
              </a:lnSpc>
              <a:spcBef>
                <a:spcPts val="95"/>
              </a:spcBef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增加了</a:t>
            </a:r>
            <a:endParaRPr sz="1400">
              <a:latin typeface="SimSun"/>
              <a:cs typeface="SimSun"/>
            </a:endParaRPr>
          </a:p>
          <a:p>
            <a:pPr algn="ctr">
              <a:lnSpc>
                <a:spcPts val="1645"/>
              </a:lnSpc>
            </a:pPr>
            <a:r>
              <a:rPr dirty="0" sz="1400" spc="-20">
                <a:solidFill>
                  <a:srgbClr val="C00000"/>
                </a:solidFill>
                <a:latin typeface="Arial MT"/>
                <a:cs typeface="Arial MT"/>
              </a:rPr>
              <a:t>EPC</a:t>
            </a:r>
            <a:r>
              <a:rPr dirty="0" sz="1400" spc="-50">
                <a:solidFill>
                  <a:srgbClr val="C00000"/>
                </a:solidFill>
                <a:latin typeface="SimSun"/>
                <a:cs typeface="SimSun"/>
              </a:rPr>
              <a:t>复</a:t>
            </a:r>
            <a:endParaRPr sz="1400">
              <a:latin typeface="SimSun"/>
              <a:cs typeface="SimSun"/>
            </a:endParaRPr>
          </a:p>
          <a:p>
            <a:pPr algn="ctr" marL="635">
              <a:lnSpc>
                <a:spcPct val="100000"/>
              </a:lnSpc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杂度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185" name="object 185" descr=""/>
          <p:cNvGrpSpPr/>
          <p:nvPr/>
        </p:nvGrpSpPr>
        <p:grpSpPr>
          <a:xfrm>
            <a:off x="7015970" y="1726302"/>
            <a:ext cx="2033270" cy="2094864"/>
            <a:chOff x="7015970" y="1726302"/>
            <a:chExt cx="2033270" cy="2094864"/>
          </a:xfrm>
        </p:grpSpPr>
        <p:sp>
          <p:nvSpPr>
            <p:cNvPr id="186" name="object 186" descr=""/>
            <p:cNvSpPr/>
            <p:nvPr/>
          </p:nvSpPr>
          <p:spPr>
            <a:xfrm>
              <a:off x="7307256" y="2986545"/>
              <a:ext cx="1729105" cy="821690"/>
            </a:xfrm>
            <a:custGeom>
              <a:avLst/>
              <a:gdLst/>
              <a:ahLst/>
              <a:cxnLst/>
              <a:rect l="l" t="t" r="r" b="b"/>
              <a:pathLst>
                <a:path w="1729104" h="821689">
                  <a:moveTo>
                    <a:pt x="156509" y="270257"/>
                  </a:moveTo>
                  <a:lnTo>
                    <a:pt x="163370" y="200933"/>
                  </a:lnTo>
                  <a:lnTo>
                    <a:pt x="209151" y="140781"/>
                  </a:lnTo>
                  <a:lnTo>
                    <a:pt x="244311" y="116124"/>
                  </a:lnTo>
                  <a:lnTo>
                    <a:pt x="286411" y="96135"/>
                  </a:lnTo>
                  <a:lnTo>
                    <a:pt x="334522" y="81607"/>
                  </a:lnTo>
                  <a:lnTo>
                    <a:pt x="387713" y="73331"/>
                  </a:lnTo>
                  <a:lnTo>
                    <a:pt x="432666" y="71825"/>
                  </a:lnTo>
                  <a:lnTo>
                    <a:pt x="477079" y="75136"/>
                  </a:lnTo>
                  <a:lnTo>
                    <a:pt x="520040" y="83145"/>
                  </a:lnTo>
                  <a:lnTo>
                    <a:pt x="560636" y="95734"/>
                  </a:lnTo>
                  <a:lnTo>
                    <a:pt x="593963" y="65579"/>
                  </a:lnTo>
                  <a:lnTo>
                    <a:pt x="636853" y="42940"/>
                  </a:lnTo>
                  <a:lnTo>
                    <a:pt x="686556" y="28363"/>
                  </a:lnTo>
                  <a:lnTo>
                    <a:pt x="740324" y="22395"/>
                  </a:lnTo>
                  <a:lnTo>
                    <a:pt x="795406" y="25582"/>
                  </a:lnTo>
                  <a:lnTo>
                    <a:pt x="849053" y="38469"/>
                  </a:lnTo>
                  <a:lnTo>
                    <a:pt x="887240" y="55289"/>
                  </a:lnTo>
                  <a:lnTo>
                    <a:pt x="898621" y="62041"/>
                  </a:lnTo>
                  <a:lnTo>
                    <a:pt x="931210" y="32612"/>
                  </a:lnTo>
                  <a:lnTo>
                    <a:pt x="974774" y="11985"/>
                  </a:lnTo>
                  <a:lnTo>
                    <a:pt x="1025456" y="997"/>
                  </a:lnTo>
                  <a:lnTo>
                    <a:pt x="1079399" y="487"/>
                  </a:lnTo>
                  <a:lnTo>
                    <a:pt x="1132745" y="11291"/>
                  </a:lnTo>
                  <a:lnTo>
                    <a:pt x="1150063" y="17717"/>
                  </a:lnTo>
                  <a:lnTo>
                    <a:pt x="1166084" y="25355"/>
                  </a:lnTo>
                  <a:lnTo>
                    <a:pt x="1180660" y="34125"/>
                  </a:lnTo>
                  <a:lnTo>
                    <a:pt x="1193642" y="43943"/>
                  </a:lnTo>
                  <a:lnTo>
                    <a:pt x="1232324" y="21382"/>
                  </a:lnTo>
                  <a:lnTo>
                    <a:pt x="1277264" y="6688"/>
                  </a:lnTo>
                  <a:lnTo>
                    <a:pt x="1325852" y="0"/>
                  </a:lnTo>
                  <a:lnTo>
                    <a:pt x="1375479" y="1455"/>
                  </a:lnTo>
                  <a:lnTo>
                    <a:pt x="1423537" y="11192"/>
                  </a:lnTo>
                  <a:lnTo>
                    <a:pt x="1467416" y="29351"/>
                  </a:lnTo>
                  <a:lnTo>
                    <a:pt x="1510097" y="62414"/>
                  </a:lnTo>
                  <a:lnTo>
                    <a:pt x="1532986" y="102858"/>
                  </a:lnTo>
                  <a:lnTo>
                    <a:pt x="1585690" y="117300"/>
                  </a:lnTo>
                  <a:lnTo>
                    <a:pt x="1629199" y="139455"/>
                  </a:lnTo>
                  <a:lnTo>
                    <a:pt x="1662084" y="167703"/>
                  </a:lnTo>
                  <a:lnTo>
                    <a:pt x="1682920" y="200424"/>
                  </a:lnTo>
                  <a:lnTo>
                    <a:pt x="1690278" y="236000"/>
                  </a:lnTo>
                  <a:lnTo>
                    <a:pt x="1682732" y="272810"/>
                  </a:lnTo>
                  <a:lnTo>
                    <a:pt x="1680141" y="279020"/>
                  </a:lnTo>
                  <a:lnTo>
                    <a:pt x="1676877" y="285091"/>
                  </a:lnTo>
                  <a:lnTo>
                    <a:pt x="1672965" y="290996"/>
                  </a:lnTo>
                  <a:lnTo>
                    <a:pt x="1705133" y="325735"/>
                  </a:lnTo>
                  <a:lnTo>
                    <a:pt x="1723707" y="363076"/>
                  </a:lnTo>
                  <a:lnTo>
                    <a:pt x="1728986" y="401541"/>
                  </a:lnTo>
                  <a:lnTo>
                    <a:pt x="1721270" y="439653"/>
                  </a:lnTo>
                  <a:lnTo>
                    <a:pt x="1700856" y="475934"/>
                  </a:lnTo>
                  <a:lnTo>
                    <a:pt x="1668043" y="508908"/>
                  </a:lnTo>
                  <a:lnTo>
                    <a:pt x="1623130" y="537097"/>
                  </a:lnTo>
                  <a:lnTo>
                    <a:pt x="1563221" y="559662"/>
                  </a:lnTo>
                  <a:lnTo>
                    <a:pt x="1496435" y="571653"/>
                  </a:lnTo>
                  <a:lnTo>
                    <a:pt x="1489902" y="605957"/>
                  </a:lnTo>
                  <a:lnTo>
                    <a:pt x="1444454" y="665049"/>
                  </a:lnTo>
                  <a:lnTo>
                    <a:pt x="1408339" y="688053"/>
                  </a:lnTo>
                  <a:lnTo>
                    <a:pt x="1365164" y="705506"/>
                  </a:lnTo>
                  <a:lnTo>
                    <a:pt x="1316330" y="716517"/>
                  </a:lnTo>
                  <a:lnTo>
                    <a:pt x="1263238" y="720193"/>
                  </a:lnTo>
                  <a:lnTo>
                    <a:pt x="1231463" y="718611"/>
                  </a:lnTo>
                  <a:lnTo>
                    <a:pt x="1200473" y="714244"/>
                  </a:lnTo>
                  <a:lnTo>
                    <a:pt x="1170699" y="707175"/>
                  </a:lnTo>
                  <a:lnTo>
                    <a:pt x="1142575" y="697485"/>
                  </a:lnTo>
                  <a:lnTo>
                    <a:pt x="1121553" y="730288"/>
                  </a:lnTo>
                  <a:lnTo>
                    <a:pt x="1091805" y="758839"/>
                  </a:lnTo>
                  <a:lnTo>
                    <a:pt x="1054683" y="782670"/>
                  </a:lnTo>
                  <a:lnTo>
                    <a:pt x="1011543" y="801309"/>
                  </a:lnTo>
                  <a:lnTo>
                    <a:pt x="963738" y="814286"/>
                  </a:lnTo>
                  <a:lnTo>
                    <a:pt x="912621" y="821131"/>
                  </a:lnTo>
                  <a:lnTo>
                    <a:pt x="859548" y="821373"/>
                  </a:lnTo>
                  <a:lnTo>
                    <a:pt x="805873" y="814541"/>
                  </a:lnTo>
                  <a:lnTo>
                    <a:pt x="762672" y="803320"/>
                  </a:lnTo>
                  <a:lnTo>
                    <a:pt x="723347" y="787580"/>
                  </a:lnTo>
                  <a:lnTo>
                    <a:pt x="688724" y="767719"/>
                  </a:lnTo>
                  <a:lnTo>
                    <a:pt x="659632" y="744132"/>
                  </a:lnTo>
                  <a:lnTo>
                    <a:pt x="609506" y="759949"/>
                  </a:lnTo>
                  <a:lnTo>
                    <a:pt x="557350" y="769453"/>
                  </a:lnTo>
                  <a:lnTo>
                    <a:pt x="504362" y="772839"/>
                  </a:lnTo>
                  <a:lnTo>
                    <a:pt x="451738" y="770300"/>
                  </a:lnTo>
                  <a:lnTo>
                    <a:pt x="400675" y="762031"/>
                  </a:lnTo>
                  <a:lnTo>
                    <a:pt x="352368" y="748225"/>
                  </a:lnTo>
                  <a:lnTo>
                    <a:pt x="308016" y="729077"/>
                  </a:lnTo>
                  <a:lnTo>
                    <a:pt x="268815" y="704779"/>
                  </a:lnTo>
                  <a:lnTo>
                    <a:pt x="235960" y="675527"/>
                  </a:lnTo>
                  <a:lnTo>
                    <a:pt x="232696" y="671907"/>
                  </a:lnTo>
                  <a:lnTo>
                    <a:pt x="176922" y="670354"/>
                  </a:lnTo>
                  <a:lnTo>
                    <a:pt x="126496" y="658076"/>
                  </a:lnTo>
                  <a:lnTo>
                    <a:pt x="84606" y="636699"/>
                  </a:lnTo>
                  <a:lnTo>
                    <a:pt x="54441" y="607849"/>
                  </a:lnTo>
                  <a:lnTo>
                    <a:pt x="38898" y="548584"/>
                  </a:lnTo>
                  <a:lnTo>
                    <a:pt x="46725" y="524827"/>
                  </a:lnTo>
                  <a:lnTo>
                    <a:pt x="62252" y="502706"/>
                  </a:lnTo>
                  <a:lnTo>
                    <a:pt x="85059" y="483046"/>
                  </a:lnTo>
                  <a:lnTo>
                    <a:pt x="42145" y="459990"/>
                  </a:lnTo>
                  <a:lnTo>
                    <a:pt x="13450" y="430427"/>
                  </a:lnTo>
                  <a:lnTo>
                    <a:pt x="0" y="396906"/>
                  </a:lnTo>
                  <a:lnTo>
                    <a:pt x="2818" y="361979"/>
                  </a:lnTo>
                  <a:lnTo>
                    <a:pt x="22930" y="328194"/>
                  </a:lnTo>
                  <a:lnTo>
                    <a:pt x="78831" y="290231"/>
                  </a:lnTo>
                  <a:lnTo>
                    <a:pt x="155049" y="272822"/>
                  </a:lnTo>
                  <a:lnTo>
                    <a:pt x="156509" y="270257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015970" y="1726302"/>
              <a:ext cx="71081" cy="71094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268489" y="2104819"/>
              <a:ext cx="116776" cy="116763"/>
            </a:xfrm>
            <a:prstGeom prst="rect">
              <a:avLst/>
            </a:prstGeom>
          </p:spPr>
        </p:pic>
        <p:pic>
          <p:nvPicPr>
            <p:cNvPr id="189" name="object 18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546865" y="2520994"/>
              <a:ext cx="162458" cy="162458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7394172" y="3027812"/>
              <a:ext cx="1585595" cy="699770"/>
            </a:xfrm>
            <a:custGeom>
              <a:avLst/>
              <a:gdLst/>
              <a:ahLst/>
              <a:cxnLst/>
              <a:rect l="l" t="t" r="r" b="b"/>
              <a:pathLst>
                <a:path w="1585595" h="699770">
                  <a:moveTo>
                    <a:pt x="101307" y="453745"/>
                  </a:moveTo>
                  <a:lnTo>
                    <a:pt x="74866" y="453771"/>
                  </a:lnTo>
                  <a:lnTo>
                    <a:pt x="48872" y="451205"/>
                  </a:lnTo>
                  <a:lnTo>
                    <a:pt x="23769" y="446116"/>
                  </a:lnTo>
                  <a:lnTo>
                    <a:pt x="0" y="438569"/>
                  </a:lnTo>
                </a:path>
                <a:path w="1585595" h="699770">
                  <a:moveTo>
                    <a:pt x="190690" y="619772"/>
                  </a:moveTo>
                  <a:lnTo>
                    <a:pt x="179907" y="622293"/>
                  </a:lnTo>
                  <a:lnTo>
                    <a:pt x="168900" y="624347"/>
                  </a:lnTo>
                  <a:lnTo>
                    <a:pt x="157707" y="625930"/>
                  </a:lnTo>
                  <a:lnTo>
                    <a:pt x="146367" y="627037"/>
                  </a:lnTo>
                </a:path>
                <a:path w="1585595" h="699770">
                  <a:moveTo>
                    <a:pt x="572617" y="699554"/>
                  </a:moveTo>
                  <a:lnTo>
                    <a:pt x="564926" y="691630"/>
                  </a:lnTo>
                  <a:lnTo>
                    <a:pt x="557901" y="683455"/>
                  </a:lnTo>
                  <a:lnTo>
                    <a:pt x="551557" y="675049"/>
                  </a:lnTo>
                  <a:lnTo>
                    <a:pt x="545909" y="666432"/>
                  </a:lnTo>
                </a:path>
                <a:path w="1585595" h="699770">
                  <a:moveTo>
                    <a:pt x="1066495" y="616953"/>
                  </a:moveTo>
                  <a:lnTo>
                    <a:pt x="1064939" y="626170"/>
                  </a:lnTo>
                  <a:lnTo>
                    <a:pt x="1062637" y="635312"/>
                  </a:lnTo>
                  <a:lnTo>
                    <a:pt x="1059597" y="644362"/>
                  </a:lnTo>
                  <a:lnTo>
                    <a:pt x="1055827" y="653300"/>
                  </a:lnTo>
                </a:path>
                <a:path w="1585595" h="699770">
                  <a:moveTo>
                    <a:pt x="1278534" y="392391"/>
                  </a:moveTo>
                  <a:lnTo>
                    <a:pt x="1332770" y="416161"/>
                  </a:lnTo>
                  <a:lnTo>
                    <a:pt x="1373879" y="448143"/>
                  </a:lnTo>
                  <a:lnTo>
                    <a:pt x="1399824" y="486208"/>
                  </a:lnTo>
                  <a:lnTo>
                    <a:pt x="1408569" y="528231"/>
                  </a:lnTo>
                </a:path>
                <a:path w="1585595" h="699770">
                  <a:moveTo>
                    <a:pt x="1585239" y="247726"/>
                  </a:moveTo>
                  <a:lnTo>
                    <a:pt x="1574245" y="262025"/>
                  </a:lnTo>
                  <a:lnTo>
                    <a:pt x="1560833" y="275366"/>
                  </a:lnTo>
                  <a:lnTo>
                    <a:pt x="1545148" y="287618"/>
                  </a:lnTo>
                  <a:lnTo>
                    <a:pt x="1527340" y="298653"/>
                  </a:lnTo>
                </a:path>
                <a:path w="1585595" h="699770">
                  <a:moveTo>
                    <a:pt x="1446301" y="58737"/>
                  </a:moveTo>
                  <a:lnTo>
                    <a:pt x="1448511" y="66675"/>
                  </a:lnTo>
                  <a:lnTo>
                    <a:pt x="1449539" y="74726"/>
                  </a:lnTo>
                  <a:lnTo>
                    <a:pt x="1449362" y="82791"/>
                  </a:lnTo>
                </a:path>
                <a:path w="1585595" h="699770">
                  <a:moveTo>
                    <a:pt x="1076528" y="30670"/>
                  </a:moveTo>
                  <a:lnTo>
                    <a:pt x="1082640" y="22501"/>
                  </a:lnTo>
                  <a:lnTo>
                    <a:pt x="1089642" y="14644"/>
                  </a:lnTo>
                  <a:lnTo>
                    <a:pt x="1097504" y="7133"/>
                  </a:lnTo>
                  <a:lnTo>
                    <a:pt x="1106195" y="0"/>
                  </a:lnTo>
                </a:path>
                <a:path w="1585595" h="699770">
                  <a:moveTo>
                    <a:pt x="799096" y="45300"/>
                  </a:moveTo>
                  <a:lnTo>
                    <a:pt x="801735" y="38479"/>
                  </a:lnTo>
                  <a:lnTo>
                    <a:pt x="805018" y="31781"/>
                  </a:lnTo>
                  <a:lnTo>
                    <a:pt x="808933" y="25226"/>
                  </a:lnTo>
                  <a:lnTo>
                    <a:pt x="813473" y="18834"/>
                  </a:lnTo>
                </a:path>
                <a:path w="1585595" h="699770">
                  <a:moveTo>
                    <a:pt x="473519" y="54279"/>
                  </a:moveTo>
                  <a:lnTo>
                    <a:pt x="487401" y="59922"/>
                  </a:lnTo>
                  <a:lnTo>
                    <a:pt x="500714" y="66093"/>
                  </a:lnTo>
                  <a:lnTo>
                    <a:pt x="513426" y="72774"/>
                  </a:lnTo>
                  <a:lnTo>
                    <a:pt x="525500" y="79946"/>
                  </a:lnTo>
                </a:path>
                <a:path w="1585595" h="699770">
                  <a:moveTo>
                    <a:pt x="78676" y="256006"/>
                  </a:moveTo>
                  <a:lnTo>
                    <a:pt x="75786" y="249342"/>
                  </a:lnTo>
                  <a:lnTo>
                    <a:pt x="73307" y="242614"/>
                  </a:lnTo>
                  <a:lnTo>
                    <a:pt x="71243" y="235829"/>
                  </a:lnTo>
                  <a:lnTo>
                    <a:pt x="69595" y="228993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 descr=""/>
          <p:cNvSpPr txBox="1"/>
          <p:nvPr/>
        </p:nvSpPr>
        <p:spPr>
          <a:xfrm>
            <a:off x="7653262" y="3048732"/>
            <a:ext cx="913130" cy="6565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97900"/>
              </a:lnSpc>
              <a:spcBef>
                <a:spcPts val="130"/>
              </a:spcBef>
            </a:pP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对现网影响小，并可提升网络性能</a:t>
            </a:r>
            <a:endParaRPr sz="1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846" y="139319"/>
            <a:ext cx="45853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SA&amp;NSA</a:t>
            </a:r>
            <a:r>
              <a:rPr dirty="0" spc="-10" b="0">
                <a:latin typeface="Times New Roman"/>
                <a:cs typeface="Times New Roman"/>
              </a:rPr>
              <a:t> – </a:t>
            </a:r>
            <a:r>
              <a:rPr dirty="0" spc="-20" b="0">
                <a:latin typeface="Times New Roman"/>
                <a:cs typeface="Times New Roman"/>
              </a:rPr>
              <a:t>OPTION4</a:t>
            </a:r>
            <a:r>
              <a:rPr dirty="0" spc="-45"/>
              <a:t>系列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38215" y="877950"/>
            <a:ext cx="12007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4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8291" y="3781967"/>
            <a:ext cx="3510915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NGC</a:t>
            </a:r>
            <a:r>
              <a:rPr dirty="0" sz="1400" spc="-30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+NR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30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LTE</a:t>
            </a:r>
            <a:endParaRPr sz="1400">
              <a:latin typeface="Microsoft YaHei"/>
              <a:cs typeface="Microsoft YaHei"/>
            </a:endParaRPr>
          </a:p>
          <a:p>
            <a:pPr marL="182880" marR="5080" indent="-170180">
              <a:lnSpc>
                <a:spcPct val="13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控制面由5G承载并转发，用户面数据由</a:t>
            </a:r>
            <a:r>
              <a:rPr dirty="0" sz="1400" spc="-25">
                <a:latin typeface="Microsoft YaHei"/>
                <a:cs typeface="Microsoft YaHei"/>
              </a:rPr>
              <a:t>5G 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NR</a:t>
            </a:r>
            <a:r>
              <a:rPr dirty="0" sz="1400" spc="-15">
                <a:latin typeface="Microsoft YaHei"/>
                <a:cs typeface="Microsoft YaHei"/>
              </a:rPr>
              <a:t>分流，</a:t>
            </a:r>
            <a:r>
              <a:rPr dirty="0" sz="1400">
                <a:latin typeface="Microsoft YaHei"/>
                <a:cs typeface="Microsoft YaHei"/>
              </a:rPr>
              <a:t>5G</a:t>
            </a:r>
            <a:r>
              <a:rPr dirty="0" sz="1400" spc="-20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r>
              <a:rPr dirty="0" sz="1400" spc="-20">
                <a:latin typeface="Microsoft YaHei"/>
                <a:cs typeface="Microsoft YaHei"/>
              </a:rPr>
              <a:t>和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eNB</a:t>
            </a:r>
            <a:r>
              <a:rPr dirty="0" sz="1400" spc="-30">
                <a:latin typeface="Microsoft YaHei"/>
                <a:cs typeface="Microsoft YaHei"/>
              </a:rPr>
              <a:t>空口传输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58721" y="1010380"/>
            <a:ext cx="129921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4a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 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26804" y="3713937"/>
            <a:ext cx="3274695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1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1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NR</a:t>
            </a:r>
            <a:r>
              <a:rPr dirty="0" sz="1400" spc="-2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1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LTE</a:t>
            </a:r>
            <a:endParaRPr sz="1400">
              <a:latin typeface="Microsoft YaHei"/>
              <a:cs typeface="Microsoft YaHei"/>
            </a:endParaRPr>
          </a:p>
          <a:p>
            <a:pPr marL="182880" indent="-17018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控制面由5G</a:t>
            </a:r>
            <a:r>
              <a:rPr dirty="0" sz="1400" spc="-25">
                <a:latin typeface="Microsoft YaHei"/>
                <a:cs typeface="Microsoft YaHei"/>
              </a:rPr>
              <a:t>承载并转发，用户面数据由</a:t>
            </a:r>
            <a:endParaRPr sz="1400">
              <a:latin typeface="Microsoft YaHei"/>
              <a:cs typeface="Microsoft YaHei"/>
            </a:endParaRPr>
          </a:p>
          <a:p>
            <a:pPr marL="184150">
              <a:lnSpc>
                <a:spcPct val="100000"/>
              </a:lnSpc>
              <a:spcBef>
                <a:spcPts val="505"/>
              </a:spcBef>
            </a:pPr>
            <a:r>
              <a:rPr dirty="0" sz="1400" spc="-20">
                <a:latin typeface="Microsoft YaHei"/>
                <a:cs typeface="Microsoft YaHei"/>
              </a:rPr>
              <a:t>NGC</a:t>
            </a:r>
            <a:r>
              <a:rPr dirty="0" sz="1400" spc="-25">
                <a:latin typeface="Microsoft YaHei"/>
                <a:cs typeface="Microsoft YaHei"/>
              </a:rPr>
              <a:t>分流，</a:t>
            </a:r>
            <a:r>
              <a:rPr dirty="0" sz="1400" spc="-35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与5G</a:t>
            </a:r>
            <a:r>
              <a:rPr dirty="0" sz="1400" spc="-30">
                <a:latin typeface="Microsoft YaHei"/>
                <a:cs typeface="Microsoft YaHei"/>
              </a:rPr>
              <a:t>独立传输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559972" y="1282081"/>
            <a:ext cx="640080" cy="495934"/>
            <a:chOff x="3559972" y="1282081"/>
            <a:chExt cx="640080" cy="495934"/>
          </a:xfrm>
        </p:grpSpPr>
        <p:sp>
          <p:nvSpPr>
            <p:cNvPr id="8" name="object 8" descr=""/>
            <p:cNvSpPr/>
            <p:nvPr/>
          </p:nvSpPr>
          <p:spPr>
            <a:xfrm>
              <a:off x="3591722" y="1601870"/>
              <a:ext cx="216535" cy="144145"/>
            </a:xfrm>
            <a:custGeom>
              <a:avLst/>
              <a:gdLst/>
              <a:ahLst/>
              <a:cxnLst/>
              <a:rect l="l" t="t" r="r" b="b"/>
              <a:pathLst>
                <a:path w="216535" h="144144">
                  <a:moveTo>
                    <a:pt x="0" y="0"/>
                  </a:moveTo>
                  <a:lnTo>
                    <a:pt x="216027" y="144018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07747" y="1313831"/>
              <a:ext cx="360045" cy="432434"/>
            </a:xfrm>
            <a:custGeom>
              <a:avLst/>
              <a:gdLst/>
              <a:ahLst/>
              <a:cxnLst/>
              <a:rect l="l" t="t" r="r" b="b"/>
              <a:pathLst>
                <a:path w="360045" h="432435">
                  <a:moveTo>
                    <a:pt x="0" y="432053"/>
                  </a:moveTo>
                  <a:lnTo>
                    <a:pt x="360045" y="0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671952" y="1194709"/>
            <a:ext cx="694055" cy="41783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116205" rIns="0" bIns="0" rtlCol="0" vert="horz">
            <a:spAutoFit/>
          </a:bodyPr>
          <a:lstStyle/>
          <a:p>
            <a:pPr marL="201930">
              <a:lnSpc>
                <a:spcPct val="100000"/>
              </a:lnSpc>
              <a:spcBef>
                <a:spcPts val="915"/>
              </a:spcBef>
            </a:pPr>
            <a:r>
              <a:rPr dirty="0" sz="1050" spc="-25">
                <a:latin typeface="Times New Roman"/>
                <a:cs typeface="Times New Roman"/>
              </a:rPr>
              <a:t>NGC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66899" y="2200556"/>
            <a:ext cx="1196340" cy="447675"/>
            <a:chOff x="866899" y="2200556"/>
            <a:chExt cx="1196340" cy="447675"/>
          </a:xfrm>
        </p:grpSpPr>
        <p:sp>
          <p:nvSpPr>
            <p:cNvPr id="12" name="object 12" descr=""/>
            <p:cNvSpPr/>
            <p:nvPr/>
          </p:nvSpPr>
          <p:spPr>
            <a:xfrm>
              <a:off x="868169" y="2201826"/>
              <a:ext cx="1193800" cy="445134"/>
            </a:xfrm>
            <a:custGeom>
              <a:avLst/>
              <a:gdLst/>
              <a:ahLst/>
              <a:cxnLst/>
              <a:rect l="l" t="t" r="r" b="b"/>
              <a:pathLst>
                <a:path w="1193800" h="445135">
                  <a:moveTo>
                    <a:pt x="596637" y="445056"/>
                  </a:moveTo>
                  <a:lnTo>
                    <a:pt x="531626" y="443751"/>
                  </a:lnTo>
                  <a:lnTo>
                    <a:pt x="468643" y="439924"/>
                  </a:lnTo>
                  <a:lnTo>
                    <a:pt x="408052" y="433712"/>
                  </a:lnTo>
                  <a:lnTo>
                    <a:pt x="350217" y="425250"/>
                  </a:lnTo>
                  <a:lnTo>
                    <a:pt x="295501" y="414675"/>
                  </a:lnTo>
                  <a:lnTo>
                    <a:pt x="244269" y="402122"/>
                  </a:lnTo>
                  <a:lnTo>
                    <a:pt x="196885" y="387726"/>
                  </a:lnTo>
                  <a:lnTo>
                    <a:pt x="153712" y="371624"/>
                  </a:lnTo>
                  <a:lnTo>
                    <a:pt x="115115" y="353951"/>
                  </a:lnTo>
                  <a:lnTo>
                    <a:pt x="81457" y="334843"/>
                  </a:lnTo>
                  <a:lnTo>
                    <a:pt x="30416" y="292864"/>
                  </a:lnTo>
                  <a:lnTo>
                    <a:pt x="3500" y="246775"/>
                  </a:lnTo>
                  <a:lnTo>
                    <a:pt x="0" y="222528"/>
                  </a:lnTo>
                  <a:lnTo>
                    <a:pt x="3500" y="198281"/>
                  </a:lnTo>
                  <a:lnTo>
                    <a:pt x="30416" y="152191"/>
                  </a:lnTo>
                  <a:lnTo>
                    <a:pt x="81457" y="110213"/>
                  </a:lnTo>
                  <a:lnTo>
                    <a:pt x="115115" y="91105"/>
                  </a:lnTo>
                  <a:lnTo>
                    <a:pt x="153712" y="73432"/>
                  </a:lnTo>
                  <a:lnTo>
                    <a:pt x="196885" y="57330"/>
                  </a:lnTo>
                  <a:lnTo>
                    <a:pt x="244269" y="42934"/>
                  </a:lnTo>
                  <a:lnTo>
                    <a:pt x="295501" y="30381"/>
                  </a:lnTo>
                  <a:lnTo>
                    <a:pt x="350217" y="19806"/>
                  </a:lnTo>
                  <a:lnTo>
                    <a:pt x="408052" y="11344"/>
                  </a:lnTo>
                  <a:lnTo>
                    <a:pt x="468643" y="5132"/>
                  </a:lnTo>
                  <a:lnTo>
                    <a:pt x="531626" y="1305"/>
                  </a:lnTo>
                  <a:lnTo>
                    <a:pt x="596637" y="0"/>
                  </a:lnTo>
                  <a:lnTo>
                    <a:pt x="661646" y="1305"/>
                  </a:lnTo>
                  <a:lnTo>
                    <a:pt x="724628" y="5132"/>
                  </a:lnTo>
                  <a:lnTo>
                    <a:pt x="785218" y="11344"/>
                  </a:lnTo>
                  <a:lnTo>
                    <a:pt x="843053" y="19806"/>
                  </a:lnTo>
                  <a:lnTo>
                    <a:pt x="897769" y="30381"/>
                  </a:lnTo>
                  <a:lnTo>
                    <a:pt x="949001" y="42934"/>
                  </a:lnTo>
                  <a:lnTo>
                    <a:pt x="996385" y="57330"/>
                  </a:lnTo>
                  <a:lnTo>
                    <a:pt x="1039559" y="73432"/>
                  </a:lnTo>
                  <a:lnTo>
                    <a:pt x="1078156" y="91105"/>
                  </a:lnTo>
                  <a:lnTo>
                    <a:pt x="1111814" y="110213"/>
                  </a:lnTo>
                  <a:lnTo>
                    <a:pt x="1162857" y="152191"/>
                  </a:lnTo>
                  <a:lnTo>
                    <a:pt x="1189773" y="198281"/>
                  </a:lnTo>
                  <a:lnTo>
                    <a:pt x="1193274" y="222528"/>
                  </a:lnTo>
                  <a:lnTo>
                    <a:pt x="1189773" y="246775"/>
                  </a:lnTo>
                  <a:lnTo>
                    <a:pt x="1162857" y="292864"/>
                  </a:lnTo>
                  <a:lnTo>
                    <a:pt x="1111814" y="334843"/>
                  </a:lnTo>
                  <a:lnTo>
                    <a:pt x="1078156" y="353951"/>
                  </a:lnTo>
                  <a:lnTo>
                    <a:pt x="1039559" y="371624"/>
                  </a:lnTo>
                  <a:lnTo>
                    <a:pt x="996385" y="387726"/>
                  </a:lnTo>
                  <a:lnTo>
                    <a:pt x="949001" y="402122"/>
                  </a:lnTo>
                  <a:lnTo>
                    <a:pt x="897769" y="414675"/>
                  </a:lnTo>
                  <a:lnTo>
                    <a:pt x="843053" y="425250"/>
                  </a:lnTo>
                  <a:lnTo>
                    <a:pt x="785218" y="433712"/>
                  </a:lnTo>
                  <a:lnTo>
                    <a:pt x="724628" y="439924"/>
                  </a:lnTo>
                  <a:lnTo>
                    <a:pt x="661646" y="443751"/>
                  </a:lnTo>
                  <a:lnTo>
                    <a:pt x="596637" y="44505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68169" y="2201826"/>
              <a:ext cx="1193800" cy="445134"/>
            </a:xfrm>
            <a:custGeom>
              <a:avLst/>
              <a:gdLst/>
              <a:ahLst/>
              <a:cxnLst/>
              <a:rect l="l" t="t" r="r" b="b"/>
              <a:pathLst>
                <a:path w="1193800" h="445135">
                  <a:moveTo>
                    <a:pt x="0" y="222528"/>
                  </a:moveTo>
                  <a:lnTo>
                    <a:pt x="13761" y="174790"/>
                  </a:lnTo>
                  <a:lnTo>
                    <a:pt x="53103" y="130621"/>
                  </a:lnTo>
                  <a:lnTo>
                    <a:pt x="115115" y="91105"/>
                  </a:lnTo>
                  <a:lnTo>
                    <a:pt x="153712" y="73432"/>
                  </a:lnTo>
                  <a:lnTo>
                    <a:pt x="196885" y="57330"/>
                  </a:lnTo>
                  <a:lnTo>
                    <a:pt x="244269" y="42934"/>
                  </a:lnTo>
                  <a:lnTo>
                    <a:pt x="295501" y="30381"/>
                  </a:lnTo>
                  <a:lnTo>
                    <a:pt x="350217" y="19806"/>
                  </a:lnTo>
                  <a:lnTo>
                    <a:pt x="408052" y="11344"/>
                  </a:lnTo>
                  <a:lnTo>
                    <a:pt x="468643" y="5132"/>
                  </a:lnTo>
                  <a:lnTo>
                    <a:pt x="531626" y="1305"/>
                  </a:lnTo>
                  <a:lnTo>
                    <a:pt x="596637" y="0"/>
                  </a:lnTo>
                  <a:lnTo>
                    <a:pt x="661646" y="1305"/>
                  </a:lnTo>
                  <a:lnTo>
                    <a:pt x="724628" y="5132"/>
                  </a:lnTo>
                  <a:lnTo>
                    <a:pt x="785218" y="11344"/>
                  </a:lnTo>
                  <a:lnTo>
                    <a:pt x="843053" y="19806"/>
                  </a:lnTo>
                  <a:lnTo>
                    <a:pt x="897769" y="30381"/>
                  </a:lnTo>
                  <a:lnTo>
                    <a:pt x="949001" y="42934"/>
                  </a:lnTo>
                  <a:lnTo>
                    <a:pt x="996385" y="57330"/>
                  </a:lnTo>
                  <a:lnTo>
                    <a:pt x="1039559" y="73432"/>
                  </a:lnTo>
                  <a:lnTo>
                    <a:pt x="1078156" y="91105"/>
                  </a:lnTo>
                  <a:lnTo>
                    <a:pt x="1111814" y="110213"/>
                  </a:lnTo>
                  <a:lnTo>
                    <a:pt x="1162857" y="152191"/>
                  </a:lnTo>
                  <a:lnTo>
                    <a:pt x="1189773" y="198281"/>
                  </a:lnTo>
                  <a:lnTo>
                    <a:pt x="1193274" y="222528"/>
                  </a:lnTo>
                  <a:lnTo>
                    <a:pt x="1189773" y="246775"/>
                  </a:lnTo>
                  <a:lnTo>
                    <a:pt x="1162857" y="292864"/>
                  </a:lnTo>
                  <a:lnTo>
                    <a:pt x="1111814" y="334843"/>
                  </a:lnTo>
                  <a:lnTo>
                    <a:pt x="1078156" y="353951"/>
                  </a:lnTo>
                  <a:lnTo>
                    <a:pt x="1039559" y="371624"/>
                  </a:lnTo>
                  <a:lnTo>
                    <a:pt x="996385" y="387726"/>
                  </a:lnTo>
                  <a:lnTo>
                    <a:pt x="949001" y="402122"/>
                  </a:lnTo>
                  <a:lnTo>
                    <a:pt x="897769" y="414675"/>
                  </a:lnTo>
                  <a:lnTo>
                    <a:pt x="843053" y="425250"/>
                  </a:lnTo>
                  <a:lnTo>
                    <a:pt x="785218" y="433712"/>
                  </a:lnTo>
                  <a:lnTo>
                    <a:pt x="724628" y="439924"/>
                  </a:lnTo>
                  <a:lnTo>
                    <a:pt x="661646" y="443751"/>
                  </a:lnTo>
                  <a:lnTo>
                    <a:pt x="596637" y="445056"/>
                  </a:lnTo>
                  <a:lnTo>
                    <a:pt x="531626" y="443751"/>
                  </a:lnTo>
                  <a:lnTo>
                    <a:pt x="468643" y="439924"/>
                  </a:lnTo>
                  <a:lnTo>
                    <a:pt x="408052" y="433712"/>
                  </a:lnTo>
                  <a:lnTo>
                    <a:pt x="350217" y="425250"/>
                  </a:lnTo>
                  <a:lnTo>
                    <a:pt x="295501" y="414675"/>
                  </a:lnTo>
                  <a:lnTo>
                    <a:pt x="244269" y="402122"/>
                  </a:lnTo>
                  <a:lnTo>
                    <a:pt x="196885" y="387726"/>
                  </a:lnTo>
                  <a:lnTo>
                    <a:pt x="153712" y="371624"/>
                  </a:lnTo>
                  <a:lnTo>
                    <a:pt x="115115" y="353951"/>
                  </a:lnTo>
                  <a:lnTo>
                    <a:pt x="81457" y="334843"/>
                  </a:lnTo>
                  <a:lnTo>
                    <a:pt x="30416" y="292864"/>
                  </a:lnTo>
                  <a:lnTo>
                    <a:pt x="3500" y="246775"/>
                  </a:lnTo>
                  <a:lnTo>
                    <a:pt x="0" y="2225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326526" y="2315491"/>
            <a:ext cx="2768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>
                <a:latin typeface="Times New Roman"/>
                <a:cs typeface="Times New Roman"/>
              </a:rPr>
              <a:t>LTE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044734" y="2003296"/>
            <a:ext cx="2572385" cy="645160"/>
            <a:chOff x="1044734" y="2003296"/>
            <a:chExt cx="2572385" cy="645160"/>
          </a:xfrm>
        </p:grpSpPr>
        <p:sp>
          <p:nvSpPr>
            <p:cNvPr id="16" name="object 16" descr=""/>
            <p:cNvSpPr/>
            <p:nvPr/>
          </p:nvSpPr>
          <p:spPr>
            <a:xfrm>
              <a:off x="1119104" y="2324218"/>
              <a:ext cx="97155" cy="100330"/>
            </a:xfrm>
            <a:custGeom>
              <a:avLst/>
              <a:gdLst/>
              <a:ahLst/>
              <a:cxnLst/>
              <a:rect l="l" t="t" r="r" b="b"/>
              <a:pathLst>
                <a:path w="97155" h="100330">
                  <a:moveTo>
                    <a:pt x="68195" y="100136"/>
                  </a:moveTo>
                  <a:lnTo>
                    <a:pt x="0" y="100136"/>
                  </a:lnTo>
                  <a:lnTo>
                    <a:pt x="45992" y="0"/>
                  </a:lnTo>
                  <a:lnTo>
                    <a:pt x="82778" y="17097"/>
                  </a:lnTo>
                  <a:lnTo>
                    <a:pt x="96601" y="48835"/>
                  </a:lnTo>
                  <a:lnTo>
                    <a:pt x="94281" y="69048"/>
                  </a:lnTo>
                  <a:lnTo>
                    <a:pt x="84571" y="86916"/>
                  </a:lnTo>
                  <a:lnTo>
                    <a:pt x="68195" y="100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168" y="2185822"/>
              <a:ext cx="55511" cy="32003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090174" y="2185830"/>
              <a:ext cx="55880" cy="32384"/>
            </a:xfrm>
            <a:custGeom>
              <a:avLst/>
              <a:gdLst/>
              <a:ahLst/>
              <a:cxnLst/>
              <a:rect l="l" t="t" r="r" b="b"/>
              <a:pathLst>
                <a:path w="55880" h="32385">
                  <a:moveTo>
                    <a:pt x="55500" y="15992"/>
                  </a:moveTo>
                  <a:lnTo>
                    <a:pt x="53319" y="9767"/>
                  </a:lnTo>
                  <a:lnTo>
                    <a:pt x="47372" y="4684"/>
                  </a:lnTo>
                  <a:lnTo>
                    <a:pt x="38550" y="1256"/>
                  </a:lnTo>
                  <a:lnTo>
                    <a:pt x="27746" y="0"/>
                  </a:lnTo>
                  <a:lnTo>
                    <a:pt x="16946" y="1256"/>
                  </a:lnTo>
                  <a:lnTo>
                    <a:pt x="8127" y="4684"/>
                  </a:lnTo>
                  <a:lnTo>
                    <a:pt x="2180" y="9767"/>
                  </a:lnTo>
                  <a:lnTo>
                    <a:pt x="0" y="15992"/>
                  </a:lnTo>
                  <a:lnTo>
                    <a:pt x="2180" y="22217"/>
                  </a:lnTo>
                  <a:lnTo>
                    <a:pt x="8127" y="27300"/>
                  </a:lnTo>
                  <a:lnTo>
                    <a:pt x="16946" y="30728"/>
                  </a:lnTo>
                  <a:lnTo>
                    <a:pt x="27746" y="31985"/>
                  </a:lnTo>
                  <a:lnTo>
                    <a:pt x="38550" y="30728"/>
                  </a:lnTo>
                  <a:lnTo>
                    <a:pt x="47372" y="27300"/>
                  </a:lnTo>
                  <a:lnTo>
                    <a:pt x="53319" y="22217"/>
                  </a:lnTo>
                  <a:lnTo>
                    <a:pt x="55500" y="15992"/>
                  </a:lnTo>
                  <a:close/>
                </a:path>
              </a:pathLst>
            </a:custGeom>
            <a:ln w="7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2901" y="2200351"/>
              <a:ext cx="110680" cy="22373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062895" y="2200349"/>
              <a:ext cx="111125" cy="224154"/>
            </a:xfrm>
            <a:custGeom>
              <a:avLst/>
              <a:gdLst/>
              <a:ahLst/>
              <a:cxnLst/>
              <a:rect l="l" t="t" r="r" b="b"/>
              <a:pathLst>
                <a:path w="111125" h="224155">
                  <a:moveTo>
                    <a:pt x="110054" y="187834"/>
                  </a:moveTo>
                  <a:lnTo>
                    <a:pt x="82659" y="7"/>
                  </a:lnTo>
                  <a:lnTo>
                    <a:pt x="75349" y="9749"/>
                  </a:lnTo>
                  <a:lnTo>
                    <a:pt x="65231" y="15716"/>
                  </a:lnTo>
                  <a:lnTo>
                    <a:pt x="27394" y="0"/>
                  </a:lnTo>
                  <a:lnTo>
                    <a:pt x="0" y="187849"/>
                  </a:lnTo>
                  <a:lnTo>
                    <a:pt x="1514" y="200522"/>
                  </a:lnTo>
                  <a:lnTo>
                    <a:pt x="11011" y="211497"/>
                  </a:lnTo>
                  <a:lnTo>
                    <a:pt x="26954" y="219619"/>
                  </a:lnTo>
                  <a:lnTo>
                    <a:pt x="47805" y="223735"/>
                  </a:lnTo>
                  <a:lnTo>
                    <a:pt x="69792" y="222862"/>
                  </a:lnTo>
                  <a:lnTo>
                    <a:pt x="88831" y="217388"/>
                  </a:lnTo>
                  <a:lnTo>
                    <a:pt x="102919" y="208201"/>
                  </a:lnTo>
                  <a:lnTo>
                    <a:pt x="110054" y="196188"/>
                  </a:lnTo>
                  <a:lnTo>
                    <a:pt x="110685" y="193420"/>
                  </a:lnTo>
                  <a:lnTo>
                    <a:pt x="110685" y="190609"/>
                  </a:lnTo>
                  <a:lnTo>
                    <a:pt x="110054" y="187842"/>
                  </a:lnTo>
                  <a:close/>
                </a:path>
              </a:pathLst>
            </a:custGeom>
            <a:ln w="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4049" y="2042363"/>
              <a:ext cx="27749" cy="2782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104045" y="2042372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27753" y="13909"/>
                  </a:moveTo>
                  <a:lnTo>
                    <a:pt x="27753" y="6226"/>
                  </a:lnTo>
                  <a:lnTo>
                    <a:pt x="21542" y="0"/>
                  </a:lnTo>
                  <a:lnTo>
                    <a:pt x="13876" y="0"/>
                  </a:lnTo>
                  <a:lnTo>
                    <a:pt x="6218" y="0"/>
                  </a:lnTo>
                  <a:lnTo>
                    <a:pt x="0" y="6226"/>
                  </a:lnTo>
                  <a:lnTo>
                    <a:pt x="0" y="13909"/>
                  </a:lnTo>
                  <a:lnTo>
                    <a:pt x="0" y="21593"/>
                  </a:lnTo>
                  <a:lnTo>
                    <a:pt x="6218" y="27819"/>
                  </a:lnTo>
                  <a:lnTo>
                    <a:pt x="13876" y="27819"/>
                  </a:lnTo>
                  <a:lnTo>
                    <a:pt x="21542" y="27819"/>
                  </a:lnTo>
                  <a:lnTo>
                    <a:pt x="27753" y="21593"/>
                  </a:lnTo>
                  <a:lnTo>
                    <a:pt x="27753" y="13909"/>
                  </a:lnTo>
                  <a:close/>
                </a:path>
              </a:pathLst>
            </a:custGeom>
            <a:ln w="7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7924" y="2070187"/>
              <a:ext cx="0" cy="132080"/>
            </a:xfrm>
            <a:custGeom>
              <a:avLst/>
              <a:gdLst/>
              <a:ahLst/>
              <a:cxnLst/>
              <a:rect l="l" t="t" r="r" b="b"/>
              <a:pathLst>
                <a:path w="0" h="132080">
                  <a:moveTo>
                    <a:pt x="0" y="131635"/>
                  </a:moveTo>
                  <a:lnTo>
                    <a:pt x="0" y="0"/>
                  </a:lnTo>
                </a:path>
              </a:pathLst>
            </a:custGeom>
            <a:ln w="7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48544" y="2007106"/>
              <a:ext cx="139065" cy="98425"/>
            </a:xfrm>
            <a:custGeom>
              <a:avLst/>
              <a:gdLst/>
              <a:ahLst/>
              <a:cxnLst/>
              <a:rect l="l" t="t" r="r" b="b"/>
              <a:pathLst>
                <a:path w="139065" h="98425">
                  <a:moveTo>
                    <a:pt x="39945" y="19672"/>
                  </a:moveTo>
                  <a:lnTo>
                    <a:pt x="30801" y="33475"/>
                  </a:lnTo>
                  <a:lnTo>
                    <a:pt x="27753" y="49177"/>
                  </a:lnTo>
                  <a:lnTo>
                    <a:pt x="30801" y="64879"/>
                  </a:lnTo>
                  <a:lnTo>
                    <a:pt x="39945" y="78682"/>
                  </a:lnTo>
                </a:path>
                <a:path w="139065" h="98425">
                  <a:moveTo>
                    <a:pt x="98816" y="78682"/>
                  </a:moveTo>
                  <a:lnTo>
                    <a:pt x="107956" y="64876"/>
                  </a:lnTo>
                  <a:lnTo>
                    <a:pt x="111003" y="49174"/>
                  </a:lnTo>
                  <a:lnTo>
                    <a:pt x="107956" y="33474"/>
                  </a:lnTo>
                  <a:lnTo>
                    <a:pt x="98816" y="19672"/>
                  </a:lnTo>
                </a:path>
                <a:path w="139065" h="98425">
                  <a:moveTo>
                    <a:pt x="20319" y="0"/>
                  </a:moveTo>
                  <a:lnTo>
                    <a:pt x="5079" y="23004"/>
                  </a:lnTo>
                  <a:lnTo>
                    <a:pt x="0" y="49173"/>
                  </a:lnTo>
                  <a:lnTo>
                    <a:pt x="5079" y="75343"/>
                  </a:lnTo>
                  <a:lnTo>
                    <a:pt x="20319" y="98347"/>
                  </a:lnTo>
                </a:path>
                <a:path w="139065" h="98425">
                  <a:moveTo>
                    <a:pt x="118442" y="98347"/>
                  </a:moveTo>
                  <a:lnTo>
                    <a:pt x="133678" y="75344"/>
                  </a:lnTo>
                  <a:lnTo>
                    <a:pt x="138757" y="49176"/>
                  </a:lnTo>
                  <a:lnTo>
                    <a:pt x="133678" y="23007"/>
                  </a:lnTo>
                  <a:lnTo>
                    <a:pt x="118442" y="0"/>
                  </a:lnTo>
                </a:path>
              </a:pathLst>
            </a:custGeom>
            <a:ln w="7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62893" y="2042374"/>
              <a:ext cx="111125" cy="382270"/>
            </a:xfrm>
            <a:custGeom>
              <a:avLst/>
              <a:gdLst/>
              <a:ahLst/>
              <a:cxnLst/>
              <a:rect l="l" t="t" r="r" b="b"/>
              <a:pathLst>
                <a:path w="111125" h="382269">
                  <a:moveTo>
                    <a:pt x="55030" y="143455"/>
                  </a:moveTo>
                  <a:lnTo>
                    <a:pt x="44858" y="144574"/>
                  </a:lnTo>
                  <a:lnTo>
                    <a:pt x="36344" y="147638"/>
                  </a:lnTo>
                  <a:lnTo>
                    <a:pt x="30264" y="152241"/>
                  </a:lnTo>
                  <a:lnTo>
                    <a:pt x="27394" y="157976"/>
                  </a:lnTo>
                  <a:lnTo>
                    <a:pt x="0" y="345825"/>
                  </a:lnTo>
                  <a:lnTo>
                    <a:pt x="1514" y="358498"/>
                  </a:lnTo>
                  <a:lnTo>
                    <a:pt x="11011" y="369472"/>
                  </a:lnTo>
                  <a:lnTo>
                    <a:pt x="26954" y="377592"/>
                  </a:lnTo>
                  <a:lnTo>
                    <a:pt x="47805" y="381704"/>
                  </a:lnTo>
                  <a:lnTo>
                    <a:pt x="69796" y="380835"/>
                  </a:lnTo>
                  <a:lnTo>
                    <a:pt x="88837" y="375364"/>
                  </a:lnTo>
                  <a:lnTo>
                    <a:pt x="102926" y="366178"/>
                  </a:lnTo>
                  <a:lnTo>
                    <a:pt x="110061" y="354164"/>
                  </a:lnTo>
                  <a:lnTo>
                    <a:pt x="110692" y="351397"/>
                  </a:lnTo>
                  <a:lnTo>
                    <a:pt x="110692" y="348585"/>
                  </a:lnTo>
                  <a:lnTo>
                    <a:pt x="110061" y="345818"/>
                  </a:lnTo>
                  <a:lnTo>
                    <a:pt x="82872" y="159433"/>
                  </a:lnTo>
                  <a:lnTo>
                    <a:pt x="80664" y="153206"/>
                  </a:lnTo>
                  <a:lnTo>
                    <a:pt x="74692" y="148124"/>
                  </a:lnTo>
                  <a:lnTo>
                    <a:pt x="65849" y="144703"/>
                  </a:lnTo>
                  <a:lnTo>
                    <a:pt x="55030" y="143455"/>
                  </a:lnTo>
                </a:path>
                <a:path w="111125" h="382269">
                  <a:moveTo>
                    <a:pt x="68907" y="13909"/>
                  </a:moveTo>
                  <a:lnTo>
                    <a:pt x="68907" y="6226"/>
                  </a:lnTo>
                  <a:lnTo>
                    <a:pt x="62696" y="0"/>
                  </a:lnTo>
                  <a:lnTo>
                    <a:pt x="55030" y="0"/>
                  </a:lnTo>
                  <a:lnTo>
                    <a:pt x="47365" y="0"/>
                  </a:lnTo>
                  <a:lnTo>
                    <a:pt x="41153" y="6226"/>
                  </a:lnTo>
                  <a:lnTo>
                    <a:pt x="41153" y="13909"/>
                  </a:lnTo>
                  <a:lnTo>
                    <a:pt x="41153" y="21593"/>
                  </a:lnTo>
                  <a:lnTo>
                    <a:pt x="47365" y="27819"/>
                  </a:lnTo>
                  <a:lnTo>
                    <a:pt x="55030" y="27819"/>
                  </a:lnTo>
                  <a:lnTo>
                    <a:pt x="62696" y="27819"/>
                  </a:lnTo>
                  <a:lnTo>
                    <a:pt x="68907" y="21593"/>
                  </a:lnTo>
                  <a:lnTo>
                    <a:pt x="68907" y="13909"/>
                  </a:lnTo>
                  <a:close/>
                </a:path>
                <a:path w="111125" h="382269">
                  <a:moveTo>
                    <a:pt x="55030" y="143455"/>
                  </a:moveTo>
                  <a:lnTo>
                    <a:pt x="55030" y="27819"/>
                  </a:lnTo>
                </a:path>
              </a:pathLst>
            </a:custGeom>
            <a:ln w="14702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22198" y="2201827"/>
              <a:ext cx="1193800" cy="445134"/>
            </a:xfrm>
            <a:custGeom>
              <a:avLst/>
              <a:gdLst/>
              <a:ahLst/>
              <a:cxnLst/>
              <a:rect l="l" t="t" r="r" b="b"/>
              <a:pathLst>
                <a:path w="1193800" h="445135">
                  <a:moveTo>
                    <a:pt x="596637" y="445056"/>
                  </a:moveTo>
                  <a:lnTo>
                    <a:pt x="531626" y="443751"/>
                  </a:lnTo>
                  <a:lnTo>
                    <a:pt x="468643" y="439924"/>
                  </a:lnTo>
                  <a:lnTo>
                    <a:pt x="408052" y="433712"/>
                  </a:lnTo>
                  <a:lnTo>
                    <a:pt x="350217" y="425250"/>
                  </a:lnTo>
                  <a:lnTo>
                    <a:pt x="295501" y="414675"/>
                  </a:lnTo>
                  <a:lnTo>
                    <a:pt x="244269" y="402122"/>
                  </a:lnTo>
                  <a:lnTo>
                    <a:pt x="196885" y="387726"/>
                  </a:lnTo>
                  <a:lnTo>
                    <a:pt x="153712" y="371624"/>
                  </a:lnTo>
                  <a:lnTo>
                    <a:pt x="115115" y="353951"/>
                  </a:lnTo>
                  <a:lnTo>
                    <a:pt x="81457" y="334843"/>
                  </a:lnTo>
                  <a:lnTo>
                    <a:pt x="30416" y="292865"/>
                  </a:lnTo>
                  <a:lnTo>
                    <a:pt x="3500" y="246775"/>
                  </a:lnTo>
                  <a:lnTo>
                    <a:pt x="0" y="222528"/>
                  </a:lnTo>
                  <a:lnTo>
                    <a:pt x="3500" y="198281"/>
                  </a:lnTo>
                  <a:lnTo>
                    <a:pt x="30416" y="152191"/>
                  </a:lnTo>
                  <a:lnTo>
                    <a:pt x="81457" y="110213"/>
                  </a:lnTo>
                  <a:lnTo>
                    <a:pt x="115115" y="91105"/>
                  </a:lnTo>
                  <a:lnTo>
                    <a:pt x="153712" y="73432"/>
                  </a:lnTo>
                  <a:lnTo>
                    <a:pt x="196885" y="57330"/>
                  </a:lnTo>
                  <a:lnTo>
                    <a:pt x="244269" y="42934"/>
                  </a:lnTo>
                  <a:lnTo>
                    <a:pt x="295501" y="30381"/>
                  </a:lnTo>
                  <a:lnTo>
                    <a:pt x="350217" y="19806"/>
                  </a:lnTo>
                  <a:lnTo>
                    <a:pt x="408052" y="11344"/>
                  </a:lnTo>
                  <a:lnTo>
                    <a:pt x="468643" y="5132"/>
                  </a:lnTo>
                  <a:lnTo>
                    <a:pt x="531626" y="1305"/>
                  </a:lnTo>
                  <a:lnTo>
                    <a:pt x="596637" y="0"/>
                  </a:lnTo>
                  <a:lnTo>
                    <a:pt x="661646" y="1305"/>
                  </a:lnTo>
                  <a:lnTo>
                    <a:pt x="724628" y="5132"/>
                  </a:lnTo>
                  <a:lnTo>
                    <a:pt x="785218" y="11344"/>
                  </a:lnTo>
                  <a:lnTo>
                    <a:pt x="843053" y="19806"/>
                  </a:lnTo>
                  <a:lnTo>
                    <a:pt x="897769" y="30381"/>
                  </a:lnTo>
                  <a:lnTo>
                    <a:pt x="949001" y="42934"/>
                  </a:lnTo>
                  <a:lnTo>
                    <a:pt x="996385" y="57330"/>
                  </a:lnTo>
                  <a:lnTo>
                    <a:pt x="1039559" y="73432"/>
                  </a:lnTo>
                  <a:lnTo>
                    <a:pt x="1078156" y="91105"/>
                  </a:lnTo>
                  <a:lnTo>
                    <a:pt x="1111814" y="110213"/>
                  </a:lnTo>
                  <a:lnTo>
                    <a:pt x="1162857" y="152191"/>
                  </a:lnTo>
                  <a:lnTo>
                    <a:pt x="1189773" y="198281"/>
                  </a:lnTo>
                  <a:lnTo>
                    <a:pt x="1193274" y="222528"/>
                  </a:lnTo>
                  <a:lnTo>
                    <a:pt x="1189773" y="246775"/>
                  </a:lnTo>
                  <a:lnTo>
                    <a:pt x="1162857" y="292865"/>
                  </a:lnTo>
                  <a:lnTo>
                    <a:pt x="1111814" y="334843"/>
                  </a:lnTo>
                  <a:lnTo>
                    <a:pt x="1078156" y="353951"/>
                  </a:lnTo>
                  <a:lnTo>
                    <a:pt x="1039559" y="371624"/>
                  </a:lnTo>
                  <a:lnTo>
                    <a:pt x="996385" y="387726"/>
                  </a:lnTo>
                  <a:lnTo>
                    <a:pt x="949001" y="402122"/>
                  </a:lnTo>
                  <a:lnTo>
                    <a:pt x="897769" y="414675"/>
                  </a:lnTo>
                  <a:lnTo>
                    <a:pt x="843053" y="425250"/>
                  </a:lnTo>
                  <a:lnTo>
                    <a:pt x="785218" y="433712"/>
                  </a:lnTo>
                  <a:lnTo>
                    <a:pt x="724628" y="439924"/>
                  </a:lnTo>
                  <a:lnTo>
                    <a:pt x="661646" y="443751"/>
                  </a:lnTo>
                  <a:lnTo>
                    <a:pt x="596637" y="44505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422197" y="2201827"/>
              <a:ext cx="1193800" cy="445134"/>
            </a:xfrm>
            <a:custGeom>
              <a:avLst/>
              <a:gdLst/>
              <a:ahLst/>
              <a:cxnLst/>
              <a:rect l="l" t="t" r="r" b="b"/>
              <a:pathLst>
                <a:path w="1193800" h="445135">
                  <a:moveTo>
                    <a:pt x="0" y="222528"/>
                  </a:moveTo>
                  <a:lnTo>
                    <a:pt x="13761" y="174790"/>
                  </a:lnTo>
                  <a:lnTo>
                    <a:pt x="53103" y="130621"/>
                  </a:lnTo>
                  <a:lnTo>
                    <a:pt x="115115" y="91105"/>
                  </a:lnTo>
                  <a:lnTo>
                    <a:pt x="153712" y="73432"/>
                  </a:lnTo>
                  <a:lnTo>
                    <a:pt x="196885" y="57330"/>
                  </a:lnTo>
                  <a:lnTo>
                    <a:pt x="244269" y="42934"/>
                  </a:lnTo>
                  <a:lnTo>
                    <a:pt x="295501" y="30381"/>
                  </a:lnTo>
                  <a:lnTo>
                    <a:pt x="350217" y="19806"/>
                  </a:lnTo>
                  <a:lnTo>
                    <a:pt x="408052" y="11344"/>
                  </a:lnTo>
                  <a:lnTo>
                    <a:pt x="468643" y="5132"/>
                  </a:lnTo>
                  <a:lnTo>
                    <a:pt x="531626" y="1305"/>
                  </a:lnTo>
                  <a:lnTo>
                    <a:pt x="596637" y="0"/>
                  </a:lnTo>
                  <a:lnTo>
                    <a:pt x="661646" y="1305"/>
                  </a:lnTo>
                  <a:lnTo>
                    <a:pt x="724628" y="5132"/>
                  </a:lnTo>
                  <a:lnTo>
                    <a:pt x="785218" y="11344"/>
                  </a:lnTo>
                  <a:lnTo>
                    <a:pt x="843053" y="19806"/>
                  </a:lnTo>
                  <a:lnTo>
                    <a:pt x="897769" y="30381"/>
                  </a:lnTo>
                  <a:lnTo>
                    <a:pt x="949001" y="42934"/>
                  </a:lnTo>
                  <a:lnTo>
                    <a:pt x="996385" y="57330"/>
                  </a:lnTo>
                  <a:lnTo>
                    <a:pt x="1039559" y="73432"/>
                  </a:lnTo>
                  <a:lnTo>
                    <a:pt x="1078156" y="91105"/>
                  </a:lnTo>
                  <a:lnTo>
                    <a:pt x="1111814" y="110213"/>
                  </a:lnTo>
                  <a:lnTo>
                    <a:pt x="1162857" y="152191"/>
                  </a:lnTo>
                  <a:lnTo>
                    <a:pt x="1189773" y="198281"/>
                  </a:lnTo>
                  <a:lnTo>
                    <a:pt x="1193274" y="222528"/>
                  </a:lnTo>
                  <a:lnTo>
                    <a:pt x="1189773" y="246775"/>
                  </a:lnTo>
                  <a:lnTo>
                    <a:pt x="1162857" y="292865"/>
                  </a:lnTo>
                  <a:lnTo>
                    <a:pt x="1111814" y="334843"/>
                  </a:lnTo>
                  <a:lnTo>
                    <a:pt x="1078156" y="353951"/>
                  </a:lnTo>
                  <a:lnTo>
                    <a:pt x="1039559" y="371624"/>
                  </a:lnTo>
                  <a:lnTo>
                    <a:pt x="996385" y="387726"/>
                  </a:lnTo>
                  <a:lnTo>
                    <a:pt x="949001" y="402122"/>
                  </a:lnTo>
                  <a:lnTo>
                    <a:pt x="897769" y="414675"/>
                  </a:lnTo>
                  <a:lnTo>
                    <a:pt x="843053" y="425250"/>
                  </a:lnTo>
                  <a:lnTo>
                    <a:pt x="785218" y="433712"/>
                  </a:lnTo>
                  <a:lnTo>
                    <a:pt x="724628" y="439924"/>
                  </a:lnTo>
                  <a:lnTo>
                    <a:pt x="661646" y="443751"/>
                  </a:lnTo>
                  <a:lnTo>
                    <a:pt x="596637" y="445056"/>
                  </a:lnTo>
                  <a:lnTo>
                    <a:pt x="531626" y="443751"/>
                  </a:lnTo>
                  <a:lnTo>
                    <a:pt x="468643" y="439924"/>
                  </a:lnTo>
                  <a:lnTo>
                    <a:pt x="408052" y="433712"/>
                  </a:lnTo>
                  <a:lnTo>
                    <a:pt x="350217" y="425250"/>
                  </a:lnTo>
                  <a:lnTo>
                    <a:pt x="295501" y="414675"/>
                  </a:lnTo>
                  <a:lnTo>
                    <a:pt x="244269" y="402122"/>
                  </a:lnTo>
                  <a:lnTo>
                    <a:pt x="196885" y="387726"/>
                  </a:lnTo>
                  <a:lnTo>
                    <a:pt x="153712" y="371624"/>
                  </a:lnTo>
                  <a:lnTo>
                    <a:pt x="115115" y="353951"/>
                  </a:lnTo>
                  <a:lnTo>
                    <a:pt x="81457" y="334843"/>
                  </a:lnTo>
                  <a:lnTo>
                    <a:pt x="30416" y="292865"/>
                  </a:lnTo>
                  <a:lnTo>
                    <a:pt x="3500" y="246775"/>
                  </a:lnTo>
                  <a:lnTo>
                    <a:pt x="0" y="2225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910938" y="2315493"/>
            <a:ext cx="2159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>
                <a:latin typeface="Times New Roman"/>
                <a:cs typeface="Times New Roman"/>
              </a:rPr>
              <a:t>NR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463535" y="1610689"/>
            <a:ext cx="1972310" cy="1765935"/>
            <a:chOff x="1463535" y="1610689"/>
            <a:chExt cx="1972310" cy="1765935"/>
          </a:xfrm>
        </p:grpSpPr>
        <p:sp>
          <p:nvSpPr>
            <p:cNvPr id="30" name="object 30" descr=""/>
            <p:cNvSpPr/>
            <p:nvPr/>
          </p:nvSpPr>
          <p:spPr>
            <a:xfrm>
              <a:off x="3339145" y="2324220"/>
              <a:ext cx="97155" cy="100330"/>
            </a:xfrm>
            <a:custGeom>
              <a:avLst/>
              <a:gdLst/>
              <a:ahLst/>
              <a:cxnLst/>
              <a:rect l="l" t="t" r="r" b="b"/>
              <a:pathLst>
                <a:path w="97154" h="100330">
                  <a:moveTo>
                    <a:pt x="68195" y="100136"/>
                  </a:moveTo>
                  <a:lnTo>
                    <a:pt x="0" y="100136"/>
                  </a:lnTo>
                  <a:lnTo>
                    <a:pt x="45992" y="0"/>
                  </a:lnTo>
                  <a:lnTo>
                    <a:pt x="82775" y="17097"/>
                  </a:lnTo>
                  <a:lnTo>
                    <a:pt x="96597" y="48835"/>
                  </a:lnTo>
                  <a:lnTo>
                    <a:pt x="94280" y="69048"/>
                  </a:lnTo>
                  <a:lnTo>
                    <a:pt x="84571" y="86916"/>
                  </a:lnTo>
                  <a:lnTo>
                    <a:pt x="68195" y="100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0217" y="2185822"/>
              <a:ext cx="55498" cy="3200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310215" y="2185830"/>
              <a:ext cx="55880" cy="32384"/>
            </a:xfrm>
            <a:custGeom>
              <a:avLst/>
              <a:gdLst/>
              <a:ahLst/>
              <a:cxnLst/>
              <a:rect l="l" t="t" r="r" b="b"/>
              <a:pathLst>
                <a:path w="55879" h="32385">
                  <a:moveTo>
                    <a:pt x="55500" y="15992"/>
                  </a:moveTo>
                  <a:lnTo>
                    <a:pt x="53319" y="9767"/>
                  </a:lnTo>
                  <a:lnTo>
                    <a:pt x="47372" y="4684"/>
                  </a:lnTo>
                  <a:lnTo>
                    <a:pt x="38550" y="1256"/>
                  </a:lnTo>
                  <a:lnTo>
                    <a:pt x="27746" y="0"/>
                  </a:lnTo>
                  <a:lnTo>
                    <a:pt x="16946" y="1256"/>
                  </a:lnTo>
                  <a:lnTo>
                    <a:pt x="8127" y="4684"/>
                  </a:lnTo>
                  <a:lnTo>
                    <a:pt x="2180" y="9767"/>
                  </a:lnTo>
                  <a:lnTo>
                    <a:pt x="0" y="15992"/>
                  </a:lnTo>
                  <a:lnTo>
                    <a:pt x="2180" y="22217"/>
                  </a:lnTo>
                  <a:lnTo>
                    <a:pt x="8127" y="27300"/>
                  </a:lnTo>
                  <a:lnTo>
                    <a:pt x="16946" y="30728"/>
                  </a:lnTo>
                  <a:lnTo>
                    <a:pt x="27746" y="31985"/>
                  </a:lnTo>
                  <a:lnTo>
                    <a:pt x="38550" y="30728"/>
                  </a:lnTo>
                  <a:lnTo>
                    <a:pt x="47372" y="27300"/>
                  </a:lnTo>
                  <a:lnTo>
                    <a:pt x="53319" y="22217"/>
                  </a:lnTo>
                  <a:lnTo>
                    <a:pt x="55500" y="15992"/>
                  </a:lnTo>
                  <a:close/>
                </a:path>
              </a:pathLst>
            </a:custGeom>
            <a:ln w="7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2937" y="2200351"/>
              <a:ext cx="110693" cy="22373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282936" y="2200349"/>
              <a:ext cx="111125" cy="224154"/>
            </a:xfrm>
            <a:custGeom>
              <a:avLst/>
              <a:gdLst/>
              <a:ahLst/>
              <a:cxnLst/>
              <a:rect l="l" t="t" r="r" b="b"/>
              <a:pathLst>
                <a:path w="111125" h="224155">
                  <a:moveTo>
                    <a:pt x="110054" y="187834"/>
                  </a:moveTo>
                  <a:lnTo>
                    <a:pt x="82659" y="7"/>
                  </a:lnTo>
                  <a:lnTo>
                    <a:pt x="75349" y="9749"/>
                  </a:lnTo>
                  <a:lnTo>
                    <a:pt x="65231" y="15716"/>
                  </a:lnTo>
                  <a:lnTo>
                    <a:pt x="27394" y="0"/>
                  </a:lnTo>
                  <a:lnTo>
                    <a:pt x="0" y="187849"/>
                  </a:lnTo>
                  <a:lnTo>
                    <a:pt x="1514" y="200522"/>
                  </a:lnTo>
                  <a:lnTo>
                    <a:pt x="11011" y="211497"/>
                  </a:lnTo>
                  <a:lnTo>
                    <a:pt x="26954" y="219619"/>
                  </a:lnTo>
                  <a:lnTo>
                    <a:pt x="47805" y="223735"/>
                  </a:lnTo>
                  <a:lnTo>
                    <a:pt x="69792" y="222862"/>
                  </a:lnTo>
                  <a:lnTo>
                    <a:pt x="88831" y="217388"/>
                  </a:lnTo>
                  <a:lnTo>
                    <a:pt x="102919" y="208201"/>
                  </a:lnTo>
                  <a:lnTo>
                    <a:pt x="110054" y="196188"/>
                  </a:lnTo>
                  <a:lnTo>
                    <a:pt x="110685" y="193420"/>
                  </a:lnTo>
                  <a:lnTo>
                    <a:pt x="110685" y="190609"/>
                  </a:lnTo>
                  <a:lnTo>
                    <a:pt x="110054" y="187842"/>
                  </a:lnTo>
                  <a:close/>
                </a:path>
              </a:pathLst>
            </a:custGeom>
            <a:ln w="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4097" y="2042363"/>
              <a:ext cx="27736" cy="2782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324086" y="2042372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753" y="13909"/>
                  </a:moveTo>
                  <a:lnTo>
                    <a:pt x="27753" y="6226"/>
                  </a:lnTo>
                  <a:lnTo>
                    <a:pt x="21542" y="0"/>
                  </a:lnTo>
                  <a:lnTo>
                    <a:pt x="13876" y="0"/>
                  </a:lnTo>
                  <a:lnTo>
                    <a:pt x="6218" y="0"/>
                  </a:lnTo>
                  <a:lnTo>
                    <a:pt x="0" y="6226"/>
                  </a:lnTo>
                  <a:lnTo>
                    <a:pt x="0" y="13909"/>
                  </a:lnTo>
                  <a:lnTo>
                    <a:pt x="0" y="21593"/>
                  </a:lnTo>
                  <a:lnTo>
                    <a:pt x="6218" y="27819"/>
                  </a:lnTo>
                  <a:lnTo>
                    <a:pt x="13876" y="27819"/>
                  </a:lnTo>
                  <a:lnTo>
                    <a:pt x="21542" y="27819"/>
                  </a:lnTo>
                  <a:lnTo>
                    <a:pt x="27753" y="21593"/>
                  </a:lnTo>
                  <a:lnTo>
                    <a:pt x="27753" y="13909"/>
                  </a:lnTo>
                  <a:close/>
                </a:path>
              </a:pathLst>
            </a:custGeom>
            <a:ln w="7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337965" y="2070187"/>
              <a:ext cx="0" cy="132080"/>
            </a:xfrm>
            <a:custGeom>
              <a:avLst/>
              <a:gdLst/>
              <a:ahLst/>
              <a:cxnLst/>
              <a:rect l="l" t="t" r="r" b="b"/>
              <a:pathLst>
                <a:path w="0" h="132080">
                  <a:moveTo>
                    <a:pt x="0" y="131635"/>
                  </a:moveTo>
                  <a:lnTo>
                    <a:pt x="0" y="0"/>
                  </a:lnTo>
                </a:path>
              </a:pathLst>
            </a:custGeom>
            <a:ln w="7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268585" y="2007106"/>
              <a:ext cx="139065" cy="98425"/>
            </a:xfrm>
            <a:custGeom>
              <a:avLst/>
              <a:gdLst/>
              <a:ahLst/>
              <a:cxnLst/>
              <a:rect l="l" t="t" r="r" b="b"/>
              <a:pathLst>
                <a:path w="139064" h="98425">
                  <a:moveTo>
                    <a:pt x="39945" y="19672"/>
                  </a:moveTo>
                  <a:lnTo>
                    <a:pt x="30801" y="33475"/>
                  </a:lnTo>
                  <a:lnTo>
                    <a:pt x="27753" y="49177"/>
                  </a:lnTo>
                  <a:lnTo>
                    <a:pt x="30801" y="64879"/>
                  </a:lnTo>
                  <a:lnTo>
                    <a:pt x="39945" y="78682"/>
                  </a:lnTo>
                </a:path>
                <a:path w="139064" h="98425">
                  <a:moveTo>
                    <a:pt x="98816" y="78682"/>
                  </a:moveTo>
                  <a:lnTo>
                    <a:pt x="107956" y="64876"/>
                  </a:lnTo>
                  <a:lnTo>
                    <a:pt x="111003" y="49174"/>
                  </a:lnTo>
                  <a:lnTo>
                    <a:pt x="107956" y="33474"/>
                  </a:lnTo>
                  <a:lnTo>
                    <a:pt x="98816" y="19672"/>
                  </a:lnTo>
                </a:path>
                <a:path w="139064" h="98425">
                  <a:moveTo>
                    <a:pt x="20319" y="0"/>
                  </a:moveTo>
                  <a:lnTo>
                    <a:pt x="5079" y="23004"/>
                  </a:lnTo>
                  <a:lnTo>
                    <a:pt x="0" y="49173"/>
                  </a:lnTo>
                  <a:lnTo>
                    <a:pt x="5079" y="75343"/>
                  </a:lnTo>
                  <a:lnTo>
                    <a:pt x="20319" y="98347"/>
                  </a:lnTo>
                </a:path>
                <a:path w="139064" h="98425">
                  <a:moveTo>
                    <a:pt x="118442" y="98347"/>
                  </a:moveTo>
                  <a:lnTo>
                    <a:pt x="133678" y="75344"/>
                  </a:lnTo>
                  <a:lnTo>
                    <a:pt x="138757" y="49176"/>
                  </a:lnTo>
                  <a:lnTo>
                    <a:pt x="133678" y="23007"/>
                  </a:lnTo>
                  <a:lnTo>
                    <a:pt x="118442" y="0"/>
                  </a:lnTo>
                </a:path>
              </a:pathLst>
            </a:custGeom>
            <a:ln w="7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282934" y="2042374"/>
              <a:ext cx="111125" cy="382270"/>
            </a:xfrm>
            <a:custGeom>
              <a:avLst/>
              <a:gdLst/>
              <a:ahLst/>
              <a:cxnLst/>
              <a:rect l="l" t="t" r="r" b="b"/>
              <a:pathLst>
                <a:path w="111125" h="382269">
                  <a:moveTo>
                    <a:pt x="55030" y="143455"/>
                  </a:moveTo>
                  <a:lnTo>
                    <a:pt x="44858" y="144574"/>
                  </a:lnTo>
                  <a:lnTo>
                    <a:pt x="36344" y="147638"/>
                  </a:lnTo>
                  <a:lnTo>
                    <a:pt x="30264" y="152241"/>
                  </a:lnTo>
                  <a:lnTo>
                    <a:pt x="27394" y="157976"/>
                  </a:lnTo>
                  <a:lnTo>
                    <a:pt x="0" y="345825"/>
                  </a:lnTo>
                  <a:lnTo>
                    <a:pt x="1514" y="358498"/>
                  </a:lnTo>
                  <a:lnTo>
                    <a:pt x="11011" y="369472"/>
                  </a:lnTo>
                  <a:lnTo>
                    <a:pt x="26954" y="377592"/>
                  </a:lnTo>
                  <a:lnTo>
                    <a:pt x="47805" y="381704"/>
                  </a:lnTo>
                  <a:lnTo>
                    <a:pt x="69796" y="380835"/>
                  </a:lnTo>
                  <a:lnTo>
                    <a:pt x="88837" y="375364"/>
                  </a:lnTo>
                  <a:lnTo>
                    <a:pt x="102926" y="366178"/>
                  </a:lnTo>
                  <a:lnTo>
                    <a:pt x="110061" y="354164"/>
                  </a:lnTo>
                  <a:lnTo>
                    <a:pt x="110692" y="351397"/>
                  </a:lnTo>
                  <a:lnTo>
                    <a:pt x="110692" y="348585"/>
                  </a:lnTo>
                  <a:lnTo>
                    <a:pt x="110061" y="345818"/>
                  </a:lnTo>
                  <a:lnTo>
                    <a:pt x="82872" y="159433"/>
                  </a:lnTo>
                  <a:lnTo>
                    <a:pt x="80664" y="153206"/>
                  </a:lnTo>
                  <a:lnTo>
                    <a:pt x="74692" y="148124"/>
                  </a:lnTo>
                  <a:lnTo>
                    <a:pt x="65849" y="144703"/>
                  </a:lnTo>
                  <a:lnTo>
                    <a:pt x="55030" y="143455"/>
                  </a:lnTo>
                </a:path>
                <a:path w="111125" h="382269">
                  <a:moveTo>
                    <a:pt x="68907" y="13909"/>
                  </a:moveTo>
                  <a:lnTo>
                    <a:pt x="68907" y="6226"/>
                  </a:lnTo>
                  <a:lnTo>
                    <a:pt x="62696" y="0"/>
                  </a:lnTo>
                  <a:lnTo>
                    <a:pt x="55030" y="0"/>
                  </a:lnTo>
                  <a:lnTo>
                    <a:pt x="47365" y="0"/>
                  </a:lnTo>
                  <a:lnTo>
                    <a:pt x="41153" y="6226"/>
                  </a:lnTo>
                  <a:lnTo>
                    <a:pt x="41153" y="13909"/>
                  </a:lnTo>
                  <a:lnTo>
                    <a:pt x="41153" y="21593"/>
                  </a:lnTo>
                  <a:lnTo>
                    <a:pt x="47365" y="27819"/>
                  </a:lnTo>
                  <a:lnTo>
                    <a:pt x="55030" y="27819"/>
                  </a:lnTo>
                  <a:lnTo>
                    <a:pt x="62696" y="27819"/>
                  </a:lnTo>
                  <a:lnTo>
                    <a:pt x="68907" y="21593"/>
                  </a:lnTo>
                  <a:lnTo>
                    <a:pt x="68907" y="13909"/>
                  </a:lnTo>
                  <a:close/>
                </a:path>
                <a:path w="111125" h="382269">
                  <a:moveTo>
                    <a:pt x="55030" y="143455"/>
                  </a:moveTo>
                  <a:lnTo>
                    <a:pt x="55030" y="27819"/>
                  </a:lnTo>
                </a:path>
              </a:pathLst>
            </a:custGeom>
            <a:ln w="14702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009586" y="1611959"/>
              <a:ext cx="635" cy="590550"/>
            </a:xfrm>
            <a:custGeom>
              <a:avLst/>
              <a:gdLst/>
              <a:ahLst/>
              <a:cxnLst/>
              <a:rect l="l" t="t" r="r" b="b"/>
              <a:pathLst>
                <a:path w="635" h="590550">
                  <a:moveTo>
                    <a:pt x="234" y="0"/>
                  </a:moveTo>
                  <a:lnTo>
                    <a:pt x="0" y="590529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9820" y="3294748"/>
              <a:ext cx="161950" cy="7452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71353" y="3105277"/>
              <a:ext cx="112117" cy="22219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171347" y="3269082"/>
              <a:ext cx="50800" cy="58419"/>
            </a:xfrm>
            <a:custGeom>
              <a:avLst/>
              <a:gdLst/>
              <a:ahLst/>
              <a:cxnLst/>
              <a:rect l="l" t="t" r="r" b="b"/>
              <a:pathLst>
                <a:path w="50800" h="58420">
                  <a:moveTo>
                    <a:pt x="45806" y="41042"/>
                  </a:moveTo>
                  <a:lnTo>
                    <a:pt x="50179" y="29726"/>
                  </a:lnTo>
                  <a:lnTo>
                    <a:pt x="50678" y="18706"/>
                  </a:lnTo>
                  <a:lnTo>
                    <a:pt x="47467" y="9222"/>
                  </a:lnTo>
                  <a:lnTo>
                    <a:pt x="40710" y="2513"/>
                  </a:lnTo>
                  <a:lnTo>
                    <a:pt x="31537" y="0"/>
                  </a:lnTo>
                  <a:lnTo>
                    <a:pt x="21736" y="1953"/>
                  </a:lnTo>
                  <a:lnTo>
                    <a:pt x="12463" y="7896"/>
                  </a:lnTo>
                  <a:lnTo>
                    <a:pt x="4872" y="17351"/>
                  </a:lnTo>
                  <a:lnTo>
                    <a:pt x="498" y="28671"/>
                  </a:lnTo>
                  <a:lnTo>
                    <a:pt x="0" y="39692"/>
                  </a:lnTo>
                  <a:lnTo>
                    <a:pt x="3211" y="49175"/>
                  </a:lnTo>
                  <a:lnTo>
                    <a:pt x="9968" y="55879"/>
                  </a:lnTo>
                  <a:lnTo>
                    <a:pt x="19144" y="58393"/>
                  </a:lnTo>
                  <a:lnTo>
                    <a:pt x="28944" y="56439"/>
                  </a:lnTo>
                  <a:lnTo>
                    <a:pt x="38215" y="50496"/>
                  </a:lnTo>
                  <a:lnTo>
                    <a:pt x="45806" y="41042"/>
                  </a:lnTo>
                  <a:close/>
                </a:path>
              </a:pathLst>
            </a:custGeom>
            <a:ln w="70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19820" y="3245751"/>
              <a:ext cx="152742" cy="93378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2019818" y="3245756"/>
              <a:ext cx="153035" cy="93980"/>
            </a:xfrm>
            <a:custGeom>
              <a:avLst/>
              <a:gdLst/>
              <a:ahLst/>
              <a:cxnLst/>
              <a:rect l="l" t="t" r="r" b="b"/>
              <a:pathLst>
                <a:path w="153035" h="93979">
                  <a:moveTo>
                    <a:pt x="70405" y="0"/>
                  </a:moveTo>
                  <a:lnTo>
                    <a:pt x="23247" y="26058"/>
                  </a:lnTo>
                  <a:lnTo>
                    <a:pt x="0" y="52025"/>
                  </a:lnTo>
                  <a:lnTo>
                    <a:pt x="4352" y="62844"/>
                  </a:lnTo>
                  <a:lnTo>
                    <a:pt x="43280" y="91270"/>
                  </a:lnTo>
                  <a:lnTo>
                    <a:pt x="58162" y="93375"/>
                  </a:lnTo>
                  <a:lnTo>
                    <a:pt x="73186" y="92332"/>
                  </a:lnTo>
                  <a:lnTo>
                    <a:pt x="87872" y="88125"/>
                  </a:lnTo>
                  <a:lnTo>
                    <a:pt x="152757" y="48986"/>
                  </a:lnTo>
                  <a:lnTo>
                    <a:pt x="70405" y="0"/>
                  </a:lnTo>
                  <a:close/>
                </a:path>
              </a:pathLst>
            </a:custGeom>
            <a:ln w="7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9457" y="3104680"/>
              <a:ext cx="146844" cy="165607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109450" y="3105281"/>
              <a:ext cx="147320" cy="165100"/>
            </a:xfrm>
            <a:custGeom>
              <a:avLst/>
              <a:gdLst/>
              <a:ahLst/>
              <a:cxnLst/>
              <a:rect l="l" t="t" r="r" b="b"/>
              <a:pathLst>
                <a:path w="147319" h="165100">
                  <a:moveTo>
                    <a:pt x="0" y="114973"/>
                  </a:moveTo>
                  <a:lnTo>
                    <a:pt x="85626" y="165019"/>
                  </a:lnTo>
                  <a:lnTo>
                    <a:pt x="91287" y="163871"/>
                  </a:lnTo>
                  <a:lnTo>
                    <a:pt x="139937" y="78042"/>
                  </a:lnTo>
                  <a:lnTo>
                    <a:pt x="146848" y="57632"/>
                  </a:lnTo>
                  <a:lnTo>
                    <a:pt x="145614" y="36962"/>
                  </a:lnTo>
                  <a:lnTo>
                    <a:pt x="121126" y="4327"/>
                  </a:lnTo>
                  <a:lnTo>
                    <a:pt x="111595" y="0"/>
                  </a:lnTo>
                  <a:lnTo>
                    <a:pt x="93292" y="165"/>
                  </a:lnTo>
                  <a:lnTo>
                    <a:pt x="76036" y="5459"/>
                  </a:lnTo>
                  <a:lnTo>
                    <a:pt x="60832" y="15411"/>
                  </a:lnTo>
                  <a:lnTo>
                    <a:pt x="48686" y="29549"/>
                  </a:lnTo>
                  <a:lnTo>
                    <a:pt x="0" y="114973"/>
                  </a:lnTo>
                  <a:close/>
                </a:path>
              </a:pathLst>
            </a:custGeom>
            <a:ln w="7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90229" y="3220250"/>
              <a:ext cx="104838" cy="7449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2090224" y="3220254"/>
              <a:ext cx="105410" cy="74930"/>
            </a:xfrm>
            <a:custGeom>
              <a:avLst/>
              <a:gdLst/>
              <a:ahLst/>
              <a:cxnLst/>
              <a:rect l="l" t="t" r="r" b="b"/>
              <a:pathLst>
                <a:path w="105410" h="74929">
                  <a:moveTo>
                    <a:pt x="0" y="25501"/>
                  </a:moveTo>
                  <a:lnTo>
                    <a:pt x="82351" y="74487"/>
                  </a:lnTo>
                  <a:lnTo>
                    <a:pt x="85737" y="66453"/>
                  </a:lnTo>
                  <a:lnTo>
                    <a:pt x="90773" y="59531"/>
                  </a:lnTo>
                  <a:lnTo>
                    <a:pt x="97223" y="53977"/>
                  </a:lnTo>
                  <a:lnTo>
                    <a:pt x="104855" y="50046"/>
                  </a:lnTo>
                  <a:lnTo>
                    <a:pt x="19222" y="0"/>
                  </a:lnTo>
                  <a:lnTo>
                    <a:pt x="12195" y="4372"/>
                  </a:lnTo>
                  <a:lnTo>
                    <a:pt x="6497" y="10280"/>
                  </a:lnTo>
                  <a:lnTo>
                    <a:pt x="2356" y="17423"/>
                  </a:lnTo>
                  <a:lnTo>
                    <a:pt x="0" y="25501"/>
                  </a:lnTo>
                  <a:close/>
                </a:path>
              </a:pathLst>
            </a:custGeom>
            <a:ln w="70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064113" y="3296902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5" h="11429">
                  <a:moveTo>
                    <a:pt x="4779" y="10833"/>
                  </a:moveTo>
                  <a:lnTo>
                    <a:pt x="1314" y="9633"/>
                  </a:lnTo>
                  <a:lnTo>
                    <a:pt x="0" y="4717"/>
                  </a:lnTo>
                  <a:lnTo>
                    <a:pt x="2400" y="1942"/>
                  </a:lnTo>
                  <a:lnTo>
                    <a:pt x="9633" y="0"/>
                  </a:lnTo>
                  <a:lnTo>
                    <a:pt x="13098" y="1199"/>
                  </a:lnTo>
                  <a:lnTo>
                    <a:pt x="13752" y="3657"/>
                  </a:lnTo>
                  <a:lnTo>
                    <a:pt x="14405" y="6115"/>
                  </a:lnTo>
                  <a:lnTo>
                    <a:pt x="12012" y="8890"/>
                  </a:lnTo>
                  <a:lnTo>
                    <a:pt x="4779" y="10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064113" y="3296902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5" h="11429">
                  <a:moveTo>
                    <a:pt x="13752" y="3657"/>
                  </a:moveTo>
                  <a:lnTo>
                    <a:pt x="13098" y="1199"/>
                  </a:lnTo>
                  <a:lnTo>
                    <a:pt x="9633" y="0"/>
                  </a:lnTo>
                  <a:lnTo>
                    <a:pt x="6013" y="971"/>
                  </a:lnTo>
                  <a:lnTo>
                    <a:pt x="2400" y="1942"/>
                  </a:lnTo>
                  <a:lnTo>
                    <a:pt x="0" y="4717"/>
                  </a:lnTo>
                  <a:lnTo>
                    <a:pt x="660" y="7175"/>
                  </a:lnTo>
                  <a:lnTo>
                    <a:pt x="1314" y="9633"/>
                  </a:lnTo>
                  <a:lnTo>
                    <a:pt x="4779" y="10833"/>
                  </a:lnTo>
                  <a:lnTo>
                    <a:pt x="8392" y="9862"/>
                  </a:lnTo>
                  <a:lnTo>
                    <a:pt x="12012" y="8890"/>
                  </a:lnTo>
                  <a:lnTo>
                    <a:pt x="14405" y="6115"/>
                  </a:lnTo>
                  <a:lnTo>
                    <a:pt x="13752" y="3657"/>
                  </a:lnTo>
                  <a:close/>
                </a:path>
              </a:pathLst>
            </a:custGeom>
            <a:ln w="70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55913" y="3115424"/>
              <a:ext cx="92030" cy="8809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155914" y="3115427"/>
              <a:ext cx="92075" cy="88265"/>
            </a:xfrm>
            <a:custGeom>
              <a:avLst/>
              <a:gdLst/>
              <a:ahLst/>
              <a:cxnLst/>
              <a:rect l="l" t="t" r="r" b="b"/>
              <a:pathLst>
                <a:path w="92075" h="88264">
                  <a:moveTo>
                    <a:pt x="0" y="45026"/>
                  </a:moveTo>
                  <a:lnTo>
                    <a:pt x="74186" y="88088"/>
                  </a:lnTo>
                  <a:lnTo>
                    <a:pt x="86492" y="65192"/>
                  </a:lnTo>
                  <a:lnTo>
                    <a:pt x="92026" y="48864"/>
                  </a:lnTo>
                  <a:lnTo>
                    <a:pt x="71139" y="5865"/>
                  </a:lnTo>
                  <a:lnTo>
                    <a:pt x="57167" y="0"/>
                  </a:lnTo>
                  <a:lnTo>
                    <a:pt x="49582" y="7"/>
                  </a:lnTo>
                  <a:lnTo>
                    <a:pt x="38569" y="2459"/>
                  </a:lnTo>
                  <a:lnTo>
                    <a:pt x="28506" y="7301"/>
                  </a:lnTo>
                  <a:lnTo>
                    <a:pt x="19759" y="14303"/>
                  </a:lnTo>
                  <a:lnTo>
                    <a:pt x="12694" y="23234"/>
                  </a:lnTo>
                  <a:lnTo>
                    <a:pt x="0" y="45026"/>
                  </a:lnTo>
                  <a:close/>
                </a:path>
              </a:pathLst>
            </a:custGeom>
            <a:ln w="7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019814" y="3104933"/>
              <a:ext cx="263525" cy="264160"/>
            </a:xfrm>
            <a:custGeom>
              <a:avLst/>
              <a:gdLst/>
              <a:ahLst/>
              <a:cxnLst/>
              <a:rect l="l" t="t" r="r" b="b"/>
              <a:pathLst>
                <a:path w="263525" h="264160">
                  <a:moveTo>
                    <a:pt x="89635" y="115321"/>
                  </a:moveTo>
                  <a:lnTo>
                    <a:pt x="82683" y="119773"/>
                  </a:lnTo>
                  <a:lnTo>
                    <a:pt x="77021" y="125692"/>
                  </a:lnTo>
                  <a:lnTo>
                    <a:pt x="72859" y="132801"/>
                  </a:lnTo>
                  <a:lnTo>
                    <a:pt x="70405" y="140822"/>
                  </a:lnTo>
                  <a:lnTo>
                    <a:pt x="8186" y="176627"/>
                  </a:lnTo>
                  <a:lnTo>
                    <a:pt x="3230" y="180513"/>
                  </a:lnTo>
                  <a:lnTo>
                    <a:pt x="227" y="186460"/>
                  </a:lnTo>
                  <a:lnTo>
                    <a:pt x="0" y="192848"/>
                  </a:lnTo>
                  <a:lnTo>
                    <a:pt x="51" y="224200"/>
                  </a:lnTo>
                  <a:lnTo>
                    <a:pt x="30385" y="258498"/>
                  </a:lnTo>
                  <a:lnTo>
                    <a:pt x="57188" y="264060"/>
                  </a:lnTo>
                  <a:lnTo>
                    <a:pt x="68923" y="263952"/>
                  </a:lnTo>
                  <a:lnTo>
                    <a:pt x="80566" y="262451"/>
                  </a:lnTo>
                  <a:lnTo>
                    <a:pt x="91999" y="259564"/>
                  </a:lnTo>
                  <a:lnTo>
                    <a:pt x="158550" y="220263"/>
                  </a:lnTo>
                  <a:lnTo>
                    <a:pt x="168741" y="222395"/>
                  </a:lnTo>
                  <a:lnTo>
                    <a:pt x="199942" y="196290"/>
                  </a:lnTo>
                  <a:lnTo>
                    <a:pt x="200775" y="189846"/>
                  </a:lnTo>
                  <a:lnTo>
                    <a:pt x="200342" y="183295"/>
                  </a:lnTo>
                  <a:lnTo>
                    <a:pt x="261783" y="78912"/>
                  </a:lnTo>
                  <a:lnTo>
                    <a:pt x="263516" y="60740"/>
                  </a:lnTo>
                  <a:lnTo>
                    <a:pt x="259615" y="43378"/>
                  </a:lnTo>
                  <a:lnTo>
                    <a:pt x="250601" y="28146"/>
                  </a:lnTo>
                  <a:lnTo>
                    <a:pt x="236995" y="16362"/>
                  </a:lnTo>
                  <a:lnTo>
                    <a:pt x="201231" y="347"/>
                  </a:lnTo>
                  <a:lnTo>
                    <a:pt x="182726" y="0"/>
                  </a:lnTo>
                  <a:lnTo>
                    <a:pt x="165321" y="5161"/>
                  </a:lnTo>
                  <a:lnTo>
                    <a:pt x="150144" y="15303"/>
                  </a:lnTo>
                  <a:lnTo>
                    <a:pt x="138322" y="29896"/>
                  </a:lnTo>
                  <a:lnTo>
                    <a:pt x="89635" y="115321"/>
                  </a:lnTo>
                </a:path>
              </a:pathLst>
            </a:custGeom>
            <a:ln w="14702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31504" y="3174809"/>
              <a:ext cx="80568" cy="7821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38796" y="3177153"/>
              <a:ext cx="71452" cy="7432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464805" y="2646883"/>
              <a:ext cx="568960" cy="473075"/>
            </a:xfrm>
            <a:custGeom>
              <a:avLst/>
              <a:gdLst/>
              <a:ahLst/>
              <a:cxnLst/>
              <a:rect l="l" t="t" r="r" b="b"/>
              <a:pathLst>
                <a:path w="568960" h="473075">
                  <a:moveTo>
                    <a:pt x="0" y="0"/>
                  </a:moveTo>
                  <a:lnTo>
                    <a:pt x="568883" y="472876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443477" y="2638808"/>
              <a:ext cx="677545" cy="501015"/>
            </a:xfrm>
            <a:custGeom>
              <a:avLst/>
              <a:gdLst/>
              <a:ahLst/>
              <a:cxnLst/>
              <a:rect l="l" t="t" r="r" b="b"/>
              <a:pathLst>
                <a:path w="677544" h="501014">
                  <a:moveTo>
                    <a:pt x="677109" y="0"/>
                  </a:moveTo>
                  <a:lnTo>
                    <a:pt x="0" y="500468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366696" y="2646884"/>
              <a:ext cx="652145" cy="473075"/>
            </a:xfrm>
            <a:custGeom>
              <a:avLst/>
              <a:gdLst/>
              <a:ahLst/>
              <a:cxnLst/>
              <a:rect l="l" t="t" r="r" b="b"/>
              <a:pathLst>
                <a:path w="652144" h="473075">
                  <a:moveTo>
                    <a:pt x="652137" y="0"/>
                  </a:moveTo>
                  <a:lnTo>
                    <a:pt x="0" y="472876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949457" y="1617189"/>
              <a:ext cx="0" cy="589915"/>
            </a:xfrm>
            <a:custGeom>
              <a:avLst/>
              <a:gdLst/>
              <a:ahLst/>
              <a:cxnLst/>
              <a:rect l="l" t="t" r="r" b="b"/>
              <a:pathLst>
                <a:path w="0" h="589914">
                  <a:moveTo>
                    <a:pt x="0" y="0"/>
                  </a:moveTo>
                  <a:lnTo>
                    <a:pt x="0" y="589866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061441" y="2451677"/>
              <a:ext cx="361315" cy="0"/>
            </a:xfrm>
            <a:custGeom>
              <a:avLst/>
              <a:gdLst/>
              <a:ahLst/>
              <a:cxnLst/>
              <a:rect l="l" t="t" r="r" b="b"/>
              <a:pathLst>
                <a:path w="361314" h="0">
                  <a:moveTo>
                    <a:pt x="0" y="0"/>
                  </a:moveTo>
                  <a:lnTo>
                    <a:pt x="360757" y="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061441" y="2396044"/>
              <a:ext cx="361315" cy="0"/>
            </a:xfrm>
            <a:custGeom>
              <a:avLst/>
              <a:gdLst/>
              <a:ahLst/>
              <a:cxnLst/>
              <a:rect l="l" t="t" r="r" b="b"/>
              <a:pathLst>
                <a:path w="361314" h="0">
                  <a:moveTo>
                    <a:pt x="0" y="0"/>
                  </a:moveTo>
                  <a:lnTo>
                    <a:pt x="360757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6872454" y="1380343"/>
            <a:ext cx="686435" cy="41211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113030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890"/>
              </a:spcBef>
            </a:pPr>
            <a:r>
              <a:rPr dirty="0" sz="1050" spc="-25">
                <a:latin typeface="Times New Roman"/>
                <a:cs typeface="Times New Roman"/>
              </a:rPr>
              <a:t>NGC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5087996" y="2372475"/>
            <a:ext cx="1182370" cy="441959"/>
            <a:chOff x="5087996" y="2372475"/>
            <a:chExt cx="1182370" cy="441959"/>
          </a:xfrm>
        </p:grpSpPr>
        <p:sp>
          <p:nvSpPr>
            <p:cNvPr id="65" name="object 65" descr=""/>
            <p:cNvSpPr/>
            <p:nvPr/>
          </p:nvSpPr>
          <p:spPr>
            <a:xfrm>
              <a:off x="5089266" y="2373745"/>
              <a:ext cx="1179830" cy="439420"/>
            </a:xfrm>
            <a:custGeom>
              <a:avLst/>
              <a:gdLst/>
              <a:ahLst/>
              <a:cxnLst/>
              <a:rect l="l" t="t" r="r" b="b"/>
              <a:pathLst>
                <a:path w="1179829" h="439419">
                  <a:moveTo>
                    <a:pt x="589826" y="438999"/>
                  </a:moveTo>
                  <a:lnTo>
                    <a:pt x="521039" y="437522"/>
                  </a:lnTo>
                  <a:lnTo>
                    <a:pt x="454583" y="433202"/>
                  </a:lnTo>
                  <a:lnTo>
                    <a:pt x="390901" y="426203"/>
                  </a:lnTo>
                  <a:lnTo>
                    <a:pt x="330434" y="416689"/>
                  </a:lnTo>
                  <a:lnTo>
                    <a:pt x="273626" y="404826"/>
                  </a:lnTo>
                  <a:lnTo>
                    <a:pt x="220918" y="390778"/>
                  </a:lnTo>
                  <a:lnTo>
                    <a:pt x="172755" y="374710"/>
                  </a:lnTo>
                  <a:lnTo>
                    <a:pt x="129577" y="356786"/>
                  </a:lnTo>
                  <a:lnTo>
                    <a:pt x="91828" y="337171"/>
                  </a:lnTo>
                  <a:lnTo>
                    <a:pt x="59950" y="316030"/>
                  </a:lnTo>
                  <a:lnTo>
                    <a:pt x="15577" y="269829"/>
                  </a:lnTo>
                  <a:lnTo>
                    <a:pt x="0" y="219499"/>
                  </a:lnTo>
                  <a:lnTo>
                    <a:pt x="3968" y="193901"/>
                  </a:lnTo>
                  <a:lnTo>
                    <a:pt x="34385" y="145471"/>
                  </a:lnTo>
                  <a:lnTo>
                    <a:pt x="91828" y="101828"/>
                  </a:lnTo>
                  <a:lnTo>
                    <a:pt x="129577" y="82213"/>
                  </a:lnTo>
                  <a:lnTo>
                    <a:pt x="172755" y="64289"/>
                  </a:lnTo>
                  <a:lnTo>
                    <a:pt x="220918" y="48221"/>
                  </a:lnTo>
                  <a:lnTo>
                    <a:pt x="273626" y="34173"/>
                  </a:lnTo>
                  <a:lnTo>
                    <a:pt x="330434" y="22310"/>
                  </a:lnTo>
                  <a:lnTo>
                    <a:pt x="390901" y="12796"/>
                  </a:lnTo>
                  <a:lnTo>
                    <a:pt x="454583" y="5797"/>
                  </a:lnTo>
                  <a:lnTo>
                    <a:pt x="521039" y="1476"/>
                  </a:lnTo>
                  <a:lnTo>
                    <a:pt x="589826" y="0"/>
                  </a:lnTo>
                  <a:lnTo>
                    <a:pt x="658611" y="1476"/>
                  </a:lnTo>
                  <a:lnTo>
                    <a:pt x="725066" y="5797"/>
                  </a:lnTo>
                  <a:lnTo>
                    <a:pt x="788748" y="12796"/>
                  </a:lnTo>
                  <a:lnTo>
                    <a:pt x="849214" y="22310"/>
                  </a:lnTo>
                  <a:lnTo>
                    <a:pt x="906022" y="34173"/>
                  </a:lnTo>
                  <a:lnTo>
                    <a:pt x="958730" y="48221"/>
                  </a:lnTo>
                  <a:lnTo>
                    <a:pt x="1006894" y="64289"/>
                  </a:lnTo>
                  <a:lnTo>
                    <a:pt x="1050072" y="82213"/>
                  </a:lnTo>
                  <a:lnTo>
                    <a:pt x="1087822" y="101828"/>
                  </a:lnTo>
                  <a:lnTo>
                    <a:pt x="1119700" y="122968"/>
                  </a:lnTo>
                  <a:lnTo>
                    <a:pt x="1164074" y="169170"/>
                  </a:lnTo>
                  <a:lnTo>
                    <a:pt x="1179652" y="219499"/>
                  </a:lnTo>
                  <a:lnTo>
                    <a:pt x="1175684" y="245098"/>
                  </a:lnTo>
                  <a:lnTo>
                    <a:pt x="1145265" y="293528"/>
                  </a:lnTo>
                  <a:lnTo>
                    <a:pt x="1087822" y="337171"/>
                  </a:lnTo>
                  <a:lnTo>
                    <a:pt x="1050072" y="356786"/>
                  </a:lnTo>
                  <a:lnTo>
                    <a:pt x="1006894" y="374710"/>
                  </a:lnTo>
                  <a:lnTo>
                    <a:pt x="958730" y="390778"/>
                  </a:lnTo>
                  <a:lnTo>
                    <a:pt x="906022" y="404826"/>
                  </a:lnTo>
                  <a:lnTo>
                    <a:pt x="849214" y="416689"/>
                  </a:lnTo>
                  <a:lnTo>
                    <a:pt x="788748" y="426203"/>
                  </a:lnTo>
                  <a:lnTo>
                    <a:pt x="725066" y="433202"/>
                  </a:lnTo>
                  <a:lnTo>
                    <a:pt x="658611" y="437522"/>
                  </a:lnTo>
                  <a:lnTo>
                    <a:pt x="589826" y="43899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089266" y="2373745"/>
              <a:ext cx="1179830" cy="439420"/>
            </a:xfrm>
            <a:custGeom>
              <a:avLst/>
              <a:gdLst/>
              <a:ahLst/>
              <a:cxnLst/>
              <a:rect l="l" t="t" r="r" b="b"/>
              <a:pathLst>
                <a:path w="1179829" h="439419">
                  <a:moveTo>
                    <a:pt x="0" y="219499"/>
                  </a:moveTo>
                  <a:lnTo>
                    <a:pt x="15577" y="169170"/>
                  </a:lnTo>
                  <a:lnTo>
                    <a:pt x="59950" y="122969"/>
                  </a:lnTo>
                  <a:lnTo>
                    <a:pt x="91828" y="101828"/>
                  </a:lnTo>
                  <a:lnTo>
                    <a:pt x="129577" y="82213"/>
                  </a:lnTo>
                  <a:lnTo>
                    <a:pt x="172755" y="64289"/>
                  </a:lnTo>
                  <a:lnTo>
                    <a:pt x="220918" y="48221"/>
                  </a:lnTo>
                  <a:lnTo>
                    <a:pt x="273626" y="34173"/>
                  </a:lnTo>
                  <a:lnTo>
                    <a:pt x="330434" y="22310"/>
                  </a:lnTo>
                  <a:lnTo>
                    <a:pt x="390901" y="12796"/>
                  </a:lnTo>
                  <a:lnTo>
                    <a:pt x="454583" y="5797"/>
                  </a:lnTo>
                  <a:lnTo>
                    <a:pt x="521039" y="1476"/>
                  </a:lnTo>
                  <a:lnTo>
                    <a:pt x="589826" y="0"/>
                  </a:lnTo>
                  <a:lnTo>
                    <a:pt x="658611" y="1476"/>
                  </a:lnTo>
                  <a:lnTo>
                    <a:pt x="725066" y="5797"/>
                  </a:lnTo>
                  <a:lnTo>
                    <a:pt x="788748" y="12796"/>
                  </a:lnTo>
                  <a:lnTo>
                    <a:pt x="849214" y="22310"/>
                  </a:lnTo>
                  <a:lnTo>
                    <a:pt x="906022" y="34173"/>
                  </a:lnTo>
                  <a:lnTo>
                    <a:pt x="958730" y="48221"/>
                  </a:lnTo>
                  <a:lnTo>
                    <a:pt x="1006894" y="64289"/>
                  </a:lnTo>
                  <a:lnTo>
                    <a:pt x="1050072" y="82213"/>
                  </a:lnTo>
                  <a:lnTo>
                    <a:pt x="1087822" y="101828"/>
                  </a:lnTo>
                  <a:lnTo>
                    <a:pt x="1119700" y="122969"/>
                  </a:lnTo>
                  <a:lnTo>
                    <a:pt x="1164074" y="169170"/>
                  </a:lnTo>
                  <a:lnTo>
                    <a:pt x="1179652" y="219499"/>
                  </a:lnTo>
                  <a:lnTo>
                    <a:pt x="1175684" y="245098"/>
                  </a:lnTo>
                  <a:lnTo>
                    <a:pt x="1164074" y="269829"/>
                  </a:lnTo>
                  <a:lnTo>
                    <a:pt x="1119700" y="316030"/>
                  </a:lnTo>
                  <a:lnTo>
                    <a:pt x="1087822" y="337171"/>
                  </a:lnTo>
                  <a:lnTo>
                    <a:pt x="1050072" y="356786"/>
                  </a:lnTo>
                  <a:lnTo>
                    <a:pt x="1006894" y="374710"/>
                  </a:lnTo>
                  <a:lnTo>
                    <a:pt x="958730" y="390778"/>
                  </a:lnTo>
                  <a:lnTo>
                    <a:pt x="906022" y="404826"/>
                  </a:lnTo>
                  <a:lnTo>
                    <a:pt x="849214" y="416689"/>
                  </a:lnTo>
                  <a:lnTo>
                    <a:pt x="788748" y="426203"/>
                  </a:lnTo>
                  <a:lnTo>
                    <a:pt x="725066" y="433202"/>
                  </a:lnTo>
                  <a:lnTo>
                    <a:pt x="658611" y="437522"/>
                  </a:lnTo>
                  <a:lnTo>
                    <a:pt x="589826" y="438999"/>
                  </a:lnTo>
                  <a:lnTo>
                    <a:pt x="521039" y="437522"/>
                  </a:lnTo>
                  <a:lnTo>
                    <a:pt x="454583" y="433202"/>
                  </a:lnTo>
                  <a:lnTo>
                    <a:pt x="390901" y="426203"/>
                  </a:lnTo>
                  <a:lnTo>
                    <a:pt x="330434" y="416689"/>
                  </a:lnTo>
                  <a:lnTo>
                    <a:pt x="273626" y="404826"/>
                  </a:lnTo>
                  <a:lnTo>
                    <a:pt x="220918" y="390778"/>
                  </a:lnTo>
                  <a:lnTo>
                    <a:pt x="172755" y="374710"/>
                  </a:lnTo>
                  <a:lnTo>
                    <a:pt x="129577" y="356786"/>
                  </a:lnTo>
                  <a:lnTo>
                    <a:pt x="91828" y="337171"/>
                  </a:lnTo>
                  <a:lnTo>
                    <a:pt x="59950" y="316030"/>
                  </a:lnTo>
                  <a:lnTo>
                    <a:pt x="15577" y="269829"/>
                  </a:lnTo>
                  <a:lnTo>
                    <a:pt x="3968" y="245098"/>
                  </a:lnTo>
                  <a:lnTo>
                    <a:pt x="0" y="21949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5542245" y="2485690"/>
            <a:ext cx="27368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latin typeface="Times New Roman"/>
                <a:cs typeface="Times New Roman"/>
              </a:rPr>
              <a:t>LTE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5264088" y="2178184"/>
            <a:ext cx="2542540" cy="636270"/>
            <a:chOff x="5264088" y="2178184"/>
            <a:chExt cx="2542540" cy="636270"/>
          </a:xfrm>
        </p:grpSpPr>
        <p:sp>
          <p:nvSpPr>
            <p:cNvPr id="69" name="object 69" descr=""/>
            <p:cNvSpPr/>
            <p:nvPr/>
          </p:nvSpPr>
          <p:spPr>
            <a:xfrm>
              <a:off x="5337336" y="2494471"/>
              <a:ext cx="95885" cy="99060"/>
            </a:xfrm>
            <a:custGeom>
              <a:avLst/>
              <a:gdLst/>
              <a:ahLst/>
              <a:cxnLst/>
              <a:rect l="l" t="t" r="r" b="b"/>
              <a:pathLst>
                <a:path w="95885" h="99060">
                  <a:moveTo>
                    <a:pt x="67417" y="98773"/>
                  </a:moveTo>
                  <a:lnTo>
                    <a:pt x="0" y="98773"/>
                  </a:lnTo>
                  <a:lnTo>
                    <a:pt x="45467" y="0"/>
                  </a:lnTo>
                  <a:lnTo>
                    <a:pt x="81830" y="16864"/>
                  </a:lnTo>
                  <a:lnTo>
                    <a:pt x="95495" y="48170"/>
                  </a:lnTo>
                  <a:lnTo>
                    <a:pt x="93204" y="68109"/>
                  </a:lnTo>
                  <a:lnTo>
                    <a:pt x="83605" y="85733"/>
                  </a:lnTo>
                  <a:lnTo>
                    <a:pt x="67417" y="987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08727" y="2357957"/>
              <a:ext cx="54876" cy="31559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5308736" y="2357969"/>
              <a:ext cx="55244" cy="31750"/>
            </a:xfrm>
            <a:custGeom>
              <a:avLst/>
              <a:gdLst/>
              <a:ahLst/>
              <a:cxnLst/>
              <a:rect l="l" t="t" r="r" b="b"/>
              <a:pathLst>
                <a:path w="55245" h="31750">
                  <a:moveTo>
                    <a:pt x="54867" y="15775"/>
                  </a:moveTo>
                  <a:lnTo>
                    <a:pt x="52711" y="9635"/>
                  </a:lnTo>
                  <a:lnTo>
                    <a:pt x="46831" y="4620"/>
                  </a:lnTo>
                  <a:lnTo>
                    <a:pt x="38110" y="1239"/>
                  </a:lnTo>
                  <a:lnTo>
                    <a:pt x="27429" y="0"/>
                  </a:lnTo>
                  <a:lnTo>
                    <a:pt x="16753" y="1239"/>
                  </a:lnTo>
                  <a:lnTo>
                    <a:pt x="8034" y="4620"/>
                  </a:lnTo>
                  <a:lnTo>
                    <a:pt x="2155" y="9635"/>
                  </a:lnTo>
                  <a:lnTo>
                    <a:pt x="0" y="15775"/>
                  </a:lnTo>
                  <a:lnTo>
                    <a:pt x="2155" y="21915"/>
                  </a:lnTo>
                  <a:lnTo>
                    <a:pt x="8034" y="26929"/>
                  </a:lnTo>
                  <a:lnTo>
                    <a:pt x="16753" y="30310"/>
                  </a:lnTo>
                  <a:lnTo>
                    <a:pt x="27429" y="31550"/>
                  </a:lnTo>
                  <a:lnTo>
                    <a:pt x="38110" y="30310"/>
                  </a:lnTo>
                  <a:lnTo>
                    <a:pt x="46831" y="26929"/>
                  </a:lnTo>
                  <a:lnTo>
                    <a:pt x="52711" y="21915"/>
                  </a:lnTo>
                  <a:lnTo>
                    <a:pt x="54867" y="15775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1764" y="2372296"/>
              <a:ext cx="109423" cy="22067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5281768" y="2372290"/>
              <a:ext cx="109855" cy="220979"/>
            </a:xfrm>
            <a:custGeom>
              <a:avLst/>
              <a:gdLst/>
              <a:ahLst/>
              <a:cxnLst/>
              <a:rect l="l" t="t" r="r" b="b"/>
              <a:pathLst>
                <a:path w="109854" h="220980">
                  <a:moveTo>
                    <a:pt x="108797" y="185278"/>
                  </a:moveTo>
                  <a:lnTo>
                    <a:pt x="81716" y="7"/>
                  </a:lnTo>
                  <a:lnTo>
                    <a:pt x="74489" y="9617"/>
                  </a:lnTo>
                  <a:lnTo>
                    <a:pt x="64487" y="15502"/>
                  </a:lnTo>
                  <a:lnTo>
                    <a:pt x="27081" y="0"/>
                  </a:lnTo>
                  <a:lnTo>
                    <a:pt x="0" y="185292"/>
                  </a:lnTo>
                  <a:lnTo>
                    <a:pt x="1496" y="197793"/>
                  </a:lnTo>
                  <a:lnTo>
                    <a:pt x="10885" y="208618"/>
                  </a:lnTo>
                  <a:lnTo>
                    <a:pt x="26647" y="216630"/>
                  </a:lnTo>
                  <a:lnTo>
                    <a:pt x="47260" y="220690"/>
                  </a:lnTo>
                  <a:lnTo>
                    <a:pt x="68995" y="219828"/>
                  </a:lnTo>
                  <a:lnTo>
                    <a:pt x="87817" y="214429"/>
                  </a:lnTo>
                  <a:lnTo>
                    <a:pt x="101744" y="205368"/>
                  </a:lnTo>
                  <a:lnTo>
                    <a:pt x="108797" y="193517"/>
                  </a:lnTo>
                  <a:lnTo>
                    <a:pt x="109421" y="190788"/>
                  </a:lnTo>
                  <a:lnTo>
                    <a:pt x="109421" y="188015"/>
                  </a:lnTo>
                  <a:lnTo>
                    <a:pt x="108797" y="185285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22443" y="2216454"/>
              <a:ext cx="27444" cy="27444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5322449" y="2216463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7437" y="13720"/>
                  </a:moveTo>
                  <a:lnTo>
                    <a:pt x="27437" y="6141"/>
                  </a:lnTo>
                  <a:lnTo>
                    <a:pt x="21296" y="0"/>
                  </a:lnTo>
                  <a:lnTo>
                    <a:pt x="13718" y="0"/>
                  </a:lnTo>
                  <a:lnTo>
                    <a:pt x="6147" y="0"/>
                  </a:lnTo>
                  <a:lnTo>
                    <a:pt x="0" y="6141"/>
                  </a:lnTo>
                  <a:lnTo>
                    <a:pt x="0" y="13720"/>
                  </a:lnTo>
                  <a:lnTo>
                    <a:pt x="0" y="21299"/>
                  </a:lnTo>
                  <a:lnTo>
                    <a:pt x="6147" y="27441"/>
                  </a:lnTo>
                  <a:lnTo>
                    <a:pt x="13718" y="27441"/>
                  </a:lnTo>
                  <a:lnTo>
                    <a:pt x="21296" y="27441"/>
                  </a:lnTo>
                  <a:lnTo>
                    <a:pt x="27437" y="21299"/>
                  </a:lnTo>
                  <a:lnTo>
                    <a:pt x="27437" y="13720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336169" y="2243899"/>
              <a:ext cx="0" cy="130175"/>
            </a:xfrm>
            <a:custGeom>
              <a:avLst/>
              <a:gdLst/>
              <a:ahLst/>
              <a:cxnLst/>
              <a:rect l="l" t="t" r="r" b="b"/>
              <a:pathLst>
                <a:path w="0" h="130175">
                  <a:moveTo>
                    <a:pt x="0" y="129844"/>
                  </a:moveTo>
                  <a:lnTo>
                    <a:pt x="0" y="0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267581" y="2181676"/>
              <a:ext cx="137795" cy="97155"/>
            </a:xfrm>
            <a:custGeom>
              <a:avLst/>
              <a:gdLst/>
              <a:ahLst/>
              <a:cxnLst/>
              <a:rect l="l" t="t" r="r" b="b"/>
              <a:pathLst>
                <a:path w="137795" h="97155">
                  <a:moveTo>
                    <a:pt x="39489" y="19404"/>
                  </a:moveTo>
                  <a:lnTo>
                    <a:pt x="30450" y="33020"/>
                  </a:lnTo>
                  <a:lnTo>
                    <a:pt x="27437" y="48508"/>
                  </a:lnTo>
                  <a:lnTo>
                    <a:pt x="30450" y="63996"/>
                  </a:lnTo>
                  <a:lnTo>
                    <a:pt x="39489" y="77611"/>
                  </a:lnTo>
                </a:path>
                <a:path w="137795" h="97155">
                  <a:moveTo>
                    <a:pt x="97688" y="77611"/>
                  </a:moveTo>
                  <a:lnTo>
                    <a:pt x="106724" y="63993"/>
                  </a:lnTo>
                  <a:lnTo>
                    <a:pt x="109735" y="48505"/>
                  </a:lnTo>
                  <a:lnTo>
                    <a:pt x="106724" y="33019"/>
                  </a:lnTo>
                  <a:lnTo>
                    <a:pt x="97688" y="19404"/>
                  </a:lnTo>
                </a:path>
                <a:path w="137795" h="97155">
                  <a:moveTo>
                    <a:pt x="20087" y="0"/>
                  </a:moveTo>
                  <a:lnTo>
                    <a:pt x="5021" y="22691"/>
                  </a:lnTo>
                  <a:lnTo>
                    <a:pt x="0" y="48504"/>
                  </a:lnTo>
                  <a:lnTo>
                    <a:pt x="5021" y="74317"/>
                  </a:lnTo>
                  <a:lnTo>
                    <a:pt x="20087" y="97009"/>
                  </a:lnTo>
                </a:path>
                <a:path w="137795" h="97155">
                  <a:moveTo>
                    <a:pt x="117090" y="97009"/>
                  </a:moveTo>
                  <a:lnTo>
                    <a:pt x="132152" y="74318"/>
                  </a:lnTo>
                  <a:lnTo>
                    <a:pt x="137173" y="48507"/>
                  </a:lnTo>
                  <a:lnTo>
                    <a:pt x="132152" y="22694"/>
                  </a:lnTo>
                  <a:lnTo>
                    <a:pt x="117090" y="0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281766" y="2216464"/>
              <a:ext cx="109855" cy="376555"/>
            </a:xfrm>
            <a:custGeom>
              <a:avLst/>
              <a:gdLst/>
              <a:ahLst/>
              <a:cxnLst/>
              <a:rect l="l" t="t" r="r" b="b"/>
              <a:pathLst>
                <a:path w="109854" h="376555">
                  <a:moveTo>
                    <a:pt x="54402" y="141503"/>
                  </a:moveTo>
                  <a:lnTo>
                    <a:pt x="44346" y="142607"/>
                  </a:lnTo>
                  <a:lnTo>
                    <a:pt x="35930" y="145629"/>
                  </a:lnTo>
                  <a:lnTo>
                    <a:pt x="29922" y="150169"/>
                  </a:lnTo>
                  <a:lnTo>
                    <a:pt x="27088" y="155826"/>
                  </a:lnTo>
                  <a:lnTo>
                    <a:pt x="0" y="341119"/>
                  </a:lnTo>
                  <a:lnTo>
                    <a:pt x="1496" y="353619"/>
                  </a:lnTo>
                  <a:lnTo>
                    <a:pt x="10885" y="364444"/>
                  </a:lnTo>
                  <a:lnTo>
                    <a:pt x="26647" y="372453"/>
                  </a:lnTo>
                  <a:lnTo>
                    <a:pt x="47260" y="376509"/>
                  </a:lnTo>
                  <a:lnTo>
                    <a:pt x="68998" y="375652"/>
                  </a:lnTo>
                  <a:lnTo>
                    <a:pt x="87820" y="370255"/>
                  </a:lnTo>
                  <a:lnTo>
                    <a:pt x="101748" y="361194"/>
                  </a:lnTo>
                  <a:lnTo>
                    <a:pt x="108805" y="349344"/>
                  </a:lnTo>
                  <a:lnTo>
                    <a:pt x="109429" y="346614"/>
                  </a:lnTo>
                  <a:lnTo>
                    <a:pt x="109429" y="343841"/>
                  </a:lnTo>
                  <a:lnTo>
                    <a:pt x="108805" y="341111"/>
                  </a:lnTo>
                  <a:lnTo>
                    <a:pt x="81926" y="157263"/>
                  </a:lnTo>
                  <a:lnTo>
                    <a:pt x="79744" y="151120"/>
                  </a:lnTo>
                  <a:lnTo>
                    <a:pt x="73839" y="146108"/>
                  </a:lnTo>
                  <a:lnTo>
                    <a:pt x="65098" y="142733"/>
                  </a:lnTo>
                  <a:lnTo>
                    <a:pt x="54402" y="141503"/>
                  </a:lnTo>
                </a:path>
                <a:path w="109854" h="376555">
                  <a:moveTo>
                    <a:pt x="68121" y="13720"/>
                  </a:moveTo>
                  <a:lnTo>
                    <a:pt x="68121" y="6141"/>
                  </a:lnTo>
                  <a:lnTo>
                    <a:pt x="61980" y="0"/>
                  </a:lnTo>
                  <a:lnTo>
                    <a:pt x="54402" y="0"/>
                  </a:lnTo>
                  <a:lnTo>
                    <a:pt x="46824" y="0"/>
                  </a:lnTo>
                  <a:lnTo>
                    <a:pt x="40683" y="6141"/>
                  </a:lnTo>
                  <a:lnTo>
                    <a:pt x="40683" y="13720"/>
                  </a:lnTo>
                  <a:lnTo>
                    <a:pt x="40683" y="21299"/>
                  </a:lnTo>
                  <a:lnTo>
                    <a:pt x="46824" y="27441"/>
                  </a:lnTo>
                  <a:lnTo>
                    <a:pt x="54402" y="27441"/>
                  </a:lnTo>
                  <a:lnTo>
                    <a:pt x="61980" y="27441"/>
                  </a:lnTo>
                  <a:lnTo>
                    <a:pt x="68121" y="21299"/>
                  </a:lnTo>
                  <a:lnTo>
                    <a:pt x="68121" y="13720"/>
                  </a:lnTo>
                  <a:close/>
                </a:path>
                <a:path w="109854" h="376555">
                  <a:moveTo>
                    <a:pt x="54402" y="141503"/>
                  </a:moveTo>
                  <a:lnTo>
                    <a:pt x="54402" y="27441"/>
                  </a:lnTo>
                </a:path>
              </a:pathLst>
            </a:custGeom>
            <a:ln w="14518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625554" y="2373745"/>
              <a:ext cx="1179830" cy="439420"/>
            </a:xfrm>
            <a:custGeom>
              <a:avLst/>
              <a:gdLst/>
              <a:ahLst/>
              <a:cxnLst/>
              <a:rect l="l" t="t" r="r" b="b"/>
              <a:pathLst>
                <a:path w="1179829" h="439419">
                  <a:moveTo>
                    <a:pt x="589826" y="438999"/>
                  </a:moveTo>
                  <a:lnTo>
                    <a:pt x="521039" y="437522"/>
                  </a:lnTo>
                  <a:lnTo>
                    <a:pt x="454583" y="433202"/>
                  </a:lnTo>
                  <a:lnTo>
                    <a:pt x="390901" y="426203"/>
                  </a:lnTo>
                  <a:lnTo>
                    <a:pt x="330434" y="416689"/>
                  </a:lnTo>
                  <a:lnTo>
                    <a:pt x="273626" y="404826"/>
                  </a:lnTo>
                  <a:lnTo>
                    <a:pt x="220918" y="390778"/>
                  </a:lnTo>
                  <a:lnTo>
                    <a:pt x="172755" y="374710"/>
                  </a:lnTo>
                  <a:lnTo>
                    <a:pt x="129577" y="356786"/>
                  </a:lnTo>
                  <a:lnTo>
                    <a:pt x="91828" y="337171"/>
                  </a:lnTo>
                  <a:lnTo>
                    <a:pt x="59950" y="316030"/>
                  </a:lnTo>
                  <a:lnTo>
                    <a:pt x="15577" y="269829"/>
                  </a:lnTo>
                  <a:lnTo>
                    <a:pt x="0" y="219499"/>
                  </a:lnTo>
                  <a:lnTo>
                    <a:pt x="3968" y="193901"/>
                  </a:lnTo>
                  <a:lnTo>
                    <a:pt x="34385" y="145471"/>
                  </a:lnTo>
                  <a:lnTo>
                    <a:pt x="91828" y="101828"/>
                  </a:lnTo>
                  <a:lnTo>
                    <a:pt x="129577" y="82213"/>
                  </a:lnTo>
                  <a:lnTo>
                    <a:pt x="172755" y="64289"/>
                  </a:lnTo>
                  <a:lnTo>
                    <a:pt x="220918" y="48221"/>
                  </a:lnTo>
                  <a:lnTo>
                    <a:pt x="273626" y="34173"/>
                  </a:lnTo>
                  <a:lnTo>
                    <a:pt x="330434" y="22310"/>
                  </a:lnTo>
                  <a:lnTo>
                    <a:pt x="390901" y="12796"/>
                  </a:lnTo>
                  <a:lnTo>
                    <a:pt x="454583" y="5797"/>
                  </a:lnTo>
                  <a:lnTo>
                    <a:pt x="521039" y="1476"/>
                  </a:lnTo>
                  <a:lnTo>
                    <a:pt x="589826" y="0"/>
                  </a:lnTo>
                  <a:lnTo>
                    <a:pt x="658611" y="1476"/>
                  </a:lnTo>
                  <a:lnTo>
                    <a:pt x="725066" y="5797"/>
                  </a:lnTo>
                  <a:lnTo>
                    <a:pt x="788748" y="12796"/>
                  </a:lnTo>
                  <a:lnTo>
                    <a:pt x="849214" y="22310"/>
                  </a:lnTo>
                  <a:lnTo>
                    <a:pt x="906022" y="34173"/>
                  </a:lnTo>
                  <a:lnTo>
                    <a:pt x="958730" y="48221"/>
                  </a:lnTo>
                  <a:lnTo>
                    <a:pt x="1006894" y="64289"/>
                  </a:lnTo>
                  <a:lnTo>
                    <a:pt x="1050072" y="82213"/>
                  </a:lnTo>
                  <a:lnTo>
                    <a:pt x="1087822" y="101828"/>
                  </a:lnTo>
                  <a:lnTo>
                    <a:pt x="1119700" y="122969"/>
                  </a:lnTo>
                  <a:lnTo>
                    <a:pt x="1164074" y="169170"/>
                  </a:lnTo>
                  <a:lnTo>
                    <a:pt x="1179652" y="219499"/>
                  </a:lnTo>
                  <a:lnTo>
                    <a:pt x="1175684" y="245098"/>
                  </a:lnTo>
                  <a:lnTo>
                    <a:pt x="1145265" y="293528"/>
                  </a:lnTo>
                  <a:lnTo>
                    <a:pt x="1087822" y="337171"/>
                  </a:lnTo>
                  <a:lnTo>
                    <a:pt x="1050072" y="356786"/>
                  </a:lnTo>
                  <a:lnTo>
                    <a:pt x="1006894" y="374710"/>
                  </a:lnTo>
                  <a:lnTo>
                    <a:pt x="958730" y="390778"/>
                  </a:lnTo>
                  <a:lnTo>
                    <a:pt x="906022" y="404826"/>
                  </a:lnTo>
                  <a:lnTo>
                    <a:pt x="849214" y="416689"/>
                  </a:lnTo>
                  <a:lnTo>
                    <a:pt x="788748" y="426203"/>
                  </a:lnTo>
                  <a:lnTo>
                    <a:pt x="725066" y="433202"/>
                  </a:lnTo>
                  <a:lnTo>
                    <a:pt x="658611" y="437522"/>
                  </a:lnTo>
                  <a:lnTo>
                    <a:pt x="589826" y="43899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625554" y="2373745"/>
              <a:ext cx="1179830" cy="439420"/>
            </a:xfrm>
            <a:custGeom>
              <a:avLst/>
              <a:gdLst/>
              <a:ahLst/>
              <a:cxnLst/>
              <a:rect l="l" t="t" r="r" b="b"/>
              <a:pathLst>
                <a:path w="1179829" h="439419">
                  <a:moveTo>
                    <a:pt x="0" y="219499"/>
                  </a:moveTo>
                  <a:lnTo>
                    <a:pt x="15577" y="169170"/>
                  </a:lnTo>
                  <a:lnTo>
                    <a:pt x="59950" y="122969"/>
                  </a:lnTo>
                  <a:lnTo>
                    <a:pt x="91828" y="101828"/>
                  </a:lnTo>
                  <a:lnTo>
                    <a:pt x="129577" y="82213"/>
                  </a:lnTo>
                  <a:lnTo>
                    <a:pt x="172755" y="64289"/>
                  </a:lnTo>
                  <a:lnTo>
                    <a:pt x="220918" y="48221"/>
                  </a:lnTo>
                  <a:lnTo>
                    <a:pt x="273626" y="34173"/>
                  </a:lnTo>
                  <a:lnTo>
                    <a:pt x="330434" y="22310"/>
                  </a:lnTo>
                  <a:lnTo>
                    <a:pt x="390901" y="12796"/>
                  </a:lnTo>
                  <a:lnTo>
                    <a:pt x="454583" y="5797"/>
                  </a:lnTo>
                  <a:lnTo>
                    <a:pt x="521039" y="1476"/>
                  </a:lnTo>
                  <a:lnTo>
                    <a:pt x="589826" y="0"/>
                  </a:lnTo>
                  <a:lnTo>
                    <a:pt x="658611" y="1476"/>
                  </a:lnTo>
                  <a:lnTo>
                    <a:pt x="725066" y="5797"/>
                  </a:lnTo>
                  <a:lnTo>
                    <a:pt x="788748" y="12796"/>
                  </a:lnTo>
                  <a:lnTo>
                    <a:pt x="849214" y="22310"/>
                  </a:lnTo>
                  <a:lnTo>
                    <a:pt x="906022" y="34173"/>
                  </a:lnTo>
                  <a:lnTo>
                    <a:pt x="958730" y="48221"/>
                  </a:lnTo>
                  <a:lnTo>
                    <a:pt x="1006894" y="64289"/>
                  </a:lnTo>
                  <a:lnTo>
                    <a:pt x="1050072" y="82213"/>
                  </a:lnTo>
                  <a:lnTo>
                    <a:pt x="1087822" y="101828"/>
                  </a:lnTo>
                  <a:lnTo>
                    <a:pt x="1119700" y="122969"/>
                  </a:lnTo>
                  <a:lnTo>
                    <a:pt x="1164074" y="169170"/>
                  </a:lnTo>
                  <a:lnTo>
                    <a:pt x="1179652" y="219499"/>
                  </a:lnTo>
                  <a:lnTo>
                    <a:pt x="1175684" y="245098"/>
                  </a:lnTo>
                  <a:lnTo>
                    <a:pt x="1145265" y="293528"/>
                  </a:lnTo>
                  <a:lnTo>
                    <a:pt x="1087822" y="337171"/>
                  </a:lnTo>
                  <a:lnTo>
                    <a:pt x="1050072" y="356786"/>
                  </a:lnTo>
                  <a:lnTo>
                    <a:pt x="1006894" y="374710"/>
                  </a:lnTo>
                  <a:lnTo>
                    <a:pt x="958730" y="390778"/>
                  </a:lnTo>
                  <a:lnTo>
                    <a:pt x="906022" y="404826"/>
                  </a:lnTo>
                  <a:lnTo>
                    <a:pt x="849214" y="416689"/>
                  </a:lnTo>
                  <a:lnTo>
                    <a:pt x="788748" y="426203"/>
                  </a:lnTo>
                  <a:lnTo>
                    <a:pt x="725066" y="433202"/>
                  </a:lnTo>
                  <a:lnTo>
                    <a:pt x="658611" y="437522"/>
                  </a:lnTo>
                  <a:lnTo>
                    <a:pt x="589826" y="438999"/>
                  </a:lnTo>
                  <a:lnTo>
                    <a:pt x="521039" y="437522"/>
                  </a:lnTo>
                  <a:lnTo>
                    <a:pt x="454583" y="433202"/>
                  </a:lnTo>
                  <a:lnTo>
                    <a:pt x="390901" y="426203"/>
                  </a:lnTo>
                  <a:lnTo>
                    <a:pt x="330434" y="416689"/>
                  </a:lnTo>
                  <a:lnTo>
                    <a:pt x="273626" y="404826"/>
                  </a:lnTo>
                  <a:lnTo>
                    <a:pt x="220918" y="390778"/>
                  </a:lnTo>
                  <a:lnTo>
                    <a:pt x="172755" y="374710"/>
                  </a:lnTo>
                  <a:lnTo>
                    <a:pt x="129577" y="356786"/>
                  </a:lnTo>
                  <a:lnTo>
                    <a:pt x="91828" y="337171"/>
                  </a:lnTo>
                  <a:lnTo>
                    <a:pt x="59950" y="316030"/>
                  </a:lnTo>
                  <a:lnTo>
                    <a:pt x="15577" y="269829"/>
                  </a:lnTo>
                  <a:lnTo>
                    <a:pt x="0" y="21949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6256216" y="2485690"/>
            <a:ext cx="38227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8935" algn="l"/>
              </a:tabLst>
            </a:pPr>
            <a:r>
              <a:rPr dirty="0" u="dash" sz="1050">
                <a:uFill>
                  <a:solidFill>
                    <a:srgbClr val="4677BF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7108570" y="2485690"/>
            <a:ext cx="2139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latin typeface="Times New Roman"/>
                <a:cs typeface="Times New Roman"/>
              </a:rPr>
              <a:t>NR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5568087" y="1790635"/>
            <a:ext cx="3589654" cy="2010410"/>
            <a:chOff x="5568087" y="1790635"/>
            <a:chExt cx="3589654" cy="2010410"/>
          </a:xfrm>
        </p:grpSpPr>
        <p:sp>
          <p:nvSpPr>
            <p:cNvPr id="84" name="object 84" descr=""/>
            <p:cNvSpPr/>
            <p:nvPr/>
          </p:nvSpPr>
          <p:spPr>
            <a:xfrm>
              <a:off x="7532034" y="2494472"/>
              <a:ext cx="95885" cy="99060"/>
            </a:xfrm>
            <a:custGeom>
              <a:avLst/>
              <a:gdLst/>
              <a:ahLst/>
              <a:cxnLst/>
              <a:rect l="l" t="t" r="r" b="b"/>
              <a:pathLst>
                <a:path w="95884" h="99060">
                  <a:moveTo>
                    <a:pt x="67417" y="98773"/>
                  </a:moveTo>
                  <a:lnTo>
                    <a:pt x="0" y="98773"/>
                  </a:lnTo>
                  <a:lnTo>
                    <a:pt x="45467" y="0"/>
                  </a:lnTo>
                  <a:lnTo>
                    <a:pt x="81830" y="16864"/>
                  </a:lnTo>
                  <a:lnTo>
                    <a:pt x="95495" y="48170"/>
                  </a:lnTo>
                  <a:lnTo>
                    <a:pt x="93204" y="68109"/>
                  </a:lnTo>
                  <a:lnTo>
                    <a:pt x="83605" y="85733"/>
                  </a:lnTo>
                  <a:lnTo>
                    <a:pt x="67417" y="987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03426" y="2357958"/>
              <a:ext cx="54876" cy="31559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7503434" y="2357969"/>
              <a:ext cx="55244" cy="31750"/>
            </a:xfrm>
            <a:custGeom>
              <a:avLst/>
              <a:gdLst/>
              <a:ahLst/>
              <a:cxnLst/>
              <a:rect l="l" t="t" r="r" b="b"/>
              <a:pathLst>
                <a:path w="55245" h="31750">
                  <a:moveTo>
                    <a:pt x="54867" y="15775"/>
                  </a:moveTo>
                  <a:lnTo>
                    <a:pt x="52711" y="9635"/>
                  </a:lnTo>
                  <a:lnTo>
                    <a:pt x="46831" y="4620"/>
                  </a:lnTo>
                  <a:lnTo>
                    <a:pt x="38110" y="1239"/>
                  </a:lnTo>
                  <a:lnTo>
                    <a:pt x="27429" y="0"/>
                  </a:lnTo>
                  <a:lnTo>
                    <a:pt x="16753" y="1239"/>
                  </a:lnTo>
                  <a:lnTo>
                    <a:pt x="8034" y="4620"/>
                  </a:lnTo>
                  <a:lnTo>
                    <a:pt x="2155" y="9635"/>
                  </a:lnTo>
                  <a:lnTo>
                    <a:pt x="0" y="15775"/>
                  </a:lnTo>
                  <a:lnTo>
                    <a:pt x="2155" y="21915"/>
                  </a:lnTo>
                  <a:lnTo>
                    <a:pt x="8034" y="26929"/>
                  </a:lnTo>
                  <a:lnTo>
                    <a:pt x="16753" y="30310"/>
                  </a:lnTo>
                  <a:lnTo>
                    <a:pt x="27429" y="31550"/>
                  </a:lnTo>
                  <a:lnTo>
                    <a:pt x="38110" y="30310"/>
                  </a:lnTo>
                  <a:lnTo>
                    <a:pt x="46831" y="26929"/>
                  </a:lnTo>
                  <a:lnTo>
                    <a:pt x="52711" y="21915"/>
                  </a:lnTo>
                  <a:lnTo>
                    <a:pt x="54867" y="15775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76464" y="2372296"/>
              <a:ext cx="109435" cy="220675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7476465" y="2372290"/>
              <a:ext cx="109855" cy="220979"/>
            </a:xfrm>
            <a:custGeom>
              <a:avLst/>
              <a:gdLst/>
              <a:ahLst/>
              <a:cxnLst/>
              <a:rect l="l" t="t" r="r" b="b"/>
              <a:pathLst>
                <a:path w="109854" h="220980">
                  <a:moveTo>
                    <a:pt x="108797" y="185278"/>
                  </a:moveTo>
                  <a:lnTo>
                    <a:pt x="81716" y="7"/>
                  </a:lnTo>
                  <a:lnTo>
                    <a:pt x="74489" y="9617"/>
                  </a:lnTo>
                  <a:lnTo>
                    <a:pt x="64487" y="15502"/>
                  </a:lnTo>
                  <a:lnTo>
                    <a:pt x="27081" y="0"/>
                  </a:lnTo>
                  <a:lnTo>
                    <a:pt x="0" y="185292"/>
                  </a:lnTo>
                  <a:lnTo>
                    <a:pt x="1496" y="197793"/>
                  </a:lnTo>
                  <a:lnTo>
                    <a:pt x="10885" y="208618"/>
                  </a:lnTo>
                  <a:lnTo>
                    <a:pt x="26647" y="216630"/>
                  </a:lnTo>
                  <a:lnTo>
                    <a:pt x="47260" y="220690"/>
                  </a:lnTo>
                  <a:lnTo>
                    <a:pt x="68995" y="219828"/>
                  </a:lnTo>
                  <a:lnTo>
                    <a:pt x="87817" y="214429"/>
                  </a:lnTo>
                  <a:lnTo>
                    <a:pt x="101744" y="205368"/>
                  </a:lnTo>
                  <a:lnTo>
                    <a:pt x="108797" y="193517"/>
                  </a:lnTo>
                  <a:lnTo>
                    <a:pt x="109421" y="190788"/>
                  </a:lnTo>
                  <a:lnTo>
                    <a:pt x="109421" y="188015"/>
                  </a:lnTo>
                  <a:lnTo>
                    <a:pt x="108797" y="185285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17155" y="2216454"/>
              <a:ext cx="27432" cy="27444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7517146" y="2216463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27437" y="13720"/>
                  </a:moveTo>
                  <a:lnTo>
                    <a:pt x="27437" y="6141"/>
                  </a:lnTo>
                  <a:lnTo>
                    <a:pt x="21296" y="0"/>
                  </a:lnTo>
                  <a:lnTo>
                    <a:pt x="13718" y="0"/>
                  </a:lnTo>
                  <a:lnTo>
                    <a:pt x="6147" y="0"/>
                  </a:lnTo>
                  <a:lnTo>
                    <a:pt x="0" y="6141"/>
                  </a:lnTo>
                  <a:lnTo>
                    <a:pt x="0" y="13720"/>
                  </a:lnTo>
                  <a:lnTo>
                    <a:pt x="0" y="21299"/>
                  </a:lnTo>
                  <a:lnTo>
                    <a:pt x="6147" y="27441"/>
                  </a:lnTo>
                  <a:lnTo>
                    <a:pt x="13718" y="27441"/>
                  </a:lnTo>
                  <a:lnTo>
                    <a:pt x="21296" y="27441"/>
                  </a:lnTo>
                  <a:lnTo>
                    <a:pt x="27437" y="21299"/>
                  </a:lnTo>
                  <a:lnTo>
                    <a:pt x="27437" y="13720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530867" y="2243900"/>
              <a:ext cx="0" cy="130175"/>
            </a:xfrm>
            <a:custGeom>
              <a:avLst/>
              <a:gdLst/>
              <a:ahLst/>
              <a:cxnLst/>
              <a:rect l="l" t="t" r="r" b="b"/>
              <a:pathLst>
                <a:path w="0" h="130175">
                  <a:moveTo>
                    <a:pt x="0" y="129844"/>
                  </a:moveTo>
                  <a:lnTo>
                    <a:pt x="0" y="0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462279" y="2181676"/>
              <a:ext cx="137795" cy="97155"/>
            </a:xfrm>
            <a:custGeom>
              <a:avLst/>
              <a:gdLst/>
              <a:ahLst/>
              <a:cxnLst/>
              <a:rect l="l" t="t" r="r" b="b"/>
              <a:pathLst>
                <a:path w="137795" h="97155">
                  <a:moveTo>
                    <a:pt x="39489" y="19404"/>
                  </a:moveTo>
                  <a:lnTo>
                    <a:pt x="30450" y="33020"/>
                  </a:lnTo>
                  <a:lnTo>
                    <a:pt x="27437" y="48508"/>
                  </a:lnTo>
                  <a:lnTo>
                    <a:pt x="30450" y="63996"/>
                  </a:lnTo>
                  <a:lnTo>
                    <a:pt x="39489" y="77611"/>
                  </a:lnTo>
                </a:path>
                <a:path w="137795" h="97155">
                  <a:moveTo>
                    <a:pt x="97688" y="77611"/>
                  </a:moveTo>
                  <a:lnTo>
                    <a:pt x="106724" y="63993"/>
                  </a:lnTo>
                  <a:lnTo>
                    <a:pt x="109735" y="48505"/>
                  </a:lnTo>
                  <a:lnTo>
                    <a:pt x="106724" y="33019"/>
                  </a:lnTo>
                  <a:lnTo>
                    <a:pt x="97688" y="19404"/>
                  </a:lnTo>
                </a:path>
                <a:path w="137795" h="97155">
                  <a:moveTo>
                    <a:pt x="20087" y="0"/>
                  </a:moveTo>
                  <a:lnTo>
                    <a:pt x="5021" y="22691"/>
                  </a:lnTo>
                  <a:lnTo>
                    <a:pt x="0" y="48504"/>
                  </a:lnTo>
                  <a:lnTo>
                    <a:pt x="5021" y="74317"/>
                  </a:lnTo>
                  <a:lnTo>
                    <a:pt x="20087" y="97009"/>
                  </a:lnTo>
                </a:path>
                <a:path w="137795" h="97155">
                  <a:moveTo>
                    <a:pt x="117090" y="97009"/>
                  </a:moveTo>
                  <a:lnTo>
                    <a:pt x="132152" y="74318"/>
                  </a:lnTo>
                  <a:lnTo>
                    <a:pt x="137173" y="48507"/>
                  </a:lnTo>
                  <a:lnTo>
                    <a:pt x="132152" y="22694"/>
                  </a:lnTo>
                  <a:lnTo>
                    <a:pt x="117090" y="0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476464" y="2216464"/>
              <a:ext cx="109855" cy="376555"/>
            </a:xfrm>
            <a:custGeom>
              <a:avLst/>
              <a:gdLst/>
              <a:ahLst/>
              <a:cxnLst/>
              <a:rect l="l" t="t" r="r" b="b"/>
              <a:pathLst>
                <a:path w="109854" h="376555">
                  <a:moveTo>
                    <a:pt x="54402" y="141503"/>
                  </a:moveTo>
                  <a:lnTo>
                    <a:pt x="44343" y="142607"/>
                  </a:lnTo>
                  <a:lnTo>
                    <a:pt x="35926" y="145629"/>
                  </a:lnTo>
                  <a:lnTo>
                    <a:pt x="29918" y="150169"/>
                  </a:lnTo>
                  <a:lnTo>
                    <a:pt x="27081" y="155826"/>
                  </a:lnTo>
                  <a:lnTo>
                    <a:pt x="0" y="341119"/>
                  </a:lnTo>
                  <a:lnTo>
                    <a:pt x="1496" y="353619"/>
                  </a:lnTo>
                  <a:lnTo>
                    <a:pt x="10885" y="364444"/>
                  </a:lnTo>
                  <a:lnTo>
                    <a:pt x="26647" y="372453"/>
                  </a:lnTo>
                  <a:lnTo>
                    <a:pt x="47260" y="376509"/>
                  </a:lnTo>
                  <a:lnTo>
                    <a:pt x="68999" y="375652"/>
                  </a:lnTo>
                  <a:lnTo>
                    <a:pt x="87823" y="370255"/>
                  </a:lnTo>
                  <a:lnTo>
                    <a:pt x="101751" y="361194"/>
                  </a:lnTo>
                  <a:lnTo>
                    <a:pt x="108805" y="349344"/>
                  </a:lnTo>
                  <a:lnTo>
                    <a:pt x="109429" y="346614"/>
                  </a:lnTo>
                  <a:lnTo>
                    <a:pt x="109429" y="343841"/>
                  </a:lnTo>
                  <a:lnTo>
                    <a:pt x="108805" y="341111"/>
                  </a:lnTo>
                  <a:lnTo>
                    <a:pt x="81926" y="157263"/>
                  </a:lnTo>
                  <a:lnTo>
                    <a:pt x="79744" y="151120"/>
                  </a:lnTo>
                  <a:lnTo>
                    <a:pt x="73839" y="146108"/>
                  </a:lnTo>
                  <a:lnTo>
                    <a:pt x="65098" y="142733"/>
                  </a:lnTo>
                  <a:lnTo>
                    <a:pt x="54402" y="141503"/>
                  </a:lnTo>
                </a:path>
                <a:path w="109854" h="376555">
                  <a:moveTo>
                    <a:pt x="68121" y="13720"/>
                  </a:moveTo>
                  <a:lnTo>
                    <a:pt x="68121" y="6141"/>
                  </a:lnTo>
                  <a:lnTo>
                    <a:pt x="61980" y="0"/>
                  </a:lnTo>
                  <a:lnTo>
                    <a:pt x="54402" y="0"/>
                  </a:lnTo>
                  <a:lnTo>
                    <a:pt x="46824" y="0"/>
                  </a:lnTo>
                  <a:lnTo>
                    <a:pt x="40683" y="6141"/>
                  </a:lnTo>
                  <a:lnTo>
                    <a:pt x="40683" y="13720"/>
                  </a:lnTo>
                  <a:lnTo>
                    <a:pt x="40683" y="21299"/>
                  </a:lnTo>
                  <a:lnTo>
                    <a:pt x="46824" y="27441"/>
                  </a:lnTo>
                  <a:lnTo>
                    <a:pt x="54402" y="27441"/>
                  </a:lnTo>
                  <a:lnTo>
                    <a:pt x="61980" y="27441"/>
                  </a:lnTo>
                  <a:lnTo>
                    <a:pt x="68121" y="21299"/>
                  </a:lnTo>
                  <a:lnTo>
                    <a:pt x="68121" y="13720"/>
                  </a:lnTo>
                  <a:close/>
                </a:path>
                <a:path w="109854" h="376555">
                  <a:moveTo>
                    <a:pt x="54402" y="141503"/>
                  </a:moveTo>
                  <a:lnTo>
                    <a:pt x="54402" y="27441"/>
                  </a:lnTo>
                </a:path>
              </a:pathLst>
            </a:custGeom>
            <a:ln w="14518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206236" y="1791905"/>
              <a:ext cx="635" cy="582930"/>
            </a:xfrm>
            <a:custGeom>
              <a:avLst/>
              <a:gdLst/>
              <a:ahLst/>
              <a:cxnLst/>
              <a:rect l="l" t="t" r="r" b="b"/>
              <a:pathLst>
                <a:path w="634" h="582930">
                  <a:moveTo>
                    <a:pt x="232" y="0"/>
                  </a:moveTo>
                  <a:lnTo>
                    <a:pt x="0" y="582492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27762" y="3451796"/>
              <a:ext cx="160108" cy="73512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77571" y="3264915"/>
              <a:ext cx="110842" cy="219160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6377567" y="3426477"/>
              <a:ext cx="50165" cy="57785"/>
            </a:xfrm>
            <a:custGeom>
              <a:avLst/>
              <a:gdLst/>
              <a:ahLst/>
              <a:cxnLst/>
              <a:rect l="l" t="t" r="r" b="b"/>
              <a:pathLst>
                <a:path w="50164" h="57785">
                  <a:moveTo>
                    <a:pt x="45283" y="40483"/>
                  </a:moveTo>
                  <a:lnTo>
                    <a:pt x="49606" y="29321"/>
                  </a:lnTo>
                  <a:lnTo>
                    <a:pt x="50100" y="18451"/>
                  </a:lnTo>
                  <a:lnTo>
                    <a:pt x="46925" y="9096"/>
                  </a:lnTo>
                  <a:lnTo>
                    <a:pt x="40245" y="2479"/>
                  </a:lnTo>
                  <a:lnTo>
                    <a:pt x="31177" y="0"/>
                  </a:lnTo>
                  <a:lnTo>
                    <a:pt x="21488" y="1927"/>
                  </a:lnTo>
                  <a:lnTo>
                    <a:pt x="12321" y="7789"/>
                  </a:lnTo>
                  <a:lnTo>
                    <a:pt x="4816" y="17114"/>
                  </a:lnTo>
                  <a:lnTo>
                    <a:pt x="493" y="28280"/>
                  </a:lnTo>
                  <a:lnTo>
                    <a:pt x="0" y="39152"/>
                  </a:lnTo>
                  <a:lnTo>
                    <a:pt x="3174" y="48505"/>
                  </a:lnTo>
                  <a:lnTo>
                    <a:pt x="9854" y="55118"/>
                  </a:lnTo>
                  <a:lnTo>
                    <a:pt x="18925" y="57598"/>
                  </a:lnTo>
                  <a:lnTo>
                    <a:pt x="28613" y="55671"/>
                  </a:lnTo>
                  <a:lnTo>
                    <a:pt x="37779" y="49809"/>
                  </a:lnTo>
                  <a:lnTo>
                    <a:pt x="45283" y="40483"/>
                  </a:lnTo>
                  <a:close/>
                </a:path>
              </a:pathLst>
            </a:custGeom>
            <a:ln w="69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27762" y="3403460"/>
              <a:ext cx="151015" cy="9211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6227767" y="3403468"/>
              <a:ext cx="151130" cy="92710"/>
            </a:xfrm>
            <a:custGeom>
              <a:avLst/>
              <a:gdLst/>
              <a:ahLst/>
              <a:cxnLst/>
              <a:rect l="l" t="t" r="r" b="b"/>
              <a:pathLst>
                <a:path w="151129" h="92710">
                  <a:moveTo>
                    <a:pt x="69601" y="0"/>
                  </a:moveTo>
                  <a:lnTo>
                    <a:pt x="22982" y="25703"/>
                  </a:lnTo>
                  <a:lnTo>
                    <a:pt x="0" y="51317"/>
                  </a:lnTo>
                  <a:lnTo>
                    <a:pt x="4302" y="61989"/>
                  </a:lnTo>
                  <a:lnTo>
                    <a:pt x="42786" y="90028"/>
                  </a:lnTo>
                  <a:lnTo>
                    <a:pt x="57498" y="92104"/>
                  </a:lnTo>
                  <a:lnTo>
                    <a:pt x="72351" y="91076"/>
                  </a:lnTo>
                  <a:lnTo>
                    <a:pt x="86869" y="86925"/>
                  </a:lnTo>
                  <a:lnTo>
                    <a:pt x="151013" y="48319"/>
                  </a:lnTo>
                  <a:lnTo>
                    <a:pt x="69601" y="0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16383" y="3264331"/>
              <a:ext cx="145161" cy="163347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6316376" y="3264906"/>
              <a:ext cx="145415" cy="163195"/>
            </a:xfrm>
            <a:custGeom>
              <a:avLst/>
              <a:gdLst/>
              <a:ahLst/>
              <a:cxnLst/>
              <a:rect l="l" t="t" r="r" b="b"/>
              <a:pathLst>
                <a:path w="145414" h="163195">
                  <a:moveTo>
                    <a:pt x="0" y="113408"/>
                  </a:moveTo>
                  <a:lnTo>
                    <a:pt x="84648" y="162773"/>
                  </a:lnTo>
                  <a:lnTo>
                    <a:pt x="90245" y="161641"/>
                  </a:lnTo>
                  <a:lnTo>
                    <a:pt x="138332" y="76980"/>
                  </a:lnTo>
                  <a:lnTo>
                    <a:pt x="145168" y="56847"/>
                  </a:lnTo>
                  <a:lnTo>
                    <a:pt x="143951" y="36459"/>
                  </a:lnTo>
                  <a:lnTo>
                    <a:pt x="119743" y="4268"/>
                  </a:lnTo>
                  <a:lnTo>
                    <a:pt x="110322" y="0"/>
                  </a:lnTo>
                  <a:lnTo>
                    <a:pt x="92227" y="163"/>
                  </a:lnTo>
                  <a:lnTo>
                    <a:pt x="75168" y="5385"/>
                  </a:lnTo>
                  <a:lnTo>
                    <a:pt x="60137" y="15201"/>
                  </a:lnTo>
                  <a:lnTo>
                    <a:pt x="48131" y="29147"/>
                  </a:lnTo>
                  <a:lnTo>
                    <a:pt x="0" y="113408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97371" y="3378314"/>
              <a:ext cx="103657" cy="73482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6297369" y="3378314"/>
              <a:ext cx="104139" cy="73660"/>
            </a:xfrm>
            <a:custGeom>
              <a:avLst/>
              <a:gdLst/>
              <a:ahLst/>
              <a:cxnLst/>
              <a:rect l="l" t="t" r="r" b="b"/>
              <a:pathLst>
                <a:path w="104139" h="73660">
                  <a:moveTo>
                    <a:pt x="0" y="25154"/>
                  </a:moveTo>
                  <a:lnTo>
                    <a:pt x="81411" y="73473"/>
                  </a:lnTo>
                  <a:lnTo>
                    <a:pt x="84758" y="65548"/>
                  </a:lnTo>
                  <a:lnTo>
                    <a:pt x="89736" y="58721"/>
                  </a:lnTo>
                  <a:lnTo>
                    <a:pt x="96113" y="53243"/>
                  </a:lnTo>
                  <a:lnTo>
                    <a:pt x="103658" y="49364"/>
                  </a:lnTo>
                  <a:lnTo>
                    <a:pt x="19010" y="0"/>
                  </a:lnTo>
                  <a:lnTo>
                    <a:pt x="12058" y="4313"/>
                  </a:lnTo>
                  <a:lnTo>
                    <a:pt x="6423" y="10140"/>
                  </a:lnTo>
                  <a:lnTo>
                    <a:pt x="2329" y="17186"/>
                  </a:lnTo>
                  <a:lnTo>
                    <a:pt x="0" y="25154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271556" y="3453918"/>
              <a:ext cx="14604" cy="10795"/>
            </a:xfrm>
            <a:custGeom>
              <a:avLst/>
              <a:gdLst/>
              <a:ahLst/>
              <a:cxnLst/>
              <a:rect l="l" t="t" r="r" b="b"/>
              <a:pathLst>
                <a:path w="14604" h="10795">
                  <a:moveTo>
                    <a:pt x="4725" y="10686"/>
                  </a:moveTo>
                  <a:lnTo>
                    <a:pt x="1299" y="9502"/>
                  </a:lnTo>
                  <a:lnTo>
                    <a:pt x="0" y="4653"/>
                  </a:lnTo>
                  <a:lnTo>
                    <a:pt x="2373" y="1916"/>
                  </a:lnTo>
                  <a:lnTo>
                    <a:pt x="9523" y="0"/>
                  </a:lnTo>
                  <a:lnTo>
                    <a:pt x="12949" y="1183"/>
                  </a:lnTo>
                  <a:lnTo>
                    <a:pt x="13595" y="3607"/>
                  </a:lnTo>
                  <a:lnTo>
                    <a:pt x="14241" y="6032"/>
                  </a:lnTo>
                  <a:lnTo>
                    <a:pt x="11874" y="8769"/>
                  </a:lnTo>
                  <a:lnTo>
                    <a:pt x="4725" y="106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271556" y="3453918"/>
              <a:ext cx="14604" cy="10795"/>
            </a:xfrm>
            <a:custGeom>
              <a:avLst/>
              <a:gdLst/>
              <a:ahLst/>
              <a:cxnLst/>
              <a:rect l="l" t="t" r="r" b="b"/>
              <a:pathLst>
                <a:path w="14604" h="10795">
                  <a:moveTo>
                    <a:pt x="13595" y="3607"/>
                  </a:moveTo>
                  <a:lnTo>
                    <a:pt x="12949" y="1183"/>
                  </a:lnTo>
                  <a:lnTo>
                    <a:pt x="9523" y="0"/>
                  </a:lnTo>
                  <a:lnTo>
                    <a:pt x="5944" y="958"/>
                  </a:lnTo>
                  <a:lnTo>
                    <a:pt x="2373" y="1916"/>
                  </a:lnTo>
                  <a:lnTo>
                    <a:pt x="0" y="4653"/>
                  </a:lnTo>
                  <a:lnTo>
                    <a:pt x="653" y="7078"/>
                  </a:lnTo>
                  <a:lnTo>
                    <a:pt x="1299" y="9502"/>
                  </a:lnTo>
                  <a:lnTo>
                    <a:pt x="4725" y="10686"/>
                  </a:lnTo>
                  <a:lnTo>
                    <a:pt x="8296" y="9727"/>
                  </a:lnTo>
                  <a:lnTo>
                    <a:pt x="11874" y="8769"/>
                  </a:lnTo>
                  <a:lnTo>
                    <a:pt x="14241" y="6032"/>
                  </a:lnTo>
                  <a:lnTo>
                    <a:pt x="13595" y="3607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62319" y="3274923"/>
              <a:ext cx="90968" cy="86880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6362310" y="3274914"/>
              <a:ext cx="91440" cy="86995"/>
            </a:xfrm>
            <a:custGeom>
              <a:avLst/>
              <a:gdLst/>
              <a:ahLst/>
              <a:cxnLst/>
              <a:rect l="l" t="t" r="r" b="b"/>
              <a:pathLst>
                <a:path w="91439" h="86995">
                  <a:moveTo>
                    <a:pt x="0" y="44413"/>
                  </a:moveTo>
                  <a:lnTo>
                    <a:pt x="73339" y="86889"/>
                  </a:lnTo>
                  <a:lnTo>
                    <a:pt x="85505" y="64305"/>
                  </a:lnTo>
                  <a:lnTo>
                    <a:pt x="90975" y="48199"/>
                  </a:lnTo>
                  <a:lnTo>
                    <a:pt x="70327" y="5785"/>
                  </a:lnTo>
                  <a:lnTo>
                    <a:pt x="56514" y="0"/>
                  </a:lnTo>
                  <a:lnTo>
                    <a:pt x="49016" y="7"/>
                  </a:lnTo>
                  <a:lnTo>
                    <a:pt x="38129" y="2426"/>
                  </a:lnTo>
                  <a:lnTo>
                    <a:pt x="28181" y="7202"/>
                  </a:lnTo>
                  <a:lnTo>
                    <a:pt x="19533" y="14108"/>
                  </a:lnTo>
                  <a:lnTo>
                    <a:pt x="12549" y="22918"/>
                  </a:lnTo>
                  <a:lnTo>
                    <a:pt x="0" y="44413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6227764" y="326456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88611" y="113751"/>
                  </a:moveTo>
                  <a:lnTo>
                    <a:pt x="81739" y="118143"/>
                  </a:lnTo>
                  <a:lnTo>
                    <a:pt x="76142" y="123982"/>
                  </a:lnTo>
                  <a:lnTo>
                    <a:pt x="72028" y="130994"/>
                  </a:lnTo>
                  <a:lnTo>
                    <a:pt x="69601" y="138905"/>
                  </a:lnTo>
                  <a:lnTo>
                    <a:pt x="8093" y="174223"/>
                  </a:lnTo>
                  <a:lnTo>
                    <a:pt x="3193" y="178056"/>
                  </a:lnTo>
                  <a:lnTo>
                    <a:pt x="225" y="183922"/>
                  </a:lnTo>
                  <a:lnTo>
                    <a:pt x="0" y="190223"/>
                  </a:lnTo>
                  <a:lnTo>
                    <a:pt x="50" y="221149"/>
                  </a:lnTo>
                  <a:lnTo>
                    <a:pt x="30038" y="254980"/>
                  </a:lnTo>
                  <a:lnTo>
                    <a:pt x="56532" y="260466"/>
                  </a:lnTo>
                  <a:lnTo>
                    <a:pt x="68133" y="260360"/>
                  </a:lnTo>
                  <a:lnTo>
                    <a:pt x="79645" y="258879"/>
                  </a:lnTo>
                  <a:lnTo>
                    <a:pt x="90949" y="256031"/>
                  </a:lnTo>
                  <a:lnTo>
                    <a:pt x="156740" y="217265"/>
                  </a:lnTo>
                  <a:lnTo>
                    <a:pt x="166815" y="219369"/>
                  </a:lnTo>
                  <a:lnTo>
                    <a:pt x="197659" y="193619"/>
                  </a:lnTo>
                  <a:lnTo>
                    <a:pt x="198483" y="187262"/>
                  </a:lnTo>
                  <a:lnTo>
                    <a:pt x="198055" y="180800"/>
                  </a:lnTo>
                  <a:lnTo>
                    <a:pt x="258794" y="77838"/>
                  </a:lnTo>
                  <a:lnTo>
                    <a:pt x="260508" y="59913"/>
                  </a:lnTo>
                  <a:lnTo>
                    <a:pt x="256651" y="42788"/>
                  </a:lnTo>
                  <a:lnTo>
                    <a:pt x="247740" y="27763"/>
                  </a:lnTo>
                  <a:lnTo>
                    <a:pt x="234290" y="16139"/>
                  </a:lnTo>
                  <a:lnTo>
                    <a:pt x="198933" y="342"/>
                  </a:lnTo>
                  <a:lnTo>
                    <a:pt x="180640" y="0"/>
                  </a:lnTo>
                  <a:lnTo>
                    <a:pt x="163434" y="5091"/>
                  </a:lnTo>
                  <a:lnTo>
                    <a:pt x="148430" y="15095"/>
                  </a:lnTo>
                  <a:lnTo>
                    <a:pt x="136742" y="29490"/>
                  </a:lnTo>
                  <a:lnTo>
                    <a:pt x="88611" y="113751"/>
                  </a:lnTo>
                </a:path>
              </a:pathLst>
            </a:custGeom>
            <a:ln w="14518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38455" y="3333330"/>
              <a:ext cx="79019" cy="77152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45388" y="3335793"/>
              <a:ext cx="70632" cy="73320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5679090" y="2812747"/>
              <a:ext cx="562610" cy="466725"/>
            </a:xfrm>
            <a:custGeom>
              <a:avLst/>
              <a:gdLst/>
              <a:ahLst/>
              <a:cxnLst/>
              <a:rect l="l" t="t" r="r" b="b"/>
              <a:pathLst>
                <a:path w="562610" h="466725">
                  <a:moveTo>
                    <a:pt x="0" y="0"/>
                  </a:moveTo>
                  <a:lnTo>
                    <a:pt x="562389" y="46644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6646589" y="2804780"/>
              <a:ext cx="669925" cy="494030"/>
            </a:xfrm>
            <a:custGeom>
              <a:avLst/>
              <a:gdLst/>
              <a:ahLst/>
              <a:cxnLst/>
              <a:rect l="l" t="t" r="r" b="b"/>
              <a:pathLst>
                <a:path w="669925" h="494029">
                  <a:moveTo>
                    <a:pt x="669379" y="0"/>
                  </a:moveTo>
                  <a:lnTo>
                    <a:pt x="0" y="493656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6570686" y="2812747"/>
              <a:ext cx="645160" cy="466725"/>
            </a:xfrm>
            <a:custGeom>
              <a:avLst/>
              <a:gdLst/>
              <a:ahLst/>
              <a:cxnLst/>
              <a:rect l="l" t="t" r="r" b="b"/>
              <a:pathLst>
                <a:path w="645159" h="466725">
                  <a:moveTo>
                    <a:pt x="644693" y="0"/>
                  </a:moveTo>
                  <a:lnTo>
                    <a:pt x="0" y="46644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7146794" y="1797065"/>
              <a:ext cx="0" cy="582295"/>
            </a:xfrm>
            <a:custGeom>
              <a:avLst/>
              <a:gdLst/>
              <a:ahLst/>
              <a:cxnLst/>
              <a:rect l="l" t="t" r="r" b="b"/>
              <a:pathLst>
                <a:path w="0" h="582294">
                  <a:moveTo>
                    <a:pt x="0" y="0"/>
                  </a:moveTo>
                  <a:lnTo>
                    <a:pt x="0" y="58183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569357" y="1791905"/>
              <a:ext cx="1440815" cy="582295"/>
            </a:xfrm>
            <a:custGeom>
              <a:avLst/>
              <a:gdLst/>
              <a:ahLst/>
              <a:cxnLst/>
              <a:rect l="l" t="t" r="r" b="b"/>
              <a:pathLst>
                <a:path w="1440815" h="582294">
                  <a:moveTo>
                    <a:pt x="1440269" y="0"/>
                  </a:moveTo>
                  <a:lnTo>
                    <a:pt x="0" y="58183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740348" y="2955001"/>
              <a:ext cx="1404620" cy="833755"/>
            </a:xfrm>
            <a:custGeom>
              <a:avLst/>
              <a:gdLst/>
              <a:ahLst/>
              <a:cxnLst/>
              <a:rect l="l" t="t" r="r" b="b"/>
              <a:pathLst>
                <a:path w="1404620" h="833754">
                  <a:moveTo>
                    <a:pt x="126720" y="274098"/>
                  </a:moveTo>
                  <a:lnTo>
                    <a:pt x="125682" y="233173"/>
                  </a:lnTo>
                  <a:lnTo>
                    <a:pt x="135813" y="194386"/>
                  </a:lnTo>
                  <a:lnTo>
                    <a:pt x="155988" y="158935"/>
                  </a:lnTo>
                  <a:lnTo>
                    <a:pt x="185078" y="128019"/>
                  </a:lnTo>
                  <a:lnTo>
                    <a:pt x="221956" y="102837"/>
                  </a:lnTo>
                  <a:lnTo>
                    <a:pt x="265494" y="84587"/>
                  </a:lnTo>
                  <a:lnTo>
                    <a:pt x="314566" y="74467"/>
                  </a:lnTo>
                  <a:lnTo>
                    <a:pt x="351085" y="72937"/>
                  </a:lnTo>
                  <a:lnTo>
                    <a:pt x="387167" y="76291"/>
                  </a:lnTo>
                  <a:lnTo>
                    <a:pt x="422071" y="84409"/>
                  </a:lnTo>
                  <a:lnTo>
                    <a:pt x="455053" y="97174"/>
                  </a:lnTo>
                  <a:lnTo>
                    <a:pt x="482129" y="66599"/>
                  </a:lnTo>
                  <a:lnTo>
                    <a:pt x="516973" y="43645"/>
                  </a:lnTo>
                  <a:lnTo>
                    <a:pt x="557352" y="28866"/>
                  </a:lnTo>
                  <a:lnTo>
                    <a:pt x="601033" y="22814"/>
                  </a:lnTo>
                  <a:lnTo>
                    <a:pt x="645783" y="26045"/>
                  </a:lnTo>
                  <a:lnTo>
                    <a:pt x="689368" y="39110"/>
                  </a:lnTo>
                  <a:lnTo>
                    <a:pt x="729640" y="63024"/>
                  </a:lnTo>
                  <a:lnTo>
                    <a:pt x="756120" y="33182"/>
                  </a:lnTo>
                  <a:lnTo>
                    <a:pt x="791516" y="12268"/>
                  </a:lnTo>
                  <a:lnTo>
                    <a:pt x="832693" y="1128"/>
                  </a:lnTo>
                  <a:lnTo>
                    <a:pt x="876519" y="611"/>
                  </a:lnTo>
                  <a:lnTo>
                    <a:pt x="919861" y="11564"/>
                  </a:lnTo>
                  <a:lnTo>
                    <a:pt x="933923" y="18080"/>
                  </a:lnTo>
                  <a:lnTo>
                    <a:pt x="946937" y="25821"/>
                  </a:lnTo>
                  <a:lnTo>
                    <a:pt x="958780" y="34707"/>
                  </a:lnTo>
                  <a:lnTo>
                    <a:pt x="969327" y="44660"/>
                  </a:lnTo>
                  <a:lnTo>
                    <a:pt x="1007720" y="18169"/>
                  </a:lnTo>
                  <a:lnTo>
                    <a:pt x="1052823" y="3201"/>
                  </a:lnTo>
                  <a:lnTo>
                    <a:pt x="1100972" y="0"/>
                  </a:lnTo>
                  <a:lnTo>
                    <a:pt x="1148503" y="8806"/>
                  </a:lnTo>
                  <a:lnTo>
                    <a:pt x="1191755" y="29864"/>
                  </a:lnTo>
                  <a:lnTo>
                    <a:pt x="1226432" y="63387"/>
                  </a:lnTo>
                  <a:lnTo>
                    <a:pt x="1245031" y="104388"/>
                  </a:lnTo>
                  <a:lnTo>
                    <a:pt x="1295552" y="122950"/>
                  </a:lnTo>
                  <a:lnTo>
                    <a:pt x="1334982" y="152298"/>
                  </a:lnTo>
                  <a:lnTo>
                    <a:pt x="1361319" y="189596"/>
                  </a:lnTo>
                  <a:lnTo>
                    <a:pt x="1372559" y="232006"/>
                  </a:lnTo>
                  <a:lnTo>
                    <a:pt x="1366697" y="276689"/>
                  </a:lnTo>
                  <a:lnTo>
                    <a:pt x="1364577" y="282975"/>
                  </a:lnTo>
                  <a:lnTo>
                    <a:pt x="1361935" y="289135"/>
                  </a:lnTo>
                  <a:lnTo>
                    <a:pt x="1358760" y="295129"/>
                  </a:lnTo>
                  <a:lnTo>
                    <a:pt x="1384894" y="330345"/>
                  </a:lnTo>
                  <a:lnTo>
                    <a:pt x="1399984" y="368200"/>
                  </a:lnTo>
                  <a:lnTo>
                    <a:pt x="1404273" y="407195"/>
                  </a:lnTo>
                  <a:lnTo>
                    <a:pt x="1398004" y="445832"/>
                  </a:lnTo>
                  <a:lnTo>
                    <a:pt x="1381419" y="482615"/>
                  </a:lnTo>
                  <a:lnTo>
                    <a:pt x="1354760" y="516043"/>
                  </a:lnTo>
                  <a:lnTo>
                    <a:pt x="1318272" y="544621"/>
                  </a:lnTo>
                  <a:lnTo>
                    <a:pt x="1269596" y="567496"/>
                  </a:lnTo>
                  <a:lnTo>
                    <a:pt x="1215339" y="579647"/>
                  </a:lnTo>
                  <a:lnTo>
                    <a:pt x="1208222" y="619961"/>
                  </a:lnTo>
                  <a:lnTo>
                    <a:pt x="1188913" y="656102"/>
                  </a:lnTo>
                  <a:lnTo>
                    <a:pt x="1159218" y="686635"/>
                  </a:lnTo>
                  <a:lnTo>
                    <a:pt x="1120941" y="710126"/>
                  </a:lnTo>
                  <a:lnTo>
                    <a:pt x="1075889" y="725140"/>
                  </a:lnTo>
                  <a:lnTo>
                    <a:pt x="1025868" y="730244"/>
                  </a:lnTo>
                  <a:lnTo>
                    <a:pt x="1000056" y="728634"/>
                  </a:lnTo>
                  <a:lnTo>
                    <a:pt x="974880" y="724202"/>
                  </a:lnTo>
                  <a:lnTo>
                    <a:pt x="950690" y="717031"/>
                  </a:lnTo>
                  <a:lnTo>
                    <a:pt x="927836" y="707206"/>
                  </a:lnTo>
                  <a:lnTo>
                    <a:pt x="907716" y="744872"/>
                  </a:lnTo>
                  <a:lnTo>
                    <a:pt x="878540" y="776821"/>
                  </a:lnTo>
                  <a:lnTo>
                    <a:pt x="841949" y="802340"/>
                  </a:lnTo>
                  <a:lnTo>
                    <a:pt x="799586" y="820716"/>
                  </a:lnTo>
                  <a:lnTo>
                    <a:pt x="753094" y="831239"/>
                  </a:lnTo>
                  <a:lnTo>
                    <a:pt x="704115" y="833196"/>
                  </a:lnTo>
                  <a:lnTo>
                    <a:pt x="654291" y="825875"/>
                  </a:lnTo>
                  <a:lnTo>
                    <a:pt x="619191" y="814505"/>
                  </a:lnTo>
                  <a:lnTo>
                    <a:pt x="587243" y="798551"/>
                  </a:lnTo>
                  <a:lnTo>
                    <a:pt x="559117" y="778415"/>
                  </a:lnTo>
                  <a:lnTo>
                    <a:pt x="535482" y="754501"/>
                  </a:lnTo>
                  <a:lnTo>
                    <a:pt x="489530" y="772086"/>
                  </a:lnTo>
                  <a:lnTo>
                    <a:pt x="441645" y="781603"/>
                  </a:lnTo>
                  <a:lnTo>
                    <a:pt x="393211" y="783332"/>
                  </a:lnTo>
                  <a:lnTo>
                    <a:pt x="345613" y="777553"/>
                  </a:lnTo>
                  <a:lnTo>
                    <a:pt x="300234" y="764545"/>
                  </a:lnTo>
                  <a:lnTo>
                    <a:pt x="258460" y="744587"/>
                  </a:lnTo>
                  <a:lnTo>
                    <a:pt x="221675" y="717960"/>
                  </a:lnTo>
                  <a:lnTo>
                    <a:pt x="191262" y="684943"/>
                  </a:lnTo>
                  <a:lnTo>
                    <a:pt x="188620" y="681285"/>
                  </a:lnTo>
                  <a:lnTo>
                    <a:pt x="132553" y="677555"/>
                  </a:lnTo>
                  <a:lnTo>
                    <a:pt x="84291" y="657479"/>
                  </a:lnTo>
                  <a:lnTo>
                    <a:pt x="48890" y="624278"/>
                  </a:lnTo>
                  <a:lnTo>
                    <a:pt x="31407" y="581171"/>
                  </a:lnTo>
                  <a:lnTo>
                    <a:pt x="31171" y="556262"/>
                  </a:lnTo>
                  <a:lnTo>
                    <a:pt x="37533" y="532176"/>
                  </a:lnTo>
                  <a:lnTo>
                    <a:pt x="50150" y="509750"/>
                  </a:lnTo>
                  <a:lnTo>
                    <a:pt x="68681" y="489820"/>
                  </a:lnTo>
                  <a:lnTo>
                    <a:pt x="26866" y="459469"/>
                  </a:lnTo>
                  <a:lnTo>
                    <a:pt x="3430" y="419824"/>
                  </a:lnTo>
                  <a:lnTo>
                    <a:pt x="0" y="375931"/>
                  </a:lnTo>
                  <a:lnTo>
                    <a:pt x="18199" y="332835"/>
                  </a:lnTo>
                  <a:lnTo>
                    <a:pt x="38269" y="311288"/>
                  </a:lnTo>
                  <a:lnTo>
                    <a:pt x="63616" y="294346"/>
                  </a:lnTo>
                  <a:lnTo>
                    <a:pt x="93089" y="282613"/>
                  </a:lnTo>
                  <a:lnTo>
                    <a:pt x="125539" y="276689"/>
                  </a:lnTo>
                  <a:lnTo>
                    <a:pt x="126720" y="27409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445070" y="2778088"/>
              <a:ext cx="71716" cy="71704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61165" y="2835278"/>
              <a:ext cx="118033" cy="118033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717374" y="2915631"/>
              <a:ext cx="164350" cy="164337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7810527" y="2996956"/>
              <a:ext cx="1288415" cy="709295"/>
            </a:xfrm>
            <a:custGeom>
              <a:avLst/>
              <a:gdLst/>
              <a:ahLst/>
              <a:cxnLst/>
              <a:rect l="l" t="t" r="r" b="b"/>
              <a:pathLst>
                <a:path w="1288415" h="709295">
                  <a:moveTo>
                    <a:pt x="82308" y="459994"/>
                  </a:moveTo>
                  <a:lnTo>
                    <a:pt x="60825" y="460021"/>
                  </a:lnTo>
                  <a:lnTo>
                    <a:pt x="39706" y="457423"/>
                  </a:lnTo>
                  <a:lnTo>
                    <a:pt x="19311" y="452266"/>
                  </a:lnTo>
                  <a:lnTo>
                    <a:pt x="0" y="444614"/>
                  </a:lnTo>
                </a:path>
                <a:path w="1288415" h="709295">
                  <a:moveTo>
                    <a:pt x="154927" y="628307"/>
                  </a:moveTo>
                  <a:lnTo>
                    <a:pt x="146167" y="630863"/>
                  </a:lnTo>
                  <a:lnTo>
                    <a:pt x="137225" y="632947"/>
                  </a:lnTo>
                  <a:lnTo>
                    <a:pt x="128132" y="634552"/>
                  </a:lnTo>
                  <a:lnTo>
                    <a:pt x="118922" y="635673"/>
                  </a:lnTo>
                </a:path>
                <a:path w="1288415" h="709295">
                  <a:moveTo>
                    <a:pt x="465226" y="709193"/>
                  </a:moveTo>
                  <a:lnTo>
                    <a:pt x="458977" y="701157"/>
                  </a:lnTo>
                  <a:lnTo>
                    <a:pt x="453269" y="692870"/>
                  </a:lnTo>
                  <a:lnTo>
                    <a:pt x="448113" y="684351"/>
                  </a:lnTo>
                  <a:lnTo>
                    <a:pt x="443522" y="675614"/>
                  </a:lnTo>
                </a:path>
                <a:path w="1288415" h="709295">
                  <a:moveTo>
                    <a:pt x="866470" y="625449"/>
                  </a:moveTo>
                  <a:lnTo>
                    <a:pt x="865204" y="634792"/>
                  </a:lnTo>
                  <a:lnTo>
                    <a:pt x="863334" y="644063"/>
                  </a:lnTo>
                  <a:lnTo>
                    <a:pt x="860867" y="653240"/>
                  </a:lnTo>
                  <a:lnTo>
                    <a:pt x="857808" y="662305"/>
                  </a:lnTo>
                </a:path>
                <a:path w="1288415" h="709295">
                  <a:moveTo>
                    <a:pt x="1038732" y="397802"/>
                  </a:moveTo>
                  <a:lnTo>
                    <a:pt x="1082798" y="421895"/>
                  </a:lnTo>
                  <a:lnTo>
                    <a:pt x="1116199" y="454313"/>
                  </a:lnTo>
                  <a:lnTo>
                    <a:pt x="1137281" y="492899"/>
                  </a:lnTo>
                  <a:lnTo>
                    <a:pt x="1144384" y="535495"/>
                  </a:lnTo>
                </a:path>
                <a:path w="1288415" h="709295">
                  <a:moveTo>
                    <a:pt x="1287919" y="251129"/>
                  </a:moveTo>
                  <a:lnTo>
                    <a:pt x="1278985" y="265631"/>
                  </a:lnTo>
                  <a:lnTo>
                    <a:pt x="1268090" y="279158"/>
                  </a:lnTo>
                  <a:lnTo>
                    <a:pt x="1255349" y="291581"/>
                  </a:lnTo>
                  <a:lnTo>
                    <a:pt x="1240878" y="302767"/>
                  </a:lnTo>
                </a:path>
                <a:path w="1288415" h="709295">
                  <a:moveTo>
                    <a:pt x="1175042" y="59537"/>
                  </a:moveTo>
                  <a:lnTo>
                    <a:pt x="1176832" y="67589"/>
                  </a:lnTo>
                  <a:lnTo>
                    <a:pt x="1177670" y="75755"/>
                  </a:lnTo>
                  <a:lnTo>
                    <a:pt x="1177518" y="83934"/>
                  </a:lnTo>
                </a:path>
                <a:path w="1288415" h="709295">
                  <a:moveTo>
                    <a:pt x="874623" y="31102"/>
                  </a:moveTo>
                  <a:lnTo>
                    <a:pt x="879586" y="22813"/>
                  </a:lnTo>
                  <a:lnTo>
                    <a:pt x="885274" y="14846"/>
                  </a:lnTo>
                  <a:lnTo>
                    <a:pt x="891659" y="7231"/>
                  </a:lnTo>
                  <a:lnTo>
                    <a:pt x="898715" y="0"/>
                  </a:lnTo>
                </a:path>
                <a:path w="1288415" h="709295">
                  <a:moveTo>
                    <a:pt x="649224" y="45923"/>
                  </a:moveTo>
                  <a:lnTo>
                    <a:pt x="651365" y="39001"/>
                  </a:lnTo>
                  <a:lnTo>
                    <a:pt x="654030" y="32211"/>
                  </a:lnTo>
                  <a:lnTo>
                    <a:pt x="657210" y="25572"/>
                  </a:lnTo>
                  <a:lnTo>
                    <a:pt x="660895" y="19100"/>
                  </a:lnTo>
                </a:path>
                <a:path w="1288415" h="709295">
                  <a:moveTo>
                    <a:pt x="384708" y="55029"/>
                  </a:moveTo>
                  <a:lnTo>
                    <a:pt x="395985" y="60743"/>
                  </a:lnTo>
                  <a:lnTo>
                    <a:pt x="406804" y="66997"/>
                  </a:lnTo>
                  <a:lnTo>
                    <a:pt x="417135" y="73772"/>
                  </a:lnTo>
                  <a:lnTo>
                    <a:pt x="426948" y="81051"/>
                  </a:lnTo>
                </a:path>
                <a:path w="1288415" h="709295">
                  <a:moveTo>
                    <a:pt x="63919" y="259524"/>
                  </a:moveTo>
                  <a:lnTo>
                    <a:pt x="61571" y="252772"/>
                  </a:lnTo>
                  <a:lnTo>
                    <a:pt x="59558" y="245954"/>
                  </a:lnTo>
                  <a:lnTo>
                    <a:pt x="57880" y="239079"/>
                  </a:lnTo>
                  <a:lnTo>
                    <a:pt x="56540" y="232155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 descr=""/>
          <p:cNvSpPr txBox="1"/>
          <p:nvPr/>
        </p:nvSpPr>
        <p:spPr>
          <a:xfrm>
            <a:off x="8093585" y="3022663"/>
            <a:ext cx="597535" cy="656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4">
              <a:lnSpc>
                <a:spcPts val="1645"/>
              </a:lnSpc>
              <a:spcBef>
                <a:spcPts val="95"/>
              </a:spcBef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增加了</a:t>
            </a:r>
            <a:endParaRPr sz="1400">
              <a:latin typeface="SimSun"/>
              <a:cs typeface="SimSun"/>
            </a:endParaRPr>
          </a:p>
          <a:p>
            <a:pPr marL="12700">
              <a:lnSpc>
                <a:spcPts val="1645"/>
              </a:lnSpc>
            </a:pPr>
            <a:r>
              <a:rPr dirty="0" sz="1400" spc="-25">
                <a:solidFill>
                  <a:srgbClr val="C00000"/>
                </a:solidFill>
                <a:latin typeface="Arial MT"/>
                <a:cs typeface="Arial MT"/>
              </a:rPr>
              <a:t>NGC</a:t>
            </a:r>
            <a:r>
              <a:rPr dirty="0" sz="1400" spc="-50">
                <a:solidFill>
                  <a:srgbClr val="C00000"/>
                </a:solidFill>
                <a:latin typeface="SimSun"/>
                <a:cs typeface="SimSun"/>
              </a:rPr>
              <a:t>的</a:t>
            </a:r>
            <a:endParaRPr sz="1400">
              <a:latin typeface="SimSun"/>
              <a:cs typeface="SimSun"/>
            </a:endParaRPr>
          </a:p>
          <a:p>
            <a:pPr marL="32384">
              <a:lnSpc>
                <a:spcPct val="100000"/>
              </a:lnSpc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复杂度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122" name="object 122" descr=""/>
          <p:cNvGrpSpPr/>
          <p:nvPr/>
        </p:nvGrpSpPr>
        <p:grpSpPr>
          <a:xfrm>
            <a:off x="2224750" y="2707378"/>
            <a:ext cx="2865120" cy="1023619"/>
            <a:chOff x="2224750" y="2707378"/>
            <a:chExt cx="2865120" cy="1023619"/>
          </a:xfrm>
        </p:grpSpPr>
        <p:sp>
          <p:nvSpPr>
            <p:cNvPr id="123" name="object 123" descr=""/>
            <p:cNvSpPr/>
            <p:nvPr/>
          </p:nvSpPr>
          <p:spPr>
            <a:xfrm>
              <a:off x="2697787" y="2883769"/>
              <a:ext cx="2379345" cy="834390"/>
            </a:xfrm>
            <a:custGeom>
              <a:avLst/>
              <a:gdLst/>
              <a:ahLst/>
              <a:cxnLst/>
              <a:rect l="l" t="t" r="r" b="b"/>
              <a:pathLst>
                <a:path w="2379345" h="834389">
                  <a:moveTo>
                    <a:pt x="216528" y="274620"/>
                  </a:moveTo>
                  <a:lnTo>
                    <a:pt x="222087" y="211806"/>
                  </a:lnTo>
                  <a:lnTo>
                    <a:pt x="270836" y="155776"/>
                  </a:lnTo>
                  <a:lnTo>
                    <a:pt x="309162" y="131715"/>
                  </a:lnTo>
                  <a:lnTo>
                    <a:pt x="355592" y="111042"/>
                  </a:lnTo>
                  <a:lnTo>
                    <a:pt x="409227" y="94320"/>
                  </a:lnTo>
                  <a:lnTo>
                    <a:pt x="469171" y="82115"/>
                  </a:lnTo>
                  <a:lnTo>
                    <a:pt x="534524" y="74988"/>
                  </a:lnTo>
                  <a:lnTo>
                    <a:pt x="584006" y="73371"/>
                  </a:lnTo>
                  <a:lnTo>
                    <a:pt x="633176" y="74893"/>
                  </a:lnTo>
                  <a:lnTo>
                    <a:pt x="681389" y="79495"/>
                  </a:lnTo>
                  <a:lnTo>
                    <a:pt x="728002" y="87116"/>
                  </a:lnTo>
                  <a:lnTo>
                    <a:pt x="772369" y="97696"/>
                  </a:lnTo>
                  <a:lnTo>
                    <a:pt x="805369" y="74072"/>
                  </a:lnTo>
                  <a:lnTo>
                    <a:pt x="846297" y="54657"/>
                  </a:lnTo>
                  <a:lnTo>
                    <a:pt x="893560" y="39684"/>
                  </a:lnTo>
                  <a:lnTo>
                    <a:pt x="945561" y="29388"/>
                  </a:lnTo>
                  <a:lnTo>
                    <a:pt x="1000706" y="24000"/>
                  </a:lnTo>
                  <a:lnTo>
                    <a:pt x="1057400" y="23756"/>
                  </a:lnTo>
                  <a:lnTo>
                    <a:pt x="1114047" y="28889"/>
                  </a:lnTo>
                  <a:lnTo>
                    <a:pt x="1169054" y="39632"/>
                  </a:lnTo>
                  <a:lnTo>
                    <a:pt x="1221575" y="56689"/>
                  </a:lnTo>
                  <a:lnTo>
                    <a:pt x="1237227" y="63546"/>
                  </a:lnTo>
                  <a:lnTo>
                    <a:pt x="1306193" y="23598"/>
                  </a:lnTo>
                  <a:lnTo>
                    <a:pt x="1351455" y="10580"/>
                  </a:lnTo>
                  <a:lnTo>
                    <a:pt x="1401325" y="2611"/>
                  </a:lnTo>
                  <a:lnTo>
                    <a:pt x="1453870" y="0"/>
                  </a:lnTo>
                  <a:lnTo>
                    <a:pt x="1507155" y="3055"/>
                  </a:lnTo>
                  <a:lnTo>
                    <a:pt x="1559249" y="12085"/>
                  </a:lnTo>
                  <a:lnTo>
                    <a:pt x="1605092" y="26343"/>
                  </a:lnTo>
                  <a:lnTo>
                    <a:pt x="1642992" y="45182"/>
                  </a:lnTo>
                  <a:lnTo>
                    <a:pt x="1681950" y="27287"/>
                  </a:lnTo>
                  <a:lnTo>
                    <a:pt x="1726254" y="13859"/>
                  </a:lnTo>
                  <a:lnTo>
                    <a:pt x="1774388" y="4956"/>
                  </a:lnTo>
                  <a:lnTo>
                    <a:pt x="1824841" y="636"/>
                  </a:lnTo>
                  <a:lnTo>
                    <a:pt x="1876096" y="961"/>
                  </a:lnTo>
                  <a:lnTo>
                    <a:pt x="1926642" y="5987"/>
                  </a:lnTo>
                  <a:lnTo>
                    <a:pt x="1974964" y="15776"/>
                  </a:lnTo>
                  <a:lnTo>
                    <a:pt x="2019547" y="30386"/>
                  </a:lnTo>
                  <a:lnTo>
                    <a:pt x="2078259" y="63909"/>
                  </a:lnTo>
                  <a:lnTo>
                    <a:pt x="2109730" y="104910"/>
                  </a:lnTo>
                  <a:lnTo>
                    <a:pt x="2172595" y="116943"/>
                  </a:lnTo>
                  <a:lnTo>
                    <a:pt x="2226374" y="134894"/>
                  </a:lnTo>
                  <a:lnTo>
                    <a:pt x="2269830" y="157728"/>
                  </a:lnTo>
                  <a:lnTo>
                    <a:pt x="2301728" y="184411"/>
                  </a:lnTo>
                  <a:lnTo>
                    <a:pt x="2325905" y="245186"/>
                  </a:lnTo>
                  <a:lnTo>
                    <a:pt x="2315711" y="277211"/>
                  </a:lnTo>
                  <a:lnTo>
                    <a:pt x="2312130" y="283497"/>
                  </a:lnTo>
                  <a:lnTo>
                    <a:pt x="2307634" y="289657"/>
                  </a:lnTo>
                  <a:lnTo>
                    <a:pt x="2302275" y="295651"/>
                  </a:lnTo>
                  <a:lnTo>
                    <a:pt x="2338315" y="322760"/>
                  </a:lnTo>
                  <a:lnTo>
                    <a:pt x="2362989" y="351667"/>
                  </a:lnTo>
                  <a:lnTo>
                    <a:pt x="2376492" y="381667"/>
                  </a:lnTo>
                  <a:lnTo>
                    <a:pt x="2379015" y="412055"/>
                  </a:lnTo>
                  <a:lnTo>
                    <a:pt x="2370754" y="442125"/>
                  </a:lnTo>
                  <a:lnTo>
                    <a:pt x="2322647" y="498497"/>
                  </a:lnTo>
                  <a:lnTo>
                    <a:pt x="2283190" y="523388"/>
                  </a:lnTo>
                  <a:lnTo>
                    <a:pt x="2233720" y="545142"/>
                  </a:lnTo>
                  <a:lnTo>
                    <a:pt x="2193977" y="557866"/>
                  </a:lnTo>
                  <a:lnTo>
                    <a:pt x="2151327" y="568018"/>
                  </a:lnTo>
                  <a:lnTo>
                    <a:pt x="2106313" y="575489"/>
                  </a:lnTo>
                  <a:lnTo>
                    <a:pt x="2059476" y="580169"/>
                  </a:lnTo>
                  <a:lnTo>
                    <a:pt x="2033476" y="639165"/>
                  </a:lnTo>
                  <a:lnTo>
                    <a:pt x="2003704" y="664839"/>
                  </a:lnTo>
                  <a:lnTo>
                    <a:pt x="1964471" y="687157"/>
                  </a:lnTo>
                  <a:lnTo>
                    <a:pt x="1917066" y="705514"/>
                  </a:lnTo>
                  <a:lnTo>
                    <a:pt x="1862780" y="719304"/>
                  </a:lnTo>
                  <a:lnTo>
                    <a:pt x="1802903" y="727923"/>
                  </a:lnTo>
                  <a:lnTo>
                    <a:pt x="1738725" y="730766"/>
                  </a:lnTo>
                  <a:lnTo>
                    <a:pt x="1695023" y="729156"/>
                  </a:lnTo>
                  <a:lnTo>
                    <a:pt x="1652400" y="724724"/>
                  </a:lnTo>
                  <a:lnTo>
                    <a:pt x="1611448" y="717553"/>
                  </a:lnTo>
                  <a:lnTo>
                    <a:pt x="1572761" y="707728"/>
                  </a:lnTo>
                  <a:lnTo>
                    <a:pt x="1550652" y="734662"/>
                  </a:lnTo>
                  <a:lnTo>
                    <a:pt x="1520623" y="758900"/>
                  </a:lnTo>
                  <a:lnTo>
                    <a:pt x="1483626" y="780196"/>
                  </a:lnTo>
                  <a:lnTo>
                    <a:pt x="1440616" y="798306"/>
                  </a:lnTo>
                  <a:lnTo>
                    <a:pt x="1392545" y="812987"/>
                  </a:lnTo>
                  <a:lnTo>
                    <a:pt x="1340368" y="823994"/>
                  </a:lnTo>
                  <a:lnTo>
                    <a:pt x="1285039" y="831082"/>
                  </a:lnTo>
                  <a:lnTo>
                    <a:pt x="1227510" y="834009"/>
                  </a:lnTo>
                  <a:lnTo>
                    <a:pt x="1168735" y="832528"/>
                  </a:lnTo>
                  <a:lnTo>
                    <a:pt x="1109669" y="826397"/>
                  </a:lnTo>
                  <a:lnTo>
                    <a:pt x="1050251" y="815027"/>
                  </a:lnTo>
                  <a:lnTo>
                    <a:pt x="996162" y="799073"/>
                  </a:lnTo>
                  <a:lnTo>
                    <a:pt x="948541" y="778937"/>
                  </a:lnTo>
                  <a:lnTo>
                    <a:pt x="908526" y="755023"/>
                  </a:lnTo>
                  <a:lnTo>
                    <a:pt x="857143" y="767656"/>
                  </a:lnTo>
                  <a:lnTo>
                    <a:pt x="803959" y="776663"/>
                  </a:lnTo>
                  <a:lnTo>
                    <a:pt x="749668" y="782125"/>
                  </a:lnTo>
                  <a:lnTo>
                    <a:pt x="694965" y="784126"/>
                  </a:lnTo>
                  <a:lnTo>
                    <a:pt x="640543" y="782748"/>
                  </a:lnTo>
                  <a:lnTo>
                    <a:pt x="587097" y="778075"/>
                  </a:lnTo>
                  <a:lnTo>
                    <a:pt x="535321" y="770189"/>
                  </a:lnTo>
                  <a:lnTo>
                    <a:pt x="485910" y="759172"/>
                  </a:lnTo>
                  <a:lnTo>
                    <a:pt x="439558" y="745109"/>
                  </a:lnTo>
                  <a:lnTo>
                    <a:pt x="396960" y="728081"/>
                  </a:lnTo>
                  <a:lnTo>
                    <a:pt x="358809" y="708172"/>
                  </a:lnTo>
                  <a:lnTo>
                    <a:pt x="325799" y="685465"/>
                  </a:lnTo>
                  <a:lnTo>
                    <a:pt x="321316" y="681807"/>
                  </a:lnTo>
                  <a:lnTo>
                    <a:pt x="256993" y="681295"/>
                  </a:lnTo>
                  <a:lnTo>
                    <a:pt x="197274" y="673042"/>
                  </a:lnTo>
                  <a:lnTo>
                    <a:pt x="144696" y="658001"/>
                  </a:lnTo>
                  <a:lnTo>
                    <a:pt x="101793" y="637127"/>
                  </a:lnTo>
                  <a:lnTo>
                    <a:pt x="71103" y="611373"/>
                  </a:lnTo>
                  <a:lnTo>
                    <a:pt x="54766" y="556784"/>
                  </a:lnTo>
                  <a:lnTo>
                    <a:pt x="65536" y="532698"/>
                  </a:lnTo>
                  <a:lnTo>
                    <a:pt x="86897" y="510272"/>
                  </a:lnTo>
                  <a:lnTo>
                    <a:pt x="118268" y="490342"/>
                  </a:lnTo>
                  <a:lnTo>
                    <a:pt x="67755" y="471390"/>
                  </a:lnTo>
                  <a:lnTo>
                    <a:pt x="30662" y="447559"/>
                  </a:lnTo>
                  <a:lnTo>
                    <a:pt x="7805" y="420346"/>
                  </a:lnTo>
                  <a:lnTo>
                    <a:pt x="0" y="391244"/>
                  </a:lnTo>
                  <a:lnTo>
                    <a:pt x="8059" y="361750"/>
                  </a:lnTo>
                  <a:lnTo>
                    <a:pt x="66775" y="311810"/>
                  </a:lnTo>
                  <a:lnTo>
                    <a:pt x="109686" y="294868"/>
                  </a:lnTo>
                  <a:lnTo>
                    <a:pt x="159585" y="283135"/>
                  </a:lnTo>
                  <a:lnTo>
                    <a:pt x="214522" y="277211"/>
                  </a:lnTo>
                  <a:lnTo>
                    <a:pt x="216528" y="27462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24750" y="2707378"/>
              <a:ext cx="71716" cy="71704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45363" y="2767304"/>
              <a:ext cx="118033" cy="118033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09812" y="2842187"/>
              <a:ext cx="164350" cy="164337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2818603" y="2926246"/>
              <a:ext cx="2180590" cy="709295"/>
            </a:xfrm>
            <a:custGeom>
              <a:avLst/>
              <a:gdLst/>
              <a:ahLst/>
              <a:cxnLst/>
              <a:rect l="l" t="t" r="r" b="b"/>
              <a:pathLst>
                <a:path w="2180590" h="709295">
                  <a:moveTo>
                    <a:pt x="139331" y="459994"/>
                  </a:moveTo>
                  <a:lnTo>
                    <a:pt x="102964" y="460021"/>
                  </a:lnTo>
                  <a:lnTo>
                    <a:pt x="67213" y="457423"/>
                  </a:lnTo>
                  <a:lnTo>
                    <a:pt x="32688" y="452266"/>
                  </a:lnTo>
                  <a:lnTo>
                    <a:pt x="0" y="444614"/>
                  </a:lnTo>
                </a:path>
                <a:path w="2180590" h="709295">
                  <a:moveTo>
                    <a:pt x="262267" y="628307"/>
                  </a:moveTo>
                  <a:lnTo>
                    <a:pt x="247438" y="630863"/>
                  </a:lnTo>
                  <a:lnTo>
                    <a:pt x="232302" y="632947"/>
                  </a:lnTo>
                  <a:lnTo>
                    <a:pt x="216908" y="634552"/>
                  </a:lnTo>
                  <a:lnTo>
                    <a:pt x="201307" y="635673"/>
                  </a:lnTo>
                </a:path>
                <a:path w="2180590" h="709295">
                  <a:moveTo>
                    <a:pt x="787577" y="709193"/>
                  </a:moveTo>
                  <a:lnTo>
                    <a:pt x="776999" y="701157"/>
                  </a:lnTo>
                  <a:lnTo>
                    <a:pt x="767337" y="692870"/>
                  </a:lnTo>
                  <a:lnTo>
                    <a:pt x="758613" y="684351"/>
                  </a:lnTo>
                  <a:lnTo>
                    <a:pt x="750849" y="675614"/>
                  </a:lnTo>
                </a:path>
                <a:path w="2180590" h="709295">
                  <a:moveTo>
                    <a:pt x="1466850" y="625449"/>
                  </a:moveTo>
                  <a:lnTo>
                    <a:pt x="1464715" y="634792"/>
                  </a:lnTo>
                  <a:lnTo>
                    <a:pt x="1461554" y="644063"/>
                  </a:lnTo>
                  <a:lnTo>
                    <a:pt x="1457373" y="653240"/>
                  </a:lnTo>
                  <a:lnTo>
                    <a:pt x="1452181" y="662305"/>
                  </a:lnTo>
                </a:path>
                <a:path w="2180590" h="709295">
                  <a:moveTo>
                    <a:pt x="1758492" y="397802"/>
                  </a:moveTo>
                  <a:lnTo>
                    <a:pt x="1819522" y="416341"/>
                  </a:lnTo>
                  <a:lnTo>
                    <a:pt x="1869357" y="440485"/>
                  </a:lnTo>
                  <a:lnTo>
                    <a:pt x="1906561" y="469128"/>
                  </a:lnTo>
                  <a:lnTo>
                    <a:pt x="1929698" y="501167"/>
                  </a:lnTo>
                  <a:lnTo>
                    <a:pt x="1937334" y="535495"/>
                  </a:lnTo>
                </a:path>
                <a:path w="2180590" h="709295">
                  <a:moveTo>
                    <a:pt x="2180336" y="251129"/>
                  </a:moveTo>
                  <a:lnTo>
                    <a:pt x="2165214" y="265631"/>
                  </a:lnTo>
                  <a:lnTo>
                    <a:pt x="2146768" y="279158"/>
                  </a:lnTo>
                  <a:lnTo>
                    <a:pt x="2125195" y="291581"/>
                  </a:lnTo>
                  <a:lnTo>
                    <a:pt x="2100694" y="302767"/>
                  </a:lnTo>
                </a:path>
                <a:path w="2180590" h="709295">
                  <a:moveTo>
                    <a:pt x="1989239" y="59537"/>
                  </a:moveTo>
                  <a:lnTo>
                    <a:pt x="1992287" y="67589"/>
                  </a:lnTo>
                  <a:lnTo>
                    <a:pt x="1993696" y="75755"/>
                  </a:lnTo>
                  <a:lnTo>
                    <a:pt x="1993442" y="83921"/>
                  </a:lnTo>
                </a:path>
                <a:path w="2180590" h="709295">
                  <a:moveTo>
                    <a:pt x="1480654" y="31102"/>
                  </a:moveTo>
                  <a:lnTo>
                    <a:pt x="1489061" y="22813"/>
                  </a:lnTo>
                  <a:lnTo>
                    <a:pt x="1498688" y="14846"/>
                  </a:lnTo>
                  <a:lnTo>
                    <a:pt x="1509497" y="7231"/>
                  </a:lnTo>
                  <a:lnTo>
                    <a:pt x="1521447" y="0"/>
                  </a:lnTo>
                </a:path>
                <a:path w="2180590" h="709295">
                  <a:moveTo>
                    <a:pt x="1099083" y="45923"/>
                  </a:moveTo>
                  <a:lnTo>
                    <a:pt x="1102704" y="39001"/>
                  </a:lnTo>
                  <a:lnTo>
                    <a:pt x="1107214" y="32211"/>
                  </a:lnTo>
                  <a:lnTo>
                    <a:pt x="1112595" y="25572"/>
                  </a:lnTo>
                  <a:lnTo>
                    <a:pt x="1118831" y="19100"/>
                  </a:lnTo>
                </a:path>
                <a:path w="2180590" h="709295">
                  <a:moveTo>
                    <a:pt x="651268" y="55029"/>
                  </a:moveTo>
                  <a:lnTo>
                    <a:pt x="670363" y="60743"/>
                  </a:lnTo>
                  <a:lnTo>
                    <a:pt x="688676" y="66997"/>
                  </a:lnTo>
                  <a:lnTo>
                    <a:pt x="706161" y="73772"/>
                  </a:lnTo>
                  <a:lnTo>
                    <a:pt x="722769" y="81051"/>
                  </a:lnTo>
                </a:path>
                <a:path w="2180590" h="709295">
                  <a:moveTo>
                    <a:pt x="108204" y="259524"/>
                  </a:moveTo>
                  <a:lnTo>
                    <a:pt x="104229" y="252772"/>
                  </a:lnTo>
                  <a:lnTo>
                    <a:pt x="100823" y="245952"/>
                  </a:lnTo>
                  <a:lnTo>
                    <a:pt x="97986" y="239073"/>
                  </a:lnTo>
                  <a:lnTo>
                    <a:pt x="95719" y="232143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 descr=""/>
          <p:cNvSpPr txBox="1"/>
          <p:nvPr/>
        </p:nvSpPr>
        <p:spPr>
          <a:xfrm>
            <a:off x="3050165" y="2942809"/>
            <a:ext cx="150558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085" marR="5080" indent="-3302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可提供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5G</a:t>
            </a: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新业务，</a:t>
            </a: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并具备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5G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网络性</a:t>
            </a:r>
            <a:endParaRPr sz="1400">
              <a:latin typeface="SimSun"/>
              <a:cs typeface="SimSun"/>
            </a:endParaRPr>
          </a:p>
          <a:p>
            <a:pPr marL="607695">
              <a:lnSpc>
                <a:spcPct val="100000"/>
              </a:lnSpc>
            </a:pPr>
            <a:r>
              <a:rPr dirty="0" sz="1400" spc="-50">
                <a:solidFill>
                  <a:srgbClr val="C00000"/>
                </a:solidFill>
                <a:latin typeface="SimSun"/>
                <a:cs typeface="SimSun"/>
              </a:rPr>
              <a:t>能</a:t>
            </a:r>
            <a:endParaRPr sz="1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284" y="144652"/>
            <a:ext cx="51962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SA&amp;NSA</a:t>
            </a:r>
            <a:r>
              <a:rPr dirty="0" spc="-5" b="0">
                <a:latin typeface="Times New Roman"/>
                <a:cs typeface="Times New Roman"/>
              </a:rPr>
              <a:t> – </a:t>
            </a:r>
            <a:r>
              <a:rPr dirty="0" spc="-20" b="0">
                <a:latin typeface="Times New Roman"/>
                <a:cs typeface="Times New Roman"/>
              </a:rPr>
              <a:t>OPTION5</a:t>
            </a:r>
            <a:r>
              <a:rPr dirty="0" spc="-35" b="0">
                <a:latin typeface="SimSun"/>
                <a:cs typeface="SimSun"/>
              </a:rPr>
              <a:t>、</a:t>
            </a:r>
            <a:r>
              <a:rPr dirty="0" spc="-25" b="0">
                <a:latin typeface="Times New Roman"/>
                <a:cs typeface="Times New Roman"/>
              </a:rPr>
              <a:t>6</a:t>
            </a:r>
            <a:r>
              <a:rPr dirty="0" spc="-45"/>
              <a:t>系列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79663" y="818954"/>
            <a:ext cx="12007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5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9740" y="3942537"/>
            <a:ext cx="3637915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NGC</a:t>
            </a:r>
            <a:r>
              <a:rPr dirty="0" sz="1400" spc="-45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+eLTE</a:t>
            </a:r>
            <a:endParaRPr sz="1400">
              <a:latin typeface="Microsoft YaHei"/>
              <a:cs typeface="Microsoft YaHei"/>
            </a:endParaRPr>
          </a:p>
          <a:p>
            <a:pPr marL="182245" marR="5080" indent="-170180">
              <a:lnSpc>
                <a:spcPct val="130000"/>
              </a:lnSpc>
              <a:buFont typeface="Arial MT"/>
              <a:buChar char="•"/>
              <a:tabLst>
                <a:tab pos="183515" algn="l"/>
              </a:tabLst>
            </a:pPr>
            <a:r>
              <a:rPr dirty="0" sz="1400" spc="-20">
                <a:latin typeface="Microsoft YaHei"/>
                <a:cs typeface="Microsoft YaHei"/>
              </a:rPr>
              <a:t>NGC支持</a:t>
            </a:r>
            <a:r>
              <a:rPr dirty="0" sz="1400" spc="-35">
                <a:latin typeface="Microsoft YaHei"/>
                <a:cs typeface="Microsoft YaHei"/>
              </a:rPr>
              <a:t>LTE，LTE</a:t>
            </a:r>
            <a:r>
              <a:rPr dirty="0" sz="1400" spc="-25">
                <a:latin typeface="Microsoft YaHei"/>
                <a:cs typeface="Microsoft YaHei"/>
              </a:rPr>
              <a:t>具备独立的控制面和用户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50">
                <a:latin typeface="Microsoft YaHei"/>
                <a:cs typeface="Microsoft YaHei"/>
              </a:rPr>
              <a:t>面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99992" y="951502"/>
            <a:ext cx="12007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6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68252" y="4078597"/>
            <a:ext cx="2564130" cy="5803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20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20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marL="182880" indent="-17018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 spc="-20">
                <a:latin typeface="Microsoft YaHei"/>
                <a:cs typeface="Microsoft YaHei"/>
              </a:rPr>
              <a:t>5G</a:t>
            </a:r>
            <a:r>
              <a:rPr dirty="0" sz="1400" spc="-25">
                <a:latin typeface="Microsoft YaHei"/>
                <a:cs typeface="Microsoft YaHei"/>
              </a:rPr>
              <a:t>具备独立的控制面和用户面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424426" y="2561727"/>
            <a:ext cx="1289050" cy="817880"/>
            <a:chOff x="3424426" y="2561727"/>
            <a:chExt cx="1289050" cy="817880"/>
          </a:xfrm>
        </p:grpSpPr>
        <p:sp>
          <p:nvSpPr>
            <p:cNvPr id="8" name="object 8" descr=""/>
            <p:cNvSpPr/>
            <p:nvPr/>
          </p:nvSpPr>
          <p:spPr>
            <a:xfrm>
              <a:off x="3549347" y="2574427"/>
              <a:ext cx="1151890" cy="792480"/>
            </a:xfrm>
            <a:custGeom>
              <a:avLst/>
              <a:gdLst/>
              <a:ahLst/>
              <a:cxnLst/>
              <a:rect l="l" t="t" r="r" b="b"/>
              <a:pathLst>
                <a:path w="1151889" h="792479">
                  <a:moveTo>
                    <a:pt x="104016" y="260708"/>
                  </a:moveTo>
                  <a:lnTo>
                    <a:pt x="103936" y="215510"/>
                  </a:lnTo>
                  <a:lnTo>
                    <a:pt x="116127" y="173337"/>
                  </a:lnTo>
                  <a:lnTo>
                    <a:pt x="139118" y="135996"/>
                  </a:lnTo>
                  <a:lnTo>
                    <a:pt x="171440" y="105293"/>
                  </a:lnTo>
                  <a:lnTo>
                    <a:pt x="211622" y="83037"/>
                  </a:lnTo>
                  <a:lnTo>
                    <a:pt x="258194" y="71034"/>
                  </a:lnTo>
                  <a:lnTo>
                    <a:pt x="288172" y="69581"/>
                  </a:lnTo>
                  <a:lnTo>
                    <a:pt x="317790" y="72769"/>
                  </a:lnTo>
                  <a:lnTo>
                    <a:pt x="346439" y="80483"/>
                  </a:lnTo>
                  <a:lnTo>
                    <a:pt x="373510" y="92611"/>
                  </a:lnTo>
                  <a:lnTo>
                    <a:pt x="401005" y="58605"/>
                  </a:lnTo>
                  <a:lnTo>
                    <a:pt x="437154" y="35176"/>
                  </a:lnTo>
                  <a:lnTo>
                    <a:pt x="478789" y="23234"/>
                  </a:lnTo>
                  <a:lnTo>
                    <a:pt x="522744" y="23686"/>
                  </a:lnTo>
                  <a:lnTo>
                    <a:pt x="565851" y="37442"/>
                  </a:lnTo>
                  <a:lnTo>
                    <a:pt x="598897" y="60162"/>
                  </a:lnTo>
                  <a:lnTo>
                    <a:pt x="627311" y="26017"/>
                  </a:lnTo>
                  <a:lnTo>
                    <a:pt x="666153" y="5440"/>
                  </a:lnTo>
                  <a:lnTo>
                    <a:pt x="710400" y="0"/>
                  </a:lnTo>
                  <a:lnTo>
                    <a:pt x="755030" y="11267"/>
                  </a:lnTo>
                  <a:lnTo>
                    <a:pt x="766577" y="17458"/>
                  </a:lnTo>
                  <a:lnTo>
                    <a:pt x="777260" y="24814"/>
                  </a:lnTo>
                  <a:lnTo>
                    <a:pt x="786979" y="33258"/>
                  </a:lnTo>
                  <a:lnTo>
                    <a:pt x="795632" y="42713"/>
                  </a:lnTo>
                  <a:lnTo>
                    <a:pt x="836004" y="12954"/>
                  </a:lnTo>
                  <a:lnTo>
                    <a:pt x="883805" y="390"/>
                  </a:lnTo>
                  <a:lnTo>
                    <a:pt x="933164" y="5476"/>
                  </a:lnTo>
                  <a:lnTo>
                    <a:pt x="978207" y="28666"/>
                  </a:lnTo>
                  <a:lnTo>
                    <a:pt x="1006671" y="60515"/>
                  </a:lnTo>
                  <a:lnTo>
                    <a:pt x="1021934" y="99469"/>
                  </a:lnTo>
                  <a:lnTo>
                    <a:pt x="1063405" y="117099"/>
                  </a:lnTo>
                  <a:lnTo>
                    <a:pt x="1095771" y="144980"/>
                  </a:lnTo>
                  <a:lnTo>
                    <a:pt x="1117387" y="180417"/>
                  </a:lnTo>
                  <a:lnTo>
                    <a:pt x="1126609" y="220713"/>
                  </a:lnTo>
                  <a:lnTo>
                    <a:pt x="1121794" y="263172"/>
                  </a:lnTo>
                  <a:lnTo>
                    <a:pt x="1120066" y="269141"/>
                  </a:lnTo>
                  <a:lnTo>
                    <a:pt x="1117882" y="274996"/>
                  </a:lnTo>
                  <a:lnTo>
                    <a:pt x="1115291" y="280685"/>
                  </a:lnTo>
                  <a:lnTo>
                    <a:pt x="1139430" y="320008"/>
                  </a:lnTo>
                  <a:lnTo>
                    <a:pt x="1151274" y="362416"/>
                  </a:lnTo>
                  <a:lnTo>
                    <a:pt x="1151142" y="405652"/>
                  </a:lnTo>
                  <a:lnTo>
                    <a:pt x="1139350" y="447455"/>
                  </a:lnTo>
                  <a:lnTo>
                    <a:pt x="1116215" y="485568"/>
                  </a:lnTo>
                  <a:lnTo>
                    <a:pt x="1082055" y="517731"/>
                  </a:lnTo>
                  <a:lnTo>
                    <a:pt x="1042104" y="539470"/>
                  </a:lnTo>
                  <a:lnTo>
                    <a:pt x="997562" y="551017"/>
                  </a:lnTo>
                  <a:lnTo>
                    <a:pt x="989305" y="596546"/>
                  </a:lnTo>
                  <a:lnTo>
                    <a:pt x="967065" y="635974"/>
                  </a:lnTo>
                  <a:lnTo>
                    <a:pt x="933402" y="666947"/>
                  </a:lnTo>
                  <a:lnTo>
                    <a:pt x="890877" y="687106"/>
                  </a:lnTo>
                  <a:lnTo>
                    <a:pt x="842051" y="694096"/>
                  </a:lnTo>
                  <a:lnTo>
                    <a:pt x="820861" y="692568"/>
                  </a:lnTo>
                  <a:lnTo>
                    <a:pt x="800193" y="688360"/>
                  </a:lnTo>
                  <a:lnTo>
                    <a:pt x="780338" y="681549"/>
                  </a:lnTo>
                  <a:lnTo>
                    <a:pt x="761584" y="672213"/>
                  </a:lnTo>
                  <a:lnTo>
                    <a:pt x="741556" y="713452"/>
                  </a:lnTo>
                  <a:lnTo>
                    <a:pt x="711716" y="747145"/>
                  </a:lnTo>
                  <a:lnTo>
                    <a:pt x="674204" y="772218"/>
                  </a:lnTo>
                  <a:lnTo>
                    <a:pt x="631162" y="787595"/>
                  </a:lnTo>
                  <a:lnTo>
                    <a:pt x="584730" y="792202"/>
                  </a:lnTo>
                  <a:lnTo>
                    <a:pt x="537048" y="784964"/>
                  </a:lnTo>
                  <a:lnTo>
                    <a:pt x="508240" y="774155"/>
                  </a:lnTo>
                  <a:lnTo>
                    <a:pt x="482020" y="758994"/>
                  </a:lnTo>
                  <a:lnTo>
                    <a:pt x="458936" y="739864"/>
                  </a:lnTo>
                  <a:lnTo>
                    <a:pt x="439537" y="717146"/>
                  </a:lnTo>
                  <a:lnTo>
                    <a:pt x="396274" y="735607"/>
                  </a:lnTo>
                  <a:lnTo>
                    <a:pt x="351151" y="744107"/>
                  </a:lnTo>
                  <a:lnTo>
                    <a:pt x="305865" y="743042"/>
                  </a:lnTo>
                  <a:lnTo>
                    <a:pt x="262111" y="732810"/>
                  </a:lnTo>
                  <a:lnTo>
                    <a:pt x="221585" y="713806"/>
                  </a:lnTo>
                  <a:lnTo>
                    <a:pt x="185983" y="686426"/>
                  </a:lnTo>
                  <a:lnTo>
                    <a:pt x="157000" y="651068"/>
                  </a:lnTo>
                  <a:lnTo>
                    <a:pt x="154816" y="647588"/>
                  </a:lnTo>
                  <a:lnTo>
                    <a:pt x="108799" y="644041"/>
                  </a:lnTo>
                  <a:lnTo>
                    <a:pt x="69188" y="624963"/>
                  </a:lnTo>
                  <a:lnTo>
                    <a:pt x="40132" y="593417"/>
                  </a:lnTo>
                  <a:lnTo>
                    <a:pt x="25784" y="552465"/>
                  </a:lnTo>
                  <a:lnTo>
                    <a:pt x="25587" y="528799"/>
                  </a:lnTo>
                  <a:lnTo>
                    <a:pt x="30808" y="505915"/>
                  </a:lnTo>
                  <a:lnTo>
                    <a:pt x="41166" y="484605"/>
                  </a:lnTo>
                  <a:lnTo>
                    <a:pt x="56378" y="465661"/>
                  </a:lnTo>
                  <a:lnTo>
                    <a:pt x="22053" y="436831"/>
                  </a:lnTo>
                  <a:lnTo>
                    <a:pt x="2816" y="399165"/>
                  </a:lnTo>
                  <a:lnTo>
                    <a:pt x="0" y="357463"/>
                  </a:lnTo>
                  <a:lnTo>
                    <a:pt x="14938" y="316525"/>
                  </a:lnTo>
                  <a:lnTo>
                    <a:pt x="31411" y="296046"/>
                  </a:lnTo>
                  <a:lnTo>
                    <a:pt x="52217" y="279947"/>
                  </a:lnTo>
                  <a:lnTo>
                    <a:pt x="76412" y="268799"/>
                  </a:lnTo>
                  <a:lnTo>
                    <a:pt x="103050" y="263172"/>
                  </a:lnTo>
                  <a:lnTo>
                    <a:pt x="104016" y="26070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4426" y="2563402"/>
              <a:ext cx="157416" cy="1574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606961" y="2614576"/>
              <a:ext cx="1057275" cy="674370"/>
            </a:xfrm>
            <a:custGeom>
              <a:avLst/>
              <a:gdLst/>
              <a:ahLst/>
              <a:cxnLst/>
              <a:rect l="l" t="t" r="r" b="b"/>
              <a:pathLst>
                <a:path w="1057275" h="674370">
                  <a:moveTo>
                    <a:pt x="67551" y="437045"/>
                  </a:moveTo>
                  <a:lnTo>
                    <a:pt x="49920" y="437070"/>
                  </a:lnTo>
                  <a:lnTo>
                    <a:pt x="32585" y="434598"/>
                  </a:lnTo>
                  <a:lnTo>
                    <a:pt x="15844" y="429695"/>
                  </a:lnTo>
                  <a:lnTo>
                    <a:pt x="0" y="422427"/>
                  </a:lnTo>
                </a:path>
                <a:path w="1057275" h="674370">
                  <a:moveTo>
                    <a:pt x="127152" y="596963"/>
                  </a:moveTo>
                  <a:lnTo>
                    <a:pt x="119963" y="599389"/>
                  </a:lnTo>
                  <a:lnTo>
                    <a:pt x="112623" y="601367"/>
                  </a:lnTo>
                  <a:lnTo>
                    <a:pt x="105160" y="602892"/>
                  </a:lnTo>
                  <a:lnTo>
                    <a:pt x="97599" y="603961"/>
                  </a:lnTo>
                </a:path>
                <a:path w="1057275" h="674370">
                  <a:moveTo>
                    <a:pt x="381850" y="673811"/>
                  </a:moveTo>
                  <a:lnTo>
                    <a:pt x="376725" y="666179"/>
                  </a:lnTo>
                  <a:lnTo>
                    <a:pt x="372043" y="658307"/>
                  </a:lnTo>
                  <a:lnTo>
                    <a:pt x="367813" y="650211"/>
                  </a:lnTo>
                  <a:lnTo>
                    <a:pt x="364045" y="641908"/>
                  </a:lnTo>
                </a:path>
                <a:path w="1057275" h="674370">
                  <a:moveTo>
                    <a:pt x="711200" y="594258"/>
                  </a:moveTo>
                  <a:lnTo>
                    <a:pt x="710160" y="603127"/>
                  </a:lnTo>
                  <a:lnTo>
                    <a:pt x="708625" y="611930"/>
                  </a:lnTo>
                  <a:lnTo>
                    <a:pt x="706599" y="620647"/>
                  </a:lnTo>
                  <a:lnTo>
                    <a:pt x="704088" y="629259"/>
                  </a:lnTo>
                </a:path>
                <a:path w="1057275" h="674370">
                  <a:moveTo>
                    <a:pt x="852601" y="377951"/>
                  </a:moveTo>
                  <a:lnTo>
                    <a:pt x="888768" y="400848"/>
                  </a:lnTo>
                  <a:lnTo>
                    <a:pt x="916181" y="431653"/>
                  </a:lnTo>
                  <a:lnTo>
                    <a:pt x="933483" y="468316"/>
                  </a:lnTo>
                  <a:lnTo>
                    <a:pt x="939317" y="508787"/>
                  </a:lnTo>
                </a:path>
                <a:path w="1057275" h="674370">
                  <a:moveTo>
                    <a:pt x="1057122" y="238607"/>
                  </a:moveTo>
                  <a:lnTo>
                    <a:pt x="1049795" y="252379"/>
                  </a:lnTo>
                  <a:lnTo>
                    <a:pt x="1040852" y="265226"/>
                  </a:lnTo>
                  <a:lnTo>
                    <a:pt x="1030392" y="277026"/>
                  </a:lnTo>
                  <a:lnTo>
                    <a:pt x="1018514" y="287654"/>
                  </a:lnTo>
                </a:path>
                <a:path w="1057275" h="674370">
                  <a:moveTo>
                    <a:pt x="964476" y="56565"/>
                  </a:moveTo>
                  <a:lnTo>
                    <a:pt x="965949" y="64211"/>
                  </a:lnTo>
                  <a:lnTo>
                    <a:pt x="966635" y="71970"/>
                  </a:lnTo>
                  <a:lnTo>
                    <a:pt x="966520" y="79743"/>
                  </a:lnTo>
                </a:path>
                <a:path w="1057275" h="674370">
                  <a:moveTo>
                    <a:pt x="717892" y="29540"/>
                  </a:moveTo>
                  <a:lnTo>
                    <a:pt x="721968" y="21665"/>
                  </a:lnTo>
                  <a:lnTo>
                    <a:pt x="726636" y="14098"/>
                  </a:lnTo>
                  <a:lnTo>
                    <a:pt x="731876" y="6867"/>
                  </a:lnTo>
                  <a:lnTo>
                    <a:pt x="737666" y="0"/>
                  </a:lnTo>
                </a:path>
                <a:path w="1057275" h="674370">
                  <a:moveTo>
                    <a:pt x="532879" y="43624"/>
                  </a:moveTo>
                  <a:lnTo>
                    <a:pt x="534638" y="37050"/>
                  </a:lnTo>
                  <a:lnTo>
                    <a:pt x="536825" y="30599"/>
                  </a:lnTo>
                  <a:lnTo>
                    <a:pt x="539437" y="24288"/>
                  </a:lnTo>
                  <a:lnTo>
                    <a:pt x="542467" y="18135"/>
                  </a:lnTo>
                </a:path>
                <a:path w="1057275" h="674370">
                  <a:moveTo>
                    <a:pt x="315760" y="52273"/>
                  </a:moveTo>
                  <a:lnTo>
                    <a:pt x="325018" y="57706"/>
                  </a:lnTo>
                  <a:lnTo>
                    <a:pt x="333900" y="63650"/>
                  </a:lnTo>
                  <a:lnTo>
                    <a:pt x="342379" y="70087"/>
                  </a:lnTo>
                  <a:lnTo>
                    <a:pt x="350431" y="77000"/>
                  </a:lnTo>
                </a:path>
                <a:path w="1057275" h="674370">
                  <a:moveTo>
                    <a:pt x="52451" y="246583"/>
                  </a:moveTo>
                  <a:lnTo>
                    <a:pt x="50529" y="240166"/>
                  </a:lnTo>
                  <a:lnTo>
                    <a:pt x="48880" y="233686"/>
                  </a:lnTo>
                  <a:lnTo>
                    <a:pt x="47505" y="227148"/>
                  </a:lnTo>
                  <a:lnTo>
                    <a:pt x="46405" y="220560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1691" y="2415517"/>
            <a:ext cx="69405" cy="6939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3563" y="2479253"/>
            <a:ext cx="113411" cy="11341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809718" y="2718714"/>
            <a:ext cx="549275" cy="45339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7625" marR="5080" indent="-35560">
              <a:lnSpc>
                <a:spcPct val="100699"/>
              </a:lnSpc>
              <a:spcBef>
                <a:spcPts val="85"/>
              </a:spcBef>
            </a:pP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Option </a:t>
            </a:r>
            <a:r>
              <a:rPr dirty="0" sz="1400">
                <a:solidFill>
                  <a:srgbClr val="C00000"/>
                </a:solidFill>
                <a:latin typeface="Arial MT"/>
                <a:cs typeface="Arial MT"/>
              </a:rPr>
              <a:t>7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子集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205539" y="1296847"/>
            <a:ext cx="3685540" cy="2442845"/>
            <a:chOff x="5205539" y="1296847"/>
            <a:chExt cx="3685540" cy="244284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5539" y="1296847"/>
              <a:ext cx="1962137" cy="241474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861091" y="2934490"/>
              <a:ext cx="2017395" cy="792480"/>
            </a:xfrm>
            <a:custGeom>
              <a:avLst/>
              <a:gdLst/>
              <a:ahLst/>
              <a:cxnLst/>
              <a:rect l="l" t="t" r="r" b="b"/>
              <a:pathLst>
                <a:path w="2017395" h="792479">
                  <a:moveTo>
                    <a:pt x="182648" y="260686"/>
                  </a:moveTo>
                  <a:lnTo>
                    <a:pt x="190657" y="193910"/>
                  </a:lnTo>
                  <a:lnTo>
                    <a:pt x="244084" y="135973"/>
                  </a:lnTo>
                  <a:lnTo>
                    <a:pt x="285117" y="112225"/>
                  </a:lnTo>
                  <a:lnTo>
                    <a:pt x="334249" y="92973"/>
                  </a:lnTo>
                  <a:lnTo>
                    <a:pt x="390396" y="78981"/>
                  </a:lnTo>
                  <a:lnTo>
                    <a:pt x="452472" y="71011"/>
                  </a:lnTo>
                  <a:lnTo>
                    <a:pt x="504929" y="69559"/>
                  </a:lnTo>
                  <a:lnTo>
                    <a:pt x="556760" y="72746"/>
                  </a:lnTo>
                  <a:lnTo>
                    <a:pt x="606897" y="80460"/>
                  </a:lnTo>
                  <a:lnTo>
                    <a:pt x="654275" y="92588"/>
                  </a:lnTo>
                  <a:lnTo>
                    <a:pt x="686854" y="67259"/>
                  </a:lnTo>
                  <a:lnTo>
                    <a:pt x="727968" y="47193"/>
                  </a:lnTo>
                  <a:lnTo>
                    <a:pt x="775596" y="32723"/>
                  </a:lnTo>
                  <a:lnTo>
                    <a:pt x="827719" y="24179"/>
                  </a:lnTo>
                  <a:lnTo>
                    <a:pt x="882315" y="21893"/>
                  </a:lnTo>
                  <a:lnTo>
                    <a:pt x="937366" y="26196"/>
                  </a:lnTo>
                  <a:lnTo>
                    <a:pt x="990850" y="37420"/>
                  </a:lnTo>
                  <a:lnTo>
                    <a:pt x="1035411" y="53629"/>
                  </a:lnTo>
                  <a:lnTo>
                    <a:pt x="1048686" y="60140"/>
                  </a:lnTo>
                  <a:lnTo>
                    <a:pt x="1079375" y="35947"/>
                  </a:lnTo>
                  <a:lnTo>
                    <a:pt x="1119475" y="17551"/>
                  </a:lnTo>
                  <a:lnTo>
                    <a:pt x="1166385" y="5417"/>
                  </a:lnTo>
                  <a:lnTo>
                    <a:pt x="1217499" y="11"/>
                  </a:lnTo>
                  <a:lnTo>
                    <a:pt x="1270214" y="1799"/>
                  </a:lnTo>
                  <a:lnTo>
                    <a:pt x="1321927" y="11245"/>
                  </a:lnTo>
                  <a:lnTo>
                    <a:pt x="1360822" y="24791"/>
                  </a:lnTo>
                  <a:lnTo>
                    <a:pt x="1392983" y="42690"/>
                  </a:lnTo>
                  <a:lnTo>
                    <a:pt x="1431158" y="23606"/>
                  </a:lnTo>
                  <a:lnTo>
                    <a:pt x="1475020" y="10073"/>
                  </a:lnTo>
                  <a:lnTo>
                    <a:pt x="1522649" y="2176"/>
                  </a:lnTo>
                  <a:lnTo>
                    <a:pt x="1572128" y="0"/>
                  </a:lnTo>
                  <a:lnTo>
                    <a:pt x="1621537" y="3629"/>
                  </a:lnTo>
                  <a:lnTo>
                    <a:pt x="1668960" y="13149"/>
                  </a:lnTo>
                  <a:lnTo>
                    <a:pt x="1712477" y="28644"/>
                  </a:lnTo>
                  <a:lnTo>
                    <a:pt x="1762296" y="60492"/>
                  </a:lnTo>
                  <a:lnTo>
                    <a:pt x="1789007" y="99446"/>
                  </a:lnTo>
                  <a:lnTo>
                    <a:pt x="1850511" y="113353"/>
                  </a:lnTo>
                  <a:lnTo>
                    <a:pt x="1901285" y="134691"/>
                  </a:lnTo>
                  <a:lnTo>
                    <a:pt x="1939664" y="161900"/>
                  </a:lnTo>
                  <a:lnTo>
                    <a:pt x="1963982" y="193420"/>
                  </a:lnTo>
                  <a:lnTo>
                    <a:pt x="1972573" y="227690"/>
                  </a:lnTo>
                  <a:lnTo>
                    <a:pt x="1963772" y="263149"/>
                  </a:lnTo>
                  <a:lnTo>
                    <a:pt x="1960737" y="269118"/>
                  </a:lnTo>
                  <a:lnTo>
                    <a:pt x="1956927" y="274973"/>
                  </a:lnTo>
                  <a:lnTo>
                    <a:pt x="1952367" y="280663"/>
                  </a:lnTo>
                  <a:lnTo>
                    <a:pt x="1986090" y="309777"/>
                  </a:lnTo>
                  <a:lnTo>
                    <a:pt x="2007633" y="340945"/>
                  </a:lnTo>
                  <a:lnTo>
                    <a:pt x="2017230" y="373213"/>
                  </a:lnTo>
                  <a:lnTo>
                    <a:pt x="2015115" y="405629"/>
                  </a:lnTo>
                  <a:lnTo>
                    <a:pt x="1976681" y="467091"/>
                  </a:lnTo>
                  <a:lnTo>
                    <a:pt x="1940830" y="494232"/>
                  </a:lnTo>
                  <a:lnTo>
                    <a:pt x="1894201" y="517708"/>
                  </a:lnTo>
                  <a:lnTo>
                    <a:pt x="1824296" y="539447"/>
                  </a:lnTo>
                  <a:lnTo>
                    <a:pt x="1786100" y="546547"/>
                  </a:lnTo>
                  <a:lnTo>
                    <a:pt x="1746361" y="550995"/>
                  </a:lnTo>
                  <a:lnTo>
                    <a:pt x="1717966" y="614306"/>
                  </a:lnTo>
                  <a:lnTo>
                    <a:pt x="1685691" y="640949"/>
                  </a:lnTo>
                  <a:lnTo>
                    <a:pt x="1643543" y="663107"/>
                  </a:lnTo>
                  <a:lnTo>
                    <a:pt x="1593156" y="679919"/>
                  </a:lnTo>
                  <a:lnTo>
                    <a:pt x="1536163" y="690527"/>
                  </a:lnTo>
                  <a:lnTo>
                    <a:pt x="1474200" y="694073"/>
                  </a:lnTo>
                  <a:lnTo>
                    <a:pt x="1437127" y="692545"/>
                  </a:lnTo>
                  <a:lnTo>
                    <a:pt x="1400964" y="688337"/>
                  </a:lnTo>
                  <a:lnTo>
                    <a:pt x="1366217" y="681527"/>
                  </a:lnTo>
                  <a:lnTo>
                    <a:pt x="1333395" y="672191"/>
                  </a:lnTo>
                  <a:lnTo>
                    <a:pt x="1312118" y="700469"/>
                  </a:lnTo>
                  <a:lnTo>
                    <a:pt x="1282656" y="725552"/>
                  </a:lnTo>
                  <a:lnTo>
                    <a:pt x="1246119" y="747123"/>
                  </a:lnTo>
                  <a:lnTo>
                    <a:pt x="1203617" y="764862"/>
                  </a:lnTo>
                  <a:lnTo>
                    <a:pt x="1156259" y="778452"/>
                  </a:lnTo>
                  <a:lnTo>
                    <a:pt x="1105156" y="787573"/>
                  </a:lnTo>
                  <a:lnTo>
                    <a:pt x="1051417" y="791907"/>
                  </a:lnTo>
                  <a:lnTo>
                    <a:pt x="996151" y="791136"/>
                  </a:lnTo>
                  <a:lnTo>
                    <a:pt x="940469" y="784942"/>
                  </a:lnTo>
                  <a:lnTo>
                    <a:pt x="890050" y="774132"/>
                  </a:lnTo>
                  <a:lnTo>
                    <a:pt x="844156" y="758972"/>
                  </a:lnTo>
                  <a:lnTo>
                    <a:pt x="803752" y="739841"/>
                  </a:lnTo>
                  <a:lnTo>
                    <a:pt x="769807" y="717124"/>
                  </a:lnTo>
                  <a:lnTo>
                    <a:pt x="722161" y="730044"/>
                  </a:lnTo>
                  <a:lnTo>
                    <a:pt x="672760" y="738873"/>
                  </a:lnTo>
                  <a:lnTo>
                    <a:pt x="622368" y="743712"/>
                  </a:lnTo>
                  <a:lnTo>
                    <a:pt x="571751" y="744664"/>
                  </a:lnTo>
                  <a:lnTo>
                    <a:pt x="521672" y="741829"/>
                  </a:lnTo>
                  <a:lnTo>
                    <a:pt x="472898" y="735312"/>
                  </a:lnTo>
                  <a:lnTo>
                    <a:pt x="426193" y="725213"/>
                  </a:lnTo>
                  <a:lnTo>
                    <a:pt x="382321" y="711634"/>
                  </a:lnTo>
                  <a:lnTo>
                    <a:pt x="342048" y="694679"/>
                  </a:lnTo>
                  <a:lnTo>
                    <a:pt x="306139" y="674449"/>
                  </a:lnTo>
                  <a:lnTo>
                    <a:pt x="275358" y="651045"/>
                  </a:lnTo>
                  <a:lnTo>
                    <a:pt x="271560" y="647566"/>
                  </a:lnTo>
                  <a:lnTo>
                    <a:pt x="216985" y="647078"/>
                  </a:lnTo>
                  <a:lnTo>
                    <a:pt x="166315" y="639233"/>
                  </a:lnTo>
                  <a:lnTo>
                    <a:pt x="121702" y="624941"/>
                  </a:lnTo>
                  <a:lnTo>
                    <a:pt x="85298" y="605106"/>
                  </a:lnTo>
                  <a:lnTo>
                    <a:pt x="45729" y="552443"/>
                  </a:lnTo>
                  <a:lnTo>
                    <a:pt x="45392" y="528776"/>
                  </a:lnTo>
                  <a:lnTo>
                    <a:pt x="54532" y="505892"/>
                  </a:lnTo>
                  <a:lnTo>
                    <a:pt x="72656" y="484582"/>
                  </a:lnTo>
                  <a:lnTo>
                    <a:pt x="99272" y="465638"/>
                  </a:lnTo>
                  <a:lnTo>
                    <a:pt x="49185" y="443435"/>
                  </a:lnTo>
                  <a:lnTo>
                    <a:pt x="15696" y="414962"/>
                  </a:lnTo>
                  <a:lnTo>
                    <a:pt x="0" y="382677"/>
                  </a:lnTo>
                  <a:lnTo>
                    <a:pt x="3288" y="349038"/>
                  </a:lnTo>
                  <a:lnTo>
                    <a:pt x="26755" y="316502"/>
                  </a:lnTo>
                  <a:lnTo>
                    <a:pt x="91992" y="279924"/>
                  </a:lnTo>
                  <a:lnTo>
                    <a:pt x="134329" y="268776"/>
                  </a:lnTo>
                  <a:lnTo>
                    <a:pt x="180946" y="263149"/>
                  </a:lnTo>
                  <a:lnTo>
                    <a:pt x="182648" y="260686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3492" y="2185009"/>
              <a:ext cx="69405" cy="6939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92698" y="2395402"/>
              <a:ext cx="113410" cy="11341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9862" y="2639788"/>
              <a:ext cx="157416" cy="15740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6962526" y="2974616"/>
              <a:ext cx="1850389" cy="674370"/>
            </a:xfrm>
            <a:custGeom>
              <a:avLst/>
              <a:gdLst/>
              <a:ahLst/>
              <a:cxnLst/>
              <a:rect l="l" t="t" r="r" b="b"/>
              <a:pathLst>
                <a:path w="1850390" h="674370">
                  <a:moveTo>
                    <a:pt x="118224" y="437045"/>
                  </a:moveTo>
                  <a:lnTo>
                    <a:pt x="87366" y="437070"/>
                  </a:lnTo>
                  <a:lnTo>
                    <a:pt x="57030" y="434598"/>
                  </a:lnTo>
                  <a:lnTo>
                    <a:pt x="27736" y="429695"/>
                  </a:lnTo>
                  <a:lnTo>
                    <a:pt x="0" y="422427"/>
                  </a:lnTo>
                </a:path>
                <a:path w="1850390" h="674370">
                  <a:moveTo>
                    <a:pt x="222542" y="596963"/>
                  </a:moveTo>
                  <a:lnTo>
                    <a:pt x="209952" y="599389"/>
                  </a:lnTo>
                  <a:lnTo>
                    <a:pt x="197107" y="601367"/>
                  </a:lnTo>
                  <a:lnTo>
                    <a:pt x="184048" y="602892"/>
                  </a:lnTo>
                  <a:lnTo>
                    <a:pt x="170814" y="603961"/>
                  </a:lnTo>
                </a:path>
                <a:path w="1850390" h="674370">
                  <a:moveTo>
                    <a:pt x="668248" y="673811"/>
                  </a:moveTo>
                  <a:lnTo>
                    <a:pt x="659276" y="666179"/>
                  </a:lnTo>
                  <a:lnTo>
                    <a:pt x="651079" y="658307"/>
                  </a:lnTo>
                  <a:lnTo>
                    <a:pt x="643675" y="650211"/>
                  </a:lnTo>
                  <a:lnTo>
                    <a:pt x="637082" y="641908"/>
                  </a:lnTo>
                </a:path>
                <a:path w="1850390" h="674370">
                  <a:moveTo>
                    <a:pt x="1244599" y="594258"/>
                  </a:moveTo>
                  <a:lnTo>
                    <a:pt x="1242789" y="603127"/>
                  </a:lnTo>
                  <a:lnTo>
                    <a:pt x="1240105" y="611930"/>
                  </a:lnTo>
                  <a:lnTo>
                    <a:pt x="1236557" y="620647"/>
                  </a:lnTo>
                  <a:lnTo>
                    <a:pt x="1232153" y="629259"/>
                  </a:lnTo>
                </a:path>
                <a:path w="1850390" h="674370">
                  <a:moveTo>
                    <a:pt x="1492059" y="377951"/>
                  </a:moveTo>
                  <a:lnTo>
                    <a:pt x="1543843" y="395571"/>
                  </a:lnTo>
                  <a:lnTo>
                    <a:pt x="1586126" y="418514"/>
                  </a:lnTo>
                  <a:lnTo>
                    <a:pt x="1617693" y="445730"/>
                  </a:lnTo>
                  <a:lnTo>
                    <a:pt x="1637327" y="476171"/>
                  </a:lnTo>
                  <a:lnTo>
                    <a:pt x="1643811" y="508787"/>
                  </a:lnTo>
                </a:path>
                <a:path w="1850390" h="674370">
                  <a:moveTo>
                    <a:pt x="1849983" y="238607"/>
                  </a:moveTo>
                  <a:lnTo>
                    <a:pt x="1837153" y="252379"/>
                  </a:lnTo>
                  <a:lnTo>
                    <a:pt x="1821500" y="265226"/>
                  </a:lnTo>
                  <a:lnTo>
                    <a:pt x="1803195" y="277026"/>
                  </a:lnTo>
                  <a:lnTo>
                    <a:pt x="1782406" y="287654"/>
                  </a:lnTo>
                </a:path>
                <a:path w="1850390" h="674370">
                  <a:moveTo>
                    <a:pt x="1687842" y="56565"/>
                  </a:moveTo>
                  <a:lnTo>
                    <a:pt x="1690420" y="64211"/>
                  </a:lnTo>
                  <a:lnTo>
                    <a:pt x="1691627" y="71970"/>
                  </a:lnTo>
                  <a:lnTo>
                    <a:pt x="1691411" y="79743"/>
                  </a:lnTo>
                </a:path>
                <a:path w="1850390" h="674370">
                  <a:moveTo>
                    <a:pt x="1256322" y="29540"/>
                  </a:moveTo>
                  <a:lnTo>
                    <a:pt x="1263452" y="21665"/>
                  </a:lnTo>
                  <a:lnTo>
                    <a:pt x="1271620" y="14098"/>
                  </a:lnTo>
                  <a:lnTo>
                    <a:pt x="1280791" y="6867"/>
                  </a:lnTo>
                  <a:lnTo>
                    <a:pt x="1290929" y="0"/>
                  </a:lnTo>
                </a:path>
                <a:path w="1850390" h="674370">
                  <a:moveTo>
                    <a:pt x="932560" y="43624"/>
                  </a:moveTo>
                  <a:lnTo>
                    <a:pt x="935630" y="37050"/>
                  </a:lnTo>
                  <a:lnTo>
                    <a:pt x="939457" y="30599"/>
                  </a:lnTo>
                  <a:lnTo>
                    <a:pt x="944026" y="24288"/>
                  </a:lnTo>
                  <a:lnTo>
                    <a:pt x="949324" y="18135"/>
                  </a:lnTo>
                </a:path>
                <a:path w="1850390" h="674370">
                  <a:moveTo>
                    <a:pt x="552602" y="52273"/>
                  </a:moveTo>
                  <a:lnTo>
                    <a:pt x="568802" y="57706"/>
                  </a:lnTo>
                  <a:lnTo>
                    <a:pt x="584341" y="63650"/>
                  </a:lnTo>
                  <a:lnTo>
                    <a:pt x="599177" y="70087"/>
                  </a:lnTo>
                  <a:lnTo>
                    <a:pt x="613270" y="77000"/>
                  </a:lnTo>
                </a:path>
                <a:path w="1850390" h="674370">
                  <a:moveTo>
                    <a:pt x="91808" y="246583"/>
                  </a:moveTo>
                  <a:lnTo>
                    <a:pt x="88444" y="240166"/>
                  </a:lnTo>
                  <a:lnTo>
                    <a:pt x="85555" y="233686"/>
                  </a:lnTo>
                  <a:lnTo>
                    <a:pt x="83144" y="227148"/>
                  </a:lnTo>
                  <a:lnTo>
                    <a:pt x="81216" y="220560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5880" y="1138695"/>
            <a:ext cx="1962148" cy="2715391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7248405" y="2973599"/>
            <a:ext cx="109982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要求</a:t>
            </a:r>
            <a:r>
              <a:rPr dirty="0" sz="1400" spc="-25">
                <a:solidFill>
                  <a:srgbClr val="C00000"/>
                </a:solidFill>
                <a:latin typeface="Arial MT"/>
                <a:cs typeface="Arial MT"/>
              </a:rPr>
              <a:t>NR</a:t>
            </a:r>
            <a:r>
              <a:rPr dirty="0" sz="1400" spc="-40">
                <a:solidFill>
                  <a:srgbClr val="C00000"/>
                </a:solidFill>
                <a:latin typeface="SimSun"/>
                <a:cs typeface="SimSun"/>
              </a:rPr>
              <a:t>后向</a:t>
            </a: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兼容</a:t>
            </a:r>
            <a:r>
              <a:rPr dirty="0" sz="1400" spc="-20">
                <a:solidFill>
                  <a:srgbClr val="C00000"/>
                </a:solidFill>
                <a:latin typeface="Arial MT"/>
                <a:cs typeface="Arial MT"/>
              </a:rPr>
              <a:t>EPC</a:t>
            </a: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，且</a:t>
            </a: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无显著优点</a:t>
            </a:r>
            <a:endParaRPr sz="1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846" y="139319"/>
            <a:ext cx="45853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SA&amp;NSA</a:t>
            </a:r>
            <a:r>
              <a:rPr dirty="0" spc="-10" b="0">
                <a:latin typeface="Times New Roman"/>
                <a:cs typeface="Times New Roman"/>
              </a:rPr>
              <a:t> – </a:t>
            </a:r>
            <a:r>
              <a:rPr dirty="0" spc="-20" b="0">
                <a:latin typeface="Times New Roman"/>
                <a:cs typeface="Times New Roman"/>
              </a:rPr>
              <a:t>OPTION7</a:t>
            </a:r>
            <a:r>
              <a:rPr dirty="0" spc="-45"/>
              <a:t>系列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9973" y="794231"/>
            <a:ext cx="12007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7</a:t>
            </a:r>
            <a:r>
              <a:rPr dirty="0" sz="1400" spc="-2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1739" y="3770256"/>
            <a:ext cx="2785745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NGC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+LTE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marL="182880" marR="5080" indent="-170180">
              <a:lnSpc>
                <a:spcPct val="13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5">
                <a:latin typeface="Microsoft YaHei"/>
                <a:cs typeface="Microsoft YaHei"/>
              </a:rPr>
              <a:t>承载并转发，用户面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数据由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eNB</a:t>
            </a:r>
            <a:r>
              <a:rPr dirty="0" sz="1400" spc="-20">
                <a:latin typeface="Microsoft YaHei"/>
                <a:cs typeface="Microsoft YaHei"/>
              </a:rPr>
              <a:t>分流给</a:t>
            </a:r>
            <a:r>
              <a:rPr dirty="0" sz="1400">
                <a:latin typeface="Microsoft YaHei"/>
                <a:cs typeface="Microsoft YaHei"/>
              </a:rPr>
              <a:t>5G</a:t>
            </a:r>
            <a:r>
              <a:rPr dirty="0" sz="1400" spc="-1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73873" y="794135"/>
            <a:ext cx="129921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7a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 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32405" y="771054"/>
            <a:ext cx="12909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Option</a:t>
            </a:r>
            <a:r>
              <a:rPr dirty="0" sz="1400" spc="-35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>
                <a:solidFill>
                  <a:srgbClr val="C00000"/>
                </a:solidFill>
                <a:latin typeface="Microsoft YaHei"/>
                <a:cs typeface="Microsoft YaHei"/>
              </a:rPr>
              <a:t>7x</a:t>
            </a:r>
            <a:r>
              <a:rPr dirty="0" sz="1400" spc="-30">
                <a:solidFill>
                  <a:srgbClr val="C00000"/>
                </a:solidFill>
                <a:latin typeface="Microsoft YaHei"/>
                <a:cs typeface="Microsoft YaHei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18083" y="3698248"/>
            <a:ext cx="2607945" cy="113538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45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4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marL="182245" marR="5080" indent="-170180">
              <a:lnSpc>
                <a:spcPct val="130000"/>
              </a:lnSpc>
              <a:buFont typeface="Arial MT"/>
              <a:buChar char="•"/>
              <a:tabLst>
                <a:tab pos="183515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5">
                <a:latin typeface="Microsoft YaHei"/>
                <a:cs typeface="Microsoft YaHei"/>
              </a:rPr>
              <a:t>承载并转发，用户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面数据由NGC</a:t>
            </a:r>
            <a:r>
              <a:rPr dirty="0" sz="1400" spc="-25">
                <a:latin typeface="Microsoft YaHei"/>
                <a:cs typeface="Microsoft YaHei"/>
              </a:rPr>
              <a:t>分流，</a:t>
            </a:r>
            <a:r>
              <a:rPr dirty="0" sz="1400" spc="-35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与</a:t>
            </a:r>
            <a:r>
              <a:rPr dirty="0" sz="1400" spc="-25">
                <a:latin typeface="Microsoft YaHei"/>
                <a:cs typeface="Microsoft YaHei"/>
              </a:rPr>
              <a:t>5G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30">
                <a:latin typeface="Microsoft YaHei"/>
                <a:cs typeface="Microsoft YaHei"/>
              </a:rPr>
              <a:t>独立传输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06064" y="3637737"/>
            <a:ext cx="2667000" cy="8578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400">
                <a:latin typeface="Microsoft YaHei"/>
                <a:cs typeface="Microsoft YaHei"/>
              </a:rPr>
              <a:t>EPC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 spc="-10">
                <a:latin typeface="Microsoft YaHei"/>
                <a:cs typeface="Microsoft YaHei"/>
              </a:rPr>
              <a:t>+LTE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>
                <a:latin typeface="Microsoft YaHei"/>
                <a:cs typeface="Microsoft YaHei"/>
              </a:rPr>
              <a:t>+</a:t>
            </a:r>
            <a:r>
              <a:rPr dirty="0" sz="1400" spc="-35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NR</a:t>
            </a:r>
            <a:endParaRPr sz="1400">
              <a:latin typeface="Microsoft YaHei"/>
              <a:cs typeface="Microsoft YaHei"/>
            </a:endParaRPr>
          </a:p>
          <a:p>
            <a:pPr marL="182880" marR="5080" indent="-170180">
              <a:lnSpc>
                <a:spcPct val="13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20">
                <a:latin typeface="Microsoft YaHei"/>
                <a:cs typeface="Microsoft YaHei"/>
              </a:rPr>
              <a:t>控制面由</a:t>
            </a:r>
            <a:r>
              <a:rPr dirty="0" sz="1400" spc="-40">
                <a:latin typeface="Microsoft YaHei"/>
                <a:cs typeface="Microsoft YaHei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承载并转发，由</a:t>
            </a:r>
            <a:r>
              <a:rPr dirty="0" sz="1400" spc="-25">
                <a:latin typeface="Microsoft YaHei"/>
                <a:cs typeface="Microsoft YaHei"/>
              </a:rPr>
              <a:t>5G </a:t>
            </a:r>
            <a:r>
              <a:rPr dirty="0" sz="1400" spc="-25">
                <a:latin typeface="Microsoft YaHei"/>
                <a:cs typeface="Microsoft YaHei"/>
              </a:rPr>
              <a:t>	</a:t>
            </a:r>
            <a:r>
              <a:rPr dirty="0" sz="1400" spc="-20">
                <a:latin typeface="Microsoft YaHei"/>
                <a:cs typeface="Microsoft YaHei"/>
              </a:rPr>
              <a:t>NR将数据分流给</a:t>
            </a:r>
            <a:r>
              <a:rPr dirty="0" sz="1400">
                <a:latin typeface="Microsoft YaHei"/>
                <a:cs typeface="Microsoft YaHei"/>
              </a:rPr>
              <a:t>LTE</a:t>
            </a:r>
            <a:r>
              <a:rPr dirty="0" sz="1400" spc="-40">
                <a:latin typeface="Microsoft YaHei"/>
                <a:cs typeface="Microsoft YaHei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eNB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595" y="2690323"/>
            <a:ext cx="69405" cy="6939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1467" y="2754059"/>
            <a:ext cx="113411" cy="113411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2322330" y="2836533"/>
            <a:ext cx="1289050" cy="817880"/>
            <a:chOff x="2322330" y="2836533"/>
            <a:chExt cx="1289050" cy="817880"/>
          </a:xfrm>
        </p:grpSpPr>
        <p:sp>
          <p:nvSpPr>
            <p:cNvPr id="12" name="object 12" descr=""/>
            <p:cNvSpPr/>
            <p:nvPr/>
          </p:nvSpPr>
          <p:spPr>
            <a:xfrm>
              <a:off x="2447251" y="2849233"/>
              <a:ext cx="1151890" cy="792480"/>
            </a:xfrm>
            <a:custGeom>
              <a:avLst/>
              <a:gdLst/>
              <a:ahLst/>
              <a:cxnLst/>
              <a:rect l="l" t="t" r="r" b="b"/>
              <a:pathLst>
                <a:path w="1151889" h="792479">
                  <a:moveTo>
                    <a:pt x="104016" y="260708"/>
                  </a:moveTo>
                  <a:lnTo>
                    <a:pt x="103936" y="215510"/>
                  </a:lnTo>
                  <a:lnTo>
                    <a:pt x="116127" y="173337"/>
                  </a:lnTo>
                  <a:lnTo>
                    <a:pt x="139118" y="135996"/>
                  </a:lnTo>
                  <a:lnTo>
                    <a:pt x="171440" y="105293"/>
                  </a:lnTo>
                  <a:lnTo>
                    <a:pt x="211622" y="83037"/>
                  </a:lnTo>
                  <a:lnTo>
                    <a:pt x="258194" y="71034"/>
                  </a:lnTo>
                  <a:lnTo>
                    <a:pt x="288172" y="69581"/>
                  </a:lnTo>
                  <a:lnTo>
                    <a:pt x="317790" y="72769"/>
                  </a:lnTo>
                  <a:lnTo>
                    <a:pt x="346439" y="80483"/>
                  </a:lnTo>
                  <a:lnTo>
                    <a:pt x="373510" y="92611"/>
                  </a:lnTo>
                  <a:lnTo>
                    <a:pt x="401005" y="58605"/>
                  </a:lnTo>
                  <a:lnTo>
                    <a:pt x="437154" y="35176"/>
                  </a:lnTo>
                  <a:lnTo>
                    <a:pt x="478789" y="23234"/>
                  </a:lnTo>
                  <a:lnTo>
                    <a:pt x="522744" y="23686"/>
                  </a:lnTo>
                  <a:lnTo>
                    <a:pt x="565851" y="37442"/>
                  </a:lnTo>
                  <a:lnTo>
                    <a:pt x="598897" y="60162"/>
                  </a:lnTo>
                  <a:lnTo>
                    <a:pt x="627311" y="26017"/>
                  </a:lnTo>
                  <a:lnTo>
                    <a:pt x="666153" y="5440"/>
                  </a:lnTo>
                  <a:lnTo>
                    <a:pt x="710400" y="0"/>
                  </a:lnTo>
                  <a:lnTo>
                    <a:pt x="755030" y="11267"/>
                  </a:lnTo>
                  <a:lnTo>
                    <a:pt x="766577" y="17458"/>
                  </a:lnTo>
                  <a:lnTo>
                    <a:pt x="777260" y="24814"/>
                  </a:lnTo>
                  <a:lnTo>
                    <a:pt x="786979" y="33258"/>
                  </a:lnTo>
                  <a:lnTo>
                    <a:pt x="795632" y="42713"/>
                  </a:lnTo>
                  <a:lnTo>
                    <a:pt x="836004" y="12954"/>
                  </a:lnTo>
                  <a:lnTo>
                    <a:pt x="883805" y="390"/>
                  </a:lnTo>
                  <a:lnTo>
                    <a:pt x="933164" y="5476"/>
                  </a:lnTo>
                  <a:lnTo>
                    <a:pt x="978207" y="28666"/>
                  </a:lnTo>
                  <a:lnTo>
                    <a:pt x="1006671" y="60515"/>
                  </a:lnTo>
                  <a:lnTo>
                    <a:pt x="1021934" y="99469"/>
                  </a:lnTo>
                  <a:lnTo>
                    <a:pt x="1063405" y="117099"/>
                  </a:lnTo>
                  <a:lnTo>
                    <a:pt x="1095771" y="144980"/>
                  </a:lnTo>
                  <a:lnTo>
                    <a:pt x="1117387" y="180417"/>
                  </a:lnTo>
                  <a:lnTo>
                    <a:pt x="1126609" y="220713"/>
                  </a:lnTo>
                  <a:lnTo>
                    <a:pt x="1121794" y="263172"/>
                  </a:lnTo>
                  <a:lnTo>
                    <a:pt x="1120066" y="269141"/>
                  </a:lnTo>
                  <a:lnTo>
                    <a:pt x="1117882" y="274996"/>
                  </a:lnTo>
                  <a:lnTo>
                    <a:pt x="1115291" y="280685"/>
                  </a:lnTo>
                  <a:lnTo>
                    <a:pt x="1139422" y="320008"/>
                  </a:lnTo>
                  <a:lnTo>
                    <a:pt x="1151270" y="362416"/>
                  </a:lnTo>
                  <a:lnTo>
                    <a:pt x="1151140" y="405652"/>
                  </a:lnTo>
                  <a:lnTo>
                    <a:pt x="1139349" y="447455"/>
                  </a:lnTo>
                  <a:lnTo>
                    <a:pt x="1116215" y="485568"/>
                  </a:lnTo>
                  <a:lnTo>
                    <a:pt x="1082055" y="517731"/>
                  </a:lnTo>
                  <a:lnTo>
                    <a:pt x="1042100" y="539470"/>
                  </a:lnTo>
                  <a:lnTo>
                    <a:pt x="997562" y="551017"/>
                  </a:lnTo>
                  <a:lnTo>
                    <a:pt x="989305" y="596546"/>
                  </a:lnTo>
                  <a:lnTo>
                    <a:pt x="967065" y="635974"/>
                  </a:lnTo>
                  <a:lnTo>
                    <a:pt x="933402" y="666947"/>
                  </a:lnTo>
                  <a:lnTo>
                    <a:pt x="890877" y="687106"/>
                  </a:lnTo>
                  <a:lnTo>
                    <a:pt x="842051" y="694096"/>
                  </a:lnTo>
                  <a:lnTo>
                    <a:pt x="820861" y="692568"/>
                  </a:lnTo>
                  <a:lnTo>
                    <a:pt x="800193" y="688360"/>
                  </a:lnTo>
                  <a:lnTo>
                    <a:pt x="780338" y="681549"/>
                  </a:lnTo>
                  <a:lnTo>
                    <a:pt x="761584" y="672213"/>
                  </a:lnTo>
                  <a:lnTo>
                    <a:pt x="741556" y="713452"/>
                  </a:lnTo>
                  <a:lnTo>
                    <a:pt x="711716" y="747145"/>
                  </a:lnTo>
                  <a:lnTo>
                    <a:pt x="674204" y="772218"/>
                  </a:lnTo>
                  <a:lnTo>
                    <a:pt x="631162" y="787595"/>
                  </a:lnTo>
                  <a:lnTo>
                    <a:pt x="584730" y="792202"/>
                  </a:lnTo>
                  <a:lnTo>
                    <a:pt x="537048" y="784964"/>
                  </a:lnTo>
                  <a:lnTo>
                    <a:pt x="508240" y="774155"/>
                  </a:lnTo>
                  <a:lnTo>
                    <a:pt x="482020" y="758994"/>
                  </a:lnTo>
                  <a:lnTo>
                    <a:pt x="458936" y="739864"/>
                  </a:lnTo>
                  <a:lnTo>
                    <a:pt x="439537" y="717146"/>
                  </a:lnTo>
                  <a:lnTo>
                    <a:pt x="396274" y="735607"/>
                  </a:lnTo>
                  <a:lnTo>
                    <a:pt x="351151" y="744107"/>
                  </a:lnTo>
                  <a:lnTo>
                    <a:pt x="305865" y="743042"/>
                  </a:lnTo>
                  <a:lnTo>
                    <a:pt x="262111" y="732810"/>
                  </a:lnTo>
                  <a:lnTo>
                    <a:pt x="221585" y="713806"/>
                  </a:lnTo>
                  <a:lnTo>
                    <a:pt x="185983" y="686426"/>
                  </a:lnTo>
                  <a:lnTo>
                    <a:pt x="157000" y="651068"/>
                  </a:lnTo>
                  <a:lnTo>
                    <a:pt x="154816" y="647588"/>
                  </a:lnTo>
                  <a:lnTo>
                    <a:pt x="108799" y="644041"/>
                  </a:lnTo>
                  <a:lnTo>
                    <a:pt x="69188" y="624963"/>
                  </a:lnTo>
                  <a:lnTo>
                    <a:pt x="40132" y="593417"/>
                  </a:lnTo>
                  <a:lnTo>
                    <a:pt x="25784" y="552465"/>
                  </a:lnTo>
                  <a:lnTo>
                    <a:pt x="25586" y="528799"/>
                  </a:lnTo>
                  <a:lnTo>
                    <a:pt x="30807" y="505915"/>
                  </a:lnTo>
                  <a:lnTo>
                    <a:pt x="41161" y="484605"/>
                  </a:lnTo>
                  <a:lnTo>
                    <a:pt x="56365" y="465661"/>
                  </a:lnTo>
                  <a:lnTo>
                    <a:pt x="22053" y="436831"/>
                  </a:lnTo>
                  <a:lnTo>
                    <a:pt x="2816" y="399165"/>
                  </a:lnTo>
                  <a:lnTo>
                    <a:pt x="0" y="357463"/>
                  </a:lnTo>
                  <a:lnTo>
                    <a:pt x="14938" y="316525"/>
                  </a:lnTo>
                  <a:lnTo>
                    <a:pt x="31411" y="296046"/>
                  </a:lnTo>
                  <a:lnTo>
                    <a:pt x="52217" y="279947"/>
                  </a:lnTo>
                  <a:lnTo>
                    <a:pt x="76412" y="268799"/>
                  </a:lnTo>
                  <a:lnTo>
                    <a:pt x="103050" y="263172"/>
                  </a:lnTo>
                  <a:lnTo>
                    <a:pt x="104016" y="26070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2330" y="2838208"/>
              <a:ext cx="157416" cy="15740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504865" y="2889369"/>
              <a:ext cx="1057275" cy="674370"/>
            </a:xfrm>
            <a:custGeom>
              <a:avLst/>
              <a:gdLst/>
              <a:ahLst/>
              <a:cxnLst/>
              <a:rect l="l" t="t" r="r" b="b"/>
              <a:pathLst>
                <a:path w="1057275" h="674370">
                  <a:moveTo>
                    <a:pt x="67551" y="437057"/>
                  </a:moveTo>
                  <a:lnTo>
                    <a:pt x="49920" y="437083"/>
                  </a:lnTo>
                  <a:lnTo>
                    <a:pt x="32585" y="434611"/>
                  </a:lnTo>
                  <a:lnTo>
                    <a:pt x="15844" y="429708"/>
                  </a:lnTo>
                  <a:lnTo>
                    <a:pt x="0" y="422440"/>
                  </a:lnTo>
                </a:path>
                <a:path w="1057275" h="674370">
                  <a:moveTo>
                    <a:pt x="127152" y="596976"/>
                  </a:moveTo>
                  <a:lnTo>
                    <a:pt x="119963" y="599401"/>
                  </a:lnTo>
                  <a:lnTo>
                    <a:pt x="112623" y="601379"/>
                  </a:lnTo>
                  <a:lnTo>
                    <a:pt x="105160" y="602905"/>
                  </a:lnTo>
                  <a:lnTo>
                    <a:pt x="97599" y="603973"/>
                  </a:lnTo>
                </a:path>
                <a:path w="1057275" h="674370">
                  <a:moveTo>
                    <a:pt x="381850" y="673823"/>
                  </a:moveTo>
                  <a:lnTo>
                    <a:pt x="376725" y="666192"/>
                  </a:lnTo>
                  <a:lnTo>
                    <a:pt x="372043" y="658320"/>
                  </a:lnTo>
                  <a:lnTo>
                    <a:pt x="367813" y="650224"/>
                  </a:lnTo>
                  <a:lnTo>
                    <a:pt x="364045" y="641921"/>
                  </a:lnTo>
                </a:path>
                <a:path w="1057275" h="674370">
                  <a:moveTo>
                    <a:pt x="711199" y="594271"/>
                  </a:moveTo>
                  <a:lnTo>
                    <a:pt x="710160" y="603140"/>
                  </a:lnTo>
                  <a:lnTo>
                    <a:pt x="708625" y="611943"/>
                  </a:lnTo>
                  <a:lnTo>
                    <a:pt x="706599" y="620660"/>
                  </a:lnTo>
                  <a:lnTo>
                    <a:pt x="704087" y="629272"/>
                  </a:lnTo>
                </a:path>
                <a:path w="1057275" h="674370">
                  <a:moveTo>
                    <a:pt x="852601" y="377964"/>
                  </a:moveTo>
                  <a:lnTo>
                    <a:pt x="888768" y="400861"/>
                  </a:lnTo>
                  <a:lnTo>
                    <a:pt x="916181" y="431666"/>
                  </a:lnTo>
                  <a:lnTo>
                    <a:pt x="933483" y="468329"/>
                  </a:lnTo>
                  <a:lnTo>
                    <a:pt x="939317" y="508800"/>
                  </a:lnTo>
                </a:path>
                <a:path w="1057275" h="674370">
                  <a:moveTo>
                    <a:pt x="1057122" y="238620"/>
                  </a:moveTo>
                  <a:lnTo>
                    <a:pt x="1049795" y="252391"/>
                  </a:lnTo>
                  <a:lnTo>
                    <a:pt x="1040852" y="265239"/>
                  </a:lnTo>
                  <a:lnTo>
                    <a:pt x="1030392" y="277039"/>
                  </a:lnTo>
                  <a:lnTo>
                    <a:pt x="1018514" y="287667"/>
                  </a:lnTo>
                </a:path>
                <a:path w="1057275" h="674370">
                  <a:moveTo>
                    <a:pt x="964476" y="56578"/>
                  </a:moveTo>
                  <a:lnTo>
                    <a:pt x="965949" y="64223"/>
                  </a:lnTo>
                  <a:lnTo>
                    <a:pt x="966635" y="71983"/>
                  </a:lnTo>
                  <a:lnTo>
                    <a:pt x="966520" y="79756"/>
                  </a:lnTo>
                </a:path>
                <a:path w="1057275" h="674370">
                  <a:moveTo>
                    <a:pt x="717892" y="29552"/>
                  </a:moveTo>
                  <a:lnTo>
                    <a:pt x="721968" y="21677"/>
                  </a:lnTo>
                  <a:lnTo>
                    <a:pt x="726636" y="14109"/>
                  </a:lnTo>
                  <a:lnTo>
                    <a:pt x="731876" y="6875"/>
                  </a:lnTo>
                  <a:lnTo>
                    <a:pt x="737666" y="0"/>
                  </a:lnTo>
                </a:path>
                <a:path w="1057275" h="674370">
                  <a:moveTo>
                    <a:pt x="532879" y="43637"/>
                  </a:moveTo>
                  <a:lnTo>
                    <a:pt x="534638" y="37063"/>
                  </a:lnTo>
                  <a:lnTo>
                    <a:pt x="536825" y="30611"/>
                  </a:lnTo>
                  <a:lnTo>
                    <a:pt x="539437" y="24300"/>
                  </a:lnTo>
                  <a:lnTo>
                    <a:pt x="542467" y="18148"/>
                  </a:lnTo>
                </a:path>
                <a:path w="1057275" h="674370">
                  <a:moveTo>
                    <a:pt x="315760" y="52285"/>
                  </a:moveTo>
                  <a:lnTo>
                    <a:pt x="325018" y="57719"/>
                  </a:lnTo>
                  <a:lnTo>
                    <a:pt x="333900" y="63663"/>
                  </a:lnTo>
                  <a:lnTo>
                    <a:pt x="342379" y="70100"/>
                  </a:lnTo>
                  <a:lnTo>
                    <a:pt x="350431" y="77012"/>
                  </a:lnTo>
                </a:path>
                <a:path w="1057275" h="674370">
                  <a:moveTo>
                    <a:pt x="52450" y="246595"/>
                  </a:moveTo>
                  <a:lnTo>
                    <a:pt x="50529" y="240179"/>
                  </a:lnTo>
                  <a:lnTo>
                    <a:pt x="48880" y="233699"/>
                  </a:lnTo>
                  <a:lnTo>
                    <a:pt x="47505" y="227161"/>
                  </a:lnTo>
                  <a:lnTo>
                    <a:pt x="46405" y="220573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703018" y="2897508"/>
            <a:ext cx="558165" cy="656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645"/>
              </a:lnSpc>
              <a:spcBef>
                <a:spcPts val="95"/>
              </a:spcBef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受限于</a:t>
            </a:r>
            <a:endParaRPr sz="1400">
              <a:latin typeface="SimSun"/>
              <a:cs typeface="SimSun"/>
            </a:endParaRPr>
          </a:p>
          <a:p>
            <a:pPr marL="33655">
              <a:lnSpc>
                <a:spcPts val="1645"/>
              </a:lnSpc>
            </a:pPr>
            <a:r>
              <a:rPr dirty="0" sz="1400" spc="-45">
                <a:solidFill>
                  <a:srgbClr val="C00000"/>
                </a:solidFill>
                <a:latin typeface="Arial MT"/>
                <a:cs typeface="Arial MT"/>
              </a:rPr>
              <a:t>LTE</a:t>
            </a:r>
            <a:r>
              <a:rPr dirty="0" sz="1400" spc="-60">
                <a:solidFill>
                  <a:srgbClr val="C00000"/>
                </a:solidFill>
                <a:latin typeface="SimSun"/>
                <a:cs typeface="SimSun"/>
              </a:rPr>
              <a:t>网</a:t>
            </a:r>
            <a:endParaRPr sz="1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络性能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306244" y="911777"/>
            <a:ext cx="640080" cy="495934"/>
            <a:chOff x="8306244" y="911777"/>
            <a:chExt cx="640080" cy="495934"/>
          </a:xfrm>
        </p:grpSpPr>
        <p:sp>
          <p:nvSpPr>
            <p:cNvPr id="17" name="object 17" descr=""/>
            <p:cNvSpPr/>
            <p:nvPr/>
          </p:nvSpPr>
          <p:spPr>
            <a:xfrm>
              <a:off x="8337994" y="1231566"/>
              <a:ext cx="216535" cy="144145"/>
            </a:xfrm>
            <a:custGeom>
              <a:avLst/>
              <a:gdLst/>
              <a:ahLst/>
              <a:cxnLst/>
              <a:rect l="l" t="t" r="r" b="b"/>
              <a:pathLst>
                <a:path w="216534" h="144144">
                  <a:moveTo>
                    <a:pt x="0" y="0"/>
                  </a:moveTo>
                  <a:lnTo>
                    <a:pt x="216027" y="144018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554017" y="943527"/>
              <a:ext cx="360045" cy="432434"/>
            </a:xfrm>
            <a:custGeom>
              <a:avLst/>
              <a:gdLst/>
              <a:ahLst/>
              <a:cxnLst/>
              <a:rect l="l" t="t" r="r" b="b"/>
              <a:pathLst>
                <a:path w="360045" h="432434">
                  <a:moveTo>
                    <a:pt x="0" y="432053"/>
                  </a:moveTo>
                  <a:lnTo>
                    <a:pt x="360045" y="0"/>
                  </a:lnTo>
                </a:path>
              </a:pathLst>
            </a:custGeom>
            <a:ln w="635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739666" y="1190009"/>
            <a:ext cx="582295" cy="34988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745"/>
              </a:spcBef>
            </a:pPr>
            <a:r>
              <a:rPr dirty="0" sz="900" spc="-25">
                <a:latin typeface="Times New Roman"/>
                <a:cs typeface="Times New Roman"/>
              </a:rPr>
              <a:t>NGC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24949" y="2032676"/>
            <a:ext cx="1003935" cy="375920"/>
            <a:chOff x="224949" y="2032676"/>
            <a:chExt cx="1003935" cy="375920"/>
          </a:xfrm>
        </p:grpSpPr>
        <p:sp>
          <p:nvSpPr>
            <p:cNvPr id="21" name="object 21" descr=""/>
            <p:cNvSpPr/>
            <p:nvPr/>
          </p:nvSpPr>
          <p:spPr>
            <a:xfrm>
              <a:off x="226219" y="2033945"/>
              <a:ext cx="1001394" cy="373380"/>
            </a:xfrm>
            <a:custGeom>
              <a:avLst/>
              <a:gdLst/>
              <a:ahLst/>
              <a:cxnLst/>
              <a:rect l="l" t="t" r="r" b="b"/>
              <a:pathLst>
                <a:path w="1001394" h="373380">
                  <a:moveTo>
                    <a:pt x="500603" y="372947"/>
                  </a:moveTo>
                  <a:lnTo>
                    <a:pt x="432673" y="371245"/>
                  </a:lnTo>
                  <a:lnTo>
                    <a:pt x="367522" y="366286"/>
                  </a:lnTo>
                  <a:lnTo>
                    <a:pt x="305744" y="358293"/>
                  </a:lnTo>
                  <a:lnTo>
                    <a:pt x="247938" y="347488"/>
                  </a:lnTo>
                  <a:lnTo>
                    <a:pt x="194698" y="334093"/>
                  </a:lnTo>
                  <a:lnTo>
                    <a:pt x="146622" y="318331"/>
                  </a:lnTo>
                  <a:lnTo>
                    <a:pt x="104306" y="300422"/>
                  </a:lnTo>
                  <a:lnTo>
                    <a:pt x="68346" y="280591"/>
                  </a:lnTo>
                  <a:lnTo>
                    <a:pt x="17881" y="236046"/>
                  </a:lnTo>
                  <a:lnTo>
                    <a:pt x="0" y="186473"/>
                  </a:lnTo>
                  <a:lnTo>
                    <a:pt x="4569" y="161170"/>
                  </a:lnTo>
                  <a:lnTo>
                    <a:pt x="39339" y="113889"/>
                  </a:lnTo>
                  <a:lnTo>
                    <a:pt x="104306" y="72524"/>
                  </a:lnTo>
                  <a:lnTo>
                    <a:pt x="146622" y="54616"/>
                  </a:lnTo>
                  <a:lnTo>
                    <a:pt x="194698" y="38853"/>
                  </a:lnTo>
                  <a:lnTo>
                    <a:pt x="247938" y="25458"/>
                  </a:lnTo>
                  <a:lnTo>
                    <a:pt x="305744" y="14653"/>
                  </a:lnTo>
                  <a:lnTo>
                    <a:pt x="367522" y="6660"/>
                  </a:lnTo>
                  <a:lnTo>
                    <a:pt x="432673" y="1702"/>
                  </a:lnTo>
                  <a:lnTo>
                    <a:pt x="500603" y="0"/>
                  </a:lnTo>
                  <a:lnTo>
                    <a:pt x="568531" y="1702"/>
                  </a:lnTo>
                  <a:lnTo>
                    <a:pt x="633681" y="6660"/>
                  </a:lnTo>
                  <a:lnTo>
                    <a:pt x="695458" y="14653"/>
                  </a:lnTo>
                  <a:lnTo>
                    <a:pt x="753265" y="25458"/>
                  </a:lnTo>
                  <a:lnTo>
                    <a:pt x="806505" y="38853"/>
                  </a:lnTo>
                  <a:lnTo>
                    <a:pt x="854581" y="54616"/>
                  </a:lnTo>
                  <a:lnTo>
                    <a:pt x="896898" y="72524"/>
                  </a:lnTo>
                  <a:lnTo>
                    <a:pt x="932858" y="92356"/>
                  </a:lnTo>
                  <a:lnTo>
                    <a:pt x="983323" y="136901"/>
                  </a:lnTo>
                  <a:lnTo>
                    <a:pt x="1001206" y="186473"/>
                  </a:lnTo>
                  <a:lnTo>
                    <a:pt x="996636" y="211777"/>
                  </a:lnTo>
                  <a:lnTo>
                    <a:pt x="961865" y="259058"/>
                  </a:lnTo>
                  <a:lnTo>
                    <a:pt x="896898" y="300422"/>
                  </a:lnTo>
                  <a:lnTo>
                    <a:pt x="854581" y="318331"/>
                  </a:lnTo>
                  <a:lnTo>
                    <a:pt x="806505" y="334093"/>
                  </a:lnTo>
                  <a:lnTo>
                    <a:pt x="753265" y="347488"/>
                  </a:lnTo>
                  <a:lnTo>
                    <a:pt x="695458" y="358293"/>
                  </a:lnTo>
                  <a:lnTo>
                    <a:pt x="633681" y="366286"/>
                  </a:lnTo>
                  <a:lnTo>
                    <a:pt x="568531" y="371245"/>
                  </a:lnTo>
                  <a:lnTo>
                    <a:pt x="500603" y="372947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26219" y="2033946"/>
              <a:ext cx="1001394" cy="373380"/>
            </a:xfrm>
            <a:custGeom>
              <a:avLst/>
              <a:gdLst/>
              <a:ahLst/>
              <a:cxnLst/>
              <a:rect l="l" t="t" r="r" b="b"/>
              <a:pathLst>
                <a:path w="1001394" h="373380">
                  <a:moveTo>
                    <a:pt x="0" y="186473"/>
                  </a:moveTo>
                  <a:lnTo>
                    <a:pt x="17881" y="136901"/>
                  </a:lnTo>
                  <a:lnTo>
                    <a:pt x="68346" y="92356"/>
                  </a:lnTo>
                  <a:lnTo>
                    <a:pt x="104306" y="72524"/>
                  </a:lnTo>
                  <a:lnTo>
                    <a:pt x="146622" y="54616"/>
                  </a:lnTo>
                  <a:lnTo>
                    <a:pt x="194698" y="38853"/>
                  </a:lnTo>
                  <a:lnTo>
                    <a:pt x="247938" y="25458"/>
                  </a:lnTo>
                  <a:lnTo>
                    <a:pt x="305744" y="14653"/>
                  </a:lnTo>
                  <a:lnTo>
                    <a:pt x="367522" y="6660"/>
                  </a:lnTo>
                  <a:lnTo>
                    <a:pt x="432673" y="1702"/>
                  </a:lnTo>
                  <a:lnTo>
                    <a:pt x="500603" y="0"/>
                  </a:lnTo>
                  <a:lnTo>
                    <a:pt x="568531" y="1702"/>
                  </a:lnTo>
                  <a:lnTo>
                    <a:pt x="633681" y="6660"/>
                  </a:lnTo>
                  <a:lnTo>
                    <a:pt x="695458" y="14653"/>
                  </a:lnTo>
                  <a:lnTo>
                    <a:pt x="753265" y="25458"/>
                  </a:lnTo>
                  <a:lnTo>
                    <a:pt x="806505" y="38853"/>
                  </a:lnTo>
                  <a:lnTo>
                    <a:pt x="854581" y="54616"/>
                  </a:lnTo>
                  <a:lnTo>
                    <a:pt x="896898" y="72524"/>
                  </a:lnTo>
                  <a:lnTo>
                    <a:pt x="932858" y="92356"/>
                  </a:lnTo>
                  <a:lnTo>
                    <a:pt x="983323" y="136901"/>
                  </a:lnTo>
                  <a:lnTo>
                    <a:pt x="1001206" y="186473"/>
                  </a:lnTo>
                  <a:lnTo>
                    <a:pt x="996636" y="211777"/>
                  </a:lnTo>
                  <a:lnTo>
                    <a:pt x="983323" y="236046"/>
                  </a:lnTo>
                  <a:lnTo>
                    <a:pt x="932858" y="280591"/>
                  </a:lnTo>
                  <a:lnTo>
                    <a:pt x="896898" y="300422"/>
                  </a:lnTo>
                  <a:lnTo>
                    <a:pt x="854581" y="318331"/>
                  </a:lnTo>
                  <a:lnTo>
                    <a:pt x="806505" y="334093"/>
                  </a:lnTo>
                  <a:lnTo>
                    <a:pt x="753265" y="347488"/>
                  </a:lnTo>
                  <a:lnTo>
                    <a:pt x="695458" y="358293"/>
                  </a:lnTo>
                  <a:lnTo>
                    <a:pt x="633681" y="366286"/>
                  </a:lnTo>
                  <a:lnTo>
                    <a:pt x="568531" y="371245"/>
                  </a:lnTo>
                  <a:lnTo>
                    <a:pt x="500603" y="372947"/>
                  </a:lnTo>
                  <a:lnTo>
                    <a:pt x="432673" y="371245"/>
                  </a:lnTo>
                  <a:lnTo>
                    <a:pt x="367522" y="366286"/>
                  </a:lnTo>
                  <a:lnTo>
                    <a:pt x="305744" y="358293"/>
                  </a:lnTo>
                  <a:lnTo>
                    <a:pt x="247938" y="347488"/>
                  </a:lnTo>
                  <a:lnTo>
                    <a:pt x="194698" y="334093"/>
                  </a:lnTo>
                  <a:lnTo>
                    <a:pt x="146622" y="318331"/>
                  </a:lnTo>
                  <a:lnTo>
                    <a:pt x="104306" y="300422"/>
                  </a:lnTo>
                  <a:lnTo>
                    <a:pt x="68346" y="280591"/>
                  </a:lnTo>
                  <a:lnTo>
                    <a:pt x="17881" y="236046"/>
                  </a:lnTo>
                  <a:lnTo>
                    <a:pt x="4569" y="211777"/>
                  </a:lnTo>
                  <a:lnTo>
                    <a:pt x="0" y="18647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08755" y="2127138"/>
            <a:ext cx="23622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latin typeface="Times New Roman"/>
                <a:cs typeface="Times New Roman"/>
              </a:rPr>
              <a:t>LTE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74387" y="1867600"/>
            <a:ext cx="2158365" cy="541020"/>
            <a:chOff x="374387" y="1867600"/>
            <a:chExt cx="2158365" cy="541020"/>
          </a:xfrm>
        </p:grpSpPr>
        <p:sp>
          <p:nvSpPr>
            <p:cNvPr id="25" name="object 25" descr=""/>
            <p:cNvSpPr/>
            <p:nvPr/>
          </p:nvSpPr>
          <p:spPr>
            <a:xfrm>
              <a:off x="436765" y="2136509"/>
              <a:ext cx="81280" cy="84455"/>
            </a:xfrm>
            <a:custGeom>
              <a:avLst/>
              <a:gdLst/>
              <a:ahLst/>
              <a:cxnLst/>
              <a:rect l="l" t="t" r="r" b="b"/>
              <a:pathLst>
                <a:path w="81279" h="84455">
                  <a:moveTo>
                    <a:pt x="57218" y="83912"/>
                  </a:moveTo>
                  <a:lnTo>
                    <a:pt x="0" y="83912"/>
                  </a:lnTo>
                  <a:lnTo>
                    <a:pt x="38589" y="0"/>
                  </a:lnTo>
                  <a:lnTo>
                    <a:pt x="76180" y="23947"/>
                  </a:lnTo>
                  <a:lnTo>
                    <a:pt x="81049" y="40922"/>
                  </a:lnTo>
                  <a:lnTo>
                    <a:pt x="79105" y="57861"/>
                  </a:lnTo>
                  <a:lnTo>
                    <a:pt x="70958" y="72834"/>
                  </a:lnTo>
                  <a:lnTo>
                    <a:pt x="57218" y="8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483" y="2020531"/>
              <a:ext cx="46583" cy="2680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12491" y="2020541"/>
              <a:ext cx="46990" cy="27305"/>
            </a:xfrm>
            <a:custGeom>
              <a:avLst/>
              <a:gdLst/>
              <a:ahLst/>
              <a:cxnLst/>
              <a:rect l="l" t="t" r="r" b="b"/>
              <a:pathLst>
                <a:path w="46990" h="27305">
                  <a:moveTo>
                    <a:pt x="46567" y="13401"/>
                  </a:moveTo>
                  <a:lnTo>
                    <a:pt x="44737" y="8185"/>
                  </a:lnTo>
                  <a:lnTo>
                    <a:pt x="39747" y="3925"/>
                  </a:lnTo>
                  <a:lnTo>
                    <a:pt x="32345" y="1053"/>
                  </a:lnTo>
                  <a:lnTo>
                    <a:pt x="23280" y="0"/>
                  </a:lnTo>
                  <a:lnTo>
                    <a:pt x="14218" y="1053"/>
                  </a:lnTo>
                  <a:lnTo>
                    <a:pt x="6818" y="3925"/>
                  </a:lnTo>
                  <a:lnTo>
                    <a:pt x="1829" y="8185"/>
                  </a:lnTo>
                  <a:lnTo>
                    <a:pt x="0" y="13401"/>
                  </a:lnTo>
                  <a:lnTo>
                    <a:pt x="1829" y="18617"/>
                  </a:lnTo>
                  <a:lnTo>
                    <a:pt x="6818" y="22877"/>
                  </a:lnTo>
                  <a:lnTo>
                    <a:pt x="14218" y="25749"/>
                  </a:lnTo>
                  <a:lnTo>
                    <a:pt x="23280" y="26802"/>
                  </a:lnTo>
                  <a:lnTo>
                    <a:pt x="32345" y="25749"/>
                  </a:lnTo>
                  <a:lnTo>
                    <a:pt x="39747" y="22877"/>
                  </a:lnTo>
                  <a:lnTo>
                    <a:pt x="44737" y="18617"/>
                  </a:lnTo>
                  <a:lnTo>
                    <a:pt x="46567" y="13401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597" y="2032711"/>
              <a:ext cx="92875" cy="187477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89603" y="2032708"/>
              <a:ext cx="93345" cy="187960"/>
            </a:xfrm>
            <a:custGeom>
              <a:avLst/>
              <a:gdLst/>
              <a:ahLst/>
              <a:cxnLst/>
              <a:rect l="l" t="t" r="r" b="b"/>
              <a:pathLst>
                <a:path w="93345" h="187960">
                  <a:moveTo>
                    <a:pt x="92339" y="157401"/>
                  </a:moveTo>
                  <a:lnTo>
                    <a:pt x="69355" y="6"/>
                  </a:lnTo>
                  <a:lnTo>
                    <a:pt x="63221" y="8170"/>
                  </a:lnTo>
                  <a:lnTo>
                    <a:pt x="54732" y="13170"/>
                  </a:lnTo>
                  <a:lnTo>
                    <a:pt x="22984" y="0"/>
                  </a:lnTo>
                  <a:lnTo>
                    <a:pt x="0" y="157413"/>
                  </a:lnTo>
                  <a:lnTo>
                    <a:pt x="1270" y="168033"/>
                  </a:lnTo>
                  <a:lnTo>
                    <a:pt x="9239" y="177229"/>
                  </a:lnTo>
                  <a:lnTo>
                    <a:pt x="22616" y="184036"/>
                  </a:lnTo>
                  <a:lnTo>
                    <a:pt x="40111" y="187485"/>
                  </a:lnTo>
                  <a:lnTo>
                    <a:pt x="58558" y="186753"/>
                  </a:lnTo>
                  <a:lnTo>
                    <a:pt x="74532" y="182166"/>
                  </a:lnTo>
                  <a:lnTo>
                    <a:pt x="86353" y="174468"/>
                  </a:lnTo>
                  <a:lnTo>
                    <a:pt x="92339" y="164401"/>
                  </a:lnTo>
                  <a:lnTo>
                    <a:pt x="92869" y="162082"/>
                  </a:lnTo>
                  <a:lnTo>
                    <a:pt x="92869" y="159726"/>
                  </a:lnTo>
                  <a:lnTo>
                    <a:pt x="92339" y="157407"/>
                  </a:lnTo>
                  <a:close/>
                </a:path>
              </a:pathLst>
            </a:custGeom>
            <a:ln w="5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129" y="1900326"/>
              <a:ext cx="23291" cy="2330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24129" y="190032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23286" y="11656"/>
                  </a:moveTo>
                  <a:lnTo>
                    <a:pt x="23286" y="5217"/>
                  </a:lnTo>
                  <a:lnTo>
                    <a:pt x="18074" y="0"/>
                  </a:lnTo>
                  <a:lnTo>
                    <a:pt x="11643" y="0"/>
                  </a:lnTo>
                  <a:lnTo>
                    <a:pt x="5217" y="0"/>
                  </a:lnTo>
                  <a:lnTo>
                    <a:pt x="0" y="5217"/>
                  </a:lnTo>
                  <a:lnTo>
                    <a:pt x="0" y="11656"/>
                  </a:lnTo>
                  <a:lnTo>
                    <a:pt x="0" y="18094"/>
                  </a:lnTo>
                  <a:lnTo>
                    <a:pt x="5217" y="23312"/>
                  </a:lnTo>
                  <a:lnTo>
                    <a:pt x="11643" y="23312"/>
                  </a:lnTo>
                  <a:lnTo>
                    <a:pt x="18074" y="23312"/>
                  </a:lnTo>
                  <a:lnTo>
                    <a:pt x="23286" y="18094"/>
                  </a:lnTo>
                  <a:lnTo>
                    <a:pt x="23286" y="11656"/>
                  </a:lnTo>
                  <a:close/>
                </a:path>
              </a:pathLst>
            </a:custGeom>
            <a:ln w="5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35774" y="1923635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307"/>
                  </a:moveTo>
                  <a:lnTo>
                    <a:pt x="0" y="0"/>
                  </a:lnTo>
                </a:path>
              </a:pathLst>
            </a:custGeom>
            <a:ln w="5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7562" y="1870775"/>
              <a:ext cx="116839" cy="82550"/>
            </a:xfrm>
            <a:custGeom>
              <a:avLst/>
              <a:gdLst/>
              <a:ahLst/>
              <a:cxnLst/>
              <a:rect l="l" t="t" r="r" b="b"/>
              <a:pathLst>
                <a:path w="116840" h="82550">
                  <a:moveTo>
                    <a:pt x="33516" y="16485"/>
                  </a:moveTo>
                  <a:lnTo>
                    <a:pt x="25844" y="28051"/>
                  </a:lnTo>
                  <a:lnTo>
                    <a:pt x="23286" y="41209"/>
                  </a:lnTo>
                  <a:lnTo>
                    <a:pt x="25844" y="54367"/>
                  </a:lnTo>
                  <a:lnTo>
                    <a:pt x="33516" y="65934"/>
                  </a:lnTo>
                </a:path>
                <a:path w="116840" h="82550">
                  <a:moveTo>
                    <a:pt x="82911" y="65934"/>
                  </a:moveTo>
                  <a:lnTo>
                    <a:pt x="90579" y="54365"/>
                  </a:lnTo>
                  <a:lnTo>
                    <a:pt x="93136" y="41207"/>
                  </a:lnTo>
                  <a:lnTo>
                    <a:pt x="90579" y="28051"/>
                  </a:lnTo>
                  <a:lnTo>
                    <a:pt x="82911" y="16485"/>
                  </a:lnTo>
                </a:path>
                <a:path w="116840" h="82550">
                  <a:moveTo>
                    <a:pt x="17049" y="6"/>
                  </a:moveTo>
                  <a:lnTo>
                    <a:pt x="4262" y="19280"/>
                  </a:lnTo>
                  <a:lnTo>
                    <a:pt x="0" y="41207"/>
                  </a:lnTo>
                  <a:lnTo>
                    <a:pt x="4262" y="63135"/>
                  </a:lnTo>
                  <a:lnTo>
                    <a:pt x="17049" y="82413"/>
                  </a:lnTo>
                </a:path>
                <a:path w="116840" h="82550">
                  <a:moveTo>
                    <a:pt x="99378" y="82413"/>
                  </a:moveTo>
                  <a:lnTo>
                    <a:pt x="112161" y="63136"/>
                  </a:lnTo>
                  <a:lnTo>
                    <a:pt x="116422" y="41208"/>
                  </a:lnTo>
                  <a:lnTo>
                    <a:pt x="112161" y="19280"/>
                  </a:lnTo>
                  <a:lnTo>
                    <a:pt x="99378" y="0"/>
                  </a:lnTo>
                </a:path>
              </a:pathLst>
            </a:custGeom>
            <a:ln w="5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89601" y="1900329"/>
              <a:ext cx="93345" cy="320040"/>
            </a:xfrm>
            <a:custGeom>
              <a:avLst/>
              <a:gdLst/>
              <a:ahLst/>
              <a:cxnLst/>
              <a:rect l="l" t="t" r="r" b="b"/>
              <a:pathLst>
                <a:path w="93345" h="320039">
                  <a:moveTo>
                    <a:pt x="46173" y="120212"/>
                  </a:moveTo>
                  <a:lnTo>
                    <a:pt x="37637" y="121150"/>
                  </a:lnTo>
                  <a:lnTo>
                    <a:pt x="30494" y="123717"/>
                  </a:lnTo>
                  <a:lnTo>
                    <a:pt x="25393" y="127574"/>
                  </a:lnTo>
                  <a:lnTo>
                    <a:pt x="22984" y="132380"/>
                  </a:lnTo>
                  <a:lnTo>
                    <a:pt x="0" y="289794"/>
                  </a:lnTo>
                  <a:lnTo>
                    <a:pt x="1270" y="300413"/>
                  </a:lnTo>
                  <a:lnTo>
                    <a:pt x="9239" y="309609"/>
                  </a:lnTo>
                  <a:lnTo>
                    <a:pt x="22616" y="316414"/>
                  </a:lnTo>
                  <a:lnTo>
                    <a:pt x="40111" y="319859"/>
                  </a:lnTo>
                  <a:lnTo>
                    <a:pt x="58561" y="319131"/>
                  </a:lnTo>
                  <a:lnTo>
                    <a:pt x="74535" y="314546"/>
                  </a:lnTo>
                  <a:lnTo>
                    <a:pt x="86354" y="306848"/>
                  </a:lnTo>
                  <a:lnTo>
                    <a:pt x="92339" y="296781"/>
                  </a:lnTo>
                  <a:lnTo>
                    <a:pt x="92875" y="294462"/>
                  </a:lnTo>
                  <a:lnTo>
                    <a:pt x="92875" y="292106"/>
                  </a:lnTo>
                  <a:lnTo>
                    <a:pt x="92339" y="289788"/>
                  </a:lnTo>
                  <a:lnTo>
                    <a:pt x="69533" y="133601"/>
                  </a:lnTo>
                  <a:lnTo>
                    <a:pt x="67681" y="128383"/>
                  </a:lnTo>
                  <a:lnTo>
                    <a:pt x="62670" y="124124"/>
                  </a:lnTo>
                  <a:lnTo>
                    <a:pt x="55250" y="121257"/>
                  </a:lnTo>
                  <a:lnTo>
                    <a:pt x="46173" y="120212"/>
                  </a:lnTo>
                </a:path>
                <a:path w="93345" h="320039">
                  <a:moveTo>
                    <a:pt x="57816" y="11656"/>
                  </a:moveTo>
                  <a:lnTo>
                    <a:pt x="57816" y="5217"/>
                  </a:lnTo>
                  <a:lnTo>
                    <a:pt x="52604" y="0"/>
                  </a:lnTo>
                  <a:lnTo>
                    <a:pt x="46173" y="0"/>
                  </a:lnTo>
                  <a:lnTo>
                    <a:pt x="39741" y="0"/>
                  </a:lnTo>
                  <a:lnTo>
                    <a:pt x="34529" y="5217"/>
                  </a:lnTo>
                  <a:lnTo>
                    <a:pt x="34529" y="11656"/>
                  </a:lnTo>
                  <a:lnTo>
                    <a:pt x="34529" y="18094"/>
                  </a:lnTo>
                  <a:lnTo>
                    <a:pt x="39741" y="23312"/>
                  </a:lnTo>
                  <a:lnTo>
                    <a:pt x="46173" y="23312"/>
                  </a:lnTo>
                  <a:lnTo>
                    <a:pt x="52604" y="23312"/>
                  </a:lnTo>
                  <a:lnTo>
                    <a:pt x="57816" y="18094"/>
                  </a:lnTo>
                  <a:lnTo>
                    <a:pt x="57816" y="11656"/>
                  </a:lnTo>
                  <a:close/>
                </a:path>
                <a:path w="93345" h="320039">
                  <a:moveTo>
                    <a:pt x="46173" y="120212"/>
                  </a:moveTo>
                  <a:lnTo>
                    <a:pt x="46173" y="23312"/>
                  </a:lnTo>
                </a:path>
              </a:pathLst>
            </a:custGeom>
            <a:ln w="1232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530114" y="2033947"/>
              <a:ext cx="1001394" cy="373380"/>
            </a:xfrm>
            <a:custGeom>
              <a:avLst/>
              <a:gdLst/>
              <a:ahLst/>
              <a:cxnLst/>
              <a:rect l="l" t="t" r="r" b="b"/>
              <a:pathLst>
                <a:path w="1001394" h="373380">
                  <a:moveTo>
                    <a:pt x="500603" y="372947"/>
                  </a:moveTo>
                  <a:lnTo>
                    <a:pt x="432673" y="371245"/>
                  </a:lnTo>
                  <a:lnTo>
                    <a:pt x="367522" y="366286"/>
                  </a:lnTo>
                  <a:lnTo>
                    <a:pt x="305744" y="358293"/>
                  </a:lnTo>
                  <a:lnTo>
                    <a:pt x="247938" y="347488"/>
                  </a:lnTo>
                  <a:lnTo>
                    <a:pt x="194698" y="334093"/>
                  </a:lnTo>
                  <a:lnTo>
                    <a:pt x="146622" y="318331"/>
                  </a:lnTo>
                  <a:lnTo>
                    <a:pt x="104306" y="300422"/>
                  </a:lnTo>
                  <a:lnTo>
                    <a:pt x="68346" y="280591"/>
                  </a:lnTo>
                  <a:lnTo>
                    <a:pt x="17881" y="236046"/>
                  </a:lnTo>
                  <a:lnTo>
                    <a:pt x="0" y="186473"/>
                  </a:lnTo>
                  <a:lnTo>
                    <a:pt x="4569" y="161170"/>
                  </a:lnTo>
                  <a:lnTo>
                    <a:pt x="39339" y="113889"/>
                  </a:lnTo>
                  <a:lnTo>
                    <a:pt x="104306" y="72524"/>
                  </a:lnTo>
                  <a:lnTo>
                    <a:pt x="146622" y="54616"/>
                  </a:lnTo>
                  <a:lnTo>
                    <a:pt x="194698" y="38853"/>
                  </a:lnTo>
                  <a:lnTo>
                    <a:pt x="247938" y="25458"/>
                  </a:lnTo>
                  <a:lnTo>
                    <a:pt x="305744" y="14653"/>
                  </a:lnTo>
                  <a:lnTo>
                    <a:pt x="367522" y="6660"/>
                  </a:lnTo>
                  <a:lnTo>
                    <a:pt x="432673" y="1702"/>
                  </a:lnTo>
                  <a:lnTo>
                    <a:pt x="500603" y="0"/>
                  </a:lnTo>
                  <a:lnTo>
                    <a:pt x="568531" y="1702"/>
                  </a:lnTo>
                  <a:lnTo>
                    <a:pt x="633681" y="6660"/>
                  </a:lnTo>
                  <a:lnTo>
                    <a:pt x="695458" y="14653"/>
                  </a:lnTo>
                  <a:lnTo>
                    <a:pt x="753265" y="25458"/>
                  </a:lnTo>
                  <a:lnTo>
                    <a:pt x="806505" y="38853"/>
                  </a:lnTo>
                  <a:lnTo>
                    <a:pt x="854581" y="54616"/>
                  </a:lnTo>
                  <a:lnTo>
                    <a:pt x="896898" y="72524"/>
                  </a:lnTo>
                  <a:lnTo>
                    <a:pt x="932858" y="92356"/>
                  </a:lnTo>
                  <a:lnTo>
                    <a:pt x="983323" y="136901"/>
                  </a:lnTo>
                  <a:lnTo>
                    <a:pt x="1001206" y="186473"/>
                  </a:lnTo>
                  <a:lnTo>
                    <a:pt x="996636" y="211777"/>
                  </a:lnTo>
                  <a:lnTo>
                    <a:pt x="961865" y="259058"/>
                  </a:lnTo>
                  <a:lnTo>
                    <a:pt x="896898" y="300422"/>
                  </a:lnTo>
                  <a:lnTo>
                    <a:pt x="854581" y="318331"/>
                  </a:lnTo>
                  <a:lnTo>
                    <a:pt x="806505" y="334093"/>
                  </a:lnTo>
                  <a:lnTo>
                    <a:pt x="753265" y="347488"/>
                  </a:lnTo>
                  <a:lnTo>
                    <a:pt x="695458" y="358293"/>
                  </a:lnTo>
                  <a:lnTo>
                    <a:pt x="633681" y="366286"/>
                  </a:lnTo>
                  <a:lnTo>
                    <a:pt x="568531" y="371245"/>
                  </a:lnTo>
                  <a:lnTo>
                    <a:pt x="500603" y="372947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530114" y="2033948"/>
              <a:ext cx="1001394" cy="373380"/>
            </a:xfrm>
            <a:custGeom>
              <a:avLst/>
              <a:gdLst/>
              <a:ahLst/>
              <a:cxnLst/>
              <a:rect l="l" t="t" r="r" b="b"/>
              <a:pathLst>
                <a:path w="1001394" h="373380">
                  <a:moveTo>
                    <a:pt x="0" y="186473"/>
                  </a:moveTo>
                  <a:lnTo>
                    <a:pt x="17881" y="136901"/>
                  </a:lnTo>
                  <a:lnTo>
                    <a:pt x="68346" y="92356"/>
                  </a:lnTo>
                  <a:lnTo>
                    <a:pt x="104306" y="72524"/>
                  </a:lnTo>
                  <a:lnTo>
                    <a:pt x="146622" y="54616"/>
                  </a:lnTo>
                  <a:lnTo>
                    <a:pt x="194698" y="38853"/>
                  </a:lnTo>
                  <a:lnTo>
                    <a:pt x="247938" y="25458"/>
                  </a:lnTo>
                  <a:lnTo>
                    <a:pt x="305744" y="14653"/>
                  </a:lnTo>
                  <a:lnTo>
                    <a:pt x="367522" y="6660"/>
                  </a:lnTo>
                  <a:lnTo>
                    <a:pt x="432673" y="1702"/>
                  </a:lnTo>
                  <a:lnTo>
                    <a:pt x="500603" y="0"/>
                  </a:lnTo>
                  <a:lnTo>
                    <a:pt x="568531" y="1702"/>
                  </a:lnTo>
                  <a:lnTo>
                    <a:pt x="633681" y="6660"/>
                  </a:lnTo>
                  <a:lnTo>
                    <a:pt x="695458" y="14653"/>
                  </a:lnTo>
                  <a:lnTo>
                    <a:pt x="753265" y="25458"/>
                  </a:lnTo>
                  <a:lnTo>
                    <a:pt x="806505" y="38853"/>
                  </a:lnTo>
                  <a:lnTo>
                    <a:pt x="854581" y="54616"/>
                  </a:lnTo>
                  <a:lnTo>
                    <a:pt x="896898" y="72524"/>
                  </a:lnTo>
                  <a:lnTo>
                    <a:pt x="932858" y="92356"/>
                  </a:lnTo>
                  <a:lnTo>
                    <a:pt x="983323" y="136901"/>
                  </a:lnTo>
                  <a:lnTo>
                    <a:pt x="1001206" y="186473"/>
                  </a:lnTo>
                  <a:lnTo>
                    <a:pt x="996636" y="211777"/>
                  </a:lnTo>
                  <a:lnTo>
                    <a:pt x="961865" y="259058"/>
                  </a:lnTo>
                  <a:lnTo>
                    <a:pt x="896898" y="300422"/>
                  </a:lnTo>
                  <a:lnTo>
                    <a:pt x="854581" y="318330"/>
                  </a:lnTo>
                  <a:lnTo>
                    <a:pt x="806505" y="334093"/>
                  </a:lnTo>
                  <a:lnTo>
                    <a:pt x="753265" y="347488"/>
                  </a:lnTo>
                  <a:lnTo>
                    <a:pt x="695458" y="358293"/>
                  </a:lnTo>
                  <a:lnTo>
                    <a:pt x="633681" y="366286"/>
                  </a:lnTo>
                  <a:lnTo>
                    <a:pt x="568531" y="371245"/>
                  </a:lnTo>
                  <a:lnTo>
                    <a:pt x="500603" y="372947"/>
                  </a:lnTo>
                  <a:lnTo>
                    <a:pt x="432673" y="371245"/>
                  </a:lnTo>
                  <a:lnTo>
                    <a:pt x="367522" y="366286"/>
                  </a:lnTo>
                  <a:lnTo>
                    <a:pt x="305744" y="358293"/>
                  </a:lnTo>
                  <a:lnTo>
                    <a:pt x="247938" y="347488"/>
                  </a:lnTo>
                  <a:lnTo>
                    <a:pt x="194698" y="334093"/>
                  </a:lnTo>
                  <a:lnTo>
                    <a:pt x="146622" y="318330"/>
                  </a:lnTo>
                  <a:lnTo>
                    <a:pt x="104306" y="300422"/>
                  </a:lnTo>
                  <a:lnTo>
                    <a:pt x="68346" y="280591"/>
                  </a:lnTo>
                  <a:lnTo>
                    <a:pt x="17881" y="236046"/>
                  </a:lnTo>
                  <a:lnTo>
                    <a:pt x="0" y="18647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938143" y="2127139"/>
            <a:ext cx="18542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latin typeface="Times New Roman"/>
                <a:cs typeface="Times New Roman"/>
              </a:rPr>
              <a:t>NR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32701" y="1538664"/>
            <a:ext cx="1748155" cy="1479550"/>
            <a:chOff x="632701" y="1538664"/>
            <a:chExt cx="1748155" cy="1479550"/>
          </a:xfrm>
        </p:grpSpPr>
        <p:sp>
          <p:nvSpPr>
            <p:cNvPr id="39" name="object 39" descr=""/>
            <p:cNvSpPr/>
            <p:nvPr/>
          </p:nvSpPr>
          <p:spPr>
            <a:xfrm>
              <a:off x="2299470" y="2136510"/>
              <a:ext cx="81280" cy="84455"/>
            </a:xfrm>
            <a:custGeom>
              <a:avLst/>
              <a:gdLst/>
              <a:ahLst/>
              <a:cxnLst/>
              <a:rect l="l" t="t" r="r" b="b"/>
              <a:pathLst>
                <a:path w="81280" h="84455">
                  <a:moveTo>
                    <a:pt x="57218" y="83911"/>
                  </a:moveTo>
                  <a:lnTo>
                    <a:pt x="0" y="83911"/>
                  </a:lnTo>
                  <a:lnTo>
                    <a:pt x="38589" y="0"/>
                  </a:lnTo>
                  <a:lnTo>
                    <a:pt x="76180" y="23947"/>
                  </a:lnTo>
                  <a:lnTo>
                    <a:pt x="81049" y="40922"/>
                  </a:lnTo>
                  <a:lnTo>
                    <a:pt x="79105" y="57861"/>
                  </a:lnTo>
                  <a:lnTo>
                    <a:pt x="70958" y="72834"/>
                  </a:lnTo>
                  <a:lnTo>
                    <a:pt x="57218" y="83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5204" y="2020531"/>
              <a:ext cx="46558" cy="2680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2275196" y="2020541"/>
              <a:ext cx="46990" cy="27305"/>
            </a:xfrm>
            <a:custGeom>
              <a:avLst/>
              <a:gdLst/>
              <a:ahLst/>
              <a:cxnLst/>
              <a:rect l="l" t="t" r="r" b="b"/>
              <a:pathLst>
                <a:path w="46989" h="27305">
                  <a:moveTo>
                    <a:pt x="46567" y="13401"/>
                  </a:moveTo>
                  <a:lnTo>
                    <a:pt x="44737" y="8185"/>
                  </a:lnTo>
                  <a:lnTo>
                    <a:pt x="39747" y="3925"/>
                  </a:lnTo>
                  <a:lnTo>
                    <a:pt x="32345" y="1053"/>
                  </a:lnTo>
                  <a:lnTo>
                    <a:pt x="23280" y="0"/>
                  </a:lnTo>
                  <a:lnTo>
                    <a:pt x="14218" y="1053"/>
                  </a:lnTo>
                  <a:lnTo>
                    <a:pt x="6818" y="3925"/>
                  </a:lnTo>
                  <a:lnTo>
                    <a:pt x="1829" y="8185"/>
                  </a:lnTo>
                  <a:lnTo>
                    <a:pt x="0" y="13401"/>
                  </a:lnTo>
                  <a:lnTo>
                    <a:pt x="1829" y="18617"/>
                  </a:lnTo>
                  <a:lnTo>
                    <a:pt x="6818" y="22877"/>
                  </a:lnTo>
                  <a:lnTo>
                    <a:pt x="14218" y="25749"/>
                  </a:lnTo>
                  <a:lnTo>
                    <a:pt x="23280" y="26802"/>
                  </a:lnTo>
                  <a:lnTo>
                    <a:pt x="32345" y="25749"/>
                  </a:lnTo>
                  <a:lnTo>
                    <a:pt x="39747" y="22877"/>
                  </a:lnTo>
                  <a:lnTo>
                    <a:pt x="44737" y="18617"/>
                  </a:lnTo>
                  <a:lnTo>
                    <a:pt x="46567" y="13401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2306" y="2032711"/>
              <a:ext cx="92875" cy="18747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252308" y="2032708"/>
              <a:ext cx="93345" cy="187960"/>
            </a:xfrm>
            <a:custGeom>
              <a:avLst/>
              <a:gdLst/>
              <a:ahLst/>
              <a:cxnLst/>
              <a:rect l="l" t="t" r="r" b="b"/>
              <a:pathLst>
                <a:path w="93344" h="187960">
                  <a:moveTo>
                    <a:pt x="92339" y="157401"/>
                  </a:moveTo>
                  <a:lnTo>
                    <a:pt x="69355" y="6"/>
                  </a:lnTo>
                  <a:lnTo>
                    <a:pt x="63221" y="8170"/>
                  </a:lnTo>
                  <a:lnTo>
                    <a:pt x="54732" y="13170"/>
                  </a:lnTo>
                  <a:lnTo>
                    <a:pt x="22984" y="0"/>
                  </a:lnTo>
                  <a:lnTo>
                    <a:pt x="0" y="157413"/>
                  </a:lnTo>
                  <a:lnTo>
                    <a:pt x="1270" y="168033"/>
                  </a:lnTo>
                  <a:lnTo>
                    <a:pt x="9239" y="177229"/>
                  </a:lnTo>
                  <a:lnTo>
                    <a:pt x="22616" y="184036"/>
                  </a:lnTo>
                  <a:lnTo>
                    <a:pt x="40111" y="187485"/>
                  </a:lnTo>
                  <a:lnTo>
                    <a:pt x="58558" y="186753"/>
                  </a:lnTo>
                  <a:lnTo>
                    <a:pt x="74532" y="182166"/>
                  </a:lnTo>
                  <a:lnTo>
                    <a:pt x="86353" y="174468"/>
                  </a:lnTo>
                  <a:lnTo>
                    <a:pt x="92339" y="164401"/>
                  </a:lnTo>
                  <a:lnTo>
                    <a:pt x="92869" y="162082"/>
                  </a:lnTo>
                  <a:lnTo>
                    <a:pt x="92869" y="159726"/>
                  </a:lnTo>
                  <a:lnTo>
                    <a:pt x="92339" y="157407"/>
                  </a:lnTo>
                  <a:close/>
                </a:path>
              </a:pathLst>
            </a:custGeom>
            <a:ln w="5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838" y="1900326"/>
              <a:ext cx="23279" cy="23304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2286835" y="190032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86" y="11656"/>
                  </a:moveTo>
                  <a:lnTo>
                    <a:pt x="23286" y="5217"/>
                  </a:lnTo>
                  <a:lnTo>
                    <a:pt x="18074" y="0"/>
                  </a:lnTo>
                  <a:lnTo>
                    <a:pt x="11643" y="0"/>
                  </a:lnTo>
                  <a:lnTo>
                    <a:pt x="5217" y="0"/>
                  </a:lnTo>
                  <a:lnTo>
                    <a:pt x="0" y="5217"/>
                  </a:lnTo>
                  <a:lnTo>
                    <a:pt x="0" y="11656"/>
                  </a:lnTo>
                  <a:lnTo>
                    <a:pt x="0" y="18094"/>
                  </a:lnTo>
                  <a:lnTo>
                    <a:pt x="5217" y="23312"/>
                  </a:lnTo>
                  <a:lnTo>
                    <a:pt x="11643" y="23312"/>
                  </a:lnTo>
                  <a:lnTo>
                    <a:pt x="18074" y="23312"/>
                  </a:lnTo>
                  <a:lnTo>
                    <a:pt x="23286" y="18094"/>
                  </a:lnTo>
                  <a:lnTo>
                    <a:pt x="23286" y="11656"/>
                  </a:lnTo>
                  <a:close/>
                </a:path>
              </a:pathLst>
            </a:custGeom>
            <a:ln w="5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298480" y="1923635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307"/>
                  </a:moveTo>
                  <a:lnTo>
                    <a:pt x="0" y="0"/>
                  </a:lnTo>
                </a:path>
              </a:pathLst>
            </a:custGeom>
            <a:ln w="5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240267" y="1870775"/>
              <a:ext cx="116839" cy="82550"/>
            </a:xfrm>
            <a:custGeom>
              <a:avLst/>
              <a:gdLst/>
              <a:ahLst/>
              <a:cxnLst/>
              <a:rect l="l" t="t" r="r" b="b"/>
              <a:pathLst>
                <a:path w="116839" h="82550">
                  <a:moveTo>
                    <a:pt x="33516" y="16485"/>
                  </a:moveTo>
                  <a:lnTo>
                    <a:pt x="25844" y="28051"/>
                  </a:lnTo>
                  <a:lnTo>
                    <a:pt x="23286" y="41209"/>
                  </a:lnTo>
                  <a:lnTo>
                    <a:pt x="25844" y="54367"/>
                  </a:lnTo>
                  <a:lnTo>
                    <a:pt x="33516" y="65934"/>
                  </a:lnTo>
                </a:path>
                <a:path w="116839" h="82550">
                  <a:moveTo>
                    <a:pt x="82911" y="65934"/>
                  </a:moveTo>
                  <a:lnTo>
                    <a:pt x="90579" y="54365"/>
                  </a:lnTo>
                  <a:lnTo>
                    <a:pt x="93136" y="41207"/>
                  </a:lnTo>
                  <a:lnTo>
                    <a:pt x="90579" y="28051"/>
                  </a:lnTo>
                  <a:lnTo>
                    <a:pt x="82911" y="16485"/>
                  </a:lnTo>
                </a:path>
                <a:path w="116839" h="82550">
                  <a:moveTo>
                    <a:pt x="17049" y="6"/>
                  </a:moveTo>
                  <a:lnTo>
                    <a:pt x="4262" y="19280"/>
                  </a:lnTo>
                  <a:lnTo>
                    <a:pt x="0" y="41207"/>
                  </a:lnTo>
                  <a:lnTo>
                    <a:pt x="4262" y="63135"/>
                  </a:lnTo>
                  <a:lnTo>
                    <a:pt x="17049" y="82413"/>
                  </a:lnTo>
                </a:path>
                <a:path w="116839" h="82550">
                  <a:moveTo>
                    <a:pt x="99378" y="82413"/>
                  </a:moveTo>
                  <a:lnTo>
                    <a:pt x="112161" y="63136"/>
                  </a:lnTo>
                  <a:lnTo>
                    <a:pt x="116422" y="41208"/>
                  </a:lnTo>
                  <a:lnTo>
                    <a:pt x="112161" y="19280"/>
                  </a:lnTo>
                  <a:lnTo>
                    <a:pt x="99378" y="0"/>
                  </a:lnTo>
                </a:path>
              </a:pathLst>
            </a:custGeom>
            <a:ln w="5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252307" y="1900329"/>
              <a:ext cx="93345" cy="320040"/>
            </a:xfrm>
            <a:custGeom>
              <a:avLst/>
              <a:gdLst/>
              <a:ahLst/>
              <a:cxnLst/>
              <a:rect l="l" t="t" r="r" b="b"/>
              <a:pathLst>
                <a:path w="93344" h="320039">
                  <a:moveTo>
                    <a:pt x="46173" y="120212"/>
                  </a:moveTo>
                  <a:lnTo>
                    <a:pt x="37637" y="121150"/>
                  </a:lnTo>
                  <a:lnTo>
                    <a:pt x="30494" y="123717"/>
                  </a:lnTo>
                  <a:lnTo>
                    <a:pt x="25393" y="127574"/>
                  </a:lnTo>
                  <a:lnTo>
                    <a:pt x="22984" y="132380"/>
                  </a:lnTo>
                  <a:lnTo>
                    <a:pt x="0" y="289794"/>
                  </a:lnTo>
                  <a:lnTo>
                    <a:pt x="1270" y="300413"/>
                  </a:lnTo>
                  <a:lnTo>
                    <a:pt x="9239" y="309609"/>
                  </a:lnTo>
                  <a:lnTo>
                    <a:pt x="22616" y="316414"/>
                  </a:lnTo>
                  <a:lnTo>
                    <a:pt x="40111" y="319859"/>
                  </a:lnTo>
                  <a:lnTo>
                    <a:pt x="58562" y="319131"/>
                  </a:lnTo>
                  <a:lnTo>
                    <a:pt x="74538" y="314546"/>
                  </a:lnTo>
                  <a:lnTo>
                    <a:pt x="86359" y="306848"/>
                  </a:lnTo>
                  <a:lnTo>
                    <a:pt x="92346" y="296781"/>
                  </a:lnTo>
                  <a:lnTo>
                    <a:pt x="92875" y="294462"/>
                  </a:lnTo>
                  <a:lnTo>
                    <a:pt x="92875" y="292106"/>
                  </a:lnTo>
                  <a:lnTo>
                    <a:pt x="92346" y="289788"/>
                  </a:lnTo>
                  <a:lnTo>
                    <a:pt x="69533" y="133601"/>
                  </a:lnTo>
                  <a:lnTo>
                    <a:pt x="67681" y="128383"/>
                  </a:lnTo>
                  <a:lnTo>
                    <a:pt x="62670" y="124124"/>
                  </a:lnTo>
                  <a:lnTo>
                    <a:pt x="55250" y="121257"/>
                  </a:lnTo>
                  <a:lnTo>
                    <a:pt x="46173" y="120212"/>
                  </a:lnTo>
                </a:path>
                <a:path w="93344" h="320039">
                  <a:moveTo>
                    <a:pt x="57816" y="11656"/>
                  </a:moveTo>
                  <a:lnTo>
                    <a:pt x="57816" y="5217"/>
                  </a:lnTo>
                  <a:lnTo>
                    <a:pt x="52604" y="0"/>
                  </a:lnTo>
                  <a:lnTo>
                    <a:pt x="46173" y="0"/>
                  </a:lnTo>
                  <a:lnTo>
                    <a:pt x="39741" y="0"/>
                  </a:lnTo>
                  <a:lnTo>
                    <a:pt x="34529" y="5217"/>
                  </a:lnTo>
                  <a:lnTo>
                    <a:pt x="34529" y="11656"/>
                  </a:lnTo>
                  <a:lnTo>
                    <a:pt x="34529" y="18094"/>
                  </a:lnTo>
                  <a:lnTo>
                    <a:pt x="39741" y="23312"/>
                  </a:lnTo>
                  <a:lnTo>
                    <a:pt x="46173" y="23312"/>
                  </a:lnTo>
                  <a:lnTo>
                    <a:pt x="52604" y="23312"/>
                  </a:lnTo>
                  <a:lnTo>
                    <a:pt x="57816" y="18094"/>
                  </a:lnTo>
                  <a:lnTo>
                    <a:pt x="57816" y="11656"/>
                  </a:lnTo>
                  <a:close/>
                </a:path>
                <a:path w="93344" h="320039">
                  <a:moveTo>
                    <a:pt x="46173" y="120212"/>
                  </a:moveTo>
                  <a:lnTo>
                    <a:pt x="46173" y="23312"/>
                  </a:lnTo>
                </a:path>
              </a:pathLst>
            </a:custGeom>
            <a:ln w="1232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26823" y="1539651"/>
              <a:ext cx="1223010" cy="494665"/>
            </a:xfrm>
            <a:custGeom>
              <a:avLst/>
              <a:gdLst/>
              <a:ahLst/>
              <a:cxnLst/>
              <a:rect l="l" t="t" r="r" b="b"/>
              <a:pathLst>
                <a:path w="1223010" h="494664">
                  <a:moveTo>
                    <a:pt x="1222399" y="0"/>
                  </a:moveTo>
                  <a:lnTo>
                    <a:pt x="0" y="494295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227424" y="2196698"/>
              <a:ext cx="302895" cy="0"/>
            </a:xfrm>
            <a:custGeom>
              <a:avLst/>
              <a:gdLst/>
              <a:ahLst/>
              <a:cxnLst/>
              <a:rect l="l" t="t" r="r" b="b"/>
              <a:pathLst>
                <a:path w="302894" h="0">
                  <a:moveTo>
                    <a:pt x="0" y="0"/>
                  </a:moveTo>
                  <a:lnTo>
                    <a:pt x="302690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2504" y="2949790"/>
              <a:ext cx="135877" cy="6245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9637" y="2791028"/>
              <a:ext cx="94079" cy="18618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319639" y="2928282"/>
              <a:ext cx="42545" cy="49530"/>
            </a:xfrm>
            <a:custGeom>
              <a:avLst/>
              <a:gdLst/>
              <a:ahLst/>
              <a:cxnLst/>
              <a:rect l="l" t="t" r="r" b="b"/>
              <a:pathLst>
                <a:path w="42544" h="49530">
                  <a:moveTo>
                    <a:pt x="38433" y="34392"/>
                  </a:moveTo>
                  <a:lnTo>
                    <a:pt x="42102" y="24909"/>
                  </a:lnTo>
                  <a:lnTo>
                    <a:pt x="42521" y="15675"/>
                  </a:lnTo>
                  <a:lnTo>
                    <a:pt x="39827" y="7727"/>
                  </a:lnTo>
                  <a:lnTo>
                    <a:pt x="34157" y="2106"/>
                  </a:lnTo>
                  <a:lnTo>
                    <a:pt x="26461" y="0"/>
                  </a:lnTo>
                  <a:lnTo>
                    <a:pt x="18238" y="1637"/>
                  </a:lnTo>
                  <a:lnTo>
                    <a:pt x="10457" y="6617"/>
                  </a:lnTo>
                  <a:lnTo>
                    <a:pt x="4088" y="14539"/>
                  </a:lnTo>
                  <a:lnTo>
                    <a:pt x="418" y="24025"/>
                  </a:lnTo>
                  <a:lnTo>
                    <a:pt x="0" y="33261"/>
                  </a:lnTo>
                  <a:lnTo>
                    <a:pt x="2694" y="41207"/>
                  </a:lnTo>
                  <a:lnTo>
                    <a:pt x="8363" y="46825"/>
                  </a:lnTo>
                  <a:lnTo>
                    <a:pt x="16062" y="48932"/>
                  </a:lnTo>
                  <a:lnTo>
                    <a:pt x="24285" y="47295"/>
                  </a:lnTo>
                  <a:lnTo>
                    <a:pt x="32064" y="42314"/>
                  </a:lnTo>
                  <a:lnTo>
                    <a:pt x="38433" y="34392"/>
                  </a:lnTo>
                  <a:close/>
                </a:path>
              </a:pathLst>
            </a:custGeom>
            <a:ln w="59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2504" y="2908744"/>
              <a:ext cx="128168" cy="78239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192501" y="2908735"/>
              <a:ext cx="128270" cy="78740"/>
            </a:xfrm>
            <a:custGeom>
              <a:avLst/>
              <a:gdLst/>
              <a:ahLst/>
              <a:cxnLst/>
              <a:rect l="l" t="t" r="r" b="b"/>
              <a:pathLst>
                <a:path w="128269" h="78739">
                  <a:moveTo>
                    <a:pt x="59073" y="0"/>
                  </a:moveTo>
                  <a:lnTo>
                    <a:pt x="19505" y="21836"/>
                  </a:lnTo>
                  <a:lnTo>
                    <a:pt x="0" y="43596"/>
                  </a:lnTo>
                  <a:lnTo>
                    <a:pt x="3651" y="52662"/>
                  </a:lnTo>
                  <a:lnTo>
                    <a:pt x="36314" y="76482"/>
                  </a:lnTo>
                  <a:lnTo>
                    <a:pt x="48800" y="78246"/>
                  </a:lnTo>
                  <a:lnTo>
                    <a:pt x="61406" y="77372"/>
                  </a:lnTo>
                  <a:lnTo>
                    <a:pt x="73728" y="73847"/>
                  </a:lnTo>
                  <a:lnTo>
                    <a:pt x="128169" y="41049"/>
                  </a:lnTo>
                  <a:lnTo>
                    <a:pt x="59073" y="0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67701" y="2790532"/>
              <a:ext cx="123215" cy="13877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267705" y="2791020"/>
              <a:ext cx="123825" cy="138430"/>
            </a:xfrm>
            <a:custGeom>
              <a:avLst/>
              <a:gdLst/>
              <a:ahLst/>
              <a:cxnLst/>
              <a:rect l="l" t="t" r="r" b="b"/>
              <a:pathLst>
                <a:path w="123825" h="138430">
                  <a:moveTo>
                    <a:pt x="0" y="96345"/>
                  </a:moveTo>
                  <a:lnTo>
                    <a:pt x="71843" y="138282"/>
                  </a:lnTo>
                  <a:lnTo>
                    <a:pt x="76593" y="137320"/>
                  </a:lnTo>
                  <a:lnTo>
                    <a:pt x="117413" y="65397"/>
                  </a:lnTo>
                  <a:lnTo>
                    <a:pt x="123211" y="48294"/>
                  </a:lnTo>
                  <a:lnTo>
                    <a:pt x="122176" y="30973"/>
                  </a:lnTo>
                  <a:lnTo>
                    <a:pt x="96411" y="937"/>
                  </a:lnTo>
                  <a:lnTo>
                    <a:pt x="93633" y="0"/>
                  </a:lnTo>
                  <a:lnTo>
                    <a:pt x="78276" y="138"/>
                  </a:lnTo>
                  <a:lnTo>
                    <a:pt x="63797" y="4575"/>
                  </a:lnTo>
                  <a:lnTo>
                    <a:pt x="51040" y="12914"/>
                  </a:lnTo>
                  <a:lnTo>
                    <a:pt x="40850" y="24761"/>
                  </a:lnTo>
                  <a:lnTo>
                    <a:pt x="0" y="96345"/>
                  </a:lnTo>
                  <a:close/>
                </a:path>
              </a:pathLst>
            </a:custGeom>
            <a:ln w="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1572" y="2887370"/>
              <a:ext cx="87972" cy="62420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251574" y="2887365"/>
              <a:ext cx="88265" cy="62865"/>
            </a:xfrm>
            <a:custGeom>
              <a:avLst/>
              <a:gdLst/>
              <a:ahLst/>
              <a:cxnLst/>
              <a:rect l="l" t="t" r="r" b="b"/>
              <a:pathLst>
                <a:path w="88265" h="62864">
                  <a:moveTo>
                    <a:pt x="0" y="21369"/>
                  </a:moveTo>
                  <a:lnTo>
                    <a:pt x="69096" y="62419"/>
                  </a:lnTo>
                  <a:lnTo>
                    <a:pt x="71937" y="55686"/>
                  </a:lnTo>
                  <a:lnTo>
                    <a:pt x="76162" y="49886"/>
                  </a:lnTo>
                  <a:lnTo>
                    <a:pt x="81574" y="45232"/>
                  </a:lnTo>
                  <a:lnTo>
                    <a:pt x="87978" y="41937"/>
                  </a:lnTo>
                  <a:lnTo>
                    <a:pt x="16128" y="0"/>
                  </a:lnTo>
                  <a:lnTo>
                    <a:pt x="10232" y="3664"/>
                  </a:lnTo>
                  <a:lnTo>
                    <a:pt x="5451" y="8614"/>
                  </a:lnTo>
                  <a:lnTo>
                    <a:pt x="1976" y="14600"/>
                  </a:lnTo>
                  <a:lnTo>
                    <a:pt x="0" y="21369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229666" y="2951593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4010" y="9078"/>
                  </a:moveTo>
                  <a:lnTo>
                    <a:pt x="1102" y="8072"/>
                  </a:lnTo>
                  <a:lnTo>
                    <a:pt x="0" y="3953"/>
                  </a:lnTo>
                  <a:lnTo>
                    <a:pt x="2014" y="1628"/>
                  </a:lnTo>
                  <a:lnTo>
                    <a:pt x="8082" y="0"/>
                  </a:lnTo>
                  <a:lnTo>
                    <a:pt x="10990" y="1005"/>
                  </a:lnTo>
                  <a:lnTo>
                    <a:pt x="11538" y="3065"/>
                  </a:lnTo>
                  <a:lnTo>
                    <a:pt x="12086" y="5125"/>
                  </a:lnTo>
                  <a:lnTo>
                    <a:pt x="10078" y="7450"/>
                  </a:lnTo>
                  <a:lnTo>
                    <a:pt x="4010" y="90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229666" y="2951594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11538" y="3065"/>
                  </a:moveTo>
                  <a:lnTo>
                    <a:pt x="10990" y="1005"/>
                  </a:lnTo>
                  <a:lnTo>
                    <a:pt x="8082" y="0"/>
                  </a:lnTo>
                  <a:lnTo>
                    <a:pt x="5045" y="814"/>
                  </a:lnTo>
                  <a:lnTo>
                    <a:pt x="2014" y="1628"/>
                  </a:lnTo>
                  <a:lnTo>
                    <a:pt x="0" y="3953"/>
                  </a:lnTo>
                  <a:lnTo>
                    <a:pt x="554" y="6013"/>
                  </a:lnTo>
                  <a:lnTo>
                    <a:pt x="1102" y="8072"/>
                  </a:lnTo>
                  <a:lnTo>
                    <a:pt x="4010" y="9078"/>
                  </a:lnTo>
                  <a:lnTo>
                    <a:pt x="7041" y="8264"/>
                  </a:lnTo>
                  <a:lnTo>
                    <a:pt x="10078" y="7450"/>
                  </a:lnTo>
                  <a:lnTo>
                    <a:pt x="12086" y="5125"/>
                  </a:lnTo>
                  <a:lnTo>
                    <a:pt x="11538" y="3065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06690" y="2799524"/>
              <a:ext cx="77213" cy="73812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1306691" y="2799522"/>
              <a:ext cx="77470" cy="74295"/>
            </a:xfrm>
            <a:custGeom>
              <a:avLst/>
              <a:gdLst/>
              <a:ahLst/>
              <a:cxnLst/>
              <a:rect l="l" t="t" r="r" b="b"/>
              <a:pathLst>
                <a:path w="77469" h="74294">
                  <a:moveTo>
                    <a:pt x="0" y="37731"/>
                  </a:moveTo>
                  <a:lnTo>
                    <a:pt x="62245" y="73816"/>
                  </a:lnTo>
                  <a:lnTo>
                    <a:pt x="72570" y="54629"/>
                  </a:lnTo>
                  <a:lnTo>
                    <a:pt x="77214" y="40947"/>
                  </a:lnTo>
                  <a:lnTo>
                    <a:pt x="59689" y="4915"/>
                  </a:lnTo>
                  <a:lnTo>
                    <a:pt x="47965" y="0"/>
                  </a:lnTo>
                  <a:lnTo>
                    <a:pt x="41601" y="6"/>
                  </a:lnTo>
                  <a:lnTo>
                    <a:pt x="32361" y="2061"/>
                  </a:lnTo>
                  <a:lnTo>
                    <a:pt x="23918" y="6118"/>
                  </a:lnTo>
                  <a:lnTo>
                    <a:pt x="16579" y="11985"/>
                  </a:lnTo>
                  <a:lnTo>
                    <a:pt x="10651" y="19470"/>
                  </a:lnTo>
                  <a:lnTo>
                    <a:pt x="0" y="37731"/>
                  </a:lnTo>
                  <a:close/>
                </a:path>
              </a:pathLst>
            </a:custGeom>
            <a:ln w="5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192498" y="2790729"/>
              <a:ext cx="221615" cy="221615"/>
            </a:xfrm>
            <a:custGeom>
              <a:avLst/>
              <a:gdLst/>
              <a:ahLst/>
              <a:cxnLst/>
              <a:rect l="l" t="t" r="r" b="b"/>
              <a:pathLst>
                <a:path w="221615" h="221614">
                  <a:moveTo>
                    <a:pt x="75207" y="96636"/>
                  </a:moveTo>
                  <a:lnTo>
                    <a:pt x="69374" y="100367"/>
                  </a:lnTo>
                  <a:lnTo>
                    <a:pt x="64624" y="105327"/>
                  </a:lnTo>
                  <a:lnTo>
                    <a:pt x="61132" y="111284"/>
                  </a:lnTo>
                  <a:lnTo>
                    <a:pt x="59073" y="118006"/>
                  </a:lnTo>
                  <a:lnTo>
                    <a:pt x="6868" y="148009"/>
                  </a:lnTo>
                  <a:lnTo>
                    <a:pt x="2710" y="151266"/>
                  </a:lnTo>
                  <a:lnTo>
                    <a:pt x="190" y="156249"/>
                  </a:lnTo>
                  <a:lnTo>
                    <a:pt x="0" y="161602"/>
                  </a:lnTo>
                  <a:lnTo>
                    <a:pt x="43" y="187875"/>
                  </a:lnTo>
                  <a:lnTo>
                    <a:pt x="25494" y="216615"/>
                  </a:lnTo>
                  <a:lnTo>
                    <a:pt x="47983" y="221276"/>
                  </a:lnTo>
                  <a:lnTo>
                    <a:pt x="57829" y="221186"/>
                  </a:lnTo>
                  <a:lnTo>
                    <a:pt x="67598" y="219928"/>
                  </a:lnTo>
                  <a:lnTo>
                    <a:pt x="77191" y="217509"/>
                  </a:lnTo>
                  <a:lnTo>
                    <a:pt x="133030" y="184575"/>
                  </a:lnTo>
                  <a:lnTo>
                    <a:pt x="141580" y="186362"/>
                  </a:lnTo>
                  <a:lnTo>
                    <a:pt x="169303" y="160905"/>
                  </a:lnTo>
                  <a:lnTo>
                    <a:pt x="168095" y="153597"/>
                  </a:lnTo>
                  <a:lnTo>
                    <a:pt x="219646" y="66127"/>
                  </a:lnTo>
                  <a:lnTo>
                    <a:pt x="221101" y="50899"/>
                  </a:lnTo>
                  <a:lnTo>
                    <a:pt x="217827" y="36350"/>
                  </a:lnTo>
                  <a:lnTo>
                    <a:pt x="210264" y="23586"/>
                  </a:lnTo>
                  <a:lnTo>
                    <a:pt x="198848" y="13711"/>
                  </a:lnTo>
                  <a:lnTo>
                    <a:pt x="168841" y="291"/>
                  </a:lnTo>
                  <a:lnTo>
                    <a:pt x="153314" y="0"/>
                  </a:lnTo>
                  <a:lnTo>
                    <a:pt x="138711" y="4325"/>
                  </a:lnTo>
                  <a:lnTo>
                    <a:pt x="125977" y="12824"/>
                  </a:lnTo>
                  <a:lnTo>
                    <a:pt x="116057" y="25052"/>
                  </a:lnTo>
                  <a:lnTo>
                    <a:pt x="75207" y="96636"/>
                  </a:lnTo>
                </a:path>
              </a:pathLst>
            </a:custGeom>
            <a:ln w="1232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6484" y="2849041"/>
              <a:ext cx="67068" cy="6554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295286" y="2854202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09" h="56514">
                  <a:moveTo>
                    <a:pt x="31233" y="47266"/>
                  </a:moveTo>
                  <a:lnTo>
                    <a:pt x="35792" y="49831"/>
                  </a:lnTo>
                  <a:lnTo>
                    <a:pt x="36248" y="51934"/>
                  </a:lnTo>
                  <a:lnTo>
                    <a:pt x="33969" y="56368"/>
                  </a:lnTo>
                </a:path>
                <a:path w="54609" h="56514">
                  <a:moveTo>
                    <a:pt x="15616" y="38280"/>
                  </a:moveTo>
                  <a:lnTo>
                    <a:pt x="20175" y="40845"/>
                  </a:lnTo>
                  <a:lnTo>
                    <a:pt x="20631" y="42948"/>
                  </a:lnTo>
                  <a:lnTo>
                    <a:pt x="18352" y="47383"/>
                  </a:lnTo>
                </a:path>
                <a:path w="54609" h="56514">
                  <a:moveTo>
                    <a:pt x="0" y="29757"/>
                  </a:moveTo>
                  <a:lnTo>
                    <a:pt x="4558" y="32328"/>
                  </a:lnTo>
                  <a:lnTo>
                    <a:pt x="5014" y="34425"/>
                  </a:lnTo>
                  <a:lnTo>
                    <a:pt x="2735" y="38860"/>
                  </a:lnTo>
                </a:path>
                <a:path w="54609" h="56514">
                  <a:moveTo>
                    <a:pt x="9006" y="14468"/>
                  </a:moveTo>
                  <a:lnTo>
                    <a:pt x="13565" y="17040"/>
                  </a:lnTo>
                  <a:lnTo>
                    <a:pt x="14021" y="19137"/>
                  </a:lnTo>
                  <a:lnTo>
                    <a:pt x="11741" y="23571"/>
                  </a:lnTo>
                </a:path>
                <a:path w="54609" h="56514">
                  <a:moveTo>
                    <a:pt x="17779" y="0"/>
                  </a:moveTo>
                  <a:lnTo>
                    <a:pt x="22344" y="2565"/>
                  </a:lnTo>
                  <a:lnTo>
                    <a:pt x="22800" y="4668"/>
                  </a:lnTo>
                  <a:lnTo>
                    <a:pt x="20520" y="9102"/>
                  </a:lnTo>
                </a:path>
                <a:path w="54609" h="56514">
                  <a:moveTo>
                    <a:pt x="33402" y="8517"/>
                  </a:moveTo>
                  <a:lnTo>
                    <a:pt x="37961" y="11088"/>
                  </a:lnTo>
                  <a:lnTo>
                    <a:pt x="38416" y="13185"/>
                  </a:lnTo>
                  <a:lnTo>
                    <a:pt x="36137" y="17619"/>
                  </a:lnTo>
                </a:path>
                <a:path w="54609" h="56514">
                  <a:moveTo>
                    <a:pt x="49019" y="17502"/>
                  </a:moveTo>
                  <a:lnTo>
                    <a:pt x="53577" y="20074"/>
                  </a:lnTo>
                  <a:lnTo>
                    <a:pt x="54033" y="22171"/>
                  </a:lnTo>
                  <a:lnTo>
                    <a:pt x="51754" y="26605"/>
                  </a:lnTo>
                </a:path>
                <a:path w="54609" h="56514">
                  <a:moveTo>
                    <a:pt x="24623" y="22991"/>
                  </a:moveTo>
                  <a:lnTo>
                    <a:pt x="29182" y="25557"/>
                  </a:lnTo>
                  <a:lnTo>
                    <a:pt x="29638" y="27660"/>
                  </a:lnTo>
                  <a:lnTo>
                    <a:pt x="27358" y="32094"/>
                  </a:lnTo>
                </a:path>
                <a:path w="54609" h="56514">
                  <a:moveTo>
                    <a:pt x="40240" y="31977"/>
                  </a:moveTo>
                  <a:lnTo>
                    <a:pt x="44799" y="34542"/>
                  </a:lnTo>
                  <a:lnTo>
                    <a:pt x="45255" y="36645"/>
                  </a:lnTo>
                  <a:lnTo>
                    <a:pt x="42975" y="41080"/>
                  </a:lnTo>
                </a:path>
              </a:pathLst>
            </a:custGeom>
            <a:ln w="591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26821" y="2406893"/>
              <a:ext cx="477520" cy="396875"/>
            </a:xfrm>
            <a:custGeom>
              <a:avLst/>
              <a:gdLst/>
              <a:ahLst/>
              <a:cxnLst/>
              <a:rect l="l" t="t" r="r" b="b"/>
              <a:pathLst>
                <a:path w="477519" h="396875">
                  <a:moveTo>
                    <a:pt x="0" y="0"/>
                  </a:moveTo>
                  <a:lnTo>
                    <a:pt x="477316" y="39626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61951" y="2405322"/>
              <a:ext cx="572770" cy="484505"/>
            </a:xfrm>
            <a:custGeom>
              <a:avLst/>
              <a:gdLst/>
              <a:ahLst/>
              <a:cxnLst/>
              <a:rect l="l" t="t" r="r" b="b"/>
              <a:pathLst>
                <a:path w="572769" h="484505">
                  <a:moveTo>
                    <a:pt x="0" y="0"/>
                  </a:moveTo>
                  <a:lnTo>
                    <a:pt x="572416" y="484341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483545" y="2406895"/>
              <a:ext cx="547370" cy="396875"/>
            </a:xfrm>
            <a:custGeom>
              <a:avLst/>
              <a:gdLst/>
              <a:ahLst/>
              <a:cxnLst/>
              <a:rect l="l" t="t" r="r" b="b"/>
              <a:pathLst>
                <a:path w="547369" h="396875">
                  <a:moveTo>
                    <a:pt x="547170" y="0"/>
                  </a:moveTo>
                  <a:lnTo>
                    <a:pt x="0" y="39626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33687" y="1539651"/>
              <a:ext cx="1223010" cy="494665"/>
            </a:xfrm>
            <a:custGeom>
              <a:avLst/>
              <a:gdLst/>
              <a:ahLst/>
              <a:cxnLst/>
              <a:rect l="l" t="t" r="r" b="b"/>
              <a:pathLst>
                <a:path w="1223010" h="494664">
                  <a:moveTo>
                    <a:pt x="1222399" y="0"/>
                  </a:moveTo>
                  <a:lnTo>
                    <a:pt x="0" y="49429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27424" y="2243316"/>
              <a:ext cx="302895" cy="0"/>
            </a:xfrm>
            <a:custGeom>
              <a:avLst/>
              <a:gdLst/>
              <a:ahLst/>
              <a:cxnLst/>
              <a:rect l="l" t="t" r="r" b="b"/>
              <a:pathLst>
                <a:path w="302894" h="0">
                  <a:moveTo>
                    <a:pt x="0" y="0"/>
                  </a:moveTo>
                  <a:lnTo>
                    <a:pt x="302690" y="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4624140" y="1174362"/>
            <a:ext cx="584200" cy="3492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745"/>
              </a:spcBef>
            </a:pPr>
            <a:r>
              <a:rPr dirty="0" sz="900" spc="-25">
                <a:latin typeface="Times New Roman"/>
                <a:cs typeface="Times New Roman"/>
              </a:rPr>
              <a:t>NGC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3105301" y="2015726"/>
            <a:ext cx="1006475" cy="375285"/>
            <a:chOff x="3105301" y="2015726"/>
            <a:chExt cx="1006475" cy="375285"/>
          </a:xfrm>
        </p:grpSpPr>
        <p:sp>
          <p:nvSpPr>
            <p:cNvPr id="74" name="object 74" descr=""/>
            <p:cNvSpPr/>
            <p:nvPr/>
          </p:nvSpPr>
          <p:spPr>
            <a:xfrm>
              <a:off x="3106571" y="2016995"/>
              <a:ext cx="1003935" cy="372745"/>
            </a:xfrm>
            <a:custGeom>
              <a:avLst/>
              <a:gdLst/>
              <a:ahLst/>
              <a:cxnLst/>
              <a:rect l="l" t="t" r="r" b="b"/>
              <a:pathLst>
                <a:path w="1003935" h="372744">
                  <a:moveTo>
                    <a:pt x="501965" y="372370"/>
                  </a:moveTo>
                  <a:lnTo>
                    <a:pt x="433851" y="370671"/>
                  </a:lnTo>
                  <a:lnTo>
                    <a:pt x="368522" y="365720"/>
                  </a:lnTo>
                  <a:lnTo>
                    <a:pt x="306576" y="357739"/>
                  </a:lnTo>
                  <a:lnTo>
                    <a:pt x="248612" y="346951"/>
                  </a:lnTo>
                  <a:lnTo>
                    <a:pt x="195228" y="333577"/>
                  </a:lnTo>
                  <a:lnTo>
                    <a:pt x="147021" y="317838"/>
                  </a:lnTo>
                  <a:lnTo>
                    <a:pt x="104590" y="299958"/>
                  </a:lnTo>
                  <a:lnTo>
                    <a:pt x="68532" y="280157"/>
                  </a:lnTo>
                  <a:lnTo>
                    <a:pt x="17930" y="235681"/>
                  </a:lnTo>
                  <a:lnTo>
                    <a:pt x="0" y="186185"/>
                  </a:lnTo>
                  <a:lnTo>
                    <a:pt x="4582" y="160921"/>
                  </a:lnTo>
                  <a:lnTo>
                    <a:pt x="39446" y="113713"/>
                  </a:lnTo>
                  <a:lnTo>
                    <a:pt x="104590" y="72412"/>
                  </a:lnTo>
                  <a:lnTo>
                    <a:pt x="147021" y="54532"/>
                  </a:lnTo>
                  <a:lnTo>
                    <a:pt x="195228" y="38793"/>
                  </a:lnTo>
                  <a:lnTo>
                    <a:pt x="248612" y="25419"/>
                  </a:lnTo>
                  <a:lnTo>
                    <a:pt x="306576" y="14631"/>
                  </a:lnTo>
                  <a:lnTo>
                    <a:pt x="368522" y="6650"/>
                  </a:lnTo>
                  <a:lnTo>
                    <a:pt x="433851" y="1699"/>
                  </a:lnTo>
                  <a:lnTo>
                    <a:pt x="501965" y="0"/>
                  </a:lnTo>
                  <a:lnTo>
                    <a:pt x="570078" y="1699"/>
                  </a:lnTo>
                  <a:lnTo>
                    <a:pt x="635406" y="6650"/>
                  </a:lnTo>
                  <a:lnTo>
                    <a:pt x="697351" y="14631"/>
                  </a:lnTo>
                  <a:lnTo>
                    <a:pt x="755314" y="25419"/>
                  </a:lnTo>
                  <a:lnTo>
                    <a:pt x="808699" y="38793"/>
                  </a:lnTo>
                  <a:lnTo>
                    <a:pt x="856906" y="54532"/>
                  </a:lnTo>
                  <a:lnTo>
                    <a:pt x="899338" y="72412"/>
                  </a:lnTo>
                  <a:lnTo>
                    <a:pt x="935396" y="92213"/>
                  </a:lnTo>
                  <a:lnTo>
                    <a:pt x="985999" y="136689"/>
                  </a:lnTo>
                  <a:lnTo>
                    <a:pt x="1003930" y="186185"/>
                  </a:lnTo>
                  <a:lnTo>
                    <a:pt x="999348" y="211449"/>
                  </a:lnTo>
                  <a:lnTo>
                    <a:pt x="964483" y="258657"/>
                  </a:lnTo>
                  <a:lnTo>
                    <a:pt x="899338" y="299958"/>
                  </a:lnTo>
                  <a:lnTo>
                    <a:pt x="856906" y="317838"/>
                  </a:lnTo>
                  <a:lnTo>
                    <a:pt x="808699" y="333577"/>
                  </a:lnTo>
                  <a:lnTo>
                    <a:pt x="755314" y="346951"/>
                  </a:lnTo>
                  <a:lnTo>
                    <a:pt x="697351" y="357739"/>
                  </a:lnTo>
                  <a:lnTo>
                    <a:pt x="635406" y="365720"/>
                  </a:lnTo>
                  <a:lnTo>
                    <a:pt x="570078" y="370671"/>
                  </a:lnTo>
                  <a:lnTo>
                    <a:pt x="501965" y="372370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106571" y="2016996"/>
              <a:ext cx="1003935" cy="372745"/>
            </a:xfrm>
            <a:custGeom>
              <a:avLst/>
              <a:gdLst/>
              <a:ahLst/>
              <a:cxnLst/>
              <a:rect l="l" t="t" r="r" b="b"/>
              <a:pathLst>
                <a:path w="1003935" h="372744">
                  <a:moveTo>
                    <a:pt x="0" y="186185"/>
                  </a:moveTo>
                  <a:lnTo>
                    <a:pt x="17930" y="136689"/>
                  </a:lnTo>
                  <a:lnTo>
                    <a:pt x="68532" y="92213"/>
                  </a:lnTo>
                  <a:lnTo>
                    <a:pt x="104590" y="72412"/>
                  </a:lnTo>
                  <a:lnTo>
                    <a:pt x="147021" y="54532"/>
                  </a:lnTo>
                  <a:lnTo>
                    <a:pt x="195228" y="38793"/>
                  </a:lnTo>
                  <a:lnTo>
                    <a:pt x="248612" y="25419"/>
                  </a:lnTo>
                  <a:lnTo>
                    <a:pt x="306576" y="14631"/>
                  </a:lnTo>
                  <a:lnTo>
                    <a:pt x="368522" y="6650"/>
                  </a:lnTo>
                  <a:lnTo>
                    <a:pt x="433851" y="1699"/>
                  </a:lnTo>
                  <a:lnTo>
                    <a:pt x="501965" y="0"/>
                  </a:lnTo>
                  <a:lnTo>
                    <a:pt x="570078" y="1699"/>
                  </a:lnTo>
                  <a:lnTo>
                    <a:pt x="635406" y="6650"/>
                  </a:lnTo>
                  <a:lnTo>
                    <a:pt x="697351" y="14631"/>
                  </a:lnTo>
                  <a:lnTo>
                    <a:pt x="755314" y="25419"/>
                  </a:lnTo>
                  <a:lnTo>
                    <a:pt x="808699" y="38793"/>
                  </a:lnTo>
                  <a:lnTo>
                    <a:pt x="856906" y="54532"/>
                  </a:lnTo>
                  <a:lnTo>
                    <a:pt x="899338" y="72412"/>
                  </a:lnTo>
                  <a:lnTo>
                    <a:pt x="935396" y="92213"/>
                  </a:lnTo>
                  <a:lnTo>
                    <a:pt x="985999" y="136689"/>
                  </a:lnTo>
                  <a:lnTo>
                    <a:pt x="1003930" y="186185"/>
                  </a:lnTo>
                  <a:lnTo>
                    <a:pt x="999348" y="211449"/>
                  </a:lnTo>
                  <a:lnTo>
                    <a:pt x="964483" y="258657"/>
                  </a:lnTo>
                  <a:lnTo>
                    <a:pt x="899338" y="299958"/>
                  </a:lnTo>
                  <a:lnTo>
                    <a:pt x="856906" y="317838"/>
                  </a:lnTo>
                  <a:lnTo>
                    <a:pt x="808699" y="333577"/>
                  </a:lnTo>
                  <a:lnTo>
                    <a:pt x="755314" y="346951"/>
                  </a:lnTo>
                  <a:lnTo>
                    <a:pt x="697351" y="357739"/>
                  </a:lnTo>
                  <a:lnTo>
                    <a:pt x="635406" y="365720"/>
                  </a:lnTo>
                  <a:lnTo>
                    <a:pt x="570078" y="370671"/>
                  </a:lnTo>
                  <a:lnTo>
                    <a:pt x="501965" y="372370"/>
                  </a:lnTo>
                  <a:lnTo>
                    <a:pt x="433851" y="370671"/>
                  </a:lnTo>
                  <a:lnTo>
                    <a:pt x="368522" y="365720"/>
                  </a:lnTo>
                  <a:lnTo>
                    <a:pt x="306576" y="357739"/>
                  </a:lnTo>
                  <a:lnTo>
                    <a:pt x="248612" y="346951"/>
                  </a:lnTo>
                  <a:lnTo>
                    <a:pt x="195228" y="333577"/>
                  </a:lnTo>
                  <a:lnTo>
                    <a:pt x="147021" y="317838"/>
                  </a:lnTo>
                  <a:lnTo>
                    <a:pt x="104590" y="299958"/>
                  </a:lnTo>
                  <a:lnTo>
                    <a:pt x="68532" y="280157"/>
                  </a:lnTo>
                  <a:lnTo>
                    <a:pt x="17930" y="235681"/>
                  </a:lnTo>
                  <a:lnTo>
                    <a:pt x="0" y="1861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3490182" y="2110023"/>
            <a:ext cx="236854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latin typeface="Times New Roman"/>
                <a:cs typeface="Times New Roman"/>
              </a:rPr>
              <a:t>LTE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3255149" y="1850904"/>
            <a:ext cx="2164080" cy="539750"/>
            <a:chOff x="3255149" y="1850904"/>
            <a:chExt cx="2164080" cy="539750"/>
          </a:xfrm>
        </p:grpSpPr>
        <p:sp>
          <p:nvSpPr>
            <p:cNvPr id="78" name="object 78" descr=""/>
            <p:cNvSpPr/>
            <p:nvPr/>
          </p:nvSpPr>
          <p:spPr>
            <a:xfrm>
              <a:off x="3317689" y="2119399"/>
              <a:ext cx="81280" cy="83820"/>
            </a:xfrm>
            <a:custGeom>
              <a:avLst/>
              <a:gdLst/>
              <a:ahLst/>
              <a:cxnLst/>
              <a:rect l="l" t="t" r="r" b="b"/>
              <a:pathLst>
                <a:path w="81279" h="83819">
                  <a:moveTo>
                    <a:pt x="57374" y="83782"/>
                  </a:moveTo>
                  <a:lnTo>
                    <a:pt x="0" y="83782"/>
                  </a:lnTo>
                  <a:lnTo>
                    <a:pt x="38694" y="0"/>
                  </a:lnTo>
                  <a:lnTo>
                    <a:pt x="76388" y="23910"/>
                  </a:lnTo>
                  <a:lnTo>
                    <a:pt x="81270" y="40859"/>
                  </a:lnTo>
                  <a:lnTo>
                    <a:pt x="79320" y="57771"/>
                  </a:lnTo>
                  <a:lnTo>
                    <a:pt x="71151" y="72721"/>
                  </a:lnTo>
                  <a:lnTo>
                    <a:pt x="57374" y="83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93351" y="2003615"/>
              <a:ext cx="46685" cy="26758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3293348" y="2003614"/>
              <a:ext cx="46990" cy="27305"/>
            </a:xfrm>
            <a:custGeom>
              <a:avLst/>
              <a:gdLst/>
              <a:ahLst/>
              <a:cxnLst/>
              <a:rect l="l" t="t" r="r" b="b"/>
              <a:pathLst>
                <a:path w="46989" h="27305">
                  <a:moveTo>
                    <a:pt x="46694" y="13380"/>
                  </a:moveTo>
                  <a:lnTo>
                    <a:pt x="44859" y="8172"/>
                  </a:lnTo>
                  <a:lnTo>
                    <a:pt x="39855" y="3919"/>
                  </a:lnTo>
                  <a:lnTo>
                    <a:pt x="32433" y="1051"/>
                  </a:lnTo>
                  <a:lnTo>
                    <a:pt x="23343" y="0"/>
                  </a:lnTo>
                  <a:lnTo>
                    <a:pt x="14257" y="1051"/>
                  </a:lnTo>
                  <a:lnTo>
                    <a:pt x="6837" y="3919"/>
                  </a:lnTo>
                  <a:lnTo>
                    <a:pt x="1834" y="8172"/>
                  </a:lnTo>
                  <a:lnTo>
                    <a:pt x="0" y="13380"/>
                  </a:lnTo>
                  <a:lnTo>
                    <a:pt x="1834" y="18588"/>
                  </a:lnTo>
                  <a:lnTo>
                    <a:pt x="6837" y="22842"/>
                  </a:lnTo>
                  <a:lnTo>
                    <a:pt x="14257" y="25709"/>
                  </a:lnTo>
                  <a:lnTo>
                    <a:pt x="23343" y="26761"/>
                  </a:lnTo>
                  <a:lnTo>
                    <a:pt x="32433" y="25709"/>
                  </a:lnTo>
                  <a:lnTo>
                    <a:pt x="39855" y="22842"/>
                  </a:lnTo>
                  <a:lnTo>
                    <a:pt x="44859" y="18588"/>
                  </a:lnTo>
                  <a:lnTo>
                    <a:pt x="46694" y="13380"/>
                  </a:lnTo>
                  <a:close/>
                </a:path>
              </a:pathLst>
            </a:custGeom>
            <a:ln w="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70402" y="2015769"/>
              <a:ext cx="93116" cy="187185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3270397" y="2015761"/>
              <a:ext cx="93345" cy="187325"/>
            </a:xfrm>
            <a:custGeom>
              <a:avLst/>
              <a:gdLst/>
              <a:ahLst/>
              <a:cxnLst/>
              <a:rect l="l" t="t" r="r" b="b"/>
              <a:pathLst>
                <a:path w="93345" h="187325">
                  <a:moveTo>
                    <a:pt x="92591" y="157157"/>
                  </a:moveTo>
                  <a:lnTo>
                    <a:pt x="69543" y="6"/>
                  </a:lnTo>
                  <a:lnTo>
                    <a:pt x="63393" y="8157"/>
                  </a:lnTo>
                  <a:lnTo>
                    <a:pt x="54881" y="13149"/>
                  </a:lnTo>
                  <a:lnTo>
                    <a:pt x="23047" y="0"/>
                  </a:lnTo>
                  <a:lnTo>
                    <a:pt x="0" y="157170"/>
                  </a:lnTo>
                  <a:lnTo>
                    <a:pt x="1273" y="167773"/>
                  </a:lnTo>
                  <a:lnTo>
                    <a:pt x="9264" y="176955"/>
                  </a:lnTo>
                  <a:lnTo>
                    <a:pt x="22677" y="183751"/>
                  </a:lnTo>
                  <a:lnTo>
                    <a:pt x="40220" y="187195"/>
                  </a:lnTo>
                  <a:lnTo>
                    <a:pt x="58717" y="186464"/>
                  </a:lnTo>
                  <a:lnTo>
                    <a:pt x="74735" y="181885"/>
                  </a:lnTo>
                  <a:lnTo>
                    <a:pt x="86588" y="174198"/>
                  </a:lnTo>
                  <a:lnTo>
                    <a:pt x="92591" y="164146"/>
                  </a:lnTo>
                  <a:lnTo>
                    <a:pt x="93122" y="161831"/>
                  </a:lnTo>
                  <a:lnTo>
                    <a:pt x="93122" y="159479"/>
                  </a:lnTo>
                  <a:lnTo>
                    <a:pt x="92591" y="157164"/>
                  </a:lnTo>
                  <a:close/>
                </a:path>
              </a:pathLst>
            </a:custGeom>
            <a:ln w="5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305018" y="188358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23350" y="11638"/>
                  </a:moveTo>
                  <a:lnTo>
                    <a:pt x="23350" y="5209"/>
                  </a:lnTo>
                  <a:lnTo>
                    <a:pt x="18124" y="0"/>
                  </a:lnTo>
                  <a:lnTo>
                    <a:pt x="11675" y="0"/>
                  </a:lnTo>
                  <a:lnTo>
                    <a:pt x="5232" y="0"/>
                  </a:lnTo>
                  <a:lnTo>
                    <a:pt x="0" y="5209"/>
                  </a:lnTo>
                  <a:lnTo>
                    <a:pt x="0" y="11638"/>
                  </a:lnTo>
                  <a:lnTo>
                    <a:pt x="0" y="18066"/>
                  </a:lnTo>
                  <a:lnTo>
                    <a:pt x="5232" y="23276"/>
                  </a:lnTo>
                  <a:lnTo>
                    <a:pt x="11675" y="23276"/>
                  </a:lnTo>
                  <a:lnTo>
                    <a:pt x="18124" y="23276"/>
                  </a:lnTo>
                  <a:lnTo>
                    <a:pt x="23350" y="18066"/>
                  </a:lnTo>
                  <a:lnTo>
                    <a:pt x="23350" y="11638"/>
                  </a:lnTo>
                  <a:close/>
                </a:path>
              </a:pathLst>
            </a:custGeom>
            <a:ln w="5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316695" y="1906857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137"/>
                  </a:moveTo>
                  <a:lnTo>
                    <a:pt x="0" y="0"/>
                  </a:lnTo>
                </a:path>
              </a:pathLst>
            </a:custGeom>
            <a:ln w="5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258324" y="1854079"/>
              <a:ext cx="116839" cy="82550"/>
            </a:xfrm>
            <a:custGeom>
              <a:avLst/>
              <a:gdLst/>
              <a:ahLst/>
              <a:cxnLst/>
              <a:rect l="l" t="t" r="r" b="b"/>
              <a:pathLst>
                <a:path w="116839" h="82550">
                  <a:moveTo>
                    <a:pt x="33607" y="16459"/>
                  </a:moveTo>
                  <a:lnTo>
                    <a:pt x="25914" y="28008"/>
                  </a:lnTo>
                  <a:lnTo>
                    <a:pt x="23350" y="41146"/>
                  </a:lnTo>
                  <a:lnTo>
                    <a:pt x="25914" y="54283"/>
                  </a:lnTo>
                  <a:lnTo>
                    <a:pt x="33607" y="65832"/>
                  </a:lnTo>
                </a:path>
                <a:path w="116839" h="82550">
                  <a:moveTo>
                    <a:pt x="83136" y="65832"/>
                  </a:moveTo>
                  <a:lnTo>
                    <a:pt x="90826" y="54280"/>
                  </a:lnTo>
                  <a:lnTo>
                    <a:pt x="93389" y="41143"/>
                  </a:lnTo>
                  <a:lnTo>
                    <a:pt x="90826" y="28007"/>
                  </a:lnTo>
                  <a:lnTo>
                    <a:pt x="83136" y="16459"/>
                  </a:lnTo>
                </a:path>
                <a:path w="116839" h="82550">
                  <a:moveTo>
                    <a:pt x="17095" y="6"/>
                  </a:moveTo>
                  <a:lnTo>
                    <a:pt x="4273" y="19250"/>
                  </a:lnTo>
                  <a:lnTo>
                    <a:pt x="0" y="41143"/>
                  </a:lnTo>
                  <a:lnTo>
                    <a:pt x="4273" y="63038"/>
                  </a:lnTo>
                  <a:lnTo>
                    <a:pt x="17095" y="82285"/>
                  </a:lnTo>
                </a:path>
                <a:path w="116839" h="82550">
                  <a:moveTo>
                    <a:pt x="99648" y="82285"/>
                  </a:moveTo>
                  <a:lnTo>
                    <a:pt x="112466" y="63039"/>
                  </a:lnTo>
                  <a:lnTo>
                    <a:pt x="116739" y="41145"/>
                  </a:lnTo>
                  <a:lnTo>
                    <a:pt x="112466" y="19250"/>
                  </a:lnTo>
                  <a:lnTo>
                    <a:pt x="99648" y="0"/>
                  </a:lnTo>
                </a:path>
              </a:pathLst>
            </a:custGeom>
            <a:ln w="5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270396" y="1883586"/>
              <a:ext cx="93345" cy="319405"/>
            </a:xfrm>
            <a:custGeom>
              <a:avLst/>
              <a:gdLst/>
              <a:ahLst/>
              <a:cxnLst/>
              <a:rect l="l" t="t" r="r" b="b"/>
              <a:pathLst>
                <a:path w="93345" h="319405">
                  <a:moveTo>
                    <a:pt x="46298" y="120026"/>
                  </a:moveTo>
                  <a:lnTo>
                    <a:pt x="37740" y="120962"/>
                  </a:lnTo>
                  <a:lnTo>
                    <a:pt x="30578" y="123526"/>
                  </a:lnTo>
                  <a:lnTo>
                    <a:pt x="25465" y="127377"/>
                  </a:lnTo>
                  <a:lnTo>
                    <a:pt x="23053" y="132175"/>
                  </a:lnTo>
                  <a:lnTo>
                    <a:pt x="0" y="289346"/>
                  </a:lnTo>
                  <a:lnTo>
                    <a:pt x="1273" y="299949"/>
                  </a:lnTo>
                  <a:lnTo>
                    <a:pt x="9264" y="309130"/>
                  </a:lnTo>
                  <a:lnTo>
                    <a:pt x="22677" y="315925"/>
                  </a:lnTo>
                  <a:lnTo>
                    <a:pt x="40220" y="319365"/>
                  </a:lnTo>
                  <a:lnTo>
                    <a:pt x="58720" y="318637"/>
                  </a:lnTo>
                  <a:lnTo>
                    <a:pt x="74738" y="314060"/>
                  </a:lnTo>
                  <a:lnTo>
                    <a:pt x="86592" y="306374"/>
                  </a:lnTo>
                  <a:lnTo>
                    <a:pt x="92597" y="296322"/>
                  </a:lnTo>
                  <a:lnTo>
                    <a:pt x="93128" y="294007"/>
                  </a:lnTo>
                  <a:lnTo>
                    <a:pt x="93128" y="291655"/>
                  </a:lnTo>
                  <a:lnTo>
                    <a:pt x="92597" y="289339"/>
                  </a:lnTo>
                  <a:lnTo>
                    <a:pt x="69722" y="133395"/>
                  </a:lnTo>
                  <a:lnTo>
                    <a:pt x="67865" y="128184"/>
                  </a:lnTo>
                  <a:lnTo>
                    <a:pt x="62840" y="123933"/>
                  </a:lnTo>
                  <a:lnTo>
                    <a:pt x="55400" y="121070"/>
                  </a:lnTo>
                  <a:lnTo>
                    <a:pt x="46298" y="120026"/>
                  </a:lnTo>
                </a:path>
                <a:path w="93345" h="319405">
                  <a:moveTo>
                    <a:pt x="57973" y="11638"/>
                  </a:moveTo>
                  <a:lnTo>
                    <a:pt x="57973" y="5209"/>
                  </a:lnTo>
                  <a:lnTo>
                    <a:pt x="52747" y="0"/>
                  </a:lnTo>
                  <a:lnTo>
                    <a:pt x="46298" y="0"/>
                  </a:lnTo>
                  <a:lnTo>
                    <a:pt x="39849" y="0"/>
                  </a:lnTo>
                  <a:lnTo>
                    <a:pt x="34623" y="5209"/>
                  </a:lnTo>
                  <a:lnTo>
                    <a:pt x="34623" y="11638"/>
                  </a:lnTo>
                  <a:lnTo>
                    <a:pt x="34623" y="18066"/>
                  </a:lnTo>
                  <a:lnTo>
                    <a:pt x="39849" y="23276"/>
                  </a:lnTo>
                  <a:lnTo>
                    <a:pt x="46298" y="23276"/>
                  </a:lnTo>
                  <a:lnTo>
                    <a:pt x="52747" y="23276"/>
                  </a:lnTo>
                  <a:lnTo>
                    <a:pt x="57973" y="18066"/>
                  </a:lnTo>
                  <a:lnTo>
                    <a:pt x="57973" y="11638"/>
                  </a:lnTo>
                  <a:close/>
                </a:path>
                <a:path w="93345" h="319405">
                  <a:moveTo>
                    <a:pt x="46298" y="120026"/>
                  </a:moveTo>
                  <a:lnTo>
                    <a:pt x="46298" y="23276"/>
                  </a:lnTo>
                </a:path>
              </a:pathLst>
            </a:custGeom>
            <a:ln w="1233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414012" y="2016998"/>
              <a:ext cx="1003935" cy="372745"/>
            </a:xfrm>
            <a:custGeom>
              <a:avLst/>
              <a:gdLst/>
              <a:ahLst/>
              <a:cxnLst/>
              <a:rect l="l" t="t" r="r" b="b"/>
              <a:pathLst>
                <a:path w="1003935" h="372744">
                  <a:moveTo>
                    <a:pt x="501965" y="372370"/>
                  </a:moveTo>
                  <a:lnTo>
                    <a:pt x="433851" y="370671"/>
                  </a:lnTo>
                  <a:lnTo>
                    <a:pt x="368522" y="365720"/>
                  </a:lnTo>
                  <a:lnTo>
                    <a:pt x="306576" y="357739"/>
                  </a:lnTo>
                  <a:lnTo>
                    <a:pt x="248612" y="346951"/>
                  </a:lnTo>
                  <a:lnTo>
                    <a:pt x="195228" y="333577"/>
                  </a:lnTo>
                  <a:lnTo>
                    <a:pt x="147021" y="317838"/>
                  </a:lnTo>
                  <a:lnTo>
                    <a:pt x="104590" y="299958"/>
                  </a:lnTo>
                  <a:lnTo>
                    <a:pt x="68532" y="280157"/>
                  </a:lnTo>
                  <a:lnTo>
                    <a:pt x="17930" y="235681"/>
                  </a:lnTo>
                  <a:lnTo>
                    <a:pt x="0" y="186185"/>
                  </a:lnTo>
                  <a:lnTo>
                    <a:pt x="4582" y="160921"/>
                  </a:lnTo>
                  <a:lnTo>
                    <a:pt x="39446" y="113713"/>
                  </a:lnTo>
                  <a:lnTo>
                    <a:pt x="104590" y="72412"/>
                  </a:lnTo>
                  <a:lnTo>
                    <a:pt x="147021" y="54532"/>
                  </a:lnTo>
                  <a:lnTo>
                    <a:pt x="195228" y="38793"/>
                  </a:lnTo>
                  <a:lnTo>
                    <a:pt x="248612" y="25419"/>
                  </a:lnTo>
                  <a:lnTo>
                    <a:pt x="306576" y="14631"/>
                  </a:lnTo>
                  <a:lnTo>
                    <a:pt x="368522" y="6650"/>
                  </a:lnTo>
                  <a:lnTo>
                    <a:pt x="433851" y="1699"/>
                  </a:lnTo>
                  <a:lnTo>
                    <a:pt x="501965" y="0"/>
                  </a:lnTo>
                  <a:lnTo>
                    <a:pt x="570078" y="1699"/>
                  </a:lnTo>
                  <a:lnTo>
                    <a:pt x="635406" y="6650"/>
                  </a:lnTo>
                  <a:lnTo>
                    <a:pt x="697351" y="14631"/>
                  </a:lnTo>
                  <a:lnTo>
                    <a:pt x="755314" y="25419"/>
                  </a:lnTo>
                  <a:lnTo>
                    <a:pt x="808699" y="38793"/>
                  </a:lnTo>
                  <a:lnTo>
                    <a:pt x="856906" y="54532"/>
                  </a:lnTo>
                  <a:lnTo>
                    <a:pt x="899338" y="72412"/>
                  </a:lnTo>
                  <a:lnTo>
                    <a:pt x="935396" y="92213"/>
                  </a:lnTo>
                  <a:lnTo>
                    <a:pt x="985999" y="136689"/>
                  </a:lnTo>
                  <a:lnTo>
                    <a:pt x="1003930" y="186185"/>
                  </a:lnTo>
                  <a:lnTo>
                    <a:pt x="999348" y="211449"/>
                  </a:lnTo>
                  <a:lnTo>
                    <a:pt x="964483" y="258657"/>
                  </a:lnTo>
                  <a:lnTo>
                    <a:pt x="899338" y="299958"/>
                  </a:lnTo>
                  <a:lnTo>
                    <a:pt x="856906" y="317838"/>
                  </a:lnTo>
                  <a:lnTo>
                    <a:pt x="808699" y="333577"/>
                  </a:lnTo>
                  <a:lnTo>
                    <a:pt x="755314" y="346951"/>
                  </a:lnTo>
                  <a:lnTo>
                    <a:pt x="697351" y="357739"/>
                  </a:lnTo>
                  <a:lnTo>
                    <a:pt x="635406" y="365720"/>
                  </a:lnTo>
                  <a:lnTo>
                    <a:pt x="570078" y="370671"/>
                  </a:lnTo>
                  <a:lnTo>
                    <a:pt x="501965" y="372370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414012" y="2016998"/>
              <a:ext cx="1003935" cy="372745"/>
            </a:xfrm>
            <a:custGeom>
              <a:avLst/>
              <a:gdLst/>
              <a:ahLst/>
              <a:cxnLst/>
              <a:rect l="l" t="t" r="r" b="b"/>
              <a:pathLst>
                <a:path w="1003935" h="372744">
                  <a:moveTo>
                    <a:pt x="0" y="186185"/>
                  </a:moveTo>
                  <a:lnTo>
                    <a:pt x="17930" y="136689"/>
                  </a:lnTo>
                  <a:lnTo>
                    <a:pt x="68532" y="92213"/>
                  </a:lnTo>
                  <a:lnTo>
                    <a:pt x="104590" y="72412"/>
                  </a:lnTo>
                  <a:lnTo>
                    <a:pt x="147021" y="54532"/>
                  </a:lnTo>
                  <a:lnTo>
                    <a:pt x="195228" y="38793"/>
                  </a:lnTo>
                  <a:lnTo>
                    <a:pt x="248612" y="25419"/>
                  </a:lnTo>
                  <a:lnTo>
                    <a:pt x="306576" y="14631"/>
                  </a:lnTo>
                  <a:lnTo>
                    <a:pt x="368522" y="6650"/>
                  </a:lnTo>
                  <a:lnTo>
                    <a:pt x="433851" y="1699"/>
                  </a:lnTo>
                  <a:lnTo>
                    <a:pt x="501965" y="0"/>
                  </a:lnTo>
                  <a:lnTo>
                    <a:pt x="570078" y="1699"/>
                  </a:lnTo>
                  <a:lnTo>
                    <a:pt x="635406" y="6650"/>
                  </a:lnTo>
                  <a:lnTo>
                    <a:pt x="697351" y="14631"/>
                  </a:lnTo>
                  <a:lnTo>
                    <a:pt x="755314" y="25419"/>
                  </a:lnTo>
                  <a:lnTo>
                    <a:pt x="808699" y="38793"/>
                  </a:lnTo>
                  <a:lnTo>
                    <a:pt x="856906" y="54532"/>
                  </a:lnTo>
                  <a:lnTo>
                    <a:pt x="899338" y="72412"/>
                  </a:lnTo>
                  <a:lnTo>
                    <a:pt x="935396" y="92213"/>
                  </a:lnTo>
                  <a:lnTo>
                    <a:pt x="985999" y="136689"/>
                  </a:lnTo>
                  <a:lnTo>
                    <a:pt x="1003930" y="186185"/>
                  </a:lnTo>
                  <a:lnTo>
                    <a:pt x="999348" y="211449"/>
                  </a:lnTo>
                  <a:lnTo>
                    <a:pt x="964483" y="258657"/>
                  </a:lnTo>
                  <a:lnTo>
                    <a:pt x="899338" y="299958"/>
                  </a:lnTo>
                  <a:lnTo>
                    <a:pt x="856906" y="317838"/>
                  </a:lnTo>
                  <a:lnTo>
                    <a:pt x="808699" y="333577"/>
                  </a:lnTo>
                  <a:lnTo>
                    <a:pt x="755314" y="346951"/>
                  </a:lnTo>
                  <a:lnTo>
                    <a:pt x="697351" y="357739"/>
                  </a:lnTo>
                  <a:lnTo>
                    <a:pt x="635406" y="365720"/>
                  </a:lnTo>
                  <a:lnTo>
                    <a:pt x="570078" y="370671"/>
                  </a:lnTo>
                  <a:lnTo>
                    <a:pt x="501965" y="372370"/>
                  </a:lnTo>
                  <a:lnTo>
                    <a:pt x="433851" y="370671"/>
                  </a:lnTo>
                  <a:lnTo>
                    <a:pt x="368522" y="365720"/>
                  </a:lnTo>
                  <a:lnTo>
                    <a:pt x="306576" y="357739"/>
                  </a:lnTo>
                  <a:lnTo>
                    <a:pt x="248612" y="346951"/>
                  </a:lnTo>
                  <a:lnTo>
                    <a:pt x="195228" y="333577"/>
                  </a:lnTo>
                  <a:lnTo>
                    <a:pt x="147021" y="317838"/>
                  </a:lnTo>
                  <a:lnTo>
                    <a:pt x="104590" y="299958"/>
                  </a:lnTo>
                  <a:lnTo>
                    <a:pt x="68532" y="280157"/>
                  </a:lnTo>
                  <a:lnTo>
                    <a:pt x="17930" y="235681"/>
                  </a:lnTo>
                  <a:lnTo>
                    <a:pt x="0" y="1861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4097799" y="2110023"/>
            <a:ext cx="32893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5595" algn="l"/>
              </a:tabLst>
            </a:pPr>
            <a:r>
              <a:rPr dirty="0" u="dash" sz="900">
                <a:uFill>
                  <a:solidFill>
                    <a:srgbClr val="4677BF"/>
                  </a:solidFill>
                </a:uFill>
                <a:latin typeface="Times New Roman"/>
                <a:cs typeface="Times New Roman"/>
              </a:rPr>
              <a:t>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4823186" y="2110026"/>
            <a:ext cx="18605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latin typeface="Times New Roman"/>
                <a:cs typeface="Times New Roman"/>
              </a:rPr>
              <a:t>NR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3513877" y="1522196"/>
            <a:ext cx="1753235" cy="1478280"/>
            <a:chOff x="3513877" y="1522196"/>
            <a:chExt cx="1753235" cy="1478280"/>
          </a:xfrm>
        </p:grpSpPr>
        <p:sp>
          <p:nvSpPr>
            <p:cNvPr id="92" name="object 92" descr=""/>
            <p:cNvSpPr/>
            <p:nvPr/>
          </p:nvSpPr>
          <p:spPr>
            <a:xfrm>
              <a:off x="5185463" y="2119401"/>
              <a:ext cx="81280" cy="83820"/>
            </a:xfrm>
            <a:custGeom>
              <a:avLst/>
              <a:gdLst/>
              <a:ahLst/>
              <a:cxnLst/>
              <a:rect l="l" t="t" r="r" b="b"/>
              <a:pathLst>
                <a:path w="81279" h="83819">
                  <a:moveTo>
                    <a:pt x="57374" y="83782"/>
                  </a:moveTo>
                  <a:lnTo>
                    <a:pt x="0" y="83782"/>
                  </a:lnTo>
                  <a:lnTo>
                    <a:pt x="38694" y="0"/>
                  </a:lnTo>
                  <a:lnTo>
                    <a:pt x="76388" y="23910"/>
                  </a:lnTo>
                  <a:lnTo>
                    <a:pt x="81270" y="40859"/>
                  </a:lnTo>
                  <a:lnTo>
                    <a:pt x="79320" y="57771"/>
                  </a:lnTo>
                  <a:lnTo>
                    <a:pt x="71151" y="72721"/>
                  </a:lnTo>
                  <a:lnTo>
                    <a:pt x="57374" y="83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61127" y="2003615"/>
              <a:ext cx="46685" cy="26758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5161122" y="2003614"/>
              <a:ext cx="46990" cy="27305"/>
            </a:xfrm>
            <a:custGeom>
              <a:avLst/>
              <a:gdLst/>
              <a:ahLst/>
              <a:cxnLst/>
              <a:rect l="l" t="t" r="r" b="b"/>
              <a:pathLst>
                <a:path w="46989" h="27305">
                  <a:moveTo>
                    <a:pt x="46694" y="13380"/>
                  </a:moveTo>
                  <a:lnTo>
                    <a:pt x="44859" y="8172"/>
                  </a:lnTo>
                  <a:lnTo>
                    <a:pt x="39855" y="3919"/>
                  </a:lnTo>
                  <a:lnTo>
                    <a:pt x="32433" y="1051"/>
                  </a:lnTo>
                  <a:lnTo>
                    <a:pt x="23343" y="0"/>
                  </a:lnTo>
                  <a:lnTo>
                    <a:pt x="14257" y="1051"/>
                  </a:lnTo>
                  <a:lnTo>
                    <a:pt x="6837" y="3919"/>
                  </a:lnTo>
                  <a:lnTo>
                    <a:pt x="1834" y="8172"/>
                  </a:lnTo>
                  <a:lnTo>
                    <a:pt x="0" y="13380"/>
                  </a:lnTo>
                  <a:lnTo>
                    <a:pt x="1834" y="18588"/>
                  </a:lnTo>
                  <a:lnTo>
                    <a:pt x="6837" y="22842"/>
                  </a:lnTo>
                  <a:lnTo>
                    <a:pt x="14257" y="25709"/>
                  </a:lnTo>
                  <a:lnTo>
                    <a:pt x="23343" y="26761"/>
                  </a:lnTo>
                  <a:lnTo>
                    <a:pt x="32433" y="25709"/>
                  </a:lnTo>
                  <a:lnTo>
                    <a:pt x="39855" y="22842"/>
                  </a:lnTo>
                  <a:lnTo>
                    <a:pt x="44859" y="18588"/>
                  </a:lnTo>
                  <a:lnTo>
                    <a:pt x="46694" y="13380"/>
                  </a:lnTo>
                  <a:close/>
                </a:path>
              </a:pathLst>
            </a:custGeom>
            <a:ln w="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38178" y="2015769"/>
              <a:ext cx="93116" cy="187185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5138172" y="2015761"/>
              <a:ext cx="93345" cy="187325"/>
            </a:xfrm>
            <a:custGeom>
              <a:avLst/>
              <a:gdLst/>
              <a:ahLst/>
              <a:cxnLst/>
              <a:rect l="l" t="t" r="r" b="b"/>
              <a:pathLst>
                <a:path w="93345" h="187325">
                  <a:moveTo>
                    <a:pt x="92591" y="157157"/>
                  </a:moveTo>
                  <a:lnTo>
                    <a:pt x="69543" y="6"/>
                  </a:lnTo>
                  <a:lnTo>
                    <a:pt x="63393" y="8157"/>
                  </a:lnTo>
                  <a:lnTo>
                    <a:pt x="54881" y="13149"/>
                  </a:lnTo>
                  <a:lnTo>
                    <a:pt x="23047" y="0"/>
                  </a:lnTo>
                  <a:lnTo>
                    <a:pt x="0" y="157170"/>
                  </a:lnTo>
                  <a:lnTo>
                    <a:pt x="1273" y="167773"/>
                  </a:lnTo>
                  <a:lnTo>
                    <a:pt x="9264" y="176955"/>
                  </a:lnTo>
                  <a:lnTo>
                    <a:pt x="22677" y="183751"/>
                  </a:lnTo>
                  <a:lnTo>
                    <a:pt x="40220" y="187195"/>
                  </a:lnTo>
                  <a:lnTo>
                    <a:pt x="58717" y="186464"/>
                  </a:lnTo>
                  <a:lnTo>
                    <a:pt x="74735" y="181885"/>
                  </a:lnTo>
                  <a:lnTo>
                    <a:pt x="86588" y="174198"/>
                  </a:lnTo>
                  <a:lnTo>
                    <a:pt x="92591" y="164146"/>
                  </a:lnTo>
                  <a:lnTo>
                    <a:pt x="93122" y="161831"/>
                  </a:lnTo>
                  <a:lnTo>
                    <a:pt x="93122" y="159479"/>
                  </a:lnTo>
                  <a:lnTo>
                    <a:pt x="92591" y="157164"/>
                  </a:lnTo>
                  <a:close/>
                </a:path>
              </a:pathLst>
            </a:custGeom>
            <a:ln w="5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172792" y="188358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23350" y="11638"/>
                  </a:moveTo>
                  <a:lnTo>
                    <a:pt x="23350" y="5209"/>
                  </a:lnTo>
                  <a:lnTo>
                    <a:pt x="18124" y="0"/>
                  </a:lnTo>
                  <a:lnTo>
                    <a:pt x="11675" y="0"/>
                  </a:lnTo>
                  <a:lnTo>
                    <a:pt x="5232" y="0"/>
                  </a:lnTo>
                  <a:lnTo>
                    <a:pt x="0" y="5209"/>
                  </a:lnTo>
                  <a:lnTo>
                    <a:pt x="0" y="11638"/>
                  </a:lnTo>
                  <a:lnTo>
                    <a:pt x="0" y="18066"/>
                  </a:lnTo>
                  <a:lnTo>
                    <a:pt x="5232" y="23276"/>
                  </a:lnTo>
                  <a:lnTo>
                    <a:pt x="11675" y="23276"/>
                  </a:lnTo>
                  <a:lnTo>
                    <a:pt x="18124" y="23276"/>
                  </a:lnTo>
                  <a:lnTo>
                    <a:pt x="23350" y="18066"/>
                  </a:lnTo>
                  <a:lnTo>
                    <a:pt x="23350" y="11638"/>
                  </a:lnTo>
                  <a:close/>
                </a:path>
              </a:pathLst>
            </a:custGeom>
            <a:ln w="5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184469" y="1906857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137"/>
                  </a:moveTo>
                  <a:lnTo>
                    <a:pt x="0" y="0"/>
                  </a:lnTo>
                </a:path>
              </a:pathLst>
            </a:custGeom>
            <a:ln w="5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126104" y="1854078"/>
              <a:ext cx="116839" cy="82550"/>
            </a:xfrm>
            <a:custGeom>
              <a:avLst/>
              <a:gdLst/>
              <a:ahLst/>
              <a:cxnLst/>
              <a:rect l="l" t="t" r="r" b="b"/>
              <a:pathLst>
                <a:path w="116839" h="82550">
                  <a:moveTo>
                    <a:pt x="33601" y="16459"/>
                  </a:moveTo>
                  <a:lnTo>
                    <a:pt x="25908" y="28008"/>
                  </a:lnTo>
                  <a:lnTo>
                    <a:pt x="23343" y="41146"/>
                  </a:lnTo>
                  <a:lnTo>
                    <a:pt x="25908" y="54283"/>
                  </a:lnTo>
                  <a:lnTo>
                    <a:pt x="33601" y="65832"/>
                  </a:lnTo>
                </a:path>
                <a:path w="116839" h="82550">
                  <a:moveTo>
                    <a:pt x="83130" y="65832"/>
                  </a:moveTo>
                  <a:lnTo>
                    <a:pt x="90820" y="54280"/>
                  </a:lnTo>
                  <a:lnTo>
                    <a:pt x="93383" y="41143"/>
                  </a:lnTo>
                  <a:lnTo>
                    <a:pt x="90820" y="28007"/>
                  </a:lnTo>
                  <a:lnTo>
                    <a:pt x="83130" y="16459"/>
                  </a:lnTo>
                </a:path>
                <a:path w="116839" h="82550">
                  <a:moveTo>
                    <a:pt x="17095" y="6"/>
                  </a:moveTo>
                  <a:lnTo>
                    <a:pt x="4273" y="19250"/>
                  </a:lnTo>
                  <a:lnTo>
                    <a:pt x="0" y="41143"/>
                  </a:lnTo>
                  <a:lnTo>
                    <a:pt x="4273" y="63038"/>
                  </a:lnTo>
                  <a:lnTo>
                    <a:pt x="17095" y="82285"/>
                  </a:lnTo>
                </a:path>
                <a:path w="116839" h="82550">
                  <a:moveTo>
                    <a:pt x="99642" y="82285"/>
                  </a:moveTo>
                  <a:lnTo>
                    <a:pt x="112460" y="63039"/>
                  </a:lnTo>
                  <a:lnTo>
                    <a:pt x="116733" y="41145"/>
                  </a:lnTo>
                  <a:lnTo>
                    <a:pt x="112460" y="19250"/>
                  </a:lnTo>
                  <a:lnTo>
                    <a:pt x="99642" y="0"/>
                  </a:lnTo>
                </a:path>
              </a:pathLst>
            </a:custGeom>
            <a:ln w="5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138170" y="1883586"/>
              <a:ext cx="93345" cy="319405"/>
            </a:xfrm>
            <a:custGeom>
              <a:avLst/>
              <a:gdLst/>
              <a:ahLst/>
              <a:cxnLst/>
              <a:rect l="l" t="t" r="r" b="b"/>
              <a:pathLst>
                <a:path w="93345" h="319405">
                  <a:moveTo>
                    <a:pt x="46298" y="120026"/>
                  </a:moveTo>
                  <a:lnTo>
                    <a:pt x="37740" y="120962"/>
                  </a:lnTo>
                  <a:lnTo>
                    <a:pt x="30578" y="123526"/>
                  </a:lnTo>
                  <a:lnTo>
                    <a:pt x="25465" y="127377"/>
                  </a:lnTo>
                  <a:lnTo>
                    <a:pt x="23053" y="132175"/>
                  </a:lnTo>
                  <a:lnTo>
                    <a:pt x="0" y="289346"/>
                  </a:lnTo>
                  <a:lnTo>
                    <a:pt x="1273" y="299949"/>
                  </a:lnTo>
                  <a:lnTo>
                    <a:pt x="9264" y="309130"/>
                  </a:lnTo>
                  <a:lnTo>
                    <a:pt x="22677" y="315925"/>
                  </a:lnTo>
                  <a:lnTo>
                    <a:pt x="40220" y="319365"/>
                  </a:lnTo>
                  <a:lnTo>
                    <a:pt x="58721" y="318637"/>
                  </a:lnTo>
                  <a:lnTo>
                    <a:pt x="74741" y="314060"/>
                  </a:lnTo>
                  <a:lnTo>
                    <a:pt x="86594" y="306374"/>
                  </a:lnTo>
                  <a:lnTo>
                    <a:pt x="92597" y="296322"/>
                  </a:lnTo>
                  <a:lnTo>
                    <a:pt x="93128" y="294007"/>
                  </a:lnTo>
                  <a:lnTo>
                    <a:pt x="93128" y="291655"/>
                  </a:lnTo>
                  <a:lnTo>
                    <a:pt x="92597" y="289339"/>
                  </a:lnTo>
                  <a:lnTo>
                    <a:pt x="69722" y="133395"/>
                  </a:lnTo>
                  <a:lnTo>
                    <a:pt x="67865" y="128184"/>
                  </a:lnTo>
                  <a:lnTo>
                    <a:pt x="62840" y="123933"/>
                  </a:lnTo>
                  <a:lnTo>
                    <a:pt x="55400" y="121070"/>
                  </a:lnTo>
                  <a:lnTo>
                    <a:pt x="46298" y="120026"/>
                  </a:lnTo>
                </a:path>
                <a:path w="93345" h="319405">
                  <a:moveTo>
                    <a:pt x="57973" y="11638"/>
                  </a:moveTo>
                  <a:lnTo>
                    <a:pt x="57973" y="5209"/>
                  </a:lnTo>
                  <a:lnTo>
                    <a:pt x="52747" y="0"/>
                  </a:lnTo>
                  <a:lnTo>
                    <a:pt x="46298" y="0"/>
                  </a:lnTo>
                  <a:lnTo>
                    <a:pt x="39849" y="0"/>
                  </a:lnTo>
                  <a:lnTo>
                    <a:pt x="34623" y="5209"/>
                  </a:lnTo>
                  <a:lnTo>
                    <a:pt x="34623" y="11638"/>
                  </a:lnTo>
                  <a:lnTo>
                    <a:pt x="34623" y="18066"/>
                  </a:lnTo>
                  <a:lnTo>
                    <a:pt x="39849" y="23276"/>
                  </a:lnTo>
                  <a:lnTo>
                    <a:pt x="46298" y="23276"/>
                  </a:lnTo>
                  <a:lnTo>
                    <a:pt x="52747" y="23276"/>
                  </a:lnTo>
                  <a:lnTo>
                    <a:pt x="57973" y="18066"/>
                  </a:lnTo>
                  <a:lnTo>
                    <a:pt x="57973" y="11638"/>
                  </a:lnTo>
                  <a:close/>
                </a:path>
                <a:path w="93345" h="319405">
                  <a:moveTo>
                    <a:pt x="46298" y="120026"/>
                  </a:moveTo>
                  <a:lnTo>
                    <a:pt x="46298" y="23276"/>
                  </a:lnTo>
                </a:path>
              </a:pathLst>
            </a:custGeom>
            <a:ln w="1233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608536" y="1523466"/>
              <a:ext cx="1226185" cy="494030"/>
            </a:xfrm>
            <a:custGeom>
              <a:avLst/>
              <a:gdLst/>
              <a:ahLst/>
              <a:cxnLst/>
              <a:rect l="l" t="t" r="r" b="b"/>
              <a:pathLst>
                <a:path w="1226185" h="494030">
                  <a:moveTo>
                    <a:pt x="1225725" y="0"/>
                  </a:moveTo>
                  <a:lnTo>
                    <a:pt x="0" y="49353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75480" y="2931413"/>
              <a:ext cx="136245" cy="62364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02966" y="2772905"/>
              <a:ext cx="94331" cy="185899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4202965" y="2909950"/>
              <a:ext cx="43180" cy="48895"/>
            </a:xfrm>
            <a:custGeom>
              <a:avLst/>
              <a:gdLst/>
              <a:ahLst/>
              <a:cxnLst/>
              <a:rect l="l" t="t" r="r" b="b"/>
              <a:pathLst>
                <a:path w="43179" h="48894">
                  <a:moveTo>
                    <a:pt x="38537" y="34339"/>
                  </a:moveTo>
                  <a:lnTo>
                    <a:pt x="42217" y="24871"/>
                  </a:lnTo>
                  <a:lnTo>
                    <a:pt x="42637" y="15651"/>
                  </a:lnTo>
                  <a:lnTo>
                    <a:pt x="39935" y="7716"/>
                  </a:lnTo>
                  <a:lnTo>
                    <a:pt x="34250" y="2103"/>
                  </a:lnTo>
                  <a:lnTo>
                    <a:pt x="26533" y="0"/>
                  </a:lnTo>
                  <a:lnTo>
                    <a:pt x="18287" y="1634"/>
                  </a:lnTo>
                  <a:lnTo>
                    <a:pt x="10486" y="6607"/>
                  </a:lnTo>
                  <a:lnTo>
                    <a:pt x="4099" y="14517"/>
                  </a:lnTo>
                  <a:lnTo>
                    <a:pt x="419" y="23988"/>
                  </a:lnTo>
                  <a:lnTo>
                    <a:pt x="0" y="33209"/>
                  </a:lnTo>
                  <a:lnTo>
                    <a:pt x="2701" y="41143"/>
                  </a:lnTo>
                  <a:lnTo>
                    <a:pt x="8386" y="46753"/>
                  </a:lnTo>
                  <a:lnTo>
                    <a:pt x="16106" y="48856"/>
                  </a:lnTo>
                  <a:lnTo>
                    <a:pt x="24351" y="47221"/>
                  </a:lnTo>
                  <a:lnTo>
                    <a:pt x="32151" y="42249"/>
                  </a:lnTo>
                  <a:lnTo>
                    <a:pt x="38537" y="34339"/>
                  </a:lnTo>
                  <a:close/>
                </a:path>
              </a:pathLst>
            </a:custGeom>
            <a:ln w="59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75480" y="2890431"/>
              <a:ext cx="128524" cy="78127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4075481" y="2890433"/>
              <a:ext cx="128905" cy="78740"/>
            </a:xfrm>
            <a:custGeom>
              <a:avLst/>
              <a:gdLst/>
              <a:ahLst/>
              <a:cxnLst/>
              <a:rect l="l" t="t" r="r" b="b"/>
              <a:pathLst>
                <a:path w="128904" h="78739">
                  <a:moveTo>
                    <a:pt x="59233" y="0"/>
                  </a:moveTo>
                  <a:lnTo>
                    <a:pt x="19558" y="21802"/>
                  </a:lnTo>
                  <a:lnTo>
                    <a:pt x="0" y="43529"/>
                  </a:lnTo>
                  <a:lnTo>
                    <a:pt x="3661" y="52581"/>
                  </a:lnTo>
                  <a:lnTo>
                    <a:pt x="36413" y="76364"/>
                  </a:lnTo>
                  <a:lnTo>
                    <a:pt x="48933" y="78125"/>
                  </a:lnTo>
                  <a:lnTo>
                    <a:pt x="61573" y="77253"/>
                  </a:lnTo>
                  <a:lnTo>
                    <a:pt x="73929" y="73732"/>
                  </a:lnTo>
                  <a:lnTo>
                    <a:pt x="128518" y="40985"/>
                  </a:lnTo>
                  <a:lnTo>
                    <a:pt x="59233" y="0"/>
                  </a:lnTo>
                  <a:close/>
                </a:path>
              </a:pathLst>
            </a:custGeom>
            <a:ln w="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50880" y="2772409"/>
              <a:ext cx="123555" cy="138557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4150889" y="2772900"/>
              <a:ext cx="123825" cy="138430"/>
            </a:xfrm>
            <a:custGeom>
              <a:avLst/>
              <a:gdLst/>
              <a:ahLst/>
              <a:cxnLst/>
              <a:rect l="l" t="t" r="r" b="b"/>
              <a:pathLst>
                <a:path w="123825" h="138430">
                  <a:moveTo>
                    <a:pt x="0" y="96196"/>
                  </a:moveTo>
                  <a:lnTo>
                    <a:pt x="72039" y="138068"/>
                  </a:lnTo>
                  <a:lnTo>
                    <a:pt x="76802" y="137108"/>
                  </a:lnTo>
                  <a:lnTo>
                    <a:pt x="117732" y="65296"/>
                  </a:lnTo>
                  <a:lnTo>
                    <a:pt x="123547" y="48219"/>
                  </a:lnTo>
                  <a:lnTo>
                    <a:pt x="122510" y="30925"/>
                  </a:lnTo>
                  <a:lnTo>
                    <a:pt x="96680" y="935"/>
                  </a:lnTo>
                  <a:lnTo>
                    <a:pt x="93888" y="0"/>
                  </a:lnTo>
                  <a:lnTo>
                    <a:pt x="78489" y="138"/>
                  </a:lnTo>
                  <a:lnTo>
                    <a:pt x="63971" y="4568"/>
                  </a:lnTo>
                  <a:lnTo>
                    <a:pt x="51179" y="12894"/>
                  </a:lnTo>
                  <a:lnTo>
                    <a:pt x="40961" y="24723"/>
                  </a:lnTo>
                  <a:lnTo>
                    <a:pt x="0" y="96196"/>
                  </a:lnTo>
                  <a:close/>
                </a:path>
              </a:pathLst>
            </a:custGeom>
            <a:ln w="59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34713" y="2869095"/>
              <a:ext cx="88214" cy="62318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4134714" y="2869096"/>
              <a:ext cx="88265" cy="62865"/>
            </a:xfrm>
            <a:custGeom>
              <a:avLst/>
              <a:gdLst/>
              <a:ahLst/>
              <a:cxnLst/>
              <a:rect l="l" t="t" r="r" b="b"/>
              <a:pathLst>
                <a:path w="88264" h="62864">
                  <a:moveTo>
                    <a:pt x="0" y="21336"/>
                  </a:moveTo>
                  <a:lnTo>
                    <a:pt x="69284" y="62322"/>
                  </a:lnTo>
                  <a:lnTo>
                    <a:pt x="72133" y="55600"/>
                  </a:lnTo>
                  <a:lnTo>
                    <a:pt x="76369" y="49809"/>
                  </a:lnTo>
                  <a:lnTo>
                    <a:pt x="81796" y="45162"/>
                  </a:lnTo>
                  <a:lnTo>
                    <a:pt x="88217" y="41872"/>
                  </a:lnTo>
                  <a:lnTo>
                    <a:pt x="16172" y="0"/>
                  </a:lnTo>
                  <a:lnTo>
                    <a:pt x="10259" y="3658"/>
                  </a:lnTo>
                  <a:lnTo>
                    <a:pt x="5466" y="8601"/>
                  </a:lnTo>
                  <a:lnTo>
                    <a:pt x="1982" y="14577"/>
                  </a:lnTo>
                  <a:lnTo>
                    <a:pt x="0" y="21336"/>
                  </a:lnTo>
                  <a:close/>
                </a:path>
              </a:pathLst>
            </a:custGeom>
            <a:ln w="59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112746" y="2933226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4021" y="9064"/>
                  </a:moveTo>
                  <a:lnTo>
                    <a:pt x="1105" y="8060"/>
                  </a:lnTo>
                  <a:lnTo>
                    <a:pt x="0" y="3947"/>
                  </a:lnTo>
                  <a:lnTo>
                    <a:pt x="2019" y="1625"/>
                  </a:lnTo>
                  <a:lnTo>
                    <a:pt x="8104" y="0"/>
                  </a:lnTo>
                  <a:lnTo>
                    <a:pt x="11020" y="1003"/>
                  </a:lnTo>
                  <a:lnTo>
                    <a:pt x="11570" y="3060"/>
                  </a:lnTo>
                  <a:lnTo>
                    <a:pt x="12119" y="5117"/>
                  </a:lnTo>
                  <a:lnTo>
                    <a:pt x="10106" y="7438"/>
                  </a:lnTo>
                  <a:lnTo>
                    <a:pt x="4021" y="9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112746" y="2933226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11570" y="3060"/>
                  </a:moveTo>
                  <a:lnTo>
                    <a:pt x="11020" y="1003"/>
                  </a:lnTo>
                  <a:lnTo>
                    <a:pt x="8104" y="0"/>
                  </a:lnTo>
                  <a:lnTo>
                    <a:pt x="5059" y="812"/>
                  </a:lnTo>
                  <a:lnTo>
                    <a:pt x="2019" y="1625"/>
                  </a:lnTo>
                  <a:lnTo>
                    <a:pt x="0" y="3947"/>
                  </a:lnTo>
                  <a:lnTo>
                    <a:pt x="555" y="6003"/>
                  </a:lnTo>
                  <a:lnTo>
                    <a:pt x="1105" y="8060"/>
                  </a:lnTo>
                  <a:lnTo>
                    <a:pt x="4021" y="9064"/>
                  </a:lnTo>
                  <a:lnTo>
                    <a:pt x="7060" y="8251"/>
                  </a:lnTo>
                  <a:lnTo>
                    <a:pt x="10106" y="7438"/>
                  </a:lnTo>
                  <a:lnTo>
                    <a:pt x="12119" y="5117"/>
                  </a:lnTo>
                  <a:lnTo>
                    <a:pt x="11570" y="3060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189984" y="2781401"/>
              <a:ext cx="77421" cy="73698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4189981" y="2781390"/>
              <a:ext cx="77470" cy="74295"/>
            </a:xfrm>
            <a:custGeom>
              <a:avLst/>
              <a:gdLst/>
              <a:ahLst/>
              <a:cxnLst/>
              <a:rect l="l" t="t" r="r" b="b"/>
              <a:pathLst>
                <a:path w="77470" h="74294">
                  <a:moveTo>
                    <a:pt x="0" y="37673"/>
                  </a:moveTo>
                  <a:lnTo>
                    <a:pt x="62415" y="73702"/>
                  </a:lnTo>
                  <a:lnTo>
                    <a:pt x="72768" y="54545"/>
                  </a:lnTo>
                  <a:lnTo>
                    <a:pt x="77424" y="40883"/>
                  </a:lnTo>
                  <a:lnTo>
                    <a:pt x="59851" y="4907"/>
                  </a:lnTo>
                  <a:lnTo>
                    <a:pt x="48096" y="0"/>
                  </a:lnTo>
                  <a:lnTo>
                    <a:pt x="41715" y="6"/>
                  </a:lnTo>
                  <a:lnTo>
                    <a:pt x="32449" y="2058"/>
                  </a:lnTo>
                  <a:lnTo>
                    <a:pt x="23983" y="6109"/>
                  </a:lnTo>
                  <a:lnTo>
                    <a:pt x="16624" y="11967"/>
                  </a:lnTo>
                  <a:lnTo>
                    <a:pt x="10680" y="19439"/>
                  </a:lnTo>
                  <a:lnTo>
                    <a:pt x="0" y="37673"/>
                  </a:lnTo>
                  <a:close/>
                </a:path>
              </a:pathLst>
            </a:custGeom>
            <a:ln w="5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075477" y="2772610"/>
              <a:ext cx="222250" cy="220979"/>
            </a:xfrm>
            <a:custGeom>
              <a:avLst/>
              <a:gdLst/>
              <a:ahLst/>
              <a:cxnLst/>
              <a:rect l="l" t="t" r="r" b="b"/>
              <a:pathLst>
                <a:path w="222250" h="220980">
                  <a:moveTo>
                    <a:pt x="75412" y="96487"/>
                  </a:moveTo>
                  <a:lnTo>
                    <a:pt x="69563" y="100212"/>
                  </a:lnTo>
                  <a:lnTo>
                    <a:pt x="64800" y="105164"/>
                  </a:lnTo>
                  <a:lnTo>
                    <a:pt x="61298" y="111112"/>
                  </a:lnTo>
                  <a:lnTo>
                    <a:pt x="59233" y="117823"/>
                  </a:lnTo>
                  <a:lnTo>
                    <a:pt x="6887" y="147781"/>
                  </a:lnTo>
                  <a:lnTo>
                    <a:pt x="2718" y="151032"/>
                  </a:lnTo>
                  <a:lnTo>
                    <a:pt x="191" y="156007"/>
                  </a:lnTo>
                  <a:lnTo>
                    <a:pt x="0" y="161352"/>
                  </a:lnTo>
                  <a:lnTo>
                    <a:pt x="43" y="187584"/>
                  </a:lnTo>
                  <a:lnTo>
                    <a:pt x="25563" y="216280"/>
                  </a:lnTo>
                  <a:lnTo>
                    <a:pt x="48111" y="220934"/>
                  </a:lnTo>
                  <a:lnTo>
                    <a:pt x="57984" y="220844"/>
                  </a:lnTo>
                  <a:lnTo>
                    <a:pt x="67781" y="219588"/>
                  </a:lnTo>
                  <a:lnTo>
                    <a:pt x="77401" y="217172"/>
                  </a:lnTo>
                  <a:lnTo>
                    <a:pt x="133392" y="184290"/>
                  </a:lnTo>
                  <a:lnTo>
                    <a:pt x="141966" y="186074"/>
                  </a:lnTo>
                  <a:lnTo>
                    <a:pt x="169763" y="160656"/>
                  </a:lnTo>
                  <a:lnTo>
                    <a:pt x="168553" y="153359"/>
                  </a:lnTo>
                  <a:lnTo>
                    <a:pt x="220244" y="66024"/>
                  </a:lnTo>
                  <a:lnTo>
                    <a:pt x="221702" y="50820"/>
                  </a:lnTo>
                  <a:lnTo>
                    <a:pt x="218420" y="36294"/>
                  </a:lnTo>
                  <a:lnTo>
                    <a:pt x="210836" y="23549"/>
                  </a:lnTo>
                  <a:lnTo>
                    <a:pt x="199390" y="13690"/>
                  </a:lnTo>
                  <a:lnTo>
                    <a:pt x="169300" y="290"/>
                  </a:lnTo>
                  <a:lnTo>
                    <a:pt x="153732" y="0"/>
                  </a:lnTo>
                  <a:lnTo>
                    <a:pt x="139089" y="4318"/>
                  </a:lnTo>
                  <a:lnTo>
                    <a:pt x="126320" y="12804"/>
                  </a:lnTo>
                  <a:lnTo>
                    <a:pt x="116373" y="25014"/>
                  </a:lnTo>
                  <a:lnTo>
                    <a:pt x="75412" y="96487"/>
                  </a:lnTo>
                </a:path>
              </a:pathLst>
            </a:custGeom>
            <a:ln w="12334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69397" y="2831299"/>
              <a:ext cx="67779" cy="64909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4178545" y="2835985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10" h="56514">
                  <a:moveTo>
                    <a:pt x="31318" y="47192"/>
                  </a:moveTo>
                  <a:lnTo>
                    <a:pt x="35889" y="49754"/>
                  </a:lnTo>
                  <a:lnTo>
                    <a:pt x="36347" y="51854"/>
                  </a:lnTo>
                  <a:lnTo>
                    <a:pt x="34061" y="56281"/>
                  </a:lnTo>
                </a:path>
                <a:path w="54610" h="56514">
                  <a:moveTo>
                    <a:pt x="15659" y="38221"/>
                  </a:moveTo>
                  <a:lnTo>
                    <a:pt x="20230" y="40782"/>
                  </a:lnTo>
                  <a:lnTo>
                    <a:pt x="20687" y="42882"/>
                  </a:lnTo>
                  <a:lnTo>
                    <a:pt x="18402" y="47309"/>
                  </a:lnTo>
                </a:path>
                <a:path w="54610" h="56514">
                  <a:moveTo>
                    <a:pt x="0" y="29711"/>
                  </a:moveTo>
                  <a:lnTo>
                    <a:pt x="4571" y="32278"/>
                  </a:lnTo>
                  <a:lnTo>
                    <a:pt x="5028" y="34372"/>
                  </a:lnTo>
                  <a:lnTo>
                    <a:pt x="2742" y="38799"/>
                  </a:lnTo>
                </a:path>
                <a:path w="54610" h="56514">
                  <a:moveTo>
                    <a:pt x="9031" y="14446"/>
                  </a:moveTo>
                  <a:lnTo>
                    <a:pt x="13602" y="17013"/>
                  </a:lnTo>
                  <a:lnTo>
                    <a:pt x="14059" y="19107"/>
                  </a:lnTo>
                  <a:lnTo>
                    <a:pt x="11773" y="23534"/>
                  </a:lnTo>
                </a:path>
                <a:path w="54610" h="56514">
                  <a:moveTo>
                    <a:pt x="17827" y="0"/>
                  </a:moveTo>
                  <a:lnTo>
                    <a:pt x="22404" y="2561"/>
                  </a:lnTo>
                  <a:lnTo>
                    <a:pt x="22862" y="4661"/>
                  </a:lnTo>
                  <a:lnTo>
                    <a:pt x="20576" y="9088"/>
                  </a:lnTo>
                </a:path>
                <a:path w="54610" h="56514">
                  <a:moveTo>
                    <a:pt x="33493" y="8503"/>
                  </a:moveTo>
                  <a:lnTo>
                    <a:pt x="38064" y="11071"/>
                  </a:lnTo>
                  <a:lnTo>
                    <a:pt x="38521" y="13165"/>
                  </a:lnTo>
                  <a:lnTo>
                    <a:pt x="36235" y="17592"/>
                  </a:lnTo>
                </a:path>
                <a:path w="54610" h="56514">
                  <a:moveTo>
                    <a:pt x="49152" y="17475"/>
                  </a:moveTo>
                  <a:lnTo>
                    <a:pt x="53723" y="20043"/>
                  </a:lnTo>
                  <a:lnTo>
                    <a:pt x="54180" y="22137"/>
                  </a:lnTo>
                  <a:lnTo>
                    <a:pt x="51895" y="26564"/>
                  </a:lnTo>
                </a:path>
                <a:path w="54610" h="56514">
                  <a:moveTo>
                    <a:pt x="24690" y="22956"/>
                  </a:moveTo>
                  <a:lnTo>
                    <a:pt x="29261" y="25517"/>
                  </a:lnTo>
                  <a:lnTo>
                    <a:pt x="29718" y="27617"/>
                  </a:lnTo>
                  <a:lnTo>
                    <a:pt x="27433" y="32044"/>
                  </a:lnTo>
                </a:path>
                <a:path w="54610" h="56514">
                  <a:moveTo>
                    <a:pt x="40349" y="31927"/>
                  </a:moveTo>
                  <a:lnTo>
                    <a:pt x="44921" y="34489"/>
                  </a:lnTo>
                  <a:lnTo>
                    <a:pt x="45378" y="36589"/>
                  </a:lnTo>
                  <a:lnTo>
                    <a:pt x="43092" y="41016"/>
                  </a:lnTo>
                </a:path>
              </a:pathLst>
            </a:custGeom>
            <a:ln w="59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608534" y="2389368"/>
              <a:ext cx="478790" cy="396240"/>
            </a:xfrm>
            <a:custGeom>
              <a:avLst/>
              <a:gdLst/>
              <a:ahLst/>
              <a:cxnLst/>
              <a:rect l="l" t="t" r="r" b="b"/>
              <a:pathLst>
                <a:path w="478789" h="396239">
                  <a:moveTo>
                    <a:pt x="0" y="0"/>
                  </a:moveTo>
                  <a:lnTo>
                    <a:pt x="478615" y="39564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543488" y="2387799"/>
              <a:ext cx="574040" cy="483870"/>
            </a:xfrm>
            <a:custGeom>
              <a:avLst/>
              <a:gdLst/>
              <a:ahLst/>
              <a:cxnLst/>
              <a:rect l="l" t="t" r="r" b="b"/>
              <a:pathLst>
                <a:path w="574039" h="483869">
                  <a:moveTo>
                    <a:pt x="0" y="0"/>
                  </a:moveTo>
                  <a:lnTo>
                    <a:pt x="573973" y="483592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367317" y="2389369"/>
              <a:ext cx="549275" cy="396240"/>
            </a:xfrm>
            <a:custGeom>
              <a:avLst/>
              <a:gdLst/>
              <a:ahLst/>
              <a:cxnLst/>
              <a:rect l="l" t="t" r="r" b="b"/>
              <a:pathLst>
                <a:path w="549275" h="396239">
                  <a:moveTo>
                    <a:pt x="548659" y="0"/>
                  </a:moveTo>
                  <a:lnTo>
                    <a:pt x="0" y="39564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857609" y="1527842"/>
              <a:ext cx="0" cy="494030"/>
            </a:xfrm>
            <a:custGeom>
              <a:avLst/>
              <a:gdLst/>
              <a:ahLst/>
              <a:cxnLst/>
              <a:rect l="l" t="t" r="r" b="b"/>
              <a:pathLst>
                <a:path w="0" h="494030">
                  <a:moveTo>
                    <a:pt x="0" y="0"/>
                  </a:moveTo>
                  <a:lnTo>
                    <a:pt x="0" y="49353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515147" y="1523466"/>
              <a:ext cx="1226185" cy="494030"/>
            </a:xfrm>
            <a:custGeom>
              <a:avLst/>
              <a:gdLst/>
              <a:ahLst/>
              <a:cxnLst/>
              <a:rect l="l" t="t" r="r" b="b"/>
              <a:pathLst>
                <a:path w="1226185" h="494030">
                  <a:moveTo>
                    <a:pt x="1225725" y="0"/>
                  </a:moveTo>
                  <a:lnTo>
                    <a:pt x="0" y="49353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7562897" y="1113023"/>
            <a:ext cx="583565" cy="3492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745"/>
              </a:spcBef>
            </a:pPr>
            <a:r>
              <a:rPr dirty="0" sz="900" spc="-25">
                <a:latin typeface="Times New Roman"/>
                <a:cs typeface="Times New Roman"/>
              </a:rPr>
              <a:t>NGC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6045091" y="1954387"/>
            <a:ext cx="1005840" cy="375285"/>
            <a:chOff x="6045091" y="1954387"/>
            <a:chExt cx="1005840" cy="375285"/>
          </a:xfrm>
        </p:grpSpPr>
        <p:sp>
          <p:nvSpPr>
            <p:cNvPr id="125" name="object 125" descr=""/>
            <p:cNvSpPr/>
            <p:nvPr/>
          </p:nvSpPr>
          <p:spPr>
            <a:xfrm>
              <a:off x="6046361" y="1955656"/>
              <a:ext cx="1003300" cy="372745"/>
            </a:xfrm>
            <a:custGeom>
              <a:avLst/>
              <a:gdLst/>
              <a:ahLst/>
              <a:cxnLst/>
              <a:rect l="l" t="t" r="r" b="b"/>
              <a:pathLst>
                <a:path w="1003300" h="372744">
                  <a:moveTo>
                    <a:pt x="501624" y="372371"/>
                  </a:moveTo>
                  <a:lnTo>
                    <a:pt x="433556" y="370671"/>
                  </a:lnTo>
                  <a:lnTo>
                    <a:pt x="368272" y="365720"/>
                  </a:lnTo>
                  <a:lnTo>
                    <a:pt x="306368" y="357739"/>
                  </a:lnTo>
                  <a:lnTo>
                    <a:pt x="248444" y="346951"/>
                  </a:lnTo>
                  <a:lnTo>
                    <a:pt x="195095" y="333577"/>
                  </a:lnTo>
                  <a:lnTo>
                    <a:pt x="146921" y="317838"/>
                  </a:lnTo>
                  <a:lnTo>
                    <a:pt x="104519" y="299958"/>
                  </a:lnTo>
                  <a:lnTo>
                    <a:pt x="68486" y="280157"/>
                  </a:lnTo>
                  <a:lnTo>
                    <a:pt x="17918" y="235681"/>
                  </a:lnTo>
                  <a:lnTo>
                    <a:pt x="0" y="186185"/>
                  </a:lnTo>
                  <a:lnTo>
                    <a:pt x="4579" y="160921"/>
                  </a:lnTo>
                  <a:lnTo>
                    <a:pt x="39419" y="113713"/>
                  </a:lnTo>
                  <a:lnTo>
                    <a:pt x="104519" y="72412"/>
                  </a:lnTo>
                  <a:lnTo>
                    <a:pt x="146921" y="54532"/>
                  </a:lnTo>
                  <a:lnTo>
                    <a:pt x="195095" y="38793"/>
                  </a:lnTo>
                  <a:lnTo>
                    <a:pt x="248444" y="25419"/>
                  </a:lnTo>
                  <a:lnTo>
                    <a:pt x="306368" y="14631"/>
                  </a:lnTo>
                  <a:lnTo>
                    <a:pt x="368272" y="6650"/>
                  </a:lnTo>
                  <a:lnTo>
                    <a:pt x="433556" y="1699"/>
                  </a:lnTo>
                  <a:lnTo>
                    <a:pt x="501624" y="0"/>
                  </a:lnTo>
                  <a:lnTo>
                    <a:pt x="569691" y="1699"/>
                  </a:lnTo>
                  <a:lnTo>
                    <a:pt x="634975" y="6650"/>
                  </a:lnTo>
                  <a:lnTo>
                    <a:pt x="696878" y="14631"/>
                  </a:lnTo>
                  <a:lnTo>
                    <a:pt x="754802" y="25419"/>
                  </a:lnTo>
                  <a:lnTo>
                    <a:pt x="808151" y="38793"/>
                  </a:lnTo>
                  <a:lnTo>
                    <a:pt x="856325" y="54532"/>
                  </a:lnTo>
                  <a:lnTo>
                    <a:pt x="898728" y="72412"/>
                  </a:lnTo>
                  <a:lnTo>
                    <a:pt x="934762" y="92213"/>
                  </a:lnTo>
                  <a:lnTo>
                    <a:pt x="985330" y="136689"/>
                  </a:lnTo>
                  <a:lnTo>
                    <a:pt x="1003249" y="186185"/>
                  </a:lnTo>
                  <a:lnTo>
                    <a:pt x="998670" y="211449"/>
                  </a:lnTo>
                  <a:lnTo>
                    <a:pt x="963828" y="258657"/>
                  </a:lnTo>
                  <a:lnTo>
                    <a:pt x="898728" y="299958"/>
                  </a:lnTo>
                  <a:lnTo>
                    <a:pt x="856325" y="317838"/>
                  </a:lnTo>
                  <a:lnTo>
                    <a:pt x="808151" y="333577"/>
                  </a:lnTo>
                  <a:lnTo>
                    <a:pt x="754802" y="346951"/>
                  </a:lnTo>
                  <a:lnTo>
                    <a:pt x="696878" y="357739"/>
                  </a:lnTo>
                  <a:lnTo>
                    <a:pt x="634975" y="365720"/>
                  </a:lnTo>
                  <a:lnTo>
                    <a:pt x="569691" y="370671"/>
                  </a:lnTo>
                  <a:lnTo>
                    <a:pt x="501624" y="37237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046361" y="1955657"/>
              <a:ext cx="1003300" cy="372745"/>
            </a:xfrm>
            <a:custGeom>
              <a:avLst/>
              <a:gdLst/>
              <a:ahLst/>
              <a:cxnLst/>
              <a:rect l="l" t="t" r="r" b="b"/>
              <a:pathLst>
                <a:path w="1003300" h="372744">
                  <a:moveTo>
                    <a:pt x="0" y="186185"/>
                  </a:moveTo>
                  <a:lnTo>
                    <a:pt x="17918" y="136689"/>
                  </a:lnTo>
                  <a:lnTo>
                    <a:pt x="68486" y="92213"/>
                  </a:lnTo>
                  <a:lnTo>
                    <a:pt x="104519" y="72412"/>
                  </a:lnTo>
                  <a:lnTo>
                    <a:pt x="146921" y="54532"/>
                  </a:lnTo>
                  <a:lnTo>
                    <a:pt x="195095" y="38793"/>
                  </a:lnTo>
                  <a:lnTo>
                    <a:pt x="248444" y="25419"/>
                  </a:lnTo>
                  <a:lnTo>
                    <a:pt x="306368" y="14631"/>
                  </a:lnTo>
                  <a:lnTo>
                    <a:pt x="368272" y="6650"/>
                  </a:lnTo>
                  <a:lnTo>
                    <a:pt x="433556" y="1699"/>
                  </a:lnTo>
                  <a:lnTo>
                    <a:pt x="501624" y="0"/>
                  </a:lnTo>
                  <a:lnTo>
                    <a:pt x="569691" y="1699"/>
                  </a:lnTo>
                  <a:lnTo>
                    <a:pt x="634975" y="6650"/>
                  </a:lnTo>
                  <a:lnTo>
                    <a:pt x="696878" y="14631"/>
                  </a:lnTo>
                  <a:lnTo>
                    <a:pt x="754802" y="25419"/>
                  </a:lnTo>
                  <a:lnTo>
                    <a:pt x="808151" y="38793"/>
                  </a:lnTo>
                  <a:lnTo>
                    <a:pt x="856325" y="54532"/>
                  </a:lnTo>
                  <a:lnTo>
                    <a:pt x="898728" y="72412"/>
                  </a:lnTo>
                  <a:lnTo>
                    <a:pt x="934762" y="92213"/>
                  </a:lnTo>
                  <a:lnTo>
                    <a:pt x="985330" y="136689"/>
                  </a:lnTo>
                  <a:lnTo>
                    <a:pt x="1003249" y="186185"/>
                  </a:lnTo>
                  <a:lnTo>
                    <a:pt x="998670" y="211449"/>
                  </a:lnTo>
                  <a:lnTo>
                    <a:pt x="963828" y="258657"/>
                  </a:lnTo>
                  <a:lnTo>
                    <a:pt x="898728" y="299958"/>
                  </a:lnTo>
                  <a:lnTo>
                    <a:pt x="856325" y="317838"/>
                  </a:lnTo>
                  <a:lnTo>
                    <a:pt x="808151" y="333577"/>
                  </a:lnTo>
                  <a:lnTo>
                    <a:pt x="754802" y="346951"/>
                  </a:lnTo>
                  <a:lnTo>
                    <a:pt x="696878" y="357739"/>
                  </a:lnTo>
                  <a:lnTo>
                    <a:pt x="634975" y="365720"/>
                  </a:lnTo>
                  <a:lnTo>
                    <a:pt x="569691" y="370671"/>
                  </a:lnTo>
                  <a:lnTo>
                    <a:pt x="501624" y="372371"/>
                  </a:lnTo>
                  <a:lnTo>
                    <a:pt x="433556" y="370671"/>
                  </a:lnTo>
                  <a:lnTo>
                    <a:pt x="368272" y="365720"/>
                  </a:lnTo>
                  <a:lnTo>
                    <a:pt x="306368" y="357739"/>
                  </a:lnTo>
                  <a:lnTo>
                    <a:pt x="248444" y="346951"/>
                  </a:lnTo>
                  <a:lnTo>
                    <a:pt x="195095" y="333577"/>
                  </a:lnTo>
                  <a:lnTo>
                    <a:pt x="146921" y="317838"/>
                  </a:lnTo>
                  <a:lnTo>
                    <a:pt x="104519" y="299958"/>
                  </a:lnTo>
                  <a:lnTo>
                    <a:pt x="68486" y="280157"/>
                  </a:lnTo>
                  <a:lnTo>
                    <a:pt x="17918" y="235681"/>
                  </a:lnTo>
                  <a:lnTo>
                    <a:pt x="0" y="1861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 txBox="1"/>
          <p:nvPr/>
        </p:nvSpPr>
        <p:spPr>
          <a:xfrm>
            <a:off x="6429704" y="2048683"/>
            <a:ext cx="236854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latin typeface="Times New Roman"/>
                <a:cs typeface="Times New Roman"/>
              </a:rPr>
              <a:t>LTE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28" name="object 128" descr=""/>
          <p:cNvGrpSpPr/>
          <p:nvPr/>
        </p:nvGrpSpPr>
        <p:grpSpPr>
          <a:xfrm>
            <a:off x="6194838" y="1789564"/>
            <a:ext cx="2162810" cy="539750"/>
            <a:chOff x="6194838" y="1789564"/>
            <a:chExt cx="2162810" cy="539750"/>
          </a:xfrm>
        </p:grpSpPr>
        <p:sp>
          <p:nvSpPr>
            <p:cNvPr id="129" name="object 129" descr=""/>
            <p:cNvSpPr/>
            <p:nvPr/>
          </p:nvSpPr>
          <p:spPr>
            <a:xfrm>
              <a:off x="6257335" y="2058060"/>
              <a:ext cx="81280" cy="83820"/>
            </a:xfrm>
            <a:custGeom>
              <a:avLst/>
              <a:gdLst/>
              <a:ahLst/>
              <a:cxnLst/>
              <a:rect l="l" t="t" r="r" b="b"/>
              <a:pathLst>
                <a:path w="81279" h="83819">
                  <a:moveTo>
                    <a:pt x="57335" y="83782"/>
                  </a:moveTo>
                  <a:lnTo>
                    <a:pt x="0" y="83782"/>
                  </a:lnTo>
                  <a:lnTo>
                    <a:pt x="38668" y="0"/>
                  </a:lnTo>
                  <a:lnTo>
                    <a:pt x="76336" y="23910"/>
                  </a:lnTo>
                  <a:lnTo>
                    <a:pt x="81215" y="40859"/>
                  </a:lnTo>
                  <a:lnTo>
                    <a:pt x="79267" y="57771"/>
                  </a:lnTo>
                  <a:lnTo>
                    <a:pt x="71103" y="72721"/>
                  </a:lnTo>
                  <a:lnTo>
                    <a:pt x="57335" y="83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33020" y="1942274"/>
              <a:ext cx="46659" cy="26758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6233014" y="1942274"/>
              <a:ext cx="46990" cy="27305"/>
            </a:xfrm>
            <a:custGeom>
              <a:avLst/>
              <a:gdLst/>
              <a:ahLst/>
              <a:cxnLst/>
              <a:rect l="l" t="t" r="r" b="b"/>
              <a:pathLst>
                <a:path w="46989" h="27305">
                  <a:moveTo>
                    <a:pt x="46662" y="13380"/>
                  </a:moveTo>
                  <a:lnTo>
                    <a:pt x="44828" y="8172"/>
                  </a:lnTo>
                  <a:lnTo>
                    <a:pt x="39828" y="3919"/>
                  </a:lnTo>
                  <a:lnTo>
                    <a:pt x="32411" y="1051"/>
                  </a:lnTo>
                  <a:lnTo>
                    <a:pt x="23328" y="0"/>
                  </a:lnTo>
                  <a:lnTo>
                    <a:pt x="14247" y="1051"/>
                  </a:lnTo>
                  <a:lnTo>
                    <a:pt x="6832" y="3919"/>
                  </a:lnTo>
                  <a:lnTo>
                    <a:pt x="1833" y="8172"/>
                  </a:lnTo>
                  <a:lnTo>
                    <a:pt x="0" y="13380"/>
                  </a:lnTo>
                  <a:lnTo>
                    <a:pt x="1833" y="18588"/>
                  </a:lnTo>
                  <a:lnTo>
                    <a:pt x="6832" y="22842"/>
                  </a:lnTo>
                  <a:lnTo>
                    <a:pt x="14247" y="25709"/>
                  </a:lnTo>
                  <a:lnTo>
                    <a:pt x="23328" y="26761"/>
                  </a:lnTo>
                  <a:lnTo>
                    <a:pt x="32411" y="25709"/>
                  </a:lnTo>
                  <a:lnTo>
                    <a:pt x="39828" y="22842"/>
                  </a:lnTo>
                  <a:lnTo>
                    <a:pt x="44828" y="18588"/>
                  </a:lnTo>
                  <a:lnTo>
                    <a:pt x="46662" y="13380"/>
                  </a:lnTo>
                  <a:close/>
                </a:path>
              </a:pathLst>
            </a:custGeom>
            <a:ln w="5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10084" y="1954428"/>
              <a:ext cx="93052" cy="187185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6210079" y="1954421"/>
              <a:ext cx="93345" cy="187325"/>
            </a:xfrm>
            <a:custGeom>
              <a:avLst/>
              <a:gdLst/>
              <a:ahLst/>
              <a:cxnLst/>
              <a:rect l="l" t="t" r="r" b="b"/>
              <a:pathLst>
                <a:path w="93345" h="187325">
                  <a:moveTo>
                    <a:pt x="92528" y="157157"/>
                  </a:moveTo>
                  <a:lnTo>
                    <a:pt x="69496" y="6"/>
                  </a:lnTo>
                  <a:lnTo>
                    <a:pt x="63350" y="8157"/>
                  </a:lnTo>
                  <a:lnTo>
                    <a:pt x="54843" y="13149"/>
                  </a:lnTo>
                  <a:lnTo>
                    <a:pt x="23031" y="0"/>
                  </a:lnTo>
                  <a:lnTo>
                    <a:pt x="0" y="157170"/>
                  </a:lnTo>
                  <a:lnTo>
                    <a:pt x="1273" y="167773"/>
                  </a:lnTo>
                  <a:lnTo>
                    <a:pt x="9258" y="176955"/>
                  </a:lnTo>
                  <a:lnTo>
                    <a:pt x="22662" y="183751"/>
                  </a:lnTo>
                  <a:lnTo>
                    <a:pt x="40192" y="187195"/>
                  </a:lnTo>
                  <a:lnTo>
                    <a:pt x="58678" y="186464"/>
                  </a:lnTo>
                  <a:lnTo>
                    <a:pt x="74685" y="181885"/>
                  </a:lnTo>
                  <a:lnTo>
                    <a:pt x="86529" y="174198"/>
                  </a:lnTo>
                  <a:lnTo>
                    <a:pt x="92528" y="164146"/>
                  </a:lnTo>
                  <a:lnTo>
                    <a:pt x="93059" y="161831"/>
                  </a:lnTo>
                  <a:lnTo>
                    <a:pt x="93059" y="159479"/>
                  </a:lnTo>
                  <a:lnTo>
                    <a:pt x="92528" y="157164"/>
                  </a:lnTo>
                  <a:close/>
                </a:path>
              </a:pathLst>
            </a:custGeom>
            <a:ln w="5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4678" y="1822247"/>
              <a:ext cx="23342" cy="23279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6244677" y="182224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23334" y="11638"/>
                  </a:moveTo>
                  <a:lnTo>
                    <a:pt x="23334" y="5209"/>
                  </a:lnTo>
                  <a:lnTo>
                    <a:pt x="18111" y="0"/>
                  </a:lnTo>
                  <a:lnTo>
                    <a:pt x="11667" y="0"/>
                  </a:lnTo>
                  <a:lnTo>
                    <a:pt x="5228" y="0"/>
                  </a:lnTo>
                  <a:lnTo>
                    <a:pt x="0" y="5209"/>
                  </a:lnTo>
                  <a:lnTo>
                    <a:pt x="0" y="11638"/>
                  </a:lnTo>
                  <a:lnTo>
                    <a:pt x="0" y="18066"/>
                  </a:lnTo>
                  <a:lnTo>
                    <a:pt x="5228" y="23276"/>
                  </a:lnTo>
                  <a:lnTo>
                    <a:pt x="11667" y="23276"/>
                  </a:lnTo>
                  <a:lnTo>
                    <a:pt x="18111" y="23276"/>
                  </a:lnTo>
                  <a:lnTo>
                    <a:pt x="23334" y="18066"/>
                  </a:lnTo>
                  <a:lnTo>
                    <a:pt x="23334" y="11638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256345" y="1845518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137"/>
                  </a:moveTo>
                  <a:lnTo>
                    <a:pt x="0" y="0"/>
                  </a:lnTo>
                </a:path>
              </a:pathLst>
            </a:custGeom>
            <a:ln w="5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198013" y="1792739"/>
              <a:ext cx="116839" cy="82550"/>
            </a:xfrm>
            <a:custGeom>
              <a:avLst/>
              <a:gdLst/>
              <a:ahLst/>
              <a:cxnLst/>
              <a:rect l="l" t="t" r="r" b="b"/>
              <a:pathLst>
                <a:path w="116839" h="82550">
                  <a:moveTo>
                    <a:pt x="33584" y="16459"/>
                  </a:moveTo>
                  <a:lnTo>
                    <a:pt x="25896" y="28008"/>
                  </a:lnTo>
                  <a:lnTo>
                    <a:pt x="23334" y="41146"/>
                  </a:lnTo>
                  <a:lnTo>
                    <a:pt x="25896" y="54283"/>
                  </a:lnTo>
                  <a:lnTo>
                    <a:pt x="33584" y="65832"/>
                  </a:lnTo>
                </a:path>
                <a:path w="116839" h="82550">
                  <a:moveTo>
                    <a:pt x="83080" y="65832"/>
                  </a:moveTo>
                  <a:lnTo>
                    <a:pt x="90764" y="54280"/>
                  </a:lnTo>
                  <a:lnTo>
                    <a:pt x="93326" y="41143"/>
                  </a:lnTo>
                  <a:lnTo>
                    <a:pt x="90764" y="28007"/>
                  </a:lnTo>
                  <a:lnTo>
                    <a:pt x="83080" y="16459"/>
                  </a:lnTo>
                </a:path>
                <a:path w="116839" h="82550">
                  <a:moveTo>
                    <a:pt x="17084" y="6"/>
                  </a:moveTo>
                  <a:lnTo>
                    <a:pt x="4271" y="19250"/>
                  </a:lnTo>
                  <a:lnTo>
                    <a:pt x="0" y="41143"/>
                  </a:lnTo>
                  <a:lnTo>
                    <a:pt x="4271" y="63038"/>
                  </a:lnTo>
                  <a:lnTo>
                    <a:pt x="17084" y="82285"/>
                  </a:lnTo>
                </a:path>
                <a:path w="116839" h="82550">
                  <a:moveTo>
                    <a:pt x="99581" y="82285"/>
                  </a:moveTo>
                  <a:lnTo>
                    <a:pt x="112390" y="63039"/>
                  </a:lnTo>
                  <a:lnTo>
                    <a:pt x="116660" y="41145"/>
                  </a:lnTo>
                  <a:lnTo>
                    <a:pt x="112390" y="19250"/>
                  </a:lnTo>
                  <a:lnTo>
                    <a:pt x="99581" y="0"/>
                  </a:lnTo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210077" y="1822247"/>
              <a:ext cx="93345" cy="319405"/>
            </a:xfrm>
            <a:custGeom>
              <a:avLst/>
              <a:gdLst/>
              <a:ahLst/>
              <a:cxnLst/>
              <a:rect l="l" t="t" r="r" b="b"/>
              <a:pathLst>
                <a:path w="93345" h="319405">
                  <a:moveTo>
                    <a:pt x="46267" y="120026"/>
                  </a:moveTo>
                  <a:lnTo>
                    <a:pt x="37714" y="120963"/>
                  </a:lnTo>
                  <a:lnTo>
                    <a:pt x="30557" y="123526"/>
                  </a:lnTo>
                  <a:lnTo>
                    <a:pt x="25447" y="127377"/>
                  </a:lnTo>
                  <a:lnTo>
                    <a:pt x="23037" y="132175"/>
                  </a:lnTo>
                  <a:lnTo>
                    <a:pt x="0" y="289346"/>
                  </a:lnTo>
                  <a:lnTo>
                    <a:pt x="1273" y="299949"/>
                  </a:lnTo>
                  <a:lnTo>
                    <a:pt x="9258" y="309131"/>
                  </a:lnTo>
                  <a:lnTo>
                    <a:pt x="22662" y="315925"/>
                  </a:lnTo>
                  <a:lnTo>
                    <a:pt x="40192" y="319365"/>
                  </a:lnTo>
                  <a:lnTo>
                    <a:pt x="58680" y="318638"/>
                  </a:lnTo>
                  <a:lnTo>
                    <a:pt x="74688" y="314060"/>
                  </a:lnTo>
                  <a:lnTo>
                    <a:pt x="86533" y="306374"/>
                  </a:lnTo>
                  <a:lnTo>
                    <a:pt x="92534" y="296322"/>
                  </a:lnTo>
                  <a:lnTo>
                    <a:pt x="93065" y="294007"/>
                  </a:lnTo>
                  <a:lnTo>
                    <a:pt x="93065" y="291655"/>
                  </a:lnTo>
                  <a:lnTo>
                    <a:pt x="92534" y="289340"/>
                  </a:lnTo>
                  <a:lnTo>
                    <a:pt x="69675" y="133395"/>
                  </a:lnTo>
                  <a:lnTo>
                    <a:pt x="67819" y="128184"/>
                  </a:lnTo>
                  <a:lnTo>
                    <a:pt x="62798" y="123933"/>
                  </a:lnTo>
                  <a:lnTo>
                    <a:pt x="55363" y="121070"/>
                  </a:lnTo>
                  <a:lnTo>
                    <a:pt x="46267" y="120026"/>
                  </a:lnTo>
                </a:path>
                <a:path w="93345" h="319405">
                  <a:moveTo>
                    <a:pt x="57934" y="11638"/>
                  </a:moveTo>
                  <a:lnTo>
                    <a:pt x="57934" y="5209"/>
                  </a:lnTo>
                  <a:lnTo>
                    <a:pt x="52711" y="0"/>
                  </a:lnTo>
                  <a:lnTo>
                    <a:pt x="46267" y="0"/>
                  </a:lnTo>
                  <a:lnTo>
                    <a:pt x="39822" y="0"/>
                  </a:lnTo>
                  <a:lnTo>
                    <a:pt x="34600" y="5209"/>
                  </a:lnTo>
                  <a:lnTo>
                    <a:pt x="34600" y="11638"/>
                  </a:lnTo>
                  <a:lnTo>
                    <a:pt x="34600" y="18066"/>
                  </a:lnTo>
                  <a:lnTo>
                    <a:pt x="39822" y="23276"/>
                  </a:lnTo>
                  <a:lnTo>
                    <a:pt x="46267" y="23276"/>
                  </a:lnTo>
                  <a:lnTo>
                    <a:pt x="52711" y="23276"/>
                  </a:lnTo>
                  <a:lnTo>
                    <a:pt x="57934" y="18066"/>
                  </a:lnTo>
                  <a:lnTo>
                    <a:pt x="57934" y="11638"/>
                  </a:lnTo>
                  <a:close/>
                </a:path>
                <a:path w="93345" h="319405">
                  <a:moveTo>
                    <a:pt x="46267" y="120026"/>
                  </a:moveTo>
                  <a:lnTo>
                    <a:pt x="46267" y="23276"/>
                  </a:lnTo>
                </a:path>
              </a:pathLst>
            </a:custGeom>
            <a:ln w="12330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352916" y="1955658"/>
              <a:ext cx="1003300" cy="372745"/>
            </a:xfrm>
            <a:custGeom>
              <a:avLst/>
              <a:gdLst/>
              <a:ahLst/>
              <a:cxnLst/>
              <a:rect l="l" t="t" r="r" b="b"/>
              <a:pathLst>
                <a:path w="1003300" h="372744">
                  <a:moveTo>
                    <a:pt x="501624" y="372371"/>
                  </a:moveTo>
                  <a:lnTo>
                    <a:pt x="433556" y="370671"/>
                  </a:lnTo>
                  <a:lnTo>
                    <a:pt x="368272" y="365720"/>
                  </a:lnTo>
                  <a:lnTo>
                    <a:pt x="306368" y="357739"/>
                  </a:lnTo>
                  <a:lnTo>
                    <a:pt x="248444" y="346951"/>
                  </a:lnTo>
                  <a:lnTo>
                    <a:pt x="195095" y="333577"/>
                  </a:lnTo>
                  <a:lnTo>
                    <a:pt x="146921" y="317838"/>
                  </a:lnTo>
                  <a:lnTo>
                    <a:pt x="104519" y="299958"/>
                  </a:lnTo>
                  <a:lnTo>
                    <a:pt x="68486" y="280157"/>
                  </a:lnTo>
                  <a:lnTo>
                    <a:pt x="17918" y="235681"/>
                  </a:lnTo>
                  <a:lnTo>
                    <a:pt x="0" y="186185"/>
                  </a:lnTo>
                  <a:lnTo>
                    <a:pt x="4579" y="160921"/>
                  </a:lnTo>
                  <a:lnTo>
                    <a:pt x="39419" y="113713"/>
                  </a:lnTo>
                  <a:lnTo>
                    <a:pt x="104519" y="72412"/>
                  </a:lnTo>
                  <a:lnTo>
                    <a:pt x="146921" y="54532"/>
                  </a:lnTo>
                  <a:lnTo>
                    <a:pt x="195095" y="38793"/>
                  </a:lnTo>
                  <a:lnTo>
                    <a:pt x="248444" y="25419"/>
                  </a:lnTo>
                  <a:lnTo>
                    <a:pt x="306368" y="14631"/>
                  </a:lnTo>
                  <a:lnTo>
                    <a:pt x="368272" y="6650"/>
                  </a:lnTo>
                  <a:lnTo>
                    <a:pt x="433556" y="1699"/>
                  </a:lnTo>
                  <a:lnTo>
                    <a:pt x="501624" y="0"/>
                  </a:lnTo>
                  <a:lnTo>
                    <a:pt x="569691" y="1699"/>
                  </a:lnTo>
                  <a:lnTo>
                    <a:pt x="634975" y="6650"/>
                  </a:lnTo>
                  <a:lnTo>
                    <a:pt x="696878" y="14631"/>
                  </a:lnTo>
                  <a:lnTo>
                    <a:pt x="754802" y="25419"/>
                  </a:lnTo>
                  <a:lnTo>
                    <a:pt x="808151" y="38793"/>
                  </a:lnTo>
                  <a:lnTo>
                    <a:pt x="856325" y="54532"/>
                  </a:lnTo>
                  <a:lnTo>
                    <a:pt x="898728" y="72412"/>
                  </a:lnTo>
                  <a:lnTo>
                    <a:pt x="934762" y="92213"/>
                  </a:lnTo>
                  <a:lnTo>
                    <a:pt x="985330" y="136689"/>
                  </a:lnTo>
                  <a:lnTo>
                    <a:pt x="1003249" y="186185"/>
                  </a:lnTo>
                  <a:lnTo>
                    <a:pt x="998670" y="211449"/>
                  </a:lnTo>
                  <a:lnTo>
                    <a:pt x="963828" y="258657"/>
                  </a:lnTo>
                  <a:lnTo>
                    <a:pt x="898728" y="299958"/>
                  </a:lnTo>
                  <a:lnTo>
                    <a:pt x="856325" y="317838"/>
                  </a:lnTo>
                  <a:lnTo>
                    <a:pt x="808151" y="333577"/>
                  </a:lnTo>
                  <a:lnTo>
                    <a:pt x="754802" y="346951"/>
                  </a:lnTo>
                  <a:lnTo>
                    <a:pt x="696878" y="357739"/>
                  </a:lnTo>
                  <a:lnTo>
                    <a:pt x="634975" y="365720"/>
                  </a:lnTo>
                  <a:lnTo>
                    <a:pt x="569691" y="370671"/>
                  </a:lnTo>
                  <a:lnTo>
                    <a:pt x="501624" y="37237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352916" y="1955658"/>
              <a:ext cx="1003300" cy="372745"/>
            </a:xfrm>
            <a:custGeom>
              <a:avLst/>
              <a:gdLst/>
              <a:ahLst/>
              <a:cxnLst/>
              <a:rect l="l" t="t" r="r" b="b"/>
              <a:pathLst>
                <a:path w="1003300" h="372744">
                  <a:moveTo>
                    <a:pt x="0" y="186185"/>
                  </a:moveTo>
                  <a:lnTo>
                    <a:pt x="17918" y="136689"/>
                  </a:lnTo>
                  <a:lnTo>
                    <a:pt x="68486" y="92213"/>
                  </a:lnTo>
                  <a:lnTo>
                    <a:pt x="104519" y="72412"/>
                  </a:lnTo>
                  <a:lnTo>
                    <a:pt x="146921" y="54532"/>
                  </a:lnTo>
                  <a:lnTo>
                    <a:pt x="195095" y="38793"/>
                  </a:lnTo>
                  <a:lnTo>
                    <a:pt x="248444" y="25419"/>
                  </a:lnTo>
                  <a:lnTo>
                    <a:pt x="306368" y="14631"/>
                  </a:lnTo>
                  <a:lnTo>
                    <a:pt x="368272" y="6650"/>
                  </a:lnTo>
                  <a:lnTo>
                    <a:pt x="433556" y="1699"/>
                  </a:lnTo>
                  <a:lnTo>
                    <a:pt x="501624" y="0"/>
                  </a:lnTo>
                  <a:lnTo>
                    <a:pt x="569691" y="1699"/>
                  </a:lnTo>
                  <a:lnTo>
                    <a:pt x="634975" y="6650"/>
                  </a:lnTo>
                  <a:lnTo>
                    <a:pt x="696878" y="14631"/>
                  </a:lnTo>
                  <a:lnTo>
                    <a:pt x="754802" y="25419"/>
                  </a:lnTo>
                  <a:lnTo>
                    <a:pt x="808151" y="38793"/>
                  </a:lnTo>
                  <a:lnTo>
                    <a:pt x="856325" y="54532"/>
                  </a:lnTo>
                  <a:lnTo>
                    <a:pt x="898728" y="72412"/>
                  </a:lnTo>
                  <a:lnTo>
                    <a:pt x="934762" y="92213"/>
                  </a:lnTo>
                  <a:lnTo>
                    <a:pt x="985330" y="136689"/>
                  </a:lnTo>
                  <a:lnTo>
                    <a:pt x="1003249" y="186185"/>
                  </a:lnTo>
                  <a:lnTo>
                    <a:pt x="998670" y="211449"/>
                  </a:lnTo>
                  <a:lnTo>
                    <a:pt x="963828" y="258657"/>
                  </a:lnTo>
                  <a:lnTo>
                    <a:pt x="898728" y="299958"/>
                  </a:lnTo>
                  <a:lnTo>
                    <a:pt x="856325" y="317838"/>
                  </a:lnTo>
                  <a:lnTo>
                    <a:pt x="808151" y="333577"/>
                  </a:lnTo>
                  <a:lnTo>
                    <a:pt x="754802" y="346951"/>
                  </a:lnTo>
                  <a:lnTo>
                    <a:pt x="696878" y="357739"/>
                  </a:lnTo>
                  <a:lnTo>
                    <a:pt x="634975" y="365720"/>
                  </a:lnTo>
                  <a:lnTo>
                    <a:pt x="569691" y="370671"/>
                  </a:lnTo>
                  <a:lnTo>
                    <a:pt x="501624" y="372371"/>
                  </a:lnTo>
                  <a:lnTo>
                    <a:pt x="433556" y="370671"/>
                  </a:lnTo>
                  <a:lnTo>
                    <a:pt x="368272" y="365720"/>
                  </a:lnTo>
                  <a:lnTo>
                    <a:pt x="306368" y="357739"/>
                  </a:lnTo>
                  <a:lnTo>
                    <a:pt x="248444" y="346951"/>
                  </a:lnTo>
                  <a:lnTo>
                    <a:pt x="195095" y="333577"/>
                  </a:lnTo>
                  <a:lnTo>
                    <a:pt x="146921" y="317838"/>
                  </a:lnTo>
                  <a:lnTo>
                    <a:pt x="104519" y="299958"/>
                  </a:lnTo>
                  <a:lnTo>
                    <a:pt x="68486" y="280157"/>
                  </a:lnTo>
                  <a:lnTo>
                    <a:pt x="17918" y="235681"/>
                  </a:lnTo>
                  <a:lnTo>
                    <a:pt x="0" y="1861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 txBox="1"/>
          <p:nvPr/>
        </p:nvSpPr>
        <p:spPr>
          <a:xfrm>
            <a:off x="7761805" y="2048685"/>
            <a:ext cx="18605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latin typeface="Times New Roman"/>
                <a:cs typeface="Times New Roman"/>
              </a:rPr>
              <a:t>NR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42" name="object 142" descr=""/>
          <p:cNvGrpSpPr/>
          <p:nvPr/>
        </p:nvGrpSpPr>
        <p:grpSpPr>
          <a:xfrm>
            <a:off x="4518301" y="1460856"/>
            <a:ext cx="3686810" cy="1957070"/>
            <a:chOff x="4518301" y="1460856"/>
            <a:chExt cx="3686810" cy="1957070"/>
          </a:xfrm>
        </p:grpSpPr>
        <p:sp>
          <p:nvSpPr>
            <p:cNvPr id="143" name="object 143" descr=""/>
            <p:cNvSpPr/>
            <p:nvPr/>
          </p:nvSpPr>
          <p:spPr>
            <a:xfrm>
              <a:off x="8123842" y="2058062"/>
              <a:ext cx="81280" cy="83820"/>
            </a:xfrm>
            <a:custGeom>
              <a:avLst/>
              <a:gdLst/>
              <a:ahLst/>
              <a:cxnLst/>
              <a:rect l="l" t="t" r="r" b="b"/>
              <a:pathLst>
                <a:path w="81279" h="83819">
                  <a:moveTo>
                    <a:pt x="57335" y="83782"/>
                  </a:moveTo>
                  <a:lnTo>
                    <a:pt x="0" y="83782"/>
                  </a:lnTo>
                  <a:lnTo>
                    <a:pt x="38668" y="0"/>
                  </a:lnTo>
                  <a:lnTo>
                    <a:pt x="76336" y="23910"/>
                  </a:lnTo>
                  <a:lnTo>
                    <a:pt x="81215" y="40859"/>
                  </a:lnTo>
                  <a:lnTo>
                    <a:pt x="79267" y="57771"/>
                  </a:lnTo>
                  <a:lnTo>
                    <a:pt x="71103" y="72721"/>
                  </a:lnTo>
                  <a:lnTo>
                    <a:pt x="57335" y="83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99526" y="1942274"/>
              <a:ext cx="46659" cy="26758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8099522" y="1942274"/>
              <a:ext cx="46990" cy="27305"/>
            </a:xfrm>
            <a:custGeom>
              <a:avLst/>
              <a:gdLst/>
              <a:ahLst/>
              <a:cxnLst/>
              <a:rect l="l" t="t" r="r" b="b"/>
              <a:pathLst>
                <a:path w="46990" h="27305">
                  <a:moveTo>
                    <a:pt x="46662" y="13380"/>
                  </a:moveTo>
                  <a:lnTo>
                    <a:pt x="44828" y="8172"/>
                  </a:lnTo>
                  <a:lnTo>
                    <a:pt x="39828" y="3919"/>
                  </a:lnTo>
                  <a:lnTo>
                    <a:pt x="32411" y="1051"/>
                  </a:lnTo>
                  <a:lnTo>
                    <a:pt x="23328" y="0"/>
                  </a:lnTo>
                  <a:lnTo>
                    <a:pt x="14247" y="1051"/>
                  </a:lnTo>
                  <a:lnTo>
                    <a:pt x="6832" y="3919"/>
                  </a:lnTo>
                  <a:lnTo>
                    <a:pt x="1833" y="8172"/>
                  </a:lnTo>
                  <a:lnTo>
                    <a:pt x="0" y="13380"/>
                  </a:lnTo>
                  <a:lnTo>
                    <a:pt x="1833" y="18588"/>
                  </a:lnTo>
                  <a:lnTo>
                    <a:pt x="6832" y="22842"/>
                  </a:lnTo>
                  <a:lnTo>
                    <a:pt x="14247" y="25709"/>
                  </a:lnTo>
                  <a:lnTo>
                    <a:pt x="23328" y="26761"/>
                  </a:lnTo>
                  <a:lnTo>
                    <a:pt x="32411" y="25709"/>
                  </a:lnTo>
                  <a:lnTo>
                    <a:pt x="39828" y="22842"/>
                  </a:lnTo>
                  <a:lnTo>
                    <a:pt x="44828" y="18588"/>
                  </a:lnTo>
                  <a:lnTo>
                    <a:pt x="46662" y="13380"/>
                  </a:lnTo>
                  <a:close/>
                </a:path>
              </a:pathLst>
            </a:custGeom>
            <a:ln w="5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76590" y="1954428"/>
              <a:ext cx="93065" cy="187185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8076587" y="1954421"/>
              <a:ext cx="93345" cy="187325"/>
            </a:xfrm>
            <a:custGeom>
              <a:avLst/>
              <a:gdLst/>
              <a:ahLst/>
              <a:cxnLst/>
              <a:rect l="l" t="t" r="r" b="b"/>
              <a:pathLst>
                <a:path w="93345" h="187325">
                  <a:moveTo>
                    <a:pt x="92528" y="157157"/>
                  </a:moveTo>
                  <a:lnTo>
                    <a:pt x="69496" y="6"/>
                  </a:lnTo>
                  <a:lnTo>
                    <a:pt x="63350" y="8157"/>
                  </a:lnTo>
                  <a:lnTo>
                    <a:pt x="54843" y="13149"/>
                  </a:lnTo>
                  <a:lnTo>
                    <a:pt x="23031" y="0"/>
                  </a:lnTo>
                  <a:lnTo>
                    <a:pt x="0" y="157170"/>
                  </a:lnTo>
                  <a:lnTo>
                    <a:pt x="1273" y="167773"/>
                  </a:lnTo>
                  <a:lnTo>
                    <a:pt x="9258" y="176955"/>
                  </a:lnTo>
                  <a:lnTo>
                    <a:pt x="22662" y="183751"/>
                  </a:lnTo>
                  <a:lnTo>
                    <a:pt x="40192" y="187195"/>
                  </a:lnTo>
                  <a:lnTo>
                    <a:pt x="58678" y="186464"/>
                  </a:lnTo>
                  <a:lnTo>
                    <a:pt x="74685" y="181885"/>
                  </a:lnTo>
                  <a:lnTo>
                    <a:pt x="86529" y="174198"/>
                  </a:lnTo>
                  <a:lnTo>
                    <a:pt x="92528" y="164146"/>
                  </a:lnTo>
                  <a:lnTo>
                    <a:pt x="93059" y="161831"/>
                  </a:lnTo>
                  <a:lnTo>
                    <a:pt x="93059" y="159479"/>
                  </a:lnTo>
                  <a:lnTo>
                    <a:pt x="92528" y="157164"/>
                  </a:lnTo>
                  <a:close/>
                </a:path>
              </a:pathLst>
            </a:custGeom>
            <a:ln w="5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111184" y="182224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23334" y="11638"/>
                  </a:moveTo>
                  <a:lnTo>
                    <a:pt x="23334" y="5209"/>
                  </a:lnTo>
                  <a:lnTo>
                    <a:pt x="18111" y="0"/>
                  </a:lnTo>
                  <a:lnTo>
                    <a:pt x="11667" y="0"/>
                  </a:lnTo>
                  <a:lnTo>
                    <a:pt x="5228" y="0"/>
                  </a:lnTo>
                  <a:lnTo>
                    <a:pt x="0" y="5209"/>
                  </a:lnTo>
                  <a:lnTo>
                    <a:pt x="0" y="11638"/>
                  </a:lnTo>
                  <a:lnTo>
                    <a:pt x="0" y="18066"/>
                  </a:lnTo>
                  <a:lnTo>
                    <a:pt x="5228" y="23276"/>
                  </a:lnTo>
                  <a:lnTo>
                    <a:pt x="11667" y="23276"/>
                  </a:lnTo>
                  <a:lnTo>
                    <a:pt x="18111" y="23276"/>
                  </a:lnTo>
                  <a:lnTo>
                    <a:pt x="23334" y="18066"/>
                  </a:lnTo>
                  <a:lnTo>
                    <a:pt x="23334" y="11638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122852" y="1845518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w="0" h="110489">
                  <a:moveTo>
                    <a:pt x="0" y="110137"/>
                  </a:moveTo>
                  <a:lnTo>
                    <a:pt x="0" y="0"/>
                  </a:lnTo>
                </a:path>
              </a:pathLst>
            </a:custGeom>
            <a:ln w="5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8064520" y="1792739"/>
              <a:ext cx="116839" cy="82550"/>
            </a:xfrm>
            <a:custGeom>
              <a:avLst/>
              <a:gdLst/>
              <a:ahLst/>
              <a:cxnLst/>
              <a:rect l="l" t="t" r="r" b="b"/>
              <a:pathLst>
                <a:path w="116840" h="82550">
                  <a:moveTo>
                    <a:pt x="33584" y="16459"/>
                  </a:moveTo>
                  <a:lnTo>
                    <a:pt x="25896" y="28008"/>
                  </a:lnTo>
                  <a:lnTo>
                    <a:pt x="23334" y="41146"/>
                  </a:lnTo>
                  <a:lnTo>
                    <a:pt x="25896" y="54283"/>
                  </a:lnTo>
                  <a:lnTo>
                    <a:pt x="33584" y="65832"/>
                  </a:lnTo>
                </a:path>
                <a:path w="116840" h="82550">
                  <a:moveTo>
                    <a:pt x="83080" y="65832"/>
                  </a:moveTo>
                  <a:lnTo>
                    <a:pt x="90764" y="54280"/>
                  </a:lnTo>
                  <a:lnTo>
                    <a:pt x="93326" y="41143"/>
                  </a:lnTo>
                  <a:lnTo>
                    <a:pt x="90764" y="28007"/>
                  </a:lnTo>
                  <a:lnTo>
                    <a:pt x="83080" y="16459"/>
                  </a:lnTo>
                </a:path>
                <a:path w="116840" h="82550">
                  <a:moveTo>
                    <a:pt x="17084" y="6"/>
                  </a:moveTo>
                  <a:lnTo>
                    <a:pt x="4271" y="19250"/>
                  </a:lnTo>
                  <a:lnTo>
                    <a:pt x="0" y="41143"/>
                  </a:lnTo>
                  <a:lnTo>
                    <a:pt x="4271" y="63038"/>
                  </a:lnTo>
                  <a:lnTo>
                    <a:pt x="17084" y="82285"/>
                  </a:lnTo>
                </a:path>
                <a:path w="116840" h="82550">
                  <a:moveTo>
                    <a:pt x="99581" y="82285"/>
                  </a:moveTo>
                  <a:lnTo>
                    <a:pt x="112390" y="63039"/>
                  </a:lnTo>
                  <a:lnTo>
                    <a:pt x="116660" y="41145"/>
                  </a:lnTo>
                  <a:lnTo>
                    <a:pt x="112390" y="19250"/>
                  </a:lnTo>
                  <a:lnTo>
                    <a:pt x="99581" y="0"/>
                  </a:lnTo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8076584" y="1822247"/>
              <a:ext cx="93345" cy="319405"/>
            </a:xfrm>
            <a:custGeom>
              <a:avLst/>
              <a:gdLst/>
              <a:ahLst/>
              <a:cxnLst/>
              <a:rect l="l" t="t" r="r" b="b"/>
              <a:pathLst>
                <a:path w="93345" h="319405">
                  <a:moveTo>
                    <a:pt x="46267" y="120026"/>
                  </a:moveTo>
                  <a:lnTo>
                    <a:pt x="37712" y="120963"/>
                  </a:lnTo>
                  <a:lnTo>
                    <a:pt x="30554" y="123526"/>
                  </a:lnTo>
                  <a:lnTo>
                    <a:pt x="25444" y="127377"/>
                  </a:lnTo>
                  <a:lnTo>
                    <a:pt x="23031" y="132175"/>
                  </a:lnTo>
                  <a:lnTo>
                    <a:pt x="0" y="289346"/>
                  </a:lnTo>
                  <a:lnTo>
                    <a:pt x="1273" y="299949"/>
                  </a:lnTo>
                  <a:lnTo>
                    <a:pt x="9258" y="309131"/>
                  </a:lnTo>
                  <a:lnTo>
                    <a:pt x="22662" y="315925"/>
                  </a:lnTo>
                  <a:lnTo>
                    <a:pt x="40192" y="319365"/>
                  </a:lnTo>
                  <a:lnTo>
                    <a:pt x="58681" y="318638"/>
                  </a:lnTo>
                  <a:lnTo>
                    <a:pt x="74690" y="314060"/>
                  </a:lnTo>
                  <a:lnTo>
                    <a:pt x="86535" y="306374"/>
                  </a:lnTo>
                  <a:lnTo>
                    <a:pt x="92534" y="296322"/>
                  </a:lnTo>
                  <a:lnTo>
                    <a:pt x="93065" y="294007"/>
                  </a:lnTo>
                  <a:lnTo>
                    <a:pt x="93065" y="291655"/>
                  </a:lnTo>
                  <a:lnTo>
                    <a:pt x="92534" y="289340"/>
                  </a:lnTo>
                  <a:lnTo>
                    <a:pt x="69675" y="133395"/>
                  </a:lnTo>
                  <a:lnTo>
                    <a:pt x="67819" y="128184"/>
                  </a:lnTo>
                  <a:lnTo>
                    <a:pt x="62798" y="123933"/>
                  </a:lnTo>
                  <a:lnTo>
                    <a:pt x="55363" y="121070"/>
                  </a:lnTo>
                  <a:lnTo>
                    <a:pt x="46267" y="120026"/>
                  </a:lnTo>
                </a:path>
                <a:path w="93345" h="319405">
                  <a:moveTo>
                    <a:pt x="57934" y="11638"/>
                  </a:moveTo>
                  <a:lnTo>
                    <a:pt x="57934" y="5209"/>
                  </a:lnTo>
                  <a:lnTo>
                    <a:pt x="52711" y="0"/>
                  </a:lnTo>
                  <a:lnTo>
                    <a:pt x="46267" y="0"/>
                  </a:lnTo>
                  <a:lnTo>
                    <a:pt x="39822" y="0"/>
                  </a:lnTo>
                  <a:lnTo>
                    <a:pt x="34600" y="5209"/>
                  </a:lnTo>
                  <a:lnTo>
                    <a:pt x="34600" y="11638"/>
                  </a:lnTo>
                  <a:lnTo>
                    <a:pt x="34600" y="18066"/>
                  </a:lnTo>
                  <a:lnTo>
                    <a:pt x="39822" y="23276"/>
                  </a:lnTo>
                  <a:lnTo>
                    <a:pt x="46267" y="23276"/>
                  </a:lnTo>
                  <a:lnTo>
                    <a:pt x="52711" y="23276"/>
                  </a:lnTo>
                  <a:lnTo>
                    <a:pt x="57934" y="18066"/>
                  </a:lnTo>
                  <a:lnTo>
                    <a:pt x="57934" y="11638"/>
                  </a:lnTo>
                  <a:close/>
                </a:path>
                <a:path w="93345" h="319405">
                  <a:moveTo>
                    <a:pt x="46267" y="120026"/>
                  </a:moveTo>
                  <a:lnTo>
                    <a:pt x="46267" y="23276"/>
                  </a:lnTo>
                </a:path>
              </a:pathLst>
            </a:custGeom>
            <a:ln w="12330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547986" y="1462126"/>
              <a:ext cx="1224915" cy="494030"/>
            </a:xfrm>
            <a:custGeom>
              <a:avLst/>
              <a:gdLst/>
              <a:ahLst/>
              <a:cxnLst/>
              <a:rect l="l" t="t" r="r" b="b"/>
              <a:pathLst>
                <a:path w="1224915" h="494030">
                  <a:moveTo>
                    <a:pt x="1224894" y="0"/>
                  </a:moveTo>
                  <a:lnTo>
                    <a:pt x="0" y="49353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049609" y="2118157"/>
              <a:ext cx="303530" cy="0"/>
            </a:xfrm>
            <a:custGeom>
              <a:avLst/>
              <a:gdLst/>
              <a:ahLst/>
              <a:cxnLst/>
              <a:rect l="l" t="t" r="r" b="b"/>
              <a:pathLst>
                <a:path w="303529" h="0">
                  <a:moveTo>
                    <a:pt x="0" y="0"/>
                  </a:moveTo>
                  <a:lnTo>
                    <a:pt x="303308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14616" y="2870085"/>
              <a:ext cx="136169" cy="62356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42019" y="2711564"/>
              <a:ext cx="94263" cy="185909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7142014" y="2848611"/>
              <a:ext cx="43180" cy="48895"/>
            </a:xfrm>
            <a:custGeom>
              <a:avLst/>
              <a:gdLst/>
              <a:ahLst/>
              <a:cxnLst/>
              <a:rect l="l" t="t" r="r" b="b"/>
              <a:pathLst>
                <a:path w="43179" h="48894">
                  <a:moveTo>
                    <a:pt x="38511" y="34339"/>
                  </a:moveTo>
                  <a:lnTo>
                    <a:pt x="42188" y="24871"/>
                  </a:lnTo>
                  <a:lnTo>
                    <a:pt x="42608" y="15651"/>
                  </a:lnTo>
                  <a:lnTo>
                    <a:pt x="39908" y="7716"/>
                  </a:lnTo>
                  <a:lnTo>
                    <a:pt x="34227" y="2103"/>
                  </a:lnTo>
                  <a:lnTo>
                    <a:pt x="26515" y="0"/>
                  </a:lnTo>
                  <a:lnTo>
                    <a:pt x="18275" y="1634"/>
                  </a:lnTo>
                  <a:lnTo>
                    <a:pt x="10479" y="6607"/>
                  </a:lnTo>
                  <a:lnTo>
                    <a:pt x="4096" y="14517"/>
                  </a:lnTo>
                  <a:lnTo>
                    <a:pt x="419" y="23988"/>
                  </a:lnTo>
                  <a:lnTo>
                    <a:pt x="0" y="33209"/>
                  </a:lnTo>
                  <a:lnTo>
                    <a:pt x="2699" y="41143"/>
                  </a:lnTo>
                  <a:lnTo>
                    <a:pt x="8380" y="46753"/>
                  </a:lnTo>
                  <a:lnTo>
                    <a:pt x="16095" y="48856"/>
                  </a:lnTo>
                  <a:lnTo>
                    <a:pt x="24335" y="47221"/>
                  </a:lnTo>
                  <a:lnTo>
                    <a:pt x="32129" y="42249"/>
                  </a:lnTo>
                  <a:lnTo>
                    <a:pt x="38511" y="34339"/>
                  </a:lnTo>
                  <a:close/>
                </a:path>
              </a:pathLst>
            </a:custGeom>
            <a:ln w="59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14616" y="2829090"/>
              <a:ext cx="128422" cy="78128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7014616" y="2829093"/>
              <a:ext cx="128905" cy="78740"/>
            </a:xfrm>
            <a:custGeom>
              <a:avLst/>
              <a:gdLst/>
              <a:ahLst/>
              <a:cxnLst/>
              <a:rect l="l" t="t" r="r" b="b"/>
              <a:pathLst>
                <a:path w="128904" h="78739">
                  <a:moveTo>
                    <a:pt x="59193" y="0"/>
                  </a:moveTo>
                  <a:lnTo>
                    <a:pt x="19545" y="21802"/>
                  </a:lnTo>
                  <a:lnTo>
                    <a:pt x="0" y="43529"/>
                  </a:lnTo>
                  <a:lnTo>
                    <a:pt x="3659" y="52581"/>
                  </a:lnTo>
                  <a:lnTo>
                    <a:pt x="36388" y="76364"/>
                  </a:lnTo>
                  <a:lnTo>
                    <a:pt x="48900" y="78125"/>
                  </a:lnTo>
                  <a:lnTo>
                    <a:pt x="61532" y="77253"/>
                  </a:lnTo>
                  <a:lnTo>
                    <a:pt x="73879" y="73732"/>
                  </a:lnTo>
                  <a:lnTo>
                    <a:pt x="128431" y="40985"/>
                  </a:lnTo>
                  <a:lnTo>
                    <a:pt x="59193" y="0"/>
                  </a:lnTo>
                  <a:close/>
                </a:path>
              </a:pathLst>
            </a:custGeom>
            <a:ln w="5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089977" y="2711069"/>
              <a:ext cx="123454" cy="138556"/>
            </a:xfrm>
            <a:prstGeom prst="rect">
              <a:avLst/>
            </a:prstGeom>
          </p:spPr>
        </p:pic>
        <p:sp>
          <p:nvSpPr>
            <p:cNvPr id="160" name="object 160" descr=""/>
            <p:cNvSpPr/>
            <p:nvPr/>
          </p:nvSpPr>
          <p:spPr>
            <a:xfrm>
              <a:off x="7089974" y="2711561"/>
              <a:ext cx="123825" cy="138430"/>
            </a:xfrm>
            <a:custGeom>
              <a:avLst/>
              <a:gdLst/>
              <a:ahLst/>
              <a:cxnLst/>
              <a:rect l="l" t="t" r="r" b="b"/>
              <a:pathLst>
                <a:path w="123825" h="138430">
                  <a:moveTo>
                    <a:pt x="0" y="96196"/>
                  </a:moveTo>
                  <a:lnTo>
                    <a:pt x="71990" y="138068"/>
                  </a:lnTo>
                  <a:lnTo>
                    <a:pt x="76749" y="137108"/>
                  </a:lnTo>
                  <a:lnTo>
                    <a:pt x="117646" y="65296"/>
                  </a:lnTo>
                  <a:lnTo>
                    <a:pt x="123460" y="48219"/>
                  </a:lnTo>
                  <a:lnTo>
                    <a:pt x="122425" y="30925"/>
                  </a:lnTo>
                  <a:lnTo>
                    <a:pt x="96608" y="935"/>
                  </a:lnTo>
                  <a:lnTo>
                    <a:pt x="93824" y="0"/>
                  </a:lnTo>
                  <a:lnTo>
                    <a:pt x="78435" y="138"/>
                  </a:lnTo>
                  <a:lnTo>
                    <a:pt x="63926" y="4568"/>
                  </a:lnTo>
                  <a:lnTo>
                    <a:pt x="51142" y="12894"/>
                  </a:lnTo>
                  <a:lnTo>
                    <a:pt x="40927" y="24723"/>
                  </a:lnTo>
                  <a:lnTo>
                    <a:pt x="0" y="96196"/>
                  </a:lnTo>
                  <a:close/>
                </a:path>
              </a:pathLst>
            </a:custGeom>
            <a:ln w="59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073810" y="2807754"/>
              <a:ext cx="88163" cy="62331"/>
            </a:xfrm>
            <a:prstGeom prst="rect">
              <a:avLst/>
            </a:prstGeom>
          </p:spPr>
        </p:pic>
        <p:sp>
          <p:nvSpPr>
            <p:cNvPr id="162" name="object 162" descr=""/>
            <p:cNvSpPr/>
            <p:nvPr/>
          </p:nvSpPr>
          <p:spPr>
            <a:xfrm>
              <a:off x="7073810" y="2807757"/>
              <a:ext cx="88265" cy="62865"/>
            </a:xfrm>
            <a:custGeom>
              <a:avLst/>
              <a:gdLst/>
              <a:ahLst/>
              <a:cxnLst/>
              <a:rect l="l" t="t" r="r" b="b"/>
              <a:pathLst>
                <a:path w="88265" h="62864">
                  <a:moveTo>
                    <a:pt x="0" y="21336"/>
                  </a:moveTo>
                  <a:lnTo>
                    <a:pt x="69237" y="62322"/>
                  </a:lnTo>
                  <a:lnTo>
                    <a:pt x="72084" y="55600"/>
                  </a:lnTo>
                  <a:lnTo>
                    <a:pt x="76317" y="49809"/>
                  </a:lnTo>
                  <a:lnTo>
                    <a:pt x="81741" y="45162"/>
                  </a:lnTo>
                  <a:lnTo>
                    <a:pt x="88157" y="41872"/>
                  </a:lnTo>
                  <a:lnTo>
                    <a:pt x="16167" y="0"/>
                  </a:lnTo>
                  <a:lnTo>
                    <a:pt x="10255" y="3658"/>
                  </a:lnTo>
                  <a:lnTo>
                    <a:pt x="5463" y="8601"/>
                  </a:lnTo>
                  <a:lnTo>
                    <a:pt x="1980" y="14577"/>
                  </a:lnTo>
                  <a:lnTo>
                    <a:pt x="0" y="21336"/>
                  </a:lnTo>
                  <a:close/>
                </a:path>
              </a:pathLst>
            </a:custGeom>
            <a:ln w="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051857" y="2871887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4018" y="9064"/>
                  </a:moveTo>
                  <a:lnTo>
                    <a:pt x="1104" y="8060"/>
                  </a:lnTo>
                  <a:lnTo>
                    <a:pt x="0" y="3947"/>
                  </a:lnTo>
                  <a:lnTo>
                    <a:pt x="2018" y="1625"/>
                  </a:lnTo>
                  <a:lnTo>
                    <a:pt x="8099" y="0"/>
                  </a:lnTo>
                  <a:lnTo>
                    <a:pt x="11012" y="1003"/>
                  </a:lnTo>
                  <a:lnTo>
                    <a:pt x="11562" y="3060"/>
                  </a:lnTo>
                  <a:lnTo>
                    <a:pt x="12111" y="5117"/>
                  </a:lnTo>
                  <a:lnTo>
                    <a:pt x="10099" y="7438"/>
                  </a:lnTo>
                  <a:lnTo>
                    <a:pt x="4018" y="9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051856" y="2871887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11562" y="3060"/>
                  </a:moveTo>
                  <a:lnTo>
                    <a:pt x="11012" y="1003"/>
                  </a:lnTo>
                  <a:lnTo>
                    <a:pt x="8099" y="0"/>
                  </a:lnTo>
                  <a:lnTo>
                    <a:pt x="5055" y="812"/>
                  </a:lnTo>
                  <a:lnTo>
                    <a:pt x="2018" y="1625"/>
                  </a:lnTo>
                  <a:lnTo>
                    <a:pt x="0" y="3947"/>
                  </a:lnTo>
                  <a:lnTo>
                    <a:pt x="555" y="6003"/>
                  </a:lnTo>
                  <a:lnTo>
                    <a:pt x="1104" y="8060"/>
                  </a:lnTo>
                  <a:lnTo>
                    <a:pt x="4018" y="9064"/>
                  </a:lnTo>
                  <a:lnTo>
                    <a:pt x="7055" y="8251"/>
                  </a:lnTo>
                  <a:lnTo>
                    <a:pt x="10099" y="7438"/>
                  </a:lnTo>
                  <a:lnTo>
                    <a:pt x="12111" y="5117"/>
                  </a:lnTo>
                  <a:lnTo>
                    <a:pt x="11562" y="3060"/>
                  </a:lnTo>
                  <a:close/>
                </a:path>
              </a:pathLst>
            </a:custGeom>
            <a:ln w="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29043" y="2720048"/>
              <a:ext cx="77370" cy="73710"/>
            </a:xfrm>
            <a:prstGeom prst="rect">
              <a:avLst/>
            </a:prstGeom>
          </p:spPr>
        </p:pic>
        <p:sp>
          <p:nvSpPr>
            <p:cNvPr id="166" name="object 166" descr=""/>
            <p:cNvSpPr/>
            <p:nvPr/>
          </p:nvSpPr>
          <p:spPr>
            <a:xfrm>
              <a:off x="7129040" y="2720050"/>
              <a:ext cx="77470" cy="74295"/>
            </a:xfrm>
            <a:custGeom>
              <a:avLst/>
              <a:gdLst/>
              <a:ahLst/>
              <a:cxnLst/>
              <a:rect l="l" t="t" r="r" b="b"/>
              <a:pathLst>
                <a:path w="77470" h="74294">
                  <a:moveTo>
                    <a:pt x="0" y="37673"/>
                  </a:moveTo>
                  <a:lnTo>
                    <a:pt x="62372" y="73702"/>
                  </a:lnTo>
                  <a:lnTo>
                    <a:pt x="72718" y="54545"/>
                  </a:lnTo>
                  <a:lnTo>
                    <a:pt x="77371" y="40883"/>
                  </a:lnTo>
                  <a:lnTo>
                    <a:pt x="59811" y="4907"/>
                  </a:lnTo>
                  <a:lnTo>
                    <a:pt x="48057" y="0"/>
                  </a:lnTo>
                  <a:lnTo>
                    <a:pt x="41686" y="6"/>
                  </a:lnTo>
                  <a:lnTo>
                    <a:pt x="32427" y="2058"/>
                  </a:lnTo>
                  <a:lnTo>
                    <a:pt x="23966" y="6109"/>
                  </a:lnTo>
                  <a:lnTo>
                    <a:pt x="16612" y="11967"/>
                  </a:lnTo>
                  <a:lnTo>
                    <a:pt x="10673" y="19439"/>
                  </a:lnTo>
                  <a:lnTo>
                    <a:pt x="0" y="37673"/>
                  </a:lnTo>
                  <a:close/>
                </a:path>
              </a:pathLst>
            </a:custGeom>
            <a:ln w="59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014613" y="2711271"/>
              <a:ext cx="221615" cy="220979"/>
            </a:xfrm>
            <a:custGeom>
              <a:avLst/>
              <a:gdLst/>
              <a:ahLst/>
              <a:cxnLst/>
              <a:rect l="l" t="t" r="r" b="b"/>
              <a:pathLst>
                <a:path w="221615" h="220980">
                  <a:moveTo>
                    <a:pt x="75361" y="96487"/>
                  </a:moveTo>
                  <a:lnTo>
                    <a:pt x="69516" y="100212"/>
                  </a:lnTo>
                  <a:lnTo>
                    <a:pt x="64756" y="105164"/>
                  </a:lnTo>
                  <a:lnTo>
                    <a:pt x="61257" y="111112"/>
                  </a:lnTo>
                  <a:lnTo>
                    <a:pt x="59193" y="117823"/>
                  </a:lnTo>
                  <a:lnTo>
                    <a:pt x="6882" y="147781"/>
                  </a:lnTo>
                  <a:lnTo>
                    <a:pt x="2716" y="151032"/>
                  </a:lnTo>
                  <a:lnTo>
                    <a:pt x="191" y="156007"/>
                  </a:lnTo>
                  <a:lnTo>
                    <a:pt x="0" y="161352"/>
                  </a:lnTo>
                  <a:lnTo>
                    <a:pt x="43" y="187584"/>
                  </a:lnTo>
                  <a:lnTo>
                    <a:pt x="25546" y="216280"/>
                  </a:lnTo>
                  <a:lnTo>
                    <a:pt x="48081" y="220934"/>
                  </a:lnTo>
                  <a:lnTo>
                    <a:pt x="57947" y="220844"/>
                  </a:lnTo>
                  <a:lnTo>
                    <a:pt x="67736" y="219588"/>
                  </a:lnTo>
                  <a:lnTo>
                    <a:pt x="77348" y="217172"/>
                  </a:lnTo>
                  <a:lnTo>
                    <a:pt x="133301" y="184290"/>
                  </a:lnTo>
                  <a:lnTo>
                    <a:pt x="141869" y="186074"/>
                  </a:lnTo>
                  <a:lnTo>
                    <a:pt x="169648" y="160656"/>
                  </a:lnTo>
                  <a:lnTo>
                    <a:pt x="168438" y="153360"/>
                  </a:lnTo>
                  <a:lnTo>
                    <a:pt x="220095" y="66024"/>
                  </a:lnTo>
                  <a:lnTo>
                    <a:pt x="221552" y="50820"/>
                  </a:lnTo>
                  <a:lnTo>
                    <a:pt x="218272" y="36294"/>
                  </a:lnTo>
                  <a:lnTo>
                    <a:pt x="210693" y="23549"/>
                  </a:lnTo>
                  <a:lnTo>
                    <a:pt x="199254" y="13690"/>
                  </a:lnTo>
                  <a:lnTo>
                    <a:pt x="169185" y="290"/>
                  </a:lnTo>
                  <a:lnTo>
                    <a:pt x="153627" y="0"/>
                  </a:lnTo>
                  <a:lnTo>
                    <a:pt x="138994" y="4318"/>
                  </a:lnTo>
                  <a:lnTo>
                    <a:pt x="126234" y="12804"/>
                  </a:lnTo>
                  <a:lnTo>
                    <a:pt x="116294" y="25014"/>
                  </a:lnTo>
                  <a:lnTo>
                    <a:pt x="75361" y="96487"/>
                  </a:lnTo>
                </a:path>
              </a:pathLst>
            </a:custGeom>
            <a:ln w="12330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08545" y="2769590"/>
              <a:ext cx="67741" cy="65430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7117612" y="2774646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09" h="56514">
                  <a:moveTo>
                    <a:pt x="31297" y="47192"/>
                  </a:moveTo>
                  <a:lnTo>
                    <a:pt x="35865" y="49754"/>
                  </a:lnTo>
                  <a:lnTo>
                    <a:pt x="36322" y="51854"/>
                  </a:lnTo>
                  <a:lnTo>
                    <a:pt x="34038" y="56281"/>
                  </a:lnTo>
                </a:path>
                <a:path w="54609" h="56514">
                  <a:moveTo>
                    <a:pt x="15648" y="38221"/>
                  </a:moveTo>
                  <a:lnTo>
                    <a:pt x="20216" y="40782"/>
                  </a:lnTo>
                  <a:lnTo>
                    <a:pt x="20673" y="42882"/>
                  </a:lnTo>
                  <a:lnTo>
                    <a:pt x="18389" y="47309"/>
                  </a:lnTo>
                </a:path>
                <a:path w="54609" h="56514">
                  <a:moveTo>
                    <a:pt x="0" y="29711"/>
                  </a:moveTo>
                  <a:lnTo>
                    <a:pt x="4568" y="32278"/>
                  </a:lnTo>
                  <a:lnTo>
                    <a:pt x="5024" y="34372"/>
                  </a:lnTo>
                  <a:lnTo>
                    <a:pt x="2740" y="38799"/>
                  </a:lnTo>
                </a:path>
                <a:path w="54609" h="56514">
                  <a:moveTo>
                    <a:pt x="9018" y="14446"/>
                  </a:moveTo>
                  <a:lnTo>
                    <a:pt x="13593" y="17013"/>
                  </a:lnTo>
                  <a:lnTo>
                    <a:pt x="14049" y="19107"/>
                  </a:lnTo>
                  <a:lnTo>
                    <a:pt x="11765" y="23534"/>
                  </a:lnTo>
                </a:path>
                <a:path w="54609" h="56514">
                  <a:moveTo>
                    <a:pt x="17815" y="0"/>
                  </a:moveTo>
                  <a:lnTo>
                    <a:pt x="22389" y="2561"/>
                  </a:lnTo>
                  <a:lnTo>
                    <a:pt x="22846" y="4661"/>
                  </a:lnTo>
                  <a:lnTo>
                    <a:pt x="20556" y="9088"/>
                  </a:lnTo>
                </a:path>
                <a:path w="54609" h="56514">
                  <a:moveTo>
                    <a:pt x="33470" y="8503"/>
                  </a:moveTo>
                  <a:lnTo>
                    <a:pt x="38038" y="11071"/>
                  </a:lnTo>
                  <a:lnTo>
                    <a:pt x="38495" y="13165"/>
                  </a:lnTo>
                  <a:lnTo>
                    <a:pt x="36211" y="17592"/>
                  </a:lnTo>
                </a:path>
                <a:path w="54609" h="56514">
                  <a:moveTo>
                    <a:pt x="49119" y="17475"/>
                  </a:moveTo>
                  <a:lnTo>
                    <a:pt x="53687" y="20043"/>
                  </a:lnTo>
                  <a:lnTo>
                    <a:pt x="54144" y="22137"/>
                  </a:lnTo>
                  <a:lnTo>
                    <a:pt x="51860" y="26564"/>
                  </a:lnTo>
                </a:path>
                <a:path w="54609" h="56514">
                  <a:moveTo>
                    <a:pt x="24673" y="22956"/>
                  </a:moveTo>
                  <a:lnTo>
                    <a:pt x="29241" y="25517"/>
                  </a:lnTo>
                  <a:lnTo>
                    <a:pt x="29698" y="27617"/>
                  </a:lnTo>
                  <a:lnTo>
                    <a:pt x="27414" y="32044"/>
                  </a:lnTo>
                </a:path>
                <a:path w="54609" h="56514">
                  <a:moveTo>
                    <a:pt x="40322" y="31927"/>
                  </a:moveTo>
                  <a:lnTo>
                    <a:pt x="44890" y="34489"/>
                  </a:lnTo>
                  <a:lnTo>
                    <a:pt x="45347" y="36589"/>
                  </a:lnTo>
                  <a:lnTo>
                    <a:pt x="43063" y="41016"/>
                  </a:lnTo>
                </a:path>
              </a:pathLst>
            </a:custGeom>
            <a:ln w="591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6547987" y="2328028"/>
              <a:ext cx="478790" cy="396240"/>
            </a:xfrm>
            <a:custGeom>
              <a:avLst/>
              <a:gdLst/>
              <a:ahLst/>
              <a:cxnLst/>
              <a:rect l="l" t="t" r="r" b="b"/>
              <a:pathLst>
                <a:path w="478790" h="396239">
                  <a:moveTo>
                    <a:pt x="0" y="0"/>
                  </a:moveTo>
                  <a:lnTo>
                    <a:pt x="478290" y="39564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6482983" y="2326459"/>
              <a:ext cx="574040" cy="483870"/>
            </a:xfrm>
            <a:custGeom>
              <a:avLst/>
              <a:gdLst/>
              <a:ahLst/>
              <a:cxnLst/>
              <a:rect l="l" t="t" r="r" b="b"/>
              <a:pathLst>
                <a:path w="574040" h="483869">
                  <a:moveTo>
                    <a:pt x="0" y="0"/>
                  </a:moveTo>
                  <a:lnTo>
                    <a:pt x="573584" y="483592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306254" y="2328029"/>
              <a:ext cx="548640" cy="396240"/>
            </a:xfrm>
            <a:custGeom>
              <a:avLst/>
              <a:gdLst/>
              <a:ahLst/>
              <a:cxnLst/>
              <a:rect l="l" t="t" r="r" b="b"/>
              <a:pathLst>
                <a:path w="548640" h="396239">
                  <a:moveTo>
                    <a:pt x="548287" y="0"/>
                  </a:moveTo>
                  <a:lnTo>
                    <a:pt x="0" y="395647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796212" y="1466502"/>
              <a:ext cx="0" cy="494030"/>
            </a:xfrm>
            <a:custGeom>
              <a:avLst/>
              <a:gdLst/>
              <a:ahLst/>
              <a:cxnLst/>
              <a:rect l="l" t="t" r="r" b="b"/>
              <a:pathLst>
                <a:path w="0" h="494030">
                  <a:moveTo>
                    <a:pt x="0" y="0"/>
                  </a:moveTo>
                  <a:lnTo>
                    <a:pt x="0" y="49353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6454661" y="1462126"/>
              <a:ext cx="1224915" cy="494030"/>
            </a:xfrm>
            <a:custGeom>
              <a:avLst/>
              <a:gdLst/>
              <a:ahLst/>
              <a:cxnLst/>
              <a:rect l="l" t="t" r="r" b="b"/>
              <a:pathLst>
                <a:path w="1224915" h="494030">
                  <a:moveTo>
                    <a:pt x="1224894" y="0"/>
                  </a:moveTo>
                  <a:lnTo>
                    <a:pt x="0" y="49353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049609" y="2164704"/>
              <a:ext cx="303530" cy="0"/>
            </a:xfrm>
            <a:custGeom>
              <a:avLst/>
              <a:gdLst/>
              <a:ahLst/>
              <a:cxnLst/>
              <a:rect l="l" t="t" r="r" b="b"/>
              <a:pathLst>
                <a:path w="303529" h="0">
                  <a:moveTo>
                    <a:pt x="0" y="0"/>
                  </a:moveTo>
                  <a:lnTo>
                    <a:pt x="303308" y="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4965957" y="2612417"/>
              <a:ext cx="1151890" cy="792480"/>
            </a:xfrm>
            <a:custGeom>
              <a:avLst/>
              <a:gdLst/>
              <a:ahLst/>
              <a:cxnLst/>
              <a:rect l="l" t="t" r="r" b="b"/>
              <a:pathLst>
                <a:path w="1151889" h="792479">
                  <a:moveTo>
                    <a:pt x="104016" y="260708"/>
                  </a:moveTo>
                  <a:lnTo>
                    <a:pt x="103936" y="215510"/>
                  </a:lnTo>
                  <a:lnTo>
                    <a:pt x="116127" y="173337"/>
                  </a:lnTo>
                  <a:lnTo>
                    <a:pt x="139118" y="135996"/>
                  </a:lnTo>
                  <a:lnTo>
                    <a:pt x="171440" y="105293"/>
                  </a:lnTo>
                  <a:lnTo>
                    <a:pt x="211622" y="83037"/>
                  </a:lnTo>
                  <a:lnTo>
                    <a:pt x="258194" y="71034"/>
                  </a:lnTo>
                  <a:lnTo>
                    <a:pt x="288172" y="69581"/>
                  </a:lnTo>
                  <a:lnTo>
                    <a:pt x="317790" y="72769"/>
                  </a:lnTo>
                  <a:lnTo>
                    <a:pt x="346439" y="80483"/>
                  </a:lnTo>
                  <a:lnTo>
                    <a:pt x="373510" y="92611"/>
                  </a:lnTo>
                  <a:lnTo>
                    <a:pt x="401005" y="58605"/>
                  </a:lnTo>
                  <a:lnTo>
                    <a:pt x="437154" y="35176"/>
                  </a:lnTo>
                  <a:lnTo>
                    <a:pt x="478789" y="23234"/>
                  </a:lnTo>
                  <a:lnTo>
                    <a:pt x="522744" y="23686"/>
                  </a:lnTo>
                  <a:lnTo>
                    <a:pt x="565851" y="37442"/>
                  </a:lnTo>
                  <a:lnTo>
                    <a:pt x="598897" y="60162"/>
                  </a:lnTo>
                  <a:lnTo>
                    <a:pt x="627311" y="26017"/>
                  </a:lnTo>
                  <a:lnTo>
                    <a:pt x="666153" y="5440"/>
                  </a:lnTo>
                  <a:lnTo>
                    <a:pt x="710400" y="0"/>
                  </a:lnTo>
                  <a:lnTo>
                    <a:pt x="755030" y="11267"/>
                  </a:lnTo>
                  <a:lnTo>
                    <a:pt x="766577" y="17458"/>
                  </a:lnTo>
                  <a:lnTo>
                    <a:pt x="777260" y="24814"/>
                  </a:lnTo>
                  <a:lnTo>
                    <a:pt x="786979" y="33258"/>
                  </a:lnTo>
                  <a:lnTo>
                    <a:pt x="795632" y="42713"/>
                  </a:lnTo>
                  <a:lnTo>
                    <a:pt x="836004" y="12954"/>
                  </a:lnTo>
                  <a:lnTo>
                    <a:pt x="883805" y="390"/>
                  </a:lnTo>
                  <a:lnTo>
                    <a:pt x="933164" y="5476"/>
                  </a:lnTo>
                  <a:lnTo>
                    <a:pt x="978207" y="28666"/>
                  </a:lnTo>
                  <a:lnTo>
                    <a:pt x="1006671" y="60515"/>
                  </a:lnTo>
                  <a:lnTo>
                    <a:pt x="1021934" y="99469"/>
                  </a:lnTo>
                  <a:lnTo>
                    <a:pt x="1063405" y="117099"/>
                  </a:lnTo>
                  <a:lnTo>
                    <a:pt x="1095771" y="144980"/>
                  </a:lnTo>
                  <a:lnTo>
                    <a:pt x="1117387" y="180417"/>
                  </a:lnTo>
                  <a:lnTo>
                    <a:pt x="1126609" y="220713"/>
                  </a:lnTo>
                  <a:lnTo>
                    <a:pt x="1121794" y="263172"/>
                  </a:lnTo>
                  <a:lnTo>
                    <a:pt x="1120066" y="269141"/>
                  </a:lnTo>
                  <a:lnTo>
                    <a:pt x="1117882" y="274996"/>
                  </a:lnTo>
                  <a:lnTo>
                    <a:pt x="1115291" y="280685"/>
                  </a:lnTo>
                  <a:lnTo>
                    <a:pt x="1139430" y="320008"/>
                  </a:lnTo>
                  <a:lnTo>
                    <a:pt x="1151274" y="362416"/>
                  </a:lnTo>
                  <a:lnTo>
                    <a:pt x="1151142" y="405652"/>
                  </a:lnTo>
                  <a:lnTo>
                    <a:pt x="1139350" y="447455"/>
                  </a:lnTo>
                  <a:lnTo>
                    <a:pt x="1116215" y="485568"/>
                  </a:lnTo>
                  <a:lnTo>
                    <a:pt x="1082055" y="517731"/>
                  </a:lnTo>
                  <a:lnTo>
                    <a:pt x="1042104" y="539470"/>
                  </a:lnTo>
                  <a:lnTo>
                    <a:pt x="997562" y="551017"/>
                  </a:lnTo>
                  <a:lnTo>
                    <a:pt x="989305" y="596546"/>
                  </a:lnTo>
                  <a:lnTo>
                    <a:pt x="967065" y="635974"/>
                  </a:lnTo>
                  <a:lnTo>
                    <a:pt x="933402" y="666947"/>
                  </a:lnTo>
                  <a:lnTo>
                    <a:pt x="890877" y="687106"/>
                  </a:lnTo>
                  <a:lnTo>
                    <a:pt x="842051" y="694096"/>
                  </a:lnTo>
                  <a:lnTo>
                    <a:pt x="820861" y="692568"/>
                  </a:lnTo>
                  <a:lnTo>
                    <a:pt x="800193" y="688360"/>
                  </a:lnTo>
                  <a:lnTo>
                    <a:pt x="780338" y="681549"/>
                  </a:lnTo>
                  <a:lnTo>
                    <a:pt x="761584" y="672213"/>
                  </a:lnTo>
                  <a:lnTo>
                    <a:pt x="741556" y="713452"/>
                  </a:lnTo>
                  <a:lnTo>
                    <a:pt x="711716" y="747145"/>
                  </a:lnTo>
                  <a:lnTo>
                    <a:pt x="674204" y="772218"/>
                  </a:lnTo>
                  <a:lnTo>
                    <a:pt x="631162" y="787595"/>
                  </a:lnTo>
                  <a:lnTo>
                    <a:pt x="584730" y="792202"/>
                  </a:lnTo>
                  <a:lnTo>
                    <a:pt x="537048" y="784964"/>
                  </a:lnTo>
                  <a:lnTo>
                    <a:pt x="508240" y="774155"/>
                  </a:lnTo>
                  <a:lnTo>
                    <a:pt x="482020" y="758994"/>
                  </a:lnTo>
                  <a:lnTo>
                    <a:pt x="458936" y="739864"/>
                  </a:lnTo>
                  <a:lnTo>
                    <a:pt x="439537" y="717146"/>
                  </a:lnTo>
                  <a:lnTo>
                    <a:pt x="396274" y="735607"/>
                  </a:lnTo>
                  <a:lnTo>
                    <a:pt x="351151" y="744107"/>
                  </a:lnTo>
                  <a:lnTo>
                    <a:pt x="305865" y="743042"/>
                  </a:lnTo>
                  <a:lnTo>
                    <a:pt x="262111" y="732810"/>
                  </a:lnTo>
                  <a:lnTo>
                    <a:pt x="221585" y="713806"/>
                  </a:lnTo>
                  <a:lnTo>
                    <a:pt x="185983" y="686426"/>
                  </a:lnTo>
                  <a:lnTo>
                    <a:pt x="157000" y="651068"/>
                  </a:lnTo>
                  <a:lnTo>
                    <a:pt x="154816" y="647588"/>
                  </a:lnTo>
                  <a:lnTo>
                    <a:pt x="108799" y="644041"/>
                  </a:lnTo>
                  <a:lnTo>
                    <a:pt x="69188" y="624963"/>
                  </a:lnTo>
                  <a:lnTo>
                    <a:pt x="40132" y="593417"/>
                  </a:lnTo>
                  <a:lnTo>
                    <a:pt x="25784" y="552465"/>
                  </a:lnTo>
                  <a:lnTo>
                    <a:pt x="25587" y="528799"/>
                  </a:lnTo>
                  <a:lnTo>
                    <a:pt x="30808" y="505915"/>
                  </a:lnTo>
                  <a:lnTo>
                    <a:pt x="41166" y="484605"/>
                  </a:lnTo>
                  <a:lnTo>
                    <a:pt x="56378" y="465661"/>
                  </a:lnTo>
                  <a:lnTo>
                    <a:pt x="22053" y="436831"/>
                  </a:lnTo>
                  <a:lnTo>
                    <a:pt x="2816" y="399165"/>
                  </a:lnTo>
                  <a:lnTo>
                    <a:pt x="0" y="357463"/>
                  </a:lnTo>
                  <a:lnTo>
                    <a:pt x="14938" y="316525"/>
                  </a:lnTo>
                  <a:lnTo>
                    <a:pt x="31411" y="296046"/>
                  </a:lnTo>
                  <a:lnTo>
                    <a:pt x="52217" y="279947"/>
                  </a:lnTo>
                  <a:lnTo>
                    <a:pt x="76412" y="268799"/>
                  </a:lnTo>
                  <a:lnTo>
                    <a:pt x="103050" y="263172"/>
                  </a:lnTo>
                  <a:lnTo>
                    <a:pt x="104016" y="26070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518301" y="2453507"/>
              <a:ext cx="69405" cy="69392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660173" y="2517244"/>
              <a:ext cx="113411" cy="113411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41036" y="2601391"/>
              <a:ext cx="157416" cy="157403"/>
            </a:xfrm>
            <a:prstGeom prst="rect">
              <a:avLst/>
            </a:prstGeom>
          </p:spPr>
        </p:pic>
        <p:sp>
          <p:nvSpPr>
            <p:cNvPr id="180" name="object 180" descr=""/>
            <p:cNvSpPr/>
            <p:nvPr/>
          </p:nvSpPr>
          <p:spPr>
            <a:xfrm>
              <a:off x="5023571" y="2652553"/>
              <a:ext cx="1057275" cy="674370"/>
            </a:xfrm>
            <a:custGeom>
              <a:avLst/>
              <a:gdLst/>
              <a:ahLst/>
              <a:cxnLst/>
              <a:rect l="l" t="t" r="r" b="b"/>
              <a:pathLst>
                <a:path w="1057275" h="674370">
                  <a:moveTo>
                    <a:pt x="67551" y="437057"/>
                  </a:moveTo>
                  <a:lnTo>
                    <a:pt x="49920" y="437083"/>
                  </a:lnTo>
                  <a:lnTo>
                    <a:pt x="32585" y="434611"/>
                  </a:lnTo>
                  <a:lnTo>
                    <a:pt x="15844" y="429708"/>
                  </a:lnTo>
                  <a:lnTo>
                    <a:pt x="0" y="422440"/>
                  </a:lnTo>
                </a:path>
                <a:path w="1057275" h="674370">
                  <a:moveTo>
                    <a:pt x="127152" y="596976"/>
                  </a:moveTo>
                  <a:lnTo>
                    <a:pt x="119963" y="599401"/>
                  </a:lnTo>
                  <a:lnTo>
                    <a:pt x="112623" y="601379"/>
                  </a:lnTo>
                  <a:lnTo>
                    <a:pt x="105160" y="602905"/>
                  </a:lnTo>
                  <a:lnTo>
                    <a:pt x="97599" y="603973"/>
                  </a:lnTo>
                </a:path>
                <a:path w="1057275" h="674370">
                  <a:moveTo>
                    <a:pt x="381850" y="673823"/>
                  </a:moveTo>
                  <a:lnTo>
                    <a:pt x="376725" y="666192"/>
                  </a:lnTo>
                  <a:lnTo>
                    <a:pt x="372043" y="658320"/>
                  </a:lnTo>
                  <a:lnTo>
                    <a:pt x="367813" y="650224"/>
                  </a:lnTo>
                  <a:lnTo>
                    <a:pt x="364045" y="641921"/>
                  </a:lnTo>
                </a:path>
                <a:path w="1057275" h="674370">
                  <a:moveTo>
                    <a:pt x="711200" y="594258"/>
                  </a:moveTo>
                  <a:lnTo>
                    <a:pt x="710160" y="603135"/>
                  </a:lnTo>
                  <a:lnTo>
                    <a:pt x="708625" y="611941"/>
                  </a:lnTo>
                  <a:lnTo>
                    <a:pt x="706599" y="620659"/>
                  </a:lnTo>
                  <a:lnTo>
                    <a:pt x="704088" y="629272"/>
                  </a:lnTo>
                </a:path>
                <a:path w="1057275" h="674370">
                  <a:moveTo>
                    <a:pt x="852601" y="377964"/>
                  </a:moveTo>
                  <a:lnTo>
                    <a:pt x="888768" y="400861"/>
                  </a:lnTo>
                  <a:lnTo>
                    <a:pt x="916181" y="431666"/>
                  </a:lnTo>
                  <a:lnTo>
                    <a:pt x="933483" y="468329"/>
                  </a:lnTo>
                  <a:lnTo>
                    <a:pt x="939317" y="508800"/>
                  </a:lnTo>
                </a:path>
                <a:path w="1057275" h="674370">
                  <a:moveTo>
                    <a:pt x="1057122" y="238620"/>
                  </a:moveTo>
                  <a:lnTo>
                    <a:pt x="1049795" y="252391"/>
                  </a:lnTo>
                  <a:lnTo>
                    <a:pt x="1040852" y="265239"/>
                  </a:lnTo>
                  <a:lnTo>
                    <a:pt x="1030392" y="277039"/>
                  </a:lnTo>
                  <a:lnTo>
                    <a:pt x="1018514" y="287667"/>
                  </a:lnTo>
                </a:path>
                <a:path w="1057275" h="674370">
                  <a:moveTo>
                    <a:pt x="964476" y="56578"/>
                  </a:moveTo>
                  <a:lnTo>
                    <a:pt x="965949" y="64223"/>
                  </a:lnTo>
                  <a:lnTo>
                    <a:pt x="966635" y="71983"/>
                  </a:lnTo>
                  <a:lnTo>
                    <a:pt x="966520" y="79755"/>
                  </a:lnTo>
                </a:path>
                <a:path w="1057275" h="674370">
                  <a:moveTo>
                    <a:pt x="717892" y="29552"/>
                  </a:moveTo>
                  <a:lnTo>
                    <a:pt x="721968" y="21677"/>
                  </a:lnTo>
                  <a:lnTo>
                    <a:pt x="726636" y="14109"/>
                  </a:lnTo>
                  <a:lnTo>
                    <a:pt x="731876" y="6875"/>
                  </a:lnTo>
                  <a:lnTo>
                    <a:pt x="737666" y="0"/>
                  </a:lnTo>
                </a:path>
                <a:path w="1057275" h="674370">
                  <a:moveTo>
                    <a:pt x="532879" y="43637"/>
                  </a:moveTo>
                  <a:lnTo>
                    <a:pt x="534638" y="37063"/>
                  </a:lnTo>
                  <a:lnTo>
                    <a:pt x="536825" y="30611"/>
                  </a:lnTo>
                  <a:lnTo>
                    <a:pt x="539437" y="24300"/>
                  </a:lnTo>
                  <a:lnTo>
                    <a:pt x="542467" y="18148"/>
                  </a:lnTo>
                </a:path>
                <a:path w="1057275" h="674370">
                  <a:moveTo>
                    <a:pt x="315760" y="52285"/>
                  </a:moveTo>
                  <a:lnTo>
                    <a:pt x="325018" y="57719"/>
                  </a:lnTo>
                  <a:lnTo>
                    <a:pt x="333900" y="63663"/>
                  </a:lnTo>
                  <a:lnTo>
                    <a:pt x="342379" y="70100"/>
                  </a:lnTo>
                  <a:lnTo>
                    <a:pt x="350431" y="77012"/>
                  </a:lnTo>
                </a:path>
                <a:path w="1057275" h="674370">
                  <a:moveTo>
                    <a:pt x="52451" y="246595"/>
                  </a:moveTo>
                  <a:lnTo>
                    <a:pt x="50529" y="240179"/>
                  </a:lnTo>
                  <a:lnTo>
                    <a:pt x="48880" y="233699"/>
                  </a:lnTo>
                  <a:lnTo>
                    <a:pt x="47505" y="227161"/>
                  </a:lnTo>
                  <a:lnTo>
                    <a:pt x="46405" y="220573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 descr=""/>
          <p:cNvSpPr txBox="1"/>
          <p:nvPr/>
        </p:nvSpPr>
        <p:spPr>
          <a:xfrm>
            <a:off x="5221724" y="2660693"/>
            <a:ext cx="558165" cy="656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639"/>
              </a:lnSpc>
              <a:spcBef>
                <a:spcPts val="95"/>
              </a:spcBef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增加了</a:t>
            </a:r>
            <a:endParaRPr sz="1400">
              <a:latin typeface="SimSun"/>
              <a:cs typeface="SimSun"/>
            </a:endParaRPr>
          </a:p>
          <a:p>
            <a:pPr marL="81915">
              <a:lnSpc>
                <a:spcPts val="1639"/>
              </a:lnSpc>
            </a:pPr>
            <a:r>
              <a:rPr dirty="0" sz="1400" spc="-25">
                <a:solidFill>
                  <a:srgbClr val="C00000"/>
                </a:solidFill>
                <a:latin typeface="Arial MT"/>
                <a:cs typeface="Arial MT"/>
              </a:rPr>
              <a:t>NGC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00" spc="-35">
                <a:solidFill>
                  <a:srgbClr val="C00000"/>
                </a:solidFill>
                <a:latin typeface="SimSun"/>
                <a:cs typeface="SimSun"/>
              </a:rPr>
              <a:t>复杂度</a:t>
            </a:r>
            <a:endParaRPr sz="1400">
              <a:latin typeface="SimSun"/>
              <a:cs typeface="SimSun"/>
            </a:endParaRPr>
          </a:p>
        </p:txBody>
      </p:sp>
      <p:grpSp>
        <p:nvGrpSpPr>
          <p:cNvPr id="182" name="object 182" descr=""/>
          <p:cNvGrpSpPr/>
          <p:nvPr/>
        </p:nvGrpSpPr>
        <p:grpSpPr>
          <a:xfrm>
            <a:off x="6812343" y="2372647"/>
            <a:ext cx="2115185" cy="1415415"/>
            <a:chOff x="6812343" y="2372647"/>
            <a:chExt cx="2115185" cy="1415415"/>
          </a:xfrm>
        </p:grpSpPr>
        <p:sp>
          <p:nvSpPr>
            <p:cNvPr id="183" name="object 183" descr=""/>
            <p:cNvSpPr/>
            <p:nvPr/>
          </p:nvSpPr>
          <p:spPr>
            <a:xfrm>
              <a:off x="7176681" y="2613756"/>
              <a:ext cx="1737995" cy="1161415"/>
            </a:xfrm>
            <a:custGeom>
              <a:avLst/>
              <a:gdLst/>
              <a:ahLst/>
              <a:cxnLst/>
              <a:rect l="l" t="t" r="r" b="b"/>
              <a:pathLst>
                <a:path w="1737995" h="1161414">
                  <a:moveTo>
                    <a:pt x="158176" y="382224"/>
                  </a:moveTo>
                  <a:lnTo>
                    <a:pt x="155932" y="337682"/>
                  </a:lnTo>
                  <a:lnTo>
                    <a:pt x="162233" y="294718"/>
                  </a:lnTo>
                  <a:lnTo>
                    <a:pt x="176423" y="254115"/>
                  </a:lnTo>
                  <a:lnTo>
                    <a:pt x="197846" y="216661"/>
                  </a:lnTo>
                  <a:lnTo>
                    <a:pt x="225846" y="183140"/>
                  </a:lnTo>
                  <a:lnTo>
                    <a:pt x="259765" y="154339"/>
                  </a:lnTo>
                  <a:lnTo>
                    <a:pt x="298949" y="131042"/>
                  </a:lnTo>
                  <a:lnTo>
                    <a:pt x="342741" y="114036"/>
                  </a:lnTo>
                  <a:lnTo>
                    <a:pt x="390484" y="104107"/>
                  </a:lnTo>
                  <a:lnTo>
                    <a:pt x="435649" y="101974"/>
                  </a:lnTo>
                  <a:lnTo>
                    <a:pt x="480273" y="106647"/>
                  </a:lnTo>
                  <a:lnTo>
                    <a:pt x="523440" y="117958"/>
                  </a:lnTo>
                  <a:lnTo>
                    <a:pt x="564233" y="135742"/>
                  </a:lnTo>
                  <a:lnTo>
                    <a:pt x="592282" y="98602"/>
                  </a:lnTo>
                  <a:lnTo>
                    <a:pt x="627680" y="69180"/>
                  </a:lnTo>
                  <a:lnTo>
                    <a:pt x="668686" y="47963"/>
                  </a:lnTo>
                  <a:lnTo>
                    <a:pt x="713562" y="35436"/>
                  </a:lnTo>
                  <a:lnTo>
                    <a:pt x="760569" y="32085"/>
                  </a:lnTo>
                  <a:lnTo>
                    <a:pt x="807968" y="38397"/>
                  </a:lnTo>
                  <a:lnTo>
                    <a:pt x="854021" y="54856"/>
                  </a:lnTo>
                  <a:lnTo>
                    <a:pt x="892381" y="78614"/>
                  </a:lnTo>
                  <a:lnTo>
                    <a:pt x="903818" y="88155"/>
                  </a:lnTo>
                  <a:lnTo>
                    <a:pt x="930239" y="52686"/>
                  </a:lnTo>
                  <a:lnTo>
                    <a:pt x="964764" y="25715"/>
                  </a:lnTo>
                  <a:lnTo>
                    <a:pt x="1005151" y="7925"/>
                  </a:lnTo>
                  <a:lnTo>
                    <a:pt x="1049158" y="0"/>
                  </a:lnTo>
                  <a:lnTo>
                    <a:pt x="1094541" y="2622"/>
                  </a:lnTo>
                  <a:lnTo>
                    <a:pt x="1139060" y="16477"/>
                  </a:lnTo>
                  <a:lnTo>
                    <a:pt x="1172560" y="36338"/>
                  </a:lnTo>
                  <a:lnTo>
                    <a:pt x="1200249" y="62590"/>
                  </a:lnTo>
                  <a:lnTo>
                    <a:pt x="1239115" y="30728"/>
                  </a:lnTo>
                  <a:lnTo>
                    <a:pt x="1284269" y="9974"/>
                  </a:lnTo>
                  <a:lnTo>
                    <a:pt x="1333088" y="525"/>
                  </a:lnTo>
                  <a:lnTo>
                    <a:pt x="1382950" y="2579"/>
                  </a:lnTo>
                  <a:lnTo>
                    <a:pt x="1431234" y="16331"/>
                  </a:lnTo>
                  <a:lnTo>
                    <a:pt x="1475318" y="41978"/>
                  </a:lnTo>
                  <a:lnTo>
                    <a:pt x="1518215" y="88679"/>
                  </a:lnTo>
                  <a:lnTo>
                    <a:pt x="1541206" y="145801"/>
                  </a:lnTo>
                  <a:lnTo>
                    <a:pt x="1587130" y="162562"/>
                  </a:lnTo>
                  <a:lnTo>
                    <a:pt x="1626416" y="187568"/>
                  </a:lnTo>
                  <a:lnTo>
                    <a:pt x="1658161" y="219378"/>
                  </a:lnTo>
                  <a:lnTo>
                    <a:pt x="1681462" y="256550"/>
                  </a:lnTo>
                  <a:lnTo>
                    <a:pt x="1695417" y="297643"/>
                  </a:lnTo>
                  <a:lnTo>
                    <a:pt x="1699122" y="341217"/>
                  </a:lnTo>
                  <a:lnTo>
                    <a:pt x="1691675" y="385831"/>
                  </a:lnTo>
                  <a:lnTo>
                    <a:pt x="1689589" y="392369"/>
                  </a:lnTo>
                  <a:lnTo>
                    <a:pt x="1687257" y="398834"/>
                  </a:lnTo>
                  <a:lnTo>
                    <a:pt x="1684680" y="405221"/>
                  </a:lnTo>
                  <a:lnTo>
                    <a:pt x="1681858" y="411523"/>
                  </a:lnTo>
                  <a:lnTo>
                    <a:pt x="1708186" y="449292"/>
                  </a:lnTo>
                  <a:lnTo>
                    <a:pt x="1726212" y="489565"/>
                  </a:lnTo>
                  <a:lnTo>
                    <a:pt x="1736075" y="531358"/>
                  </a:lnTo>
                  <a:lnTo>
                    <a:pt x="1737919" y="573691"/>
                  </a:lnTo>
                  <a:lnTo>
                    <a:pt x="1731884" y="615583"/>
                  </a:lnTo>
                  <a:lnTo>
                    <a:pt x="1718111" y="656050"/>
                  </a:lnTo>
                  <a:lnTo>
                    <a:pt x="1696743" y="694113"/>
                  </a:lnTo>
                  <a:lnTo>
                    <a:pt x="1667919" y="728789"/>
                  </a:lnTo>
                  <a:lnTo>
                    <a:pt x="1631782" y="759096"/>
                  </a:lnTo>
                  <a:lnTo>
                    <a:pt x="1571589" y="790965"/>
                  </a:lnTo>
                  <a:lnTo>
                    <a:pt x="1504490" y="807890"/>
                  </a:lnTo>
                  <a:lnTo>
                    <a:pt x="1499392" y="850478"/>
                  </a:lnTo>
                  <a:lnTo>
                    <a:pt x="1485497" y="890080"/>
                  </a:lnTo>
                  <a:lnTo>
                    <a:pt x="1463747" y="925850"/>
                  </a:lnTo>
                  <a:lnTo>
                    <a:pt x="1435086" y="956945"/>
                  </a:lnTo>
                  <a:lnTo>
                    <a:pt x="1400456" y="982521"/>
                  </a:lnTo>
                  <a:lnTo>
                    <a:pt x="1360799" y="1001734"/>
                  </a:lnTo>
                  <a:lnTo>
                    <a:pt x="1317058" y="1013739"/>
                  </a:lnTo>
                  <a:lnTo>
                    <a:pt x="1270175" y="1017694"/>
                  </a:lnTo>
                  <a:lnTo>
                    <a:pt x="1238248" y="1015453"/>
                  </a:lnTo>
                  <a:lnTo>
                    <a:pt x="1207108" y="1009282"/>
                  </a:lnTo>
                  <a:lnTo>
                    <a:pt x="1177190" y="999293"/>
                  </a:lnTo>
                  <a:lnTo>
                    <a:pt x="1148928" y="985601"/>
                  </a:lnTo>
                  <a:lnTo>
                    <a:pt x="1130612" y="1027068"/>
                  </a:lnTo>
                  <a:lnTo>
                    <a:pt x="1105249" y="1063850"/>
                  </a:lnTo>
                  <a:lnTo>
                    <a:pt x="1073793" y="1095480"/>
                  </a:lnTo>
                  <a:lnTo>
                    <a:pt x="1037202" y="1121492"/>
                  </a:lnTo>
                  <a:lnTo>
                    <a:pt x="996429" y="1141418"/>
                  </a:lnTo>
                  <a:lnTo>
                    <a:pt x="952431" y="1154791"/>
                  </a:lnTo>
                  <a:lnTo>
                    <a:pt x="906163" y="1161146"/>
                  </a:lnTo>
                  <a:lnTo>
                    <a:pt x="858580" y="1160014"/>
                  </a:lnTo>
                  <a:lnTo>
                    <a:pt x="810638" y="1150929"/>
                  </a:lnTo>
                  <a:lnTo>
                    <a:pt x="767228" y="1135083"/>
                  </a:lnTo>
                  <a:lnTo>
                    <a:pt x="727715" y="1112855"/>
                  </a:lnTo>
                  <a:lnTo>
                    <a:pt x="692929" y="1084807"/>
                  </a:lnTo>
                  <a:lnTo>
                    <a:pt x="663699" y="1051501"/>
                  </a:lnTo>
                  <a:lnTo>
                    <a:pt x="618481" y="1072007"/>
                  </a:lnTo>
                  <a:lnTo>
                    <a:pt x="571515" y="1085271"/>
                  </a:lnTo>
                  <a:lnTo>
                    <a:pt x="523676" y="1091492"/>
                  </a:lnTo>
                  <a:lnTo>
                    <a:pt x="475842" y="1090870"/>
                  </a:lnTo>
                  <a:lnTo>
                    <a:pt x="428887" y="1083604"/>
                  </a:lnTo>
                  <a:lnTo>
                    <a:pt x="383690" y="1069893"/>
                  </a:lnTo>
                  <a:lnTo>
                    <a:pt x="341125" y="1049938"/>
                  </a:lnTo>
                  <a:lnTo>
                    <a:pt x="302071" y="1023938"/>
                  </a:lnTo>
                  <a:lnTo>
                    <a:pt x="267402" y="992092"/>
                  </a:lnTo>
                  <a:lnTo>
                    <a:pt x="237995" y="954600"/>
                  </a:lnTo>
                  <a:lnTo>
                    <a:pt x="234719" y="949495"/>
                  </a:lnTo>
                  <a:lnTo>
                    <a:pt x="187732" y="948779"/>
                  </a:lnTo>
                  <a:lnTo>
                    <a:pt x="144107" y="937279"/>
                  </a:lnTo>
                  <a:lnTo>
                    <a:pt x="105698" y="916326"/>
                  </a:lnTo>
                  <a:lnTo>
                    <a:pt x="74357" y="887246"/>
                  </a:lnTo>
                  <a:lnTo>
                    <a:pt x="51938" y="851369"/>
                  </a:lnTo>
                  <a:lnTo>
                    <a:pt x="40294" y="810023"/>
                  </a:lnTo>
                  <a:lnTo>
                    <a:pt x="40006" y="775320"/>
                  </a:lnTo>
                  <a:lnTo>
                    <a:pt x="47871" y="741764"/>
                  </a:lnTo>
                  <a:lnTo>
                    <a:pt x="63474" y="710518"/>
                  </a:lnTo>
                  <a:lnTo>
                    <a:pt x="86395" y="682744"/>
                  </a:lnTo>
                  <a:lnTo>
                    <a:pt x="49494" y="656347"/>
                  </a:lnTo>
                  <a:lnTo>
                    <a:pt x="22398" y="623150"/>
                  </a:lnTo>
                  <a:lnTo>
                    <a:pt x="5701" y="585238"/>
                  </a:lnTo>
                  <a:lnTo>
                    <a:pt x="0" y="544696"/>
                  </a:lnTo>
                  <a:lnTo>
                    <a:pt x="5888" y="503609"/>
                  </a:lnTo>
                  <a:lnTo>
                    <a:pt x="23962" y="464063"/>
                  </a:lnTo>
                  <a:lnTo>
                    <a:pt x="48780" y="434037"/>
                  </a:lnTo>
                  <a:lnTo>
                    <a:pt x="80128" y="410432"/>
                  </a:lnTo>
                  <a:lnTo>
                    <a:pt x="116581" y="394088"/>
                  </a:lnTo>
                  <a:lnTo>
                    <a:pt x="156715" y="385843"/>
                  </a:lnTo>
                  <a:lnTo>
                    <a:pt x="158176" y="382224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812343" y="2372647"/>
              <a:ext cx="89928" cy="89915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950811" y="2451351"/>
              <a:ext cx="154444" cy="154457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143365" y="2565234"/>
              <a:ext cx="218973" cy="218973"/>
            </a:xfrm>
            <a:prstGeom prst="rect">
              <a:avLst/>
            </a:prstGeom>
          </p:spPr>
        </p:pic>
        <p:sp>
          <p:nvSpPr>
            <p:cNvPr id="187" name="object 187" descr=""/>
            <p:cNvSpPr/>
            <p:nvPr/>
          </p:nvSpPr>
          <p:spPr>
            <a:xfrm>
              <a:off x="7264932" y="2672567"/>
              <a:ext cx="1593215" cy="988060"/>
            </a:xfrm>
            <a:custGeom>
              <a:avLst/>
              <a:gdLst/>
              <a:ahLst/>
              <a:cxnLst/>
              <a:rect l="l" t="t" r="r" b="b"/>
              <a:pathLst>
                <a:path w="1593215" h="988060">
                  <a:moveTo>
                    <a:pt x="101790" y="640842"/>
                  </a:moveTo>
                  <a:lnTo>
                    <a:pt x="75223" y="640878"/>
                  </a:lnTo>
                  <a:lnTo>
                    <a:pt x="49104" y="637259"/>
                  </a:lnTo>
                  <a:lnTo>
                    <a:pt x="23880" y="630074"/>
                  </a:lnTo>
                  <a:lnTo>
                    <a:pt x="0" y="619417"/>
                  </a:lnTo>
                </a:path>
                <a:path w="1593215" h="988060">
                  <a:moveTo>
                    <a:pt x="191604" y="875334"/>
                  </a:moveTo>
                  <a:lnTo>
                    <a:pt x="180766" y="878888"/>
                  </a:lnTo>
                  <a:lnTo>
                    <a:pt x="169706" y="881787"/>
                  </a:lnTo>
                  <a:lnTo>
                    <a:pt x="158461" y="884023"/>
                  </a:lnTo>
                  <a:lnTo>
                    <a:pt x="147065" y="885583"/>
                  </a:lnTo>
                </a:path>
                <a:path w="1593215" h="988060">
                  <a:moveTo>
                    <a:pt x="575348" y="988009"/>
                  </a:moveTo>
                  <a:lnTo>
                    <a:pt x="567620" y="976814"/>
                  </a:lnTo>
                  <a:lnTo>
                    <a:pt x="560563" y="965268"/>
                  </a:lnTo>
                  <a:lnTo>
                    <a:pt x="554190" y="953395"/>
                  </a:lnTo>
                  <a:lnTo>
                    <a:pt x="548512" y="941222"/>
                  </a:lnTo>
                </a:path>
                <a:path w="1593215" h="988060">
                  <a:moveTo>
                    <a:pt x="1071575" y="871347"/>
                  </a:moveTo>
                  <a:lnTo>
                    <a:pt x="1070011" y="884363"/>
                  </a:lnTo>
                  <a:lnTo>
                    <a:pt x="1067701" y="897275"/>
                  </a:lnTo>
                  <a:lnTo>
                    <a:pt x="1064649" y="910057"/>
                  </a:lnTo>
                  <a:lnTo>
                    <a:pt x="1060856" y="922680"/>
                  </a:lnTo>
                </a:path>
                <a:path w="1593215" h="988060">
                  <a:moveTo>
                    <a:pt x="1284630" y="554189"/>
                  </a:moveTo>
                  <a:lnTo>
                    <a:pt x="1329210" y="580024"/>
                  </a:lnTo>
                  <a:lnTo>
                    <a:pt x="1365615" y="613663"/>
                  </a:lnTo>
                  <a:lnTo>
                    <a:pt x="1392793" y="653570"/>
                  </a:lnTo>
                  <a:lnTo>
                    <a:pt x="1409697" y="698207"/>
                  </a:lnTo>
                  <a:lnTo>
                    <a:pt x="1415275" y="746036"/>
                  </a:lnTo>
                </a:path>
                <a:path w="1593215" h="988060">
                  <a:moveTo>
                    <a:pt x="1592783" y="349872"/>
                  </a:moveTo>
                  <a:lnTo>
                    <a:pt x="1581739" y="370068"/>
                  </a:lnTo>
                  <a:lnTo>
                    <a:pt x="1568267" y="388910"/>
                  </a:lnTo>
                  <a:lnTo>
                    <a:pt x="1552512" y="406216"/>
                  </a:lnTo>
                  <a:lnTo>
                    <a:pt x="1534617" y="421805"/>
                  </a:lnTo>
                </a:path>
                <a:path w="1593215" h="988060">
                  <a:moveTo>
                    <a:pt x="1453197" y="82956"/>
                  </a:moveTo>
                  <a:lnTo>
                    <a:pt x="1454640" y="91388"/>
                  </a:lnTo>
                  <a:lnTo>
                    <a:pt x="1455632" y="99871"/>
                  </a:lnTo>
                  <a:lnTo>
                    <a:pt x="1456172" y="108389"/>
                  </a:lnTo>
                  <a:lnTo>
                    <a:pt x="1456258" y="116928"/>
                  </a:lnTo>
                </a:path>
                <a:path w="1593215" h="988060">
                  <a:moveTo>
                    <a:pt x="1081658" y="43332"/>
                  </a:moveTo>
                  <a:lnTo>
                    <a:pt x="1087800" y="31780"/>
                  </a:lnTo>
                  <a:lnTo>
                    <a:pt x="1094833" y="20680"/>
                  </a:lnTo>
                  <a:lnTo>
                    <a:pt x="1102731" y="10072"/>
                  </a:lnTo>
                  <a:lnTo>
                    <a:pt x="1111465" y="0"/>
                  </a:lnTo>
                </a:path>
                <a:path w="1593215" h="988060">
                  <a:moveTo>
                    <a:pt x="802906" y="63969"/>
                  </a:moveTo>
                  <a:lnTo>
                    <a:pt x="805555" y="54340"/>
                  </a:lnTo>
                  <a:lnTo>
                    <a:pt x="808850" y="44883"/>
                  </a:lnTo>
                  <a:lnTo>
                    <a:pt x="812782" y="35628"/>
                  </a:lnTo>
                  <a:lnTo>
                    <a:pt x="817346" y="26606"/>
                  </a:lnTo>
                </a:path>
                <a:path w="1593215" h="988060">
                  <a:moveTo>
                    <a:pt x="475780" y="76669"/>
                  </a:moveTo>
                  <a:lnTo>
                    <a:pt x="489720" y="84633"/>
                  </a:lnTo>
                  <a:lnTo>
                    <a:pt x="503096" y="93345"/>
                  </a:lnTo>
                  <a:lnTo>
                    <a:pt x="515869" y="102780"/>
                  </a:lnTo>
                  <a:lnTo>
                    <a:pt x="528002" y="112915"/>
                  </a:lnTo>
                </a:path>
                <a:path w="1593215" h="988060">
                  <a:moveTo>
                    <a:pt x="79044" y="361569"/>
                  </a:moveTo>
                  <a:lnTo>
                    <a:pt x="76144" y="352157"/>
                  </a:lnTo>
                  <a:lnTo>
                    <a:pt x="73656" y="342655"/>
                  </a:lnTo>
                  <a:lnTo>
                    <a:pt x="71583" y="333072"/>
                  </a:lnTo>
                  <a:lnTo>
                    <a:pt x="69926" y="323418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 descr=""/>
          <p:cNvSpPr txBox="1"/>
          <p:nvPr/>
        </p:nvSpPr>
        <p:spPr>
          <a:xfrm>
            <a:off x="7497617" y="2827657"/>
            <a:ext cx="972819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1910" marR="5080" indent="-29845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可提供</a:t>
            </a:r>
            <a:r>
              <a:rPr dirty="0" sz="1400" spc="-10">
                <a:solidFill>
                  <a:srgbClr val="C00000"/>
                </a:solidFill>
                <a:latin typeface="Arial MT"/>
                <a:cs typeface="Arial MT"/>
              </a:rPr>
              <a:t>5G</a:t>
            </a:r>
            <a:r>
              <a:rPr dirty="0" sz="1400" spc="-50">
                <a:solidFill>
                  <a:srgbClr val="C00000"/>
                </a:solidFill>
                <a:latin typeface="SimSun"/>
                <a:cs typeface="SimSun"/>
              </a:rPr>
              <a:t>新</a:t>
            </a:r>
            <a:r>
              <a:rPr dirty="0" sz="1400" spc="-20">
                <a:solidFill>
                  <a:srgbClr val="C00000"/>
                </a:solidFill>
                <a:latin typeface="SimSun"/>
                <a:cs typeface="SimSun"/>
              </a:rPr>
              <a:t>业务，</a:t>
            </a:r>
            <a:r>
              <a:rPr dirty="0" sz="1400" spc="-20">
                <a:solidFill>
                  <a:srgbClr val="C00000"/>
                </a:solidFill>
                <a:latin typeface="Arial MT"/>
                <a:cs typeface="Arial MT"/>
              </a:rPr>
              <a:t>LTE</a:t>
            </a:r>
            <a:r>
              <a:rPr dirty="0" sz="1400" spc="-30">
                <a:solidFill>
                  <a:srgbClr val="C00000"/>
                </a:solidFill>
                <a:latin typeface="SimSun"/>
                <a:cs typeface="SimSun"/>
              </a:rPr>
              <a:t>低频覆盖、</a:t>
            </a:r>
            <a:endParaRPr sz="1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65560" y="3796744"/>
            <a:ext cx="1756410" cy="11823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just" marL="184785" indent="-1720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Microsoft YaHei"/>
                <a:cs typeface="Microsoft YaHei"/>
              </a:rPr>
              <a:t>NGC</a:t>
            </a:r>
            <a:r>
              <a:rPr dirty="0" sz="1200" spc="-45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+LTE</a:t>
            </a:r>
            <a:r>
              <a:rPr dirty="0" sz="1200" spc="-25">
                <a:latin typeface="Microsoft YaHei"/>
                <a:cs typeface="Microsoft YaHei"/>
              </a:rPr>
              <a:t> </a:t>
            </a:r>
            <a:r>
              <a:rPr dirty="0" sz="1200">
                <a:latin typeface="Microsoft YaHei"/>
                <a:cs typeface="Microsoft YaHei"/>
              </a:rPr>
              <a:t>+</a:t>
            </a:r>
            <a:r>
              <a:rPr dirty="0" sz="1200" spc="-25">
                <a:latin typeface="Microsoft YaHei"/>
                <a:cs typeface="Microsoft YaHei"/>
              </a:rPr>
              <a:t> NR</a:t>
            </a:r>
            <a:endParaRPr sz="1200">
              <a:latin typeface="Microsoft YaHei"/>
              <a:cs typeface="Microsoft YaHei"/>
            </a:endParaRPr>
          </a:p>
          <a:p>
            <a:pPr algn="just" marL="184150" marR="59690">
              <a:lnSpc>
                <a:spcPct val="130000"/>
              </a:lnSpc>
            </a:pPr>
            <a:r>
              <a:rPr dirty="0" sz="1200">
                <a:latin typeface="Microsoft YaHei"/>
                <a:cs typeface="Microsoft YaHei"/>
              </a:rPr>
              <a:t>控制面由</a:t>
            </a:r>
            <a:r>
              <a:rPr dirty="0" sz="1200" spc="-35">
                <a:latin typeface="Microsoft YaHei"/>
                <a:cs typeface="Microsoft YaHei"/>
              </a:rPr>
              <a:t>LTE</a:t>
            </a:r>
            <a:r>
              <a:rPr dirty="0" sz="1200" spc="-15">
                <a:latin typeface="Microsoft YaHei"/>
                <a:cs typeface="Microsoft YaHei"/>
              </a:rPr>
              <a:t>承载并转</a:t>
            </a:r>
            <a:r>
              <a:rPr dirty="0" sz="1200">
                <a:latin typeface="Microsoft YaHei"/>
                <a:cs typeface="Microsoft YaHei"/>
              </a:rPr>
              <a:t>发，数据由</a:t>
            </a:r>
            <a:r>
              <a:rPr dirty="0" sz="1200" spc="-10">
                <a:latin typeface="Microsoft YaHei"/>
                <a:cs typeface="Microsoft YaHei"/>
              </a:rPr>
              <a:t>LTE</a:t>
            </a:r>
            <a:r>
              <a:rPr dirty="0" sz="1200" spc="-45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eNB</a:t>
            </a:r>
            <a:r>
              <a:rPr dirty="0" sz="1200" spc="-50">
                <a:latin typeface="Microsoft YaHei"/>
                <a:cs typeface="Microsoft YaHei"/>
              </a:rPr>
              <a:t>和 </a:t>
            </a:r>
            <a:r>
              <a:rPr dirty="0" sz="1200" spc="-10">
                <a:latin typeface="Microsoft YaHei"/>
                <a:cs typeface="Microsoft YaHei"/>
              </a:rPr>
              <a:t>NR</a:t>
            </a:r>
            <a:r>
              <a:rPr dirty="0" sz="1200" spc="-25">
                <a:latin typeface="Microsoft YaHei"/>
                <a:cs typeface="Microsoft YaHei"/>
              </a:rPr>
              <a:t>分流</a:t>
            </a:r>
            <a:endParaRPr sz="1200">
              <a:latin typeface="Microsoft YaHei"/>
              <a:cs typeface="Microsoft YaHei"/>
            </a:endParaRPr>
          </a:p>
          <a:p>
            <a:pPr algn="just" marL="184785" indent="-17208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Microsoft YaHei"/>
                <a:cs typeface="Microsoft YaHei"/>
              </a:rPr>
              <a:t>终端支持</a:t>
            </a:r>
            <a:r>
              <a:rPr dirty="0" sz="1200" spc="-10">
                <a:latin typeface="Microsoft YaHei"/>
                <a:cs typeface="Microsoft YaHei"/>
              </a:rPr>
              <a:t>EN-DC</a:t>
            </a:r>
            <a:r>
              <a:rPr dirty="0" sz="1200" spc="-20">
                <a:latin typeface="Microsoft YaHei"/>
                <a:cs typeface="Microsoft YaHei"/>
              </a:rPr>
              <a:t>双连接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39961" y="3844945"/>
            <a:ext cx="1942464" cy="97663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10185" indent="-1720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10185" algn="l"/>
              </a:tabLst>
            </a:pPr>
            <a:r>
              <a:rPr dirty="0" sz="1200">
                <a:latin typeface="Microsoft YaHei"/>
                <a:cs typeface="Microsoft YaHei"/>
              </a:rPr>
              <a:t>NGC</a:t>
            </a:r>
            <a:r>
              <a:rPr dirty="0" sz="1200" spc="-35">
                <a:latin typeface="Microsoft YaHei"/>
                <a:cs typeface="Microsoft YaHei"/>
              </a:rPr>
              <a:t> </a:t>
            </a:r>
            <a:r>
              <a:rPr dirty="0" sz="1200">
                <a:latin typeface="Microsoft YaHei"/>
                <a:cs typeface="Microsoft YaHei"/>
              </a:rPr>
              <a:t>+NR</a:t>
            </a:r>
            <a:r>
              <a:rPr dirty="0" sz="1200" spc="-10">
                <a:latin typeface="Microsoft YaHei"/>
                <a:cs typeface="Microsoft YaHei"/>
              </a:rPr>
              <a:t> </a:t>
            </a:r>
            <a:r>
              <a:rPr dirty="0" sz="1200">
                <a:latin typeface="Microsoft YaHei"/>
                <a:cs typeface="Microsoft YaHei"/>
              </a:rPr>
              <a:t>+</a:t>
            </a:r>
            <a:r>
              <a:rPr dirty="0" sz="1200" spc="-20">
                <a:latin typeface="Microsoft YaHei"/>
                <a:cs typeface="Microsoft YaHei"/>
              </a:rPr>
              <a:t> </a:t>
            </a:r>
            <a:r>
              <a:rPr dirty="0" sz="1200" spc="-25">
                <a:latin typeface="Microsoft YaHei"/>
                <a:cs typeface="Microsoft YaHei"/>
              </a:rPr>
              <a:t>LTE</a:t>
            </a:r>
            <a:endParaRPr sz="1200">
              <a:latin typeface="Microsoft YaHei"/>
              <a:cs typeface="Microsoft YaHei"/>
            </a:endParaRPr>
          </a:p>
          <a:p>
            <a:pPr marL="209550" marR="43180" indent="-171450">
              <a:lnSpc>
                <a:spcPct val="130000"/>
              </a:lnSpc>
              <a:buFont typeface="Arial MT"/>
              <a:buChar char="•"/>
              <a:tabLst>
                <a:tab pos="209550" algn="l"/>
              </a:tabLst>
            </a:pPr>
            <a:r>
              <a:rPr dirty="0" sz="1200">
                <a:latin typeface="Microsoft YaHei"/>
                <a:cs typeface="Microsoft YaHei"/>
              </a:rPr>
              <a:t>控制面由</a:t>
            </a:r>
            <a:r>
              <a:rPr dirty="0" sz="1200" spc="-10">
                <a:latin typeface="Microsoft YaHei"/>
                <a:cs typeface="Microsoft YaHei"/>
              </a:rPr>
              <a:t>5G</a:t>
            </a:r>
            <a:r>
              <a:rPr dirty="0" sz="1200" spc="-5">
                <a:latin typeface="Microsoft YaHei"/>
                <a:cs typeface="Microsoft YaHei"/>
              </a:rPr>
              <a:t>承载并转发</a:t>
            </a:r>
            <a:r>
              <a:rPr dirty="0" sz="1200" spc="-800">
                <a:latin typeface="Microsoft YaHei"/>
                <a:cs typeface="Microsoft YaHei"/>
              </a:rPr>
              <a:t>，</a:t>
            </a:r>
            <a:r>
              <a:rPr dirty="0" baseline="18518" sz="1800" spc="-44">
                <a:latin typeface="Arial MT"/>
                <a:cs typeface="Arial MT"/>
              </a:rPr>
              <a:t>•</a:t>
            </a:r>
            <a:r>
              <a:rPr dirty="0" sz="1200">
                <a:latin typeface="Microsoft YaHei"/>
                <a:cs typeface="Microsoft YaHei"/>
              </a:rPr>
              <a:t>用户面数据经</a:t>
            </a:r>
            <a:r>
              <a:rPr dirty="0" sz="1200" spc="-10">
                <a:latin typeface="Microsoft YaHei"/>
                <a:cs typeface="Microsoft YaHei"/>
              </a:rPr>
              <a:t>NR</a:t>
            </a:r>
            <a:r>
              <a:rPr dirty="0" sz="1200">
                <a:latin typeface="Microsoft YaHei"/>
                <a:cs typeface="Microsoft YaHei"/>
              </a:rPr>
              <a:t>与</a:t>
            </a:r>
            <a:r>
              <a:rPr dirty="0" sz="1200" spc="-25">
                <a:latin typeface="Microsoft YaHei"/>
                <a:cs typeface="Microsoft YaHei"/>
              </a:rPr>
              <a:t>LTE </a:t>
            </a:r>
            <a:r>
              <a:rPr dirty="0" sz="1200" spc="-10">
                <a:latin typeface="Microsoft YaHei"/>
                <a:cs typeface="Microsoft YaHei"/>
              </a:rPr>
              <a:t>eNB</a:t>
            </a:r>
            <a:r>
              <a:rPr dirty="0" sz="1200" spc="-25">
                <a:latin typeface="Microsoft YaHei"/>
                <a:cs typeface="Microsoft YaHei"/>
              </a:rPr>
              <a:t>分流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65361" y="4818781"/>
            <a:ext cx="1756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Microsoft YaHei"/>
                <a:cs typeface="Microsoft YaHei"/>
              </a:rPr>
              <a:t>终端支持</a:t>
            </a:r>
            <a:r>
              <a:rPr dirty="0" sz="1200" spc="-10">
                <a:latin typeface="Microsoft YaHei"/>
                <a:cs typeface="Microsoft YaHei"/>
              </a:rPr>
              <a:t>EN-DC</a:t>
            </a:r>
            <a:r>
              <a:rPr dirty="0" sz="1200" spc="-20">
                <a:latin typeface="Microsoft YaHei"/>
                <a:cs typeface="Microsoft YaHei"/>
              </a:rPr>
              <a:t>双连接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49137" y="3796744"/>
            <a:ext cx="1962150" cy="11823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Microsoft YaHei"/>
                <a:cs typeface="Microsoft YaHei"/>
              </a:rPr>
              <a:t>EPC</a:t>
            </a:r>
            <a:r>
              <a:rPr dirty="0" sz="1200" spc="-35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+LTE</a:t>
            </a:r>
            <a:r>
              <a:rPr dirty="0" sz="1200" spc="-40">
                <a:latin typeface="Microsoft YaHei"/>
                <a:cs typeface="Microsoft YaHei"/>
              </a:rPr>
              <a:t> </a:t>
            </a:r>
            <a:r>
              <a:rPr dirty="0" sz="1200">
                <a:latin typeface="Microsoft YaHei"/>
                <a:cs typeface="Microsoft YaHei"/>
              </a:rPr>
              <a:t>+</a:t>
            </a:r>
            <a:r>
              <a:rPr dirty="0" sz="1200" spc="-25">
                <a:latin typeface="Microsoft YaHei"/>
                <a:cs typeface="Microsoft YaHei"/>
              </a:rPr>
              <a:t> NR</a:t>
            </a:r>
            <a:endParaRPr sz="1200">
              <a:latin typeface="Microsoft YaHei"/>
              <a:cs typeface="Microsoft YaHei"/>
            </a:endParaRPr>
          </a:p>
          <a:p>
            <a:pPr marL="183515" marR="5080" indent="-171450">
              <a:lnSpc>
                <a:spcPct val="130000"/>
              </a:lnSpc>
              <a:buFont typeface="Arial MT"/>
              <a:buChar char="•"/>
              <a:tabLst>
                <a:tab pos="183515" algn="l"/>
              </a:tabLst>
            </a:pPr>
            <a:r>
              <a:rPr dirty="0" sz="1200">
                <a:latin typeface="Microsoft YaHei"/>
                <a:cs typeface="Microsoft YaHei"/>
              </a:rPr>
              <a:t>控制面由</a:t>
            </a:r>
            <a:r>
              <a:rPr dirty="0" sz="1200" spc="-35">
                <a:latin typeface="Microsoft YaHei"/>
                <a:cs typeface="Microsoft YaHei"/>
              </a:rPr>
              <a:t>LTE</a:t>
            </a:r>
            <a:r>
              <a:rPr dirty="0" sz="1200" spc="-10">
                <a:latin typeface="Microsoft YaHei"/>
                <a:cs typeface="Microsoft YaHei"/>
              </a:rPr>
              <a:t>承载并转发，</a:t>
            </a:r>
            <a:r>
              <a:rPr dirty="0" sz="1200">
                <a:latin typeface="Microsoft YaHei"/>
                <a:cs typeface="Microsoft YaHei"/>
              </a:rPr>
              <a:t>数据经</a:t>
            </a:r>
            <a:r>
              <a:rPr dirty="0" sz="1200" spc="-10">
                <a:latin typeface="Microsoft YaHei"/>
                <a:cs typeface="Microsoft YaHei"/>
              </a:rPr>
              <a:t>NR</a:t>
            </a:r>
            <a:r>
              <a:rPr dirty="0" sz="1200">
                <a:latin typeface="Microsoft YaHei"/>
                <a:cs typeface="Microsoft YaHei"/>
              </a:rPr>
              <a:t>与</a:t>
            </a:r>
            <a:r>
              <a:rPr dirty="0" sz="1200" spc="-10">
                <a:latin typeface="Microsoft YaHei"/>
                <a:cs typeface="Microsoft YaHei"/>
              </a:rPr>
              <a:t>LTE</a:t>
            </a:r>
            <a:r>
              <a:rPr dirty="0" sz="1200" spc="-45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eNB</a:t>
            </a:r>
            <a:r>
              <a:rPr dirty="0" sz="1200" spc="-25">
                <a:latin typeface="Microsoft YaHei"/>
                <a:cs typeface="Microsoft YaHei"/>
              </a:rPr>
              <a:t>分流</a:t>
            </a:r>
            <a:endParaRPr sz="1200">
              <a:latin typeface="Microsoft YaHei"/>
              <a:cs typeface="Microsoft YaHei"/>
            </a:endParaRPr>
          </a:p>
          <a:p>
            <a:pPr marL="184785" indent="-17208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Microsoft YaHei"/>
                <a:cs typeface="Microsoft YaHei"/>
              </a:rPr>
              <a:t>对</a:t>
            </a:r>
            <a:r>
              <a:rPr dirty="0" sz="1200" spc="-10">
                <a:latin typeface="Microsoft YaHei"/>
                <a:cs typeface="Microsoft YaHei"/>
              </a:rPr>
              <a:t>5G新业务支持困难</a:t>
            </a:r>
            <a:endParaRPr sz="1200">
              <a:latin typeface="Microsoft YaHei"/>
              <a:cs typeface="Microsoft YaHei"/>
            </a:endParaRPr>
          </a:p>
          <a:p>
            <a:pPr marL="184785" indent="-17208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Microsoft YaHei"/>
                <a:cs typeface="Microsoft YaHei"/>
              </a:rPr>
              <a:t>终端需支持</a:t>
            </a:r>
            <a:r>
              <a:rPr dirty="0" sz="1200" spc="-10">
                <a:latin typeface="Microsoft YaHei"/>
                <a:cs typeface="Microsoft YaHei"/>
              </a:rPr>
              <a:t>EN-DC</a:t>
            </a:r>
            <a:r>
              <a:rPr dirty="0" sz="1200" spc="-20">
                <a:latin typeface="Microsoft YaHei"/>
                <a:cs typeface="Microsoft YaHei"/>
              </a:rPr>
              <a:t>双连接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4801" y="3978677"/>
            <a:ext cx="22288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3515" marR="5080" indent="-1714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3515" algn="l"/>
              </a:tabLst>
            </a:pPr>
            <a:r>
              <a:rPr dirty="0" sz="1200" spc="-10">
                <a:latin typeface="Microsoft YaHei"/>
                <a:cs typeface="Microsoft YaHei"/>
              </a:rPr>
              <a:t>5G</a:t>
            </a:r>
            <a:r>
              <a:rPr dirty="0" sz="1200" spc="-5">
                <a:latin typeface="Microsoft YaHei"/>
                <a:cs typeface="Microsoft YaHei"/>
              </a:rPr>
              <a:t>目标网络形态，独立的新建</a:t>
            </a:r>
            <a:r>
              <a:rPr dirty="0" sz="1200" spc="-25">
                <a:latin typeface="Microsoft YaHei"/>
                <a:cs typeface="Microsoft YaHei"/>
              </a:rPr>
              <a:t>网络</a:t>
            </a:r>
            <a:endParaRPr sz="1200">
              <a:latin typeface="Microsoft YaHei"/>
              <a:cs typeface="Microsoft YaHei"/>
            </a:endParaRPr>
          </a:p>
          <a:p>
            <a:pPr algn="just" marL="183515" marR="19050" indent="-171450">
              <a:lnSpc>
                <a:spcPct val="100000"/>
              </a:lnSpc>
              <a:buFont typeface="Arial MT"/>
              <a:buChar char="•"/>
              <a:tabLst>
                <a:tab pos="183515" algn="l"/>
              </a:tabLst>
            </a:pPr>
            <a:r>
              <a:rPr dirty="0" sz="1200" spc="-5">
                <a:latin typeface="Microsoft YaHei"/>
                <a:cs typeface="Microsoft YaHei"/>
              </a:rPr>
              <a:t>终端在同一时刻无需同时支持</a:t>
            </a:r>
            <a:r>
              <a:rPr dirty="0" sz="1200" spc="-50">
                <a:latin typeface="Microsoft YaHei"/>
                <a:cs typeface="Microsoft YaHei"/>
              </a:rPr>
              <a:t> </a:t>
            </a:r>
            <a:r>
              <a:rPr dirty="0" sz="1200" spc="-35">
                <a:latin typeface="Microsoft YaHei"/>
                <a:cs typeface="Microsoft YaHei"/>
              </a:rPr>
              <a:t>LTE</a:t>
            </a:r>
            <a:r>
              <a:rPr dirty="0" sz="1200">
                <a:latin typeface="Microsoft YaHei"/>
                <a:cs typeface="Microsoft YaHei"/>
              </a:rPr>
              <a:t>和</a:t>
            </a:r>
            <a:r>
              <a:rPr dirty="0" sz="1200" spc="-10">
                <a:latin typeface="Microsoft YaHei"/>
                <a:cs typeface="Microsoft YaHei"/>
              </a:rPr>
              <a:t>5G</a:t>
            </a:r>
            <a:r>
              <a:rPr dirty="0" sz="1200" spc="-5">
                <a:latin typeface="Microsoft YaHei"/>
                <a:cs typeface="Microsoft YaHei"/>
              </a:rPr>
              <a:t>，与</a:t>
            </a:r>
            <a:r>
              <a:rPr dirty="0" sz="1200" spc="-10">
                <a:latin typeface="Microsoft YaHei"/>
                <a:cs typeface="Microsoft YaHei"/>
              </a:rPr>
              <a:t>4G网络间通过互操作实现漫游和切换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97955" y="165054"/>
            <a:ext cx="492760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SA&amp;NSA</a:t>
            </a:r>
            <a:r>
              <a:rPr dirty="0" spc="-20" b="0">
                <a:latin typeface="Times New Roman"/>
                <a:cs typeface="Times New Roman"/>
              </a:rPr>
              <a:t> – </a:t>
            </a:r>
            <a:r>
              <a:rPr dirty="0" spc="-45"/>
              <a:t>优选的组网架构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433283" y="1382969"/>
            <a:ext cx="503555" cy="33591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9271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730"/>
              </a:spcBef>
            </a:pPr>
            <a:r>
              <a:rPr dirty="0" sz="850" spc="-25">
                <a:latin typeface="Times New Roman"/>
                <a:cs typeface="Times New Roman"/>
              </a:rPr>
              <a:t>EPC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251147" y="2187315"/>
            <a:ext cx="868044" cy="360045"/>
            <a:chOff x="3251147" y="2187315"/>
            <a:chExt cx="868044" cy="360045"/>
          </a:xfrm>
        </p:grpSpPr>
        <p:sp>
          <p:nvSpPr>
            <p:cNvPr id="10" name="object 10" descr=""/>
            <p:cNvSpPr/>
            <p:nvPr/>
          </p:nvSpPr>
          <p:spPr>
            <a:xfrm>
              <a:off x="3252099" y="2188267"/>
              <a:ext cx="866140" cy="358140"/>
            </a:xfrm>
            <a:custGeom>
              <a:avLst/>
              <a:gdLst/>
              <a:ahLst/>
              <a:cxnLst/>
              <a:rect l="l" t="t" r="r" b="b"/>
              <a:pathLst>
                <a:path w="866139" h="358139">
                  <a:moveTo>
                    <a:pt x="432834" y="357906"/>
                  </a:moveTo>
                  <a:lnTo>
                    <a:pt x="368873" y="355966"/>
                  </a:lnTo>
                  <a:lnTo>
                    <a:pt x="307825" y="350330"/>
                  </a:lnTo>
                  <a:lnTo>
                    <a:pt x="250361" y="341274"/>
                  </a:lnTo>
                  <a:lnTo>
                    <a:pt x="197150" y="329076"/>
                  </a:lnTo>
                  <a:lnTo>
                    <a:pt x="148862" y="314012"/>
                  </a:lnTo>
                  <a:lnTo>
                    <a:pt x="106166" y="296360"/>
                  </a:lnTo>
                  <a:lnTo>
                    <a:pt x="69731" y="276395"/>
                  </a:lnTo>
                  <a:lnTo>
                    <a:pt x="18325" y="230637"/>
                  </a:lnTo>
                  <a:lnTo>
                    <a:pt x="0" y="178953"/>
                  </a:lnTo>
                  <a:lnTo>
                    <a:pt x="4692" y="152508"/>
                  </a:lnTo>
                  <a:lnTo>
                    <a:pt x="40228" y="103510"/>
                  </a:lnTo>
                  <a:lnTo>
                    <a:pt x="106166" y="61546"/>
                  </a:lnTo>
                  <a:lnTo>
                    <a:pt x="148862" y="43894"/>
                  </a:lnTo>
                  <a:lnTo>
                    <a:pt x="197150" y="28830"/>
                  </a:lnTo>
                  <a:lnTo>
                    <a:pt x="250361" y="16632"/>
                  </a:lnTo>
                  <a:lnTo>
                    <a:pt x="307825" y="7576"/>
                  </a:lnTo>
                  <a:lnTo>
                    <a:pt x="368873" y="1940"/>
                  </a:lnTo>
                  <a:lnTo>
                    <a:pt x="432834" y="0"/>
                  </a:lnTo>
                  <a:lnTo>
                    <a:pt x="496794" y="1940"/>
                  </a:lnTo>
                  <a:lnTo>
                    <a:pt x="557841" y="7576"/>
                  </a:lnTo>
                  <a:lnTo>
                    <a:pt x="615305" y="16632"/>
                  </a:lnTo>
                  <a:lnTo>
                    <a:pt x="668515" y="28830"/>
                  </a:lnTo>
                  <a:lnTo>
                    <a:pt x="716804" y="43894"/>
                  </a:lnTo>
                  <a:lnTo>
                    <a:pt x="759500" y="61546"/>
                  </a:lnTo>
                  <a:lnTo>
                    <a:pt x="795935" y="81511"/>
                  </a:lnTo>
                  <a:lnTo>
                    <a:pt x="847342" y="127269"/>
                  </a:lnTo>
                  <a:lnTo>
                    <a:pt x="865669" y="178953"/>
                  </a:lnTo>
                  <a:lnTo>
                    <a:pt x="860975" y="205397"/>
                  </a:lnTo>
                  <a:lnTo>
                    <a:pt x="825439" y="254395"/>
                  </a:lnTo>
                  <a:lnTo>
                    <a:pt x="759500" y="296360"/>
                  </a:lnTo>
                  <a:lnTo>
                    <a:pt x="716804" y="314012"/>
                  </a:lnTo>
                  <a:lnTo>
                    <a:pt x="668515" y="329076"/>
                  </a:lnTo>
                  <a:lnTo>
                    <a:pt x="615305" y="341274"/>
                  </a:lnTo>
                  <a:lnTo>
                    <a:pt x="557841" y="350330"/>
                  </a:lnTo>
                  <a:lnTo>
                    <a:pt x="496794" y="355966"/>
                  </a:lnTo>
                  <a:lnTo>
                    <a:pt x="432834" y="35790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52099" y="2188267"/>
              <a:ext cx="866140" cy="358140"/>
            </a:xfrm>
            <a:custGeom>
              <a:avLst/>
              <a:gdLst/>
              <a:ahLst/>
              <a:cxnLst/>
              <a:rect l="l" t="t" r="r" b="b"/>
              <a:pathLst>
                <a:path w="866139" h="358139">
                  <a:moveTo>
                    <a:pt x="0" y="178953"/>
                  </a:moveTo>
                  <a:lnTo>
                    <a:pt x="18325" y="127269"/>
                  </a:lnTo>
                  <a:lnTo>
                    <a:pt x="69731" y="81511"/>
                  </a:lnTo>
                  <a:lnTo>
                    <a:pt x="106166" y="61546"/>
                  </a:lnTo>
                  <a:lnTo>
                    <a:pt x="148862" y="43894"/>
                  </a:lnTo>
                  <a:lnTo>
                    <a:pt x="197150" y="28830"/>
                  </a:lnTo>
                  <a:lnTo>
                    <a:pt x="250361" y="16632"/>
                  </a:lnTo>
                  <a:lnTo>
                    <a:pt x="307825" y="7576"/>
                  </a:lnTo>
                  <a:lnTo>
                    <a:pt x="368873" y="1940"/>
                  </a:lnTo>
                  <a:lnTo>
                    <a:pt x="432834" y="0"/>
                  </a:lnTo>
                  <a:lnTo>
                    <a:pt x="496794" y="1940"/>
                  </a:lnTo>
                  <a:lnTo>
                    <a:pt x="557841" y="7576"/>
                  </a:lnTo>
                  <a:lnTo>
                    <a:pt x="615305" y="16632"/>
                  </a:lnTo>
                  <a:lnTo>
                    <a:pt x="668515" y="28830"/>
                  </a:lnTo>
                  <a:lnTo>
                    <a:pt x="716804" y="43894"/>
                  </a:lnTo>
                  <a:lnTo>
                    <a:pt x="759500" y="61546"/>
                  </a:lnTo>
                  <a:lnTo>
                    <a:pt x="795935" y="81511"/>
                  </a:lnTo>
                  <a:lnTo>
                    <a:pt x="847342" y="127269"/>
                  </a:lnTo>
                  <a:lnTo>
                    <a:pt x="865669" y="178953"/>
                  </a:lnTo>
                  <a:lnTo>
                    <a:pt x="860975" y="205397"/>
                  </a:lnTo>
                  <a:lnTo>
                    <a:pt x="825439" y="254395"/>
                  </a:lnTo>
                  <a:lnTo>
                    <a:pt x="759500" y="296360"/>
                  </a:lnTo>
                  <a:lnTo>
                    <a:pt x="716804" y="314012"/>
                  </a:lnTo>
                  <a:lnTo>
                    <a:pt x="668515" y="329076"/>
                  </a:lnTo>
                  <a:lnTo>
                    <a:pt x="615305" y="341274"/>
                  </a:lnTo>
                  <a:lnTo>
                    <a:pt x="557841" y="350330"/>
                  </a:lnTo>
                  <a:lnTo>
                    <a:pt x="496794" y="355966"/>
                  </a:lnTo>
                  <a:lnTo>
                    <a:pt x="432834" y="357906"/>
                  </a:lnTo>
                  <a:lnTo>
                    <a:pt x="368873" y="355966"/>
                  </a:lnTo>
                  <a:lnTo>
                    <a:pt x="307825" y="350330"/>
                  </a:lnTo>
                  <a:lnTo>
                    <a:pt x="250361" y="341274"/>
                  </a:lnTo>
                  <a:lnTo>
                    <a:pt x="197150" y="329076"/>
                  </a:lnTo>
                  <a:lnTo>
                    <a:pt x="148862" y="314012"/>
                  </a:lnTo>
                  <a:lnTo>
                    <a:pt x="106166" y="296360"/>
                  </a:lnTo>
                  <a:lnTo>
                    <a:pt x="69731" y="276395"/>
                  </a:lnTo>
                  <a:lnTo>
                    <a:pt x="18325" y="230637"/>
                  </a:lnTo>
                  <a:lnTo>
                    <a:pt x="0" y="178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581130" y="2277188"/>
            <a:ext cx="207645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30">
                <a:latin typeface="Times New Roman"/>
                <a:cs typeface="Times New Roman"/>
              </a:rPr>
              <a:t>LTE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380096" y="2028821"/>
            <a:ext cx="1866264" cy="518795"/>
            <a:chOff x="3380096" y="2028821"/>
            <a:chExt cx="1866264" cy="518795"/>
          </a:xfrm>
        </p:grpSpPr>
        <p:sp>
          <p:nvSpPr>
            <p:cNvPr id="14" name="object 14" descr=""/>
            <p:cNvSpPr/>
            <p:nvPr/>
          </p:nvSpPr>
          <p:spPr>
            <a:xfrm>
              <a:off x="3434142" y="2286692"/>
              <a:ext cx="70485" cy="80645"/>
            </a:xfrm>
            <a:custGeom>
              <a:avLst/>
              <a:gdLst/>
              <a:ahLst/>
              <a:cxnLst/>
              <a:rect l="l" t="t" r="r" b="b"/>
              <a:pathLst>
                <a:path w="70485" h="80644">
                  <a:moveTo>
                    <a:pt x="49472" y="80527"/>
                  </a:moveTo>
                  <a:lnTo>
                    <a:pt x="0" y="80527"/>
                  </a:lnTo>
                  <a:lnTo>
                    <a:pt x="33365" y="0"/>
                  </a:lnTo>
                  <a:lnTo>
                    <a:pt x="65867" y="22981"/>
                  </a:lnTo>
                  <a:lnTo>
                    <a:pt x="70077" y="39272"/>
                  </a:lnTo>
                  <a:lnTo>
                    <a:pt x="68396" y="55527"/>
                  </a:lnTo>
                  <a:lnTo>
                    <a:pt x="61352" y="69896"/>
                  </a:lnTo>
                  <a:lnTo>
                    <a:pt x="49472" y="80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3163" y="2175408"/>
              <a:ext cx="40246" cy="2571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413154" y="2175405"/>
              <a:ext cx="40640" cy="26034"/>
            </a:xfrm>
            <a:custGeom>
              <a:avLst/>
              <a:gdLst/>
              <a:ahLst/>
              <a:cxnLst/>
              <a:rect l="l" t="t" r="r" b="b"/>
              <a:pathLst>
                <a:path w="40639" h="26035">
                  <a:moveTo>
                    <a:pt x="40263" y="12861"/>
                  </a:moveTo>
                  <a:lnTo>
                    <a:pt x="40263" y="5758"/>
                  </a:lnTo>
                  <a:lnTo>
                    <a:pt x="31250" y="0"/>
                  </a:lnTo>
                  <a:lnTo>
                    <a:pt x="20128" y="0"/>
                  </a:lnTo>
                  <a:lnTo>
                    <a:pt x="9012" y="0"/>
                  </a:lnTo>
                  <a:lnTo>
                    <a:pt x="0" y="5758"/>
                  </a:lnTo>
                  <a:lnTo>
                    <a:pt x="0" y="12861"/>
                  </a:lnTo>
                  <a:lnTo>
                    <a:pt x="0" y="19963"/>
                  </a:lnTo>
                  <a:lnTo>
                    <a:pt x="9012" y="25722"/>
                  </a:lnTo>
                  <a:lnTo>
                    <a:pt x="20128" y="25722"/>
                  </a:lnTo>
                  <a:lnTo>
                    <a:pt x="31250" y="25722"/>
                  </a:lnTo>
                  <a:lnTo>
                    <a:pt x="40263" y="19963"/>
                  </a:lnTo>
                  <a:lnTo>
                    <a:pt x="40263" y="12861"/>
                  </a:lnTo>
                  <a:close/>
                </a:path>
              </a:pathLst>
            </a:custGeom>
            <a:ln w="5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3363" y="2187079"/>
              <a:ext cx="80302" cy="17992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393365" y="2187081"/>
              <a:ext cx="80645" cy="180340"/>
            </a:xfrm>
            <a:custGeom>
              <a:avLst/>
              <a:gdLst/>
              <a:ahLst/>
              <a:cxnLst/>
              <a:rect l="l" t="t" r="r" b="b"/>
              <a:pathLst>
                <a:path w="80645" h="180339">
                  <a:moveTo>
                    <a:pt x="79839" y="151053"/>
                  </a:moveTo>
                  <a:lnTo>
                    <a:pt x="59966" y="5"/>
                  </a:lnTo>
                  <a:lnTo>
                    <a:pt x="54663" y="7840"/>
                  </a:lnTo>
                  <a:lnTo>
                    <a:pt x="47322" y="12639"/>
                  </a:lnTo>
                  <a:lnTo>
                    <a:pt x="19873" y="0"/>
                  </a:lnTo>
                  <a:lnTo>
                    <a:pt x="0" y="151065"/>
                  </a:lnTo>
                  <a:lnTo>
                    <a:pt x="1098" y="161256"/>
                  </a:lnTo>
                  <a:lnTo>
                    <a:pt x="7988" y="170082"/>
                  </a:lnTo>
                  <a:lnTo>
                    <a:pt x="19554" y="176614"/>
                  </a:lnTo>
                  <a:lnTo>
                    <a:pt x="34681" y="179924"/>
                  </a:lnTo>
                  <a:lnTo>
                    <a:pt x="50631" y="179221"/>
                  </a:lnTo>
                  <a:lnTo>
                    <a:pt x="64443" y="174819"/>
                  </a:lnTo>
                  <a:lnTo>
                    <a:pt x="74663" y="167432"/>
                  </a:lnTo>
                  <a:lnTo>
                    <a:pt x="79839" y="157770"/>
                  </a:lnTo>
                  <a:lnTo>
                    <a:pt x="80297" y="155545"/>
                  </a:lnTo>
                  <a:lnTo>
                    <a:pt x="80297" y="153284"/>
                  </a:lnTo>
                  <a:lnTo>
                    <a:pt x="79839" y="151059"/>
                  </a:lnTo>
                  <a:close/>
                </a:path>
              </a:pathLst>
            </a:custGeom>
            <a:ln w="5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3221" y="2060041"/>
              <a:ext cx="20129" cy="2236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423217" y="206003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20" h="22860">
                  <a:moveTo>
                    <a:pt x="20134" y="11186"/>
                  </a:moveTo>
                  <a:lnTo>
                    <a:pt x="20134" y="5007"/>
                  </a:lnTo>
                  <a:lnTo>
                    <a:pt x="15628" y="0"/>
                  </a:lnTo>
                  <a:lnTo>
                    <a:pt x="10067" y="0"/>
                  </a:lnTo>
                  <a:lnTo>
                    <a:pt x="4511" y="0"/>
                  </a:lnTo>
                  <a:lnTo>
                    <a:pt x="0" y="5007"/>
                  </a:lnTo>
                  <a:lnTo>
                    <a:pt x="0" y="11186"/>
                  </a:lnTo>
                  <a:lnTo>
                    <a:pt x="0" y="17365"/>
                  </a:lnTo>
                  <a:lnTo>
                    <a:pt x="4511" y="22372"/>
                  </a:lnTo>
                  <a:lnTo>
                    <a:pt x="10067" y="22372"/>
                  </a:lnTo>
                  <a:lnTo>
                    <a:pt x="15628" y="22372"/>
                  </a:lnTo>
                  <a:lnTo>
                    <a:pt x="20134" y="17365"/>
                  </a:lnTo>
                  <a:lnTo>
                    <a:pt x="20134" y="11186"/>
                  </a:lnTo>
                  <a:close/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33286" y="2082407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w="0" h="106044">
                  <a:moveTo>
                    <a:pt x="0" y="105859"/>
                  </a:moveTo>
                  <a:lnTo>
                    <a:pt x="0" y="0"/>
                  </a:lnTo>
                </a:path>
              </a:pathLst>
            </a:custGeom>
            <a:ln w="5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82953" y="2031678"/>
              <a:ext cx="100965" cy="79375"/>
            </a:xfrm>
            <a:custGeom>
              <a:avLst/>
              <a:gdLst/>
              <a:ahLst/>
              <a:cxnLst/>
              <a:rect l="l" t="t" r="r" b="b"/>
              <a:pathLst>
                <a:path w="100964" h="79375">
                  <a:moveTo>
                    <a:pt x="28979" y="15820"/>
                  </a:moveTo>
                  <a:lnTo>
                    <a:pt x="22345" y="26920"/>
                  </a:lnTo>
                  <a:lnTo>
                    <a:pt x="20134" y="39547"/>
                  </a:lnTo>
                  <a:lnTo>
                    <a:pt x="22345" y="52175"/>
                  </a:lnTo>
                  <a:lnTo>
                    <a:pt x="28979" y="63275"/>
                  </a:lnTo>
                </a:path>
                <a:path w="100964" h="79375">
                  <a:moveTo>
                    <a:pt x="71687" y="63275"/>
                  </a:moveTo>
                  <a:lnTo>
                    <a:pt x="78317" y="52172"/>
                  </a:lnTo>
                  <a:lnTo>
                    <a:pt x="80527" y="39545"/>
                  </a:lnTo>
                  <a:lnTo>
                    <a:pt x="78317" y="26919"/>
                  </a:lnTo>
                  <a:lnTo>
                    <a:pt x="71687" y="15820"/>
                  </a:lnTo>
                </a:path>
                <a:path w="100964" h="79375">
                  <a:moveTo>
                    <a:pt x="14741" y="0"/>
                  </a:moveTo>
                  <a:lnTo>
                    <a:pt x="3685" y="18500"/>
                  </a:lnTo>
                  <a:lnTo>
                    <a:pt x="0" y="39544"/>
                  </a:lnTo>
                  <a:lnTo>
                    <a:pt x="3685" y="60589"/>
                  </a:lnTo>
                  <a:lnTo>
                    <a:pt x="14741" y="79089"/>
                  </a:lnTo>
                </a:path>
                <a:path w="100964" h="79375">
                  <a:moveTo>
                    <a:pt x="85925" y="79089"/>
                  </a:moveTo>
                  <a:lnTo>
                    <a:pt x="96977" y="60590"/>
                  </a:lnTo>
                  <a:lnTo>
                    <a:pt x="100662" y="39547"/>
                  </a:lnTo>
                  <a:lnTo>
                    <a:pt x="96977" y="18502"/>
                  </a:lnTo>
                  <a:lnTo>
                    <a:pt x="85925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93363" y="2060039"/>
              <a:ext cx="80645" cy="307340"/>
            </a:xfrm>
            <a:custGeom>
              <a:avLst/>
              <a:gdLst/>
              <a:ahLst/>
              <a:cxnLst/>
              <a:rect l="l" t="t" r="r" b="b"/>
              <a:pathLst>
                <a:path w="80645" h="307339">
                  <a:moveTo>
                    <a:pt x="39922" y="115364"/>
                  </a:moveTo>
                  <a:lnTo>
                    <a:pt x="29530" y="115376"/>
                  </a:lnTo>
                  <a:lnTo>
                    <a:pt x="20848" y="120430"/>
                  </a:lnTo>
                  <a:lnTo>
                    <a:pt x="19878" y="127041"/>
                  </a:lnTo>
                  <a:lnTo>
                    <a:pt x="0" y="278106"/>
                  </a:lnTo>
                  <a:lnTo>
                    <a:pt x="1098" y="288298"/>
                  </a:lnTo>
                  <a:lnTo>
                    <a:pt x="7988" y="297123"/>
                  </a:lnTo>
                  <a:lnTo>
                    <a:pt x="19554" y="303653"/>
                  </a:lnTo>
                  <a:lnTo>
                    <a:pt x="34681" y="306959"/>
                  </a:lnTo>
                  <a:lnTo>
                    <a:pt x="50633" y="306260"/>
                  </a:lnTo>
                  <a:lnTo>
                    <a:pt x="64445" y="301861"/>
                  </a:lnTo>
                  <a:lnTo>
                    <a:pt x="74666" y="294473"/>
                  </a:lnTo>
                  <a:lnTo>
                    <a:pt x="79844" y="284812"/>
                  </a:lnTo>
                  <a:lnTo>
                    <a:pt x="80302" y="282587"/>
                  </a:lnTo>
                  <a:lnTo>
                    <a:pt x="80302" y="280326"/>
                  </a:lnTo>
                  <a:lnTo>
                    <a:pt x="79844" y="278100"/>
                  </a:lnTo>
                  <a:lnTo>
                    <a:pt x="60120" y="128213"/>
                  </a:lnTo>
                  <a:lnTo>
                    <a:pt x="60094" y="121105"/>
                  </a:lnTo>
                  <a:lnTo>
                    <a:pt x="51054" y="115352"/>
                  </a:lnTo>
                  <a:lnTo>
                    <a:pt x="39922" y="115364"/>
                  </a:lnTo>
                </a:path>
                <a:path w="80645" h="307339">
                  <a:moveTo>
                    <a:pt x="49989" y="11186"/>
                  </a:moveTo>
                  <a:lnTo>
                    <a:pt x="49989" y="5007"/>
                  </a:lnTo>
                  <a:lnTo>
                    <a:pt x="45483" y="0"/>
                  </a:lnTo>
                  <a:lnTo>
                    <a:pt x="39922" y="0"/>
                  </a:lnTo>
                  <a:lnTo>
                    <a:pt x="34361" y="0"/>
                  </a:lnTo>
                  <a:lnTo>
                    <a:pt x="29855" y="5007"/>
                  </a:lnTo>
                  <a:lnTo>
                    <a:pt x="29855" y="11186"/>
                  </a:lnTo>
                  <a:lnTo>
                    <a:pt x="29855" y="17365"/>
                  </a:lnTo>
                  <a:lnTo>
                    <a:pt x="34361" y="22372"/>
                  </a:lnTo>
                  <a:lnTo>
                    <a:pt x="39922" y="22372"/>
                  </a:lnTo>
                  <a:lnTo>
                    <a:pt x="45483" y="22372"/>
                  </a:lnTo>
                  <a:lnTo>
                    <a:pt x="49989" y="17365"/>
                  </a:lnTo>
                  <a:lnTo>
                    <a:pt x="49989" y="11186"/>
                  </a:lnTo>
                  <a:close/>
                </a:path>
                <a:path w="80645" h="307339">
                  <a:moveTo>
                    <a:pt x="39922" y="115364"/>
                  </a:moveTo>
                  <a:lnTo>
                    <a:pt x="39922" y="22372"/>
                  </a:lnTo>
                </a:path>
              </a:pathLst>
            </a:custGeom>
            <a:ln w="1124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379479" y="2188268"/>
              <a:ext cx="866140" cy="358140"/>
            </a:xfrm>
            <a:custGeom>
              <a:avLst/>
              <a:gdLst/>
              <a:ahLst/>
              <a:cxnLst/>
              <a:rect l="l" t="t" r="r" b="b"/>
              <a:pathLst>
                <a:path w="866139" h="358139">
                  <a:moveTo>
                    <a:pt x="432834" y="357906"/>
                  </a:moveTo>
                  <a:lnTo>
                    <a:pt x="368873" y="355966"/>
                  </a:lnTo>
                  <a:lnTo>
                    <a:pt x="307825" y="350330"/>
                  </a:lnTo>
                  <a:lnTo>
                    <a:pt x="250361" y="341274"/>
                  </a:lnTo>
                  <a:lnTo>
                    <a:pt x="197150" y="329076"/>
                  </a:lnTo>
                  <a:lnTo>
                    <a:pt x="148862" y="314012"/>
                  </a:lnTo>
                  <a:lnTo>
                    <a:pt x="106166" y="296360"/>
                  </a:lnTo>
                  <a:lnTo>
                    <a:pt x="69731" y="276395"/>
                  </a:lnTo>
                  <a:lnTo>
                    <a:pt x="18325" y="230637"/>
                  </a:lnTo>
                  <a:lnTo>
                    <a:pt x="0" y="178953"/>
                  </a:lnTo>
                  <a:lnTo>
                    <a:pt x="4692" y="152508"/>
                  </a:lnTo>
                  <a:lnTo>
                    <a:pt x="40228" y="103510"/>
                  </a:lnTo>
                  <a:lnTo>
                    <a:pt x="106166" y="61546"/>
                  </a:lnTo>
                  <a:lnTo>
                    <a:pt x="148862" y="43894"/>
                  </a:lnTo>
                  <a:lnTo>
                    <a:pt x="197150" y="28830"/>
                  </a:lnTo>
                  <a:lnTo>
                    <a:pt x="250361" y="16632"/>
                  </a:lnTo>
                  <a:lnTo>
                    <a:pt x="307825" y="7576"/>
                  </a:lnTo>
                  <a:lnTo>
                    <a:pt x="368873" y="1940"/>
                  </a:lnTo>
                  <a:lnTo>
                    <a:pt x="432834" y="0"/>
                  </a:lnTo>
                  <a:lnTo>
                    <a:pt x="496794" y="1940"/>
                  </a:lnTo>
                  <a:lnTo>
                    <a:pt x="557841" y="7576"/>
                  </a:lnTo>
                  <a:lnTo>
                    <a:pt x="615305" y="16632"/>
                  </a:lnTo>
                  <a:lnTo>
                    <a:pt x="668515" y="28830"/>
                  </a:lnTo>
                  <a:lnTo>
                    <a:pt x="716804" y="43894"/>
                  </a:lnTo>
                  <a:lnTo>
                    <a:pt x="759500" y="61546"/>
                  </a:lnTo>
                  <a:lnTo>
                    <a:pt x="795935" y="81511"/>
                  </a:lnTo>
                  <a:lnTo>
                    <a:pt x="847342" y="127269"/>
                  </a:lnTo>
                  <a:lnTo>
                    <a:pt x="865669" y="178953"/>
                  </a:lnTo>
                  <a:lnTo>
                    <a:pt x="860975" y="205397"/>
                  </a:lnTo>
                  <a:lnTo>
                    <a:pt x="825439" y="254395"/>
                  </a:lnTo>
                  <a:lnTo>
                    <a:pt x="759500" y="296360"/>
                  </a:lnTo>
                  <a:lnTo>
                    <a:pt x="716804" y="314012"/>
                  </a:lnTo>
                  <a:lnTo>
                    <a:pt x="668515" y="329076"/>
                  </a:lnTo>
                  <a:lnTo>
                    <a:pt x="615305" y="341274"/>
                  </a:lnTo>
                  <a:lnTo>
                    <a:pt x="557841" y="350330"/>
                  </a:lnTo>
                  <a:lnTo>
                    <a:pt x="496794" y="355966"/>
                  </a:lnTo>
                  <a:lnTo>
                    <a:pt x="432834" y="35790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379479" y="2188268"/>
              <a:ext cx="866140" cy="358140"/>
            </a:xfrm>
            <a:custGeom>
              <a:avLst/>
              <a:gdLst/>
              <a:ahLst/>
              <a:cxnLst/>
              <a:rect l="l" t="t" r="r" b="b"/>
              <a:pathLst>
                <a:path w="866139" h="358139">
                  <a:moveTo>
                    <a:pt x="0" y="178953"/>
                  </a:moveTo>
                  <a:lnTo>
                    <a:pt x="18325" y="127269"/>
                  </a:lnTo>
                  <a:lnTo>
                    <a:pt x="69731" y="81511"/>
                  </a:lnTo>
                  <a:lnTo>
                    <a:pt x="106166" y="61546"/>
                  </a:lnTo>
                  <a:lnTo>
                    <a:pt x="148862" y="43894"/>
                  </a:lnTo>
                  <a:lnTo>
                    <a:pt x="197150" y="28830"/>
                  </a:lnTo>
                  <a:lnTo>
                    <a:pt x="250361" y="16632"/>
                  </a:lnTo>
                  <a:lnTo>
                    <a:pt x="307825" y="7576"/>
                  </a:lnTo>
                  <a:lnTo>
                    <a:pt x="368873" y="1940"/>
                  </a:lnTo>
                  <a:lnTo>
                    <a:pt x="432834" y="0"/>
                  </a:lnTo>
                  <a:lnTo>
                    <a:pt x="496794" y="1940"/>
                  </a:lnTo>
                  <a:lnTo>
                    <a:pt x="557841" y="7576"/>
                  </a:lnTo>
                  <a:lnTo>
                    <a:pt x="615305" y="16632"/>
                  </a:lnTo>
                  <a:lnTo>
                    <a:pt x="668515" y="28830"/>
                  </a:lnTo>
                  <a:lnTo>
                    <a:pt x="716804" y="43894"/>
                  </a:lnTo>
                  <a:lnTo>
                    <a:pt x="759500" y="61546"/>
                  </a:lnTo>
                  <a:lnTo>
                    <a:pt x="795935" y="81511"/>
                  </a:lnTo>
                  <a:lnTo>
                    <a:pt x="847342" y="127269"/>
                  </a:lnTo>
                  <a:lnTo>
                    <a:pt x="865669" y="178953"/>
                  </a:lnTo>
                  <a:lnTo>
                    <a:pt x="860975" y="205397"/>
                  </a:lnTo>
                  <a:lnTo>
                    <a:pt x="825439" y="254395"/>
                  </a:lnTo>
                  <a:lnTo>
                    <a:pt x="759500" y="296360"/>
                  </a:lnTo>
                  <a:lnTo>
                    <a:pt x="716804" y="314012"/>
                  </a:lnTo>
                  <a:lnTo>
                    <a:pt x="668515" y="329076"/>
                  </a:lnTo>
                  <a:lnTo>
                    <a:pt x="615305" y="341274"/>
                  </a:lnTo>
                  <a:lnTo>
                    <a:pt x="557841" y="350330"/>
                  </a:lnTo>
                  <a:lnTo>
                    <a:pt x="496794" y="355966"/>
                  </a:lnTo>
                  <a:lnTo>
                    <a:pt x="432834" y="357906"/>
                  </a:lnTo>
                  <a:lnTo>
                    <a:pt x="368873" y="355966"/>
                  </a:lnTo>
                  <a:lnTo>
                    <a:pt x="307825" y="350330"/>
                  </a:lnTo>
                  <a:lnTo>
                    <a:pt x="250361" y="341274"/>
                  </a:lnTo>
                  <a:lnTo>
                    <a:pt x="197150" y="329076"/>
                  </a:lnTo>
                  <a:lnTo>
                    <a:pt x="148862" y="314012"/>
                  </a:lnTo>
                  <a:lnTo>
                    <a:pt x="106166" y="296360"/>
                  </a:lnTo>
                  <a:lnTo>
                    <a:pt x="69731" y="276395"/>
                  </a:lnTo>
                  <a:lnTo>
                    <a:pt x="18325" y="230637"/>
                  </a:lnTo>
                  <a:lnTo>
                    <a:pt x="0" y="178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105066" y="2277188"/>
            <a:ext cx="287655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74320" algn="l"/>
              </a:tabLst>
            </a:pPr>
            <a:r>
              <a:rPr dirty="0" u="dash" sz="850">
                <a:uFill>
                  <a:solidFill>
                    <a:srgbClr val="4677BF"/>
                  </a:solidFill>
                </a:uFill>
                <a:latin typeface="Times New Roman"/>
                <a:cs typeface="Times New Roman"/>
              </a:rPr>
              <a:t>	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730553" y="2277188"/>
            <a:ext cx="16383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5">
                <a:latin typeface="Times New Roman"/>
                <a:cs typeface="Times New Roman"/>
              </a:rPr>
              <a:t>NR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683980" y="1717558"/>
            <a:ext cx="1431290" cy="1415415"/>
            <a:chOff x="3683980" y="1717558"/>
            <a:chExt cx="1431290" cy="1415415"/>
          </a:xfrm>
        </p:grpSpPr>
        <p:sp>
          <p:nvSpPr>
            <p:cNvPr id="29" name="object 29" descr=""/>
            <p:cNvSpPr/>
            <p:nvPr/>
          </p:nvSpPr>
          <p:spPr>
            <a:xfrm>
              <a:off x="5044686" y="2286693"/>
              <a:ext cx="70485" cy="80645"/>
            </a:xfrm>
            <a:custGeom>
              <a:avLst/>
              <a:gdLst/>
              <a:ahLst/>
              <a:cxnLst/>
              <a:rect l="l" t="t" r="r" b="b"/>
              <a:pathLst>
                <a:path w="70485" h="80644">
                  <a:moveTo>
                    <a:pt x="49472" y="80527"/>
                  </a:moveTo>
                  <a:lnTo>
                    <a:pt x="0" y="80527"/>
                  </a:lnTo>
                  <a:lnTo>
                    <a:pt x="33365" y="0"/>
                  </a:lnTo>
                  <a:lnTo>
                    <a:pt x="65867" y="22981"/>
                  </a:lnTo>
                  <a:lnTo>
                    <a:pt x="70077" y="39272"/>
                  </a:lnTo>
                  <a:lnTo>
                    <a:pt x="68396" y="55527"/>
                  </a:lnTo>
                  <a:lnTo>
                    <a:pt x="61352" y="69896"/>
                  </a:lnTo>
                  <a:lnTo>
                    <a:pt x="49472" y="80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700" y="2175408"/>
              <a:ext cx="40259" cy="2571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023698" y="2175405"/>
              <a:ext cx="40640" cy="26034"/>
            </a:xfrm>
            <a:custGeom>
              <a:avLst/>
              <a:gdLst/>
              <a:ahLst/>
              <a:cxnLst/>
              <a:rect l="l" t="t" r="r" b="b"/>
              <a:pathLst>
                <a:path w="40639" h="26035">
                  <a:moveTo>
                    <a:pt x="40263" y="12861"/>
                  </a:moveTo>
                  <a:lnTo>
                    <a:pt x="40263" y="5758"/>
                  </a:lnTo>
                  <a:lnTo>
                    <a:pt x="31250" y="0"/>
                  </a:lnTo>
                  <a:lnTo>
                    <a:pt x="20128" y="0"/>
                  </a:lnTo>
                  <a:lnTo>
                    <a:pt x="9012" y="0"/>
                  </a:lnTo>
                  <a:lnTo>
                    <a:pt x="0" y="5758"/>
                  </a:lnTo>
                  <a:lnTo>
                    <a:pt x="0" y="12861"/>
                  </a:lnTo>
                  <a:lnTo>
                    <a:pt x="0" y="19963"/>
                  </a:lnTo>
                  <a:lnTo>
                    <a:pt x="9012" y="25722"/>
                  </a:lnTo>
                  <a:lnTo>
                    <a:pt x="20128" y="25722"/>
                  </a:lnTo>
                  <a:lnTo>
                    <a:pt x="31250" y="25722"/>
                  </a:lnTo>
                  <a:lnTo>
                    <a:pt x="40263" y="19963"/>
                  </a:lnTo>
                  <a:lnTo>
                    <a:pt x="40263" y="12861"/>
                  </a:lnTo>
                  <a:close/>
                </a:path>
              </a:pathLst>
            </a:custGeom>
            <a:ln w="5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3901" y="2187079"/>
              <a:ext cx="80314" cy="17992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5003908" y="2187081"/>
              <a:ext cx="80645" cy="180340"/>
            </a:xfrm>
            <a:custGeom>
              <a:avLst/>
              <a:gdLst/>
              <a:ahLst/>
              <a:cxnLst/>
              <a:rect l="l" t="t" r="r" b="b"/>
              <a:pathLst>
                <a:path w="80645" h="180339">
                  <a:moveTo>
                    <a:pt x="79839" y="151053"/>
                  </a:moveTo>
                  <a:lnTo>
                    <a:pt x="59966" y="5"/>
                  </a:lnTo>
                  <a:lnTo>
                    <a:pt x="54663" y="7840"/>
                  </a:lnTo>
                  <a:lnTo>
                    <a:pt x="47322" y="12639"/>
                  </a:lnTo>
                  <a:lnTo>
                    <a:pt x="19873" y="0"/>
                  </a:lnTo>
                  <a:lnTo>
                    <a:pt x="0" y="151065"/>
                  </a:lnTo>
                  <a:lnTo>
                    <a:pt x="1098" y="161256"/>
                  </a:lnTo>
                  <a:lnTo>
                    <a:pt x="7988" y="170082"/>
                  </a:lnTo>
                  <a:lnTo>
                    <a:pt x="19554" y="176614"/>
                  </a:lnTo>
                  <a:lnTo>
                    <a:pt x="34681" y="179924"/>
                  </a:lnTo>
                  <a:lnTo>
                    <a:pt x="50631" y="179221"/>
                  </a:lnTo>
                  <a:lnTo>
                    <a:pt x="64443" y="174819"/>
                  </a:lnTo>
                  <a:lnTo>
                    <a:pt x="74663" y="167432"/>
                  </a:lnTo>
                  <a:lnTo>
                    <a:pt x="79839" y="157770"/>
                  </a:lnTo>
                  <a:lnTo>
                    <a:pt x="80297" y="155545"/>
                  </a:lnTo>
                  <a:lnTo>
                    <a:pt x="80297" y="153284"/>
                  </a:lnTo>
                  <a:lnTo>
                    <a:pt x="79839" y="151059"/>
                  </a:lnTo>
                  <a:close/>
                </a:path>
              </a:pathLst>
            </a:custGeom>
            <a:ln w="5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3759" y="2060041"/>
              <a:ext cx="20142" cy="2236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033761" y="206003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20" h="22860">
                  <a:moveTo>
                    <a:pt x="20134" y="11186"/>
                  </a:moveTo>
                  <a:lnTo>
                    <a:pt x="20134" y="5007"/>
                  </a:lnTo>
                  <a:lnTo>
                    <a:pt x="15628" y="0"/>
                  </a:lnTo>
                  <a:lnTo>
                    <a:pt x="10067" y="0"/>
                  </a:lnTo>
                  <a:lnTo>
                    <a:pt x="4511" y="0"/>
                  </a:lnTo>
                  <a:lnTo>
                    <a:pt x="0" y="5007"/>
                  </a:lnTo>
                  <a:lnTo>
                    <a:pt x="0" y="11186"/>
                  </a:lnTo>
                  <a:lnTo>
                    <a:pt x="0" y="17365"/>
                  </a:lnTo>
                  <a:lnTo>
                    <a:pt x="4511" y="22372"/>
                  </a:lnTo>
                  <a:lnTo>
                    <a:pt x="10067" y="22372"/>
                  </a:lnTo>
                  <a:lnTo>
                    <a:pt x="15628" y="22372"/>
                  </a:lnTo>
                  <a:lnTo>
                    <a:pt x="20134" y="17365"/>
                  </a:lnTo>
                  <a:lnTo>
                    <a:pt x="20134" y="11186"/>
                  </a:lnTo>
                  <a:close/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043830" y="2082407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w="0" h="106044">
                  <a:moveTo>
                    <a:pt x="0" y="105859"/>
                  </a:moveTo>
                  <a:lnTo>
                    <a:pt x="0" y="0"/>
                  </a:lnTo>
                </a:path>
              </a:pathLst>
            </a:custGeom>
            <a:ln w="5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993503" y="2031678"/>
              <a:ext cx="100965" cy="79375"/>
            </a:xfrm>
            <a:custGeom>
              <a:avLst/>
              <a:gdLst/>
              <a:ahLst/>
              <a:cxnLst/>
              <a:rect l="l" t="t" r="r" b="b"/>
              <a:pathLst>
                <a:path w="100964" h="79375">
                  <a:moveTo>
                    <a:pt x="28973" y="15820"/>
                  </a:moveTo>
                  <a:lnTo>
                    <a:pt x="22340" y="26920"/>
                  </a:lnTo>
                  <a:lnTo>
                    <a:pt x="20128" y="39547"/>
                  </a:lnTo>
                  <a:lnTo>
                    <a:pt x="22340" y="52175"/>
                  </a:lnTo>
                  <a:lnTo>
                    <a:pt x="28973" y="63275"/>
                  </a:lnTo>
                </a:path>
                <a:path w="100964" h="79375">
                  <a:moveTo>
                    <a:pt x="71681" y="63275"/>
                  </a:moveTo>
                  <a:lnTo>
                    <a:pt x="78312" y="52172"/>
                  </a:lnTo>
                  <a:lnTo>
                    <a:pt x="80522" y="39545"/>
                  </a:lnTo>
                  <a:lnTo>
                    <a:pt x="78312" y="26919"/>
                  </a:lnTo>
                  <a:lnTo>
                    <a:pt x="71681" y="15820"/>
                  </a:lnTo>
                </a:path>
                <a:path w="100964" h="79375">
                  <a:moveTo>
                    <a:pt x="14741" y="0"/>
                  </a:moveTo>
                  <a:lnTo>
                    <a:pt x="3685" y="18500"/>
                  </a:lnTo>
                  <a:lnTo>
                    <a:pt x="0" y="39544"/>
                  </a:lnTo>
                  <a:lnTo>
                    <a:pt x="3685" y="60589"/>
                  </a:lnTo>
                  <a:lnTo>
                    <a:pt x="14741" y="79089"/>
                  </a:lnTo>
                </a:path>
                <a:path w="100964" h="79375">
                  <a:moveTo>
                    <a:pt x="85919" y="79089"/>
                  </a:moveTo>
                  <a:lnTo>
                    <a:pt x="96972" y="60590"/>
                  </a:lnTo>
                  <a:lnTo>
                    <a:pt x="100656" y="39547"/>
                  </a:lnTo>
                  <a:lnTo>
                    <a:pt x="96972" y="18502"/>
                  </a:lnTo>
                  <a:lnTo>
                    <a:pt x="85919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003907" y="2060039"/>
              <a:ext cx="80645" cy="307340"/>
            </a:xfrm>
            <a:custGeom>
              <a:avLst/>
              <a:gdLst/>
              <a:ahLst/>
              <a:cxnLst/>
              <a:rect l="l" t="t" r="r" b="b"/>
              <a:pathLst>
                <a:path w="80645" h="307339">
                  <a:moveTo>
                    <a:pt x="39922" y="115364"/>
                  </a:moveTo>
                  <a:lnTo>
                    <a:pt x="29530" y="115376"/>
                  </a:lnTo>
                  <a:lnTo>
                    <a:pt x="20848" y="120430"/>
                  </a:lnTo>
                  <a:lnTo>
                    <a:pt x="19878" y="127041"/>
                  </a:lnTo>
                  <a:lnTo>
                    <a:pt x="0" y="278106"/>
                  </a:lnTo>
                  <a:lnTo>
                    <a:pt x="1098" y="288298"/>
                  </a:lnTo>
                  <a:lnTo>
                    <a:pt x="7988" y="297123"/>
                  </a:lnTo>
                  <a:lnTo>
                    <a:pt x="19554" y="303653"/>
                  </a:lnTo>
                  <a:lnTo>
                    <a:pt x="34681" y="306959"/>
                  </a:lnTo>
                  <a:lnTo>
                    <a:pt x="50634" y="306260"/>
                  </a:lnTo>
                  <a:lnTo>
                    <a:pt x="64447" y="301861"/>
                  </a:lnTo>
                  <a:lnTo>
                    <a:pt x="74668" y="294473"/>
                  </a:lnTo>
                  <a:lnTo>
                    <a:pt x="79844" y="284812"/>
                  </a:lnTo>
                  <a:lnTo>
                    <a:pt x="80302" y="282587"/>
                  </a:lnTo>
                  <a:lnTo>
                    <a:pt x="80302" y="280326"/>
                  </a:lnTo>
                  <a:lnTo>
                    <a:pt x="79844" y="278100"/>
                  </a:lnTo>
                  <a:lnTo>
                    <a:pt x="60120" y="128213"/>
                  </a:lnTo>
                  <a:lnTo>
                    <a:pt x="60094" y="121105"/>
                  </a:lnTo>
                  <a:lnTo>
                    <a:pt x="51054" y="115352"/>
                  </a:lnTo>
                  <a:lnTo>
                    <a:pt x="39922" y="115364"/>
                  </a:lnTo>
                </a:path>
                <a:path w="80645" h="307339">
                  <a:moveTo>
                    <a:pt x="49989" y="11186"/>
                  </a:moveTo>
                  <a:lnTo>
                    <a:pt x="49989" y="5007"/>
                  </a:lnTo>
                  <a:lnTo>
                    <a:pt x="45483" y="0"/>
                  </a:lnTo>
                  <a:lnTo>
                    <a:pt x="39922" y="0"/>
                  </a:lnTo>
                  <a:lnTo>
                    <a:pt x="34361" y="0"/>
                  </a:lnTo>
                  <a:lnTo>
                    <a:pt x="29855" y="5007"/>
                  </a:lnTo>
                  <a:lnTo>
                    <a:pt x="29855" y="11186"/>
                  </a:lnTo>
                  <a:lnTo>
                    <a:pt x="29855" y="17365"/>
                  </a:lnTo>
                  <a:lnTo>
                    <a:pt x="34361" y="22372"/>
                  </a:lnTo>
                  <a:lnTo>
                    <a:pt x="39922" y="22372"/>
                  </a:lnTo>
                  <a:lnTo>
                    <a:pt x="45483" y="22372"/>
                  </a:lnTo>
                  <a:lnTo>
                    <a:pt x="49989" y="17365"/>
                  </a:lnTo>
                  <a:lnTo>
                    <a:pt x="49989" y="11186"/>
                  </a:lnTo>
                  <a:close/>
                </a:path>
                <a:path w="80645" h="307339">
                  <a:moveTo>
                    <a:pt x="39922" y="115364"/>
                  </a:moveTo>
                  <a:lnTo>
                    <a:pt x="39922" y="22372"/>
                  </a:lnTo>
                </a:path>
              </a:pathLst>
            </a:custGeom>
            <a:ln w="1124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735262" y="1718510"/>
              <a:ext cx="1905" cy="478790"/>
            </a:xfrm>
            <a:custGeom>
              <a:avLst/>
              <a:gdLst/>
              <a:ahLst/>
              <a:cxnLst/>
              <a:rect l="l" t="t" r="r" b="b"/>
              <a:pathLst>
                <a:path w="1904" h="478789">
                  <a:moveTo>
                    <a:pt x="0" y="0"/>
                  </a:moveTo>
                  <a:lnTo>
                    <a:pt x="1486" y="478325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684932" y="171851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w="0" h="469900">
                  <a:moveTo>
                    <a:pt x="0" y="0"/>
                  </a:moveTo>
                  <a:lnTo>
                    <a:pt x="0" y="46975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775525" y="1718510"/>
              <a:ext cx="1036955" cy="469900"/>
            </a:xfrm>
            <a:custGeom>
              <a:avLst/>
              <a:gdLst/>
              <a:ahLst/>
              <a:cxnLst/>
              <a:rect l="l" t="t" r="r" b="b"/>
              <a:pathLst>
                <a:path w="1036954" h="469900">
                  <a:moveTo>
                    <a:pt x="0" y="0"/>
                  </a:moveTo>
                  <a:lnTo>
                    <a:pt x="1036789" y="469755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117765" y="2367221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 h="0">
                  <a:moveTo>
                    <a:pt x="0" y="0"/>
                  </a:moveTo>
                  <a:lnTo>
                    <a:pt x="261714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7571" y="3067177"/>
              <a:ext cx="117487" cy="5993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7499" y="2914815"/>
              <a:ext cx="81341" cy="178683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197499" y="3046537"/>
              <a:ext cx="36830" cy="46990"/>
            </a:xfrm>
            <a:custGeom>
              <a:avLst/>
              <a:gdLst/>
              <a:ahLst/>
              <a:cxnLst/>
              <a:rect l="l" t="t" r="r" b="b"/>
              <a:pathLst>
                <a:path w="36829" h="46989">
                  <a:moveTo>
                    <a:pt x="33230" y="33005"/>
                  </a:moveTo>
                  <a:lnTo>
                    <a:pt x="36403" y="23905"/>
                  </a:lnTo>
                  <a:lnTo>
                    <a:pt x="36765" y="15043"/>
                  </a:lnTo>
                  <a:lnTo>
                    <a:pt x="34435" y="7416"/>
                  </a:lnTo>
                  <a:lnTo>
                    <a:pt x="29533" y="2021"/>
                  </a:lnTo>
                  <a:lnTo>
                    <a:pt x="22878" y="0"/>
                  </a:lnTo>
                  <a:lnTo>
                    <a:pt x="15769" y="1571"/>
                  </a:lnTo>
                  <a:lnTo>
                    <a:pt x="9042" y="6350"/>
                  </a:lnTo>
                  <a:lnTo>
                    <a:pt x="3534" y="13953"/>
                  </a:lnTo>
                  <a:lnTo>
                    <a:pt x="361" y="23056"/>
                  </a:lnTo>
                  <a:lnTo>
                    <a:pt x="0" y="31919"/>
                  </a:lnTo>
                  <a:lnTo>
                    <a:pt x="2329" y="39545"/>
                  </a:lnTo>
                  <a:lnTo>
                    <a:pt x="7231" y="44937"/>
                  </a:lnTo>
                  <a:lnTo>
                    <a:pt x="13888" y="46958"/>
                  </a:lnTo>
                  <a:lnTo>
                    <a:pt x="20997" y="45387"/>
                  </a:lnTo>
                  <a:lnTo>
                    <a:pt x="27723" y="40608"/>
                  </a:lnTo>
                  <a:lnTo>
                    <a:pt x="33230" y="33005"/>
                  </a:lnTo>
                  <a:close/>
                </a:path>
              </a:pathLst>
            </a:custGeom>
            <a:ln w="53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87571" y="3027781"/>
              <a:ext cx="110820" cy="7508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087571" y="3027778"/>
              <a:ext cx="111125" cy="75565"/>
            </a:xfrm>
            <a:custGeom>
              <a:avLst/>
              <a:gdLst/>
              <a:ahLst/>
              <a:cxnLst/>
              <a:rect l="l" t="t" r="r" b="b"/>
              <a:pathLst>
                <a:path w="111125" h="75564">
                  <a:moveTo>
                    <a:pt x="51076" y="0"/>
                  </a:moveTo>
                  <a:lnTo>
                    <a:pt x="16865" y="20955"/>
                  </a:lnTo>
                  <a:lnTo>
                    <a:pt x="0" y="41838"/>
                  </a:lnTo>
                  <a:lnTo>
                    <a:pt x="3157" y="50538"/>
                  </a:lnTo>
                  <a:lnTo>
                    <a:pt x="42194" y="75090"/>
                  </a:lnTo>
                  <a:lnTo>
                    <a:pt x="53093" y="74252"/>
                  </a:lnTo>
                  <a:lnTo>
                    <a:pt x="63748" y="70868"/>
                  </a:lnTo>
                  <a:lnTo>
                    <a:pt x="110818" y="39393"/>
                  </a:lnTo>
                  <a:lnTo>
                    <a:pt x="51076" y="0"/>
                  </a:lnTo>
                  <a:close/>
                </a:path>
              </a:pathLst>
            </a:custGeom>
            <a:ln w="55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52595" y="2914332"/>
              <a:ext cx="106532" cy="133184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152595" y="2914811"/>
              <a:ext cx="106680" cy="132715"/>
            </a:xfrm>
            <a:custGeom>
              <a:avLst/>
              <a:gdLst/>
              <a:ahLst/>
              <a:cxnLst/>
              <a:rect l="l" t="t" r="r" b="b"/>
              <a:pathLst>
                <a:path w="106679" h="132714">
                  <a:moveTo>
                    <a:pt x="0" y="92459"/>
                  </a:moveTo>
                  <a:lnTo>
                    <a:pt x="62118" y="132705"/>
                  </a:lnTo>
                  <a:lnTo>
                    <a:pt x="66224" y="131782"/>
                  </a:lnTo>
                  <a:lnTo>
                    <a:pt x="101518" y="62760"/>
                  </a:lnTo>
                  <a:lnTo>
                    <a:pt x="106532" y="46346"/>
                  </a:lnTo>
                  <a:lnTo>
                    <a:pt x="105637" y="29724"/>
                  </a:lnTo>
                  <a:lnTo>
                    <a:pt x="80958" y="0"/>
                  </a:lnTo>
                  <a:lnTo>
                    <a:pt x="67679" y="133"/>
                  </a:lnTo>
                  <a:lnTo>
                    <a:pt x="55160" y="4390"/>
                  </a:lnTo>
                  <a:lnTo>
                    <a:pt x="44131" y="12393"/>
                  </a:lnTo>
                  <a:lnTo>
                    <a:pt x="35320" y="23762"/>
                  </a:lnTo>
                  <a:lnTo>
                    <a:pt x="0" y="92459"/>
                  </a:lnTo>
                  <a:close/>
                </a:path>
              </a:pathLst>
            </a:custGeom>
            <a:ln w="5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38637" y="3007271"/>
              <a:ext cx="76073" cy="59905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4138647" y="3007270"/>
              <a:ext cx="76200" cy="60325"/>
            </a:xfrm>
            <a:custGeom>
              <a:avLst/>
              <a:gdLst/>
              <a:ahLst/>
              <a:cxnLst/>
              <a:rect l="l" t="t" r="r" b="b"/>
              <a:pathLst>
                <a:path w="76200" h="60325">
                  <a:moveTo>
                    <a:pt x="0" y="20507"/>
                  </a:moveTo>
                  <a:lnTo>
                    <a:pt x="59742" y="59901"/>
                  </a:lnTo>
                  <a:lnTo>
                    <a:pt x="62198" y="53440"/>
                  </a:lnTo>
                  <a:lnTo>
                    <a:pt x="65851" y="47874"/>
                  </a:lnTo>
                  <a:lnTo>
                    <a:pt x="70531" y="43408"/>
                  </a:lnTo>
                  <a:lnTo>
                    <a:pt x="76068" y="40246"/>
                  </a:lnTo>
                  <a:lnTo>
                    <a:pt x="13944" y="0"/>
                  </a:lnTo>
                  <a:lnTo>
                    <a:pt x="6578" y="3758"/>
                  </a:lnTo>
                  <a:lnTo>
                    <a:pt x="1342" y="11452"/>
                  </a:lnTo>
                  <a:lnTo>
                    <a:pt x="0" y="20507"/>
                  </a:lnTo>
                  <a:close/>
                </a:path>
              </a:pathLst>
            </a:custGeom>
            <a:ln w="5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119705" y="3068908"/>
              <a:ext cx="10795" cy="8890"/>
            </a:xfrm>
            <a:custGeom>
              <a:avLst/>
              <a:gdLst/>
              <a:ahLst/>
              <a:cxnLst/>
              <a:rect l="l" t="t" r="r" b="b"/>
              <a:pathLst>
                <a:path w="10795" h="8889">
                  <a:moveTo>
                    <a:pt x="3467" y="8712"/>
                  </a:moveTo>
                  <a:lnTo>
                    <a:pt x="953" y="7747"/>
                  </a:lnTo>
                  <a:lnTo>
                    <a:pt x="0" y="3793"/>
                  </a:lnTo>
                  <a:lnTo>
                    <a:pt x="1741" y="1562"/>
                  </a:lnTo>
                  <a:lnTo>
                    <a:pt x="6988" y="0"/>
                  </a:lnTo>
                  <a:lnTo>
                    <a:pt x="9502" y="964"/>
                  </a:lnTo>
                  <a:lnTo>
                    <a:pt x="9976" y="2941"/>
                  </a:lnTo>
                  <a:lnTo>
                    <a:pt x="10450" y="4918"/>
                  </a:lnTo>
                  <a:lnTo>
                    <a:pt x="8714" y="7149"/>
                  </a:lnTo>
                  <a:lnTo>
                    <a:pt x="3467" y="8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119705" y="3068908"/>
              <a:ext cx="10795" cy="8890"/>
            </a:xfrm>
            <a:custGeom>
              <a:avLst/>
              <a:gdLst/>
              <a:ahLst/>
              <a:cxnLst/>
              <a:rect l="l" t="t" r="r" b="b"/>
              <a:pathLst>
                <a:path w="10795" h="8889">
                  <a:moveTo>
                    <a:pt x="9976" y="2941"/>
                  </a:moveTo>
                  <a:lnTo>
                    <a:pt x="9502" y="964"/>
                  </a:lnTo>
                  <a:lnTo>
                    <a:pt x="6988" y="0"/>
                  </a:lnTo>
                  <a:lnTo>
                    <a:pt x="4362" y="781"/>
                  </a:lnTo>
                  <a:lnTo>
                    <a:pt x="1741" y="1562"/>
                  </a:lnTo>
                  <a:lnTo>
                    <a:pt x="0" y="3793"/>
                  </a:lnTo>
                  <a:lnTo>
                    <a:pt x="479" y="5770"/>
                  </a:lnTo>
                  <a:lnTo>
                    <a:pt x="953" y="7747"/>
                  </a:lnTo>
                  <a:lnTo>
                    <a:pt x="3467" y="8712"/>
                  </a:lnTo>
                  <a:lnTo>
                    <a:pt x="6088" y="7930"/>
                  </a:lnTo>
                  <a:lnTo>
                    <a:pt x="8714" y="7149"/>
                  </a:lnTo>
                  <a:lnTo>
                    <a:pt x="10450" y="4918"/>
                  </a:lnTo>
                  <a:lnTo>
                    <a:pt x="9976" y="2941"/>
                  </a:lnTo>
                  <a:close/>
                </a:path>
              </a:pathLst>
            </a:custGeom>
            <a:ln w="54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86300" y="2922968"/>
              <a:ext cx="66757" cy="70840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4186303" y="2922970"/>
              <a:ext cx="67310" cy="71120"/>
            </a:xfrm>
            <a:custGeom>
              <a:avLst/>
              <a:gdLst/>
              <a:ahLst/>
              <a:cxnLst/>
              <a:rect l="l" t="t" r="r" b="b"/>
              <a:pathLst>
                <a:path w="67310" h="71119">
                  <a:moveTo>
                    <a:pt x="0" y="36209"/>
                  </a:moveTo>
                  <a:lnTo>
                    <a:pt x="53819" y="70839"/>
                  </a:lnTo>
                  <a:lnTo>
                    <a:pt x="62746" y="52426"/>
                  </a:lnTo>
                  <a:lnTo>
                    <a:pt x="66761" y="39295"/>
                  </a:lnTo>
                  <a:lnTo>
                    <a:pt x="46862" y="1621"/>
                  </a:lnTo>
                  <a:lnTo>
                    <a:pt x="41472" y="0"/>
                  </a:lnTo>
                  <a:lnTo>
                    <a:pt x="35970" y="5"/>
                  </a:lnTo>
                  <a:lnTo>
                    <a:pt x="0" y="36209"/>
                  </a:lnTo>
                  <a:close/>
                </a:path>
              </a:pathLst>
            </a:custGeom>
            <a:ln w="53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087568" y="2914531"/>
              <a:ext cx="191770" cy="212725"/>
            </a:xfrm>
            <a:custGeom>
              <a:avLst/>
              <a:gdLst/>
              <a:ahLst/>
              <a:cxnLst/>
              <a:rect l="l" t="t" r="r" b="b"/>
              <a:pathLst>
                <a:path w="191770" h="212725">
                  <a:moveTo>
                    <a:pt x="65026" y="92739"/>
                  </a:moveTo>
                  <a:lnTo>
                    <a:pt x="57745" y="96627"/>
                  </a:lnTo>
                  <a:lnTo>
                    <a:pt x="52556" y="104256"/>
                  </a:lnTo>
                  <a:lnTo>
                    <a:pt x="51076" y="113246"/>
                  </a:lnTo>
                  <a:lnTo>
                    <a:pt x="5939" y="142040"/>
                  </a:lnTo>
                  <a:lnTo>
                    <a:pt x="2343" y="145165"/>
                  </a:lnTo>
                  <a:lnTo>
                    <a:pt x="165" y="149947"/>
                  </a:lnTo>
                  <a:lnTo>
                    <a:pt x="0" y="155085"/>
                  </a:lnTo>
                  <a:lnTo>
                    <a:pt x="37" y="180298"/>
                  </a:lnTo>
                  <a:lnTo>
                    <a:pt x="32992" y="211311"/>
                  </a:lnTo>
                  <a:lnTo>
                    <a:pt x="41485" y="212352"/>
                  </a:lnTo>
                  <a:lnTo>
                    <a:pt x="49998" y="212265"/>
                  </a:lnTo>
                  <a:lnTo>
                    <a:pt x="58446" y="211058"/>
                  </a:lnTo>
                  <a:lnTo>
                    <a:pt x="66741" y="208736"/>
                  </a:lnTo>
                  <a:lnTo>
                    <a:pt x="115021" y="177131"/>
                  </a:lnTo>
                  <a:lnTo>
                    <a:pt x="122414" y="178846"/>
                  </a:lnTo>
                  <a:lnTo>
                    <a:pt x="146383" y="154416"/>
                  </a:lnTo>
                  <a:lnTo>
                    <a:pt x="145339" y="147402"/>
                  </a:lnTo>
                  <a:lnTo>
                    <a:pt x="189912" y="63460"/>
                  </a:lnTo>
                  <a:lnTo>
                    <a:pt x="191169" y="48846"/>
                  </a:lnTo>
                  <a:lnTo>
                    <a:pt x="188339" y="34884"/>
                  </a:lnTo>
                  <a:lnTo>
                    <a:pt x="181800" y="22635"/>
                  </a:lnTo>
                  <a:lnTo>
                    <a:pt x="171930" y="13158"/>
                  </a:lnTo>
                  <a:lnTo>
                    <a:pt x="145984" y="279"/>
                  </a:lnTo>
                  <a:lnTo>
                    <a:pt x="132560" y="0"/>
                  </a:lnTo>
                  <a:lnTo>
                    <a:pt x="119933" y="4151"/>
                  </a:lnTo>
                  <a:lnTo>
                    <a:pt x="108923" y="12307"/>
                  </a:lnTo>
                  <a:lnTo>
                    <a:pt x="100346" y="24042"/>
                  </a:lnTo>
                  <a:lnTo>
                    <a:pt x="65026" y="92739"/>
                  </a:lnTo>
                </a:path>
              </a:pathLst>
            </a:custGeom>
            <a:ln w="11183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68609" y="2970720"/>
              <a:ext cx="58445" cy="62903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4176442" y="2975445"/>
              <a:ext cx="46990" cy="54610"/>
            </a:xfrm>
            <a:custGeom>
              <a:avLst/>
              <a:gdLst/>
              <a:ahLst/>
              <a:cxnLst/>
              <a:rect l="l" t="t" r="r" b="b"/>
              <a:pathLst>
                <a:path w="46989" h="54610">
                  <a:moveTo>
                    <a:pt x="27005" y="45359"/>
                  </a:moveTo>
                  <a:lnTo>
                    <a:pt x="30947" y="47821"/>
                  </a:lnTo>
                  <a:lnTo>
                    <a:pt x="31341" y="49840"/>
                  </a:lnTo>
                  <a:lnTo>
                    <a:pt x="29370" y="54095"/>
                  </a:lnTo>
                </a:path>
                <a:path w="46989" h="54610">
                  <a:moveTo>
                    <a:pt x="13502" y="36736"/>
                  </a:moveTo>
                  <a:lnTo>
                    <a:pt x="17444" y="39198"/>
                  </a:lnTo>
                  <a:lnTo>
                    <a:pt x="17838" y="41216"/>
                  </a:lnTo>
                  <a:lnTo>
                    <a:pt x="15867" y="45472"/>
                  </a:lnTo>
                </a:path>
                <a:path w="46989" h="54610">
                  <a:moveTo>
                    <a:pt x="0" y="28557"/>
                  </a:moveTo>
                  <a:lnTo>
                    <a:pt x="3941" y="31025"/>
                  </a:lnTo>
                  <a:lnTo>
                    <a:pt x="4335" y="33037"/>
                  </a:lnTo>
                  <a:lnTo>
                    <a:pt x="2364" y="37292"/>
                  </a:lnTo>
                </a:path>
                <a:path w="46989" h="54610">
                  <a:moveTo>
                    <a:pt x="7787" y="13884"/>
                  </a:moveTo>
                  <a:lnTo>
                    <a:pt x="11729" y="16352"/>
                  </a:lnTo>
                  <a:lnTo>
                    <a:pt x="12123" y="18365"/>
                  </a:lnTo>
                  <a:lnTo>
                    <a:pt x="10152" y="22620"/>
                  </a:lnTo>
                </a:path>
                <a:path w="46989" h="54610">
                  <a:moveTo>
                    <a:pt x="15372" y="0"/>
                  </a:moveTo>
                  <a:lnTo>
                    <a:pt x="19319" y="2462"/>
                  </a:lnTo>
                  <a:lnTo>
                    <a:pt x="19713" y="4480"/>
                  </a:lnTo>
                  <a:lnTo>
                    <a:pt x="17742" y="8735"/>
                  </a:lnTo>
                </a:path>
                <a:path w="46989" h="54610">
                  <a:moveTo>
                    <a:pt x="28880" y="8173"/>
                  </a:moveTo>
                  <a:lnTo>
                    <a:pt x="32822" y="10641"/>
                  </a:lnTo>
                  <a:lnTo>
                    <a:pt x="33216" y="12653"/>
                  </a:lnTo>
                  <a:lnTo>
                    <a:pt x="31245" y="16909"/>
                  </a:lnTo>
                </a:path>
                <a:path w="46989" h="54610">
                  <a:moveTo>
                    <a:pt x="42383" y="16796"/>
                  </a:moveTo>
                  <a:lnTo>
                    <a:pt x="46324" y="19264"/>
                  </a:lnTo>
                  <a:lnTo>
                    <a:pt x="46719" y="21277"/>
                  </a:lnTo>
                  <a:lnTo>
                    <a:pt x="44748" y="25532"/>
                  </a:lnTo>
                </a:path>
                <a:path w="46989" h="54610">
                  <a:moveTo>
                    <a:pt x="21290" y="22064"/>
                  </a:moveTo>
                  <a:lnTo>
                    <a:pt x="25231" y="24526"/>
                  </a:lnTo>
                  <a:lnTo>
                    <a:pt x="25625" y="26544"/>
                  </a:lnTo>
                  <a:lnTo>
                    <a:pt x="23655" y="30800"/>
                  </a:lnTo>
                </a:path>
                <a:path w="46989" h="54610">
                  <a:moveTo>
                    <a:pt x="34792" y="30687"/>
                  </a:moveTo>
                  <a:lnTo>
                    <a:pt x="38734" y="33149"/>
                  </a:lnTo>
                  <a:lnTo>
                    <a:pt x="39128" y="35168"/>
                  </a:lnTo>
                  <a:lnTo>
                    <a:pt x="37157" y="39423"/>
                  </a:lnTo>
                </a:path>
              </a:pathLst>
            </a:custGeom>
            <a:ln w="539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684933" y="2546176"/>
              <a:ext cx="412750" cy="380365"/>
            </a:xfrm>
            <a:custGeom>
              <a:avLst/>
              <a:gdLst/>
              <a:ahLst/>
              <a:cxnLst/>
              <a:rect l="l" t="t" r="r" b="b"/>
              <a:pathLst>
                <a:path w="412750" h="380364">
                  <a:moveTo>
                    <a:pt x="0" y="0"/>
                  </a:moveTo>
                  <a:lnTo>
                    <a:pt x="412700" y="38027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748684" y="2536425"/>
              <a:ext cx="412750" cy="380365"/>
            </a:xfrm>
            <a:custGeom>
              <a:avLst/>
              <a:gdLst/>
              <a:ahLst/>
              <a:cxnLst/>
              <a:rect l="l" t="t" r="r" b="b"/>
              <a:pathLst>
                <a:path w="412750" h="380364">
                  <a:moveTo>
                    <a:pt x="0" y="0"/>
                  </a:moveTo>
                  <a:lnTo>
                    <a:pt x="412700" y="380278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339216" y="2546176"/>
              <a:ext cx="473709" cy="380365"/>
            </a:xfrm>
            <a:custGeom>
              <a:avLst/>
              <a:gdLst/>
              <a:ahLst/>
              <a:cxnLst/>
              <a:rect l="l" t="t" r="r" b="b"/>
              <a:pathLst>
                <a:path w="473710" h="380364">
                  <a:moveTo>
                    <a:pt x="473097" y="0"/>
                  </a:moveTo>
                  <a:lnTo>
                    <a:pt x="0" y="38027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3897209" y="3446791"/>
            <a:ext cx="674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C00000"/>
                </a:solidFill>
                <a:latin typeface="Microsoft YaHei"/>
                <a:cs typeface="Microsoft YaHei"/>
              </a:rPr>
              <a:t>option3x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565627" y="1389783"/>
            <a:ext cx="457834" cy="33401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720"/>
              </a:spcBef>
            </a:pPr>
            <a:r>
              <a:rPr dirty="0" sz="850" spc="-25">
                <a:latin typeface="Times New Roman"/>
                <a:cs typeface="Times New Roman"/>
              </a:rPr>
              <a:t>NGC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5374504" y="2193605"/>
            <a:ext cx="789305" cy="358140"/>
            <a:chOff x="5374504" y="2193605"/>
            <a:chExt cx="789305" cy="358140"/>
          </a:xfrm>
        </p:grpSpPr>
        <p:sp>
          <p:nvSpPr>
            <p:cNvPr id="65" name="object 65" descr=""/>
            <p:cNvSpPr/>
            <p:nvPr/>
          </p:nvSpPr>
          <p:spPr>
            <a:xfrm>
              <a:off x="5375457" y="2194557"/>
              <a:ext cx="787400" cy="356235"/>
            </a:xfrm>
            <a:custGeom>
              <a:avLst/>
              <a:gdLst/>
              <a:ahLst/>
              <a:cxnLst/>
              <a:rect l="l" t="t" r="r" b="b"/>
              <a:pathLst>
                <a:path w="787400" h="356235">
                  <a:moveTo>
                    <a:pt x="393671" y="355641"/>
                  </a:moveTo>
                  <a:lnTo>
                    <a:pt x="329815" y="353314"/>
                  </a:lnTo>
                  <a:lnTo>
                    <a:pt x="269240" y="346576"/>
                  </a:lnTo>
                  <a:lnTo>
                    <a:pt x="212756" y="335793"/>
                  </a:lnTo>
                  <a:lnTo>
                    <a:pt x="161173" y="321332"/>
                  </a:lnTo>
                  <a:lnTo>
                    <a:pt x="115303" y="303559"/>
                  </a:lnTo>
                  <a:lnTo>
                    <a:pt x="75955" y="282839"/>
                  </a:lnTo>
                  <a:lnTo>
                    <a:pt x="43940" y="259540"/>
                  </a:lnTo>
                  <a:lnTo>
                    <a:pt x="5152" y="206664"/>
                  </a:lnTo>
                  <a:lnTo>
                    <a:pt x="0" y="177820"/>
                  </a:lnTo>
                  <a:lnTo>
                    <a:pt x="5152" y="148977"/>
                  </a:lnTo>
                  <a:lnTo>
                    <a:pt x="43940" y="96101"/>
                  </a:lnTo>
                  <a:lnTo>
                    <a:pt x="75955" y="72801"/>
                  </a:lnTo>
                  <a:lnTo>
                    <a:pt x="115303" y="52082"/>
                  </a:lnTo>
                  <a:lnTo>
                    <a:pt x="161173" y="34308"/>
                  </a:lnTo>
                  <a:lnTo>
                    <a:pt x="212756" y="19847"/>
                  </a:lnTo>
                  <a:lnTo>
                    <a:pt x="269240" y="9065"/>
                  </a:lnTo>
                  <a:lnTo>
                    <a:pt x="329815" y="2327"/>
                  </a:lnTo>
                  <a:lnTo>
                    <a:pt x="393671" y="0"/>
                  </a:lnTo>
                  <a:lnTo>
                    <a:pt x="457526" y="2327"/>
                  </a:lnTo>
                  <a:lnTo>
                    <a:pt x="518100" y="9065"/>
                  </a:lnTo>
                  <a:lnTo>
                    <a:pt x="574584" y="19847"/>
                  </a:lnTo>
                  <a:lnTo>
                    <a:pt x="626167" y="34308"/>
                  </a:lnTo>
                  <a:lnTo>
                    <a:pt x="672038" y="52082"/>
                  </a:lnTo>
                  <a:lnTo>
                    <a:pt x="711386" y="72801"/>
                  </a:lnTo>
                  <a:lnTo>
                    <a:pt x="743401" y="96101"/>
                  </a:lnTo>
                  <a:lnTo>
                    <a:pt x="782190" y="148977"/>
                  </a:lnTo>
                  <a:lnTo>
                    <a:pt x="787342" y="177820"/>
                  </a:lnTo>
                  <a:lnTo>
                    <a:pt x="782190" y="206664"/>
                  </a:lnTo>
                  <a:lnTo>
                    <a:pt x="743401" y="259540"/>
                  </a:lnTo>
                  <a:lnTo>
                    <a:pt x="711386" y="282839"/>
                  </a:lnTo>
                  <a:lnTo>
                    <a:pt x="672038" y="303559"/>
                  </a:lnTo>
                  <a:lnTo>
                    <a:pt x="626167" y="321332"/>
                  </a:lnTo>
                  <a:lnTo>
                    <a:pt x="574584" y="335793"/>
                  </a:lnTo>
                  <a:lnTo>
                    <a:pt x="518100" y="346576"/>
                  </a:lnTo>
                  <a:lnTo>
                    <a:pt x="457526" y="353314"/>
                  </a:lnTo>
                  <a:lnTo>
                    <a:pt x="393671" y="35564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375457" y="2194557"/>
              <a:ext cx="787400" cy="356235"/>
            </a:xfrm>
            <a:custGeom>
              <a:avLst/>
              <a:gdLst/>
              <a:ahLst/>
              <a:cxnLst/>
              <a:rect l="l" t="t" r="r" b="b"/>
              <a:pathLst>
                <a:path w="787400" h="356235">
                  <a:moveTo>
                    <a:pt x="0" y="177820"/>
                  </a:moveTo>
                  <a:lnTo>
                    <a:pt x="20069" y="121615"/>
                  </a:lnTo>
                  <a:lnTo>
                    <a:pt x="75955" y="72801"/>
                  </a:lnTo>
                  <a:lnTo>
                    <a:pt x="115303" y="52082"/>
                  </a:lnTo>
                  <a:lnTo>
                    <a:pt x="161173" y="34308"/>
                  </a:lnTo>
                  <a:lnTo>
                    <a:pt x="212756" y="19847"/>
                  </a:lnTo>
                  <a:lnTo>
                    <a:pt x="269240" y="9065"/>
                  </a:lnTo>
                  <a:lnTo>
                    <a:pt x="329815" y="2327"/>
                  </a:lnTo>
                  <a:lnTo>
                    <a:pt x="393671" y="0"/>
                  </a:lnTo>
                  <a:lnTo>
                    <a:pt x="457526" y="2327"/>
                  </a:lnTo>
                  <a:lnTo>
                    <a:pt x="518100" y="9065"/>
                  </a:lnTo>
                  <a:lnTo>
                    <a:pt x="574584" y="19847"/>
                  </a:lnTo>
                  <a:lnTo>
                    <a:pt x="626167" y="34308"/>
                  </a:lnTo>
                  <a:lnTo>
                    <a:pt x="672038" y="52082"/>
                  </a:lnTo>
                  <a:lnTo>
                    <a:pt x="711386" y="72801"/>
                  </a:lnTo>
                  <a:lnTo>
                    <a:pt x="743401" y="96101"/>
                  </a:lnTo>
                  <a:lnTo>
                    <a:pt x="782190" y="148977"/>
                  </a:lnTo>
                  <a:lnTo>
                    <a:pt x="787342" y="177820"/>
                  </a:lnTo>
                  <a:lnTo>
                    <a:pt x="782190" y="206664"/>
                  </a:lnTo>
                  <a:lnTo>
                    <a:pt x="743401" y="259540"/>
                  </a:lnTo>
                  <a:lnTo>
                    <a:pt x="711386" y="282839"/>
                  </a:lnTo>
                  <a:lnTo>
                    <a:pt x="672038" y="303559"/>
                  </a:lnTo>
                  <a:lnTo>
                    <a:pt x="626167" y="321332"/>
                  </a:lnTo>
                  <a:lnTo>
                    <a:pt x="574584" y="335793"/>
                  </a:lnTo>
                  <a:lnTo>
                    <a:pt x="518100" y="346576"/>
                  </a:lnTo>
                  <a:lnTo>
                    <a:pt x="457526" y="353314"/>
                  </a:lnTo>
                  <a:lnTo>
                    <a:pt x="393671" y="355641"/>
                  </a:lnTo>
                  <a:lnTo>
                    <a:pt x="329815" y="353314"/>
                  </a:lnTo>
                  <a:lnTo>
                    <a:pt x="269240" y="346576"/>
                  </a:lnTo>
                  <a:lnTo>
                    <a:pt x="212756" y="335793"/>
                  </a:lnTo>
                  <a:lnTo>
                    <a:pt x="161173" y="321332"/>
                  </a:lnTo>
                  <a:lnTo>
                    <a:pt x="115303" y="303559"/>
                  </a:lnTo>
                  <a:lnTo>
                    <a:pt x="75955" y="282839"/>
                  </a:lnTo>
                  <a:lnTo>
                    <a:pt x="43940" y="259540"/>
                  </a:lnTo>
                  <a:lnTo>
                    <a:pt x="5152" y="206664"/>
                  </a:lnTo>
                  <a:lnTo>
                    <a:pt x="0" y="1778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5673568" y="2282833"/>
            <a:ext cx="191135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80">
                <a:latin typeface="Times New Roman"/>
                <a:cs typeface="Times New Roman"/>
              </a:rPr>
              <a:t>LTE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5491936" y="2036418"/>
            <a:ext cx="1697355" cy="514984"/>
            <a:chOff x="5491936" y="2036418"/>
            <a:chExt cx="1697355" cy="514984"/>
          </a:xfrm>
        </p:grpSpPr>
        <p:sp>
          <p:nvSpPr>
            <p:cNvPr id="69" name="object 69" descr=""/>
            <p:cNvSpPr/>
            <p:nvPr/>
          </p:nvSpPr>
          <p:spPr>
            <a:xfrm>
              <a:off x="5541028" y="2292359"/>
              <a:ext cx="64135" cy="80645"/>
            </a:xfrm>
            <a:custGeom>
              <a:avLst/>
              <a:gdLst/>
              <a:ahLst/>
              <a:cxnLst/>
              <a:rect l="l" t="t" r="r" b="b"/>
              <a:pathLst>
                <a:path w="64135" h="80644">
                  <a:moveTo>
                    <a:pt x="44996" y="80018"/>
                  </a:moveTo>
                  <a:lnTo>
                    <a:pt x="0" y="80018"/>
                  </a:lnTo>
                  <a:lnTo>
                    <a:pt x="30346" y="0"/>
                  </a:lnTo>
                  <a:lnTo>
                    <a:pt x="63736" y="39024"/>
                  </a:lnTo>
                  <a:lnTo>
                    <a:pt x="62208" y="55176"/>
                  </a:lnTo>
                  <a:lnTo>
                    <a:pt x="55801" y="69454"/>
                  </a:lnTo>
                  <a:lnTo>
                    <a:pt x="44996" y="800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21934" y="2181783"/>
              <a:ext cx="36626" cy="25552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5521940" y="2181777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36620" y="12779"/>
                  </a:moveTo>
                  <a:lnTo>
                    <a:pt x="36620" y="5722"/>
                  </a:lnTo>
                  <a:lnTo>
                    <a:pt x="28423" y="0"/>
                  </a:lnTo>
                  <a:lnTo>
                    <a:pt x="18307" y="0"/>
                  </a:lnTo>
                  <a:lnTo>
                    <a:pt x="8197" y="0"/>
                  </a:lnTo>
                  <a:lnTo>
                    <a:pt x="0" y="5722"/>
                  </a:lnTo>
                  <a:lnTo>
                    <a:pt x="0" y="12779"/>
                  </a:lnTo>
                  <a:lnTo>
                    <a:pt x="0" y="19836"/>
                  </a:lnTo>
                  <a:lnTo>
                    <a:pt x="8197" y="25559"/>
                  </a:lnTo>
                  <a:lnTo>
                    <a:pt x="18307" y="25559"/>
                  </a:lnTo>
                  <a:lnTo>
                    <a:pt x="28423" y="25559"/>
                  </a:lnTo>
                  <a:lnTo>
                    <a:pt x="36620" y="19836"/>
                  </a:lnTo>
                  <a:lnTo>
                    <a:pt x="36620" y="12779"/>
                  </a:lnTo>
                  <a:close/>
                </a:path>
              </a:pathLst>
            </a:custGeom>
            <a:ln w="5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03951" y="2193378"/>
              <a:ext cx="73024" cy="178777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5503941" y="2193379"/>
              <a:ext cx="73660" cy="179070"/>
            </a:xfrm>
            <a:custGeom>
              <a:avLst/>
              <a:gdLst/>
              <a:ahLst/>
              <a:cxnLst/>
              <a:rect l="l" t="t" r="r" b="b"/>
              <a:pathLst>
                <a:path w="73660" h="179069">
                  <a:moveTo>
                    <a:pt x="72615" y="150097"/>
                  </a:moveTo>
                  <a:lnTo>
                    <a:pt x="54540" y="5"/>
                  </a:lnTo>
                  <a:lnTo>
                    <a:pt x="49717" y="7790"/>
                  </a:lnTo>
                  <a:lnTo>
                    <a:pt x="43041" y="12559"/>
                  </a:lnTo>
                  <a:lnTo>
                    <a:pt x="18075" y="0"/>
                  </a:lnTo>
                  <a:lnTo>
                    <a:pt x="0" y="150109"/>
                  </a:lnTo>
                  <a:lnTo>
                    <a:pt x="999" y="160235"/>
                  </a:lnTo>
                  <a:lnTo>
                    <a:pt x="7265" y="169005"/>
                  </a:lnTo>
                  <a:lnTo>
                    <a:pt x="17785" y="175496"/>
                  </a:lnTo>
                  <a:lnTo>
                    <a:pt x="31543" y="178785"/>
                  </a:lnTo>
                  <a:lnTo>
                    <a:pt x="46050" y="178087"/>
                  </a:lnTo>
                  <a:lnTo>
                    <a:pt x="58612" y="173713"/>
                  </a:lnTo>
                  <a:lnTo>
                    <a:pt x="67907" y="166372"/>
                  </a:lnTo>
                  <a:lnTo>
                    <a:pt x="72615" y="156772"/>
                  </a:lnTo>
                  <a:lnTo>
                    <a:pt x="73032" y="154561"/>
                  </a:lnTo>
                  <a:lnTo>
                    <a:pt x="73032" y="152314"/>
                  </a:lnTo>
                  <a:lnTo>
                    <a:pt x="72615" y="150103"/>
                  </a:lnTo>
                  <a:close/>
                </a:path>
              </a:pathLst>
            </a:custGeom>
            <a:ln w="47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531097" y="2067140"/>
              <a:ext cx="18415" cy="22225"/>
            </a:xfrm>
            <a:custGeom>
              <a:avLst/>
              <a:gdLst/>
              <a:ahLst/>
              <a:cxnLst/>
              <a:rect l="l" t="t" r="r" b="b"/>
              <a:pathLst>
                <a:path w="18414" h="22225">
                  <a:moveTo>
                    <a:pt x="18307" y="11115"/>
                  </a:moveTo>
                  <a:lnTo>
                    <a:pt x="18307" y="4975"/>
                  </a:lnTo>
                  <a:lnTo>
                    <a:pt x="14209" y="0"/>
                  </a:lnTo>
                  <a:lnTo>
                    <a:pt x="9151" y="0"/>
                  </a:lnTo>
                  <a:lnTo>
                    <a:pt x="4098" y="0"/>
                  </a:lnTo>
                  <a:lnTo>
                    <a:pt x="0" y="4975"/>
                  </a:lnTo>
                  <a:lnTo>
                    <a:pt x="0" y="11115"/>
                  </a:lnTo>
                  <a:lnTo>
                    <a:pt x="0" y="17255"/>
                  </a:lnTo>
                  <a:lnTo>
                    <a:pt x="4098" y="22230"/>
                  </a:lnTo>
                  <a:lnTo>
                    <a:pt x="9151" y="22230"/>
                  </a:lnTo>
                  <a:lnTo>
                    <a:pt x="14209" y="22230"/>
                  </a:lnTo>
                  <a:lnTo>
                    <a:pt x="18307" y="17255"/>
                  </a:lnTo>
                  <a:lnTo>
                    <a:pt x="18307" y="11115"/>
                  </a:lnTo>
                  <a:close/>
                </a:path>
              </a:pathLst>
            </a:custGeom>
            <a:ln w="5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540250" y="2089367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w="0" h="105410">
                  <a:moveTo>
                    <a:pt x="0" y="105189"/>
                  </a:moveTo>
                  <a:lnTo>
                    <a:pt x="0" y="0"/>
                  </a:lnTo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494476" y="2038958"/>
              <a:ext cx="92075" cy="78740"/>
            </a:xfrm>
            <a:custGeom>
              <a:avLst/>
              <a:gdLst/>
              <a:ahLst/>
              <a:cxnLst/>
              <a:rect l="l" t="t" r="r" b="b"/>
              <a:pathLst>
                <a:path w="92075" h="78739">
                  <a:moveTo>
                    <a:pt x="26352" y="15720"/>
                  </a:moveTo>
                  <a:lnTo>
                    <a:pt x="20318" y="26750"/>
                  </a:lnTo>
                  <a:lnTo>
                    <a:pt x="18307" y="39297"/>
                  </a:lnTo>
                  <a:lnTo>
                    <a:pt x="20318" y="51844"/>
                  </a:lnTo>
                  <a:lnTo>
                    <a:pt x="26352" y="62874"/>
                  </a:lnTo>
                </a:path>
                <a:path w="92075" h="78739">
                  <a:moveTo>
                    <a:pt x="65196" y="62874"/>
                  </a:moveTo>
                  <a:lnTo>
                    <a:pt x="71226" y="51842"/>
                  </a:lnTo>
                  <a:lnTo>
                    <a:pt x="73236" y="39295"/>
                  </a:lnTo>
                  <a:lnTo>
                    <a:pt x="71226" y="26749"/>
                  </a:lnTo>
                  <a:lnTo>
                    <a:pt x="65196" y="15720"/>
                  </a:lnTo>
                </a:path>
                <a:path w="92075" h="78739">
                  <a:moveTo>
                    <a:pt x="13407" y="0"/>
                  </a:moveTo>
                  <a:lnTo>
                    <a:pt x="3351" y="18383"/>
                  </a:lnTo>
                  <a:lnTo>
                    <a:pt x="0" y="39294"/>
                  </a:lnTo>
                  <a:lnTo>
                    <a:pt x="3351" y="60206"/>
                  </a:lnTo>
                  <a:lnTo>
                    <a:pt x="13407" y="78589"/>
                  </a:lnTo>
                </a:path>
                <a:path w="92075" h="78739">
                  <a:moveTo>
                    <a:pt x="78145" y="78589"/>
                  </a:moveTo>
                  <a:lnTo>
                    <a:pt x="88198" y="60206"/>
                  </a:lnTo>
                  <a:lnTo>
                    <a:pt x="91549" y="39296"/>
                  </a:lnTo>
                  <a:lnTo>
                    <a:pt x="88198" y="18385"/>
                  </a:lnTo>
                  <a:lnTo>
                    <a:pt x="78145" y="0"/>
                  </a:lnTo>
                </a:path>
              </a:pathLst>
            </a:custGeom>
            <a:ln w="5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503939" y="2067140"/>
              <a:ext cx="73660" cy="305435"/>
            </a:xfrm>
            <a:custGeom>
              <a:avLst/>
              <a:gdLst/>
              <a:ahLst/>
              <a:cxnLst/>
              <a:rect l="l" t="t" r="r" b="b"/>
              <a:pathLst>
                <a:path w="73660" h="305435">
                  <a:moveTo>
                    <a:pt x="36310" y="114634"/>
                  </a:moveTo>
                  <a:lnTo>
                    <a:pt x="26858" y="114646"/>
                  </a:lnTo>
                  <a:lnTo>
                    <a:pt x="18961" y="119668"/>
                  </a:lnTo>
                  <a:lnTo>
                    <a:pt x="18080" y="126237"/>
                  </a:lnTo>
                  <a:lnTo>
                    <a:pt x="0" y="276346"/>
                  </a:lnTo>
                  <a:lnTo>
                    <a:pt x="999" y="286473"/>
                  </a:lnTo>
                  <a:lnTo>
                    <a:pt x="7265" y="295242"/>
                  </a:lnTo>
                  <a:lnTo>
                    <a:pt x="17785" y="301731"/>
                  </a:lnTo>
                  <a:lnTo>
                    <a:pt x="31543" y="305017"/>
                  </a:lnTo>
                  <a:lnTo>
                    <a:pt x="46052" y="304322"/>
                  </a:lnTo>
                  <a:lnTo>
                    <a:pt x="58616" y="299950"/>
                  </a:lnTo>
                  <a:lnTo>
                    <a:pt x="67912" y="292610"/>
                  </a:lnTo>
                  <a:lnTo>
                    <a:pt x="72620" y="283010"/>
                  </a:lnTo>
                  <a:lnTo>
                    <a:pt x="73037" y="280798"/>
                  </a:lnTo>
                  <a:lnTo>
                    <a:pt x="73037" y="278552"/>
                  </a:lnTo>
                  <a:lnTo>
                    <a:pt x="72620" y="276340"/>
                  </a:lnTo>
                  <a:lnTo>
                    <a:pt x="54680" y="127402"/>
                  </a:lnTo>
                  <a:lnTo>
                    <a:pt x="54656" y="120338"/>
                  </a:lnTo>
                  <a:lnTo>
                    <a:pt x="46435" y="114622"/>
                  </a:lnTo>
                  <a:lnTo>
                    <a:pt x="36310" y="114634"/>
                  </a:lnTo>
                </a:path>
                <a:path w="73660" h="305435">
                  <a:moveTo>
                    <a:pt x="45466" y="11115"/>
                  </a:moveTo>
                  <a:lnTo>
                    <a:pt x="45466" y="4975"/>
                  </a:lnTo>
                  <a:lnTo>
                    <a:pt x="41367" y="0"/>
                  </a:lnTo>
                  <a:lnTo>
                    <a:pt x="36310" y="0"/>
                  </a:lnTo>
                  <a:lnTo>
                    <a:pt x="31252" y="0"/>
                  </a:lnTo>
                  <a:lnTo>
                    <a:pt x="27153" y="4975"/>
                  </a:lnTo>
                  <a:lnTo>
                    <a:pt x="27153" y="11115"/>
                  </a:lnTo>
                  <a:lnTo>
                    <a:pt x="27153" y="17255"/>
                  </a:lnTo>
                  <a:lnTo>
                    <a:pt x="31252" y="22230"/>
                  </a:lnTo>
                  <a:lnTo>
                    <a:pt x="36310" y="22230"/>
                  </a:lnTo>
                  <a:lnTo>
                    <a:pt x="41367" y="22230"/>
                  </a:lnTo>
                  <a:lnTo>
                    <a:pt x="45466" y="17255"/>
                  </a:lnTo>
                  <a:lnTo>
                    <a:pt x="45466" y="11115"/>
                  </a:lnTo>
                  <a:close/>
                </a:path>
                <a:path w="73660" h="305435">
                  <a:moveTo>
                    <a:pt x="36310" y="114634"/>
                  </a:moveTo>
                  <a:lnTo>
                    <a:pt x="36310" y="22230"/>
                  </a:lnTo>
                </a:path>
              </a:pathLst>
            </a:custGeom>
            <a:ln w="1072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400831" y="2194556"/>
              <a:ext cx="787400" cy="356235"/>
            </a:xfrm>
            <a:custGeom>
              <a:avLst/>
              <a:gdLst/>
              <a:ahLst/>
              <a:cxnLst/>
              <a:rect l="l" t="t" r="r" b="b"/>
              <a:pathLst>
                <a:path w="787400" h="356235">
                  <a:moveTo>
                    <a:pt x="393671" y="355641"/>
                  </a:moveTo>
                  <a:lnTo>
                    <a:pt x="329815" y="353314"/>
                  </a:lnTo>
                  <a:lnTo>
                    <a:pt x="269240" y="346576"/>
                  </a:lnTo>
                  <a:lnTo>
                    <a:pt x="212756" y="335793"/>
                  </a:lnTo>
                  <a:lnTo>
                    <a:pt x="161173" y="321332"/>
                  </a:lnTo>
                  <a:lnTo>
                    <a:pt x="115303" y="303559"/>
                  </a:lnTo>
                  <a:lnTo>
                    <a:pt x="75955" y="282839"/>
                  </a:lnTo>
                  <a:lnTo>
                    <a:pt x="43940" y="259540"/>
                  </a:lnTo>
                  <a:lnTo>
                    <a:pt x="5152" y="206664"/>
                  </a:lnTo>
                  <a:lnTo>
                    <a:pt x="0" y="177820"/>
                  </a:lnTo>
                  <a:lnTo>
                    <a:pt x="5152" y="148977"/>
                  </a:lnTo>
                  <a:lnTo>
                    <a:pt x="43940" y="96101"/>
                  </a:lnTo>
                  <a:lnTo>
                    <a:pt x="75955" y="72801"/>
                  </a:lnTo>
                  <a:lnTo>
                    <a:pt x="115303" y="52082"/>
                  </a:lnTo>
                  <a:lnTo>
                    <a:pt x="161173" y="34308"/>
                  </a:lnTo>
                  <a:lnTo>
                    <a:pt x="212756" y="19847"/>
                  </a:lnTo>
                  <a:lnTo>
                    <a:pt x="269240" y="9065"/>
                  </a:lnTo>
                  <a:lnTo>
                    <a:pt x="329815" y="2327"/>
                  </a:lnTo>
                  <a:lnTo>
                    <a:pt x="393671" y="0"/>
                  </a:lnTo>
                  <a:lnTo>
                    <a:pt x="457526" y="2327"/>
                  </a:lnTo>
                  <a:lnTo>
                    <a:pt x="518100" y="9065"/>
                  </a:lnTo>
                  <a:lnTo>
                    <a:pt x="574584" y="19847"/>
                  </a:lnTo>
                  <a:lnTo>
                    <a:pt x="626167" y="34308"/>
                  </a:lnTo>
                  <a:lnTo>
                    <a:pt x="672038" y="52082"/>
                  </a:lnTo>
                  <a:lnTo>
                    <a:pt x="711386" y="72801"/>
                  </a:lnTo>
                  <a:lnTo>
                    <a:pt x="743401" y="96101"/>
                  </a:lnTo>
                  <a:lnTo>
                    <a:pt x="782190" y="148977"/>
                  </a:lnTo>
                  <a:lnTo>
                    <a:pt x="787342" y="177820"/>
                  </a:lnTo>
                  <a:lnTo>
                    <a:pt x="782190" y="206664"/>
                  </a:lnTo>
                  <a:lnTo>
                    <a:pt x="743401" y="259540"/>
                  </a:lnTo>
                  <a:lnTo>
                    <a:pt x="711386" y="282839"/>
                  </a:lnTo>
                  <a:lnTo>
                    <a:pt x="672038" y="303559"/>
                  </a:lnTo>
                  <a:lnTo>
                    <a:pt x="626167" y="321332"/>
                  </a:lnTo>
                  <a:lnTo>
                    <a:pt x="574584" y="335793"/>
                  </a:lnTo>
                  <a:lnTo>
                    <a:pt x="518100" y="346576"/>
                  </a:lnTo>
                  <a:lnTo>
                    <a:pt x="457526" y="353314"/>
                  </a:lnTo>
                  <a:lnTo>
                    <a:pt x="393671" y="35564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400830" y="2194555"/>
              <a:ext cx="787400" cy="356235"/>
            </a:xfrm>
            <a:custGeom>
              <a:avLst/>
              <a:gdLst/>
              <a:ahLst/>
              <a:cxnLst/>
              <a:rect l="l" t="t" r="r" b="b"/>
              <a:pathLst>
                <a:path w="787400" h="356235">
                  <a:moveTo>
                    <a:pt x="0" y="177820"/>
                  </a:moveTo>
                  <a:lnTo>
                    <a:pt x="20069" y="121615"/>
                  </a:lnTo>
                  <a:lnTo>
                    <a:pt x="75955" y="72801"/>
                  </a:lnTo>
                  <a:lnTo>
                    <a:pt x="115303" y="52082"/>
                  </a:lnTo>
                  <a:lnTo>
                    <a:pt x="161173" y="34308"/>
                  </a:lnTo>
                  <a:lnTo>
                    <a:pt x="212756" y="19847"/>
                  </a:lnTo>
                  <a:lnTo>
                    <a:pt x="269240" y="9065"/>
                  </a:lnTo>
                  <a:lnTo>
                    <a:pt x="329815" y="2327"/>
                  </a:lnTo>
                  <a:lnTo>
                    <a:pt x="393671" y="0"/>
                  </a:lnTo>
                  <a:lnTo>
                    <a:pt x="457526" y="2327"/>
                  </a:lnTo>
                  <a:lnTo>
                    <a:pt x="518100" y="9065"/>
                  </a:lnTo>
                  <a:lnTo>
                    <a:pt x="574584" y="19847"/>
                  </a:lnTo>
                  <a:lnTo>
                    <a:pt x="626167" y="34308"/>
                  </a:lnTo>
                  <a:lnTo>
                    <a:pt x="672038" y="52082"/>
                  </a:lnTo>
                  <a:lnTo>
                    <a:pt x="711386" y="72801"/>
                  </a:lnTo>
                  <a:lnTo>
                    <a:pt x="743401" y="96101"/>
                  </a:lnTo>
                  <a:lnTo>
                    <a:pt x="782190" y="148977"/>
                  </a:lnTo>
                  <a:lnTo>
                    <a:pt x="787342" y="177820"/>
                  </a:lnTo>
                  <a:lnTo>
                    <a:pt x="782190" y="206664"/>
                  </a:lnTo>
                  <a:lnTo>
                    <a:pt x="743401" y="259540"/>
                  </a:lnTo>
                  <a:lnTo>
                    <a:pt x="711386" y="282839"/>
                  </a:lnTo>
                  <a:lnTo>
                    <a:pt x="672038" y="303559"/>
                  </a:lnTo>
                  <a:lnTo>
                    <a:pt x="626167" y="321332"/>
                  </a:lnTo>
                  <a:lnTo>
                    <a:pt x="574584" y="335793"/>
                  </a:lnTo>
                  <a:lnTo>
                    <a:pt x="518100" y="346576"/>
                  </a:lnTo>
                  <a:lnTo>
                    <a:pt x="457526" y="353314"/>
                  </a:lnTo>
                  <a:lnTo>
                    <a:pt x="393671" y="355641"/>
                  </a:lnTo>
                  <a:lnTo>
                    <a:pt x="329815" y="353314"/>
                  </a:lnTo>
                  <a:lnTo>
                    <a:pt x="269240" y="346576"/>
                  </a:lnTo>
                  <a:lnTo>
                    <a:pt x="212756" y="335793"/>
                  </a:lnTo>
                  <a:lnTo>
                    <a:pt x="161173" y="321332"/>
                  </a:lnTo>
                  <a:lnTo>
                    <a:pt x="115303" y="303559"/>
                  </a:lnTo>
                  <a:lnTo>
                    <a:pt x="75955" y="282839"/>
                  </a:lnTo>
                  <a:lnTo>
                    <a:pt x="43940" y="259540"/>
                  </a:lnTo>
                  <a:lnTo>
                    <a:pt x="5152" y="206664"/>
                  </a:lnTo>
                  <a:lnTo>
                    <a:pt x="0" y="1778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6718989" y="2282832"/>
            <a:ext cx="151130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75">
                <a:latin typeface="Times New Roman"/>
                <a:cs typeface="Times New Roman"/>
              </a:rPr>
              <a:t>NR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5768175" y="1331463"/>
            <a:ext cx="2936875" cy="1801495"/>
            <a:chOff x="5768175" y="1331463"/>
            <a:chExt cx="2936875" cy="1801495"/>
          </a:xfrm>
        </p:grpSpPr>
        <p:sp>
          <p:nvSpPr>
            <p:cNvPr id="82" name="object 82" descr=""/>
            <p:cNvSpPr/>
            <p:nvPr/>
          </p:nvSpPr>
          <p:spPr>
            <a:xfrm>
              <a:off x="7005847" y="2292358"/>
              <a:ext cx="64135" cy="80645"/>
            </a:xfrm>
            <a:custGeom>
              <a:avLst/>
              <a:gdLst/>
              <a:ahLst/>
              <a:cxnLst/>
              <a:rect l="l" t="t" r="r" b="b"/>
              <a:pathLst>
                <a:path w="64134" h="80644">
                  <a:moveTo>
                    <a:pt x="44996" y="80018"/>
                  </a:moveTo>
                  <a:lnTo>
                    <a:pt x="0" y="80018"/>
                  </a:lnTo>
                  <a:lnTo>
                    <a:pt x="30346" y="0"/>
                  </a:lnTo>
                  <a:lnTo>
                    <a:pt x="63736" y="39024"/>
                  </a:lnTo>
                  <a:lnTo>
                    <a:pt x="62208" y="55176"/>
                  </a:lnTo>
                  <a:lnTo>
                    <a:pt x="55801" y="69454"/>
                  </a:lnTo>
                  <a:lnTo>
                    <a:pt x="44996" y="800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86752" y="2181783"/>
              <a:ext cx="36626" cy="25552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6986762" y="2181777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36620" y="12779"/>
                  </a:moveTo>
                  <a:lnTo>
                    <a:pt x="36620" y="5722"/>
                  </a:lnTo>
                  <a:lnTo>
                    <a:pt x="28423" y="0"/>
                  </a:lnTo>
                  <a:lnTo>
                    <a:pt x="18307" y="0"/>
                  </a:lnTo>
                  <a:lnTo>
                    <a:pt x="8197" y="0"/>
                  </a:lnTo>
                  <a:lnTo>
                    <a:pt x="0" y="5722"/>
                  </a:lnTo>
                  <a:lnTo>
                    <a:pt x="0" y="12779"/>
                  </a:lnTo>
                  <a:lnTo>
                    <a:pt x="0" y="19836"/>
                  </a:lnTo>
                  <a:lnTo>
                    <a:pt x="8197" y="25559"/>
                  </a:lnTo>
                  <a:lnTo>
                    <a:pt x="18307" y="25559"/>
                  </a:lnTo>
                  <a:lnTo>
                    <a:pt x="28423" y="25559"/>
                  </a:lnTo>
                  <a:lnTo>
                    <a:pt x="36620" y="19836"/>
                  </a:lnTo>
                  <a:lnTo>
                    <a:pt x="36620" y="12779"/>
                  </a:lnTo>
                  <a:close/>
                </a:path>
              </a:pathLst>
            </a:custGeom>
            <a:ln w="5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968762" y="2193379"/>
              <a:ext cx="73660" cy="179070"/>
            </a:xfrm>
            <a:custGeom>
              <a:avLst/>
              <a:gdLst/>
              <a:ahLst/>
              <a:cxnLst/>
              <a:rect l="l" t="t" r="r" b="b"/>
              <a:pathLst>
                <a:path w="73659" h="179069">
                  <a:moveTo>
                    <a:pt x="72615" y="150097"/>
                  </a:moveTo>
                  <a:lnTo>
                    <a:pt x="54540" y="5"/>
                  </a:lnTo>
                  <a:lnTo>
                    <a:pt x="49717" y="7790"/>
                  </a:lnTo>
                  <a:lnTo>
                    <a:pt x="43041" y="12559"/>
                  </a:lnTo>
                  <a:lnTo>
                    <a:pt x="18075" y="0"/>
                  </a:lnTo>
                  <a:lnTo>
                    <a:pt x="0" y="150109"/>
                  </a:lnTo>
                  <a:lnTo>
                    <a:pt x="999" y="160235"/>
                  </a:lnTo>
                  <a:lnTo>
                    <a:pt x="7265" y="169005"/>
                  </a:lnTo>
                  <a:lnTo>
                    <a:pt x="17785" y="175496"/>
                  </a:lnTo>
                  <a:lnTo>
                    <a:pt x="31543" y="178785"/>
                  </a:lnTo>
                  <a:lnTo>
                    <a:pt x="46050" y="178087"/>
                  </a:lnTo>
                  <a:lnTo>
                    <a:pt x="58612" y="173713"/>
                  </a:lnTo>
                  <a:lnTo>
                    <a:pt x="67907" y="166372"/>
                  </a:lnTo>
                  <a:lnTo>
                    <a:pt x="72615" y="156772"/>
                  </a:lnTo>
                  <a:lnTo>
                    <a:pt x="73032" y="154561"/>
                  </a:lnTo>
                  <a:lnTo>
                    <a:pt x="73032" y="152314"/>
                  </a:lnTo>
                  <a:lnTo>
                    <a:pt x="72615" y="150103"/>
                  </a:lnTo>
                  <a:close/>
                </a:path>
              </a:pathLst>
            </a:custGeom>
            <a:ln w="47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68769" y="2193379"/>
              <a:ext cx="73024" cy="178777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6995914" y="2067140"/>
              <a:ext cx="18415" cy="22225"/>
            </a:xfrm>
            <a:custGeom>
              <a:avLst/>
              <a:gdLst/>
              <a:ahLst/>
              <a:cxnLst/>
              <a:rect l="l" t="t" r="r" b="b"/>
              <a:pathLst>
                <a:path w="18415" h="22225">
                  <a:moveTo>
                    <a:pt x="18312" y="11115"/>
                  </a:moveTo>
                  <a:lnTo>
                    <a:pt x="18312" y="4975"/>
                  </a:lnTo>
                  <a:lnTo>
                    <a:pt x="14214" y="0"/>
                  </a:lnTo>
                  <a:lnTo>
                    <a:pt x="9156" y="0"/>
                  </a:lnTo>
                  <a:lnTo>
                    <a:pt x="4103" y="0"/>
                  </a:lnTo>
                  <a:lnTo>
                    <a:pt x="0" y="4975"/>
                  </a:lnTo>
                  <a:lnTo>
                    <a:pt x="0" y="11115"/>
                  </a:lnTo>
                  <a:lnTo>
                    <a:pt x="0" y="17255"/>
                  </a:lnTo>
                  <a:lnTo>
                    <a:pt x="4103" y="22230"/>
                  </a:lnTo>
                  <a:lnTo>
                    <a:pt x="9156" y="22230"/>
                  </a:lnTo>
                  <a:lnTo>
                    <a:pt x="14214" y="22230"/>
                  </a:lnTo>
                  <a:lnTo>
                    <a:pt x="18312" y="17255"/>
                  </a:lnTo>
                  <a:lnTo>
                    <a:pt x="18312" y="11115"/>
                  </a:lnTo>
                  <a:close/>
                </a:path>
              </a:pathLst>
            </a:custGeom>
            <a:ln w="50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005071" y="2089367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w="0" h="105410">
                  <a:moveTo>
                    <a:pt x="0" y="105189"/>
                  </a:moveTo>
                  <a:lnTo>
                    <a:pt x="0" y="0"/>
                  </a:lnTo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959293" y="2038958"/>
              <a:ext cx="92075" cy="78740"/>
            </a:xfrm>
            <a:custGeom>
              <a:avLst/>
              <a:gdLst/>
              <a:ahLst/>
              <a:cxnLst/>
              <a:rect l="l" t="t" r="r" b="b"/>
              <a:pathLst>
                <a:path w="92075" h="78739">
                  <a:moveTo>
                    <a:pt x="26356" y="15720"/>
                  </a:moveTo>
                  <a:lnTo>
                    <a:pt x="20323" y="26750"/>
                  </a:lnTo>
                  <a:lnTo>
                    <a:pt x="18312" y="39297"/>
                  </a:lnTo>
                  <a:lnTo>
                    <a:pt x="20323" y="51844"/>
                  </a:lnTo>
                  <a:lnTo>
                    <a:pt x="26356" y="62874"/>
                  </a:lnTo>
                </a:path>
                <a:path w="92075" h="78739">
                  <a:moveTo>
                    <a:pt x="65200" y="62874"/>
                  </a:moveTo>
                  <a:lnTo>
                    <a:pt x="71231" y="51842"/>
                  </a:lnTo>
                  <a:lnTo>
                    <a:pt x="73241" y="39295"/>
                  </a:lnTo>
                  <a:lnTo>
                    <a:pt x="71231" y="26749"/>
                  </a:lnTo>
                  <a:lnTo>
                    <a:pt x="65200" y="15720"/>
                  </a:lnTo>
                </a:path>
                <a:path w="92075" h="78739">
                  <a:moveTo>
                    <a:pt x="13407" y="0"/>
                  </a:moveTo>
                  <a:lnTo>
                    <a:pt x="3351" y="18383"/>
                  </a:lnTo>
                  <a:lnTo>
                    <a:pt x="0" y="39294"/>
                  </a:lnTo>
                  <a:lnTo>
                    <a:pt x="3351" y="60206"/>
                  </a:lnTo>
                  <a:lnTo>
                    <a:pt x="13407" y="78589"/>
                  </a:lnTo>
                </a:path>
                <a:path w="92075" h="78739">
                  <a:moveTo>
                    <a:pt x="78150" y="78589"/>
                  </a:moveTo>
                  <a:lnTo>
                    <a:pt x="88203" y="60206"/>
                  </a:lnTo>
                  <a:lnTo>
                    <a:pt x="91554" y="39296"/>
                  </a:lnTo>
                  <a:lnTo>
                    <a:pt x="88203" y="18385"/>
                  </a:lnTo>
                  <a:lnTo>
                    <a:pt x="78150" y="0"/>
                  </a:lnTo>
                </a:path>
              </a:pathLst>
            </a:custGeom>
            <a:ln w="5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968760" y="2067140"/>
              <a:ext cx="73660" cy="305435"/>
            </a:xfrm>
            <a:custGeom>
              <a:avLst/>
              <a:gdLst/>
              <a:ahLst/>
              <a:cxnLst/>
              <a:rect l="l" t="t" r="r" b="b"/>
              <a:pathLst>
                <a:path w="73659" h="305435">
                  <a:moveTo>
                    <a:pt x="36310" y="114634"/>
                  </a:moveTo>
                  <a:lnTo>
                    <a:pt x="26858" y="114646"/>
                  </a:lnTo>
                  <a:lnTo>
                    <a:pt x="18961" y="119668"/>
                  </a:lnTo>
                  <a:lnTo>
                    <a:pt x="18075" y="126237"/>
                  </a:lnTo>
                  <a:lnTo>
                    <a:pt x="0" y="276346"/>
                  </a:lnTo>
                  <a:lnTo>
                    <a:pt x="999" y="286473"/>
                  </a:lnTo>
                  <a:lnTo>
                    <a:pt x="7265" y="295242"/>
                  </a:lnTo>
                  <a:lnTo>
                    <a:pt x="17785" y="301731"/>
                  </a:lnTo>
                  <a:lnTo>
                    <a:pt x="31543" y="305017"/>
                  </a:lnTo>
                  <a:lnTo>
                    <a:pt x="46052" y="304322"/>
                  </a:lnTo>
                  <a:lnTo>
                    <a:pt x="58614" y="299950"/>
                  </a:lnTo>
                  <a:lnTo>
                    <a:pt x="67910" y="292610"/>
                  </a:lnTo>
                  <a:lnTo>
                    <a:pt x="72620" y="283010"/>
                  </a:lnTo>
                  <a:lnTo>
                    <a:pt x="73037" y="280798"/>
                  </a:lnTo>
                  <a:lnTo>
                    <a:pt x="73037" y="278552"/>
                  </a:lnTo>
                  <a:lnTo>
                    <a:pt x="72620" y="276340"/>
                  </a:lnTo>
                  <a:lnTo>
                    <a:pt x="54680" y="127402"/>
                  </a:lnTo>
                  <a:lnTo>
                    <a:pt x="54656" y="120338"/>
                  </a:lnTo>
                  <a:lnTo>
                    <a:pt x="46435" y="114622"/>
                  </a:lnTo>
                  <a:lnTo>
                    <a:pt x="36310" y="114634"/>
                  </a:lnTo>
                </a:path>
                <a:path w="73659" h="305435">
                  <a:moveTo>
                    <a:pt x="45466" y="11115"/>
                  </a:moveTo>
                  <a:lnTo>
                    <a:pt x="45466" y="4975"/>
                  </a:lnTo>
                  <a:lnTo>
                    <a:pt x="41367" y="0"/>
                  </a:lnTo>
                  <a:lnTo>
                    <a:pt x="36310" y="0"/>
                  </a:lnTo>
                  <a:lnTo>
                    <a:pt x="31252" y="0"/>
                  </a:lnTo>
                  <a:lnTo>
                    <a:pt x="27153" y="4975"/>
                  </a:lnTo>
                  <a:lnTo>
                    <a:pt x="27153" y="11115"/>
                  </a:lnTo>
                  <a:lnTo>
                    <a:pt x="27153" y="17255"/>
                  </a:lnTo>
                  <a:lnTo>
                    <a:pt x="31252" y="22230"/>
                  </a:lnTo>
                  <a:lnTo>
                    <a:pt x="36310" y="22230"/>
                  </a:lnTo>
                  <a:lnTo>
                    <a:pt x="41367" y="22230"/>
                  </a:lnTo>
                  <a:lnTo>
                    <a:pt x="45466" y="17255"/>
                  </a:lnTo>
                  <a:lnTo>
                    <a:pt x="45466" y="11115"/>
                  </a:lnTo>
                  <a:close/>
                </a:path>
                <a:path w="73659" h="305435">
                  <a:moveTo>
                    <a:pt x="36310" y="114634"/>
                  </a:moveTo>
                  <a:lnTo>
                    <a:pt x="36310" y="22230"/>
                  </a:lnTo>
                </a:path>
              </a:pathLst>
            </a:custGeom>
            <a:ln w="1072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788399" y="1723197"/>
              <a:ext cx="635" cy="472440"/>
            </a:xfrm>
            <a:custGeom>
              <a:avLst/>
              <a:gdLst/>
              <a:ahLst/>
              <a:cxnLst/>
              <a:rect l="l" t="t" r="r" b="b"/>
              <a:pathLst>
                <a:path w="634" h="472439">
                  <a:moveTo>
                    <a:pt x="155" y="0"/>
                  </a:moveTo>
                  <a:lnTo>
                    <a:pt x="0" y="471887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35344" y="2916504"/>
              <a:ext cx="173950" cy="210953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6235317" y="3047395"/>
              <a:ext cx="33655" cy="46990"/>
            </a:xfrm>
            <a:custGeom>
              <a:avLst/>
              <a:gdLst/>
              <a:ahLst/>
              <a:cxnLst/>
              <a:rect l="l" t="t" r="r" b="b"/>
              <a:pathLst>
                <a:path w="33654" h="46989">
                  <a:moveTo>
                    <a:pt x="30223" y="32796"/>
                  </a:moveTo>
                  <a:lnTo>
                    <a:pt x="33109" y="23753"/>
                  </a:lnTo>
                  <a:lnTo>
                    <a:pt x="33438" y="14947"/>
                  </a:lnTo>
                  <a:lnTo>
                    <a:pt x="31319" y="7369"/>
                  </a:lnTo>
                  <a:lnTo>
                    <a:pt x="26861" y="2008"/>
                  </a:lnTo>
                  <a:lnTo>
                    <a:pt x="20808" y="0"/>
                  </a:lnTo>
                  <a:lnTo>
                    <a:pt x="14342" y="1561"/>
                  </a:lnTo>
                  <a:lnTo>
                    <a:pt x="8223" y="6310"/>
                  </a:lnTo>
                  <a:lnTo>
                    <a:pt x="3214" y="13865"/>
                  </a:lnTo>
                  <a:lnTo>
                    <a:pt x="329" y="22910"/>
                  </a:lnTo>
                  <a:lnTo>
                    <a:pt x="0" y="31717"/>
                  </a:lnTo>
                  <a:lnTo>
                    <a:pt x="2118" y="39295"/>
                  </a:lnTo>
                  <a:lnTo>
                    <a:pt x="6577" y="44652"/>
                  </a:lnTo>
                  <a:lnTo>
                    <a:pt x="12631" y="46661"/>
                  </a:lnTo>
                  <a:lnTo>
                    <a:pt x="19097" y="45100"/>
                  </a:lnTo>
                  <a:lnTo>
                    <a:pt x="25215" y="40351"/>
                  </a:lnTo>
                  <a:lnTo>
                    <a:pt x="30223" y="32796"/>
                  </a:lnTo>
                  <a:close/>
                </a:path>
              </a:pathLst>
            </a:custGeom>
            <a:ln w="49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35344" y="3028759"/>
              <a:ext cx="100787" cy="74612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6135335" y="3028755"/>
              <a:ext cx="100965" cy="74930"/>
            </a:xfrm>
            <a:custGeom>
              <a:avLst/>
              <a:gdLst/>
              <a:ahLst/>
              <a:cxnLst/>
              <a:rect l="l" t="t" r="r" b="b"/>
              <a:pathLst>
                <a:path w="100964" h="74930">
                  <a:moveTo>
                    <a:pt x="46454" y="0"/>
                  </a:moveTo>
                  <a:lnTo>
                    <a:pt x="5396" y="28611"/>
                  </a:lnTo>
                  <a:lnTo>
                    <a:pt x="0" y="41573"/>
                  </a:lnTo>
                  <a:lnTo>
                    <a:pt x="2871" y="50218"/>
                  </a:lnTo>
                  <a:lnTo>
                    <a:pt x="38376" y="74615"/>
                  </a:lnTo>
                  <a:lnTo>
                    <a:pt x="48289" y="73782"/>
                  </a:lnTo>
                  <a:lnTo>
                    <a:pt x="57980" y="70420"/>
                  </a:lnTo>
                  <a:lnTo>
                    <a:pt x="100791" y="39144"/>
                  </a:lnTo>
                  <a:lnTo>
                    <a:pt x="46454" y="0"/>
                  </a:lnTo>
                  <a:close/>
                </a:path>
              </a:pathLst>
            </a:custGeom>
            <a:ln w="52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94475" y="2916034"/>
              <a:ext cx="96891" cy="132333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6194476" y="2916503"/>
              <a:ext cx="97155" cy="132080"/>
            </a:xfrm>
            <a:custGeom>
              <a:avLst/>
              <a:gdLst/>
              <a:ahLst/>
              <a:cxnLst/>
              <a:rect l="l" t="t" r="r" b="b"/>
              <a:pathLst>
                <a:path w="97154" h="132080">
                  <a:moveTo>
                    <a:pt x="0" y="91874"/>
                  </a:moveTo>
                  <a:lnTo>
                    <a:pt x="56497" y="131865"/>
                  </a:lnTo>
                  <a:lnTo>
                    <a:pt x="60232" y="130948"/>
                  </a:lnTo>
                  <a:lnTo>
                    <a:pt x="92328" y="62363"/>
                  </a:lnTo>
                  <a:lnTo>
                    <a:pt x="96890" y="46053"/>
                  </a:lnTo>
                  <a:lnTo>
                    <a:pt x="96078" y="29536"/>
                  </a:lnTo>
                  <a:lnTo>
                    <a:pt x="73632" y="0"/>
                  </a:lnTo>
                  <a:lnTo>
                    <a:pt x="61555" y="132"/>
                  </a:lnTo>
                  <a:lnTo>
                    <a:pt x="50169" y="4363"/>
                  </a:lnTo>
                  <a:lnTo>
                    <a:pt x="40136" y="12315"/>
                  </a:lnTo>
                  <a:lnTo>
                    <a:pt x="32119" y="23612"/>
                  </a:lnTo>
                  <a:lnTo>
                    <a:pt x="0" y="91874"/>
                  </a:lnTo>
                  <a:close/>
                </a:path>
              </a:pathLst>
            </a:custGeom>
            <a:ln w="4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81788" y="3008376"/>
              <a:ext cx="69189" cy="5952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6181790" y="3008377"/>
              <a:ext cx="69215" cy="59690"/>
            </a:xfrm>
            <a:custGeom>
              <a:avLst/>
              <a:gdLst/>
              <a:ahLst/>
              <a:cxnLst/>
              <a:rect l="l" t="t" r="r" b="b"/>
              <a:pathLst>
                <a:path w="69214" h="59689">
                  <a:moveTo>
                    <a:pt x="0" y="20377"/>
                  </a:moveTo>
                  <a:lnTo>
                    <a:pt x="54336" y="59522"/>
                  </a:lnTo>
                  <a:lnTo>
                    <a:pt x="56521" y="50459"/>
                  </a:lnTo>
                  <a:lnTo>
                    <a:pt x="62020" y="43226"/>
                  </a:lnTo>
                  <a:lnTo>
                    <a:pt x="69185" y="39991"/>
                  </a:lnTo>
                  <a:lnTo>
                    <a:pt x="12687" y="0"/>
                  </a:lnTo>
                  <a:lnTo>
                    <a:pt x="5983" y="3734"/>
                  </a:lnTo>
                  <a:lnTo>
                    <a:pt x="1220" y="11379"/>
                  </a:lnTo>
                  <a:lnTo>
                    <a:pt x="0" y="20377"/>
                  </a:lnTo>
                  <a:close/>
                </a:path>
              </a:pathLst>
            </a:custGeom>
            <a:ln w="5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164561" y="3069624"/>
              <a:ext cx="9525" cy="8890"/>
            </a:xfrm>
            <a:custGeom>
              <a:avLst/>
              <a:gdLst/>
              <a:ahLst/>
              <a:cxnLst/>
              <a:rect l="l" t="t" r="r" b="b"/>
              <a:pathLst>
                <a:path w="9525" h="8889">
                  <a:moveTo>
                    <a:pt x="3153" y="8656"/>
                  </a:moveTo>
                  <a:lnTo>
                    <a:pt x="867" y="7698"/>
                  </a:lnTo>
                  <a:lnTo>
                    <a:pt x="0" y="3769"/>
                  </a:lnTo>
                  <a:lnTo>
                    <a:pt x="1584" y="1552"/>
                  </a:lnTo>
                  <a:lnTo>
                    <a:pt x="6356" y="0"/>
                  </a:lnTo>
                  <a:lnTo>
                    <a:pt x="8642" y="958"/>
                  </a:lnTo>
                  <a:lnTo>
                    <a:pt x="9073" y="2922"/>
                  </a:lnTo>
                  <a:lnTo>
                    <a:pt x="9505" y="4887"/>
                  </a:lnTo>
                  <a:lnTo>
                    <a:pt x="7925" y="7104"/>
                  </a:lnTo>
                  <a:lnTo>
                    <a:pt x="3153" y="8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164561" y="3069624"/>
              <a:ext cx="9525" cy="8890"/>
            </a:xfrm>
            <a:custGeom>
              <a:avLst/>
              <a:gdLst/>
              <a:ahLst/>
              <a:cxnLst/>
              <a:rect l="l" t="t" r="r" b="b"/>
              <a:pathLst>
                <a:path w="9525" h="8889">
                  <a:moveTo>
                    <a:pt x="9073" y="2922"/>
                  </a:moveTo>
                  <a:lnTo>
                    <a:pt x="8642" y="958"/>
                  </a:lnTo>
                  <a:lnTo>
                    <a:pt x="6356" y="0"/>
                  </a:lnTo>
                  <a:lnTo>
                    <a:pt x="3967" y="776"/>
                  </a:lnTo>
                  <a:lnTo>
                    <a:pt x="1584" y="1552"/>
                  </a:lnTo>
                  <a:lnTo>
                    <a:pt x="0" y="3769"/>
                  </a:lnTo>
                  <a:lnTo>
                    <a:pt x="436" y="5734"/>
                  </a:lnTo>
                  <a:lnTo>
                    <a:pt x="867" y="7698"/>
                  </a:lnTo>
                  <a:lnTo>
                    <a:pt x="3153" y="8656"/>
                  </a:lnTo>
                  <a:lnTo>
                    <a:pt x="5537" y="7880"/>
                  </a:lnTo>
                  <a:lnTo>
                    <a:pt x="7925" y="7104"/>
                  </a:lnTo>
                  <a:lnTo>
                    <a:pt x="9505" y="4887"/>
                  </a:lnTo>
                  <a:lnTo>
                    <a:pt x="9073" y="2922"/>
                  </a:lnTo>
                  <a:close/>
                </a:path>
              </a:pathLst>
            </a:custGeom>
            <a:ln w="5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5133" y="2924619"/>
              <a:ext cx="60721" cy="70383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6225134" y="2924611"/>
              <a:ext cx="60960" cy="70485"/>
            </a:xfrm>
            <a:custGeom>
              <a:avLst/>
              <a:gdLst/>
              <a:ahLst/>
              <a:cxnLst/>
              <a:rect l="l" t="t" r="r" b="b"/>
              <a:pathLst>
                <a:path w="60960" h="70485">
                  <a:moveTo>
                    <a:pt x="0" y="35980"/>
                  </a:moveTo>
                  <a:lnTo>
                    <a:pt x="48949" y="70390"/>
                  </a:lnTo>
                  <a:lnTo>
                    <a:pt x="57069" y="52094"/>
                  </a:lnTo>
                  <a:lnTo>
                    <a:pt x="60720" y="39046"/>
                  </a:lnTo>
                  <a:lnTo>
                    <a:pt x="42622" y="1611"/>
                  </a:lnTo>
                  <a:lnTo>
                    <a:pt x="37719" y="0"/>
                  </a:lnTo>
                  <a:lnTo>
                    <a:pt x="32715" y="5"/>
                  </a:lnTo>
                  <a:lnTo>
                    <a:pt x="25448" y="1965"/>
                  </a:lnTo>
                  <a:lnTo>
                    <a:pt x="18809" y="5834"/>
                  </a:lnTo>
                  <a:lnTo>
                    <a:pt x="13037" y="11429"/>
                  </a:lnTo>
                  <a:lnTo>
                    <a:pt x="8376" y="18566"/>
                  </a:lnTo>
                  <a:lnTo>
                    <a:pt x="0" y="35980"/>
                  </a:lnTo>
                  <a:close/>
                </a:path>
              </a:pathLst>
            </a:custGeom>
            <a:ln w="5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135333" y="2916225"/>
              <a:ext cx="173990" cy="211454"/>
            </a:xfrm>
            <a:custGeom>
              <a:avLst/>
              <a:gdLst/>
              <a:ahLst/>
              <a:cxnLst/>
              <a:rect l="l" t="t" r="r" b="b"/>
              <a:pathLst>
                <a:path w="173989" h="211455">
                  <a:moveTo>
                    <a:pt x="59142" y="92152"/>
                  </a:moveTo>
                  <a:lnTo>
                    <a:pt x="52520" y="96016"/>
                  </a:lnTo>
                  <a:lnTo>
                    <a:pt x="47801" y="103596"/>
                  </a:lnTo>
                  <a:lnTo>
                    <a:pt x="46454" y="112530"/>
                  </a:lnTo>
                  <a:lnTo>
                    <a:pt x="5401" y="141141"/>
                  </a:lnTo>
                  <a:lnTo>
                    <a:pt x="2131" y="144247"/>
                  </a:lnTo>
                  <a:lnTo>
                    <a:pt x="150" y="148998"/>
                  </a:lnTo>
                  <a:lnTo>
                    <a:pt x="0" y="154103"/>
                  </a:lnTo>
                  <a:lnTo>
                    <a:pt x="33" y="179157"/>
                  </a:lnTo>
                  <a:lnTo>
                    <a:pt x="30007" y="209974"/>
                  </a:lnTo>
                  <a:lnTo>
                    <a:pt x="37733" y="211008"/>
                  </a:lnTo>
                  <a:lnTo>
                    <a:pt x="45476" y="210922"/>
                  </a:lnTo>
                  <a:lnTo>
                    <a:pt x="53159" y="209722"/>
                  </a:lnTo>
                  <a:lnTo>
                    <a:pt x="60702" y="207415"/>
                  </a:lnTo>
                  <a:lnTo>
                    <a:pt x="104614" y="176010"/>
                  </a:lnTo>
                  <a:lnTo>
                    <a:pt x="111338" y="177714"/>
                  </a:lnTo>
                  <a:lnTo>
                    <a:pt x="133139" y="153439"/>
                  </a:lnTo>
                  <a:lnTo>
                    <a:pt x="132189" y="146470"/>
                  </a:lnTo>
                  <a:lnTo>
                    <a:pt x="172729" y="63058"/>
                  </a:lnTo>
                  <a:lnTo>
                    <a:pt x="173872" y="48537"/>
                  </a:lnTo>
                  <a:lnTo>
                    <a:pt x="171298" y="34663"/>
                  </a:lnTo>
                  <a:lnTo>
                    <a:pt x="165350" y="22491"/>
                  </a:lnTo>
                  <a:lnTo>
                    <a:pt x="156373" y="13075"/>
                  </a:lnTo>
                  <a:lnTo>
                    <a:pt x="132775" y="277"/>
                  </a:lnTo>
                  <a:lnTo>
                    <a:pt x="120565" y="0"/>
                  </a:lnTo>
                  <a:lnTo>
                    <a:pt x="109081" y="4124"/>
                  </a:lnTo>
                  <a:lnTo>
                    <a:pt x="99065" y="12229"/>
                  </a:lnTo>
                  <a:lnTo>
                    <a:pt x="91262" y="23890"/>
                  </a:lnTo>
                  <a:lnTo>
                    <a:pt x="59142" y="92152"/>
                  </a:lnTo>
                </a:path>
              </a:pathLst>
            </a:custGeom>
            <a:ln w="10527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09105" y="2972270"/>
              <a:ext cx="53162" cy="62001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6216165" y="2976753"/>
              <a:ext cx="42545" cy="53975"/>
            </a:xfrm>
            <a:custGeom>
              <a:avLst/>
              <a:gdLst/>
              <a:ahLst/>
              <a:cxnLst/>
              <a:rect l="l" t="t" r="r" b="b"/>
              <a:pathLst>
                <a:path w="42545" h="53975">
                  <a:moveTo>
                    <a:pt x="24562" y="45072"/>
                  </a:moveTo>
                  <a:lnTo>
                    <a:pt x="28147" y="47519"/>
                  </a:lnTo>
                  <a:lnTo>
                    <a:pt x="28505" y="49524"/>
                  </a:lnTo>
                  <a:lnTo>
                    <a:pt x="26713" y="53753"/>
                  </a:lnTo>
                </a:path>
                <a:path w="42545" h="53975">
                  <a:moveTo>
                    <a:pt x="12281" y="36503"/>
                  </a:moveTo>
                  <a:lnTo>
                    <a:pt x="15866" y="38950"/>
                  </a:lnTo>
                  <a:lnTo>
                    <a:pt x="16224" y="40955"/>
                  </a:lnTo>
                  <a:lnTo>
                    <a:pt x="14432" y="45184"/>
                  </a:lnTo>
                </a:path>
                <a:path w="42545" h="53975">
                  <a:moveTo>
                    <a:pt x="0" y="28376"/>
                  </a:moveTo>
                  <a:lnTo>
                    <a:pt x="3584" y="30828"/>
                  </a:lnTo>
                  <a:lnTo>
                    <a:pt x="3943" y="32828"/>
                  </a:lnTo>
                  <a:lnTo>
                    <a:pt x="2150" y="37056"/>
                  </a:lnTo>
                </a:path>
                <a:path w="42545" h="53975">
                  <a:moveTo>
                    <a:pt x="7082" y="13797"/>
                  </a:moveTo>
                  <a:lnTo>
                    <a:pt x="10667" y="16249"/>
                  </a:lnTo>
                  <a:lnTo>
                    <a:pt x="11026" y="18249"/>
                  </a:lnTo>
                  <a:lnTo>
                    <a:pt x="9233" y="22477"/>
                  </a:lnTo>
                </a:path>
                <a:path w="42545" h="53975">
                  <a:moveTo>
                    <a:pt x="13986" y="0"/>
                  </a:moveTo>
                  <a:lnTo>
                    <a:pt x="17571" y="2446"/>
                  </a:lnTo>
                  <a:lnTo>
                    <a:pt x="17929" y="4451"/>
                  </a:lnTo>
                  <a:lnTo>
                    <a:pt x="16137" y="8680"/>
                  </a:lnTo>
                </a:path>
                <a:path w="42545" h="53975">
                  <a:moveTo>
                    <a:pt x="26267" y="8121"/>
                  </a:moveTo>
                  <a:lnTo>
                    <a:pt x="29852" y="10574"/>
                  </a:lnTo>
                  <a:lnTo>
                    <a:pt x="30210" y="12573"/>
                  </a:lnTo>
                  <a:lnTo>
                    <a:pt x="28418" y="16802"/>
                  </a:lnTo>
                </a:path>
                <a:path w="42545" h="53975">
                  <a:moveTo>
                    <a:pt x="38548" y="16690"/>
                  </a:moveTo>
                  <a:lnTo>
                    <a:pt x="42133" y="19142"/>
                  </a:lnTo>
                  <a:lnTo>
                    <a:pt x="42491" y="21142"/>
                  </a:lnTo>
                  <a:lnTo>
                    <a:pt x="40699" y="25371"/>
                  </a:lnTo>
                </a:path>
                <a:path w="42545" h="53975">
                  <a:moveTo>
                    <a:pt x="19363" y="21924"/>
                  </a:moveTo>
                  <a:lnTo>
                    <a:pt x="22948" y="24371"/>
                  </a:lnTo>
                  <a:lnTo>
                    <a:pt x="23307" y="26376"/>
                  </a:lnTo>
                  <a:lnTo>
                    <a:pt x="21514" y="30605"/>
                  </a:lnTo>
                </a:path>
                <a:path w="42545" h="53975">
                  <a:moveTo>
                    <a:pt x="31644" y="30493"/>
                  </a:moveTo>
                  <a:lnTo>
                    <a:pt x="35229" y="32940"/>
                  </a:lnTo>
                  <a:lnTo>
                    <a:pt x="35588" y="34945"/>
                  </a:lnTo>
                  <a:lnTo>
                    <a:pt x="33795" y="39173"/>
                  </a:lnTo>
                </a:path>
              </a:pathLst>
            </a:custGeom>
            <a:ln w="51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769128" y="2550200"/>
              <a:ext cx="375920" cy="378460"/>
            </a:xfrm>
            <a:custGeom>
              <a:avLst/>
              <a:gdLst/>
              <a:ahLst/>
              <a:cxnLst/>
              <a:rect l="l" t="t" r="r" b="b"/>
              <a:pathLst>
                <a:path w="375920" h="378460">
                  <a:moveTo>
                    <a:pt x="0" y="0"/>
                  </a:moveTo>
                  <a:lnTo>
                    <a:pt x="375358" y="377872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6414872" y="2543746"/>
              <a:ext cx="447040" cy="400050"/>
            </a:xfrm>
            <a:custGeom>
              <a:avLst/>
              <a:gdLst/>
              <a:ahLst/>
              <a:cxnLst/>
              <a:rect l="l" t="t" r="r" b="b"/>
              <a:pathLst>
                <a:path w="447040" h="400050">
                  <a:moveTo>
                    <a:pt x="446768" y="0"/>
                  </a:moveTo>
                  <a:lnTo>
                    <a:pt x="0" y="39992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364211" y="2550199"/>
              <a:ext cx="430530" cy="378460"/>
            </a:xfrm>
            <a:custGeom>
              <a:avLst/>
              <a:gdLst/>
              <a:ahLst/>
              <a:cxnLst/>
              <a:rect l="l" t="t" r="r" b="b"/>
              <a:pathLst>
                <a:path w="430529" h="378460">
                  <a:moveTo>
                    <a:pt x="430291" y="0"/>
                  </a:moveTo>
                  <a:lnTo>
                    <a:pt x="0" y="377872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6748726" y="1727377"/>
              <a:ext cx="0" cy="471805"/>
            </a:xfrm>
            <a:custGeom>
              <a:avLst/>
              <a:gdLst/>
              <a:ahLst/>
              <a:cxnLst/>
              <a:rect l="l" t="t" r="r" b="b"/>
              <a:pathLst>
                <a:path w="0" h="471805">
                  <a:moveTo>
                    <a:pt x="0" y="0"/>
                  </a:moveTo>
                  <a:lnTo>
                    <a:pt x="0" y="47135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6162797" y="2394210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 h="0">
                  <a:moveTo>
                    <a:pt x="0" y="0"/>
                  </a:moveTo>
                  <a:lnTo>
                    <a:pt x="238034" y="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6162797" y="2349753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 h="0">
                  <a:moveTo>
                    <a:pt x="0" y="0"/>
                  </a:moveTo>
                  <a:lnTo>
                    <a:pt x="238034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8308926" y="1332415"/>
              <a:ext cx="394970" cy="368300"/>
            </a:xfrm>
            <a:custGeom>
              <a:avLst/>
              <a:gdLst/>
              <a:ahLst/>
              <a:cxnLst/>
              <a:rect l="l" t="t" r="r" b="b"/>
              <a:pathLst>
                <a:path w="394970" h="368300">
                  <a:moveTo>
                    <a:pt x="394794" y="368036"/>
                  </a:moveTo>
                  <a:lnTo>
                    <a:pt x="0" y="368036"/>
                  </a:lnTo>
                  <a:lnTo>
                    <a:pt x="0" y="0"/>
                  </a:lnTo>
                  <a:lnTo>
                    <a:pt x="394794" y="0"/>
                  </a:lnTo>
                  <a:lnTo>
                    <a:pt x="394794" y="36803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8308925" y="1332415"/>
              <a:ext cx="394970" cy="368300"/>
            </a:xfrm>
            <a:custGeom>
              <a:avLst/>
              <a:gdLst/>
              <a:ahLst/>
              <a:cxnLst/>
              <a:rect l="l" t="t" r="r" b="b"/>
              <a:pathLst>
                <a:path w="394970" h="368300">
                  <a:moveTo>
                    <a:pt x="0" y="368029"/>
                  </a:moveTo>
                  <a:lnTo>
                    <a:pt x="394794" y="368029"/>
                  </a:lnTo>
                  <a:lnTo>
                    <a:pt x="394794" y="0"/>
                  </a:lnTo>
                  <a:lnTo>
                    <a:pt x="0" y="0"/>
                  </a:lnTo>
                  <a:lnTo>
                    <a:pt x="0" y="36802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 txBox="1"/>
          <p:nvPr/>
        </p:nvSpPr>
        <p:spPr>
          <a:xfrm>
            <a:off x="8411288" y="1418910"/>
            <a:ext cx="190500" cy="170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29">
                <a:latin typeface="Times New Roman"/>
                <a:cs typeface="Times New Roman"/>
              </a:rPr>
              <a:t>NGC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16" name="object 116" descr=""/>
          <p:cNvGrpSpPr/>
          <p:nvPr/>
        </p:nvGrpSpPr>
        <p:grpSpPr>
          <a:xfrm>
            <a:off x="7281185" y="2219468"/>
            <a:ext cx="681990" cy="395605"/>
            <a:chOff x="7281185" y="2219468"/>
            <a:chExt cx="681990" cy="395605"/>
          </a:xfrm>
        </p:grpSpPr>
        <p:sp>
          <p:nvSpPr>
            <p:cNvPr id="117" name="object 117" descr=""/>
            <p:cNvSpPr/>
            <p:nvPr/>
          </p:nvSpPr>
          <p:spPr>
            <a:xfrm>
              <a:off x="7282455" y="2220738"/>
              <a:ext cx="679450" cy="393065"/>
            </a:xfrm>
            <a:custGeom>
              <a:avLst/>
              <a:gdLst/>
              <a:ahLst/>
              <a:cxnLst/>
              <a:rect l="l" t="t" r="r" b="b"/>
              <a:pathLst>
                <a:path w="679450" h="393064">
                  <a:moveTo>
                    <a:pt x="339524" y="392561"/>
                  </a:moveTo>
                  <a:lnTo>
                    <a:pt x="278494" y="389399"/>
                  </a:lnTo>
                  <a:lnTo>
                    <a:pt x="221052" y="380281"/>
                  </a:lnTo>
                  <a:lnTo>
                    <a:pt x="168159" y="365763"/>
                  </a:lnTo>
                  <a:lnTo>
                    <a:pt x="120772" y="346399"/>
                  </a:lnTo>
                  <a:lnTo>
                    <a:pt x="79851" y="322742"/>
                  </a:lnTo>
                  <a:lnTo>
                    <a:pt x="46354" y="295347"/>
                  </a:lnTo>
                  <a:lnTo>
                    <a:pt x="21241" y="264769"/>
                  </a:lnTo>
                  <a:lnTo>
                    <a:pt x="0" y="196280"/>
                  </a:lnTo>
                  <a:lnTo>
                    <a:pt x="5470" y="160998"/>
                  </a:lnTo>
                  <a:lnTo>
                    <a:pt x="46354" y="97213"/>
                  </a:lnTo>
                  <a:lnTo>
                    <a:pt x="79851" y="69819"/>
                  </a:lnTo>
                  <a:lnTo>
                    <a:pt x="120772" y="46162"/>
                  </a:lnTo>
                  <a:lnTo>
                    <a:pt x="168159" y="26797"/>
                  </a:lnTo>
                  <a:lnTo>
                    <a:pt x="221052" y="12279"/>
                  </a:lnTo>
                  <a:lnTo>
                    <a:pt x="278494" y="3162"/>
                  </a:lnTo>
                  <a:lnTo>
                    <a:pt x="339524" y="0"/>
                  </a:lnTo>
                  <a:lnTo>
                    <a:pt x="400553" y="3162"/>
                  </a:lnTo>
                  <a:lnTo>
                    <a:pt x="457994" y="12279"/>
                  </a:lnTo>
                  <a:lnTo>
                    <a:pt x="510887" y="26797"/>
                  </a:lnTo>
                  <a:lnTo>
                    <a:pt x="558274" y="46162"/>
                  </a:lnTo>
                  <a:lnTo>
                    <a:pt x="599196" y="69819"/>
                  </a:lnTo>
                  <a:lnTo>
                    <a:pt x="632693" y="97213"/>
                  </a:lnTo>
                  <a:lnTo>
                    <a:pt x="657807" y="127791"/>
                  </a:lnTo>
                  <a:lnTo>
                    <a:pt x="679049" y="196280"/>
                  </a:lnTo>
                  <a:lnTo>
                    <a:pt x="673578" y="231562"/>
                  </a:lnTo>
                  <a:lnTo>
                    <a:pt x="632693" y="295347"/>
                  </a:lnTo>
                  <a:lnTo>
                    <a:pt x="599196" y="322742"/>
                  </a:lnTo>
                  <a:lnTo>
                    <a:pt x="558274" y="346399"/>
                  </a:lnTo>
                  <a:lnTo>
                    <a:pt x="510887" y="365763"/>
                  </a:lnTo>
                  <a:lnTo>
                    <a:pt x="457994" y="380281"/>
                  </a:lnTo>
                  <a:lnTo>
                    <a:pt x="400553" y="389399"/>
                  </a:lnTo>
                  <a:lnTo>
                    <a:pt x="339524" y="39256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282455" y="2220738"/>
              <a:ext cx="679450" cy="393065"/>
            </a:xfrm>
            <a:custGeom>
              <a:avLst/>
              <a:gdLst/>
              <a:ahLst/>
              <a:cxnLst/>
              <a:rect l="l" t="t" r="r" b="b"/>
              <a:pathLst>
                <a:path w="679450" h="393064">
                  <a:moveTo>
                    <a:pt x="0" y="196280"/>
                  </a:moveTo>
                  <a:lnTo>
                    <a:pt x="21241" y="127791"/>
                  </a:lnTo>
                  <a:lnTo>
                    <a:pt x="46354" y="97213"/>
                  </a:lnTo>
                  <a:lnTo>
                    <a:pt x="79851" y="69819"/>
                  </a:lnTo>
                  <a:lnTo>
                    <a:pt x="120772" y="46162"/>
                  </a:lnTo>
                  <a:lnTo>
                    <a:pt x="168159" y="26797"/>
                  </a:lnTo>
                  <a:lnTo>
                    <a:pt x="221052" y="12279"/>
                  </a:lnTo>
                  <a:lnTo>
                    <a:pt x="278494" y="3162"/>
                  </a:lnTo>
                  <a:lnTo>
                    <a:pt x="339524" y="0"/>
                  </a:lnTo>
                  <a:lnTo>
                    <a:pt x="400553" y="3162"/>
                  </a:lnTo>
                  <a:lnTo>
                    <a:pt x="457994" y="12279"/>
                  </a:lnTo>
                  <a:lnTo>
                    <a:pt x="510887" y="26797"/>
                  </a:lnTo>
                  <a:lnTo>
                    <a:pt x="558274" y="46162"/>
                  </a:lnTo>
                  <a:lnTo>
                    <a:pt x="599196" y="69819"/>
                  </a:lnTo>
                  <a:lnTo>
                    <a:pt x="632693" y="97213"/>
                  </a:lnTo>
                  <a:lnTo>
                    <a:pt x="657807" y="127791"/>
                  </a:lnTo>
                  <a:lnTo>
                    <a:pt x="679049" y="196280"/>
                  </a:lnTo>
                  <a:lnTo>
                    <a:pt x="673578" y="231562"/>
                  </a:lnTo>
                  <a:lnTo>
                    <a:pt x="632693" y="295347"/>
                  </a:lnTo>
                  <a:lnTo>
                    <a:pt x="599196" y="322742"/>
                  </a:lnTo>
                  <a:lnTo>
                    <a:pt x="558274" y="346399"/>
                  </a:lnTo>
                  <a:lnTo>
                    <a:pt x="510887" y="365763"/>
                  </a:lnTo>
                  <a:lnTo>
                    <a:pt x="457994" y="380281"/>
                  </a:lnTo>
                  <a:lnTo>
                    <a:pt x="400553" y="389399"/>
                  </a:lnTo>
                  <a:lnTo>
                    <a:pt x="339524" y="392561"/>
                  </a:lnTo>
                  <a:lnTo>
                    <a:pt x="278494" y="389399"/>
                  </a:lnTo>
                  <a:lnTo>
                    <a:pt x="221052" y="380281"/>
                  </a:lnTo>
                  <a:lnTo>
                    <a:pt x="168159" y="365763"/>
                  </a:lnTo>
                  <a:lnTo>
                    <a:pt x="120772" y="346399"/>
                  </a:lnTo>
                  <a:lnTo>
                    <a:pt x="79851" y="322742"/>
                  </a:lnTo>
                  <a:lnTo>
                    <a:pt x="46354" y="295347"/>
                  </a:lnTo>
                  <a:lnTo>
                    <a:pt x="21241" y="264769"/>
                  </a:lnTo>
                  <a:lnTo>
                    <a:pt x="0" y="1962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 descr=""/>
          <p:cNvSpPr txBox="1"/>
          <p:nvPr/>
        </p:nvSpPr>
        <p:spPr>
          <a:xfrm>
            <a:off x="7537815" y="2319497"/>
            <a:ext cx="168910" cy="170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90">
                <a:latin typeface="Times New Roman"/>
                <a:cs typeface="Times New Roman"/>
              </a:rPr>
              <a:t>LTE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7382882" y="2046763"/>
            <a:ext cx="1464310" cy="568325"/>
            <a:chOff x="7382882" y="2046763"/>
            <a:chExt cx="1464310" cy="568325"/>
          </a:xfrm>
        </p:grpSpPr>
        <p:sp>
          <p:nvSpPr>
            <p:cNvPr id="121" name="object 121" descr=""/>
            <p:cNvSpPr/>
            <p:nvPr/>
          </p:nvSpPr>
          <p:spPr>
            <a:xfrm>
              <a:off x="7425251" y="2328693"/>
              <a:ext cx="55244" cy="88900"/>
            </a:xfrm>
            <a:custGeom>
              <a:avLst/>
              <a:gdLst/>
              <a:ahLst/>
              <a:cxnLst/>
              <a:rect l="l" t="t" r="r" b="b"/>
              <a:pathLst>
                <a:path w="55245" h="88900">
                  <a:moveTo>
                    <a:pt x="38807" y="88325"/>
                  </a:moveTo>
                  <a:lnTo>
                    <a:pt x="0" y="88325"/>
                  </a:lnTo>
                  <a:lnTo>
                    <a:pt x="26172" y="0"/>
                  </a:lnTo>
                  <a:lnTo>
                    <a:pt x="54970" y="43075"/>
                  </a:lnTo>
                  <a:lnTo>
                    <a:pt x="53651" y="60904"/>
                  </a:lnTo>
                  <a:lnTo>
                    <a:pt x="48126" y="76664"/>
                  </a:lnTo>
                  <a:lnTo>
                    <a:pt x="38807" y="88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08786" y="2206624"/>
              <a:ext cx="31584" cy="28219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7408792" y="2206629"/>
              <a:ext cx="31750" cy="28575"/>
            </a:xfrm>
            <a:custGeom>
              <a:avLst/>
              <a:gdLst/>
              <a:ahLst/>
              <a:cxnLst/>
              <a:rect l="l" t="t" r="r" b="b"/>
              <a:pathLst>
                <a:path w="31750" h="28575">
                  <a:moveTo>
                    <a:pt x="31583" y="14106"/>
                  </a:moveTo>
                  <a:lnTo>
                    <a:pt x="31583" y="6316"/>
                  </a:lnTo>
                  <a:lnTo>
                    <a:pt x="24513" y="0"/>
                  </a:lnTo>
                  <a:lnTo>
                    <a:pt x="15789" y="0"/>
                  </a:lnTo>
                  <a:lnTo>
                    <a:pt x="7069" y="0"/>
                  </a:lnTo>
                  <a:lnTo>
                    <a:pt x="0" y="6316"/>
                  </a:lnTo>
                  <a:lnTo>
                    <a:pt x="0" y="14106"/>
                  </a:lnTo>
                  <a:lnTo>
                    <a:pt x="0" y="21896"/>
                  </a:lnTo>
                  <a:lnTo>
                    <a:pt x="7069" y="28212"/>
                  </a:lnTo>
                  <a:lnTo>
                    <a:pt x="15789" y="28212"/>
                  </a:lnTo>
                  <a:lnTo>
                    <a:pt x="24513" y="28212"/>
                  </a:lnTo>
                  <a:lnTo>
                    <a:pt x="31583" y="21896"/>
                  </a:lnTo>
                  <a:lnTo>
                    <a:pt x="31583" y="14106"/>
                  </a:lnTo>
                  <a:close/>
                </a:path>
              </a:pathLst>
            </a:custGeom>
            <a:ln w="5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93266" y="2219439"/>
              <a:ext cx="62992" cy="197345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7393269" y="2219436"/>
              <a:ext cx="63500" cy="197485"/>
            </a:xfrm>
            <a:custGeom>
              <a:avLst/>
              <a:gdLst/>
              <a:ahLst/>
              <a:cxnLst/>
              <a:rect l="l" t="t" r="r" b="b"/>
              <a:pathLst>
                <a:path w="63500" h="197485">
                  <a:moveTo>
                    <a:pt x="62627" y="165679"/>
                  </a:moveTo>
                  <a:lnTo>
                    <a:pt x="47038" y="6"/>
                  </a:lnTo>
                  <a:lnTo>
                    <a:pt x="42878" y="8599"/>
                  </a:lnTo>
                  <a:lnTo>
                    <a:pt x="37121" y="13862"/>
                  </a:lnTo>
                  <a:lnTo>
                    <a:pt x="15589" y="0"/>
                  </a:lnTo>
                  <a:lnTo>
                    <a:pt x="0" y="165692"/>
                  </a:lnTo>
                  <a:lnTo>
                    <a:pt x="861" y="176870"/>
                  </a:lnTo>
                  <a:lnTo>
                    <a:pt x="6266" y="186550"/>
                  </a:lnTo>
                  <a:lnTo>
                    <a:pt x="15339" y="193715"/>
                  </a:lnTo>
                  <a:lnTo>
                    <a:pt x="27204" y="197345"/>
                  </a:lnTo>
                  <a:lnTo>
                    <a:pt x="39716" y="196575"/>
                  </a:lnTo>
                  <a:lnTo>
                    <a:pt x="50550" y="191747"/>
                  </a:lnTo>
                  <a:lnTo>
                    <a:pt x="58567" y="183643"/>
                  </a:lnTo>
                  <a:lnTo>
                    <a:pt x="62627" y="173047"/>
                  </a:lnTo>
                  <a:lnTo>
                    <a:pt x="62987" y="170606"/>
                  </a:lnTo>
                  <a:lnTo>
                    <a:pt x="62987" y="168126"/>
                  </a:lnTo>
                  <a:lnTo>
                    <a:pt x="62627" y="165685"/>
                  </a:lnTo>
                  <a:close/>
                </a:path>
              </a:pathLst>
            </a:custGeom>
            <a:ln w="42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416686" y="2080092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4">
                  <a:moveTo>
                    <a:pt x="15793" y="12269"/>
                  </a:moveTo>
                  <a:lnTo>
                    <a:pt x="15793" y="5491"/>
                  </a:lnTo>
                  <a:lnTo>
                    <a:pt x="12258" y="0"/>
                  </a:lnTo>
                  <a:lnTo>
                    <a:pt x="7896" y="0"/>
                  </a:lnTo>
                  <a:lnTo>
                    <a:pt x="3538" y="0"/>
                  </a:lnTo>
                  <a:lnTo>
                    <a:pt x="0" y="5491"/>
                  </a:lnTo>
                  <a:lnTo>
                    <a:pt x="0" y="12269"/>
                  </a:lnTo>
                  <a:lnTo>
                    <a:pt x="0" y="19046"/>
                  </a:lnTo>
                  <a:lnTo>
                    <a:pt x="3538" y="24538"/>
                  </a:lnTo>
                  <a:lnTo>
                    <a:pt x="7896" y="24538"/>
                  </a:lnTo>
                  <a:lnTo>
                    <a:pt x="12258" y="24538"/>
                  </a:lnTo>
                  <a:lnTo>
                    <a:pt x="15793" y="19046"/>
                  </a:lnTo>
                  <a:lnTo>
                    <a:pt x="15793" y="12269"/>
                  </a:lnTo>
                  <a:close/>
                </a:path>
              </a:pathLst>
            </a:custGeom>
            <a:ln w="46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7424583" y="2104626"/>
              <a:ext cx="0" cy="116205"/>
            </a:xfrm>
            <a:custGeom>
              <a:avLst/>
              <a:gdLst/>
              <a:ahLst/>
              <a:cxnLst/>
              <a:rect l="l" t="t" r="r" b="b"/>
              <a:pathLst>
                <a:path w="0" h="116205">
                  <a:moveTo>
                    <a:pt x="0" y="116109"/>
                  </a:moveTo>
                  <a:lnTo>
                    <a:pt x="0" y="0"/>
                  </a:lnTo>
                </a:path>
              </a:pathLst>
            </a:custGeom>
            <a:ln w="4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7385105" y="2048986"/>
              <a:ext cx="79375" cy="86995"/>
            </a:xfrm>
            <a:custGeom>
              <a:avLst/>
              <a:gdLst/>
              <a:ahLst/>
              <a:cxnLst/>
              <a:rect l="l" t="t" r="r" b="b"/>
              <a:pathLst>
                <a:path w="79375" h="86994">
                  <a:moveTo>
                    <a:pt x="22727" y="17352"/>
                  </a:moveTo>
                  <a:lnTo>
                    <a:pt x="17524" y="29527"/>
                  </a:lnTo>
                  <a:lnTo>
                    <a:pt x="15789" y="43377"/>
                  </a:lnTo>
                  <a:lnTo>
                    <a:pt x="17524" y="57226"/>
                  </a:lnTo>
                  <a:lnTo>
                    <a:pt x="22727" y="69401"/>
                  </a:lnTo>
                </a:path>
                <a:path w="79375" h="86994">
                  <a:moveTo>
                    <a:pt x="56228" y="69401"/>
                  </a:moveTo>
                  <a:lnTo>
                    <a:pt x="61429" y="57224"/>
                  </a:lnTo>
                  <a:lnTo>
                    <a:pt x="63163" y="43374"/>
                  </a:lnTo>
                  <a:lnTo>
                    <a:pt x="61429" y="29526"/>
                  </a:lnTo>
                  <a:lnTo>
                    <a:pt x="56228" y="17352"/>
                  </a:lnTo>
                </a:path>
                <a:path w="79375" h="86994">
                  <a:moveTo>
                    <a:pt x="11563" y="0"/>
                  </a:moveTo>
                  <a:lnTo>
                    <a:pt x="2890" y="20291"/>
                  </a:lnTo>
                  <a:lnTo>
                    <a:pt x="0" y="43373"/>
                  </a:lnTo>
                  <a:lnTo>
                    <a:pt x="2890" y="66456"/>
                  </a:lnTo>
                  <a:lnTo>
                    <a:pt x="11563" y="86747"/>
                  </a:lnTo>
                </a:path>
                <a:path w="79375" h="86994">
                  <a:moveTo>
                    <a:pt x="67397" y="86747"/>
                  </a:moveTo>
                  <a:lnTo>
                    <a:pt x="76067" y="66457"/>
                  </a:lnTo>
                  <a:lnTo>
                    <a:pt x="78957" y="43376"/>
                  </a:lnTo>
                  <a:lnTo>
                    <a:pt x="76067" y="20294"/>
                  </a:lnTo>
                  <a:lnTo>
                    <a:pt x="67397" y="0"/>
                  </a:lnTo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7393265" y="2080093"/>
              <a:ext cx="63500" cy="337185"/>
            </a:xfrm>
            <a:custGeom>
              <a:avLst/>
              <a:gdLst/>
              <a:ahLst/>
              <a:cxnLst/>
              <a:rect l="l" t="t" r="r" b="b"/>
              <a:pathLst>
                <a:path w="63500" h="337185">
                  <a:moveTo>
                    <a:pt x="31315" y="126534"/>
                  </a:moveTo>
                  <a:lnTo>
                    <a:pt x="23164" y="126547"/>
                  </a:lnTo>
                  <a:lnTo>
                    <a:pt x="16353" y="132091"/>
                  </a:lnTo>
                  <a:lnTo>
                    <a:pt x="15593" y="139342"/>
                  </a:lnTo>
                  <a:lnTo>
                    <a:pt x="0" y="305035"/>
                  </a:lnTo>
                  <a:lnTo>
                    <a:pt x="861" y="316212"/>
                  </a:lnTo>
                  <a:lnTo>
                    <a:pt x="6266" y="325892"/>
                  </a:lnTo>
                  <a:lnTo>
                    <a:pt x="15339" y="333055"/>
                  </a:lnTo>
                  <a:lnTo>
                    <a:pt x="27204" y="336681"/>
                  </a:lnTo>
                  <a:lnTo>
                    <a:pt x="39718" y="335915"/>
                  </a:lnTo>
                  <a:lnTo>
                    <a:pt x="50554" y="331089"/>
                  </a:lnTo>
                  <a:lnTo>
                    <a:pt x="58571" y="322986"/>
                  </a:lnTo>
                  <a:lnTo>
                    <a:pt x="62631" y="312390"/>
                  </a:lnTo>
                  <a:lnTo>
                    <a:pt x="62991" y="309949"/>
                  </a:lnTo>
                  <a:lnTo>
                    <a:pt x="62991" y="307469"/>
                  </a:lnTo>
                  <a:lnTo>
                    <a:pt x="62631" y="305028"/>
                  </a:lnTo>
                  <a:lnTo>
                    <a:pt x="47159" y="140628"/>
                  </a:lnTo>
                  <a:lnTo>
                    <a:pt x="47139" y="132831"/>
                  </a:lnTo>
                  <a:lnTo>
                    <a:pt x="40048" y="126521"/>
                  </a:lnTo>
                  <a:lnTo>
                    <a:pt x="31315" y="126534"/>
                  </a:lnTo>
                </a:path>
                <a:path w="63500" h="337185">
                  <a:moveTo>
                    <a:pt x="39212" y="12269"/>
                  </a:moveTo>
                  <a:lnTo>
                    <a:pt x="39212" y="5491"/>
                  </a:lnTo>
                  <a:lnTo>
                    <a:pt x="35678" y="0"/>
                  </a:lnTo>
                  <a:lnTo>
                    <a:pt x="31315" y="0"/>
                  </a:lnTo>
                  <a:lnTo>
                    <a:pt x="26953" y="0"/>
                  </a:lnTo>
                  <a:lnTo>
                    <a:pt x="23419" y="5491"/>
                  </a:lnTo>
                  <a:lnTo>
                    <a:pt x="23419" y="12269"/>
                  </a:lnTo>
                  <a:lnTo>
                    <a:pt x="23419" y="19046"/>
                  </a:lnTo>
                  <a:lnTo>
                    <a:pt x="26953" y="24538"/>
                  </a:lnTo>
                  <a:lnTo>
                    <a:pt x="31315" y="24538"/>
                  </a:lnTo>
                  <a:lnTo>
                    <a:pt x="35678" y="24538"/>
                  </a:lnTo>
                  <a:lnTo>
                    <a:pt x="39212" y="19046"/>
                  </a:lnTo>
                  <a:lnTo>
                    <a:pt x="39212" y="12269"/>
                  </a:lnTo>
                  <a:close/>
                </a:path>
                <a:path w="63500" h="337185">
                  <a:moveTo>
                    <a:pt x="31315" y="126534"/>
                  </a:moveTo>
                  <a:lnTo>
                    <a:pt x="31315" y="24538"/>
                  </a:lnTo>
                </a:path>
              </a:pathLst>
            </a:custGeom>
            <a:ln w="10669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8166795" y="2220737"/>
              <a:ext cx="679450" cy="393065"/>
            </a:xfrm>
            <a:custGeom>
              <a:avLst/>
              <a:gdLst/>
              <a:ahLst/>
              <a:cxnLst/>
              <a:rect l="l" t="t" r="r" b="b"/>
              <a:pathLst>
                <a:path w="679450" h="393064">
                  <a:moveTo>
                    <a:pt x="339524" y="392561"/>
                  </a:moveTo>
                  <a:lnTo>
                    <a:pt x="278494" y="389399"/>
                  </a:lnTo>
                  <a:lnTo>
                    <a:pt x="221052" y="380281"/>
                  </a:lnTo>
                  <a:lnTo>
                    <a:pt x="168159" y="365763"/>
                  </a:lnTo>
                  <a:lnTo>
                    <a:pt x="120772" y="346399"/>
                  </a:lnTo>
                  <a:lnTo>
                    <a:pt x="79851" y="322742"/>
                  </a:lnTo>
                  <a:lnTo>
                    <a:pt x="46354" y="295347"/>
                  </a:lnTo>
                  <a:lnTo>
                    <a:pt x="21241" y="264769"/>
                  </a:lnTo>
                  <a:lnTo>
                    <a:pt x="0" y="196280"/>
                  </a:lnTo>
                  <a:lnTo>
                    <a:pt x="5470" y="160998"/>
                  </a:lnTo>
                  <a:lnTo>
                    <a:pt x="46354" y="97213"/>
                  </a:lnTo>
                  <a:lnTo>
                    <a:pt x="79851" y="69819"/>
                  </a:lnTo>
                  <a:lnTo>
                    <a:pt x="120772" y="46162"/>
                  </a:lnTo>
                  <a:lnTo>
                    <a:pt x="168159" y="26797"/>
                  </a:lnTo>
                  <a:lnTo>
                    <a:pt x="221052" y="12279"/>
                  </a:lnTo>
                  <a:lnTo>
                    <a:pt x="278494" y="3162"/>
                  </a:lnTo>
                  <a:lnTo>
                    <a:pt x="339524" y="0"/>
                  </a:lnTo>
                  <a:lnTo>
                    <a:pt x="400553" y="3162"/>
                  </a:lnTo>
                  <a:lnTo>
                    <a:pt x="457994" y="12279"/>
                  </a:lnTo>
                  <a:lnTo>
                    <a:pt x="510887" y="26797"/>
                  </a:lnTo>
                  <a:lnTo>
                    <a:pt x="558274" y="46162"/>
                  </a:lnTo>
                  <a:lnTo>
                    <a:pt x="599196" y="69819"/>
                  </a:lnTo>
                  <a:lnTo>
                    <a:pt x="632693" y="97213"/>
                  </a:lnTo>
                  <a:lnTo>
                    <a:pt x="657807" y="127791"/>
                  </a:lnTo>
                  <a:lnTo>
                    <a:pt x="679049" y="196280"/>
                  </a:lnTo>
                  <a:lnTo>
                    <a:pt x="673578" y="231562"/>
                  </a:lnTo>
                  <a:lnTo>
                    <a:pt x="632693" y="295347"/>
                  </a:lnTo>
                  <a:lnTo>
                    <a:pt x="599196" y="322742"/>
                  </a:lnTo>
                  <a:lnTo>
                    <a:pt x="558274" y="346399"/>
                  </a:lnTo>
                  <a:lnTo>
                    <a:pt x="510887" y="365763"/>
                  </a:lnTo>
                  <a:lnTo>
                    <a:pt x="457994" y="380281"/>
                  </a:lnTo>
                  <a:lnTo>
                    <a:pt x="400553" y="389399"/>
                  </a:lnTo>
                  <a:lnTo>
                    <a:pt x="339524" y="39256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166794" y="2220737"/>
              <a:ext cx="679450" cy="393065"/>
            </a:xfrm>
            <a:custGeom>
              <a:avLst/>
              <a:gdLst/>
              <a:ahLst/>
              <a:cxnLst/>
              <a:rect l="l" t="t" r="r" b="b"/>
              <a:pathLst>
                <a:path w="679450" h="393064">
                  <a:moveTo>
                    <a:pt x="0" y="196280"/>
                  </a:moveTo>
                  <a:lnTo>
                    <a:pt x="21241" y="127791"/>
                  </a:lnTo>
                  <a:lnTo>
                    <a:pt x="46354" y="97213"/>
                  </a:lnTo>
                  <a:lnTo>
                    <a:pt x="79851" y="69819"/>
                  </a:lnTo>
                  <a:lnTo>
                    <a:pt x="120772" y="46162"/>
                  </a:lnTo>
                  <a:lnTo>
                    <a:pt x="168159" y="26797"/>
                  </a:lnTo>
                  <a:lnTo>
                    <a:pt x="221052" y="12279"/>
                  </a:lnTo>
                  <a:lnTo>
                    <a:pt x="278494" y="3162"/>
                  </a:lnTo>
                  <a:lnTo>
                    <a:pt x="339524" y="0"/>
                  </a:lnTo>
                  <a:lnTo>
                    <a:pt x="400553" y="3162"/>
                  </a:lnTo>
                  <a:lnTo>
                    <a:pt x="457994" y="12279"/>
                  </a:lnTo>
                  <a:lnTo>
                    <a:pt x="510887" y="26797"/>
                  </a:lnTo>
                  <a:lnTo>
                    <a:pt x="558274" y="46162"/>
                  </a:lnTo>
                  <a:lnTo>
                    <a:pt x="599196" y="69819"/>
                  </a:lnTo>
                  <a:lnTo>
                    <a:pt x="632693" y="97213"/>
                  </a:lnTo>
                  <a:lnTo>
                    <a:pt x="657807" y="127791"/>
                  </a:lnTo>
                  <a:lnTo>
                    <a:pt x="679049" y="196280"/>
                  </a:lnTo>
                  <a:lnTo>
                    <a:pt x="673578" y="231562"/>
                  </a:lnTo>
                  <a:lnTo>
                    <a:pt x="632693" y="295347"/>
                  </a:lnTo>
                  <a:lnTo>
                    <a:pt x="599196" y="322742"/>
                  </a:lnTo>
                  <a:lnTo>
                    <a:pt x="558274" y="346399"/>
                  </a:lnTo>
                  <a:lnTo>
                    <a:pt x="510887" y="365763"/>
                  </a:lnTo>
                  <a:lnTo>
                    <a:pt x="457994" y="380281"/>
                  </a:lnTo>
                  <a:lnTo>
                    <a:pt x="400553" y="389399"/>
                  </a:lnTo>
                  <a:lnTo>
                    <a:pt x="339524" y="392561"/>
                  </a:lnTo>
                  <a:lnTo>
                    <a:pt x="278494" y="389399"/>
                  </a:lnTo>
                  <a:lnTo>
                    <a:pt x="221052" y="380281"/>
                  </a:lnTo>
                  <a:lnTo>
                    <a:pt x="168159" y="365763"/>
                  </a:lnTo>
                  <a:lnTo>
                    <a:pt x="120772" y="346399"/>
                  </a:lnTo>
                  <a:lnTo>
                    <a:pt x="79851" y="322742"/>
                  </a:lnTo>
                  <a:lnTo>
                    <a:pt x="46354" y="295347"/>
                  </a:lnTo>
                  <a:lnTo>
                    <a:pt x="21241" y="264769"/>
                  </a:lnTo>
                  <a:lnTo>
                    <a:pt x="0" y="1962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 descr=""/>
          <p:cNvSpPr txBox="1"/>
          <p:nvPr/>
        </p:nvSpPr>
        <p:spPr>
          <a:xfrm>
            <a:off x="8439446" y="2319497"/>
            <a:ext cx="133985" cy="170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10">
                <a:latin typeface="Times New Roman"/>
                <a:cs typeface="Times New Roman"/>
              </a:rPr>
              <a:t>NR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33" name="object 133" descr=""/>
          <p:cNvGrpSpPr/>
          <p:nvPr/>
        </p:nvGrpSpPr>
        <p:grpSpPr>
          <a:xfrm>
            <a:off x="7557542" y="1699175"/>
            <a:ext cx="1186180" cy="1557020"/>
            <a:chOff x="7557542" y="1699175"/>
            <a:chExt cx="1186180" cy="1557020"/>
          </a:xfrm>
        </p:grpSpPr>
        <p:sp>
          <p:nvSpPr>
            <p:cNvPr id="134" name="object 134" descr=""/>
            <p:cNvSpPr/>
            <p:nvPr/>
          </p:nvSpPr>
          <p:spPr>
            <a:xfrm>
              <a:off x="8688596" y="2328693"/>
              <a:ext cx="55244" cy="88900"/>
            </a:xfrm>
            <a:custGeom>
              <a:avLst/>
              <a:gdLst/>
              <a:ahLst/>
              <a:cxnLst/>
              <a:rect l="l" t="t" r="r" b="b"/>
              <a:pathLst>
                <a:path w="55245" h="88900">
                  <a:moveTo>
                    <a:pt x="38807" y="88325"/>
                  </a:moveTo>
                  <a:lnTo>
                    <a:pt x="0" y="88325"/>
                  </a:lnTo>
                  <a:lnTo>
                    <a:pt x="26172" y="0"/>
                  </a:lnTo>
                  <a:lnTo>
                    <a:pt x="54970" y="43075"/>
                  </a:lnTo>
                  <a:lnTo>
                    <a:pt x="53651" y="60904"/>
                  </a:lnTo>
                  <a:lnTo>
                    <a:pt x="48126" y="76664"/>
                  </a:lnTo>
                  <a:lnTo>
                    <a:pt x="38807" y="88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72132" y="2206625"/>
              <a:ext cx="31584" cy="28219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8672138" y="2206629"/>
              <a:ext cx="31750" cy="28575"/>
            </a:xfrm>
            <a:custGeom>
              <a:avLst/>
              <a:gdLst/>
              <a:ahLst/>
              <a:cxnLst/>
              <a:rect l="l" t="t" r="r" b="b"/>
              <a:pathLst>
                <a:path w="31750" h="28575">
                  <a:moveTo>
                    <a:pt x="31583" y="14106"/>
                  </a:moveTo>
                  <a:lnTo>
                    <a:pt x="31583" y="6316"/>
                  </a:lnTo>
                  <a:lnTo>
                    <a:pt x="24513" y="0"/>
                  </a:lnTo>
                  <a:lnTo>
                    <a:pt x="15789" y="0"/>
                  </a:lnTo>
                  <a:lnTo>
                    <a:pt x="7069" y="0"/>
                  </a:lnTo>
                  <a:lnTo>
                    <a:pt x="0" y="6316"/>
                  </a:lnTo>
                  <a:lnTo>
                    <a:pt x="0" y="14106"/>
                  </a:lnTo>
                  <a:lnTo>
                    <a:pt x="0" y="21896"/>
                  </a:lnTo>
                  <a:lnTo>
                    <a:pt x="7069" y="28212"/>
                  </a:lnTo>
                  <a:lnTo>
                    <a:pt x="15789" y="28212"/>
                  </a:lnTo>
                  <a:lnTo>
                    <a:pt x="24513" y="28212"/>
                  </a:lnTo>
                  <a:lnTo>
                    <a:pt x="31583" y="21896"/>
                  </a:lnTo>
                  <a:lnTo>
                    <a:pt x="31583" y="14106"/>
                  </a:lnTo>
                  <a:close/>
                </a:path>
              </a:pathLst>
            </a:custGeom>
            <a:ln w="5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656612" y="2219439"/>
              <a:ext cx="62992" cy="197345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8656615" y="2219436"/>
              <a:ext cx="63500" cy="197485"/>
            </a:xfrm>
            <a:custGeom>
              <a:avLst/>
              <a:gdLst/>
              <a:ahLst/>
              <a:cxnLst/>
              <a:rect l="l" t="t" r="r" b="b"/>
              <a:pathLst>
                <a:path w="63500" h="197485">
                  <a:moveTo>
                    <a:pt x="62627" y="165679"/>
                  </a:moveTo>
                  <a:lnTo>
                    <a:pt x="47038" y="6"/>
                  </a:lnTo>
                  <a:lnTo>
                    <a:pt x="42878" y="8599"/>
                  </a:lnTo>
                  <a:lnTo>
                    <a:pt x="37121" y="13862"/>
                  </a:lnTo>
                  <a:lnTo>
                    <a:pt x="15589" y="0"/>
                  </a:lnTo>
                  <a:lnTo>
                    <a:pt x="0" y="165692"/>
                  </a:lnTo>
                  <a:lnTo>
                    <a:pt x="861" y="176870"/>
                  </a:lnTo>
                  <a:lnTo>
                    <a:pt x="6266" y="186550"/>
                  </a:lnTo>
                  <a:lnTo>
                    <a:pt x="15339" y="193715"/>
                  </a:lnTo>
                  <a:lnTo>
                    <a:pt x="27204" y="197345"/>
                  </a:lnTo>
                  <a:lnTo>
                    <a:pt x="39716" y="196575"/>
                  </a:lnTo>
                  <a:lnTo>
                    <a:pt x="50550" y="191747"/>
                  </a:lnTo>
                  <a:lnTo>
                    <a:pt x="58567" y="183643"/>
                  </a:lnTo>
                  <a:lnTo>
                    <a:pt x="62627" y="173047"/>
                  </a:lnTo>
                  <a:lnTo>
                    <a:pt x="62987" y="170606"/>
                  </a:lnTo>
                  <a:lnTo>
                    <a:pt x="62987" y="168126"/>
                  </a:lnTo>
                  <a:lnTo>
                    <a:pt x="62627" y="165685"/>
                  </a:lnTo>
                  <a:close/>
                </a:path>
              </a:pathLst>
            </a:custGeom>
            <a:ln w="42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680032" y="2080092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4">
                  <a:moveTo>
                    <a:pt x="15793" y="12269"/>
                  </a:moveTo>
                  <a:lnTo>
                    <a:pt x="15793" y="5491"/>
                  </a:lnTo>
                  <a:lnTo>
                    <a:pt x="12258" y="0"/>
                  </a:lnTo>
                  <a:lnTo>
                    <a:pt x="7896" y="0"/>
                  </a:lnTo>
                  <a:lnTo>
                    <a:pt x="3534" y="0"/>
                  </a:lnTo>
                  <a:lnTo>
                    <a:pt x="0" y="5491"/>
                  </a:lnTo>
                  <a:lnTo>
                    <a:pt x="0" y="12269"/>
                  </a:lnTo>
                  <a:lnTo>
                    <a:pt x="0" y="19046"/>
                  </a:lnTo>
                  <a:lnTo>
                    <a:pt x="3534" y="24538"/>
                  </a:lnTo>
                  <a:lnTo>
                    <a:pt x="7896" y="24538"/>
                  </a:lnTo>
                  <a:lnTo>
                    <a:pt x="12258" y="24538"/>
                  </a:lnTo>
                  <a:lnTo>
                    <a:pt x="15793" y="19046"/>
                  </a:lnTo>
                  <a:lnTo>
                    <a:pt x="15793" y="12269"/>
                  </a:lnTo>
                  <a:close/>
                </a:path>
              </a:pathLst>
            </a:custGeom>
            <a:ln w="46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687928" y="2104626"/>
              <a:ext cx="0" cy="116205"/>
            </a:xfrm>
            <a:custGeom>
              <a:avLst/>
              <a:gdLst/>
              <a:ahLst/>
              <a:cxnLst/>
              <a:rect l="l" t="t" r="r" b="b"/>
              <a:pathLst>
                <a:path w="0" h="116205">
                  <a:moveTo>
                    <a:pt x="0" y="116109"/>
                  </a:moveTo>
                  <a:lnTo>
                    <a:pt x="0" y="0"/>
                  </a:lnTo>
                </a:path>
              </a:pathLst>
            </a:custGeom>
            <a:ln w="4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648447" y="2048986"/>
              <a:ext cx="79375" cy="86995"/>
            </a:xfrm>
            <a:custGeom>
              <a:avLst/>
              <a:gdLst/>
              <a:ahLst/>
              <a:cxnLst/>
              <a:rect l="l" t="t" r="r" b="b"/>
              <a:pathLst>
                <a:path w="79375" h="86994">
                  <a:moveTo>
                    <a:pt x="22730" y="17352"/>
                  </a:moveTo>
                  <a:lnTo>
                    <a:pt x="17527" y="29527"/>
                  </a:lnTo>
                  <a:lnTo>
                    <a:pt x="15792" y="43377"/>
                  </a:lnTo>
                  <a:lnTo>
                    <a:pt x="17527" y="57226"/>
                  </a:lnTo>
                  <a:lnTo>
                    <a:pt x="22730" y="69401"/>
                  </a:lnTo>
                </a:path>
                <a:path w="79375" h="86994">
                  <a:moveTo>
                    <a:pt x="56231" y="69401"/>
                  </a:moveTo>
                  <a:lnTo>
                    <a:pt x="61433" y="57224"/>
                  </a:lnTo>
                  <a:lnTo>
                    <a:pt x="63166" y="43374"/>
                  </a:lnTo>
                  <a:lnTo>
                    <a:pt x="61433" y="29526"/>
                  </a:lnTo>
                  <a:lnTo>
                    <a:pt x="56231" y="17352"/>
                  </a:lnTo>
                </a:path>
                <a:path w="79375" h="86994">
                  <a:moveTo>
                    <a:pt x="11566" y="0"/>
                  </a:moveTo>
                  <a:lnTo>
                    <a:pt x="2891" y="20291"/>
                  </a:lnTo>
                  <a:lnTo>
                    <a:pt x="0" y="43373"/>
                  </a:lnTo>
                  <a:lnTo>
                    <a:pt x="2891" y="66456"/>
                  </a:lnTo>
                  <a:lnTo>
                    <a:pt x="11566" y="86747"/>
                  </a:lnTo>
                </a:path>
                <a:path w="79375" h="86994">
                  <a:moveTo>
                    <a:pt x="67400" y="86747"/>
                  </a:moveTo>
                  <a:lnTo>
                    <a:pt x="76070" y="66457"/>
                  </a:lnTo>
                  <a:lnTo>
                    <a:pt x="78960" y="43376"/>
                  </a:lnTo>
                  <a:lnTo>
                    <a:pt x="76070" y="20294"/>
                  </a:lnTo>
                  <a:lnTo>
                    <a:pt x="67400" y="0"/>
                  </a:lnTo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656611" y="2080093"/>
              <a:ext cx="63500" cy="337185"/>
            </a:xfrm>
            <a:custGeom>
              <a:avLst/>
              <a:gdLst/>
              <a:ahLst/>
              <a:cxnLst/>
              <a:rect l="l" t="t" r="r" b="b"/>
              <a:pathLst>
                <a:path w="63500" h="337185">
                  <a:moveTo>
                    <a:pt x="31315" y="126534"/>
                  </a:moveTo>
                  <a:lnTo>
                    <a:pt x="23164" y="126547"/>
                  </a:lnTo>
                  <a:lnTo>
                    <a:pt x="16353" y="132091"/>
                  </a:lnTo>
                  <a:lnTo>
                    <a:pt x="15593" y="139342"/>
                  </a:lnTo>
                  <a:lnTo>
                    <a:pt x="0" y="305035"/>
                  </a:lnTo>
                  <a:lnTo>
                    <a:pt x="861" y="316212"/>
                  </a:lnTo>
                  <a:lnTo>
                    <a:pt x="6266" y="325892"/>
                  </a:lnTo>
                  <a:lnTo>
                    <a:pt x="15339" y="333055"/>
                  </a:lnTo>
                  <a:lnTo>
                    <a:pt x="27204" y="336681"/>
                  </a:lnTo>
                  <a:lnTo>
                    <a:pt x="39718" y="335915"/>
                  </a:lnTo>
                  <a:lnTo>
                    <a:pt x="50554" y="331089"/>
                  </a:lnTo>
                  <a:lnTo>
                    <a:pt x="58571" y="322986"/>
                  </a:lnTo>
                  <a:lnTo>
                    <a:pt x="62631" y="312390"/>
                  </a:lnTo>
                  <a:lnTo>
                    <a:pt x="62991" y="309949"/>
                  </a:lnTo>
                  <a:lnTo>
                    <a:pt x="62991" y="307469"/>
                  </a:lnTo>
                  <a:lnTo>
                    <a:pt x="62631" y="305028"/>
                  </a:lnTo>
                  <a:lnTo>
                    <a:pt x="47159" y="140628"/>
                  </a:lnTo>
                  <a:lnTo>
                    <a:pt x="47139" y="132831"/>
                  </a:lnTo>
                  <a:lnTo>
                    <a:pt x="40048" y="126521"/>
                  </a:lnTo>
                  <a:lnTo>
                    <a:pt x="31315" y="126534"/>
                  </a:lnTo>
                </a:path>
                <a:path w="63500" h="337185">
                  <a:moveTo>
                    <a:pt x="39212" y="12269"/>
                  </a:moveTo>
                  <a:lnTo>
                    <a:pt x="39212" y="5491"/>
                  </a:lnTo>
                  <a:lnTo>
                    <a:pt x="35678" y="0"/>
                  </a:lnTo>
                  <a:lnTo>
                    <a:pt x="31315" y="0"/>
                  </a:lnTo>
                  <a:lnTo>
                    <a:pt x="26953" y="0"/>
                  </a:lnTo>
                  <a:lnTo>
                    <a:pt x="23419" y="5491"/>
                  </a:lnTo>
                  <a:lnTo>
                    <a:pt x="23419" y="12269"/>
                  </a:lnTo>
                  <a:lnTo>
                    <a:pt x="23419" y="19046"/>
                  </a:lnTo>
                  <a:lnTo>
                    <a:pt x="26953" y="24538"/>
                  </a:lnTo>
                  <a:lnTo>
                    <a:pt x="31315" y="24538"/>
                  </a:lnTo>
                  <a:lnTo>
                    <a:pt x="35678" y="24538"/>
                  </a:lnTo>
                  <a:lnTo>
                    <a:pt x="39212" y="19046"/>
                  </a:lnTo>
                  <a:lnTo>
                    <a:pt x="39212" y="12269"/>
                  </a:lnTo>
                  <a:close/>
                </a:path>
                <a:path w="63500" h="337185">
                  <a:moveTo>
                    <a:pt x="31315" y="126534"/>
                  </a:moveTo>
                  <a:lnTo>
                    <a:pt x="31315" y="24538"/>
                  </a:lnTo>
                </a:path>
              </a:pathLst>
            </a:custGeom>
            <a:ln w="10669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621979" y="1700445"/>
              <a:ext cx="829310" cy="520700"/>
            </a:xfrm>
            <a:custGeom>
              <a:avLst/>
              <a:gdLst/>
              <a:ahLst/>
              <a:cxnLst/>
              <a:rect l="l" t="t" r="r" b="b"/>
              <a:pathLst>
                <a:path w="829309" h="520700">
                  <a:moveTo>
                    <a:pt x="829069" y="0"/>
                  </a:moveTo>
                  <a:lnTo>
                    <a:pt x="0" y="52029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961502" y="2392047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40" h="0">
                  <a:moveTo>
                    <a:pt x="0" y="0"/>
                  </a:moveTo>
                  <a:lnTo>
                    <a:pt x="205294" y="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37817" y="3017634"/>
              <a:ext cx="150037" cy="232847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8024050" y="3162110"/>
              <a:ext cx="29209" cy="52069"/>
            </a:xfrm>
            <a:custGeom>
              <a:avLst/>
              <a:gdLst/>
              <a:ahLst/>
              <a:cxnLst/>
              <a:rect l="l" t="t" r="r" b="b"/>
              <a:pathLst>
                <a:path w="29209" h="52069">
                  <a:moveTo>
                    <a:pt x="26066" y="36201"/>
                  </a:moveTo>
                  <a:lnTo>
                    <a:pt x="28555" y="26219"/>
                  </a:lnTo>
                  <a:lnTo>
                    <a:pt x="28839" y="16499"/>
                  </a:lnTo>
                  <a:lnTo>
                    <a:pt x="27011" y="8134"/>
                  </a:lnTo>
                  <a:lnTo>
                    <a:pt x="23166" y="2217"/>
                  </a:lnTo>
                  <a:lnTo>
                    <a:pt x="17946" y="0"/>
                  </a:lnTo>
                  <a:lnTo>
                    <a:pt x="12369" y="1723"/>
                  </a:lnTo>
                  <a:lnTo>
                    <a:pt x="7092" y="6965"/>
                  </a:lnTo>
                  <a:lnTo>
                    <a:pt x="2772" y="15304"/>
                  </a:lnTo>
                  <a:lnTo>
                    <a:pt x="283" y="25289"/>
                  </a:lnTo>
                  <a:lnTo>
                    <a:pt x="0" y="35010"/>
                  </a:lnTo>
                  <a:lnTo>
                    <a:pt x="1827" y="43374"/>
                  </a:lnTo>
                  <a:lnTo>
                    <a:pt x="5672" y="49288"/>
                  </a:lnTo>
                  <a:lnTo>
                    <a:pt x="10894" y="51505"/>
                  </a:lnTo>
                  <a:lnTo>
                    <a:pt x="16471" y="49782"/>
                  </a:lnTo>
                  <a:lnTo>
                    <a:pt x="21747" y="44540"/>
                  </a:lnTo>
                  <a:lnTo>
                    <a:pt x="26066" y="36201"/>
                  </a:lnTo>
                  <a:close/>
                </a:path>
              </a:pathLst>
            </a:custGeom>
            <a:ln w="45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37817" y="3141535"/>
              <a:ext cx="86931" cy="82357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7937820" y="3141534"/>
              <a:ext cx="86995" cy="82550"/>
            </a:xfrm>
            <a:custGeom>
              <a:avLst/>
              <a:gdLst/>
              <a:ahLst/>
              <a:cxnLst/>
              <a:rect l="l" t="t" r="r" b="b"/>
              <a:pathLst>
                <a:path w="86995" h="82550">
                  <a:moveTo>
                    <a:pt x="40065" y="0"/>
                  </a:moveTo>
                  <a:lnTo>
                    <a:pt x="4654" y="31581"/>
                  </a:lnTo>
                  <a:lnTo>
                    <a:pt x="0" y="45889"/>
                  </a:lnTo>
                  <a:lnTo>
                    <a:pt x="2476" y="55432"/>
                  </a:lnTo>
                  <a:lnTo>
                    <a:pt x="33098" y="82361"/>
                  </a:lnTo>
                  <a:lnTo>
                    <a:pt x="41648" y="81442"/>
                  </a:lnTo>
                  <a:lnTo>
                    <a:pt x="50005" y="77730"/>
                  </a:lnTo>
                  <a:lnTo>
                    <a:pt x="86928" y="43208"/>
                  </a:lnTo>
                  <a:lnTo>
                    <a:pt x="40065" y="0"/>
                  </a:lnTo>
                  <a:close/>
                </a:path>
              </a:pathLst>
            </a:custGeom>
            <a:ln w="5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88833" y="3017113"/>
              <a:ext cx="83560" cy="146075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7988826" y="3017629"/>
              <a:ext cx="83820" cy="146050"/>
            </a:xfrm>
            <a:custGeom>
              <a:avLst/>
              <a:gdLst/>
              <a:ahLst/>
              <a:cxnLst/>
              <a:rect l="l" t="t" r="r" b="b"/>
              <a:pathLst>
                <a:path w="83820" h="146050">
                  <a:moveTo>
                    <a:pt x="0" y="101412"/>
                  </a:moveTo>
                  <a:lnTo>
                    <a:pt x="48726" y="145555"/>
                  </a:lnTo>
                  <a:lnTo>
                    <a:pt x="51948" y="144542"/>
                  </a:lnTo>
                  <a:lnTo>
                    <a:pt x="79629" y="68837"/>
                  </a:lnTo>
                  <a:lnTo>
                    <a:pt x="83564" y="50834"/>
                  </a:lnTo>
                  <a:lnTo>
                    <a:pt x="82863" y="32602"/>
                  </a:lnTo>
                  <a:lnTo>
                    <a:pt x="63505" y="0"/>
                  </a:lnTo>
                  <a:lnTo>
                    <a:pt x="53089" y="146"/>
                  </a:lnTo>
                  <a:lnTo>
                    <a:pt x="43268" y="4815"/>
                  </a:lnTo>
                  <a:lnTo>
                    <a:pt x="34615" y="13593"/>
                  </a:lnTo>
                  <a:lnTo>
                    <a:pt x="27701" y="26063"/>
                  </a:lnTo>
                  <a:lnTo>
                    <a:pt x="0" y="101412"/>
                  </a:lnTo>
                  <a:close/>
                </a:path>
              </a:pathLst>
            </a:custGeom>
            <a:ln w="4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77886" y="3119043"/>
              <a:ext cx="59664" cy="65697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7977885" y="3119041"/>
              <a:ext cx="59690" cy="66040"/>
            </a:xfrm>
            <a:custGeom>
              <a:avLst/>
              <a:gdLst/>
              <a:ahLst/>
              <a:cxnLst/>
              <a:rect l="l" t="t" r="r" b="b"/>
              <a:pathLst>
                <a:path w="59690" h="66039">
                  <a:moveTo>
                    <a:pt x="0" y="22493"/>
                  </a:moveTo>
                  <a:lnTo>
                    <a:pt x="46863" y="65701"/>
                  </a:lnTo>
                  <a:lnTo>
                    <a:pt x="48747" y="55698"/>
                  </a:lnTo>
                  <a:lnTo>
                    <a:pt x="53489" y="47713"/>
                  </a:lnTo>
                  <a:lnTo>
                    <a:pt x="59669" y="44143"/>
                  </a:lnTo>
                  <a:lnTo>
                    <a:pt x="10942" y="0"/>
                  </a:lnTo>
                  <a:lnTo>
                    <a:pt x="5160" y="4122"/>
                  </a:lnTo>
                  <a:lnTo>
                    <a:pt x="1052" y="12561"/>
                  </a:lnTo>
                  <a:lnTo>
                    <a:pt x="0" y="22493"/>
                  </a:lnTo>
                  <a:close/>
                </a:path>
              </a:pathLst>
            </a:custGeom>
            <a:ln w="5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963026" y="3186647"/>
              <a:ext cx="8255" cy="10160"/>
            </a:xfrm>
            <a:custGeom>
              <a:avLst/>
              <a:gdLst/>
              <a:ahLst/>
              <a:cxnLst/>
              <a:rect l="l" t="t" r="r" b="b"/>
              <a:pathLst>
                <a:path w="8254" h="10160">
                  <a:moveTo>
                    <a:pt x="2720" y="9555"/>
                  </a:moveTo>
                  <a:lnTo>
                    <a:pt x="747" y="8497"/>
                  </a:lnTo>
                  <a:lnTo>
                    <a:pt x="0" y="4161"/>
                  </a:lnTo>
                  <a:lnTo>
                    <a:pt x="1366" y="1713"/>
                  </a:lnTo>
                  <a:lnTo>
                    <a:pt x="5481" y="0"/>
                  </a:lnTo>
                  <a:lnTo>
                    <a:pt x="7453" y="1058"/>
                  </a:lnTo>
                  <a:lnTo>
                    <a:pt x="7825" y="3226"/>
                  </a:lnTo>
                  <a:lnTo>
                    <a:pt x="8197" y="5394"/>
                  </a:lnTo>
                  <a:lnTo>
                    <a:pt x="6835" y="7841"/>
                  </a:lnTo>
                  <a:lnTo>
                    <a:pt x="2720" y="95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7963025" y="3186647"/>
              <a:ext cx="8255" cy="10160"/>
            </a:xfrm>
            <a:custGeom>
              <a:avLst/>
              <a:gdLst/>
              <a:ahLst/>
              <a:cxnLst/>
              <a:rect l="l" t="t" r="r" b="b"/>
              <a:pathLst>
                <a:path w="8254" h="10160">
                  <a:moveTo>
                    <a:pt x="7825" y="3226"/>
                  </a:moveTo>
                  <a:lnTo>
                    <a:pt x="7453" y="1058"/>
                  </a:lnTo>
                  <a:lnTo>
                    <a:pt x="5481" y="0"/>
                  </a:lnTo>
                  <a:lnTo>
                    <a:pt x="3421" y="856"/>
                  </a:lnTo>
                  <a:lnTo>
                    <a:pt x="1366" y="1713"/>
                  </a:lnTo>
                  <a:lnTo>
                    <a:pt x="0" y="4161"/>
                  </a:lnTo>
                  <a:lnTo>
                    <a:pt x="376" y="6329"/>
                  </a:lnTo>
                  <a:lnTo>
                    <a:pt x="747" y="8497"/>
                  </a:lnTo>
                  <a:lnTo>
                    <a:pt x="2720" y="9555"/>
                  </a:lnTo>
                  <a:lnTo>
                    <a:pt x="4775" y="8698"/>
                  </a:lnTo>
                  <a:lnTo>
                    <a:pt x="6835" y="7841"/>
                  </a:lnTo>
                  <a:lnTo>
                    <a:pt x="8197" y="5394"/>
                  </a:lnTo>
                  <a:lnTo>
                    <a:pt x="7825" y="3226"/>
                  </a:lnTo>
                  <a:close/>
                </a:path>
              </a:pathLst>
            </a:custGeom>
            <a:ln w="4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15262" y="3026587"/>
              <a:ext cx="52374" cy="77698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8015268" y="3026578"/>
              <a:ext cx="52705" cy="78105"/>
            </a:xfrm>
            <a:custGeom>
              <a:avLst/>
              <a:gdLst/>
              <a:ahLst/>
              <a:cxnLst/>
              <a:rect l="l" t="t" r="r" b="b"/>
              <a:pathLst>
                <a:path w="52704" h="78105">
                  <a:moveTo>
                    <a:pt x="0" y="39715"/>
                  </a:moveTo>
                  <a:lnTo>
                    <a:pt x="42217" y="77698"/>
                  </a:lnTo>
                  <a:lnTo>
                    <a:pt x="49219" y="57502"/>
                  </a:lnTo>
                  <a:lnTo>
                    <a:pt x="52368" y="43100"/>
                  </a:lnTo>
                  <a:lnTo>
                    <a:pt x="40483" y="5173"/>
                  </a:lnTo>
                  <a:lnTo>
                    <a:pt x="32527" y="0"/>
                  </a:lnTo>
                  <a:lnTo>
                    <a:pt x="28215" y="6"/>
                  </a:lnTo>
                  <a:lnTo>
                    <a:pt x="21948" y="2169"/>
                  </a:lnTo>
                  <a:lnTo>
                    <a:pt x="16222" y="6440"/>
                  </a:lnTo>
                  <a:lnTo>
                    <a:pt x="11244" y="12616"/>
                  </a:lnTo>
                  <a:lnTo>
                    <a:pt x="7224" y="20494"/>
                  </a:lnTo>
                  <a:lnTo>
                    <a:pt x="0" y="39715"/>
                  </a:lnTo>
                  <a:close/>
                </a:path>
              </a:pathLst>
            </a:custGeom>
            <a:ln w="4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937817" y="3017322"/>
              <a:ext cx="150495" cy="233045"/>
            </a:xfrm>
            <a:custGeom>
              <a:avLst/>
              <a:gdLst/>
              <a:ahLst/>
              <a:cxnLst/>
              <a:rect l="l" t="t" r="r" b="b"/>
              <a:pathLst>
                <a:path w="150495" h="233044">
                  <a:moveTo>
                    <a:pt x="51008" y="101718"/>
                  </a:moveTo>
                  <a:lnTo>
                    <a:pt x="45296" y="105983"/>
                  </a:lnTo>
                  <a:lnTo>
                    <a:pt x="41226" y="114351"/>
                  </a:lnTo>
                  <a:lnTo>
                    <a:pt x="40065" y="124212"/>
                  </a:lnTo>
                  <a:lnTo>
                    <a:pt x="4658" y="155794"/>
                  </a:lnTo>
                  <a:lnTo>
                    <a:pt x="1838" y="159221"/>
                  </a:lnTo>
                  <a:lnTo>
                    <a:pt x="129" y="164466"/>
                  </a:lnTo>
                  <a:lnTo>
                    <a:pt x="0" y="170101"/>
                  </a:lnTo>
                  <a:lnTo>
                    <a:pt x="29" y="197755"/>
                  </a:lnTo>
                  <a:lnTo>
                    <a:pt x="25880" y="231772"/>
                  </a:lnTo>
                  <a:lnTo>
                    <a:pt x="32543" y="232913"/>
                  </a:lnTo>
                  <a:lnTo>
                    <a:pt x="39221" y="232818"/>
                  </a:lnTo>
                  <a:lnTo>
                    <a:pt x="45847" y="231494"/>
                  </a:lnTo>
                  <a:lnTo>
                    <a:pt x="52353" y="228948"/>
                  </a:lnTo>
                  <a:lnTo>
                    <a:pt x="90225" y="194282"/>
                  </a:lnTo>
                  <a:lnTo>
                    <a:pt x="96024" y="196163"/>
                  </a:lnTo>
                  <a:lnTo>
                    <a:pt x="114826" y="169368"/>
                  </a:lnTo>
                  <a:lnTo>
                    <a:pt x="114007" y="161675"/>
                  </a:lnTo>
                  <a:lnTo>
                    <a:pt x="148971" y="69604"/>
                  </a:lnTo>
                  <a:lnTo>
                    <a:pt x="149957" y="53575"/>
                  </a:lnTo>
                  <a:lnTo>
                    <a:pt x="147737" y="38262"/>
                  </a:lnTo>
                  <a:lnTo>
                    <a:pt x="142607" y="24826"/>
                  </a:lnTo>
                  <a:lnTo>
                    <a:pt x="134865" y="14432"/>
                  </a:lnTo>
                  <a:lnTo>
                    <a:pt x="114513" y="306"/>
                  </a:lnTo>
                  <a:lnTo>
                    <a:pt x="103982" y="0"/>
                  </a:lnTo>
                  <a:lnTo>
                    <a:pt x="94078" y="4552"/>
                  </a:lnTo>
                  <a:lnTo>
                    <a:pt x="85441" y="13498"/>
                  </a:lnTo>
                  <a:lnTo>
                    <a:pt x="78714" y="26370"/>
                  </a:lnTo>
                  <a:lnTo>
                    <a:pt x="51008" y="101718"/>
                  </a:lnTo>
                </a:path>
              </a:pathLst>
            </a:custGeom>
            <a:ln w="9712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001584" y="3078911"/>
              <a:ext cx="45491" cy="68999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8007532" y="3084134"/>
              <a:ext cx="36830" cy="59690"/>
            </a:xfrm>
            <a:custGeom>
              <a:avLst/>
              <a:gdLst/>
              <a:ahLst/>
              <a:cxnLst/>
              <a:rect l="l" t="t" r="r" b="b"/>
              <a:pathLst>
                <a:path w="36829" h="59689">
                  <a:moveTo>
                    <a:pt x="21183" y="49751"/>
                  </a:moveTo>
                  <a:lnTo>
                    <a:pt x="24275" y="52452"/>
                  </a:lnTo>
                  <a:lnTo>
                    <a:pt x="24584" y="54665"/>
                  </a:lnTo>
                  <a:lnTo>
                    <a:pt x="23038" y="59333"/>
                  </a:lnTo>
                </a:path>
                <a:path w="36829" h="59689">
                  <a:moveTo>
                    <a:pt x="10591" y="40293"/>
                  </a:moveTo>
                  <a:lnTo>
                    <a:pt x="13683" y="42994"/>
                  </a:lnTo>
                  <a:lnTo>
                    <a:pt x="13992" y="45207"/>
                  </a:lnTo>
                  <a:lnTo>
                    <a:pt x="12447" y="49875"/>
                  </a:lnTo>
                </a:path>
                <a:path w="36829" h="59689">
                  <a:moveTo>
                    <a:pt x="0" y="31322"/>
                  </a:moveTo>
                  <a:lnTo>
                    <a:pt x="3091" y="34029"/>
                  </a:lnTo>
                  <a:lnTo>
                    <a:pt x="3401" y="36236"/>
                  </a:lnTo>
                  <a:lnTo>
                    <a:pt x="1855" y="40903"/>
                  </a:lnTo>
                </a:path>
                <a:path w="36829" h="59689">
                  <a:moveTo>
                    <a:pt x="6104" y="15229"/>
                  </a:moveTo>
                  <a:lnTo>
                    <a:pt x="9200" y="17936"/>
                  </a:lnTo>
                  <a:lnTo>
                    <a:pt x="9509" y="20143"/>
                  </a:lnTo>
                  <a:lnTo>
                    <a:pt x="7963" y="24810"/>
                  </a:lnTo>
                </a:path>
                <a:path w="36829" h="59689">
                  <a:moveTo>
                    <a:pt x="12058" y="0"/>
                  </a:moveTo>
                  <a:lnTo>
                    <a:pt x="15154" y="2700"/>
                  </a:lnTo>
                  <a:lnTo>
                    <a:pt x="15463" y="4914"/>
                  </a:lnTo>
                  <a:lnTo>
                    <a:pt x="13913" y="9581"/>
                  </a:lnTo>
                </a:path>
                <a:path w="36829" h="59689">
                  <a:moveTo>
                    <a:pt x="22654" y="8964"/>
                  </a:moveTo>
                  <a:lnTo>
                    <a:pt x="25746" y="11671"/>
                  </a:lnTo>
                  <a:lnTo>
                    <a:pt x="26055" y="13879"/>
                  </a:lnTo>
                  <a:lnTo>
                    <a:pt x="24509" y="18546"/>
                  </a:lnTo>
                </a:path>
                <a:path w="36829" h="59689">
                  <a:moveTo>
                    <a:pt x="33246" y="18423"/>
                  </a:moveTo>
                  <a:lnTo>
                    <a:pt x="36338" y="21130"/>
                  </a:lnTo>
                  <a:lnTo>
                    <a:pt x="36647" y="23337"/>
                  </a:lnTo>
                  <a:lnTo>
                    <a:pt x="35101" y="28004"/>
                  </a:lnTo>
                </a:path>
                <a:path w="36829" h="59689">
                  <a:moveTo>
                    <a:pt x="16700" y="24200"/>
                  </a:moveTo>
                  <a:lnTo>
                    <a:pt x="19792" y="26901"/>
                  </a:lnTo>
                  <a:lnTo>
                    <a:pt x="20101" y="29114"/>
                  </a:lnTo>
                  <a:lnTo>
                    <a:pt x="18555" y="33782"/>
                  </a:lnTo>
                </a:path>
                <a:path w="36829" h="59689">
                  <a:moveTo>
                    <a:pt x="27292" y="33659"/>
                  </a:moveTo>
                  <a:lnTo>
                    <a:pt x="30384" y="36359"/>
                  </a:lnTo>
                  <a:lnTo>
                    <a:pt x="30693" y="38573"/>
                  </a:lnTo>
                  <a:lnTo>
                    <a:pt x="29147" y="43240"/>
                  </a:lnTo>
                </a:path>
              </a:pathLst>
            </a:custGeom>
            <a:ln w="512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621982" y="2613300"/>
              <a:ext cx="323850" cy="417195"/>
            </a:xfrm>
            <a:custGeom>
              <a:avLst/>
              <a:gdLst/>
              <a:ahLst/>
              <a:cxnLst/>
              <a:rect l="l" t="t" r="r" b="b"/>
              <a:pathLst>
                <a:path w="323850" h="417194">
                  <a:moveTo>
                    <a:pt x="0" y="0"/>
                  </a:moveTo>
                  <a:lnTo>
                    <a:pt x="323730" y="417099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577983" y="2611645"/>
              <a:ext cx="388620" cy="509905"/>
            </a:xfrm>
            <a:custGeom>
              <a:avLst/>
              <a:gdLst/>
              <a:ahLst/>
              <a:cxnLst/>
              <a:rect l="l" t="t" r="r" b="b"/>
              <a:pathLst>
                <a:path w="388620" h="509905">
                  <a:moveTo>
                    <a:pt x="0" y="0"/>
                  </a:moveTo>
                  <a:lnTo>
                    <a:pt x="388230" y="509813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8135213" y="2613300"/>
              <a:ext cx="371475" cy="417195"/>
            </a:xfrm>
            <a:custGeom>
              <a:avLst/>
              <a:gdLst/>
              <a:ahLst/>
              <a:cxnLst/>
              <a:rect l="l" t="t" r="r" b="b"/>
              <a:pathLst>
                <a:path w="371475" h="417194">
                  <a:moveTo>
                    <a:pt x="371108" y="0"/>
                  </a:moveTo>
                  <a:lnTo>
                    <a:pt x="0" y="417099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8466841" y="1705059"/>
              <a:ext cx="0" cy="520700"/>
            </a:xfrm>
            <a:custGeom>
              <a:avLst/>
              <a:gdLst/>
              <a:ahLst/>
              <a:cxnLst/>
              <a:rect l="l" t="t" r="r" b="b"/>
              <a:pathLst>
                <a:path w="0" h="520700">
                  <a:moveTo>
                    <a:pt x="0" y="0"/>
                  </a:moveTo>
                  <a:lnTo>
                    <a:pt x="0" y="52029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558812" y="1700445"/>
              <a:ext cx="829310" cy="520700"/>
            </a:xfrm>
            <a:custGeom>
              <a:avLst/>
              <a:gdLst/>
              <a:ahLst/>
              <a:cxnLst/>
              <a:rect l="l" t="t" r="r" b="b"/>
              <a:pathLst>
                <a:path w="829309" h="520700">
                  <a:moveTo>
                    <a:pt x="829069" y="0"/>
                  </a:moveTo>
                  <a:lnTo>
                    <a:pt x="0" y="52029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7961502" y="2441117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40" h="0">
                  <a:moveTo>
                    <a:pt x="0" y="0"/>
                  </a:moveTo>
                  <a:lnTo>
                    <a:pt x="205294" y="0"/>
                  </a:lnTo>
                </a:path>
              </a:pathLst>
            </a:custGeom>
            <a:ln w="3175">
              <a:solidFill>
                <a:srgbClr val="4677B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 descr=""/>
          <p:cNvSpPr txBox="1"/>
          <p:nvPr/>
        </p:nvSpPr>
        <p:spPr>
          <a:xfrm>
            <a:off x="944882" y="2859694"/>
            <a:ext cx="596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C00000"/>
                </a:solidFill>
                <a:latin typeface="Microsoft YaHei"/>
                <a:cs typeface="Microsoft YaHei"/>
              </a:rPr>
              <a:t>option2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67" name="object 167" descr=""/>
          <p:cNvSpPr txBox="1"/>
          <p:nvPr/>
        </p:nvSpPr>
        <p:spPr>
          <a:xfrm>
            <a:off x="5913433" y="3435757"/>
            <a:ext cx="596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C00000"/>
                </a:solidFill>
                <a:latin typeface="Microsoft YaHei"/>
                <a:cs typeface="Microsoft YaHei"/>
              </a:rPr>
              <a:t>option4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68" name="object 168" descr=""/>
          <p:cNvSpPr txBox="1"/>
          <p:nvPr/>
        </p:nvSpPr>
        <p:spPr>
          <a:xfrm>
            <a:off x="7785642" y="3374782"/>
            <a:ext cx="674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C00000"/>
                </a:solidFill>
                <a:latin typeface="Microsoft YaHei"/>
                <a:cs typeface="Microsoft YaHei"/>
              </a:rPr>
              <a:t>option7x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69" name="object 169" descr=""/>
          <p:cNvSpPr/>
          <p:nvPr/>
        </p:nvSpPr>
        <p:spPr>
          <a:xfrm>
            <a:off x="0" y="888555"/>
            <a:ext cx="2954655" cy="4255135"/>
          </a:xfrm>
          <a:custGeom>
            <a:avLst/>
            <a:gdLst/>
            <a:ahLst/>
            <a:cxnLst/>
            <a:rect l="l" t="t" r="r" b="b"/>
            <a:pathLst>
              <a:path w="2954655" h="4255135">
                <a:moveTo>
                  <a:pt x="0" y="492404"/>
                </a:moveTo>
                <a:lnTo>
                  <a:pt x="2254" y="444982"/>
                </a:lnTo>
                <a:lnTo>
                  <a:pt x="8878" y="398836"/>
                </a:lnTo>
                <a:lnTo>
                  <a:pt x="19667" y="354172"/>
                </a:lnTo>
                <a:lnTo>
                  <a:pt x="34414" y="311195"/>
                </a:lnTo>
                <a:lnTo>
                  <a:pt x="52913" y="270113"/>
                </a:lnTo>
                <a:lnTo>
                  <a:pt x="74957" y="231131"/>
                </a:lnTo>
                <a:lnTo>
                  <a:pt x="100339" y="194457"/>
                </a:lnTo>
                <a:lnTo>
                  <a:pt x="128855" y="160296"/>
                </a:lnTo>
                <a:lnTo>
                  <a:pt x="160296" y="128855"/>
                </a:lnTo>
                <a:lnTo>
                  <a:pt x="194457" y="100339"/>
                </a:lnTo>
                <a:lnTo>
                  <a:pt x="231131" y="74957"/>
                </a:lnTo>
                <a:lnTo>
                  <a:pt x="270113" y="52913"/>
                </a:lnTo>
                <a:lnTo>
                  <a:pt x="311195" y="34414"/>
                </a:lnTo>
                <a:lnTo>
                  <a:pt x="354172" y="19667"/>
                </a:lnTo>
                <a:lnTo>
                  <a:pt x="398836" y="8878"/>
                </a:lnTo>
                <a:lnTo>
                  <a:pt x="444982" y="2254"/>
                </a:lnTo>
                <a:lnTo>
                  <a:pt x="492404" y="0"/>
                </a:lnTo>
                <a:lnTo>
                  <a:pt x="2461971" y="0"/>
                </a:lnTo>
                <a:lnTo>
                  <a:pt x="2509392" y="2254"/>
                </a:lnTo>
                <a:lnTo>
                  <a:pt x="2555538" y="8878"/>
                </a:lnTo>
                <a:lnTo>
                  <a:pt x="2600203" y="19667"/>
                </a:lnTo>
                <a:lnTo>
                  <a:pt x="2643180" y="34414"/>
                </a:lnTo>
                <a:lnTo>
                  <a:pt x="2684262" y="52913"/>
                </a:lnTo>
                <a:lnTo>
                  <a:pt x="2723243" y="74957"/>
                </a:lnTo>
                <a:lnTo>
                  <a:pt x="2759918" y="100339"/>
                </a:lnTo>
                <a:lnTo>
                  <a:pt x="2794079" y="128855"/>
                </a:lnTo>
                <a:lnTo>
                  <a:pt x="2825520" y="160296"/>
                </a:lnTo>
                <a:lnTo>
                  <a:pt x="2854035" y="194457"/>
                </a:lnTo>
                <a:lnTo>
                  <a:pt x="2879418" y="231131"/>
                </a:lnTo>
                <a:lnTo>
                  <a:pt x="2901462" y="270113"/>
                </a:lnTo>
                <a:lnTo>
                  <a:pt x="2919960" y="311195"/>
                </a:lnTo>
                <a:lnTo>
                  <a:pt x="2934707" y="354172"/>
                </a:lnTo>
                <a:lnTo>
                  <a:pt x="2945496" y="398836"/>
                </a:lnTo>
                <a:lnTo>
                  <a:pt x="2952121" y="444982"/>
                </a:lnTo>
                <a:lnTo>
                  <a:pt x="2954375" y="492404"/>
                </a:lnTo>
                <a:lnTo>
                  <a:pt x="2954375" y="3762540"/>
                </a:lnTo>
                <a:lnTo>
                  <a:pt x="2952121" y="3809961"/>
                </a:lnTo>
                <a:lnTo>
                  <a:pt x="2945496" y="3856107"/>
                </a:lnTo>
                <a:lnTo>
                  <a:pt x="2934707" y="3900772"/>
                </a:lnTo>
                <a:lnTo>
                  <a:pt x="2919960" y="3943748"/>
                </a:lnTo>
                <a:lnTo>
                  <a:pt x="2901462" y="3984831"/>
                </a:lnTo>
                <a:lnTo>
                  <a:pt x="2879418" y="4023812"/>
                </a:lnTo>
                <a:lnTo>
                  <a:pt x="2854035" y="4060487"/>
                </a:lnTo>
                <a:lnTo>
                  <a:pt x="2825520" y="4094648"/>
                </a:lnTo>
                <a:lnTo>
                  <a:pt x="2794079" y="4126089"/>
                </a:lnTo>
                <a:lnTo>
                  <a:pt x="2759918" y="4154604"/>
                </a:lnTo>
                <a:lnTo>
                  <a:pt x="2723243" y="4179987"/>
                </a:lnTo>
                <a:lnTo>
                  <a:pt x="2684262" y="4202031"/>
                </a:lnTo>
                <a:lnTo>
                  <a:pt x="2643180" y="4220529"/>
                </a:lnTo>
                <a:lnTo>
                  <a:pt x="2600203" y="4235276"/>
                </a:lnTo>
                <a:lnTo>
                  <a:pt x="2555538" y="4246065"/>
                </a:lnTo>
                <a:lnTo>
                  <a:pt x="2509392" y="4252690"/>
                </a:lnTo>
                <a:lnTo>
                  <a:pt x="2461971" y="4254944"/>
                </a:lnTo>
                <a:lnTo>
                  <a:pt x="492404" y="4254944"/>
                </a:lnTo>
                <a:lnTo>
                  <a:pt x="444982" y="4252690"/>
                </a:lnTo>
                <a:lnTo>
                  <a:pt x="398836" y="4246065"/>
                </a:lnTo>
                <a:lnTo>
                  <a:pt x="354172" y="4235276"/>
                </a:lnTo>
                <a:lnTo>
                  <a:pt x="311195" y="4220529"/>
                </a:lnTo>
                <a:lnTo>
                  <a:pt x="270113" y="4202031"/>
                </a:lnTo>
                <a:lnTo>
                  <a:pt x="231131" y="4179987"/>
                </a:lnTo>
                <a:lnTo>
                  <a:pt x="194457" y="4154604"/>
                </a:lnTo>
                <a:lnTo>
                  <a:pt x="160296" y="4126089"/>
                </a:lnTo>
                <a:lnTo>
                  <a:pt x="128855" y="4094648"/>
                </a:lnTo>
                <a:lnTo>
                  <a:pt x="100339" y="4060487"/>
                </a:lnTo>
                <a:lnTo>
                  <a:pt x="74957" y="4023812"/>
                </a:lnTo>
                <a:lnTo>
                  <a:pt x="52913" y="3984831"/>
                </a:lnTo>
                <a:lnTo>
                  <a:pt x="34414" y="3943748"/>
                </a:lnTo>
                <a:lnTo>
                  <a:pt x="19667" y="3900772"/>
                </a:lnTo>
                <a:lnTo>
                  <a:pt x="8878" y="3856107"/>
                </a:lnTo>
                <a:lnTo>
                  <a:pt x="2254" y="3809961"/>
                </a:lnTo>
                <a:lnTo>
                  <a:pt x="0" y="3762540"/>
                </a:lnTo>
                <a:lnTo>
                  <a:pt x="0" y="492404"/>
                </a:lnTo>
                <a:close/>
              </a:path>
            </a:pathLst>
          </a:custGeom>
          <a:ln w="25400">
            <a:solidFill>
              <a:srgbClr val="C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 descr=""/>
          <p:cNvSpPr txBox="1"/>
          <p:nvPr/>
        </p:nvSpPr>
        <p:spPr>
          <a:xfrm>
            <a:off x="1221249" y="933784"/>
            <a:ext cx="334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00000"/>
                </a:solidFill>
                <a:latin typeface="Microsoft YaHei"/>
                <a:cs typeface="Microsoft YaHei"/>
              </a:rPr>
              <a:t>SA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71" name="object 171" descr=""/>
          <p:cNvSpPr/>
          <p:nvPr/>
        </p:nvSpPr>
        <p:spPr>
          <a:xfrm>
            <a:off x="3098389" y="903356"/>
            <a:ext cx="5833110" cy="4240530"/>
          </a:xfrm>
          <a:custGeom>
            <a:avLst/>
            <a:gdLst/>
            <a:ahLst/>
            <a:cxnLst/>
            <a:rect l="l" t="t" r="r" b="b"/>
            <a:pathLst>
              <a:path w="5833109" h="4240530">
                <a:moveTo>
                  <a:pt x="0" y="706704"/>
                </a:moveTo>
                <a:lnTo>
                  <a:pt x="1630" y="658319"/>
                </a:lnTo>
                <a:lnTo>
                  <a:pt x="6451" y="610809"/>
                </a:lnTo>
                <a:lnTo>
                  <a:pt x="14357" y="564280"/>
                </a:lnTo>
                <a:lnTo>
                  <a:pt x="25244" y="518836"/>
                </a:lnTo>
                <a:lnTo>
                  <a:pt x="39006" y="474582"/>
                </a:lnTo>
                <a:lnTo>
                  <a:pt x="55537" y="431625"/>
                </a:lnTo>
                <a:lnTo>
                  <a:pt x="74732" y="390069"/>
                </a:lnTo>
                <a:lnTo>
                  <a:pt x="96487" y="350019"/>
                </a:lnTo>
                <a:lnTo>
                  <a:pt x="120695" y="311581"/>
                </a:lnTo>
                <a:lnTo>
                  <a:pt x="147252" y="274860"/>
                </a:lnTo>
                <a:lnTo>
                  <a:pt x="176052" y="239962"/>
                </a:lnTo>
                <a:lnTo>
                  <a:pt x="206990" y="206990"/>
                </a:lnTo>
                <a:lnTo>
                  <a:pt x="239962" y="176052"/>
                </a:lnTo>
                <a:lnTo>
                  <a:pt x="274860" y="147252"/>
                </a:lnTo>
                <a:lnTo>
                  <a:pt x="311581" y="120695"/>
                </a:lnTo>
                <a:lnTo>
                  <a:pt x="350019" y="96487"/>
                </a:lnTo>
                <a:lnTo>
                  <a:pt x="390069" y="74732"/>
                </a:lnTo>
                <a:lnTo>
                  <a:pt x="431625" y="55537"/>
                </a:lnTo>
                <a:lnTo>
                  <a:pt x="474582" y="39006"/>
                </a:lnTo>
                <a:lnTo>
                  <a:pt x="518836" y="25244"/>
                </a:lnTo>
                <a:lnTo>
                  <a:pt x="564280" y="14357"/>
                </a:lnTo>
                <a:lnTo>
                  <a:pt x="610809" y="6451"/>
                </a:lnTo>
                <a:lnTo>
                  <a:pt x="658319" y="1630"/>
                </a:lnTo>
                <a:lnTo>
                  <a:pt x="706704" y="0"/>
                </a:lnTo>
                <a:lnTo>
                  <a:pt x="5125948" y="0"/>
                </a:lnTo>
                <a:lnTo>
                  <a:pt x="5174322" y="1630"/>
                </a:lnTo>
                <a:lnTo>
                  <a:pt x="5221833" y="6451"/>
                </a:lnTo>
                <a:lnTo>
                  <a:pt x="5268364" y="14357"/>
                </a:lnTo>
                <a:lnTo>
                  <a:pt x="5313809" y="25243"/>
                </a:lnTo>
                <a:lnTo>
                  <a:pt x="5358063" y="39004"/>
                </a:lnTo>
                <a:lnTo>
                  <a:pt x="5401021" y="55535"/>
                </a:lnTo>
                <a:lnTo>
                  <a:pt x="5442578" y="74730"/>
                </a:lnTo>
                <a:lnTo>
                  <a:pt x="5482629" y="96484"/>
                </a:lnTo>
                <a:lnTo>
                  <a:pt x="5521067" y="120692"/>
                </a:lnTo>
                <a:lnTo>
                  <a:pt x="5557788" y="147248"/>
                </a:lnTo>
                <a:lnTo>
                  <a:pt x="5592687" y="176048"/>
                </a:lnTo>
                <a:lnTo>
                  <a:pt x="5625658" y="206986"/>
                </a:lnTo>
                <a:lnTo>
                  <a:pt x="5656596" y="239956"/>
                </a:lnTo>
                <a:lnTo>
                  <a:pt x="5685396" y="274855"/>
                </a:lnTo>
                <a:lnTo>
                  <a:pt x="5711953" y="311576"/>
                </a:lnTo>
                <a:lnTo>
                  <a:pt x="5736161" y="350013"/>
                </a:lnTo>
                <a:lnTo>
                  <a:pt x="5757915" y="390063"/>
                </a:lnTo>
                <a:lnTo>
                  <a:pt x="5777110" y="431620"/>
                </a:lnTo>
                <a:lnTo>
                  <a:pt x="5793640" y="474577"/>
                </a:lnTo>
                <a:lnTo>
                  <a:pt x="5807400" y="518831"/>
                </a:lnTo>
                <a:lnTo>
                  <a:pt x="5818286" y="564276"/>
                </a:lnTo>
                <a:lnTo>
                  <a:pt x="5826191" y="610807"/>
                </a:lnTo>
                <a:lnTo>
                  <a:pt x="5831011" y="658318"/>
                </a:lnTo>
                <a:lnTo>
                  <a:pt x="5832640" y="706704"/>
                </a:lnTo>
                <a:lnTo>
                  <a:pt x="5832652" y="3533444"/>
                </a:lnTo>
                <a:lnTo>
                  <a:pt x="5831022" y="3581829"/>
                </a:lnTo>
                <a:lnTo>
                  <a:pt x="5826201" y="3629339"/>
                </a:lnTo>
                <a:lnTo>
                  <a:pt x="5818294" y="3675868"/>
                </a:lnTo>
                <a:lnTo>
                  <a:pt x="5807408" y="3721312"/>
                </a:lnTo>
                <a:lnTo>
                  <a:pt x="5793646" y="3765566"/>
                </a:lnTo>
                <a:lnTo>
                  <a:pt x="5777115" y="3808523"/>
                </a:lnTo>
                <a:lnTo>
                  <a:pt x="5757920" y="3850079"/>
                </a:lnTo>
                <a:lnTo>
                  <a:pt x="5736165" y="3890129"/>
                </a:lnTo>
                <a:lnTo>
                  <a:pt x="5711957" y="3928567"/>
                </a:lnTo>
                <a:lnTo>
                  <a:pt x="5685400" y="3965288"/>
                </a:lnTo>
                <a:lnTo>
                  <a:pt x="5656600" y="4000186"/>
                </a:lnTo>
                <a:lnTo>
                  <a:pt x="5625661" y="4033158"/>
                </a:lnTo>
                <a:lnTo>
                  <a:pt x="5592690" y="4064096"/>
                </a:lnTo>
                <a:lnTo>
                  <a:pt x="5557792" y="4092896"/>
                </a:lnTo>
                <a:lnTo>
                  <a:pt x="5521071" y="4119453"/>
                </a:lnTo>
                <a:lnTo>
                  <a:pt x="5482633" y="4143661"/>
                </a:lnTo>
                <a:lnTo>
                  <a:pt x="5442583" y="4165416"/>
                </a:lnTo>
                <a:lnTo>
                  <a:pt x="5401027" y="4184611"/>
                </a:lnTo>
                <a:lnTo>
                  <a:pt x="5358070" y="4201142"/>
                </a:lnTo>
                <a:lnTo>
                  <a:pt x="5313816" y="4214904"/>
                </a:lnTo>
                <a:lnTo>
                  <a:pt x="5268372" y="4225791"/>
                </a:lnTo>
                <a:lnTo>
                  <a:pt x="5221843" y="4233697"/>
                </a:lnTo>
                <a:lnTo>
                  <a:pt x="5174333" y="4238518"/>
                </a:lnTo>
                <a:lnTo>
                  <a:pt x="5125948" y="4240149"/>
                </a:lnTo>
                <a:lnTo>
                  <a:pt x="706704" y="4240149"/>
                </a:lnTo>
                <a:lnTo>
                  <a:pt x="658319" y="4238518"/>
                </a:lnTo>
                <a:lnTo>
                  <a:pt x="610809" y="4233697"/>
                </a:lnTo>
                <a:lnTo>
                  <a:pt x="564280" y="4225791"/>
                </a:lnTo>
                <a:lnTo>
                  <a:pt x="518836" y="4214904"/>
                </a:lnTo>
                <a:lnTo>
                  <a:pt x="474582" y="4201142"/>
                </a:lnTo>
                <a:lnTo>
                  <a:pt x="431625" y="4184611"/>
                </a:lnTo>
                <a:lnTo>
                  <a:pt x="390069" y="4165416"/>
                </a:lnTo>
                <a:lnTo>
                  <a:pt x="350019" y="4143661"/>
                </a:lnTo>
                <a:lnTo>
                  <a:pt x="311581" y="4119453"/>
                </a:lnTo>
                <a:lnTo>
                  <a:pt x="274860" y="4092896"/>
                </a:lnTo>
                <a:lnTo>
                  <a:pt x="239962" y="4064096"/>
                </a:lnTo>
                <a:lnTo>
                  <a:pt x="206990" y="4033158"/>
                </a:lnTo>
                <a:lnTo>
                  <a:pt x="176052" y="4000186"/>
                </a:lnTo>
                <a:lnTo>
                  <a:pt x="147252" y="3965288"/>
                </a:lnTo>
                <a:lnTo>
                  <a:pt x="120695" y="3928567"/>
                </a:lnTo>
                <a:lnTo>
                  <a:pt x="96487" y="3890129"/>
                </a:lnTo>
                <a:lnTo>
                  <a:pt x="74732" y="3850079"/>
                </a:lnTo>
                <a:lnTo>
                  <a:pt x="55537" y="3808523"/>
                </a:lnTo>
                <a:lnTo>
                  <a:pt x="39006" y="3765566"/>
                </a:lnTo>
                <a:lnTo>
                  <a:pt x="25244" y="3721312"/>
                </a:lnTo>
                <a:lnTo>
                  <a:pt x="14357" y="3675868"/>
                </a:lnTo>
                <a:lnTo>
                  <a:pt x="6451" y="3629339"/>
                </a:lnTo>
                <a:lnTo>
                  <a:pt x="1630" y="3581829"/>
                </a:lnTo>
                <a:lnTo>
                  <a:pt x="0" y="3533444"/>
                </a:lnTo>
                <a:lnTo>
                  <a:pt x="0" y="706704"/>
                </a:lnTo>
                <a:close/>
              </a:path>
            </a:pathLst>
          </a:custGeom>
          <a:ln w="25400">
            <a:solidFill>
              <a:srgbClr val="C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 txBox="1"/>
          <p:nvPr/>
        </p:nvSpPr>
        <p:spPr>
          <a:xfrm>
            <a:off x="5719634" y="935530"/>
            <a:ext cx="527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00000"/>
                </a:solidFill>
                <a:latin typeface="Microsoft YaHei"/>
                <a:cs typeface="Microsoft YaHei"/>
              </a:rPr>
              <a:t>NSA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73" name="object 173" descr=""/>
          <p:cNvSpPr/>
          <p:nvPr/>
        </p:nvSpPr>
        <p:spPr>
          <a:xfrm>
            <a:off x="1010158" y="3696868"/>
            <a:ext cx="864235" cy="277495"/>
          </a:xfrm>
          <a:custGeom>
            <a:avLst/>
            <a:gdLst/>
            <a:ahLst/>
            <a:cxnLst/>
            <a:rect l="l" t="t" r="r" b="b"/>
            <a:pathLst>
              <a:path w="864235" h="277495">
                <a:moveTo>
                  <a:pt x="864095" y="0"/>
                </a:moveTo>
                <a:lnTo>
                  <a:pt x="0" y="0"/>
                </a:lnTo>
                <a:lnTo>
                  <a:pt x="0" y="276999"/>
                </a:lnTo>
                <a:lnTo>
                  <a:pt x="864095" y="276999"/>
                </a:lnTo>
                <a:lnTo>
                  <a:pt x="8640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 txBox="1"/>
          <p:nvPr/>
        </p:nvSpPr>
        <p:spPr>
          <a:xfrm>
            <a:off x="1088897" y="3723789"/>
            <a:ext cx="596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C00000"/>
                </a:solidFill>
                <a:latin typeface="Microsoft YaHei"/>
                <a:cs typeface="Microsoft YaHei"/>
              </a:rPr>
              <a:t>option2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175" name="object 17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81864" y="1394498"/>
            <a:ext cx="1580420" cy="214108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74345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各方式适用场景和定位</a:t>
            </a:r>
            <a:r>
              <a:rPr dirty="0" spc="-25"/>
              <a:t>（</a:t>
            </a:r>
            <a:r>
              <a:rPr dirty="0" spc="-25">
                <a:latin typeface="Times New Roman"/>
                <a:cs typeface="Times New Roman"/>
              </a:rPr>
              <a:t>1</a:t>
            </a:r>
            <a:r>
              <a:rPr dirty="0" spc="-25"/>
              <a:t>）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42352" y="920407"/>
            <a:ext cx="6737350" cy="74295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690"/>
              </a:spcBef>
            </a:pPr>
            <a:r>
              <a:rPr dirty="0" sz="1800" spc="-10">
                <a:latin typeface="Microsoft YaHei"/>
                <a:cs typeface="Microsoft YaHei"/>
              </a:rPr>
              <a:t>Option2</a:t>
            </a:r>
            <a:endParaRPr sz="1800">
              <a:latin typeface="Microsoft YaHei"/>
              <a:cs typeface="Microsoft YaHei"/>
            </a:endParaRPr>
          </a:p>
          <a:p>
            <a:pPr marL="944244" indent="-285750">
              <a:lnSpc>
                <a:spcPct val="100000"/>
              </a:lnSpc>
              <a:spcBef>
                <a:spcPts val="370"/>
              </a:spcBef>
              <a:buFont typeface="Wingdings"/>
              <a:buChar char=""/>
              <a:tabLst>
                <a:tab pos="944244" algn="l"/>
              </a:tabLst>
            </a:pPr>
            <a:r>
              <a:rPr dirty="0" sz="1400" spc="-10">
                <a:solidFill>
                  <a:srgbClr val="FF0000"/>
                </a:solidFill>
                <a:latin typeface="SimSun"/>
                <a:cs typeface="SimSun"/>
              </a:rPr>
              <a:t>定位于</a:t>
            </a:r>
            <a:r>
              <a:rPr dirty="0" sz="1400" spc="-20" b="1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400" spc="-20">
                <a:solidFill>
                  <a:srgbClr val="FF0000"/>
                </a:solidFill>
                <a:latin typeface="SimSun"/>
                <a:cs typeface="SimSun"/>
              </a:rPr>
              <a:t>目标方案，</a:t>
            </a:r>
            <a:r>
              <a:rPr dirty="0" sz="1400" spc="-20" b="1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400" spc="-25">
                <a:solidFill>
                  <a:srgbClr val="FF0000"/>
                </a:solidFill>
                <a:latin typeface="SimSun"/>
                <a:cs typeface="SimSun"/>
              </a:rPr>
              <a:t>已经全覆盖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2352" y="3418179"/>
            <a:ext cx="6737350" cy="148526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204"/>
              </a:spcBef>
            </a:pPr>
            <a:r>
              <a:rPr dirty="0" sz="1700" spc="-10">
                <a:latin typeface="Microsoft YaHei"/>
                <a:cs typeface="Microsoft YaHei"/>
              </a:rPr>
              <a:t>Option2+5</a:t>
            </a:r>
            <a:endParaRPr sz="1700">
              <a:latin typeface="Microsoft YaHei"/>
              <a:cs typeface="Microsoft YaHei"/>
            </a:endParaRPr>
          </a:p>
          <a:p>
            <a:pPr marL="678815" indent="-213995">
              <a:lnSpc>
                <a:spcPct val="100000"/>
              </a:lnSpc>
              <a:spcBef>
                <a:spcPts val="300"/>
              </a:spcBef>
              <a:buFont typeface="Wingdings"/>
              <a:buChar char=""/>
              <a:tabLst>
                <a:tab pos="678815" algn="l"/>
              </a:tabLst>
            </a:pPr>
            <a:r>
              <a:rPr dirty="0" sz="1300">
                <a:latin typeface="Microsoft YaHei"/>
                <a:cs typeface="Microsoft YaHei"/>
              </a:rPr>
              <a:t>通过</a:t>
            </a:r>
            <a:r>
              <a:rPr dirty="0" sz="1300">
                <a:latin typeface="Calibri"/>
                <a:cs typeface="Calibri"/>
              </a:rPr>
              <a:t>5G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CORE</a:t>
            </a:r>
            <a:r>
              <a:rPr dirty="0" sz="1300" spc="-15">
                <a:latin typeface="Microsoft YaHei"/>
                <a:cs typeface="Microsoft YaHei"/>
              </a:rPr>
              <a:t>统一提供业务，业务连续性好</a:t>
            </a:r>
            <a:endParaRPr sz="1300">
              <a:latin typeface="Microsoft YaHei"/>
              <a:cs typeface="Microsoft YaHei"/>
            </a:endParaRPr>
          </a:p>
          <a:p>
            <a:pPr marL="678815" indent="-213995">
              <a:lnSpc>
                <a:spcPct val="100000"/>
              </a:lnSpc>
              <a:spcBef>
                <a:spcPts val="310"/>
              </a:spcBef>
              <a:buFont typeface="Wingdings"/>
              <a:buChar char=""/>
              <a:tabLst>
                <a:tab pos="678815" algn="l"/>
              </a:tabLst>
            </a:pPr>
            <a:r>
              <a:rPr dirty="0" sz="1300" spc="-5">
                <a:latin typeface="Microsoft YaHei"/>
                <a:cs typeface="Microsoft YaHei"/>
              </a:rPr>
              <a:t>对终端要求低，单连接</a:t>
            </a:r>
            <a:endParaRPr sz="1300">
              <a:latin typeface="Microsoft YaHei"/>
              <a:cs typeface="Microsoft YaHei"/>
            </a:endParaRPr>
          </a:p>
          <a:p>
            <a:pPr marL="678815" indent="-213995">
              <a:lnSpc>
                <a:spcPct val="100000"/>
              </a:lnSpc>
              <a:spcBef>
                <a:spcPts val="315"/>
              </a:spcBef>
              <a:buFont typeface="Wingdings"/>
              <a:buChar char=""/>
              <a:tabLst>
                <a:tab pos="678815" algn="l"/>
              </a:tabLst>
            </a:pPr>
            <a:r>
              <a:rPr dirty="0" sz="1300">
                <a:latin typeface="Microsoft YaHei"/>
                <a:cs typeface="Microsoft YaHei"/>
              </a:rPr>
              <a:t>对</a:t>
            </a:r>
            <a:r>
              <a:rPr dirty="0" sz="1300" spc="-10">
                <a:latin typeface="Calibri"/>
                <a:cs typeface="Calibri"/>
              </a:rPr>
              <a:t>4G</a:t>
            </a:r>
            <a:r>
              <a:rPr dirty="0" sz="1300" spc="-5">
                <a:latin typeface="Microsoft YaHei"/>
                <a:cs typeface="Microsoft YaHei"/>
              </a:rPr>
              <a:t>无线影响大，需要投资升级支持</a:t>
            </a:r>
            <a:r>
              <a:rPr dirty="0" sz="1300" spc="-40">
                <a:latin typeface="Calibri"/>
                <a:cs typeface="Calibri"/>
              </a:rPr>
              <a:t>eLTE</a:t>
            </a:r>
            <a:r>
              <a:rPr dirty="0" sz="1300" spc="-50">
                <a:latin typeface="Microsoft YaHei"/>
                <a:cs typeface="Microsoft YaHei"/>
              </a:rPr>
              <a:t>。</a:t>
            </a:r>
            <a:endParaRPr sz="1300">
              <a:latin typeface="Microsoft YaHei"/>
              <a:cs typeface="Microsoft YaHei"/>
            </a:endParaRPr>
          </a:p>
          <a:p>
            <a:pPr marL="678815" indent="-213995">
              <a:lnSpc>
                <a:spcPct val="100000"/>
              </a:lnSpc>
              <a:spcBef>
                <a:spcPts val="310"/>
              </a:spcBef>
              <a:buFont typeface="Wingdings"/>
              <a:buChar char=""/>
              <a:tabLst>
                <a:tab pos="678815" algn="l"/>
              </a:tabLst>
            </a:pPr>
            <a:r>
              <a:rPr dirty="0" sz="1300" spc="-10">
                <a:latin typeface="Microsoft YaHei"/>
                <a:cs typeface="Microsoft YaHei"/>
              </a:rPr>
              <a:t>初期切换次数多。有一定切换时延，比</a:t>
            </a:r>
            <a:r>
              <a:rPr dirty="0" sz="1300" spc="-10">
                <a:latin typeface="Calibri"/>
                <a:cs typeface="Calibri"/>
              </a:rPr>
              <a:t>1+2</a:t>
            </a:r>
            <a:r>
              <a:rPr dirty="0" sz="1300" spc="-10">
                <a:latin typeface="Microsoft YaHei"/>
                <a:cs typeface="Microsoft YaHei"/>
              </a:rPr>
              <a:t>小，需进一步评估是否影响</a:t>
            </a:r>
            <a:r>
              <a:rPr dirty="0" sz="1300" spc="-40">
                <a:latin typeface="Calibri"/>
                <a:cs typeface="Calibri"/>
              </a:rPr>
              <a:t>VOLTE</a:t>
            </a:r>
            <a:r>
              <a:rPr dirty="0" sz="1300" spc="-25">
                <a:latin typeface="Microsoft YaHei"/>
                <a:cs typeface="Microsoft YaHei"/>
              </a:rPr>
              <a:t>业务</a:t>
            </a:r>
            <a:endParaRPr sz="1300">
              <a:latin typeface="Microsoft YaHei"/>
              <a:cs typeface="Microsoft YaHei"/>
            </a:endParaRPr>
          </a:p>
          <a:p>
            <a:pPr marL="679450" indent="-214629">
              <a:lnSpc>
                <a:spcPct val="100000"/>
              </a:lnSpc>
              <a:spcBef>
                <a:spcPts val="345"/>
              </a:spcBef>
              <a:buFont typeface="Wingdings"/>
              <a:buChar char=""/>
              <a:tabLst>
                <a:tab pos="679450" algn="l"/>
              </a:tabLst>
            </a:pPr>
            <a:r>
              <a:rPr dirty="0" sz="1300" b="1">
                <a:solidFill>
                  <a:srgbClr val="FF0000"/>
                </a:solidFill>
                <a:latin typeface="Microsoft YaHei"/>
                <a:cs typeface="Microsoft YaHei"/>
              </a:rPr>
              <a:t>定位于</a:t>
            </a:r>
            <a:r>
              <a:rPr dirty="0" sz="1300" spc="-10" b="1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300" b="1">
                <a:solidFill>
                  <a:srgbClr val="FF0000"/>
                </a:solidFill>
                <a:latin typeface="Microsoft YaHei"/>
                <a:cs typeface="Microsoft YaHei"/>
              </a:rPr>
              <a:t>发展初期，通过5G</a:t>
            </a:r>
            <a:r>
              <a:rPr dirty="0" sz="1300" spc="-15" b="1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Microsoft YaHei"/>
                <a:cs typeface="Microsoft YaHei"/>
              </a:rPr>
              <a:t>CORE</a:t>
            </a:r>
            <a:r>
              <a:rPr dirty="0" sz="1300" spc="-15" b="1">
                <a:solidFill>
                  <a:srgbClr val="FF0000"/>
                </a:solidFill>
                <a:latin typeface="Microsoft YaHei"/>
                <a:cs typeface="Microsoft YaHei"/>
              </a:rPr>
              <a:t>统一提供业务，对互操作时的质量要求不高</a:t>
            </a:r>
            <a:endParaRPr sz="13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2352" y="1865515"/>
            <a:ext cx="6737350" cy="135064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4305">
              <a:lnSpc>
                <a:spcPts val="2150"/>
              </a:lnSpc>
            </a:pPr>
            <a:r>
              <a:rPr dirty="0" sz="1800" spc="-10">
                <a:latin typeface="Microsoft YaHei"/>
                <a:cs typeface="Microsoft YaHei"/>
              </a:rPr>
              <a:t>Option1+2</a:t>
            </a:r>
            <a:endParaRPr sz="1800">
              <a:latin typeface="Microsoft YaHei"/>
              <a:cs typeface="Microsoft YaHei"/>
            </a:endParaRPr>
          </a:p>
          <a:p>
            <a:pPr marL="711200" indent="-213995">
              <a:lnSpc>
                <a:spcPct val="100000"/>
              </a:lnSpc>
              <a:spcBef>
                <a:spcPts val="150"/>
              </a:spcBef>
              <a:buFont typeface="Wingdings"/>
              <a:buChar char=""/>
              <a:tabLst>
                <a:tab pos="711200" algn="l"/>
              </a:tabLst>
            </a:pPr>
            <a:r>
              <a:rPr dirty="0" sz="1400" spc="-20">
                <a:latin typeface="Microsoft YaHei"/>
                <a:cs typeface="Microsoft YaHei"/>
              </a:rPr>
              <a:t>对</a:t>
            </a:r>
            <a:r>
              <a:rPr dirty="0" sz="1400" spc="-20">
                <a:latin typeface="Calibri"/>
                <a:cs typeface="Calibri"/>
              </a:rPr>
              <a:t>4G</a:t>
            </a:r>
            <a:r>
              <a:rPr dirty="0" sz="1400" spc="-20">
                <a:latin typeface="Microsoft YaHei"/>
                <a:cs typeface="Microsoft YaHei"/>
              </a:rPr>
              <a:t>影响小，对终端要求低。</a:t>
            </a:r>
            <a:r>
              <a:rPr dirty="0" sz="1400" spc="-10">
                <a:latin typeface="Calibri"/>
                <a:cs typeface="Calibri"/>
              </a:rPr>
              <a:t>EPC</a:t>
            </a:r>
            <a:r>
              <a:rPr dirty="0" sz="1400" spc="-10">
                <a:latin typeface="Microsoft YaHei"/>
                <a:cs typeface="Microsoft YaHei"/>
              </a:rPr>
              <a:t>与</a:t>
            </a:r>
            <a:r>
              <a:rPr dirty="0" sz="1400">
                <a:latin typeface="Calibri"/>
                <a:cs typeface="Calibri"/>
              </a:rPr>
              <a:t>5G</a:t>
            </a:r>
            <a:r>
              <a:rPr dirty="0" sz="1400" spc="15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CORE</a:t>
            </a:r>
            <a:r>
              <a:rPr dirty="0" sz="1400" spc="-30">
                <a:latin typeface="Microsoft YaHei"/>
                <a:cs typeface="Microsoft YaHei"/>
              </a:rPr>
              <a:t>互操作。</a:t>
            </a:r>
            <a:endParaRPr sz="1400">
              <a:latin typeface="Microsoft YaHei"/>
              <a:cs typeface="Microsoft YaHei"/>
            </a:endParaRPr>
          </a:p>
          <a:p>
            <a:pPr marL="711200" indent="-213995">
              <a:lnSpc>
                <a:spcPct val="100000"/>
              </a:lnSpc>
              <a:spcBef>
                <a:spcPts val="170"/>
              </a:spcBef>
              <a:buFont typeface="Wingdings"/>
              <a:buChar char=""/>
              <a:tabLst>
                <a:tab pos="711200" algn="l"/>
              </a:tabLst>
            </a:pPr>
            <a:r>
              <a:rPr dirty="0" sz="1400" spc="-20">
                <a:latin typeface="Calibri"/>
                <a:cs typeface="Calibri"/>
              </a:rPr>
              <a:t>4G</a:t>
            </a:r>
            <a:r>
              <a:rPr dirty="0" sz="1400" spc="-20">
                <a:latin typeface="Microsoft YaHei"/>
                <a:cs typeface="Microsoft YaHei"/>
              </a:rPr>
              <a:t>下仅支持传统</a:t>
            </a:r>
            <a:r>
              <a:rPr dirty="0" sz="1400" spc="-20">
                <a:latin typeface="Calibri"/>
                <a:cs typeface="Calibri"/>
              </a:rPr>
              <a:t>MBB</a:t>
            </a:r>
            <a:r>
              <a:rPr dirty="0" sz="1400" spc="-20">
                <a:latin typeface="Microsoft YaHei"/>
                <a:cs typeface="Microsoft YaHei"/>
              </a:rPr>
              <a:t>业务，不支</a:t>
            </a:r>
            <a:r>
              <a:rPr dirty="0" sz="1400" spc="-900">
                <a:latin typeface="Microsoft YaHei"/>
                <a:cs typeface="Microsoft YaHei"/>
              </a:rPr>
              <a:t>持</a:t>
            </a:r>
            <a:r>
              <a:rPr dirty="0" baseline="-9920" sz="2100" spc="-787">
                <a:solidFill>
                  <a:srgbClr val="FFFFFF"/>
                </a:solidFill>
                <a:latin typeface="SimSun"/>
                <a:cs typeface="SimSun"/>
              </a:rPr>
              <a:t>从</a:t>
            </a:r>
            <a:r>
              <a:rPr dirty="0" sz="1400" spc="-10">
                <a:latin typeface="Calibri"/>
                <a:cs typeface="Calibri"/>
              </a:rPr>
              <a:t>5G</a:t>
            </a:r>
            <a:r>
              <a:rPr dirty="0" sz="1400" spc="-30">
                <a:latin typeface="Microsoft YaHei"/>
                <a:cs typeface="Microsoft YaHei"/>
              </a:rPr>
              <a:t>新业务。</a:t>
            </a:r>
            <a:endParaRPr sz="1400">
              <a:latin typeface="Microsoft YaHei"/>
              <a:cs typeface="Microsoft YaHei"/>
            </a:endParaRPr>
          </a:p>
          <a:p>
            <a:pPr marL="711200" indent="-213995">
              <a:lnSpc>
                <a:spcPct val="100000"/>
              </a:lnSpc>
              <a:spcBef>
                <a:spcPts val="170"/>
              </a:spcBef>
              <a:buFont typeface="Wingdings"/>
              <a:buChar char=""/>
              <a:tabLst>
                <a:tab pos="711200" algn="l"/>
              </a:tabLst>
            </a:pPr>
            <a:r>
              <a:rPr dirty="0" sz="1400" spc="-20">
                <a:latin typeface="Microsoft YaHei"/>
                <a:cs typeface="Microsoft YaHei"/>
              </a:rPr>
              <a:t>初期切换次数多。切换时延大，影响时延敏感业务（</a:t>
            </a:r>
            <a:r>
              <a:rPr dirty="0" sz="1400" spc="-15">
                <a:latin typeface="Microsoft YaHei"/>
                <a:cs typeface="Microsoft YaHei"/>
              </a:rPr>
              <a:t>如：</a:t>
            </a:r>
            <a:r>
              <a:rPr dirty="0" sz="1400" spc="-10">
                <a:latin typeface="Calibri"/>
                <a:cs typeface="Calibri"/>
              </a:rPr>
              <a:t>VoLTE</a:t>
            </a:r>
            <a:r>
              <a:rPr dirty="0" sz="1400" spc="-10">
                <a:latin typeface="Microsoft YaHei"/>
                <a:cs typeface="Microsoft YaHei"/>
              </a:rPr>
              <a:t>）</a:t>
            </a:r>
            <a:endParaRPr sz="1400">
              <a:latin typeface="Microsoft YaHei"/>
              <a:cs typeface="Microsoft YaHei"/>
            </a:endParaRPr>
          </a:p>
          <a:p>
            <a:pPr marL="711835" indent="-214629">
              <a:lnSpc>
                <a:spcPct val="100000"/>
              </a:lnSpc>
              <a:spcBef>
                <a:spcPts val="195"/>
              </a:spcBef>
              <a:buFont typeface="Wingdings"/>
              <a:buChar char=""/>
              <a:tabLst>
                <a:tab pos="711835" algn="l"/>
              </a:tabLst>
            </a:pPr>
            <a:r>
              <a:rPr dirty="0" sz="1400" spc="-25" b="1">
                <a:solidFill>
                  <a:srgbClr val="FF0000"/>
                </a:solidFill>
                <a:latin typeface="Microsoft YaHei"/>
                <a:cs typeface="Microsoft YaHei"/>
              </a:rPr>
              <a:t>定位：互操作方案最简单，投资最节省，不追求互操作时的业务质量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74345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各方式适用场景和定位</a:t>
            </a:r>
            <a:r>
              <a:rPr dirty="0" spc="-25"/>
              <a:t>（</a:t>
            </a:r>
            <a:r>
              <a:rPr dirty="0" spc="-25">
                <a:latin typeface="Times New Roman"/>
                <a:cs typeface="Times New Roman"/>
              </a:rPr>
              <a:t>2</a:t>
            </a:r>
            <a:r>
              <a:rPr dirty="0" spc="-25"/>
              <a:t>）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8085" y="899109"/>
            <a:ext cx="6737350" cy="135064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75"/>
              </a:spcBef>
            </a:pPr>
            <a:r>
              <a:rPr dirty="0" sz="1800" spc="-10">
                <a:latin typeface="Microsoft YaHei"/>
                <a:cs typeface="Microsoft YaHei"/>
              </a:rPr>
              <a:t>Option3</a:t>
            </a:r>
            <a:endParaRPr sz="1800">
              <a:latin typeface="Microsoft YaHei"/>
              <a:cs typeface="Microsoft YaHei"/>
            </a:endParaRPr>
          </a:p>
          <a:p>
            <a:pPr marL="965200" indent="-285750">
              <a:lnSpc>
                <a:spcPct val="100000"/>
              </a:lnSpc>
              <a:spcBef>
                <a:spcPts val="165"/>
              </a:spcBef>
              <a:buChar char="–"/>
              <a:tabLst>
                <a:tab pos="965200" algn="l"/>
              </a:tabLst>
            </a:pPr>
            <a:r>
              <a:rPr dirty="0" sz="1200" spc="-10">
                <a:latin typeface="Microsoft YaHei"/>
                <a:cs typeface="Microsoft YaHei"/>
              </a:rPr>
              <a:t>5G</a:t>
            </a:r>
            <a:r>
              <a:rPr dirty="0" sz="1200">
                <a:latin typeface="Microsoft YaHei"/>
                <a:cs typeface="Microsoft YaHei"/>
              </a:rPr>
              <a:t>边沿的</a:t>
            </a:r>
            <a:r>
              <a:rPr dirty="0" sz="1200" spc="-10">
                <a:latin typeface="Microsoft YaHei"/>
                <a:cs typeface="Microsoft YaHei"/>
              </a:rPr>
              <a:t>4G</a:t>
            </a:r>
            <a:r>
              <a:rPr dirty="0" sz="1200">
                <a:latin typeface="Microsoft YaHei"/>
                <a:cs typeface="Microsoft YaHei"/>
              </a:rPr>
              <a:t>基站升级支持双连接，未来投资集中在</a:t>
            </a:r>
            <a:r>
              <a:rPr dirty="0" sz="1200" spc="-25">
                <a:latin typeface="Microsoft YaHei"/>
                <a:cs typeface="Microsoft YaHei"/>
              </a:rPr>
              <a:t>5G</a:t>
            </a:r>
            <a:endParaRPr sz="1200">
              <a:latin typeface="Microsoft YaHei"/>
              <a:cs typeface="Microsoft YaHei"/>
            </a:endParaRPr>
          </a:p>
          <a:p>
            <a:pPr marL="965200" indent="-285750">
              <a:lnSpc>
                <a:spcPct val="100000"/>
              </a:lnSpc>
              <a:spcBef>
                <a:spcPts val="140"/>
              </a:spcBef>
              <a:buChar char="–"/>
              <a:tabLst>
                <a:tab pos="965200" algn="l"/>
              </a:tabLst>
            </a:pPr>
            <a:r>
              <a:rPr dirty="0" sz="1200">
                <a:latin typeface="Microsoft YaHei"/>
                <a:cs typeface="Microsoft YaHei"/>
              </a:rPr>
              <a:t>用于5G</a:t>
            </a:r>
            <a:r>
              <a:rPr dirty="0" sz="1200" spc="40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CORE</a:t>
            </a:r>
            <a:r>
              <a:rPr dirty="0" sz="1200" spc="-5">
                <a:latin typeface="Microsoft YaHei"/>
                <a:cs typeface="Microsoft YaHei"/>
              </a:rPr>
              <a:t>还未成熟时，</a:t>
            </a:r>
            <a:r>
              <a:rPr dirty="0" sz="1200" spc="-10">
                <a:latin typeface="Microsoft YaHei"/>
                <a:cs typeface="Microsoft YaHei"/>
              </a:rPr>
              <a:t>5G</a:t>
            </a:r>
            <a:r>
              <a:rPr dirty="0" sz="1200">
                <a:latin typeface="Microsoft YaHei"/>
                <a:cs typeface="Microsoft YaHei"/>
              </a:rPr>
              <a:t>定位于对</a:t>
            </a:r>
            <a:r>
              <a:rPr dirty="0" sz="1200" spc="-10">
                <a:latin typeface="Microsoft YaHei"/>
                <a:cs typeface="Microsoft YaHei"/>
              </a:rPr>
              <a:t>4G的容量补充</a:t>
            </a:r>
            <a:endParaRPr sz="1200">
              <a:latin typeface="Microsoft YaHei"/>
              <a:cs typeface="Microsoft YaHei"/>
            </a:endParaRPr>
          </a:p>
          <a:p>
            <a:pPr marL="965200" indent="-285750">
              <a:lnSpc>
                <a:spcPct val="100000"/>
              </a:lnSpc>
              <a:spcBef>
                <a:spcPts val="145"/>
              </a:spcBef>
              <a:buFont typeface="Wingdings"/>
              <a:buChar char=""/>
              <a:tabLst>
                <a:tab pos="965200" algn="l"/>
              </a:tabLst>
            </a:pPr>
            <a:r>
              <a:rPr dirty="0" sz="1200">
                <a:solidFill>
                  <a:srgbClr val="00B050"/>
                </a:solidFill>
                <a:latin typeface="Microsoft YaHei"/>
                <a:cs typeface="Microsoft YaHei"/>
              </a:rPr>
              <a:t>仅支持传统</a:t>
            </a:r>
            <a:r>
              <a:rPr dirty="0" sz="1200" spc="-10">
                <a:solidFill>
                  <a:srgbClr val="00B050"/>
                </a:solidFill>
                <a:latin typeface="Microsoft YaHei"/>
                <a:cs typeface="Microsoft YaHei"/>
              </a:rPr>
              <a:t>MBB</a:t>
            </a:r>
            <a:r>
              <a:rPr dirty="0" sz="1200">
                <a:solidFill>
                  <a:srgbClr val="00B050"/>
                </a:solidFill>
                <a:latin typeface="Microsoft YaHei"/>
                <a:cs typeface="Microsoft YaHei"/>
              </a:rPr>
              <a:t>业务，不支持</a:t>
            </a:r>
            <a:r>
              <a:rPr dirty="0" sz="1200" spc="-10">
                <a:solidFill>
                  <a:srgbClr val="00B050"/>
                </a:solidFill>
                <a:latin typeface="Microsoft YaHei"/>
                <a:cs typeface="Microsoft YaHei"/>
              </a:rPr>
              <a:t>5G</a:t>
            </a:r>
            <a:r>
              <a:rPr dirty="0" sz="1200">
                <a:solidFill>
                  <a:srgbClr val="00B050"/>
                </a:solidFill>
                <a:latin typeface="Microsoft YaHei"/>
                <a:cs typeface="Microsoft YaHei"/>
              </a:rPr>
              <a:t>新业务</a:t>
            </a:r>
            <a:r>
              <a:rPr dirty="0" sz="1200">
                <a:latin typeface="Microsoft YaHei"/>
                <a:cs typeface="Microsoft YaHei"/>
              </a:rPr>
              <a:t>。通过</a:t>
            </a:r>
            <a:r>
              <a:rPr dirty="0" sz="1200" spc="-10">
                <a:latin typeface="Microsoft YaHei"/>
                <a:cs typeface="Microsoft YaHei"/>
              </a:rPr>
              <a:t>EPC</a:t>
            </a:r>
            <a:r>
              <a:rPr dirty="0" sz="1200" spc="-5">
                <a:latin typeface="Microsoft YaHei"/>
                <a:cs typeface="Microsoft YaHei"/>
              </a:rPr>
              <a:t>统一提供业务，和其它方式不兼容</a:t>
            </a:r>
            <a:endParaRPr sz="1200">
              <a:latin typeface="Microsoft YaHei"/>
              <a:cs typeface="Microsoft YaHei"/>
            </a:endParaRPr>
          </a:p>
          <a:p>
            <a:pPr marL="965200" indent="-285750">
              <a:lnSpc>
                <a:spcPct val="100000"/>
              </a:lnSpc>
              <a:spcBef>
                <a:spcPts val="145"/>
              </a:spcBef>
              <a:buFont typeface="Wingdings"/>
              <a:buChar char=""/>
              <a:tabLst>
                <a:tab pos="965200" algn="l"/>
              </a:tabLst>
            </a:pPr>
            <a:r>
              <a:rPr dirty="0" sz="1200" spc="-5">
                <a:latin typeface="Microsoft YaHei"/>
                <a:cs typeface="Microsoft YaHei"/>
              </a:rPr>
              <a:t>对终端要求高，必须双连接</a:t>
            </a:r>
            <a:endParaRPr sz="1200">
              <a:latin typeface="Microsoft YaHei"/>
              <a:cs typeface="Microsoft YaHei"/>
            </a:endParaRPr>
          </a:p>
          <a:p>
            <a:pPr marL="965200" indent="-285750">
              <a:lnSpc>
                <a:spcPct val="100000"/>
              </a:lnSpc>
              <a:spcBef>
                <a:spcPts val="145"/>
              </a:spcBef>
              <a:buFont typeface="Wingdings"/>
              <a:buChar char=""/>
              <a:tabLst>
                <a:tab pos="965200" algn="l"/>
              </a:tabLst>
            </a:pPr>
            <a:r>
              <a:rPr dirty="0" sz="1200" b="1">
                <a:solidFill>
                  <a:srgbClr val="FF0000"/>
                </a:solidFill>
                <a:latin typeface="Microsoft YaHei"/>
                <a:cs typeface="Microsoft YaHei"/>
              </a:rPr>
              <a:t>定位：领先运营商急于初期部署</a:t>
            </a:r>
            <a:r>
              <a:rPr dirty="0" sz="1200" spc="-10" b="1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200" b="1">
                <a:solidFill>
                  <a:srgbClr val="FF0000"/>
                </a:solidFill>
                <a:latin typeface="Microsoft YaHei"/>
                <a:cs typeface="Microsoft YaHei"/>
              </a:rPr>
              <a:t>宽带业务（解决带宽问题），</a:t>
            </a:r>
            <a:r>
              <a:rPr dirty="0" sz="1200" spc="-10" b="1">
                <a:solidFill>
                  <a:srgbClr val="FF0000"/>
                </a:solidFill>
                <a:latin typeface="Microsoft YaHei"/>
                <a:cs typeface="Microsoft YaHei"/>
              </a:rPr>
              <a:t>同时节省投资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8085" y="2316772"/>
            <a:ext cx="6737350" cy="135064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5575">
              <a:lnSpc>
                <a:spcPts val="2150"/>
              </a:lnSpc>
            </a:pPr>
            <a:r>
              <a:rPr dirty="0" sz="1800" spc="-10">
                <a:latin typeface="Microsoft YaHei"/>
                <a:cs typeface="Microsoft YaHei"/>
              </a:rPr>
              <a:t>Option7</a:t>
            </a:r>
            <a:endParaRPr sz="1800">
              <a:latin typeface="Microsoft YaHei"/>
              <a:cs typeface="Microsoft YaHei"/>
            </a:endParaRPr>
          </a:p>
          <a:p>
            <a:pPr marL="712470" indent="-213995">
              <a:lnSpc>
                <a:spcPct val="100000"/>
              </a:lnSpc>
              <a:spcBef>
                <a:spcPts val="185"/>
              </a:spcBef>
              <a:buFont typeface="Wingdings"/>
              <a:buChar char=""/>
              <a:tabLst>
                <a:tab pos="712470" algn="l"/>
              </a:tabLst>
            </a:pPr>
            <a:r>
              <a:rPr dirty="0" sz="1400" spc="-20">
                <a:latin typeface="Microsoft YaHei"/>
                <a:cs typeface="Microsoft YaHei"/>
              </a:rPr>
              <a:t>通过</a:t>
            </a:r>
            <a:r>
              <a:rPr dirty="0" sz="1400">
                <a:latin typeface="Microsoft YaHei"/>
                <a:cs typeface="Microsoft YaHei"/>
              </a:rPr>
              <a:t>5G</a:t>
            </a:r>
            <a:r>
              <a:rPr dirty="0" sz="1400" spc="125">
                <a:latin typeface="Microsoft YaHei"/>
                <a:cs typeface="Microsoft YaHei"/>
              </a:rPr>
              <a:t> </a:t>
            </a:r>
            <a:r>
              <a:rPr dirty="0" sz="1400" spc="-20">
                <a:latin typeface="Microsoft YaHei"/>
                <a:cs typeface="Microsoft YaHei"/>
              </a:rPr>
              <a:t>CORE统一提供业务，</a:t>
            </a:r>
            <a:r>
              <a:rPr dirty="0" sz="1400" spc="-20">
                <a:solidFill>
                  <a:srgbClr val="FF0000"/>
                </a:solidFill>
                <a:latin typeface="Microsoft YaHei"/>
                <a:cs typeface="Microsoft YaHei"/>
              </a:rPr>
              <a:t>利用4G做锚点</a:t>
            </a:r>
            <a:r>
              <a:rPr dirty="0" sz="1400" spc="-25">
                <a:latin typeface="Microsoft YaHei"/>
                <a:cs typeface="Microsoft YaHei"/>
              </a:rPr>
              <a:t>，业务连续性好</a:t>
            </a:r>
            <a:endParaRPr sz="1400">
              <a:latin typeface="Microsoft YaHei"/>
              <a:cs typeface="Microsoft YaHei"/>
            </a:endParaRPr>
          </a:p>
          <a:p>
            <a:pPr marL="712470" indent="-213995">
              <a:lnSpc>
                <a:spcPct val="100000"/>
              </a:lnSpc>
              <a:spcBef>
                <a:spcPts val="165"/>
              </a:spcBef>
              <a:buFont typeface="Wingdings"/>
              <a:buChar char=""/>
              <a:tabLst>
                <a:tab pos="712470" algn="l"/>
              </a:tabLst>
            </a:pPr>
            <a:r>
              <a:rPr dirty="0" sz="1400" spc="-20">
                <a:latin typeface="Microsoft YaHei"/>
                <a:cs typeface="Microsoft YaHei"/>
              </a:rPr>
              <a:t>对4G无线影响大，需要规模投资升级支持eLTE</a:t>
            </a:r>
            <a:endParaRPr sz="1400">
              <a:latin typeface="Microsoft YaHei"/>
              <a:cs typeface="Microsoft YaHei"/>
            </a:endParaRPr>
          </a:p>
          <a:p>
            <a:pPr marL="712470" indent="-213995">
              <a:lnSpc>
                <a:spcPct val="100000"/>
              </a:lnSpc>
              <a:spcBef>
                <a:spcPts val="170"/>
              </a:spcBef>
              <a:buFont typeface="Wingdings"/>
              <a:buChar char=""/>
              <a:tabLst>
                <a:tab pos="712470" algn="l"/>
              </a:tabLst>
            </a:pPr>
            <a:r>
              <a:rPr dirty="0" sz="1400" spc="-25">
                <a:latin typeface="Microsoft YaHei"/>
                <a:cs typeface="Microsoft YaHei"/>
              </a:rPr>
              <a:t>对终端要求高，必须双连接</a:t>
            </a:r>
            <a:endParaRPr sz="1400">
              <a:latin typeface="Microsoft YaHei"/>
              <a:cs typeface="Microsoft YaHei"/>
            </a:endParaRPr>
          </a:p>
          <a:p>
            <a:pPr marL="713105" indent="-214629">
              <a:lnSpc>
                <a:spcPct val="100000"/>
              </a:lnSpc>
              <a:spcBef>
                <a:spcPts val="165"/>
              </a:spcBef>
              <a:buFont typeface="Wingdings"/>
              <a:buChar char=""/>
              <a:tabLst>
                <a:tab pos="713105" algn="l"/>
              </a:tabLst>
            </a:pPr>
            <a:r>
              <a:rPr dirty="0" sz="1400" spc="-20" b="1">
                <a:solidFill>
                  <a:srgbClr val="FF0000"/>
                </a:solidFill>
                <a:latin typeface="Microsoft YaHei"/>
                <a:cs typeface="Microsoft YaHei"/>
              </a:rPr>
              <a:t>定位：5G发展初期，通过</a:t>
            </a:r>
            <a:r>
              <a:rPr dirty="0" sz="1400" b="1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400" spc="105" b="1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Microsoft YaHei"/>
                <a:cs typeface="Microsoft YaHei"/>
              </a:rPr>
              <a:t>CORE</a:t>
            </a:r>
            <a:r>
              <a:rPr dirty="0" sz="1400" spc="-25" b="1">
                <a:solidFill>
                  <a:srgbClr val="FF0000"/>
                </a:solidFill>
                <a:latin typeface="Microsoft YaHei"/>
                <a:cs typeface="Microsoft YaHei"/>
              </a:rPr>
              <a:t>统一提供业务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8085" y="3734422"/>
            <a:ext cx="6737350" cy="131699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0655">
              <a:lnSpc>
                <a:spcPts val="1980"/>
              </a:lnSpc>
            </a:pPr>
            <a:r>
              <a:rPr dirty="0" sz="1700" spc="-10">
                <a:latin typeface="Microsoft YaHei"/>
                <a:cs typeface="Microsoft YaHei"/>
              </a:rPr>
              <a:t>Option4</a:t>
            </a:r>
            <a:endParaRPr sz="1700">
              <a:latin typeface="Microsoft YaHei"/>
              <a:cs typeface="Microsoft YaHei"/>
            </a:endParaRPr>
          </a:p>
          <a:p>
            <a:pPr marL="717550" indent="-213995">
              <a:lnSpc>
                <a:spcPct val="100000"/>
              </a:lnSpc>
              <a:spcBef>
                <a:spcPts val="170"/>
              </a:spcBef>
              <a:buFont typeface="Wingdings"/>
              <a:buChar char=""/>
              <a:tabLst>
                <a:tab pos="717550" algn="l"/>
              </a:tabLst>
            </a:pPr>
            <a:r>
              <a:rPr dirty="0" sz="1300">
                <a:solidFill>
                  <a:srgbClr val="FF0000"/>
                </a:solidFill>
                <a:latin typeface="Microsoft YaHei"/>
                <a:cs typeface="Microsoft YaHei"/>
              </a:rPr>
              <a:t>更接近目标方案</a:t>
            </a:r>
            <a:r>
              <a:rPr dirty="0" sz="1300" spc="-10">
                <a:solidFill>
                  <a:srgbClr val="FF0000"/>
                </a:solidFill>
                <a:latin typeface="Microsoft YaHei"/>
                <a:cs typeface="Microsoft YaHei"/>
              </a:rPr>
              <a:t>Option2</a:t>
            </a:r>
            <a:r>
              <a:rPr dirty="0" sz="1300" spc="-5">
                <a:solidFill>
                  <a:srgbClr val="FF0000"/>
                </a:solidFill>
                <a:latin typeface="Microsoft YaHei"/>
                <a:cs typeface="Microsoft YaHei"/>
              </a:rPr>
              <a:t>，利用</a:t>
            </a:r>
            <a:r>
              <a:rPr dirty="0" sz="1300" spc="-10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300" spc="-5">
                <a:solidFill>
                  <a:srgbClr val="FF0000"/>
                </a:solidFill>
                <a:latin typeface="Microsoft YaHei"/>
                <a:cs typeface="Microsoft YaHei"/>
              </a:rPr>
              <a:t>做锚点</a:t>
            </a:r>
            <a:r>
              <a:rPr dirty="0" sz="1300" spc="-5">
                <a:latin typeface="Microsoft YaHei"/>
                <a:cs typeface="Microsoft YaHei"/>
              </a:rPr>
              <a:t>，通过</a:t>
            </a:r>
            <a:r>
              <a:rPr dirty="0" sz="1300">
                <a:latin typeface="Microsoft YaHei"/>
                <a:cs typeface="Microsoft YaHei"/>
              </a:rPr>
              <a:t>5G</a:t>
            </a:r>
            <a:r>
              <a:rPr dirty="0" sz="1300" spc="40">
                <a:latin typeface="Microsoft YaHei"/>
                <a:cs typeface="Microsoft YaHei"/>
              </a:rPr>
              <a:t> </a:t>
            </a:r>
            <a:r>
              <a:rPr dirty="0" sz="1300" spc="-20">
                <a:latin typeface="Microsoft YaHei"/>
                <a:cs typeface="Microsoft YaHei"/>
              </a:rPr>
              <a:t>CORE</a:t>
            </a:r>
            <a:r>
              <a:rPr dirty="0" sz="1300" spc="-10">
                <a:latin typeface="Microsoft YaHei"/>
                <a:cs typeface="Microsoft YaHei"/>
              </a:rPr>
              <a:t>统一提供业务</a:t>
            </a:r>
            <a:endParaRPr sz="1300">
              <a:latin typeface="Microsoft YaHei"/>
              <a:cs typeface="Microsoft YaHei"/>
            </a:endParaRPr>
          </a:p>
          <a:p>
            <a:pPr marL="717550" indent="-213995">
              <a:lnSpc>
                <a:spcPct val="100000"/>
              </a:lnSpc>
              <a:spcBef>
                <a:spcPts val="155"/>
              </a:spcBef>
              <a:buFont typeface="Wingdings"/>
              <a:buChar char=""/>
              <a:tabLst>
                <a:tab pos="717550" algn="l"/>
              </a:tabLst>
            </a:pPr>
            <a:r>
              <a:rPr dirty="0" sz="1300">
                <a:latin typeface="Microsoft YaHei"/>
                <a:cs typeface="Microsoft YaHei"/>
              </a:rPr>
              <a:t>对</a:t>
            </a:r>
            <a:r>
              <a:rPr dirty="0" sz="1300" spc="-10">
                <a:latin typeface="Microsoft YaHei"/>
                <a:cs typeface="Microsoft YaHei"/>
              </a:rPr>
              <a:t>4G无线影响大，需要投资升级支持</a:t>
            </a:r>
            <a:r>
              <a:rPr dirty="0" sz="1300" spc="-35">
                <a:latin typeface="Microsoft YaHei"/>
                <a:cs typeface="Microsoft YaHei"/>
              </a:rPr>
              <a:t>eLTE</a:t>
            </a:r>
            <a:r>
              <a:rPr dirty="0" sz="1300" spc="-50">
                <a:latin typeface="Microsoft YaHei"/>
                <a:cs typeface="Microsoft YaHei"/>
              </a:rPr>
              <a:t>。</a:t>
            </a:r>
            <a:endParaRPr sz="1300">
              <a:latin typeface="Microsoft YaHei"/>
              <a:cs typeface="Microsoft YaHei"/>
            </a:endParaRPr>
          </a:p>
          <a:p>
            <a:pPr marL="717550" indent="-213995">
              <a:lnSpc>
                <a:spcPct val="100000"/>
              </a:lnSpc>
              <a:spcBef>
                <a:spcPts val="155"/>
              </a:spcBef>
              <a:buFont typeface="Wingdings"/>
              <a:buChar char=""/>
              <a:tabLst>
                <a:tab pos="717550" algn="l"/>
              </a:tabLst>
            </a:pPr>
            <a:r>
              <a:rPr dirty="0" sz="1300" spc="-10">
                <a:latin typeface="Microsoft YaHei"/>
                <a:cs typeface="Microsoft YaHei"/>
              </a:rPr>
              <a:t>对终端要求高，必须双连接</a:t>
            </a:r>
            <a:endParaRPr sz="1300">
              <a:latin typeface="Microsoft YaHei"/>
              <a:cs typeface="Microsoft YaHei"/>
            </a:endParaRPr>
          </a:p>
          <a:p>
            <a:pPr marL="718185" indent="-214629">
              <a:lnSpc>
                <a:spcPct val="100000"/>
              </a:lnSpc>
              <a:spcBef>
                <a:spcPts val="160"/>
              </a:spcBef>
              <a:buFont typeface="Wingdings"/>
              <a:buChar char=""/>
              <a:tabLst>
                <a:tab pos="718185" algn="l"/>
              </a:tabLst>
            </a:pPr>
            <a:r>
              <a:rPr dirty="0" sz="1300" spc="-5" b="1">
                <a:solidFill>
                  <a:srgbClr val="FF0000"/>
                </a:solidFill>
                <a:latin typeface="Microsoft YaHei"/>
                <a:cs typeface="Microsoft YaHei"/>
              </a:rPr>
              <a:t>定位：</a:t>
            </a:r>
            <a:r>
              <a:rPr dirty="0" sz="1300" spc="-10" b="1">
                <a:solidFill>
                  <a:srgbClr val="FF0000"/>
                </a:solidFill>
                <a:latin typeface="Microsoft YaHei"/>
                <a:cs typeface="Microsoft YaHei"/>
              </a:rPr>
              <a:t>5G覆盖已经有相当规模的阶段/地区，通过</a:t>
            </a:r>
            <a:r>
              <a:rPr dirty="0" sz="1300" b="1">
                <a:solidFill>
                  <a:srgbClr val="FF0000"/>
                </a:solidFill>
                <a:latin typeface="Microsoft YaHei"/>
                <a:cs typeface="Microsoft YaHei"/>
              </a:rPr>
              <a:t>5G</a:t>
            </a:r>
            <a:r>
              <a:rPr dirty="0" sz="1300" spc="-5" b="1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Microsoft YaHei"/>
                <a:cs typeface="Microsoft YaHei"/>
              </a:rPr>
              <a:t>CORE统一提供业务</a:t>
            </a:r>
            <a:endParaRPr sz="13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6249" y="178702"/>
            <a:ext cx="80289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 b="0">
                <a:latin typeface="Times New Roman"/>
                <a:cs typeface="Times New Roman"/>
              </a:rPr>
              <a:t>5G</a:t>
            </a:r>
            <a:r>
              <a:rPr dirty="0" sz="2800" spc="-10"/>
              <a:t>独立组网性能更优，利于运营商掌握</a:t>
            </a:r>
            <a:r>
              <a:rPr dirty="0" sz="2800" spc="-10">
                <a:latin typeface="Times New Roman"/>
                <a:cs typeface="Times New Roman"/>
              </a:rPr>
              <a:t>5G</a:t>
            </a:r>
            <a:r>
              <a:rPr dirty="0" sz="2800" spc="-20"/>
              <a:t>先发优势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98450" y="1117600"/>
          <a:ext cx="8729980" cy="311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/>
                <a:gridCol w="2807969"/>
                <a:gridCol w="4319905"/>
              </a:tblGrid>
              <a:tr h="370205"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对比项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架构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NSA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架构</a:t>
                      </a:r>
                      <a:endParaRPr sz="1600">
                        <a:latin typeface="SimSun"/>
                        <a:cs typeface="SimSu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400" spc="-30" b="1">
                          <a:latin typeface="Microsoft YaHei"/>
                          <a:cs typeface="Microsoft YaHei"/>
                        </a:rPr>
                        <a:t>组网目标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5G</a:t>
                      </a:r>
                      <a:r>
                        <a:rPr dirty="0" sz="1400" spc="-30">
                          <a:latin typeface="Microsoft YaHei"/>
                          <a:cs typeface="Microsoft YaHei"/>
                        </a:rPr>
                        <a:t>目标方案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过渡方案，后续需要演进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 b="1">
                          <a:latin typeface="Microsoft YaHei"/>
                          <a:cs typeface="Microsoft YaHei"/>
                        </a:rPr>
                        <a:t>4G</a:t>
                      </a:r>
                      <a:r>
                        <a:rPr dirty="0" sz="1400" spc="-30" b="1">
                          <a:latin typeface="Microsoft YaHei"/>
                          <a:cs typeface="Microsoft YaHei"/>
                        </a:rPr>
                        <a:t>网络影响性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35">
                          <a:latin typeface="Microsoft YaHei"/>
                          <a:cs typeface="Microsoft YaHei"/>
                        </a:rPr>
                        <a:t>无影响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4G</a:t>
                      </a: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网络软件升级，传输改造，存在数据迂回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5" b="1">
                          <a:latin typeface="Microsoft YaHei"/>
                          <a:cs typeface="Microsoft YaHei"/>
                        </a:rPr>
                        <a:t>对终端影响性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同一时刻仅工作于一种制式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4G/5G</a:t>
                      </a: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同时工作，功耗高，实现难度大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5" b="1">
                          <a:latin typeface="Microsoft YaHei"/>
                          <a:cs typeface="Microsoft YaHei"/>
                        </a:rPr>
                        <a:t>新业务支持能力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能够很好支持5G</a:t>
                      </a:r>
                      <a:r>
                        <a:rPr dirty="0" sz="1400" spc="-35">
                          <a:latin typeface="Microsoft YaHei"/>
                          <a:cs typeface="Microsoft YaHei"/>
                        </a:rPr>
                        <a:t>新业务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10">
                          <a:latin typeface="Microsoft YaHei"/>
                          <a:cs typeface="Microsoft YaHei"/>
                        </a:rPr>
                        <a:t>option3x</a:t>
                      </a: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受限于</a:t>
                      </a:r>
                      <a:r>
                        <a:rPr dirty="0" sz="1400" spc="-10">
                          <a:latin typeface="Microsoft YaHei"/>
                          <a:cs typeface="Microsoft YaHei"/>
                        </a:rPr>
                        <a:t>EPC</a:t>
                      </a: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，对新业务支持存在困难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35" b="1">
                          <a:latin typeface="Microsoft YaHei"/>
                          <a:cs typeface="Microsoft YaHei"/>
                        </a:rPr>
                        <a:t>时延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满足5G</a:t>
                      </a:r>
                      <a:r>
                        <a:rPr dirty="0" sz="1400" spc="-30">
                          <a:latin typeface="Microsoft YaHei"/>
                          <a:cs typeface="Microsoft YaHei"/>
                        </a:rPr>
                        <a:t>时延要求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受限于4G</a:t>
                      </a:r>
                      <a:r>
                        <a:rPr dirty="0" sz="1400" spc="-35">
                          <a:latin typeface="Microsoft YaHei"/>
                          <a:cs typeface="Microsoft YaHei"/>
                        </a:rPr>
                        <a:t>时延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35" b="1">
                          <a:latin typeface="Microsoft YaHei"/>
                          <a:cs typeface="Microsoft YaHei"/>
                        </a:rPr>
                        <a:t>速率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上下行均可多流，速率优势明显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上行单发，无</a:t>
                      </a:r>
                      <a:r>
                        <a:rPr dirty="0" sz="1400" spc="-10">
                          <a:latin typeface="Microsoft YaHei"/>
                          <a:cs typeface="Microsoft YaHei"/>
                        </a:rPr>
                        <a:t>SU-MIMO</a:t>
                      </a: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，同时影响下行赋形增益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30" b="1">
                          <a:latin typeface="Microsoft YaHei"/>
                          <a:cs typeface="Microsoft YaHei"/>
                        </a:rPr>
                        <a:t>建设成本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初期建网成本较高，一次到位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196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初期5G投入较少，但前期对4G</a:t>
                      </a:r>
                      <a:r>
                        <a:rPr dirty="0" sz="1400" spc="-25">
                          <a:latin typeface="Microsoft YaHei"/>
                          <a:cs typeface="Microsoft YaHei"/>
                        </a:rPr>
                        <a:t>改造，终极网络成本</a:t>
                      </a:r>
                      <a:r>
                        <a:rPr dirty="0" sz="1400" spc="-20">
                          <a:latin typeface="Microsoft YaHei"/>
                          <a:cs typeface="Microsoft YaHei"/>
                        </a:rPr>
                        <a:t>比SA</a:t>
                      </a:r>
                      <a:r>
                        <a:rPr dirty="0" sz="1400" spc="-50">
                          <a:latin typeface="Microsoft YaHei"/>
                          <a:cs typeface="Microsoft YaHei"/>
                        </a:rPr>
                        <a:t>高</a:t>
                      </a:r>
                      <a:endParaRPr sz="1400">
                        <a:latin typeface="Microsoft YaHei"/>
                        <a:cs typeface="Microsoft YaHe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4051" y="109600"/>
            <a:ext cx="3178175" cy="498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15"/>
              <a:t>主流运营商的考虑</a:t>
            </a:r>
            <a:endParaRPr sz="3100"/>
          </a:p>
        </p:txBody>
      </p:sp>
      <p:sp>
        <p:nvSpPr>
          <p:cNvPr id="3" name="object 3" descr=""/>
          <p:cNvSpPr txBox="1"/>
          <p:nvPr/>
        </p:nvSpPr>
        <p:spPr>
          <a:xfrm>
            <a:off x="1371600" y="971550"/>
            <a:ext cx="6482080" cy="1593215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dirty="0" sz="2000" spc="-20">
                <a:latin typeface="Microsoft YaHei"/>
                <a:cs typeface="Microsoft YaHei"/>
              </a:rPr>
              <a:t>领先运营商：NTT、</a:t>
            </a:r>
            <a:r>
              <a:rPr dirty="0" sz="2000" spc="-10">
                <a:latin typeface="Microsoft YaHei"/>
                <a:cs typeface="Microsoft YaHei"/>
              </a:rPr>
              <a:t>AT&amp;T</a:t>
            </a:r>
            <a:r>
              <a:rPr dirty="0" sz="2000" spc="-20">
                <a:latin typeface="Microsoft YaHei"/>
                <a:cs typeface="Microsoft YaHei"/>
              </a:rPr>
              <a:t>、</a:t>
            </a:r>
            <a:r>
              <a:rPr dirty="0" sz="2000" spc="-10">
                <a:latin typeface="Microsoft YaHei"/>
                <a:cs typeface="Microsoft YaHei"/>
              </a:rPr>
              <a:t>SKT</a:t>
            </a:r>
            <a:r>
              <a:rPr dirty="0" sz="2000" spc="-30">
                <a:latin typeface="Microsoft YaHei"/>
                <a:cs typeface="Microsoft YaHei"/>
              </a:rPr>
              <a:t>、沃达丰</a:t>
            </a:r>
            <a:endParaRPr sz="2000">
              <a:latin typeface="Microsoft YaHei"/>
              <a:cs typeface="Microsoft YaHei"/>
            </a:endParaRPr>
          </a:p>
          <a:p>
            <a:pPr marL="548005">
              <a:lnSpc>
                <a:spcPct val="100000"/>
              </a:lnSpc>
              <a:spcBef>
                <a:spcPts val="315"/>
              </a:spcBef>
              <a:tabLst>
                <a:tab pos="833755" algn="l"/>
              </a:tabLst>
            </a:pPr>
            <a:r>
              <a:rPr dirty="0" sz="1200" spc="-50">
                <a:latin typeface="Microsoft YaHei"/>
                <a:cs typeface="Microsoft YaHei"/>
              </a:rPr>
              <a:t>–</a:t>
            </a:r>
            <a:r>
              <a:rPr dirty="0" sz="1200">
                <a:latin typeface="Microsoft YaHei"/>
                <a:cs typeface="Microsoft YaHei"/>
              </a:rPr>
              <a:t>	先采用</a:t>
            </a:r>
            <a:r>
              <a:rPr dirty="0" sz="1200" spc="-10">
                <a:latin typeface="Microsoft YaHei"/>
                <a:cs typeface="Microsoft YaHei"/>
              </a:rPr>
              <a:t>OPTION3</a:t>
            </a:r>
            <a:r>
              <a:rPr dirty="0" sz="1200" spc="-5">
                <a:latin typeface="Microsoft YaHei"/>
                <a:cs typeface="Microsoft YaHei"/>
              </a:rPr>
              <a:t>，再演变为</a:t>
            </a:r>
            <a:r>
              <a:rPr dirty="0" sz="1200" spc="-10">
                <a:latin typeface="Microsoft YaHei"/>
                <a:cs typeface="Microsoft YaHei"/>
              </a:rPr>
              <a:t>OPTION7/4/2</a:t>
            </a:r>
            <a:r>
              <a:rPr dirty="0" sz="1200" spc="-50">
                <a:latin typeface="Microsoft YaHei"/>
                <a:cs typeface="Microsoft YaHei"/>
              </a:rPr>
              <a:t>等</a:t>
            </a:r>
            <a:endParaRPr sz="1200">
              <a:latin typeface="Microsoft YaHei"/>
              <a:cs typeface="Microsoft YaHei"/>
            </a:endParaRPr>
          </a:p>
          <a:p>
            <a:pPr marL="833755" indent="-285750">
              <a:lnSpc>
                <a:spcPct val="100000"/>
              </a:lnSpc>
              <a:spcBef>
                <a:spcPts val="285"/>
              </a:spcBef>
              <a:buFont typeface="Wingdings"/>
              <a:buChar char=""/>
              <a:tabLst>
                <a:tab pos="833755" algn="l"/>
              </a:tabLst>
            </a:pPr>
            <a:r>
              <a:rPr dirty="0" sz="1200">
                <a:latin typeface="Microsoft YaHei"/>
                <a:cs typeface="Microsoft YaHei"/>
              </a:rPr>
              <a:t>特点：初期不引入5G</a:t>
            </a:r>
            <a:r>
              <a:rPr dirty="0" sz="1200" spc="-25">
                <a:latin typeface="Microsoft YaHei"/>
                <a:cs typeface="Microsoft YaHei"/>
              </a:rPr>
              <a:t> </a:t>
            </a:r>
            <a:r>
              <a:rPr dirty="0" sz="1200">
                <a:latin typeface="Microsoft YaHei"/>
                <a:cs typeface="Microsoft YaHei"/>
              </a:rPr>
              <a:t>CORE，5G</a:t>
            </a:r>
            <a:r>
              <a:rPr dirty="0" sz="1200" spc="-25">
                <a:latin typeface="Microsoft YaHei"/>
                <a:cs typeface="Microsoft YaHei"/>
              </a:rPr>
              <a:t> </a:t>
            </a:r>
            <a:r>
              <a:rPr dirty="0" sz="1200" spc="-10">
                <a:latin typeface="Microsoft YaHei"/>
                <a:cs typeface="Microsoft YaHei"/>
              </a:rPr>
              <a:t>NR</a:t>
            </a:r>
            <a:r>
              <a:rPr dirty="0" sz="1200">
                <a:latin typeface="Microsoft YaHei"/>
                <a:cs typeface="Microsoft YaHei"/>
              </a:rPr>
              <a:t>通过</a:t>
            </a:r>
            <a:r>
              <a:rPr dirty="0" sz="1200" spc="-10">
                <a:latin typeface="Microsoft YaHei"/>
                <a:cs typeface="Microsoft YaHei"/>
              </a:rPr>
              <a:t>EPC</a:t>
            </a:r>
            <a:r>
              <a:rPr dirty="0" sz="1200" spc="-25">
                <a:latin typeface="Microsoft YaHei"/>
                <a:cs typeface="Microsoft YaHei"/>
              </a:rPr>
              <a:t>接入</a:t>
            </a:r>
            <a:endParaRPr sz="1200">
              <a:latin typeface="Microsoft YaHei"/>
              <a:cs typeface="Microsoft YaHei"/>
            </a:endParaRPr>
          </a:p>
          <a:p>
            <a:pPr marL="508000">
              <a:lnSpc>
                <a:spcPct val="100000"/>
              </a:lnSpc>
              <a:spcBef>
                <a:spcPts val="1005"/>
              </a:spcBef>
            </a:pP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NTT</a:t>
            </a:r>
            <a:r>
              <a:rPr dirty="0" sz="1800" spc="-10">
                <a:solidFill>
                  <a:srgbClr val="00B050"/>
                </a:solidFill>
                <a:latin typeface="SimSun"/>
                <a:cs typeface="SimSun"/>
              </a:rPr>
              <a:t>：</a:t>
            </a: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OPTION3-</a:t>
            </a:r>
            <a:r>
              <a:rPr dirty="0" sz="1800" b="1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-&gt;OPTION2</a:t>
            </a:r>
            <a:endParaRPr sz="1800">
              <a:latin typeface="Calibri"/>
              <a:cs typeface="Calibri"/>
            </a:endParaRPr>
          </a:p>
          <a:p>
            <a:pPr marL="508000">
              <a:lnSpc>
                <a:spcPct val="100000"/>
              </a:lnSpc>
              <a:spcBef>
                <a:spcPts val="234"/>
              </a:spcBef>
            </a:pPr>
            <a:r>
              <a:rPr dirty="0" sz="1800" spc="-20" b="1">
                <a:solidFill>
                  <a:srgbClr val="00B050"/>
                </a:solidFill>
                <a:latin typeface="Calibri"/>
                <a:cs typeface="Calibri"/>
              </a:rPr>
              <a:t>AT&amp;T</a:t>
            </a:r>
            <a:r>
              <a:rPr dirty="0" sz="1800" spc="-20">
                <a:solidFill>
                  <a:srgbClr val="00B050"/>
                </a:solidFill>
                <a:latin typeface="SimSun"/>
                <a:cs typeface="SimSun"/>
              </a:rPr>
              <a:t>：</a:t>
            </a:r>
            <a:r>
              <a:rPr dirty="0" sz="1800" spc="-20" b="1">
                <a:solidFill>
                  <a:srgbClr val="00B050"/>
                </a:solidFill>
                <a:latin typeface="Calibri"/>
                <a:cs typeface="Calibri"/>
              </a:rPr>
              <a:t>OPTION3-</a:t>
            </a: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dirty="0" sz="1800" b="1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&gt;OPTION7-</a:t>
            </a:r>
            <a:r>
              <a:rPr dirty="0" sz="1800" b="1">
                <a:solidFill>
                  <a:srgbClr val="00B050"/>
                </a:solidFill>
                <a:latin typeface="Calibri"/>
                <a:cs typeface="Calibri"/>
              </a:rPr>
              <a:t>--</a:t>
            </a: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&gt;OPTION4-</a:t>
            </a:r>
            <a:r>
              <a:rPr dirty="0" sz="1800" b="1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dirty="0" sz="1800" spc="-10" b="1">
                <a:solidFill>
                  <a:srgbClr val="00B050"/>
                </a:solidFill>
                <a:latin typeface="Calibri"/>
                <a:cs typeface="Calibri"/>
              </a:rPr>
              <a:t>-&gt;OPTION2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71600" y="3775214"/>
            <a:ext cx="6482080" cy="715645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8580">
              <a:lnSpc>
                <a:spcPts val="2355"/>
              </a:lnSpc>
            </a:pPr>
            <a:r>
              <a:rPr dirty="0" sz="2000" spc="-30">
                <a:latin typeface="Microsoft YaHei"/>
                <a:cs typeface="Microsoft YaHei"/>
              </a:rPr>
              <a:t>国内运营商</a:t>
            </a:r>
            <a:endParaRPr sz="2000">
              <a:latin typeface="Microsoft YaHei"/>
              <a:cs typeface="Microsoft YaHei"/>
            </a:endParaRPr>
          </a:p>
          <a:p>
            <a:pPr marL="753745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753745" algn="l"/>
              </a:tabLst>
            </a:pPr>
            <a:r>
              <a:rPr dirty="0" sz="1600">
                <a:latin typeface="Microsoft YaHei"/>
                <a:cs typeface="Microsoft YaHei"/>
              </a:rPr>
              <a:t>中国移动可能采用</a:t>
            </a:r>
            <a:r>
              <a:rPr dirty="0" sz="1600" spc="-10">
                <a:latin typeface="Microsoft YaHei"/>
                <a:cs typeface="Microsoft YaHei"/>
              </a:rPr>
              <a:t>OPTION1+2：EPC和5GC</a:t>
            </a:r>
            <a:r>
              <a:rPr dirty="0" sz="1600" spc="-20">
                <a:latin typeface="Microsoft YaHei"/>
                <a:cs typeface="Microsoft YaHei"/>
              </a:rPr>
              <a:t>互操作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71600" y="2634335"/>
            <a:ext cx="6482080" cy="1046480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8580">
              <a:lnSpc>
                <a:spcPts val="2355"/>
              </a:lnSpc>
            </a:pPr>
            <a:r>
              <a:rPr dirty="0" sz="2000" spc="-25">
                <a:latin typeface="Microsoft YaHei"/>
                <a:cs typeface="Microsoft YaHei"/>
              </a:rPr>
              <a:t>欧洲小运营商</a:t>
            </a:r>
            <a:endParaRPr sz="2000">
              <a:latin typeface="Microsoft YaHei"/>
              <a:cs typeface="Microsoft YaHei"/>
            </a:endParaRPr>
          </a:p>
          <a:p>
            <a:pPr marL="753745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753745" algn="l"/>
              </a:tabLst>
            </a:pPr>
            <a:r>
              <a:rPr dirty="0" sz="1600">
                <a:latin typeface="Microsoft YaHei"/>
                <a:cs typeface="Microsoft YaHei"/>
              </a:rPr>
              <a:t>采用</a:t>
            </a:r>
            <a:r>
              <a:rPr dirty="0" sz="1600" spc="-10">
                <a:latin typeface="Microsoft YaHei"/>
                <a:cs typeface="Microsoft YaHei"/>
              </a:rPr>
              <a:t>OPTION7</a:t>
            </a:r>
            <a:r>
              <a:rPr dirty="0" sz="1600" spc="-5">
                <a:latin typeface="Microsoft YaHei"/>
                <a:cs typeface="Microsoft YaHei"/>
              </a:rPr>
              <a:t>：对</a:t>
            </a:r>
            <a:r>
              <a:rPr dirty="0" sz="1600" spc="-10">
                <a:latin typeface="Microsoft YaHei"/>
                <a:cs typeface="Microsoft YaHei"/>
              </a:rPr>
              <a:t>5G部署不急迫，成熟时直接引入</a:t>
            </a:r>
            <a:r>
              <a:rPr dirty="0" sz="1600" spc="-25">
                <a:latin typeface="Microsoft YaHei"/>
                <a:cs typeface="Microsoft YaHei"/>
              </a:rPr>
              <a:t>5GC</a:t>
            </a:r>
            <a:endParaRPr sz="1600">
              <a:latin typeface="Microsoft YaHei"/>
              <a:cs typeface="Microsoft YaHei"/>
            </a:endParaRPr>
          </a:p>
          <a:p>
            <a:pPr marL="1115060" indent="-58928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115060" algn="l"/>
              </a:tabLst>
            </a:pPr>
            <a:r>
              <a:rPr dirty="0" sz="1600" spc="-5">
                <a:latin typeface="Microsoft YaHei"/>
                <a:cs typeface="Microsoft YaHei"/>
              </a:rPr>
              <a:t>意大利电信：</a:t>
            </a:r>
            <a:r>
              <a:rPr dirty="0" sz="1600" spc="-10">
                <a:latin typeface="Microsoft YaHei"/>
                <a:cs typeface="Microsoft YaHei"/>
              </a:rPr>
              <a:t>OPTION5+OPTION7---&gt;OPTION2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36408" y="4591964"/>
            <a:ext cx="6477000" cy="342265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20"/>
              </a:spcBef>
            </a:pPr>
            <a:r>
              <a:rPr dirty="0" sz="1600" spc="-15">
                <a:latin typeface="Microsoft YaHei"/>
                <a:cs typeface="Microsoft YaHei"/>
              </a:rPr>
              <a:t>运营商的策略会根据业务规划和竞争态势的变化、技术成熟度调整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3959" y="164495"/>
            <a:ext cx="472313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4G</a:t>
            </a:r>
            <a:r>
              <a:rPr dirty="0" spc="-35"/>
              <a:t>和</a:t>
            </a: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将长期共存和互补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5875" y="1057438"/>
            <a:ext cx="4752340" cy="1132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400" spc="-20">
                <a:latin typeface="Microsoft YaHei"/>
                <a:cs typeface="Microsoft YaHei"/>
              </a:rPr>
              <a:t>5G网络不像4G一样全覆盖，4G和</a:t>
            </a:r>
            <a:r>
              <a:rPr dirty="0" sz="1400" spc="-10">
                <a:latin typeface="Microsoft YaHei"/>
                <a:cs typeface="Microsoft YaHei"/>
              </a:rPr>
              <a:t>5G</a:t>
            </a:r>
            <a:r>
              <a:rPr dirty="0" sz="1400" spc="-25">
                <a:latin typeface="Microsoft YaHei"/>
                <a:cs typeface="Microsoft YaHei"/>
              </a:rPr>
              <a:t>网络长期共存和互补</a:t>
            </a:r>
            <a:endParaRPr sz="1400">
              <a:latin typeface="Microsoft YaHei"/>
              <a:cs typeface="Microsoft YaHei"/>
            </a:endParaRPr>
          </a:p>
          <a:p>
            <a:pPr marL="240665" indent="-227965">
              <a:lnSpc>
                <a:spcPct val="100000"/>
              </a:lnSpc>
              <a:spcBef>
                <a:spcPts val="18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400" spc="-20">
                <a:latin typeface="Microsoft YaHei"/>
                <a:cs typeface="Microsoft YaHei"/>
              </a:rPr>
              <a:t>保护4G投资，最大化4G</a:t>
            </a:r>
            <a:r>
              <a:rPr dirty="0" sz="1400" spc="-25">
                <a:latin typeface="Microsoft YaHei"/>
                <a:cs typeface="Microsoft YaHei"/>
              </a:rPr>
              <a:t>网络价值和优势；</a:t>
            </a:r>
            <a:endParaRPr sz="1400">
              <a:latin typeface="Microsoft YaHei"/>
              <a:cs typeface="Microsoft YaHei"/>
            </a:endParaRPr>
          </a:p>
          <a:p>
            <a:pPr marL="240665" indent="-227965">
              <a:lnSpc>
                <a:spcPct val="100000"/>
              </a:lnSpc>
              <a:spcBef>
                <a:spcPts val="18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400" spc="-20">
                <a:latin typeface="Microsoft YaHei"/>
                <a:cs typeface="Microsoft YaHei"/>
              </a:rPr>
              <a:t>4G用户/客户和业务未来需要向5G</a:t>
            </a:r>
            <a:r>
              <a:rPr dirty="0" sz="1400" spc="-25">
                <a:latin typeface="Microsoft YaHei"/>
                <a:cs typeface="Microsoft YaHei"/>
              </a:rPr>
              <a:t>演进和迁移；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555987" y="2395780"/>
            <a:ext cx="3810635" cy="2187575"/>
            <a:chOff x="2555987" y="2395780"/>
            <a:chExt cx="3810635" cy="2187575"/>
          </a:xfrm>
        </p:grpSpPr>
        <p:sp>
          <p:nvSpPr>
            <p:cNvPr id="5" name="object 5" descr=""/>
            <p:cNvSpPr/>
            <p:nvPr/>
          </p:nvSpPr>
          <p:spPr>
            <a:xfrm>
              <a:off x="2940563" y="2514282"/>
              <a:ext cx="857250" cy="1270"/>
            </a:xfrm>
            <a:custGeom>
              <a:avLst/>
              <a:gdLst/>
              <a:ahLst/>
              <a:cxnLst/>
              <a:rect l="l" t="t" r="r" b="b"/>
              <a:pathLst>
                <a:path w="857250" h="1269">
                  <a:moveTo>
                    <a:pt x="0" y="0"/>
                  </a:moveTo>
                  <a:lnTo>
                    <a:pt x="857250" y="1231"/>
                  </a:lnTo>
                </a:path>
              </a:pathLst>
            </a:custGeom>
            <a:ln w="19049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565512" y="2508571"/>
              <a:ext cx="428625" cy="1393190"/>
            </a:xfrm>
            <a:custGeom>
              <a:avLst/>
              <a:gdLst/>
              <a:ahLst/>
              <a:cxnLst/>
              <a:rect l="l" t="t" r="r" b="b"/>
              <a:pathLst>
                <a:path w="428625" h="1393189">
                  <a:moveTo>
                    <a:pt x="0" y="668540"/>
                  </a:moveTo>
                  <a:lnTo>
                    <a:pt x="375043" y="0"/>
                  </a:lnTo>
                </a:path>
                <a:path w="428625" h="1393189">
                  <a:moveTo>
                    <a:pt x="0" y="668540"/>
                  </a:moveTo>
                  <a:lnTo>
                    <a:pt x="428625" y="1392796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94140" y="3901366"/>
              <a:ext cx="857250" cy="1270"/>
            </a:xfrm>
            <a:custGeom>
              <a:avLst/>
              <a:gdLst/>
              <a:ahLst/>
              <a:cxnLst/>
              <a:rect l="l" t="t" r="r" b="b"/>
              <a:pathLst>
                <a:path w="857250" h="1270">
                  <a:moveTo>
                    <a:pt x="0" y="0"/>
                  </a:moveTo>
                  <a:lnTo>
                    <a:pt x="857250" y="1231"/>
                  </a:lnTo>
                </a:path>
              </a:pathLst>
            </a:custGeom>
            <a:ln w="19049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97818" y="2508568"/>
              <a:ext cx="375285" cy="613410"/>
            </a:xfrm>
            <a:custGeom>
              <a:avLst/>
              <a:gdLst/>
              <a:ahLst/>
              <a:cxnLst/>
              <a:rect l="l" t="t" r="r" b="b"/>
              <a:pathLst>
                <a:path w="375285" h="613410">
                  <a:moveTo>
                    <a:pt x="0" y="0"/>
                  </a:moveTo>
                  <a:lnTo>
                    <a:pt x="375043" y="612825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51393" y="3121398"/>
              <a:ext cx="321945" cy="780415"/>
            </a:xfrm>
            <a:custGeom>
              <a:avLst/>
              <a:gdLst/>
              <a:ahLst/>
              <a:cxnLst/>
              <a:rect l="l" t="t" r="r" b="b"/>
              <a:pathLst>
                <a:path w="321945" h="780414">
                  <a:moveTo>
                    <a:pt x="321475" y="0"/>
                  </a:moveTo>
                  <a:lnTo>
                    <a:pt x="0" y="77997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72868" y="3128139"/>
              <a:ext cx="911225" cy="1270"/>
            </a:xfrm>
            <a:custGeom>
              <a:avLst/>
              <a:gdLst/>
              <a:ahLst/>
              <a:cxnLst/>
              <a:rect l="l" t="t" r="r" b="b"/>
              <a:pathLst>
                <a:path w="911225" h="1269">
                  <a:moveTo>
                    <a:pt x="0" y="0"/>
                  </a:moveTo>
                  <a:lnTo>
                    <a:pt x="910831" y="1143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72111" y="3138913"/>
              <a:ext cx="297180" cy="721995"/>
            </a:xfrm>
            <a:custGeom>
              <a:avLst/>
              <a:gdLst/>
              <a:ahLst/>
              <a:cxnLst/>
              <a:rect l="l" t="t" r="r" b="b"/>
              <a:pathLst>
                <a:path w="297179" h="721995">
                  <a:moveTo>
                    <a:pt x="0" y="721715"/>
                  </a:moveTo>
                  <a:lnTo>
                    <a:pt x="297014" y="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51398" y="3902603"/>
              <a:ext cx="396875" cy="640080"/>
            </a:xfrm>
            <a:custGeom>
              <a:avLst/>
              <a:gdLst/>
              <a:ahLst/>
              <a:cxnLst/>
              <a:rect l="l" t="t" r="r" b="b"/>
              <a:pathLst>
                <a:path w="396875" h="640079">
                  <a:moveTo>
                    <a:pt x="0" y="0"/>
                  </a:moveTo>
                  <a:lnTo>
                    <a:pt x="396430" y="639813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47820" y="4523327"/>
              <a:ext cx="943610" cy="19685"/>
            </a:xfrm>
            <a:custGeom>
              <a:avLst/>
              <a:gdLst/>
              <a:ahLst/>
              <a:cxnLst/>
              <a:rect l="l" t="t" r="r" b="b"/>
              <a:pathLst>
                <a:path w="943610" h="19685">
                  <a:moveTo>
                    <a:pt x="0" y="19088"/>
                  </a:moveTo>
                  <a:lnTo>
                    <a:pt x="943038" y="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83704" y="3128139"/>
              <a:ext cx="352425" cy="658495"/>
            </a:xfrm>
            <a:custGeom>
              <a:avLst/>
              <a:gdLst/>
              <a:ahLst/>
              <a:cxnLst/>
              <a:rect l="l" t="t" r="r" b="b"/>
              <a:pathLst>
                <a:path w="352425" h="658495">
                  <a:moveTo>
                    <a:pt x="0" y="0"/>
                  </a:moveTo>
                  <a:lnTo>
                    <a:pt x="352247" y="65819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90855" y="3786331"/>
              <a:ext cx="245110" cy="735965"/>
            </a:xfrm>
            <a:custGeom>
              <a:avLst/>
              <a:gdLst/>
              <a:ahLst/>
              <a:cxnLst/>
              <a:rect l="l" t="t" r="r" b="b"/>
              <a:pathLst>
                <a:path w="245110" h="735964">
                  <a:moveTo>
                    <a:pt x="245097" y="0"/>
                  </a:moveTo>
                  <a:lnTo>
                    <a:pt x="0" y="73585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83698" y="2405305"/>
              <a:ext cx="321945" cy="723265"/>
            </a:xfrm>
            <a:custGeom>
              <a:avLst/>
              <a:gdLst/>
              <a:ahLst/>
              <a:cxnLst/>
              <a:rect l="l" t="t" r="r" b="b"/>
              <a:pathLst>
                <a:path w="321945" h="723264">
                  <a:moveTo>
                    <a:pt x="321475" y="0"/>
                  </a:moveTo>
                  <a:lnTo>
                    <a:pt x="0" y="722833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35953" y="3786331"/>
              <a:ext cx="920750" cy="0"/>
            </a:xfrm>
            <a:custGeom>
              <a:avLst/>
              <a:gdLst/>
              <a:ahLst/>
              <a:cxnLst/>
              <a:rect l="l" t="t" r="r" b="b"/>
              <a:pathLst>
                <a:path w="920750" h="0">
                  <a:moveTo>
                    <a:pt x="0" y="0"/>
                  </a:moveTo>
                  <a:lnTo>
                    <a:pt x="920673" y="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619098" y="3902604"/>
              <a:ext cx="375285" cy="671830"/>
            </a:xfrm>
            <a:custGeom>
              <a:avLst/>
              <a:gdLst/>
              <a:ahLst/>
              <a:cxnLst/>
              <a:rect l="l" t="t" r="r" b="b"/>
              <a:pathLst>
                <a:path w="375285" h="671829">
                  <a:moveTo>
                    <a:pt x="375043" y="0"/>
                  </a:moveTo>
                  <a:lnTo>
                    <a:pt x="0" y="671207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786996" y="3399356"/>
            <a:ext cx="5835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0" b="1">
                <a:latin typeface="Microsoft YaHei"/>
                <a:cs typeface="Microsoft YaHei"/>
              </a:rPr>
              <a:t>网络覆盖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26246" y="3739894"/>
            <a:ext cx="1006475" cy="57467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46990" indent="-44450">
              <a:lnSpc>
                <a:spcPct val="100000"/>
              </a:lnSpc>
              <a:spcBef>
                <a:spcPts val="580"/>
              </a:spcBef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4G</a:t>
            </a:r>
            <a:r>
              <a:rPr dirty="0" sz="800" spc="-20">
                <a:latin typeface="Microsoft YaHei"/>
                <a:cs typeface="Microsoft YaHei"/>
              </a:rPr>
              <a:t>：解决全覆盖</a:t>
            </a:r>
            <a:endParaRPr sz="800">
              <a:latin typeface="Microsoft YaHei"/>
              <a:cs typeface="Microsoft YaHei"/>
            </a:endParaRPr>
          </a:p>
          <a:p>
            <a:pPr marL="12700" marR="5080" indent="-10160">
              <a:lnSpc>
                <a:spcPct val="150000"/>
              </a:lnSpc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	</a:t>
            </a:r>
            <a:r>
              <a:rPr dirty="0" sz="800" spc="-10">
                <a:latin typeface="Microsoft YaHei"/>
                <a:cs typeface="Microsoft YaHei"/>
              </a:rPr>
              <a:t>5G</a:t>
            </a:r>
            <a:r>
              <a:rPr dirty="0" sz="800" spc="-20">
                <a:latin typeface="Microsoft YaHei"/>
                <a:cs typeface="Microsoft YaHei"/>
              </a:rPr>
              <a:t>：初期热点覆盖为</a:t>
            </a:r>
            <a:r>
              <a:rPr dirty="0" sz="800" spc="-50">
                <a:latin typeface="Microsoft YaHei"/>
                <a:cs typeface="Microsoft YaHei"/>
              </a:rPr>
              <a:t>主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868385" y="2572640"/>
            <a:ext cx="1051560" cy="1318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95"/>
              </a:spcBef>
            </a:pPr>
            <a:r>
              <a:rPr dirty="0" sz="1100" spc="-30" b="1">
                <a:latin typeface="Microsoft YaHei"/>
                <a:cs typeface="Microsoft YaHei"/>
              </a:rPr>
              <a:t>业务承载</a:t>
            </a:r>
            <a:endParaRPr sz="1100">
              <a:latin typeface="Microsoft YaHei"/>
              <a:cs typeface="Microsoft YaHei"/>
            </a:endParaRPr>
          </a:p>
          <a:p>
            <a:pPr marL="12700" marR="17145" indent="-10160">
              <a:lnSpc>
                <a:spcPct val="150000"/>
              </a:lnSpc>
              <a:spcBef>
                <a:spcPts val="220"/>
              </a:spcBef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	</a:t>
            </a:r>
            <a:r>
              <a:rPr dirty="0" sz="800" spc="-10">
                <a:latin typeface="Microsoft YaHei"/>
                <a:cs typeface="Microsoft YaHei"/>
              </a:rPr>
              <a:t>4G：VoLTE</a:t>
            </a:r>
            <a:r>
              <a:rPr dirty="0" sz="800" spc="-20">
                <a:latin typeface="Microsoft YaHei"/>
                <a:cs typeface="Microsoft YaHei"/>
              </a:rPr>
              <a:t>语音、中</a:t>
            </a:r>
            <a:r>
              <a:rPr dirty="0" sz="800" spc="-15">
                <a:latin typeface="Microsoft YaHei"/>
                <a:cs typeface="Microsoft YaHei"/>
              </a:rPr>
              <a:t>高速数据广域覆盖业务</a:t>
            </a:r>
            <a:endParaRPr sz="800">
              <a:latin typeface="Microsoft YaHei"/>
              <a:cs typeface="Microsoft YaHei"/>
            </a:endParaRPr>
          </a:p>
          <a:p>
            <a:pPr marL="12700" marR="5080" indent="-10160">
              <a:lnSpc>
                <a:spcPct val="150000"/>
              </a:lnSpc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	</a:t>
            </a:r>
            <a:r>
              <a:rPr dirty="0" sz="800" spc="-10">
                <a:latin typeface="Microsoft YaHei"/>
                <a:cs typeface="Microsoft YaHei"/>
              </a:rPr>
              <a:t>5G</a:t>
            </a:r>
            <a:r>
              <a:rPr dirty="0" sz="800" spc="-20">
                <a:latin typeface="Microsoft YaHei"/>
                <a:cs typeface="Microsoft YaHei"/>
              </a:rPr>
              <a:t>：特色业务，</a:t>
            </a:r>
            <a:r>
              <a:rPr dirty="0" sz="800" spc="-10">
                <a:latin typeface="Microsoft YaHei"/>
                <a:cs typeface="Microsoft YaHei"/>
              </a:rPr>
              <a:t> AR/VR</a:t>
            </a:r>
            <a:r>
              <a:rPr dirty="0" sz="800" spc="-20">
                <a:latin typeface="Microsoft YaHei"/>
                <a:cs typeface="Microsoft YaHei"/>
              </a:rPr>
              <a:t>、高清视频、网</a:t>
            </a:r>
            <a:r>
              <a:rPr dirty="0" sz="800" spc="-15">
                <a:latin typeface="Microsoft YaHei"/>
                <a:cs typeface="Microsoft YaHei"/>
              </a:rPr>
              <a:t>络切片、局部高速数据</a:t>
            </a:r>
            <a:r>
              <a:rPr dirty="0" sz="800" spc="-30">
                <a:latin typeface="Microsoft YaHei"/>
                <a:cs typeface="Microsoft YaHei"/>
              </a:rPr>
              <a:t>业务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67094" y="3142775"/>
            <a:ext cx="1017269" cy="134239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610"/>
              </a:spcBef>
            </a:pPr>
            <a:r>
              <a:rPr dirty="0" sz="1100" spc="-35" b="1">
                <a:latin typeface="Microsoft YaHei"/>
                <a:cs typeface="Microsoft YaHei"/>
              </a:rPr>
              <a:t>物联网</a:t>
            </a:r>
            <a:endParaRPr sz="1100">
              <a:latin typeface="Microsoft YaHei"/>
              <a:cs typeface="Microsoft YaHei"/>
            </a:endParaRPr>
          </a:p>
          <a:p>
            <a:pPr marL="46990" indent="-44450">
              <a:lnSpc>
                <a:spcPct val="100000"/>
              </a:lnSpc>
              <a:spcBef>
                <a:spcPts val="375"/>
              </a:spcBef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当前物联网应用对</a:t>
            </a:r>
            <a:r>
              <a:rPr dirty="0" sz="800" spc="-35">
                <a:latin typeface="Microsoft YaHei"/>
                <a:cs typeface="Microsoft YaHei"/>
              </a:rPr>
              <a:t>5G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800" spc="-20">
                <a:latin typeface="Microsoft YaHei"/>
                <a:cs typeface="Microsoft YaHei"/>
              </a:rPr>
              <a:t>需求不迫切</a:t>
            </a:r>
            <a:endParaRPr sz="800">
              <a:latin typeface="Microsoft YaHei"/>
              <a:cs typeface="Microsoft YaHei"/>
            </a:endParaRPr>
          </a:p>
          <a:p>
            <a:pPr marL="46990" indent="-44450">
              <a:lnSpc>
                <a:spcPct val="100000"/>
              </a:lnSpc>
              <a:spcBef>
                <a:spcPts val="480"/>
              </a:spcBef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现阶段以</a:t>
            </a:r>
            <a:r>
              <a:rPr dirty="0" sz="800" spc="-20">
                <a:latin typeface="Microsoft YaHei"/>
                <a:cs typeface="Microsoft YaHei"/>
              </a:rPr>
              <a:t>NBIoT</a:t>
            </a:r>
            <a:r>
              <a:rPr dirty="0" sz="800" spc="-50">
                <a:latin typeface="Microsoft YaHei"/>
                <a:cs typeface="Microsoft YaHei"/>
              </a:rPr>
              <a:t>、</a:t>
            </a:r>
            <a:endParaRPr sz="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800" spc="-20">
                <a:latin typeface="Microsoft YaHei"/>
                <a:cs typeface="Microsoft YaHei"/>
              </a:rPr>
              <a:t>eMTC业务为主要手段</a:t>
            </a:r>
            <a:endParaRPr sz="800">
              <a:latin typeface="Microsoft YaHei"/>
              <a:cs typeface="Microsoft YaHei"/>
            </a:endParaRPr>
          </a:p>
          <a:p>
            <a:pPr marL="12700" marR="48895" indent="-10160">
              <a:lnSpc>
                <a:spcPct val="150000"/>
              </a:lnSpc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5">
                <a:latin typeface="Microsoft YaHei"/>
                <a:cs typeface="Microsoft YaHei"/>
              </a:rPr>
              <a:t>	</a:t>
            </a:r>
            <a:r>
              <a:rPr dirty="0" sz="800" spc="-15">
                <a:latin typeface="Microsoft YaHei"/>
                <a:cs typeface="Microsoft YaHei"/>
              </a:rPr>
              <a:t>后续根据业务需求演</a:t>
            </a:r>
            <a:r>
              <a:rPr dirty="0" sz="800" spc="-50">
                <a:latin typeface="Microsoft YaHei"/>
                <a:cs typeface="Microsoft YaHei"/>
              </a:rPr>
              <a:t>进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267964" y="3170246"/>
            <a:ext cx="1360805" cy="1414780"/>
            <a:chOff x="1267964" y="3170246"/>
            <a:chExt cx="1360805" cy="1414780"/>
          </a:xfrm>
        </p:grpSpPr>
        <p:sp>
          <p:nvSpPr>
            <p:cNvPr id="24" name="object 24" descr=""/>
            <p:cNvSpPr/>
            <p:nvPr/>
          </p:nvSpPr>
          <p:spPr>
            <a:xfrm>
              <a:off x="1277489" y="3179771"/>
              <a:ext cx="1288415" cy="715010"/>
            </a:xfrm>
            <a:custGeom>
              <a:avLst/>
              <a:gdLst/>
              <a:ahLst/>
              <a:cxnLst/>
              <a:rect l="l" t="t" r="r" b="b"/>
              <a:pathLst>
                <a:path w="1288414" h="715010">
                  <a:moveTo>
                    <a:pt x="377190" y="0"/>
                  </a:moveTo>
                  <a:lnTo>
                    <a:pt x="1288021" y="1143"/>
                  </a:lnTo>
                </a:path>
                <a:path w="1288414" h="715010">
                  <a:moveTo>
                    <a:pt x="377190" y="0"/>
                  </a:moveTo>
                  <a:lnTo>
                    <a:pt x="0" y="714578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77490" y="3894345"/>
              <a:ext cx="323850" cy="680085"/>
            </a:xfrm>
            <a:custGeom>
              <a:avLst/>
              <a:gdLst/>
              <a:ahLst/>
              <a:cxnLst/>
              <a:rect l="l" t="t" r="r" b="b"/>
              <a:pathLst>
                <a:path w="323850" h="680085">
                  <a:moveTo>
                    <a:pt x="0" y="0"/>
                  </a:moveTo>
                  <a:lnTo>
                    <a:pt x="323608" y="679462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601100" y="4573807"/>
              <a:ext cx="1018540" cy="1270"/>
            </a:xfrm>
            <a:custGeom>
              <a:avLst/>
              <a:gdLst/>
              <a:ahLst/>
              <a:cxnLst/>
              <a:rect l="l" t="t" r="r" b="b"/>
              <a:pathLst>
                <a:path w="1018539" h="1270">
                  <a:moveTo>
                    <a:pt x="0" y="0"/>
                  </a:moveTo>
                  <a:lnTo>
                    <a:pt x="1017993" y="1143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416927" y="2414541"/>
            <a:ext cx="1006475" cy="13144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18440">
              <a:lnSpc>
                <a:spcPct val="100000"/>
              </a:lnSpc>
              <a:spcBef>
                <a:spcPts val="484"/>
              </a:spcBef>
            </a:pPr>
            <a:r>
              <a:rPr dirty="0" sz="1100" spc="-30" b="1">
                <a:latin typeface="Microsoft YaHei"/>
                <a:cs typeface="Microsoft YaHei"/>
              </a:rPr>
              <a:t>合作拓展</a:t>
            </a:r>
            <a:endParaRPr sz="1100">
              <a:latin typeface="Microsoft YaHei"/>
              <a:cs typeface="Microsoft YaHei"/>
            </a:endParaRPr>
          </a:p>
          <a:p>
            <a:pPr marL="46990" indent="-44450">
              <a:lnSpc>
                <a:spcPct val="100000"/>
              </a:lnSpc>
              <a:spcBef>
                <a:spcPts val="280"/>
              </a:spcBef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面向</a:t>
            </a:r>
            <a:r>
              <a:rPr dirty="0" sz="800" spc="-20">
                <a:latin typeface="Microsoft YaHei"/>
                <a:cs typeface="Microsoft YaHei"/>
              </a:rPr>
              <a:t>5G业务前景，确</a:t>
            </a:r>
            <a:endParaRPr sz="800">
              <a:latin typeface="Microsoft YaHei"/>
              <a:cs typeface="Microsoft YaHei"/>
            </a:endParaRPr>
          </a:p>
          <a:p>
            <a:pPr marL="12700" marR="73660">
              <a:lnSpc>
                <a:spcPct val="150000"/>
              </a:lnSpc>
            </a:pPr>
            <a:r>
              <a:rPr dirty="0" sz="800" spc="-20">
                <a:latin typeface="Microsoft YaHei"/>
                <a:cs typeface="Microsoft YaHei"/>
              </a:rPr>
              <a:t>定合作领域，进行重点行业布局</a:t>
            </a:r>
            <a:endParaRPr sz="800">
              <a:latin typeface="Microsoft YaHei"/>
              <a:cs typeface="Microsoft YaHei"/>
            </a:endParaRPr>
          </a:p>
          <a:p>
            <a:pPr marL="12700" marR="5080" indent="-10160">
              <a:lnSpc>
                <a:spcPct val="150000"/>
              </a:lnSpc>
              <a:buSzPct val="87500"/>
              <a:buFont typeface="Arial MT"/>
              <a:buChar char="•"/>
              <a:tabLst>
                <a:tab pos="46990" algn="l"/>
              </a:tabLst>
            </a:pPr>
            <a:r>
              <a:rPr dirty="0" sz="800" spc="-10">
                <a:latin typeface="Microsoft YaHei"/>
                <a:cs typeface="Microsoft YaHei"/>
              </a:rPr>
              <a:t>	</a:t>
            </a:r>
            <a:r>
              <a:rPr dirty="0" sz="800" spc="-10">
                <a:latin typeface="Microsoft YaHei"/>
                <a:cs typeface="Microsoft YaHei"/>
              </a:rPr>
              <a:t>通过</a:t>
            </a:r>
            <a:r>
              <a:rPr dirty="0" sz="800" spc="-20">
                <a:latin typeface="Microsoft YaHei"/>
                <a:cs typeface="Microsoft YaHei"/>
              </a:rPr>
              <a:t>4G网络探索合作模式、商业模式，未</a:t>
            </a:r>
            <a:r>
              <a:rPr dirty="0" sz="800" spc="-10">
                <a:latin typeface="Microsoft YaHei"/>
                <a:cs typeface="Microsoft YaHei"/>
              </a:rPr>
              <a:t>来向</a:t>
            </a:r>
            <a:r>
              <a:rPr dirty="0" sz="800" spc="-20">
                <a:latin typeface="Microsoft YaHei"/>
                <a:cs typeface="Microsoft YaHei"/>
              </a:rPr>
              <a:t>5G</a:t>
            </a:r>
            <a:r>
              <a:rPr dirty="0" sz="800" spc="-25">
                <a:latin typeface="Microsoft YaHei"/>
                <a:cs typeface="Microsoft YaHei"/>
              </a:rPr>
              <a:t>迁移。</a:t>
            </a:r>
            <a:endParaRPr sz="800">
              <a:latin typeface="Microsoft YaHei"/>
              <a:cs typeface="Microsoft YaHe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395943" y="2398082"/>
            <a:ext cx="1348740" cy="2099945"/>
            <a:chOff x="5395943" y="2398082"/>
            <a:chExt cx="1348740" cy="2099945"/>
          </a:xfrm>
        </p:grpSpPr>
        <p:sp>
          <p:nvSpPr>
            <p:cNvPr id="29" name="object 29" descr=""/>
            <p:cNvSpPr/>
            <p:nvPr/>
          </p:nvSpPr>
          <p:spPr>
            <a:xfrm>
              <a:off x="5395943" y="2410749"/>
              <a:ext cx="864235" cy="0"/>
            </a:xfrm>
            <a:custGeom>
              <a:avLst/>
              <a:gdLst/>
              <a:ahLst/>
              <a:cxnLst/>
              <a:rect l="l" t="t" r="r" b="b"/>
              <a:pathLst>
                <a:path w="864235" h="0">
                  <a:moveTo>
                    <a:pt x="0" y="0"/>
                  </a:moveTo>
                  <a:lnTo>
                    <a:pt x="864095" y="0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260039" y="2407607"/>
              <a:ext cx="428625" cy="671830"/>
            </a:xfrm>
            <a:custGeom>
              <a:avLst/>
              <a:gdLst/>
              <a:ahLst/>
              <a:cxnLst/>
              <a:rect l="l" t="t" r="r" b="b"/>
              <a:pathLst>
                <a:path w="428625" h="671830">
                  <a:moveTo>
                    <a:pt x="0" y="0"/>
                  </a:moveTo>
                  <a:lnTo>
                    <a:pt x="428625" y="671207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56616" y="3084253"/>
              <a:ext cx="327660" cy="702310"/>
            </a:xfrm>
            <a:custGeom>
              <a:avLst/>
              <a:gdLst/>
              <a:ahLst/>
              <a:cxnLst/>
              <a:rect l="l" t="t" r="r" b="b"/>
              <a:pathLst>
                <a:path w="327659" h="702310">
                  <a:moveTo>
                    <a:pt x="327190" y="0"/>
                  </a:moveTo>
                  <a:lnTo>
                    <a:pt x="0" y="702081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356621" y="3786330"/>
              <a:ext cx="378460" cy="702310"/>
            </a:xfrm>
            <a:custGeom>
              <a:avLst/>
              <a:gdLst/>
              <a:ahLst/>
              <a:cxnLst/>
              <a:rect l="l" t="t" r="r" b="b"/>
              <a:pathLst>
                <a:path w="378459" h="702310">
                  <a:moveTo>
                    <a:pt x="0" y="0"/>
                  </a:moveTo>
                  <a:lnTo>
                    <a:pt x="378040" y="702081"/>
                  </a:lnTo>
                </a:path>
              </a:pathLst>
            </a:custGeom>
            <a:ln w="19050">
              <a:solidFill>
                <a:srgbClr val="009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513" y="137830"/>
            <a:ext cx="61239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现阶段网络部署方式的分析和建议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8600" y="4248150"/>
            <a:ext cx="8573135" cy="499109"/>
          </a:xfrm>
          <a:prstGeom prst="rect">
            <a:avLst/>
          </a:prstGeom>
          <a:solidFill>
            <a:srgbClr val="F1F9F9"/>
          </a:solidFill>
        </p:spPr>
        <p:txBody>
          <a:bodyPr wrap="square" lIns="0" tIns="134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dirty="0" sz="2000" spc="-15">
                <a:solidFill>
                  <a:srgbClr val="C00000"/>
                </a:solidFill>
                <a:latin typeface="SimSun"/>
                <a:cs typeface="SimSun"/>
              </a:rPr>
              <a:t>建议首选</a:t>
            </a: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SA</a:t>
            </a:r>
            <a:r>
              <a:rPr dirty="0" sz="2000" spc="-15">
                <a:solidFill>
                  <a:srgbClr val="C00000"/>
                </a:solidFill>
                <a:latin typeface="SimSun"/>
                <a:cs typeface="SimSun"/>
              </a:rPr>
              <a:t>方式进行网络部署</a:t>
            </a:r>
            <a:endParaRPr sz="2000">
              <a:latin typeface="SimSun"/>
              <a:cs typeface="SimSu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3140" y="1130494"/>
            <a:ext cx="173799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SA</a:t>
            </a:r>
            <a:r>
              <a:rPr dirty="0" sz="1600" spc="-10">
                <a:solidFill>
                  <a:srgbClr val="C00000"/>
                </a:solidFill>
                <a:latin typeface="SimSun"/>
                <a:cs typeface="SimSun"/>
              </a:rPr>
              <a:t>组网优势明显：</a:t>
            </a:r>
            <a:endParaRPr sz="1600">
              <a:latin typeface="SimSun"/>
              <a:cs typeface="SimSu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806632" y="1439837"/>
            <a:ext cx="3740785" cy="2328545"/>
          </a:xfrm>
          <a:custGeom>
            <a:avLst/>
            <a:gdLst/>
            <a:ahLst/>
            <a:cxnLst/>
            <a:rect l="l" t="t" r="r" b="b"/>
            <a:pathLst>
              <a:path w="3740784" h="2328545">
                <a:moveTo>
                  <a:pt x="3740696" y="0"/>
                </a:moveTo>
                <a:lnTo>
                  <a:pt x="0" y="0"/>
                </a:lnTo>
                <a:lnTo>
                  <a:pt x="0" y="2328075"/>
                </a:lnTo>
                <a:lnTo>
                  <a:pt x="3740696" y="2328075"/>
                </a:lnTo>
                <a:lnTo>
                  <a:pt x="3740696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433705" indent="-34290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433705" algn="l"/>
              </a:tabLst>
            </a:pPr>
            <a:r>
              <a:rPr dirty="0" spc="-20"/>
              <a:t>5G</a:t>
            </a:r>
            <a:r>
              <a:rPr dirty="0" spc="-25"/>
              <a:t>信令信道无法连续覆盖？</a:t>
            </a:r>
          </a:p>
          <a:p>
            <a:pPr lvl="1" marL="534670" marR="219075" indent="-171450">
              <a:lnSpc>
                <a:spcPct val="120000"/>
              </a:lnSpc>
              <a:spcBef>
                <a:spcPts val="650"/>
              </a:spcBef>
              <a:buFont typeface="Arial MT"/>
              <a:buChar char="•"/>
              <a:tabLst>
                <a:tab pos="537845" algn="l"/>
              </a:tabLst>
            </a:pPr>
            <a:r>
              <a:rPr dirty="0" sz="1100" spc="-20">
                <a:latin typeface="Microsoft YaHei"/>
                <a:cs typeface="Microsoft YaHei"/>
              </a:rPr>
              <a:t>多厂家仿真结果</a:t>
            </a:r>
            <a:r>
              <a:rPr dirty="0" sz="1100" spc="-10">
                <a:latin typeface="Microsoft YaHei"/>
                <a:cs typeface="Microsoft YaHei"/>
              </a:rPr>
              <a:t>5G</a:t>
            </a:r>
            <a:r>
              <a:rPr dirty="0" sz="1100" spc="-25">
                <a:latin typeface="Microsoft YaHei"/>
                <a:cs typeface="Microsoft YaHei"/>
              </a:rPr>
              <a:t>控制信道不受限，支持独立组</a:t>
            </a:r>
            <a:r>
              <a:rPr dirty="0" sz="1100" spc="-25">
                <a:latin typeface="Microsoft YaHei"/>
                <a:cs typeface="Microsoft YaHei"/>
              </a:rPr>
              <a:t>	</a:t>
            </a:r>
            <a:r>
              <a:rPr dirty="0" sz="1100" spc="-50">
                <a:latin typeface="Microsoft YaHei"/>
                <a:cs typeface="Microsoft YaHei"/>
              </a:rPr>
              <a:t>网</a:t>
            </a:r>
            <a:endParaRPr sz="1100">
              <a:latin typeface="Microsoft YaHei"/>
              <a:cs typeface="Microsoft YaHei"/>
            </a:endParaRPr>
          </a:p>
          <a:p>
            <a:pPr marL="433705" indent="-342900">
              <a:lnSpc>
                <a:spcPct val="100000"/>
              </a:lnSpc>
              <a:spcBef>
                <a:spcPts val="885"/>
              </a:spcBef>
              <a:buAutoNum type="arabicPeriod"/>
              <a:tabLst>
                <a:tab pos="433705" algn="l"/>
              </a:tabLst>
            </a:pPr>
            <a:r>
              <a:rPr dirty="0" spc="-25"/>
              <a:t>显著提升上行速率？</a:t>
            </a:r>
          </a:p>
          <a:p>
            <a:pPr lvl="1" marL="534670" indent="-171450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534670" algn="l"/>
              </a:tabLst>
            </a:pPr>
            <a:r>
              <a:rPr dirty="0" sz="1100" spc="-10">
                <a:latin typeface="Microsoft YaHei"/>
                <a:cs typeface="Microsoft YaHei"/>
              </a:rPr>
              <a:t>5G</a:t>
            </a:r>
            <a:r>
              <a:rPr dirty="0" sz="1100" spc="-20">
                <a:latin typeface="Microsoft YaHei"/>
                <a:cs typeface="Microsoft YaHei"/>
              </a:rPr>
              <a:t>覆盖良好区域，采用</a:t>
            </a:r>
            <a:r>
              <a:rPr dirty="0" sz="1100" spc="-10">
                <a:latin typeface="Microsoft YaHei"/>
                <a:cs typeface="Microsoft YaHei"/>
              </a:rPr>
              <a:t>NSA</a:t>
            </a:r>
            <a:r>
              <a:rPr dirty="0" sz="1100" spc="-20">
                <a:latin typeface="Microsoft YaHei"/>
                <a:cs typeface="Microsoft YaHei"/>
              </a:rPr>
              <a:t>会造成</a:t>
            </a:r>
            <a:r>
              <a:rPr dirty="0" sz="1100" spc="-10">
                <a:latin typeface="Microsoft YaHei"/>
                <a:cs typeface="Microsoft YaHei"/>
              </a:rPr>
              <a:t>5G</a:t>
            </a:r>
            <a:r>
              <a:rPr dirty="0" sz="1100" spc="-30">
                <a:latin typeface="Microsoft YaHei"/>
                <a:cs typeface="Microsoft YaHei"/>
              </a:rPr>
              <a:t>的速率损失</a:t>
            </a:r>
            <a:endParaRPr sz="1100">
              <a:latin typeface="Microsoft YaHei"/>
              <a:cs typeface="Microsoft YaHei"/>
            </a:endParaRPr>
          </a:p>
          <a:p>
            <a:pPr marL="433705" indent="-342900">
              <a:lnSpc>
                <a:spcPct val="100000"/>
              </a:lnSpc>
              <a:spcBef>
                <a:spcPts val="885"/>
              </a:spcBef>
              <a:buAutoNum type="arabicPeriod"/>
              <a:tabLst>
                <a:tab pos="433705" algn="l"/>
              </a:tabLst>
            </a:pPr>
            <a:r>
              <a:rPr dirty="0" spc="-25"/>
              <a:t>业务连续性提升？</a:t>
            </a:r>
          </a:p>
          <a:p>
            <a:pPr lvl="1" marL="534670" indent="-171450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534670" algn="l"/>
              </a:tabLst>
            </a:pPr>
            <a:r>
              <a:rPr dirty="0" sz="1100" spc="-20">
                <a:latin typeface="Microsoft YaHei"/>
                <a:cs typeface="Microsoft YaHei"/>
              </a:rPr>
              <a:t>话音：</a:t>
            </a:r>
            <a:r>
              <a:rPr dirty="0" sz="1100" spc="-10">
                <a:latin typeface="Microsoft YaHei"/>
                <a:cs typeface="Microsoft YaHei"/>
              </a:rPr>
              <a:t>5G</a:t>
            </a:r>
            <a:r>
              <a:rPr dirty="0" sz="1100" spc="-20">
                <a:latin typeface="Microsoft YaHei"/>
                <a:cs typeface="Microsoft YaHei"/>
              </a:rPr>
              <a:t>区域VoNR可连续，亦可回落</a:t>
            </a:r>
            <a:r>
              <a:rPr dirty="0" sz="1100" spc="-25">
                <a:latin typeface="Microsoft YaHei"/>
                <a:cs typeface="Microsoft YaHei"/>
              </a:rPr>
              <a:t>4G</a:t>
            </a:r>
            <a:endParaRPr sz="1100">
              <a:latin typeface="Microsoft YaHei"/>
              <a:cs typeface="Microsoft YaHei"/>
            </a:endParaRPr>
          </a:p>
          <a:p>
            <a:pPr lvl="1" marL="534670" indent="-17145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534670" algn="l"/>
              </a:tabLst>
            </a:pPr>
            <a:r>
              <a:rPr dirty="0" sz="1100" spc="-10">
                <a:latin typeface="Microsoft YaHei"/>
                <a:cs typeface="Microsoft YaHei"/>
              </a:rPr>
              <a:t>PS</a:t>
            </a:r>
            <a:r>
              <a:rPr dirty="0" sz="1100" spc="-25">
                <a:latin typeface="Microsoft YaHei"/>
                <a:cs typeface="Microsoft YaHei"/>
              </a:rPr>
              <a:t>业务不敏感，仅在覆盖边界有影响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94398" y="1483385"/>
            <a:ext cx="4032885" cy="2277745"/>
          </a:xfrm>
          <a:custGeom>
            <a:avLst/>
            <a:gdLst/>
            <a:ahLst/>
            <a:cxnLst/>
            <a:rect l="l" t="t" r="r" b="b"/>
            <a:pathLst>
              <a:path w="4032885" h="2277745">
                <a:moveTo>
                  <a:pt x="4032453" y="0"/>
                </a:moveTo>
                <a:lnTo>
                  <a:pt x="0" y="0"/>
                </a:lnTo>
                <a:lnTo>
                  <a:pt x="0" y="2277541"/>
                </a:lnTo>
                <a:lnTo>
                  <a:pt x="4032453" y="2277541"/>
                </a:lnTo>
                <a:lnTo>
                  <a:pt x="4032453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94398" y="1483385"/>
            <a:ext cx="4032885" cy="227774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33705" indent="-342265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433705" algn="l"/>
              </a:tabLst>
            </a:pPr>
            <a:r>
              <a:rPr dirty="0" sz="1400" spc="-25">
                <a:latin typeface="Microsoft YaHei"/>
                <a:cs typeface="Microsoft YaHei"/>
              </a:rPr>
              <a:t>对现网无影响</a:t>
            </a:r>
            <a:endParaRPr sz="1400">
              <a:latin typeface="Microsoft YaHei"/>
              <a:cs typeface="Microsoft YaHei"/>
            </a:endParaRPr>
          </a:p>
          <a:p>
            <a:pPr marL="433705" indent="-3422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33705" algn="l"/>
              </a:tabLst>
            </a:pPr>
            <a:r>
              <a:rPr dirty="0" sz="1400" spc="-20">
                <a:latin typeface="Microsoft YaHei"/>
                <a:cs typeface="Microsoft YaHei"/>
              </a:rPr>
              <a:t>充分发挥</a:t>
            </a:r>
            <a:r>
              <a:rPr dirty="0" sz="1400" spc="-10">
                <a:latin typeface="Microsoft YaHei"/>
                <a:cs typeface="Microsoft YaHei"/>
              </a:rPr>
              <a:t>MIMO</a:t>
            </a:r>
            <a:r>
              <a:rPr dirty="0" sz="1400" spc="-25">
                <a:latin typeface="Microsoft YaHei"/>
                <a:cs typeface="Microsoft YaHei"/>
              </a:rPr>
              <a:t>性能，具备速率优势</a:t>
            </a:r>
            <a:endParaRPr sz="1400">
              <a:latin typeface="Microsoft YaHei"/>
              <a:cs typeface="Microsoft YaHei"/>
            </a:endParaRPr>
          </a:p>
          <a:p>
            <a:pPr marL="433705" indent="-3422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33705" algn="l"/>
              </a:tabLst>
            </a:pPr>
            <a:r>
              <a:rPr dirty="0" sz="1400" spc="-25">
                <a:latin typeface="Microsoft YaHei"/>
                <a:cs typeface="Microsoft YaHei"/>
              </a:rPr>
              <a:t>新业务支撑能力强，初期即同时引入</a:t>
            </a:r>
            <a:endParaRPr sz="1400">
              <a:latin typeface="Microsoft YaHei"/>
              <a:cs typeface="Microsoft YaHei"/>
            </a:endParaRPr>
          </a:p>
          <a:p>
            <a:pPr marL="405130">
              <a:lnSpc>
                <a:spcPct val="100000"/>
              </a:lnSpc>
              <a:spcBef>
                <a:spcPts val="1440"/>
              </a:spcBef>
            </a:pPr>
            <a:r>
              <a:rPr dirty="0" sz="1400" spc="-20">
                <a:latin typeface="Microsoft YaHei"/>
                <a:cs typeface="Microsoft YaHei"/>
              </a:rPr>
              <a:t>NGC和NR，可以提供5G</a:t>
            </a:r>
            <a:r>
              <a:rPr dirty="0" sz="1400" spc="-25">
                <a:latin typeface="Microsoft YaHei"/>
                <a:cs typeface="Microsoft YaHei"/>
              </a:rPr>
              <a:t>的全业务支持</a:t>
            </a:r>
            <a:endParaRPr sz="1400">
              <a:latin typeface="Microsoft YaHei"/>
              <a:cs typeface="Microsoft YaHei"/>
            </a:endParaRPr>
          </a:p>
          <a:p>
            <a:pPr lvl="1" marL="534670" indent="-171450">
              <a:lnSpc>
                <a:spcPct val="100000"/>
              </a:lnSpc>
              <a:spcBef>
                <a:spcPts val="1335"/>
              </a:spcBef>
              <a:buFont typeface="Arial MT"/>
              <a:buChar char="•"/>
              <a:tabLst>
                <a:tab pos="534670" algn="l"/>
              </a:tabLst>
            </a:pPr>
            <a:r>
              <a:rPr dirty="0" sz="1100" spc="-20">
                <a:latin typeface="Microsoft YaHei"/>
                <a:cs typeface="Microsoft YaHei"/>
              </a:rPr>
              <a:t>采用</a:t>
            </a:r>
            <a:r>
              <a:rPr dirty="0" sz="1100" spc="-10">
                <a:latin typeface="Microsoft YaHei"/>
                <a:cs typeface="Microsoft YaHei"/>
              </a:rPr>
              <a:t>NGC</a:t>
            </a:r>
            <a:r>
              <a:rPr dirty="0" sz="1100" spc="-20">
                <a:latin typeface="Microsoft YaHei"/>
                <a:cs typeface="Microsoft YaHei"/>
              </a:rPr>
              <a:t>，支持各类</a:t>
            </a:r>
            <a:r>
              <a:rPr dirty="0" sz="1100" spc="-10">
                <a:latin typeface="Microsoft YaHei"/>
                <a:cs typeface="Microsoft YaHei"/>
              </a:rPr>
              <a:t>5G</a:t>
            </a:r>
            <a:r>
              <a:rPr dirty="0" sz="1100" spc="-30">
                <a:latin typeface="Microsoft YaHei"/>
                <a:cs typeface="Microsoft YaHei"/>
              </a:rPr>
              <a:t>新业务</a:t>
            </a:r>
            <a:endParaRPr sz="1100">
              <a:latin typeface="Microsoft YaHei"/>
              <a:cs typeface="Microsoft YaHei"/>
            </a:endParaRPr>
          </a:p>
          <a:p>
            <a:pPr lvl="1" marL="534670" indent="-171450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534670" algn="l"/>
              </a:tabLst>
            </a:pPr>
            <a:r>
              <a:rPr dirty="0" sz="1100" spc="-20">
                <a:latin typeface="Microsoft YaHei"/>
                <a:cs typeface="Microsoft YaHei"/>
              </a:rPr>
              <a:t>网络速率和时延均满足</a:t>
            </a:r>
            <a:r>
              <a:rPr dirty="0" sz="1100" spc="-10">
                <a:latin typeface="Microsoft YaHei"/>
                <a:cs typeface="Microsoft YaHei"/>
              </a:rPr>
              <a:t>5G</a:t>
            </a:r>
            <a:r>
              <a:rPr dirty="0" sz="1100" spc="-35">
                <a:latin typeface="Microsoft YaHei"/>
                <a:cs typeface="Microsoft YaHei"/>
              </a:rPr>
              <a:t>要求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09643" y="1058486"/>
            <a:ext cx="208915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NSA</a:t>
            </a:r>
            <a:r>
              <a:rPr dirty="0" sz="1600" spc="-10">
                <a:solidFill>
                  <a:srgbClr val="C00000"/>
                </a:solidFill>
                <a:latin typeface="SimSun"/>
                <a:cs typeface="SimSun"/>
              </a:rPr>
              <a:t>组网的必要性分析</a:t>
            </a:r>
            <a:endParaRPr sz="1600">
              <a:latin typeface="SimSun"/>
              <a:cs typeface="SimSu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942689" y="1519083"/>
            <a:ext cx="344170" cy="1605915"/>
            <a:chOff x="7942689" y="1519083"/>
            <a:chExt cx="344170" cy="1605915"/>
          </a:xfrm>
        </p:grpSpPr>
        <p:sp>
          <p:nvSpPr>
            <p:cNvPr id="11" name="object 11" descr=""/>
            <p:cNvSpPr/>
            <p:nvPr/>
          </p:nvSpPr>
          <p:spPr>
            <a:xfrm>
              <a:off x="7962278" y="1519084"/>
              <a:ext cx="255270" cy="887730"/>
            </a:xfrm>
            <a:custGeom>
              <a:avLst/>
              <a:gdLst/>
              <a:ahLst/>
              <a:cxnLst/>
              <a:rect l="l" t="t" r="r" b="b"/>
              <a:pathLst>
                <a:path w="255270" h="887730">
                  <a:moveTo>
                    <a:pt x="254660" y="737857"/>
                  </a:moveTo>
                  <a:lnTo>
                    <a:pt x="216090" y="682167"/>
                  </a:lnTo>
                  <a:lnTo>
                    <a:pt x="127330" y="743648"/>
                  </a:lnTo>
                  <a:lnTo>
                    <a:pt x="38569" y="682167"/>
                  </a:lnTo>
                  <a:lnTo>
                    <a:pt x="0" y="737857"/>
                  </a:lnTo>
                  <a:lnTo>
                    <a:pt x="67843" y="784847"/>
                  </a:lnTo>
                  <a:lnTo>
                    <a:pt x="0" y="831837"/>
                  </a:lnTo>
                  <a:lnTo>
                    <a:pt x="38569" y="887539"/>
                  </a:lnTo>
                  <a:lnTo>
                    <a:pt x="127330" y="826058"/>
                  </a:lnTo>
                  <a:lnTo>
                    <a:pt x="216090" y="887539"/>
                  </a:lnTo>
                  <a:lnTo>
                    <a:pt x="254660" y="831837"/>
                  </a:lnTo>
                  <a:lnTo>
                    <a:pt x="186817" y="784847"/>
                  </a:lnTo>
                  <a:lnTo>
                    <a:pt x="254660" y="737857"/>
                  </a:lnTo>
                  <a:close/>
                </a:path>
                <a:path w="255270" h="887730">
                  <a:moveTo>
                    <a:pt x="254660" y="55689"/>
                  </a:moveTo>
                  <a:lnTo>
                    <a:pt x="216090" y="0"/>
                  </a:lnTo>
                  <a:lnTo>
                    <a:pt x="127330" y="61480"/>
                  </a:lnTo>
                  <a:lnTo>
                    <a:pt x="38569" y="0"/>
                  </a:lnTo>
                  <a:lnTo>
                    <a:pt x="0" y="55689"/>
                  </a:lnTo>
                  <a:lnTo>
                    <a:pt x="67843" y="102679"/>
                  </a:lnTo>
                  <a:lnTo>
                    <a:pt x="0" y="149669"/>
                  </a:lnTo>
                  <a:lnTo>
                    <a:pt x="38569" y="205371"/>
                  </a:lnTo>
                  <a:lnTo>
                    <a:pt x="127330" y="143891"/>
                  </a:lnTo>
                  <a:lnTo>
                    <a:pt x="216090" y="205371"/>
                  </a:lnTo>
                  <a:lnTo>
                    <a:pt x="254660" y="149669"/>
                  </a:lnTo>
                  <a:lnTo>
                    <a:pt x="186817" y="102679"/>
                  </a:lnTo>
                  <a:lnTo>
                    <a:pt x="254660" y="5568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71264" y="2936105"/>
              <a:ext cx="72390" cy="160020"/>
            </a:xfrm>
            <a:custGeom>
              <a:avLst/>
              <a:gdLst/>
              <a:ahLst/>
              <a:cxnLst/>
              <a:rect l="l" t="t" r="r" b="b"/>
              <a:pathLst>
                <a:path w="72390" h="160019">
                  <a:moveTo>
                    <a:pt x="0" y="0"/>
                  </a:moveTo>
                  <a:lnTo>
                    <a:pt x="72263" y="159918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43536" y="2936104"/>
              <a:ext cx="215265" cy="160020"/>
            </a:xfrm>
            <a:custGeom>
              <a:avLst/>
              <a:gdLst/>
              <a:ahLst/>
              <a:cxnLst/>
              <a:rect l="l" t="t" r="r" b="b"/>
              <a:pathLst>
                <a:path w="215265" h="160019">
                  <a:moveTo>
                    <a:pt x="0" y="159918"/>
                  </a:moveTo>
                  <a:lnTo>
                    <a:pt x="214642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39873" y="2936105"/>
              <a:ext cx="73025" cy="123825"/>
            </a:xfrm>
            <a:custGeom>
              <a:avLst/>
              <a:gdLst/>
              <a:ahLst/>
              <a:cxnLst/>
              <a:rect l="l" t="t" r="r" b="b"/>
              <a:pathLst>
                <a:path w="73025" h="123825">
                  <a:moveTo>
                    <a:pt x="0" y="0"/>
                  </a:moveTo>
                  <a:lnTo>
                    <a:pt x="72923" y="123228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3696072" y="1577086"/>
            <a:ext cx="387350" cy="1087120"/>
            <a:chOff x="3696072" y="1577086"/>
            <a:chExt cx="387350" cy="108712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6072" y="1577086"/>
              <a:ext cx="341461" cy="2227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1360" y="2009130"/>
              <a:ext cx="341460" cy="2227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1360" y="2441181"/>
              <a:ext cx="341460" cy="2227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3806" y="176816"/>
            <a:ext cx="611124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>
                <a:latin typeface="Times New Roman"/>
                <a:cs typeface="Times New Roman"/>
              </a:rPr>
              <a:t>NSA</a:t>
            </a:r>
            <a:r>
              <a:rPr dirty="0" spc="-35"/>
              <a:t>与现网</a:t>
            </a:r>
            <a:r>
              <a:rPr dirty="0">
                <a:latin typeface="Times New Roman"/>
                <a:cs typeface="Times New Roman"/>
              </a:rPr>
              <a:t>4G</a:t>
            </a:r>
            <a:r>
              <a:rPr dirty="0" spc="65">
                <a:latin typeface="Times New Roman"/>
                <a:cs typeface="Times New Roman"/>
              </a:rPr>
              <a:t> </a:t>
            </a:r>
            <a:r>
              <a:rPr dirty="0" spc="-25">
                <a:latin typeface="Times New Roman"/>
                <a:cs typeface="Times New Roman"/>
              </a:rPr>
              <a:t>FDD/TDD</a:t>
            </a:r>
            <a:r>
              <a:rPr dirty="0" spc="-40"/>
              <a:t>协作需求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558021" y="1594865"/>
            <a:ext cx="1727835" cy="2364740"/>
            <a:chOff x="2558021" y="1594865"/>
            <a:chExt cx="1727835" cy="23647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8021" y="1607135"/>
              <a:ext cx="1725946" cy="235202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548117" y="1610471"/>
              <a:ext cx="735965" cy="414020"/>
            </a:xfrm>
            <a:custGeom>
              <a:avLst/>
              <a:gdLst/>
              <a:ahLst/>
              <a:cxnLst/>
              <a:rect l="l" t="t" r="r" b="b"/>
              <a:pathLst>
                <a:path w="735964" h="414019">
                  <a:moveTo>
                    <a:pt x="735850" y="413727"/>
                  </a:moveTo>
                  <a:lnTo>
                    <a:pt x="122478" y="0"/>
                  </a:lnTo>
                  <a:lnTo>
                    <a:pt x="0" y="0"/>
                  </a:lnTo>
                  <a:lnTo>
                    <a:pt x="613359" y="413727"/>
                  </a:lnTo>
                  <a:lnTo>
                    <a:pt x="735850" y="41372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9125" y="2024204"/>
              <a:ext cx="753859" cy="42852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529125" y="2024204"/>
              <a:ext cx="754380" cy="428625"/>
            </a:xfrm>
            <a:custGeom>
              <a:avLst/>
              <a:gdLst/>
              <a:ahLst/>
              <a:cxnLst/>
              <a:rect l="l" t="t" r="r" b="b"/>
              <a:pathLst>
                <a:path w="754379" h="428625">
                  <a:moveTo>
                    <a:pt x="0" y="428523"/>
                  </a:moveTo>
                  <a:lnTo>
                    <a:pt x="635317" y="0"/>
                  </a:lnTo>
                  <a:lnTo>
                    <a:pt x="753859" y="0"/>
                  </a:lnTo>
                  <a:lnTo>
                    <a:pt x="118541" y="428523"/>
                  </a:lnTo>
                  <a:lnTo>
                    <a:pt x="0" y="42852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3561" y="1594865"/>
              <a:ext cx="905255" cy="73837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3221979" y="1715547"/>
            <a:ext cx="2138045" cy="1567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3384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060"/>
              </a:spcBef>
            </a:pPr>
            <a:r>
              <a:rPr dirty="0" sz="1600" b="1">
                <a:latin typeface="Microsoft YaHei"/>
                <a:cs typeface="Microsoft YaHei"/>
              </a:rPr>
              <a:t>根据</a:t>
            </a:r>
            <a:r>
              <a:rPr dirty="0" sz="1600" spc="-10" b="1">
                <a:latin typeface="Microsoft YaHei"/>
                <a:cs typeface="Microsoft YaHei"/>
              </a:rPr>
              <a:t>4G网络现状，需要</a:t>
            </a:r>
            <a:r>
              <a:rPr dirty="0" sz="1600" b="1">
                <a:latin typeface="Microsoft YaHei"/>
                <a:cs typeface="Microsoft YaHei"/>
              </a:rPr>
              <a:t>同时支持</a:t>
            </a:r>
            <a:r>
              <a:rPr dirty="0" sz="1600" spc="-10" b="1">
                <a:latin typeface="Microsoft YaHei"/>
                <a:cs typeface="Microsoft YaHei"/>
              </a:rPr>
              <a:t>NR+TDD</a:t>
            </a:r>
            <a:r>
              <a:rPr dirty="0" sz="1600" spc="-50" b="1">
                <a:latin typeface="Microsoft YaHei"/>
                <a:cs typeface="Microsoft YaHei"/>
              </a:rPr>
              <a:t>及 </a:t>
            </a:r>
            <a:r>
              <a:rPr dirty="0" sz="1600" spc="-10" b="1">
                <a:latin typeface="Microsoft YaHei"/>
                <a:cs typeface="Microsoft YaHei"/>
              </a:rPr>
              <a:t>NR+FDD</a:t>
            </a:r>
            <a:r>
              <a:rPr dirty="0" sz="1600" spc="-20" b="1">
                <a:latin typeface="Microsoft YaHei"/>
                <a:cs typeface="Microsoft YaHei"/>
              </a:rPr>
              <a:t>双连接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210372" y="1935124"/>
            <a:ext cx="1599565" cy="2416175"/>
            <a:chOff x="4210372" y="1935124"/>
            <a:chExt cx="1599565" cy="2416175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8734" y="1936711"/>
              <a:ext cx="1549330" cy="240986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258734" y="1936711"/>
              <a:ext cx="1549400" cy="2410460"/>
            </a:xfrm>
            <a:custGeom>
              <a:avLst/>
              <a:gdLst/>
              <a:ahLst/>
              <a:cxnLst/>
              <a:rect l="l" t="t" r="r" b="b"/>
              <a:pathLst>
                <a:path w="1549400" h="2410460">
                  <a:moveTo>
                    <a:pt x="1047750" y="0"/>
                  </a:moveTo>
                  <a:lnTo>
                    <a:pt x="1091373" y="19300"/>
                  </a:lnTo>
                  <a:lnTo>
                    <a:pt x="1133585" y="41557"/>
                  </a:lnTo>
                  <a:lnTo>
                    <a:pt x="1174297" y="66713"/>
                  </a:lnTo>
                  <a:lnTo>
                    <a:pt x="1213422" y="94710"/>
                  </a:lnTo>
                  <a:lnTo>
                    <a:pt x="1250873" y="125489"/>
                  </a:lnTo>
                  <a:lnTo>
                    <a:pt x="1286560" y="158992"/>
                  </a:lnTo>
                  <a:lnTo>
                    <a:pt x="1320398" y="195162"/>
                  </a:lnTo>
                  <a:lnTo>
                    <a:pt x="1352298" y="233940"/>
                  </a:lnTo>
                  <a:lnTo>
                    <a:pt x="1382173" y="275268"/>
                  </a:lnTo>
                  <a:lnTo>
                    <a:pt x="1409936" y="319087"/>
                  </a:lnTo>
                  <a:lnTo>
                    <a:pt x="1435498" y="365340"/>
                  </a:lnTo>
                  <a:lnTo>
                    <a:pt x="1458772" y="413969"/>
                  </a:lnTo>
                  <a:lnTo>
                    <a:pt x="1475995" y="455341"/>
                  </a:lnTo>
                  <a:lnTo>
                    <a:pt x="1491389" y="497678"/>
                  </a:lnTo>
                  <a:lnTo>
                    <a:pt x="1504960" y="540908"/>
                  </a:lnTo>
                  <a:lnTo>
                    <a:pt x="1516713" y="584960"/>
                  </a:lnTo>
                  <a:lnTo>
                    <a:pt x="1526652" y="629764"/>
                  </a:lnTo>
                  <a:lnTo>
                    <a:pt x="1534783" y="675250"/>
                  </a:lnTo>
                  <a:lnTo>
                    <a:pt x="1541111" y="721345"/>
                  </a:lnTo>
                  <a:lnTo>
                    <a:pt x="1545642" y="767981"/>
                  </a:lnTo>
                  <a:lnTo>
                    <a:pt x="1548379" y="815086"/>
                  </a:lnTo>
                  <a:lnTo>
                    <a:pt x="1549330" y="862589"/>
                  </a:lnTo>
                  <a:lnTo>
                    <a:pt x="1548497" y="910420"/>
                  </a:lnTo>
                  <a:lnTo>
                    <a:pt x="1545888" y="958508"/>
                  </a:lnTo>
                  <a:lnTo>
                    <a:pt x="1541506" y="1006782"/>
                  </a:lnTo>
                  <a:lnTo>
                    <a:pt x="1535357" y="1055172"/>
                  </a:lnTo>
                  <a:lnTo>
                    <a:pt x="1527447" y="1103607"/>
                  </a:lnTo>
                  <a:lnTo>
                    <a:pt x="1517779" y="1152017"/>
                  </a:lnTo>
                  <a:lnTo>
                    <a:pt x="1506360" y="1200329"/>
                  </a:lnTo>
                  <a:lnTo>
                    <a:pt x="1493194" y="1248475"/>
                  </a:lnTo>
                  <a:lnTo>
                    <a:pt x="1478287" y="1296383"/>
                  </a:lnTo>
                  <a:lnTo>
                    <a:pt x="1461644" y="1343982"/>
                  </a:lnTo>
                  <a:lnTo>
                    <a:pt x="1443269" y="1391202"/>
                  </a:lnTo>
                  <a:lnTo>
                    <a:pt x="1423169" y="1437972"/>
                  </a:lnTo>
                  <a:lnTo>
                    <a:pt x="1401347" y="1484221"/>
                  </a:lnTo>
                  <a:lnTo>
                    <a:pt x="1377810" y="1529880"/>
                  </a:lnTo>
                  <a:lnTo>
                    <a:pt x="1351160" y="1577263"/>
                  </a:lnTo>
                  <a:lnTo>
                    <a:pt x="1323004" y="1623196"/>
                  </a:lnTo>
                  <a:lnTo>
                    <a:pt x="1293407" y="1667631"/>
                  </a:lnTo>
                  <a:lnTo>
                    <a:pt x="1262434" y="1710518"/>
                  </a:lnTo>
                  <a:lnTo>
                    <a:pt x="1230150" y="1751810"/>
                  </a:lnTo>
                  <a:lnTo>
                    <a:pt x="1196621" y="1791457"/>
                  </a:lnTo>
                  <a:lnTo>
                    <a:pt x="1161912" y="1829412"/>
                  </a:lnTo>
                  <a:lnTo>
                    <a:pt x="1126087" y="1865625"/>
                  </a:lnTo>
                  <a:lnTo>
                    <a:pt x="1089213" y="1900049"/>
                  </a:lnTo>
                  <a:lnTo>
                    <a:pt x="1051354" y="1932635"/>
                  </a:lnTo>
                  <a:lnTo>
                    <a:pt x="1012575" y="1963334"/>
                  </a:lnTo>
                  <a:lnTo>
                    <a:pt x="972942" y="1992098"/>
                  </a:lnTo>
                  <a:lnTo>
                    <a:pt x="932520" y="2018878"/>
                  </a:lnTo>
                  <a:lnTo>
                    <a:pt x="891374" y="2043627"/>
                  </a:lnTo>
                  <a:lnTo>
                    <a:pt x="849570" y="2066295"/>
                  </a:lnTo>
                  <a:lnTo>
                    <a:pt x="807171" y="2086834"/>
                  </a:lnTo>
                  <a:lnTo>
                    <a:pt x="764244" y="2105195"/>
                  </a:lnTo>
                  <a:lnTo>
                    <a:pt x="720854" y="2121331"/>
                  </a:lnTo>
                  <a:lnTo>
                    <a:pt x="677066" y="2135192"/>
                  </a:lnTo>
                  <a:lnTo>
                    <a:pt x="632945" y="2146730"/>
                  </a:lnTo>
                  <a:lnTo>
                    <a:pt x="588557" y="2155897"/>
                  </a:lnTo>
                  <a:lnTo>
                    <a:pt x="543966" y="2162644"/>
                  </a:lnTo>
                  <a:lnTo>
                    <a:pt x="524192" y="2409863"/>
                  </a:lnTo>
                  <a:lnTo>
                    <a:pt x="0" y="2025764"/>
                  </a:lnTo>
                  <a:lnTo>
                    <a:pt x="594118" y="1535798"/>
                  </a:lnTo>
                  <a:lnTo>
                    <a:pt x="573671" y="1791474"/>
                  </a:lnTo>
                  <a:lnTo>
                    <a:pt x="616596" y="1786010"/>
                  </a:lnTo>
                  <a:lnTo>
                    <a:pt x="659505" y="1777835"/>
                  </a:lnTo>
                  <a:lnTo>
                    <a:pt x="702298" y="1766979"/>
                  </a:lnTo>
                  <a:lnTo>
                    <a:pt x="744875" y="1753472"/>
                  </a:lnTo>
                  <a:lnTo>
                    <a:pt x="787135" y="1737344"/>
                  </a:lnTo>
                  <a:lnTo>
                    <a:pt x="828976" y="1718624"/>
                  </a:lnTo>
                  <a:lnTo>
                    <a:pt x="870299" y="1697343"/>
                  </a:lnTo>
                  <a:lnTo>
                    <a:pt x="911001" y="1673531"/>
                  </a:lnTo>
                  <a:lnTo>
                    <a:pt x="950984" y="1647217"/>
                  </a:lnTo>
                  <a:lnTo>
                    <a:pt x="990145" y="1618431"/>
                  </a:lnTo>
                  <a:lnTo>
                    <a:pt x="1028384" y="1587203"/>
                  </a:lnTo>
                  <a:lnTo>
                    <a:pt x="1065600" y="1553563"/>
                  </a:lnTo>
                  <a:lnTo>
                    <a:pt x="1101693" y="1517541"/>
                  </a:lnTo>
                  <a:lnTo>
                    <a:pt x="1136562" y="1479166"/>
                  </a:lnTo>
                  <a:lnTo>
                    <a:pt x="1170105" y="1438468"/>
                  </a:lnTo>
                  <a:lnTo>
                    <a:pt x="1202223" y="1395478"/>
                  </a:lnTo>
                  <a:lnTo>
                    <a:pt x="1232814" y="1350225"/>
                  </a:lnTo>
                  <a:lnTo>
                    <a:pt x="1259921" y="1305919"/>
                  </a:lnTo>
                  <a:lnTo>
                    <a:pt x="1284867" y="1260819"/>
                  </a:lnTo>
                  <a:lnTo>
                    <a:pt x="1307659" y="1215022"/>
                  </a:lnTo>
                  <a:lnTo>
                    <a:pt x="1328304" y="1168627"/>
                  </a:lnTo>
                  <a:lnTo>
                    <a:pt x="1346811" y="1121730"/>
                  </a:lnTo>
                  <a:lnTo>
                    <a:pt x="1363185" y="1074430"/>
                  </a:lnTo>
                  <a:lnTo>
                    <a:pt x="1377436" y="1026824"/>
                  </a:lnTo>
                  <a:lnTo>
                    <a:pt x="1389569" y="979009"/>
                  </a:lnTo>
                  <a:lnTo>
                    <a:pt x="1399593" y="931083"/>
                  </a:lnTo>
                  <a:lnTo>
                    <a:pt x="1407515" y="883143"/>
                  </a:lnTo>
                  <a:lnTo>
                    <a:pt x="1413342" y="835287"/>
                  </a:lnTo>
                  <a:lnTo>
                    <a:pt x="1417082" y="787612"/>
                  </a:lnTo>
                  <a:lnTo>
                    <a:pt x="1418742" y="740216"/>
                  </a:lnTo>
                  <a:lnTo>
                    <a:pt x="1418329" y="693196"/>
                  </a:lnTo>
                  <a:lnTo>
                    <a:pt x="1415851" y="646650"/>
                  </a:lnTo>
                  <a:lnTo>
                    <a:pt x="1411315" y="600675"/>
                  </a:lnTo>
                  <a:lnTo>
                    <a:pt x="1404729" y="555370"/>
                  </a:lnTo>
                  <a:lnTo>
                    <a:pt x="1396100" y="510830"/>
                  </a:lnTo>
                  <a:lnTo>
                    <a:pt x="1385435" y="467154"/>
                  </a:lnTo>
                  <a:lnTo>
                    <a:pt x="1372743" y="424440"/>
                  </a:lnTo>
                  <a:lnTo>
                    <a:pt x="1358029" y="382784"/>
                  </a:lnTo>
                  <a:lnTo>
                    <a:pt x="1341302" y="342284"/>
                  </a:lnTo>
                  <a:lnTo>
                    <a:pt x="1322568" y="303039"/>
                  </a:lnTo>
                  <a:lnTo>
                    <a:pt x="1301836" y="265144"/>
                  </a:lnTo>
                  <a:lnTo>
                    <a:pt x="1279113" y="228699"/>
                  </a:lnTo>
                  <a:lnTo>
                    <a:pt x="1254406" y="193799"/>
                  </a:lnTo>
                  <a:lnTo>
                    <a:pt x="1227723" y="160544"/>
                  </a:lnTo>
                  <a:lnTo>
                    <a:pt x="1199070" y="129030"/>
                  </a:lnTo>
                  <a:lnTo>
                    <a:pt x="1168456" y="99354"/>
                  </a:lnTo>
                  <a:lnTo>
                    <a:pt x="1135888" y="71615"/>
                  </a:lnTo>
                  <a:lnTo>
                    <a:pt x="1102950" y="47120"/>
                  </a:lnTo>
                  <a:lnTo>
                    <a:pt x="1068832" y="25577"/>
                  </a:lnTo>
                  <a:lnTo>
                    <a:pt x="1074788" y="20548"/>
                  </a:lnTo>
                  <a:lnTo>
                    <a:pt x="104775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1959" y="3910802"/>
              <a:ext cx="666483" cy="43832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211959" y="3910802"/>
              <a:ext cx="666750" cy="438784"/>
            </a:xfrm>
            <a:custGeom>
              <a:avLst/>
              <a:gdLst/>
              <a:ahLst/>
              <a:cxnLst/>
              <a:rect l="l" t="t" r="r" b="b"/>
              <a:pathLst>
                <a:path w="666750" h="438785">
                  <a:moveTo>
                    <a:pt x="0" y="0"/>
                  </a:moveTo>
                  <a:lnTo>
                    <a:pt x="649846" y="438327"/>
                  </a:lnTo>
                  <a:lnTo>
                    <a:pt x="666483" y="438327"/>
                  </a:lnTo>
                  <a:lnTo>
                    <a:pt x="1662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2847" y="3456786"/>
              <a:ext cx="682790" cy="45401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212847" y="3456786"/>
              <a:ext cx="683260" cy="454025"/>
            </a:xfrm>
            <a:custGeom>
              <a:avLst/>
              <a:gdLst/>
              <a:ahLst/>
              <a:cxnLst/>
              <a:rect l="l" t="t" r="r" b="b"/>
              <a:pathLst>
                <a:path w="683260" h="454025">
                  <a:moveTo>
                    <a:pt x="682790" y="0"/>
                  </a:moveTo>
                  <a:lnTo>
                    <a:pt x="9690" y="454012"/>
                  </a:lnTo>
                  <a:lnTo>
                    <a:pt x="0" y="454012"/>
                  </a:lnTo>
                  <a:lnTo>
                    <a:pt x="673112" y="0"/>
                  </a:lnTo>
                  <a:lnTo>
                    <a:pt x="68279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36719" y="3467099"/>
              <a:ext cx="905255" cy="738377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4506723" y="3587869"/>
            <a:ext cx="3308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94947" y="888838"/>
            <a:ext cx="211264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Microsoft YaHei"/>
                <a:cs typeface="Microsoft YaHei"/>
              </a:rPr>
              <a:t>仅支持</a:t>
            </a:r>
            <a:r>
              <a:rPr dirty="0" sz="1600" spc="-20">
                <a:latin typeface="Microsoft YaHei"/>
                <a:cs typeface="Microsoft YaHei"/>
              </a:rPr>
              <a:t>NR+FDD双链接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4276" y="736179"/>
            <a:ext cx="3308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BE1247"/>
                </a:solidFill>
                <a:latin typeface="Arial MT"/>
                <a:cs typeface="Arial MT"/>
              </a:rPr>
              <a:t>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67537" y="1224089"/>
            <a:ext cx="3031490" cy="44450"/>
          </a:xfrm>
          <a:custGeom>
            <a:avLst/>
            <a:gdLst/>
            <a:ahLst/>
            <a:cxnLst/>
            <a:rect l="l" t="t" r="r" b="b"/>
            <a:pathLst>
              <a:path w="3031490" h="44450">
                <a:moveTo>
                  <a:pt x="3031096" y="0"/>
                </a:moveTo>
                <a:lnTo>
                  <a:pt x="0" y="0"/>
                </a:lnTo>
                <a:lnTo>
                  <a:pt x="0" y="44450"/>
                </a:lnTo>
                <a:lnTo>
                  <a:pt x="3031096" y="44450"/>
                </a:lnTo>
                <a:lnTo>
                  <a:pt x="3031096" y="0"/>
                </a:lnTo>
                <a:close/>
              </a:path>
            </a:pathLst>
          </a:custGeom>
          <a:solidFill>
            <a:srgbClr val="BE12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416064" y="3218752"/>
            <a:ext cx="212153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Microsoft YaHei"/>
                <a:cs typeface="Microsoft YaHei"/>
              </a:rPr>
              <a:t>仅支持</a:t>
            </a:r>
            <a:r>
              <a:rPr dirty="0" sz="1600" spc="-10">
                <a:latin typeface="Microsoft YaHei"/>
                <a:cs typeface="Microsoft YaHei"/>
              </a:rPr>
              <a:t>NR+TDD</a:t>
            </a:r>
            <a:r>
              <a:rPr dirty="0" sz="1600" spc="-20">
                <a:latin typeface="Microsoft YaHei"/>
                <a:cs typeface="Microsoft YaHei"/>
              </a:rPr>
              <a:t>双链接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30859" y="3038476"/>
            <a:ext cx="3365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C73E01"/>
                </a:solidFill>
                <a:latin typeface="Arial MT"/>
                <a:cs typeface="Arial MT"/>
              </a:rPr>
              <a:t>B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5779630" y="3525608"/>
            <a:ext cx="3033395" cy="46355"/>
          </a:xfrm>
          <a:custGeom>
            <a:avLst/>
            <a:gdLst/>
            <a:ahLst/>
            <a:cxnLst/>
            <a:rect l="l" t="t" r="r" b="b"/>
            <a:pathLst>
              <a:path w="3033395" h="46354">
                <a:moveTo>
                  <a:pt x="3033191" y="0"/>
                </a:moveTo>
                <a:lnTo>
                  <a:pt x="0" y="0"/>
                </a:lnTo>
                <a:lnTo>
                  <a:pt x="0" y="46037"/>
                </a:lnTo>
                <a:lnTo>
                  <a:pt x="3033191" y="46037"/>
                </a:lnTo>
                <a:lnTo>
                  <a:pt x="3033191" y="0"/>
                </a:lnTo>
                <a:close/>
              </a:path>
            </a:pathLst>
          </a:custGeom>
          <a:solidFill>
            <a:srgbClr val="C73E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74276" y="1290300"/>
            <a:ext cx="2004695" cy="1412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20">
                <a:latin typeface="Microsoft YaHei"/>
                <a:cs typeface="Microsoft YaHei"/>
              </a:rPr>
              <a:t>需要修改现网</a:t>
            </a:r>
            <a:r>
              <a:rPr dirty="0" sz="1400" spc="-10">
                <a:latin typeface="Microsoft YaHei"/>
                <a:cs typeface="Microsoft YaHei"/>
              </a:rPr>
              <a:t>FDD</a:t>
            </a:r>
            <a:r>
              <a:rPr dirty="0" sz="1400" spc="-20">
                <a:latin typeface="Microsoft YaHei"/>
                <a:cs typeface="Microsoft YaHei"/>
              </a:rPr>
              <a:t>与</a:t>
            </a:r>
            <a:r>
              <a:rPr dirty="0" sz="1400" spc="-25">
                <a:latin typeface="Microsoft YaHei"/>
                <a:cs typeface="Microsoft YaHei"/>
              </a:rPr>
              <a:t>TDD终端驻留及接入优先级，</a:t>
            </a:r>
            <a:r>
              <a:rPr dirty="0" sz="1400" spc="-20">
                <a:latin typeface="Microsoft YaHei"/>
                <a:cs typeface="Microsoft YaHei"/>
              </a:rPr>
              <a:t>导致大量终端占用在</a:t>
            </a:r>
            <a:r>
              <a:rPr dirty="0" sz="1400" spc="-25">
                <a:latin typeface="Microsoft YaHei"/>
                <a:cs typeface="Microsoft YaHei"/>
              </a:rPr>
              <a:t>FDD</a:t>
            </a:r>
            <a:r>
              <a:rPr dirty="0" sz="1400" spc="-20">
                <a:latin typeface="Microsoft YaHei"/>
                <a:cs typeface="Microsoft YaHei"/>
              </a:rPr>
              <a:t>上，影响</a:t>
            </a:r>
            <a:r>
              <a:rPr dirty="0" sz="1400" spc="-10">
                <a:latin typeface="Microsoft YaHei"/>
                <a:cs typeface="Microsoft YaHei"/>
              </a:rPr>
              <a:t>FDD</a:t>
            </a:r>
            <a:r>
              <a:rPr dirty="0" sz="1400" spc="-30">
                <a:latin typeface="Microsoft YaHei"/>
                <a:cs typeface="Microsoft YaHei"/>
              </a:rPr>
              <a:t>作为托底网络的功能。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834745" y="3594314"/>
            <a:ext cx="2934970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400" spc="-10">
                <a:latin typeface="Microsoft YaHei"/>
                <a:cs typeface="Microsoft YaHei"/>
              </a:rPr>
              <a:t>TDD</a:t>
            </a:r>
            <a:r>
              <a:rPr dirty="0" sz="1400" spc="-20">
                <a:latin typeface="Microsoft YaHei"/>
                <a:cs typeface="Microsoft YaHei"/>
              </a:rPr>
              <a:t>弱覆盖或无覆盖时，除</a:t>
            </a:r>
            <a:r>
              <a:rPr dirty="0" sz="1400" spc="-10">
                <a:latin typeface="Microsoft YaHei"/>
                <a:cs typeface="Microsoft YaHei"/>
              </a:rPr>
              <a:t>option4</a:t>
            </a:r>
            <a:r>
              <a:rPr dirty="0" sz="1400" spc="-20">
                <a:latin typeface="Microsoft YaHei"/>
                <a:cs typeface="Microsoft YaHei"/>
              </a:rPr>
              <a:t>外无法正常使用5G网络，且</a:t>
            </a:r>
            <a:r>
              <a:rPr dirty="0" sz="1400" spc="-10">
                <a:latin typeface="Microsoft YaHei"/>
                <a:cs typeface="Microsoft YaHei"/>
              </a:rPr>
              <a:t>FDD</a:t>
            </a:r>
            <a:r>
              <a:rPr dirty="0" sz="1400" spc="-35">
                <a:latin typeface="Microsoft YaHei"/>
                <a:cs typeface="Microsoft YaHei"/>
              </a:rPr>
              <a:t>覆盖</a:t>
            </a:r>
            <a:r>
              <a:rPr dirty="0" sz="1400" spc="-20">
                <a:latin typeface="Microsoft YaHei"/>
                <a:cs typeface="Microsoft YaHei"/>
              </a:rPr>
              <a:t>优势及上行带宽优势未充分利用。</a:t>
            </a:r>
            <a:r>
              <a:rPr dirty="0" sz="1400" spc="-50">
                <a:solidFill>
                  <a:srgbClr val="595958"/>
                </a:solidFill>
                <a:latin typeface="Microsoft YaHei"/>
                <a:cs typeface="Microsoft YaHei"/>
              </a:rPr>
              <a:t>.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016" y="153434"/>
            <a:ext cx="339407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0"/>
              <a:t>接入网方案部署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039" y="3560121"/>
            <a:ext cx="5426710" cy="134239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49885" algn="l"/>
              </a:tabLst>
            </a:pPr>
            <a:r>
              <a:rPr dirty="0" sz="1200" spc="-10">
                <a:latin typeface="Microsoft YaHei"/>
                <a:cs typeface="Microsoft YaHei"/>
              </a:rPr>
              <a:t>底层功能划分方案：</a:t>
            </a:r>
            <a:endParaRPr sz="1200">
              <a:latin typeface="Microsoft YaHei"/>
              <a:cs typeface="Microsoft YaHei"/>
            </a:endParaRPr>
          </a:p>
          <a:p>
            <a:pPr marL="462280">
              <a:lnSpc>
                <a:spcPct val="100000"/>
              </a:lnSpc>
              <a:spcBef>
                <a:spcPts val="290"/>
              </a:spcBef>
              <a:tabLst>
                <a:tab pos="742315" algn="l"/>
              </a:tabLst>
            </a:pPr>
            <a:r>
              <a:rPr dirty="0" sz="1200" spc="-50">
                <a:latin typeface="Arial MT"/>
                <a:cs typeface="Arial MT"/>
              </a:rPr>
              <a:t>–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Microsoft YaHei"/>
                <a:cs typeface="Microsoft YaHei"/>
              </a:rPr>
              <a:t>便于控制面集中，利于无线资源干扰协调；可以采用虚拟化平台；</a:t>
            </a:r>
            <a:endParaRPr sz="1200">
              <a:latin typeface="Microsoft YaHei"/>
              <a:cs typeface="Microsoft YaHei"/>
            </a:endParaRPr>
          </a:p>
          <a:p>
            <a:pPr marL="349885" indent="-33718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49885" algn="l"/>
              </a:tabLst>
            </a:pPr>
            <a:r>
              <a:rPr dirty="0" sz="1200" spc="-5">
                <a:latin typeface="Microsoft YaHei"/>
                <a:cs typeface="Microsoft YaHei"/>
              </a:rPr>
              <a:t>高层功能划分方案：</a:t>
            </a:r>
            <a:r>
              <a:rPr dirty="0" sz="1200" spc="-10">
                <a:latin typeface="Arial MT"/>
                <a:cs typeface="Arial MT"/>
              </a:rPr>
              <a:t>3GPP</a:t>
            </a:r>
            <a:r>
              <a:rPr dirty="0" sz="1200">
                <a:latin typeface="Microsoft YaHei"/>
                <a:cs typeface="Microsoft YaHei"/>
              </a:rPr>
              <a:t>标准确定了</a:t>
            </a:r>
            <a:r>
              <a:rPr dirty="0" sz="1200" spc="-10">
                <a:latin typeface="Arial MT"/>
                <a:cs typeface="Arial MT"/>
              </a:rPr>
              <a:t>option2</a:t>
            </a:r>
            <a:r>
              <a:rPr dirty="0" sz="1200" spc="-10">
                <a:latin typeface="Microsoft YaHei"/>
                <a:cs typeface="Microsoft YaHei"/>
              </a:rPr>
              <a:t>：</a:t>
            </a:r>
            <a:endParaRPr sz="1200">
              <a:latin typeface="Microsoft YaHei"/>
              <a:cs typeface="Microsoft YaHei"/>
            </a:endParaRPr>
          </a:p>
          <a:p>
            <a:pPr marL="311785">
              <a:lnSpc>
                <a:spcPct val="100000"/>
              </a:lnSpc>
              <a:spcBef>
                <a:spcPts val="285"/>
              </a:spcBef>
            </a:pPr>
            <a:r>
              <a:rPr dirty="0" sz="1200" spc="10">
                <a:solidFill>
                  <a:srgbClr val="FF0000"/>
                </a:solidFill>
                <a:latin typeface="Arial MT"/>
                <a:cs typeface="Arial MT"/>
              </a:rPr>
              <a:t>— </a:t>
            </a: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PDCP</a:t>
            </a:r>
            <a:r>
              <a:rPr dirty="0" sz="1200">
                <a:solidFill>
                  <a:srgbClr val="FF0000"/>
                </a:solidFill>
                <a:latin typeface="Microsoft YaHei"/>
                <a:cs typeface="Microsoft YaHei"/>
              </a:rPr>
              <a:t>上移便于形成数据锚点，便于支持用户面的双连接</a:t>
            </a: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/</a:t>
            </a:r>
            <a:r>
              <a:rPr dirty="0" sz="1200" spc="-20">
                <a:solidFill>
                  <a:srgbClr val="FF0000"/>
                </a:solidFill>
                <a:latin typeface="Microsoft YaHei"/>
                <a:cs typeface="Microsoft YaHei"/>
              </a:rPr>
              <a:t>多连接</a:t>
            </a:r>
            <a:endParaRPr sz="1200">
              <a:latin typeface="Microsoft YaHei"/>
              <a:cs typeface="Microsoft YaHei"/>
            </a:endParaRPr>
          </a:p>
          <a:p>
            <a:pPr marL="269875" indent="-25717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1200">
                <a:latin typeface="Microsoft YaHei"/>
                <a:cs typeface="Microsoft YaHei"/>
              </a:rPr>
              <a:t>待讨论，目前采用的</a:t>
            </a:r>
            <a:r>
              <a:rPr dirty="0" sz="1200">
                <a:latin typeface="Arial MT"/>
                <a:cs typeface="Arial MT"/>
              </a:rPr>
              <a:t>option8</a:t>
            </a:r>
            <a:r>
              <a:rPr dirty="0" sz="1200">
                <a:latin typeface="Microsoft YaHei"/>
                <a:cs typeface="Microsoft YaHei"/>
              </a:rPr>
              <a:t>（</a:t>
            </a:r>
            <a:r>
              <a:rPr dirty="0" sz="1200">
                <a:latin typeface="Arial MT"/>
                <a:cs typeface="Arial MT"/>
              </a:rPr>
              <a:t>eCPRI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Microsoft YaHei"/>
                <a:cs typeface="Microsoft YaHei"/>
              </a:rPr>
              <a:t>接口）方案和</a:t>
            </a:r>
            <a:r>
              <a:rPr dirty="0" sz="1200" spc="-10">
                <a:latin typeface="Arial MT"/>
                <a:cs typeface="Arial MT"/>
              </a:rPr>
              <a:t>option7</a:t>
            </a:r>
            <a:r>
              <a:rPr dirty="0" sz="1200" spc="-10">
                <a:latin typeface="Microsoft YaHei"/>
                <a:cs typeface="Microsoft YaHei"/>
              </a:rPr>
              <a:t>是比较热门的考虑</a:t>
            </a:r>
            <a:endParaRPr sz="1200">
              <a:latin typeface="Microsoft YaHei"/>
              <a:cs typeface="Microsoft YaHei"/>
            </a:endParaRPr>
          </a:p>
          <a:p>
            <a:pPr marL="269875" indent="-257175">
              <a:lnSpc>
                <a:spcPct val="100000"/>
              </a:lnSpc>
              <a:spcBef>
                <a:spcPts val="285"/>
              </a:spcBef>
              <a:buChar char="•"/>
              <a:tabLst>
                <a:tab pos="269875" algn="l"/>
              </a:tabLst>
            </a:pPr>
            <a:r>
              <a:rPr dirty="0" sz="1200" spc="-10">
                <a:latin typeface="Arial MT"/>
                <a:cs typeface="Arial MT"/>
              </a:rPr>
              <a:t>CU-DU</a:t>
            </a:r>
            <a:r>
              <a:rPr dirty="0" sz="1200" spc="-5">
                <a:latin typeface="Microsoft YaHei"/>
                <a:cs typeface="Microsoft YaHei"/>
              </a:rPr>
              <a:t>划分会增加设备间交互复杂度，可能增加系统时延。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253670" y="1653369"/>
            <a:ext cx="321945" cy="278765"/>
            <a:chOff x="1253670" y="1653369"/>
            <a:chExt cx="321945" cy="278765"/>
          </a:xfrm>
        </p:grpSpPr>
        <p:sp>
          <p:nvSpPr>
            <p:cNvPr id="5" name="object 5" descr=""/>
            <p:cNvSpPr/>
            <p:nvPr/>
          </p:nvSpPr>
          <p:spPr>
            <a:xfrm>
              <a:off x="1254940" y="1654639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54940" y="1654639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18409" y="1725386"/>
            <a:ext cx="19240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85">
                <a:latin typeface="Arial MT"/>
                <a:cs typeface="Arial MT"/>
              </a:rPr>
              <a:t>PDCP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317612" y="1653369"/>
            <a:ext cx="321945" cy="278765"/>
            <a:chOff x="2317612" y="1653369"/>
            <a:chExt cx="321945" cy="278765"/>
          </a:xfrm>
        </p:grpSpPr>
        <p:sp>
          <p:nvSpPr>
            <p:cNvPr id="9" name="object 9" descr=""/>
            <p:cNvSpPr/>
            <p:nvPr/>
          </p:nvSpPr>
          <p:spPr>
            <a:xfrm>
              <a:off x="2318882" y="1654639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18882" y="1654639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400688" y="1678663"/>
            <a:ext cx="155575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 marR="5080" indent="-5080">
              <a:lnSpc>
                <a:spcPct val="102200"/>
              </a:lnSpc>
              <a:spcBef>
                <a:spcPts val="95"/>
              </a:spcBef>
            </a:pPr>
            <a:r>
              <a:rPr dirty="0" sz="600" spc="-90">
                <a:latin typeface="Arial MT"/>
                <a:cs typeface="Arial MT"/>
              </a:rPr>
              <a:t>Low-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95">
                <a:latin typeface="Arial MT"/>
                <a:cs typeface="Arial MT"/>
              </a:rPr>
              <a:t>RLC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849581" y="1653367"/>
            <a:ext cx="321945" cy="278765"/>
            <a:chOff x="2849581" y="1653367"/>
            <a:chExt cx="321945" cy="278765"/>
          </a:xfrm>
        </p:grpSpPr>
        <p:sp>
          <p:nvSpPr>
            <p:cNvPr id="13" name="object 13" descr=""/>
            <p:cNvSpPr/>
            <p:nvPr/>
          </p:nvSpPr>
          <p:spPr>
            <a:xfrm>
              <a:off x="2850851" y="165463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50851" y="165463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925989" y="1678661"/>
            <a:ext cx="168910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 marR="5080" indent="-5080">
              <a:lnSpc>
                <a:spcPct val="102200"/>
              </a:lnSpc>
              <a:spcBef>
                <a:spcPts val="95"/>
              </a:spcBef>
            </a:pPr>
            <a:r>
              <a:rPr dirty="0" sz="600" spc="-80">
                <a:latin typeface="Arial MT"/>
                <a:cs typeface="Arial MT"/>
              </a:rPr>
              <a:t>High-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0">
                <a:latin typeface="Arial MT"/>
                <a:cs typeface="Arial MT"/>
              </a:rPr>
              <a:t>MAC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381550" y="1653366"/>
            <a:ext cx="321945" cy="278765"/>
            <a:chOff x="3381550" y="1653366"/>
            <a:chExt cx="321945" cy="278765"/>
          </a:xfrm>
        </p:grpSpPr>
        <p:sp>
          <p:nvSpPr>
            <p:cNvPr id="17" name="object 17" descr=""/>
            <p:cNvSpPr/>
            <p:nvPr/>
          </p:nvSpPr>
          <p:spPr>
            <a:xfrm>
              <a:off x="3382820" y="1654636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382820" y="1654636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462989" y="1678660"/>
            <a:ext cx="159385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70">
              <a:lnSpc>
                <a:spcPct val="102200"/>
              </a:lnSpc>
              <a:spcBef>
                <a:spcPts val="95"/>
              </a:spcBef>
            </a:pPr>
            <a:r>
              <a:rPr dirty="0" sz="600" spc="-85">
                <a:latin typeface="Arial MT"/>
                <a:cs typeface="Arial MT"/>
              </a:rPr>
              <a:t>Low-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14">
                <a:latin typeface="Arial MT"/>
                <a:cs typeface="Arial MT"/>
              </a:rPr>
              <a:t>MAC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913520" y="1653365"/>
            <a:ext cx="321945" cy="278765"/>
            <a:chOff x="3913520" y="1653365"/>
            <a:chExt cx="321945" cy="278765"/>
          </a:xfrm>
        </p:grpSpPr>
        <p:sp>
          <p:nvSpPr>
            <p:cNvPr id="21" name="object 21" descr=""/>
            <p:cNvSpPr/>
            <p:nvPr/>
          </p:nvSpPr>
          <p:spPr>
            <a:xfrm>
              <a:off x="3914795" y="165463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14790" y="165463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989929" y="1678659"/>
            <a:ext cx="168910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" marR="5080" indent="-10160">
              <a:lnSpc>
                <a:spcPct val="102200"/>
              </a:lnSpc>
              <a:spcBef>
                <a:spcPts val="95"/>
              </a:spcBef>
            </a:pPr>
            <a:r>
              <a:rPr dirty="0" sz="600" spc="-80">
                <a:latin typeface="Arial MT"/>
                <a:cs typeface="Arial MT"/>
              </a:rPr>
              <a:t>High-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80">
                <a:latin typeface="Arial MT"/>
                <a:cs typeface="Arial MT"/>
              </a:rPr>
              <a:t>PHY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445489" y="1653364"/>
            <a:ext cx="321945" cy="278765"/>
            <a:chOff x="4445489" y="1653364"/>
            <a:chExt cx="321945" cy="278765"/>
          </a:xfrm>
        </p:grpSpPr>
        <p:sp>
          <p:nvSpPr>
            <p:cNvPr id="25" name="object 25" descr=""/>
            <p:cNvSpPr/>
            <p:nvPr/>
          </p:nvSpPr>
          <p:spPr>
            <a:xfrm>
              <a:off x="4446765" y="1654634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446759" y="1654634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466831" y="1725380"/>
            <a:ext cx="279400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85">
                <a:latin typeface="Arial MT"/>
                <a:cs typeface="Arial MT"/>
              </a:rPr>
              <a:t>Low-</a:t>
            </a:r>
            <a:r>
              <a:rPr dirty="0" sz="600" spc="-70">
                <a:latin typeface="Arial MT"/>
                <a:cs typeface="Arial MT"/>
              </a:rPr>
              <a:t>PHY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253675" y="2619088"/>
            <a:ext cx="321945" cy="278765"/>
            <a:chOff x="1253675" y="2619088"/>
            <a:chExt cx="321945" cy="278765"/>
          </a:xfrm>
        </p:grpSpPr>
        <p:sp>
          <p:nvSpPr>
            <p:cNvPr id="29" name="object 29" descr=""/>
            <p:cNvSpPr/>
            <p:nvPr/>
          </p:nvSpPr>
          <p:spPr>
            <a:xfrm>
              <a:off x="1254945" y="2620358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254945" y="2620358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934812" y="1649860"/>
            <a:ext cx="2980055" cy="612775"/>
            <a:chOff x="934812" y="1649860"/>
            <a:chExt cx="2980055" cy="612775"/>
          </a:xfrm>
        </p:grpSpPr>
        <p:sp>
          <p:nvSpPr>
            <p:cNvPr id="32" name="object 32" descr=""/>
            <p:cNvSpPr/>
            <p:nvPr/>
          </p:nvSpPr>
          <p:spPr>
            <a:xfrm>
              <a:off x="935765" y="1792591"/>
              <a:ext cx="72390" cy="469265"/>
            </a:xfrm>
            <a:custGeom>
              <a:avLst/>
              <a:gdLst/>
              <a:ahLst/>
              <a:cxnLst/>
              <a:rect l="l" t="t" r="r" b="b"/>
              <a:pathLst>
                <a:path w="72390" h="469264">
                  <a:moveTo>
                    <a:pt x="0" y="0"/>
                  </a:moveTo>
                  <a:lnTo>
                    <a:pt x="72345" y="0"/>
                  </a:lnTo>
                  <a:lnTo>
                    <a:pt x="72345" y="469068"/>
                  </a:lnTo>
                  <a:lnTo>
                    <a:pt x="0" y="46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276439" y="1654624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88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248512" y="2115074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27924" y="36210"/>
                  </a:moveTo>
                  <a:lnTo>
                    <a:pt x="0" y="0"/>
                  </a:lnTo>
                  <a:lnTo>
                    <a:pt x="55855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702017" y="1792585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852650" y="176571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170048" y="1792585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320680" y="176571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638078" y="1792585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788710" y="176571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80535" y="1654623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88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652611" y="2115072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27924" y="36210"/>
                  </a:moveTo>
                  <a:lnTo>
                    <a:pt x="0" y="0"/>
                  </a:lnTo>
                  <a:lnTo>
                    <a:pt x="55849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318414" y="2691108"/>
            <a:ext cx="19240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85">
                <a:latin typeface="Arial MT"/>
                <a:cs typeface="Arial MT"/>
              </a:rPr>
              <a:t>PDCP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2317617" y="2619088"/>
            <a:ext cx="321945" cy="278765"/>
            <a:chOff x="2317617" y="2619088"/>
            <a:chExt cx="321945" cy="278765"/>
          </a:xfrm>
        </p:grpSpPr>
        <p:sp>
          <p:nvSpPr>
            <p:cNvPr id="45" name="object 45" descr=""/>
            <p:cNvSpPr/>
            <p:nvPr/>
          </p:nvSpPr>
          <p:spPr>
            <a:xfrm>
              <a:off x="2318887" y="2620358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318887" y="2620358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2400693" y="2644385"/>
            <a:ext cx="155575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 marR="5080" indent="-5080">
              <a:lnSpc>
                <a:spcPct val="102200"/>
              </a:lnSpc>
              <a:spcBef>
                <a:spcPts val="95"/>
              </a:spcBef>
            </a:pPr>
            <a:r>
              <a:rPr dirty="0" sz="600" spc="-90">
                <a:latin typeface="Arial MT"/>
                <a:cs typeface="Arial MT"/>
              </a:rPr>
              <a:t>Low-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95">
                <a:latin typeface="Arial MT"/>
                <a:cs typeface="Arial MT"/>
              </a:rPr>
              <a:t>RLC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849586" y="2619087"/>
            <a:ext cx="321945" cy="278765"/>
            <a:chOff x="2849586" y="2619087"/>
            <a:chExt cx="321945" cy="278765"/>
          </a:xfrm>
        </p:grpSpPr>
        <p:sp>
          <p:nvSpPr>
            <p:cNvPr id="49" name="object 49" descr=""/>
            <p:cNvSpPr/>
            <p:nvPr/>
          </p:nvSpPr>
          <p:spPr>
            <a:xfrm>
              <a:off x="2850856" y="262035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850856" y="262035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2925994" y="2644385"/>
            <a:ext cx="168910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 marR="5080" indent="-5080">
              <a:lnSpc>
                <a:spcPct val="102200"/>
              </a:lnSpc>
              <a:spcBef>
                <a:spcPts val="95"/>
              </a:spcBef>
            </a:pPr>
            <a:r>
              <a:rPr dirty="0" sz="600" spc="-80">
                <a:latin typeface="Arial MT"/>
                <a:cs typeface="Arial MT"/>
              </a:rPr>
              <a:t>High-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0">
                <a:latin typeface="Arial MT"/>
                <a:cs typeface="Arial MT"/>
              </a:rPr>
              <a:t>MAC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3381556" y="2619087"/>
            <a:ext cx="321945" cy="278765"/>
            <a:chOff x="3381556" y="2619087"/>
            <a:chExt cx="321945" cy="278765"/>
          </a:xfrm>
        </p:grpSpPr>
        <p:sp>
          <p:nvSpPr>
            <p:cNvPr id="53" name="object 53" descr=""/>
            <p:cNvSpPr/>
            <p:nvPr/>
          </p:nvSpPr>
          <p:spPr>
            <a:xfrm>
              <a:off x="3382826" y="262035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382826" y="262035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3462995" y="2644383"/>
            <a:ext cx="159385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70">
              <a:lnSpc>
                <a:spcPct val="102200"/>
              </a:lnSpc>
              <a:spcBef>
                <a:spcPts val="95"/>
              </a:spcBef>
            </a:pPr>
            <a:r>
              <a:rPr dirty="0" sz="600" spc="-85">
                <a:latin typeface="Arial MT"/>
                <a:cs typeface="Arial MT"/>
              </a:rPr>
              <a:t>Low-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14">
                <a:latin typeface="Arial MT"/>
                <a:cs typeface="Arial MT"/>
              </a:rPr>
              <a:t>MAC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3913527" y="2619085"/>
            <a:ext cx="321945" cy="278765"/>
            <a:chOff x="3913527" y="2619085"/>
            <a:chExt cx="321945" cy="278765"/>
          </a:xfrm>
        </p:grpSpPr>
        <p:sp>
          <p:nvSpPr>
            <p:cNvPr id="57" name="object 57" descr=""/>
            <p:cNvSpPr/>
            <p:nvPr/>
          </p:nvSpPr>
          <p:spPr>
            <a:xfrm>
              <a:off x="3914802" y="2620356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914797" y="262035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3989936" y="2644382"/>
            <a:ext cx="168910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" marR="5080" indent="-10160">
              <a:lnSpc>
                <a:spcPct val="102200"/>
              </a:lnSpc>
              <a:spcBef>
                <a:spcPts val="95"/>
              </a:spcBef>
            </a:pPr>
            <a:r>
              <a:rPr dirty="0" sz="600" spc="-80">
                <a:latin typeface="Arial MT"/>
                <a:cs typeface="Arial MT"/>
              </a:rPr>
              <a:t>High-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80">
                <a:latin typeface="Arial MT"/>
                <a:cs typeface="Arial MT"/>
              </a:rPr>
              <a:t>PHY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4445497" y="2619085"/>
            <a:ext cx="321945" cy="278765"/>
            <a:chOff x="4445497" y="2619085"/>
            <a:chExt cx="321945" cy="278765"/>
          </a:xfrm>
        </p:grpSpPr>
        <p:sp>
          <p:nvSpPr>
            <p:cNvPr id="61" name="object 61" descr=""/>
            <p:cNvSpPr/>
            <p:nvPr/>
          </p:nvSpPr>
          <p:spPr>
            <a:xfrm>
              <a:off x="4446772" y="262035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446767" y="262035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4466838" y="2691104"/>
            <a:ext cx="279400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85">
                <a:latin typeface="Arial MT"/>
                <a:cs typeface="Arial MT"/>
              </a:rPr>
              <a:t>Low-</a:t>
            </a:r>
            <a:r>
              <a:rPr dirty="0" sz="600" spc="-70">
                <a:latin typeface="Arial MT"/>
                <a:cs typeface="Arial MT"/>
              </a:rPr>
              <a:t>PHY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3151108" y="2194445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615329" y="2427204"/>
            <a:ext cx="3747770" cy="474345"/>
            <a:chOff x="615329" y="2427204"/>
            <a:chExt cx="3747770" cy="474345"/>
          </a:xfrm>
        </p:grpSpPr>
        <p:sp>
          <p:nvSpPr>
            <p:cNvPr id="66" name="object 66" descr=""/>
            <p:cNvSpPr/>
            <p:nvPr/>
          </p:nvSpPr>
          <p:spPr>
            <a:xfrm>
              <a:off x="3276439" y="2456175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248512" y="2427206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55855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55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808408" y="2456175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780482" y="2427206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55849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49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758995" y="275831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702018" y="2731449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227025" y="275831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170048" y="2731449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695056" y="275831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638078" y="2731449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680534" y="2456173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652611" y="2427204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55849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49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148565" y="2456173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120642" y="2427204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55849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49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992752" y="2758311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5" h="0">
                  <a:moveTo>
                    <a:pt x="26220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35777" y="2731448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631118" y="2758311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574139" y="2731448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335062" y="2456173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307136" y="2427204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55849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49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16599" y="2620351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16599" y="2620351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2640418" y="2194444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3683079" y="2194444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4209731" y="2194444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544565" y="2202720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023235" y="2194442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615329" y="1649860"/>
            <a:ext cx="3831590" cy="501650"/>
            <a:chOff x="615329" y="1649860"/>
            <a:chExt cx="3831590" cy="501650"/>
          </a:xfrm>
        </p:grpSpPr>
        <p:sp>
          <p:nvSpPr>
            <p:cNvPr id="94" name="object 94" descr=""/>
            <p:cNvSpPr/>
            <p:nvPr/>
          </p:nvSpPr>
          <p:spPr>
            <a:xfrm>
              <a:off x="1148565" y="1654622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88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120642" y="2115071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27924" y="36210"/>
                  </a:moveTo>
                  <a:lnTo>
                    <a:pt x="0" y="0"/>
                  </a:lnTo>
                  <a:lnTo>
                    <a:pt x="55849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574140" y="1792584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724771" y="176571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35777" y="1792584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5" h="0">
                  <a:moveTo>
                    <a:pt x="0" y="0"/>
                  </a:moveTo>
                  <a:lnTo>
                    <a:pt x="2622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92806" y="176571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0" y="53731"/>
                  </a:moveTo>
                  <a:lnTo>
                    <a:pt x="0" y="0"/>
                  </a:lnTo>
                  <a:lnTo>
                    <a:pt x="62149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335062" y="1654622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88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307136" y="2115071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27924" y="36210"/>
                  </a:moveTo>
                  <a:lnTo>
                    <a:pt x="0" y="0"/>
                  </a:lnTo>
                  <a:lnTo>
                    <a:pt x="55849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233988" y="1792584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384621" y="176571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16599" y="165462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16599" y="1654627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 descr=""/>
          <p:cNvSpPr txBox="1"/>
          <p:nvPr/>
        </p:nvSpPr>
        <p:spPr>
          <a:xfrm>
            <a:off x="698432" y="1725373"/>
            <a:ext cx="15557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85">
                <a:latin typeface="Arial MT"/>
                <a:cs typeface="Arial MT"/>
              </a:rPr>
              <a:t>RRC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698432" y="2691100"/>
            <a:ext cx="15557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85">
                <a:latin typeface="Arial MT"/>
                <a:cs typeface="Arial MT"/>
              </a:rPr>
              <a:t>RRC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2716547" y="1649859"/>
            <a:ext cx="2583180" cy="501650"/>
            <a:chOff x="2716547" y="1649859"/>
            <a:chExt cx="2583180" cy="501650"/>
          </a:xfrm>
        </p:grpSpPr>
        <p:sp>
          <p:nvSpPr>
            <p:cNvPr id="109" name="object 109" descr=""/>
            <p:cNvSpPr/>
            <p:nvPr/>
          </p:nvSpPr>
          <p:spPr>
            <a:xfrm>
              <a:off x="2744474" y="1654622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88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716547" y="2115071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27930" y="36210"/>
                  </a:moveTo>
                  <a:lnTo>
                    <a:pt x="0" y="0"/>
                  </a:lnTo>
                  <a:lnTo>
                    <a:pt x="55855" y="0"/>
                  </a:lnTo>
                  <a:lnTo>
                    <a:pt x="27930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808413" y="1654622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88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780487" y="2115071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27924" y="36210"/>
                  </a:moveTo>
                  <a:lnTo>
                    <a:pt x="0" y="0"/>
                  </a:lnTo>
                  <a:lnTo>
                    <a:pt x="55849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4978741" y="1654626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7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7" y="0"/>
                  </a:lnTo>
                  <a:lnTo>
                    <a:pt x="319187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978747" y="1654626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467646" y="2427204"/>
            <a:ext cx="4831715" cy="827405"/>
            <a:chOff x="467646" y="2427204"/>
            <a:chExt cx="4831715" cy="827405"/>
          </a:xfrm>
        </p:grpSpPr>
        <p:sp>
          <p:nvSpPr>
            <p:cNvPr id="116" name="object 116" descr=""/>
            <p:cNvSpPr/>
            <p:nvPr/>
          </p:nvSpPr>
          <p:spPr>
            <a:xfrm>
              <a:off x="4290965" y="2758311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233989" y="273144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62149" y="53731"/>
                  </a:moveTo>
                  <a:lnTo>
                    <a:pt x="0" y="26865"/>
                  </a:lnTo>
                  <a:lnTo>
                    <a:pt x="62149" y="0"/>
                  </a:lnTo>
                  <a:lnTo>
                    <a:pt x="62149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744474" y="2456173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716547" y="2427204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55855" y="36210"/>
                  </a:moveTo>
                  <a:lnTo>
                    <a:pt x="0" y="36210"/>
                  </a:lnTo>
                  <a:lnTo>
                    <a:pt x="27930" y="0"/>
                  </a:lnTo>
                  <a:lnTo>
                    <a:pt x="55855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992752" y="2756224"/>
              <a:ext cx="45720" cy="471170"/>
            </a:xfrm>
            <a:custGeom>
              <a:avLst/>
              <a:gdLst/>
              <a:ahLst/>
              <a:cxnLst/>
              <a:rect l="l" t="t" r="r" b="b"/>
              <a:pathLst>
                <a:path w="45719" h="471169">
                  <a:moveTo>
                    <a:pt x="45163" y="0"/>
                  </a:moveTo>
                  <a:lnTo>
                    <a:pt x="45163" y="471156"/>
                  </a:lnTo>
                  <a:lnTo>
                    <a:pt x="0" y="4711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935777" y="3200515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24619" y="2758311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9197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67646" y="273144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62149" y="53731"/>
                  </a:moveTo>
                  <a:lnTo>
                    <a:pt x="0" y="26865"/>
                  </a:lnTo>
                  <a:lnTo>
                    <a:pt x="62149" y="0"/>
                  </a:lnTo>
                  <a:lnTo>
                    <a:pt x="62149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4978741" y="2620351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319187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7" y="0"/>
                  </a:lnTo>
                  <a:lnTo>
                    <a:pt x="319187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4978747" y="2620351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4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 txBox="1"/>
          <p:nvPr/>
        </p:nvSpPr>
        <p:spPr>
          <a:xfrm>
            <a:off x="5085609" y="1725373"/>
            <a:ext cx="10604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65">
                <a:latin typeface="Arial MT"/>
                <a:cs typeface="Arial MT"/>
              </a:rPr>
              <a:t>RF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7" name="object 127" descr=""/>
          <p:cNvSpPr txBox="1"/>
          <p:nvPr/>
        </p:nvSpPr>
        <p:spPr>
          <a:xfrm>
            <a:off x="5085610" y="2691100"/>
            <a:ext cx="10604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65">
                <a:latin typeface="Arial MT"/>
                <a:cs typeface="Arial MT"/>
              </a:rPr>
              <a:t>RF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8" name="object 128" descr=""/>
          <p:cNvGrpSpPr/>
          <p:nvPr/>
        </p:nvGrpSpPr>
        <p:grpSpPr>
          <a:xfrm>
            <a:off x="4842624" y="1652195"/>
            <a:ext cx="55880" cy="529590"/>
            <a:chOff x="4842624" y="1652195"/>
            <a:chExt cx="55880" cy="529590"/>
          </a:xfrm>
        </p:grpSpPr>
        <p:sp>
          <p:nvSpPr>
            <p:cNvPr id="129" name="object 129" descr=""/>
            <p:cNvSpPr/>
            <p:nvPr/>
          </p:nvSpPr>
          <p:spPr>
            <a:xfrm>
              <a:off x="4870551" y="1656958"/>
              <a:ext cx="0" cy="495300"/>
            </a:xfrm>
            <a:custGeom>
              <a:avLst/>
              <a:gdLst/>
              <a:ahLst/>
              <a:cxnLst/>
              <a:rect l="l" t="t" r="r" b="b"/>
              <a:pathLst>
                <a:path w="0" h="495300">
                  <a:moveTo>
                    <a:pt x="0" y="0"/>
                  </a:moveTo>
                  <a:lnTo>
                    <a:pt x="0" y="495284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4842624" y="2144999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27924" y="36210"/>
                  </a:moveTo>
                  <a:lnTo>
                    <a:pt x="0" y="0"/>
                  </a:lnTo>
                  <a:lnTo>
                    <a:pt x="55855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615331" y="2429543"/>
            <a:ext cx="4902200" cy="937260"/>
            <a:chOff x="615331" y="2429543"/>
            <a:chExt cx="4902200" cy="937260"/>
          </a:xfrm>
        </p:grpSpPr>
        <p:sp>
          <p:nvSpPr>
            <p:cNvPr id="132" name="object 132" descr=""/>
            <p:cNvSpPr/>
            <p:nvPr/>
          </p:nvSpPr>
          <p:spPr>
            <a:xfrm>
              <a:off x="5354903" y="2758311"/>
              <a:ext cx="161290" cy="3175"/>
            </a:xfrm>
            <a:custGeom>
              <a:avLst/>
              <a:gdLst/>
              <a:ahLst/>
              <a:cxnLst/>
              <a:rect l="l" t="t" r="r" b="b"/>
              <a:pathLst>
                <a:path w="161289" h="3175">
                  <a:moveTo>
                    <a:pt x="0" y="0"/>
                  </a:moveTo>
                  <a:lnTo>
                    <a:pt x="161130" y="0"/>
                  </a:lnTo>
                  <a:lnTo>
                    <a:pt x="161130" y="25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5297930" y="273144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62149" y="53731"/>
                  </a:moveTo>
                  <a:lnTo>
                    <a:pt x="0" y="26865"/>
                  </a:lnTo>
                  <a:lnTo>
                    <a:pt x="62149" y="0"/>
                  </a:lnTo>
                  <a:lnTo>
                    <a:pt x="62149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4870551" y="2458509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4842624" y="2429543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79" h="36830">
                  <a:moveTo>
                    <a:pt x="55855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55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4822936" y="2758310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4765961" y="2731447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62149" y="53731"/>
                  </a:moveTo>
                  <a:lnTo>
                    <a:pt x="0" y="26865"/>
                  </a:lnTo>
                  <a:lnTo>
                    <a:pt x="62149" y="0"/>
                  </a:lnTo>
                  <a:lnTo>
                    <a:pt x="62149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16601" y="3089418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 descr=""/>
          <p:cNvSpPr txBox="1"/>
          <p:nvPr/>
        </p:nvSpPr>
        <p:spPr>
          <a:xfrm>
            <a:off x="4745221" y="2196778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40" name="object 140" descr=""/>
          <p:cNvGrpSpPr/>
          <p:nvPr/>
        </p:nvGrpSpPr>
        <p:grpSpPr>
          <a:xfrm>
            <a:off x="466376" y="1653355"/>
            <a:ext cx="5044440" cy="635635"/>
            <a:chOff x="466376" y="1653355"/>
            <a:chExt cx="5044440" cy="635635"/>
          </a:xfrm>
        </p:grpSpPr>
        <p:sp>
          <p:nvSpPr>
            <p:cNvPr id="141" name="object 141" descr=""/>
            <p:cNvSpPr/>
            <p:nvPr/>
          </p:nvSpPr>
          <p:spPr>
            <a:xfrm>
              <a:off x="4765959" y="1792583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4916593" y="1765716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49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78286" y="1792583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5" h="0">
                  <a:moveTo>
                    <a:pt x="0" y="0"/>
                  </a:moveTo>
                  <a:lnTo>
                    <a:pt x="8133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54441" y="1765715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299524" y="1788543"/>
              <a:ext cx="154305" cy="0"/>
            </a:xfrm>
            <a:custGeom>
              <a:avLst/>
              <a:gdLst/>
              <a:ahLst/>
              <a:cxnLst/>
              <a:rect l="l" t="t" r="r" b="b"/>
              <a:pathLst>
                <a:path w="154304" h="0">
                  <a:moveTo>
                    <a:pt x="0" y="0"/>
                  </a:moveTo>
                  <a:lnTo>
                    <a:pt x="1542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448563" y="1761675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49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467646" y="2261650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5" h="0">
                  <a:moveTo>
                    <a:pt x="0" y="0"/>
                  </a:moveTo>
                  <a:lnTo>
                    <a:pt x="8133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43805" y="2234783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0" y="53731"/>
                  </a:moveTo>
                  <a:lnTo>
                    <a:pt x="0" y="0"/>
                  </a:lnTo>
                  <a:lnTo>
                    <a:pt x="62149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786928" y="165462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0"/>
                  </a:moveTo>
                  <a:lnTo>
                    <a:pt x="0" y="275920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0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786933" y="1654625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 descr=""/>
          <p:cNvSpPr txBox="1"/>
          <p:nvPr/>
        </p:nvSpPr>
        <p:spPr>
          <a:xfrm>
            <a:off x="700063" y="3160167"/>
            <a:ext cx="152400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65">
                <a:latin typeface="Arial MT"/>
                <a:cs typeface="Arial MT"/>
              </a:rPr>
              <a:t>Data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2" name="object 152" descr=""/>
          <p:cNvSpPr/>
          <p:nvPr/>
        </p:nvSpPr>
        <p:spPr>
          <a:xfrm>
            <a:off x="616601" y="2123694"/>
            <a:ext cx="319405" cy="276225"/>
          </a:xfrm>
          <a:custGeom>
            <a:avLst/>
            <a:gdLst/>
            <a:ahLst/>
            <a:cxnLst/>
            <a:rect l="l" t="t" r="r" b="b"/>
            <a:pathLst>
              <a:path w="319405" h="276225">
                <a:moveTo>
                  <a:pt x="0" y="275920"/>
                </a:moveTo>
                <a:lnTo>
                  <a:pt x="319182" y="275920"/>
                </a:lnTo>
                <a:lnTo>
                  <a:pt x="319182" y="0"/>
                </a:lnTo>
                <a:lnTo>
                  <a:pt x="0" y="0"/>
                </a:lnTo>
                <a:lnTo>
                  <a:pt x="0" y="275920"/>
                </a:lnTo>
                <a:close/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53" name="object 153" descr=""/>
          <p:cNvGrpSpPr/>
          <p:nvPr/>
        </p:nvGrpSpPr>
        <p:grpSpPr>
          <a:xfrm>
            <a:off x="467648" y="2619079"/>
            <a:ext cx="1640205" cy="635635"/>
            <a:chOff x="467648" y="2619079"/>
            <a:chExt cx="1640205" cy="635635"/>
          </a:xfrm>
        </p:grpSpPr>
        <p:sp>
          <p:nvSpPr>
            <p:cNvPr id="154" name="object 154" descr=""/>
            <p:cNvSpPr/>
            <p:nvPr/>
          </p:nvSpPr>
          <p:spPr>
            <a:xfrm>
              <a:off x="524620" y="3227378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9197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467648" y="3200514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29" h="53975">
                  <a:moveTo>
                    <a:pt x="62149" y="53731"/>
                  </a:moveTo>
                  <a:lnTo>
                    <a:pt x="0" y="26865"/>
                  </a:lnTo>
                  <a:lnTo>
                    <a:pt x="62149" y="0"/>
                  </a:lnTo>
                  <a:lnTo>
                    <a:pt x="62149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786928" y="2620349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319182" y="275927"/>
                  </a:moveTo>
                  <a:lnTo>
                    <a:pt x="0" y="275927"/>
                  </a:lnTo>
                  <a:lnTo>
                    <a:pt x="0" y="0"/>
                  </a:lnTo>
                  <a:lnTo>
                    <a:pt x="319182" y="0"/>
                  </a:lnTo>
                  <a:lnTo>
                    <a:pt x="319182" y="275927"/>
                  </a:lnTo>
                  <a:close/>
                </a:path>
              </a:pathLst>
            </a:custGeom>
            <a:solidFill>
              <a:srgbClr val="DDE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786934" y="2620349"/>
              <a:ext cx="319405" cy="276225"/>
            </a:xfrm>
            <a:custGeom>
              <a:avLst/>
              <a:gdLst/>
              <a:ahLst/>
              <a:cxnLst/>
              <a:rect l="l" t="t" r="r" b="b"/>
              <a:pathLst>
                <a:path w="319405" h="276225">
                  <a:moveTo>
                    <a:pt x="0" y="275920"/>
                  </a:moveTo>
                  <a:lnTo>
                    <a:pt x="319182" y="275920"/>
                  </a:lnTo>
                  <a:lnTo>
                    <a:pt x="319182" y="0"/>
                  </a:lnTo>
                  <a:lnTo>
                    <a:pt x="0" y="0"/>
                  </a:lnTo>
                  <a:lnTo>
                    <a:pt x="0" y="2759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 txBox="1"/>
          <p:nvPr/>
        </p:nvSpPr>
        <p:spPr>
          <a:xfrm>
            <a:off x="700063" y="2194439"/>
            <a:ext cx="152400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65">
                <a:latin typeface="Arial MT"/>
                <a:cs typeface="Arial MT"/>
              </a:rPr>
              <a:t>Data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9" name="object 159" descr=""/>
          <p:cNvSpPr txBox="1"/>
          <p:nvPr/>
        </p:nvSpPr>
        <p:spPr>
          <a:xfrm>
            <a:off x="1862068" y="1678648"/>
            <a:ext cx="168910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" marR="5080" indent="-12065">
              <a:lnSpc>
                <a:spcPct val="102200"/>
              </a:lnSpc>
              <a:spcBef>
                <a:spcPts val="95"/>
              </a:spcBef>
            </a:pPr>
            <a:r>
              <a:rPr dirty="0" sz="600" spc="-80">
                <a:latin typeface="Arial MT"/>
                <a:cs typeface="Arial MT"/>
              </a:rPr>
              <a:t>High-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80">
                <a:latin typeface="Arial MT"/>
                <a:cs typeface="Arial MT"/>
              </a:rPr>
              <a:t>RLC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60" name="object 160" descr=""/>
          <p:cNvGrpSpPr/>
          <p:nvPr/>
        </p:nvGrpSpPr>
        <p:grpSpPr>
          <a:xfrm>
            <a:off x="2106113" y="1649101"/>
            <a:ext cx="213360" cy="497205"/>
            <a:chOff x="2106113" y="1649101"/>
            <a:chExt cx="213360" cy="497205"/>
          </a:xfrm>
        </p:grpSpPr>
        <p:sp>
          <p:nvSpPr>
            <p:cNvPr id="161" name="object 161" descr=""/>
            <p:cNvSpPr/>
            <p:nvPr/>
          </p:nvSpPr>
          <p:spPr>
            <a:xfrm>
              <a:off x="2106113" y="179258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5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2256744" y="1765715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0" y="53731"/>
                  </a:moveTo>
                  <a:lnTo>
                    <a:pt x="0" y="0"/>
                  </a:lnTo>
                  <a:lnTo>
                    <a:pt x="62155" y="26865"/>
                  </a:lnTo>
                  <a:lnTo>
                    <a:pt x="0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2233786" y="1649101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w="0" h="467994">
                  <a:moveTo>
                    <a:pt x="0" y="0"/>
                  </a:moveTo>
                  <a:lnTo>
                    <a:pt x="0" y="467695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2205861" y="2109549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27924" y="36210"/>
                  </a:moveTo>
                  <a:lnTo>
                    <a:pt x="0" y="0"/>
                  </a:lnTo>
                  <a:lnTo>
                    <a:pt x="55849" y="0"/>
                  </a:lnTo>
                  <a:lnTo>
                    <a:pt x="27924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 descr=""/>
          <p:cNvSpPr txBox="1"/>
          <p:nvPr/>
        </p:nvSpPr>
        <p:spPr>
          <a:xfrm>
            <a:off x="1862070" y="2644376"/>
            <a:ext cx="168910" cy="21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" marR="5080" indent="-12065">
              <a:lnSpc>
                <a:spcPct val="102200"/>
              </a:lnSpc>
              <a:spcBef>
                <a:spcPts val="95"/>
              </a:spcBef>
            </a:pPr>
            <a:r>
              <a:rPr dirty="0" sz="600" spc="-80">
                <a:latin typeface="Arial MT"/>
                <a:cs typeface="Arial MT"/>
              </a:rPr>
              <a:t>High-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80">
                <a:latin typeface="Arial MT"/>
                <a:cs typeface="Arial MT"/>
              </a:rPr>
              <a:t>RLC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66" name="object 166" descr=""/>
          <p:cNvGrpSpPr/>
          <p:nvPr/>
        </p:nvGrpSpPr>
        <p:grpSpPr>
          <a:xfrm>
            <a:off x="2106112" y="2421682"/>
            <a:ext cx="213360" cy="469265"/>
            <a:chOff x="2106112" y="2421682"/>
            <a:chExt cx="213360" cy="469265"/>
          </a:xfrm>
        </p:grpSpPr>
        <p:sp>
          <p:nvSpPr>
            <p:cNvPr id="167" name="object 167" descr=""/>
            <p:cNvSpPr/>
            <p:nvPr/>
          </p:nvSpPr>
          <p:spPr>
            <a:xfrm>
              <a:off x="2163091" y="2758308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155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2106112" y="2731445"/>
              <a:ext cx="62230" cy="53975"/>
            </a:xfrm>
            <a:custGeom>
              <a:avLst/>
              <a:gdLst/>
              <a:ahLst/>
              <a:cxnLst/>
              <a:rect l="l" t="t" r="r" b="b"/>
              <a:pathLst>
                <a:path w="62230" h="53975">
                  <a:moveTo>
                    <a:pt x="62155" y="53731"/>
                  </a:moveTo>
                  <a:lnTo>
                    <a:pt x="0" y="26865"/>
                  </a:lnTo>
                  <a:lnTo>
                    <a:pt x="62155" y="0"/>
                  </a:lnTo>
                  <a:lnTo>
                    <a:pt x="62155" y="53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2233786" y="2450652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440099"/>
                  </a:moveTo>
                  <a:lnTo>
                    <a:pt x="0" y="0"/>
                  </a:lnTo>
                </a:path>
              </a:pathLst>
            </a:custGeom>
            <a:ln w="9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2205861" y="2421682"/>
              <a:ext cx="55880" cy="36830"/>
            </a:xfrm>
            <a:custGeom>
              <a:avLst/>
              <a:gdLst/>
              <a:ahLst/>
              <a:cxnLst/>
              <a:rect l="l" t="t" r="r" b="b"/>
              <a:pathLst>
                <a:path w="55880" h="36830">
                  <a:moveTo>
                    <a:pt x="55849" y="36210"/>
                  </a:moveTo>
                  <a:lnTo>
                    <a:pt x="0" y="36210"/>
                  </a:lnTo>
                  <a:lnTo>
                    <a:pt x="27924" y="0"/>
                  </a:lnTo>
                  <a:lnTo>
                    <a:pt x="55849" y="362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 descr=""/>
          <p:cNvSpPr txBox="1"/>
          <p:nvPr/>
        </p:nvSpPr>
        <p:spPr>
          <a:xfrm>
            <a:off x="2097817" y="2216513"/>
            <a:ext cx="25082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75" b="1">
                <a:solidFill>
                  <a:srgbClr val="FF0000"/>
                </a:solidFill>
                <a:latin typeface="Times New Roman"/>
                <a:cs typeface="Times New Roman"/>
              </a:rPr>
              <a:t>Option</a:t>
            </a:r>
            <a:r>
              <a:rPr dirty="0" sz="6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2" name="object 172" descr=""/>
          <p:cNvSpPr txBox="1"/>
          <p:nvPr/>
        </p:nvSpPr>
        <p:spPr>
          <a:xfrm>
            <a:off x="145928" y="2174200"/>
            <a:ext cx="356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0000"/>
                </a:solidFill>
                <a:latin typeface="Arial"/>
                <a:cs typeface="Arial"/>
              </a:rPr>
              <a:t>CU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3" name="object 173" descr=""/>
          <p:cNvSpPr txBox="1"/>
          <p:nvPr/>
        </p:nvSpPr>
        <p:spPr>
          <a:xfrm>
            <a:off x="5349549" y="2098762"/>
            <a:ext cx="356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0000"/>
                </a:solidFill>
                <a:latin typeface="Arial"/>
                <a:cs typeface="Arial"/>
              </a:rPr>
              <a:t>DU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4" name="object 174" descr=""/>
          <p:cNvGrpSpPr/>
          <p:nvPr/>
        </p:nvGrpSpPr>
        <p:grpSpPr>
          <a:xfrm>
            <a:off x="1039408" y="1400088"/>
            <a:ext cx="3907154" cy="108585"/>
            <a:chOff x="1039408" y="1400088"/>
            <a:chExt cx="3907154" cy="108585"/>
          </a:xfrm>
        </p:grpSpPr>
        <p:sp>
          <p:nvSpPr>
            <p:cNvPr id="175" name="object 175" descr=""/>
            <p:cNvSpPr/>
            <p:nvPr/>
          </p:nvSpPr>
          <p:spPr>
            <a:xfrm>
              <a:off x="1052108" y="1412788"/>
              <a:ext cx="3881754" cy="83185"/>
            </a:xfrm>
            <a:custGeom>
              <a:avLst/>
              <a:gdLst/>
              <a:ahLst/>
              <a:cxnLst/>
              <a:rect l="l" t="t" r="r" b="b"/>
              <a:pathLst>
                <a:path w="3881754" h="83184">
                  <a:moveTo>
                    <a:pt x="3840099" y="0"/>
                  </a:moveTo>
                  <a:lnTo>
                    <a:pt x="3840099" y="20688"/>
                  </a:lnTo>
                  <a:lnTo>
                    <a:pt x="0" y="20688"/>
                  </a:lnTo>
                  <a:lnTo>
                    <a:pt x="0" y="62064"/>
                  </a:lnTo>
                  <a:lnTo>
                    <a:pt x="3840099" y="62064"/>
                  </a:lnTo>
                  <a:lnTo>
                    <a:pt x="3840099" y="82765"/>
                  </a:lnTo>
                  <a:lnTo>
                    <a:pt x="3881488" y="41376"/>
                  </a:lnTo>
                  <a:lnTo>
                    <a:pt x="38400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052108" y="1412788"/>
              <a:ext cx="3881754" cy="83185"/>
            </a:xfrm>
            <a:custGeom>
              <a:avLst/>
              <a:gdLst/>
              <a:ahLst/>
              <a:cxnLst/>
              <a:rect l="l" t="t" r="r" b="b"/>
              <a:pathLst>
                <a:path w="3881754" h="83184">
                  <a:moveTo>
                    <a:pt x="0" y="20688"/>
                  </a:moveTo>
                  <a:lnTo>
                    <a:pt x="3840099" y="20688"/>
                  </a:lnTo>
                  <a:lnTo>
                    <a:pt x="3840099" y="0"/>
                  </a:lnTo>
                  <a:lnTo>
                    <a:pt x="3881488" y="41376"/>
                  </a:lnTo>
                  <a:lnTo>
                    <a:pt x="3840099" y="82765"/>
                  </a:lnTo>
                  <a:lnTo>
                    <a:pt x="3840099" y="62064"/>
                  </a:lnTo>
                  <a:lnTo>
                    <a:pt x="0" y="62064"/>
                  </a:lnTo>
                  <a:lnTo>
                    <a:pt x="0" y="2068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 descr=""/>
          <p:cNvSpPr txBox="1"/>
          <p:nvPr/>
        </p:nvSpPr>
        <p:spPr>
          <a:xfrm>
            <a:off x="57077" y="845148"/>
            <a:ext cx="4201160" cy="46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10">
                <a:latin typeface="Microsoft YaHei"/>
                <a:cs typeface="Microsoft YaHei"/>
              </a:rPr>
              <a:t>5G</a:t>
            </a:r>
            <a:r>
              <a:rPr dirty="0" sz="1800" spc="5">
                <a:latin typeface="Microsoft YaHei"/>
                <a:cs typeface="Microsoft YaHei"/>
              </a:rPr>
              <a:t>接入网架构方案- </a:t>
            </a:r>
            <a:r>
              <a:rPr dirty="0" sz="1800" spc="-20">
                <a:latin typeface="Microsoft YaHei"/>
                <a:cs typeface="Microsoft YaHei"/>
              </a:rPr>
              <a:t>CU/DU</a:t>
            </a:r>
            <a:r>
              <a:rPr dirty="0" sz="1800" spc="-15">
                <a:latin typeface="Microsoft YaHei"/>
                <a:cs typeface="Microsoft YaHei"/>
              </a:rPr>
              <a:t>方案划分</a:t>
            </a:r>
            <a:endParaRPr sz="1800">
              <a:latin typeface="Microsoft YaHei"/>
              <a:cs typeface="Microsoft YaHei"/>
            </a:endParaRPr>
          </a:p>
          <a:p>
            <a:pPr marL="1613535">
              <a:lnSpc>
                <a:spcPts val="1295"/>
              </a:lnSpc>
            </a:pPr>
            <a:r>
              <a:rPr dirty="0" sz="1100" spc="-20" b="1">
                <a:solidFill>
                  <a:srgbClr val="FF0000"/>
                </a:solidFill>
                <a:latin typeface="Microsoft YaHei"/>
                <a:cs typeface="Microsoft YaHei"/>
              </a:rPr>
              <a:t>更多协议栈功能位于</a:t>
            </a:r>
            <a:r>
              <a:rPr dirty="0" sz="1100" spc="-10" b="1">
                <a:solidFill>
                  <a:srgbClr val="FF0000"/>
                </a:solidFill>
                <a:latin typeface="Arial"/>
                <a:cs typeface="Arial"/>
              </a:rPr>
              <a:t>CU</a:t>
            </a:r>
            <a:r>
              <a:rPr dirty="0" sz="1100" spc="-25" b="1">
                <a:solidFill>
                  <a:srgbClr val="FF0000"/>
                </a:solidFill>
                <a:latin typeface="Microsoft YaHei"/>
                <a:cs typeface="Microsoft YaHei"/>
              </a:rPr>
              <a:t>，集中化程度增加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178" name="object 178" descr=""/>
          <p:cNvGrpSpPr/>
          <p:nvPr/>
        </p:nvGrpSpPr>
        <p:grpSpPr>
          <a:xfrm>
            <a:off x="1058872" y="3433056"/>
            <a:ext cx="3907154" cy="108585"/>
            <a:chOff x="1058872" y="3433056"/>
            <a:chExt cx="3907154" cy="108585"/>
          </a:xfrm>
        </p:grpSpPr>
        <p:sp>
          <p:nvSpPr>
            <p:cNvPr id="179" name="object 179" descr=""/>
            <p:cNvSpPr/>
            <p:nvPr/>
          </p:nvSpPr>
          <p:spPr>
            <a:xfrm>
              <a:off x="1071572" y="3445756"/>
              <a:ext cx="3881754" cy="83185"/>
            </a:xfrm>
            <a:custGeom>
              <a:avLst/>
              <a:gdLst/>
              <a:ahLst/>
              <a:cxnLst/>
              <a:rect l="l" t="t" r="r" b="b"/>
              <a:pathLst>
                <a:path w="3881754" h="83185">
                  <a:moveTo>
                    <a:pt x="3840099" y="0"/>
                  </a:moveTo>
                  <a:lnTo>
                    <a:pt x="3840099" y="20688"/>
                  </a:lnTo>
                  <a:lnTo>
                    <a:pt x="0" y="20688"/>
                  </a:lnTo>
                  <a:lnTo>
                    <a:pt x="0" y="62064"/>
                  </a:lnTo>
                  <a:lnTo>
                    <a:pt x="3840099" y="62064"/>
                  </a:lnTo>
                  <a:lnTo>
                    <a:pt x="3840099" y="82765"/>
                  </a:lnTo>
                  <a:lnTo>
                    <a:pt x="3881488" y="41376"/>
                  </a:lnTo>
                  <a:lnTo>
                    <a:pt x="38400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071572" y="3445756"/>
              <a:ext cx="3881754" cy="83185"/>
            </a:xfrm>
            <a:custGeom>
              <a:avLst/>
              <a:gdLst/>
              <a:ahLst/>
              <a:cxnLst/>
              <a:rect l="l" t="t" r="r" b="b"/>
              <a:pathLst>
                <a:path w="3881754" h="83185">
                  <a:moveTo>
                    <a:pt x="0" y="20688"/>
                  </a:moveTo>
                  <a:lnTo>
                    <a:pt x="3840099" y="20688"/>
                  </a:lnTo>
                  <a:lnTo>
                    <a:pt x="3840099" y="0"/>
                  </a:lnTo>
                  <a:lnTo>
                    <a:pt x="3881488" y="41376"/>
                  </a:lnTo>
                  <a:lnTo>
                    <a:pt x="3840099" y="82765"/>
                  </a:lnTo>
                  <a:lnTo>
                    <a:pt x="3840099" y="62064"/>
                  </a:lnTo>
                  <a:lnTo>
                    <a:pt x="0" y="62064"/>
                  </a:lnTo>
                  <a:lnTo>
                    <a:pt x="0" y="2068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 descr=""/>
          <p:cNvSpPr txBox="1"/>
          <p:nvPr/>
        </p:nvSpPr>
        <p:spPr>
          <a:xfrm>
            <a:off x="2093987" y="3133344"/>
            <a:ext cx="18383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 b="1">
                <a:solidFill>
                  <a:srgbClr val="FF0000"/>
                </a:solidFill>
                <a:latin typeface="Microsoft YaHei"/>
                <a:cs typeface="Microsoft YaHei"/>
              </a:rPr>
              <a:t>要求更大传输带宽、更低时延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182" name="object 182" descr=""/>
          <p:cNvGrpSpPr/>
          <p:nvPr/>
        </p:nvGrpSpPr>
        <p:grpSpPr>
          <a:xfrm>
            <a:off x="6787008" y="1298590"/>
            <a:ext cx="1096645" cy="1924050"/>
            <a:chOff x="6787008" y="1298590"/>
            <a:chExt cx="1096645" cy="1924050"/>
          </a:xfrm>
        </p:grpSpPr>
        <p:sp>
          <p:nvSpPr>
            <p:cNvPr id="183" name="object 183" descr=""/>
            <p:cNvSpPr/>
            <p:nvPr/>
          </p:nvSpPr>
          <p:spPr>
            <a:xfrm>
              <a:off x="6787013" y="1298590"/>
              <a:ext cx="1052830" cy="76835"/>
            </a:xfrm>
            <a:custGeom>
              <a:avLst/>
              <a:gdLst/>
              <a:ahLst/>
              <a:cxnLst/>
              <a:rect l="l" t="t" r="r" b="b"/>
              <a:pathLst>
                <a:path w="1052829" h="76834">
                  <a:moveTo>
                    <a:pt x="1052509" y="76351"/>
                  </a:moveTo>
                  <a:lnTo>
                    <a:pt x="993056" y="75456"/>
                  </a:lnTo>
                  <a:lnTo>
                    <a:pt x="934831" y="73855"/>
                  </a:lnTo>
                  <a:lnTo>
                    <a:pt x="878124" y="71570"/>
                  </a:lnTo>
                  <a:lnTo>
                    <a:pt x="823226" y="68623"/>
                  </a:lnTo>
                  <a:lnTo>
                    <a:pt x="770428" y="65036"/>
                  </a:lnTo>
                  <a:lnTo>
                    <a:pt x="720022" y="60831"/>
                  </a:lnTo>
                  <a:lnTo>
                    <a:pt x="672298" y="56031"/>
                  </a:lnTo>
                  <a:lnTo>
                    <a:pt x="627547" y="50657"/>
                  </a:lnTo>
                  <a:lnTo>
                    <a:pt x="586060" y="44731"/>
                  </a:lnTo>
                  <a:lnTo>
                    <a:pt x="548128" y="38276"/>
                  </a:lnTo>
                  <a:lnTo>
                    <a:pt x="511057" y="31955"/>
                  </a:lnTo>
                  <a:lnTo>
                    <a:pt x="470608" y="26143"/>
                  </a:lnTo>
                  <a:lnTo>
                    <a:pt x="427057" y="20862"/>
                  </a:lnTo>
                  <a:lnTo>
                    <a:pt x="380679" y="16130"/>
                  </a:lnTo>
                  <a:lnTo>
                    <a:pt x="331748" y="11966"/>
                  </a:lnTo>
                  <a:lnTo>
                    <a:pt x="280542" y="8390"/>
                  </a:lnTo>
                  <a:lnTo>
                    <a:pt x="227334" y="5421"/>
                  </a:lnTo>
                  <a:lnTo>
                    <a:pt x="172400" y="3078"/>
                  </a:lnTo>
                  <a:lnTo>
                    <a:pt x="116017" y="1381"/>
                  </a:lnTo>
                  <a:lnTo>
                    <a:pt x="58458" y="34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835474" y="1359369"/>
              <a:ext cx="48260" cy="31115"/>
            </a:xfrm>
            <a:custGeom>
              <a:avLst/>
              <a:gdLst/>
              <a:ahLst/>
              <a:cxnLst/>
              <a:rect l="l" t="t" r="r" b="b"/>
              <a:pathLst>
                <a:path w="48259" h="31115">
                  <a:moveTo>
                    <a:pt x="0" y="31107"/>
                  </a:moveTo>
                  <a:lnTo>
                    <a:pt x="140" y="0"/>
                  </a:lnTo>
                  <a:lnTo>
                    <a:pt x="47801" y="15764"/>
                  </a:lnTo>
                  <a:lnTo>
                    <a:pt x="0" y="31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6787008" y="1298595"/>
              <a:ext cx="1052830" cy="1908810"/>
            </a:xfrm>
            <a:custGeom>
              <a:avLst/>
              <a:gdLst/>
              <a:ahLst/>
              <a:cxnLst/>
              <a:rect l="l" t="t" r="r" b="b"/>
              <a:pathLst>
                <a:path w="1052829" h="1908810">
                  <a:moveTo>
                    <a:pt x="1052790" y="1908782"/>
                  </a:moveTo>
                  <a:lnTo>
                    <a:pt x="1001001" y="1890377"/>
                  </a:lnTo>
                  <a:lnTo>
                    <a:pt x="950111" y="1858566"/>
                  </a:lnTo>
                  <a:lnTo>
                    <a:pt x="900311" y="1813709"/>
                  </a:lnTo>
                  <a:lnTo>
                    <a:pt x="851794" y="1756168"/>
                  </a:lnTo>
                  <a:lnTo>
                    <a:pt x="828076" y="1722754"/>
                  </a:lnTo>
                  <a:lnTo>
                    <a:pt x="804751" y="1686305"/>
                  </a:lnTo>
                  <a:lnTo>
                    <a:pt x="781842" y="1646865"/>
                  </a:lnTo>
                  <a:lnTo>
                    <a:pt x="759374" y="1604481"/>
                  </a:lnTo>
                  <a:lnTo>
                    <a:pt x="737370" y="1559196"/>
                  </a:lnTo>
                  <a:lnTo>
                    <a:pt x="715854" y="1511057"/>
                  </a:lnTo>
                  <a:lnTo>
                    <a:pt x="694850" y="1460109"/>
                  </a:lnTo>
                  <a:lnTo>
                    <a:pt x="674383" y="1406396"/>
                  </a:lnTo>
                  <a:lnTo>
                    <a:pt x="654476" y="1349964"/>
                  </a:lnTo>
                  <a:lnTo>
                    <a:pt x="635153" y="1290858"/>
                  </a:lnTo>
                  <a:lnTo>
                    <a:pt x="616438" y="1229123"/>
                  </a:lnTo>
                  <a:lnTo>
                    <a:pt x="598354" y="1164805"/>
                  </a:lnTo>
                  <a:lnTo>
                    <a:pt x="580927" y="1097948"/>
                  </a:lnTo>
                  <a:lnTo>
                    <a:pt x="564180" y="1028599"/>
                  </a:lnTo>
                  <a:lnTo>
                    <a:pt x="548137" y="956801"/>
                  </a:lnTo>
                  <a:lnTo>
                    <a:pt x="531583" y="882809"/>
                  </a:lnTo>
                  <a:lnTo>
                    <a:pt x="514288" y="811446"/>
                  </a:lnTo>
                  <a:lnTo>
                    <a:pt x="496278" y="742756"/>
                  </a:lnTo>
                  <a:lnTo>
                    <a:pt x="477581" y="676788"/>
                  </a:lnTo>
                  <a:lnTo>
                    <a:pt x="458222" y="613586"/>
                  </a:lnTo>
                  <a:lnTo>
                    <a:pt x="438228" y="553197"/>
                  </a:lnTo>
                  <a:lnTo>
                    <a:pt x="417625" y="495667"/>
                  </a:lnTo>
                  <a:lnTo>
                    <a:pt x="396441" y="441043"/>
                  </a:lnTo>
                  <a:lnTo>
                    <a:pt x="374702" y="389371"/>
                  </a:lnTo>
                  <a:lnTo>
                    <a:pt x="352434" y="340698"/>
                  </a:lnTo>
                  <a:lnTo>
                    <a:pt x="329663" y="295068"/>
                  </a:lnTo>
                  <a:lnTo>
                    <a:pt x="306416" y="252530"/>
                  </a:lnTo>
                  <a:lnTo>
                    <a:pt x="282721" y="213129"/>
                  </a:lnTo>
                  <a:lnTo>
                    <a:pt x="258602" y="176911"/>
                  </a:lnTo>
                  <a:lnTo>
                    <a:pt x="234087" y="143922"/>
                  </a:lnTo>
                  <a:lnTo>
                    <a:pt x="209203" y="114210"/>
                  </a:lnTo>
                  <a:lnTo>
                    <a:pt x="158431" y="64798"/>
                  </a:lnTo>
                  <a:lnTo>
                    <a:pt x="106498" y="29046"/>
                  </a:lnTo>
                  <a:lnTo>
                    <a:pt x="53617" y="7323"/>
                  </a:lnTo>
                  <a:lnTo>
                    <a:pt x="26887" y="183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834050" y="3191484"/>
              <a:ext cx="49530" cy="31115"/>
            </a:xfrm>
            <a:custGeom>
              <a:avLst/>
              <a:gdLst/>
              <a:ahLst/>
              <a:cxnLst/>
              <a:rect l="l" t="t" r="r" b="b"/>
              <a:pathLst>
                <a:path w="49529" h="31114">
                  <a:moveTo>
                    <a:pt x="0" y="30913"/>
                  </a:moveTo>
                  <a:lnTo>
                    <a:pt x="3588" y="0"/>
                  </a:lnTo>
                  <a:lnTo>
                    <a:pt x="49226" y="20714"/>
                  </a:lnTo>
                  <a:lnTo>
                    <a:pt x="0" y="309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258391" y="2190586"/>
              <a:ext cx="153670" cy="130175"/>
            </a:xfrm>
            <a:custGeom>
              <a:avLst/>
              <a:gdLst/>
              <a:ahLst/>
              <a:cxnLst/>
              <a:rect l="l" t="t" r="r" b="b"/>
              <a:pathLst>
                <a:path w="153670" h="130175">
                  <a:moveTo>
                    <a:pt x="153496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153496" y="0"/>
                  </a:lnTo>
                  <a:lnTo>
                    <a:pt x="153496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 descr=""/>
          <p:cNvSpPr txBox="1"/>
          <p:nvPr/>
        </p:nvSpPr>
        <p:spPr>
          <a:xfrm>
            <a:off x="7245691" y="2167087"/>
            <a:ext cx="1790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595958"/>
                </a:solidFill>
                <a:latin typeface="Microsoft Sans Serif"/>
                <a:cs typeface="Microsoft Sans Serif"/>
              </a:rPr>
              <a:t>UP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89" name="object 189" descr=""/>
          <p:cNvGrpSpPr/>
          <p:nvPr/>
        </p:nvGrpSpPr>
        <p:grpSpPr>
          <a:xfrm>
            <a:off x="6703300" y="2752934"/>
            <a:ext cx="1258570" cy="1633855"/>
            <a:chOff x="6703300" y="2752934"/>
            <a:chExt cx="1258570" cy="1633855"/>
          </a:xfrm>
        </p:grpSpPr>
        <p:sp>
          <p:nvSpPr>
            <p:cNvPr id="190" name="object 190" descr=""/>
            <p:cNvSpPr/>
            <p:nvPr/>
          </p:nvSpPr>
          <p:spPr>
            <a:xfrm>
              <a:off x="6787008" y="2752934"/>
              <a:ext cx="1052830" cy="458470"/>
            </a:xfrm>
            <a:custGeom>
              <a:avLst/>
              <a:gdLst/>
              <a:ahLst/>
              <a:cxnLst/>
              <a:rect l="l" t="t" r="r" b="b"/>
              <a:pathLst>
                <a:path w="1052829" h="458469">
                  <a:moveTo>
                    <a:pt x="1052525" y="458091"/>
                  </a:moveTo>
                  <a:lnTo>
                    <a:pt x="998429" y="453381"/>
                  </a:lnTo>
                  <a:lnTo>
                    <a:pt x="945325" y="445162"/>
                  </a:lnTo>
                  <a:lnTo>
                    <a:pt x="893432" y="433533"/>
                  </a:lnTo>
                  <a:lnTo>
                    <a:pt x="842969" y="418594"/>
                  </a:lnTo>
                  <a:lnTo>
                    <a:pt x="794154" y="400442"/>
                  </a:lnTo>
                  <a:lnTo>
                    <a:pt x="747207" y="379178"/>
                  </a:lnTo>
                  <a:lnTo>
                    <a:pt x="702345" y="354900"/>
                  </a:lnTo>
                  <a:lnTo>
                    <a:pt x="659788" y="327707"/>
                  </a:lnTo>
                  <a:lnTo>
                    <a:pt x="619753" y="297698"/>
                  </a:lnTo>
                  <a:lnTo>
                    <a:pt x="582461" y="264972"/>
                  </a:lnTo>
                  <a:lnTo>
                    <a:pt x="548128" y="229629"/>
                  </a:lnTo>
                  <a:lnTo>
                    <a:pt x="514279" y="194744"/>
                  </a:lnTo>
                  <a:lnTo>
                    <a:pt x="477573" y="162427"/>
                  </a:lnTo>
                  <a:lnTo>
                    <a:pt x="438221" y="132766"/>
                  </a:lnTo>
                  <a:lnTo>
                    <a:pt x="396435" y="105849"/>
                  </a:lnTo>
                  <a:lnTo>
                    <a:pt x="352428" y="81767"/>
                  </a:lnTo>
                  <a:lnTo>
                    <a:pt x="306412" y="60607"/>
                  </a:lnTo>
                  <a:lnTo>
                    <a:pt x="258599" y="42458"/>
                  </a:lnTo>
                  <a:lnTo>
                    <a:pt x="209201" y="27410"/>
                  </a:lnTo>
                  <a:lnTo>
                    <a:pt x="158430" y="15551"/>
                  </a:lnTo>
                  <a:lnTo>
                    <a:pt x="106498" y="6971"/>
                  </a:lnTo>
                  <a:lnTo>
                    <a:pt x="53617" y="175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835121" y="3195371"/>
              <a:ext cx="48260" cy="31115"/>
            </a:xfrm>
            <a:custGeom>
              <a:avLst/>
              <a:gdLst/>
              <a:ahLst/>
              <a:cxnLst/>
              <a:rect l="l" t="t" r="r" b="b"/>
              <a:pathLst>
                <a:path w="48259" h="31114">
                  <a:moveTo>
                    <a:pt x="0" y="31099"/>
                  </a:moveTo>
                  <a:lnTo>
                    <a:pt x="870" y="0"/>
                  </a:lnTo>
                  <a:lnTo>
                    <a:pt x="48149" y="16825"/>
                  </a:lnTo>
                  <a:lnTo>
                    <a:pt x="0" y="31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6708698" y="4360359"/>
              <a:ext cx="1173480" cy="0"/>
            </a:xfrm>
            <a:custGeom>
              <a:avLst/>
              <a:gdLst/>
              <a:ahLst/>
              <a:cxnLst/>
              <a:rect l="l" t="t" r="r" b="b"/>
              <a:pathLst>
                <a:path w="1173479" h="0">
                  <a:moveTo>
                    <a:pt x="0" y="0"/>
                  </a:moveTo>
                  <a:lnTo>
                    <a:pt x="552788" y="0"/>
                  </a:lnTo>
                </a:path>
                <a:path w="1173479" h="0">
                  <a:moveTo>
                    <a:pt x="700077" y="0"/>
                  </a:moveTo>
                  <a:lnTo>
                    <a:pt x="1173213" y="0"/>
                  </a:lnTo>
                </a:path>
              </a:pathLst>
            </a:custGeom>
            <a:ln w="10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880693" y="4334002"/>
              <a:ext cx="81280" cy="53340"/>
            </a:xfrm>
            <a:custGeom>
              <a:avLst/>
              <a:gdLst/>
              <a:ahLst/>
              <a:cxnLst/>
              <a:rect l="l" t="t" r="r" b="b"/>
              <a:pathLst>
                <a:path w="81279" h="53339">
                  <a:moveTo>
                    <a:pt x="0" y="52712"/>
                  </a:moveTo>
                  <a:lnTo>
                    <a:pt x="0" y="0"/>
                  </a:lnTo>
                  <a:lnTo>
                    <a:pt x="80883" y="26360"/>
                  </a:lnTo>
                  <a:lnTo>
                    <a:pt x="0" y="527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6786999" y="2906021"/>
              <a:ext cx="1096010" cy="1343025"/>
            </a:xfrm>
            <a:custGeom>
              <a:avLst/>
              <a:gdLst/>
              <a:ahLst/>
              <a:cxnLst/>
              <a:rect l="l" t="t" r="r" b="b"/>
              <a:pathLst>
                <a:path w="1096009" h="1343025">
                  <a:moveTo>
                    <a:pt x="1095544" y="1342454"/>
                  </a:moveTo>
                  <a:lnTo>
                    <a:pt x="1028881" y="1318660"/>
                  </a:lnTo>
                  <a:lnTo>
                    <a:pt x="963923" y="1281201"/>
                  </a:lnTo>
                  <a:lnTo>
                    <a:pt x="932195" y="1257495"/>
                  </a:lnTo>
                  <a:lnTo>
                    <a:pt x="901030" y="1230550"/>
                  </a:lnTo>
                  <a:lnTo>
                    <a:pt x="870471" y="1200426"/>
                  </a:lnTo>
                  <a:lnTo>
                    <a:pt x="840564" y="1167181"/>
                  </a:lnTo>
                  <a:lnTo>
                    <a:pt x="811354" y="1130876"/>
                  </a:lnTo>
                  <a:lnTo>
                    <a:pt x="782886" y="1091568"/>
                  </a:lnTo>
                  <a:lnTo>
                    <a:pt x="755206" y="1049318"/>
                  </a:lnTo>
                  <a:lnTo>
                    <a:pt x="728358" y="1004183"/>
                  </a:lnTo>
                  <a:lnTo>
                    <a:pt x="702389" y="956225"/>
                  </a:lnTo>
                  <a:lnTo>
                    <a:pt x="677342" y="905501"/>
                  </a:lnTo>
                  <a:lnTo>
                    <a:pt x="653263" y="852071"/>
                  </a:lnTo>
                  <a:lnTo>
                    <a:pt x="630197" y="795994"/>
                  </a:lnTo>
                  <a:lnTo>
                    <a:pt x="608189" y="737329"/>
                  </a:lnTo>
                  <a:lnTo>
                    <a:pt x="587286" y="676136"/>
                  </a:lnTo>
                  <a:lnTo>
                    <a:pt x="565906" y="613613"/>
                  </a:lnTo>
                  <a:lnTo>
                    <a:pt x="543391" y="553774"/>
                  </a:lnTo>
                  <a:lnTo>
                    <a:pt x="519791" y="496675"/>
                  </a:lnTo>
                  <a:lnTo>
                    <a:pt x="495153" y="442372"/>
                  </a:lnTo>
                  <a:lnTo>
                    <a:pt x="469528" y="390923"/>
                  </a:lnTo>
                  <a:lnTo>
                    <a:pt x="442964" y="342383"/>
                  </a:lnTo>
                  <a:lnTo>
                    <a:pt x="415510" y="296810"/>
                  </a:lnTo>
                  <a:lnTo>
                    <a:pt x="387216" y="254260"/>
                  </a:lnTo>
                  <a:lnTo>
                    <a:pt x="358131" y="214788"/>
                  </a:lnTo>
                  <a:lnTo>
                    <a:pt x="328303" y="178453"/>
                  </a:lnTo>
                  <a:lnTo>
                    <a:pt x="297782" y="145310"/>
                  </a:lnTo>
                  <a:lnTo>
                    <a:pt x="266617" y="115415"/>
                  </a:lnTo>
                  <a:lnTo>
                    <a:pt x="234857" y="88826"/>
                  </a:lnTo>
                  <a:lnTo>
                    <a:pt x="202551" y="65599"/>
                  </a:lnTo>
                  <a:lnTo>
                    <a:pt x="169748" y="45790"/>
                  </a:lnTo>
                  <a:lnTo>
                    <a:pt x="102848" y="16654"/>
                  </a:lnTo>
                  <a:lnTo>
                    <a:pt x="34550" y="1869"/>
                  </a:lnTo>
                  <a:lnTo>
                    <a:pt x="0" y="0"/>
                  </a:lnTo>
                </a:path>
              </a:pathLst>
            </a:custGeom>
            <a:ln w="1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877933" y="4222180"/>
              <a:ext cx="83820" cy="52705"/>
            </a:xfrm>
            <a:custGeom>
              <a:avLst/>
              <a:gdLst/>
              <a:ahLst/>
              <a:cxnLst/>
              <a:rect l="l" t="t" r="r" b="b"/>
              <a:pathLst>
                <a:path w="83820" h="52704">
                  <a:moveTo>
                    <a:pt x="0" y="52291"/>
                  </a:moveTo>
                  <a:lnTo>
                    <a:pt x="6803" y="0"/>
                  </a:lnTo>
                  <a:lnTo>
                    <a:pt x="83643" y="36122"/>
                  </a:lnTo>
                  <a:lnTo>
                    <a:pt x="0" y="52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302290" y="3517353"/>
              <a:ext cx="144145" cy="130175"/>
            </a:xfrm>
            <a:custGeom>
              <a:avLst/>
              <a:gdLst/>
              <a:ahLst/>
              <a:cxnLst/>
              <a:rect l="l" t="t" r="r" b="b"/>
              <a:pathLst>
                <a:path w="144145" h="130175">
                  <a:moveTo>
                    <a:pt x="143999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143999" y="0"/>
                  </a:lnTo>
                  <a:lnTo>
                    <a:pt x="143999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 descr=""/>
          <p:cNvSpPr txBox="1"/>
          <p:nvPr/>
        </p:nvSpPr>
        <p:spPr>
          <a:xfrm>
            <a:off x="7289587" y="3493849"/>
            <a:ext cx="1695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595958"/>
                </a:solidFill>
                <a:latin typeface="Microsoft Sans Serif"/>
                <a:cs typeface="Microsoft Sans Serif"/>
              </a:rPr>
              <a:t>L1'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98" name="object 198" descr=""/>
          <p:cNvGrpSpPr/>
          <p:nvPr/>
        </p:nvGrpSpPr>
        <p:grpSpPr>
          <a:xfrm>
            <a:off x="6538115" y="1437705"/>
            <a:ext cx="1594485" cy="2783840"/>
            <a:chOff x="6538115" y="1437705"/>
            <a:chExt cx="1594485" cy="2783840"/>
          </a:xfrm>
        </p:grpSpPr>
        <p:sp>
          <p:nvSpPr>
            <p:cNvPr id="199" name="object 199" descr=""/>
            <p:cNvSpPr/>
            <p:nvPr/>
          </p:nvSpPr>
          <p:spPr>
            <a:xfrm>
              <a:off x="8118186" y="1451675"/>
              <a:ext cx="0" cy="2755900"/>
            </a:xfrm>
            <a:custGeom>
              <a:avLst/>
              <a:gdLst/>
              <a:ahLst/>
              <a:cxnLst/>
              <a:rect l="l" t="t" r="r" b="b"/>
              <a:pathLst>
                <a:path w="0" h="2755900">
                  <a:moveTo>
                    <a:pt x="0" y="0"/>
                  </a:moveTo>
                  <a:lnTo>
                    <a:pt x="0" y="2755597"/>
                  </a:lnTo>
                </a:path>
              </a:pathLst>
            </a:custGeom>
            <a:ln w="27621">
              <a:solidFill>
                <a:srgbClr val="F2A94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6552085" y="1451675"/>
              <a:ext cx="0" cy="2755900"/>
            </a:xfrm>
            <a:custGeom>
              <a:avLst/>
              <a:gdLst/>
              <a:ahLst/>
              <a:cxnLst/>
              <a:rect l="l" t="t" r="r" b="b"/>
              <a:pathLst>
                <a:path w="0" h="2755900">
                  <a:moveTo>
                    <a:pt x="0" y="0"/>
                  </a:moveTo>
                  <a:lnTo>
                    <a:pt x="0" y="2755597"/>
                  </a:lnTo>
                </a:path>
              </a:pathLst>
            </a:custGeom>
            <a:ln w="27621">
              <a:solidFill>
                <a:srgbClr val="F2A9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 descr=""/>
          <p:cNvSpPr txBox="1"/>
          <p:nvPr/>
        </p:nvSpPr>
        <p:spPr>
          <a:xfrm>
            <a:off x="6051307" y="4256925"/>
            <a:ext cx="31305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RRU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2" name="object 202" descr=""/>
          <p:cNvSpPr txBox="1"/>
          <p:nvPr/>
        </p:nvSpPr>
        <p:spPr>
          <a:xfrm>
            <a:off x="5987660" y="2726028"/>
            <a:ext cx="29845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BBU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3" name="object 203" descr=""/>
          <p:cNvSpPr txBox="1"/>
          <p:nvPr/>
        </p:nvSpPr>
        <p:spPr>
          <a:xfrm>
            <a:off x="5987660" y="1118658"/>
            <a:ext cx="29845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EPC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4" name="object 204" descr=""/>
          <p:cNvSpPr txBox="1"/>
          <p:nvPr/>
        </p:nvSpPr>
        <p:spPr>
          <a:xfrm>
            <a:off x="6039975" y="1937449"/>
            <a:ext cx="4806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latin typeface="Microsoft Sans Serif"/>
                <a:cs typeface="Microsoft Sans Serif"/>
              </a:rPr>
              <a:t>Backhaul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05" name="object 205" descr=""/>
          <p:cNvSpPr txBox="1"/>
          <p:nvPr/>
        </p:nvSpPr>
        <p:spPr>
          <a:xfrm>
            <a:off x="6231246" y="3544887"/>
            <a:ext cx="28956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latin typeface="Microsoft Sans Serif"/>
                <a:cs typeface="Microsoft Sans Serif"/>
              </a:rPr>
              <a:t>CPRI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06" name="object 206" descr=""/>
          <p:cNvSpPr txBox="1"/>
          <p:nvPr/>
        </p:nvSpPr>
        <p:spPr>
          <a:xfrm>
            <a:off x="8384600" y="1118611"/>
            <a:ext cx="21717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CN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7" name="object 207" descr=""/>
          <p:cNvSpPr txBox="1"/>
          <p:nvPr/>
        </p:nvSpPr>
        <p:spPr>
          <a:xfrm>
            <a:off x="8384600" y="2113674"/>
            <a:ext cx="21717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CU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8" name="object 208" descr=""/>
          <p:cNvSpPr txBox="1"/>
          <p:nvPr/>
        </p:nvSpPr>
        <p:spPr>
          <a:xfrm>
            <a:off x="8384600" y="3185341"/>
            <a:ext cx="21717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DU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9" name="object 209" descr=""/>
          <p:cNvSpPr txBox="1"/>
          <p:nvPr/>
        </p:nvSpPr>
        <p:spPr>
          <a:xfrm>
            <a:off x="8306236" y="4257007"/>
            <a:ext cx="31305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latin typeface="Microsoft Sans Serif"/>
                <a:cs typeface="Microsoft Sans Serif"/>
              </a:rPr>
              <a:t>RRU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10" name="object 210" descr=""/>
          <p:cNvSpPr txBox="1"/>
          <p:nvPr/>
        </p:nvSpPr>
        <p:spPr>
          <a:xfrm>
            <a:off x="8149686" y="2741164"/>
            <a:ext cx="59118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Microsoft Sans Serif"/>
                <a:cs typeface="Microsoft Sans Serif"/>
              </a:rPr>
              <a:t>Fronthaul-</a:t>
            </a:r>
            <a:r>
              <a:rPr dirty="0" sz="850" spc="-25">
                <a:latin typeface="Microsoft Sans Serif"/>
                <a:cs typeface="Microsoft Sans Serif"/>
              </a:rPr>
              <a:t>II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11" name="object 211" descr=""/>
          <p:cNvSpPr txBox="1"/>
          <p:nvPr/>
        </p:nvSpPr>
        <p:spPr>
          <a:xfrm>
            <a:off x="8149686" y="1669575"/>
            <a:ext cx="4806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latin typeface="Microsoft Sans Serif"/>
                <a:cs typeface="Microsoft Sans Serif"/>
              </a:rPr>
              <a:t>Backhaul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12" name="object 212" descr=""/>
          <p:cNvSpPr txBox="1"/>
          <p:nvPr/>
        </p:nvSpPr>
        <p:spPr>
          <a:xfrm>
            <a:off x="8149686" y="3812753"/>
            <a:ext cx="56070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Microsoft Sans Serif"/>
                <a:cs typeface="Microsoft Sans Serif"/>
              </a:rPr>
              <a:t>Fronthaul-</a:t>
            </a:r>
            <a:r>
              <a:rPr dirty="0" sz="850" spc="-50">
                <a:latin typeface="Microsoft Sans Serif"/>
                <a:cs typeface="Microsoft Sans Serif"/>
              </a:rPr>
              <a:t>I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13" name="object 213" descr=""/>
          <p:cNvGrpSpPr/>
          <p:nvPr/>
        </p:nvGrpSpPr>
        <p:grpSpPr>
          <a:xfrm>
            <a:off x="6332812" y="1007669"/>
            <a:ext cx="2020570" cy="3490595"/>
            <a:chOff x="6332812" y="1007669"/>
            <a:chExt cx="2020570" cy="3490595"/>
          </a:xfrm>
        </p:grpSpPr>
        <p:sp>
          <p:nvSpPr>
            <p:cNvPr id="214" name="object 214" descr=""/>
            <p:cNvSpPr/>
            <p:nvPr/>
          </p:nvSpPr>
          <p:spPr>
            <a:xfrm>
              <a:off x="7958963" y="1987486"/>
              <a:ext cx="318770" cy="337185"/>
            </a:xfrm>
            <a:custGeom>
              <a:avLst/>
              <a:gdLst/>
              <a:ahLst/>
              <a:cxnLst/>
              <a:rect l="l" t="t" r="r" b="b"/>
              <a:pathLst>
                <a:path w="318770" h="337185">
                  <a:moveTo>
                    <a:pt x="318439" y="26111"/>
                  </a:moveTo>
                  <a:lnTo>
                    <a:pt x="316344" y="15951"/>
                  </a:lnTo>
                  <a:lnTo>
                    <a:pt x="310616" y="7645"/>
                  </a:lnTo>
                  <a:lnTo>
                    <a:pt x="302120" y="2057"/>
                  </a:lnTo>
                  <a:lnTo>
                    <a:pt x="291731" y="0"/>
                  </a:lnTo>
                  <a:lnTo>
                    <a:pt x="178104" y="0"/>
                  </a:lnTo>
                  <a:lnTo>
                    <a:pt x="167703" y="2057"/>
                  </a:lnTo>
                  <a:lnTo>
                    <a:pt x="159219" y="7645"/>
                  </a:lnTo>
                  <a:lnTo>
                    <a:pt x="150736" y="2057"/>
                  </a:lnTo>
                  <a:lnTo>
                    <a:pt x="140335" y="0"/>
                  </a:lnTo>
                  <a:lnTo>
                    <a:pt x="26708" y="0"/>
                  </a:lnTo>
                  <a:lnTo>
                    <a:pt x="16319" y="2057"/>
                  </a:lnTo>
                  <a:lnTo>
                    <a:pt x="7823" y="7645"/>
                  </a:lnTo>
                  <a:lnTo>
                    <a:pt x="2095" y="15951"/>
                  </a:lnTo>
                  <a:lnTo>
                    <a:pt x="0" y="26111"/>
                  </a:lnTo>
                  <a:lnTo>
                    <a:pt x="0" y="336791"/>
                  </a:lnTo>
                  <a:lnTo>
                    <a:pt x="151396" y="336791"/>
                  </a:lnTo>
                  <a:lnTo>
                    <a:pt x="167043" y="336791"/>
                  </a:lnTo>
                  <a:lnTo>
                    <a:pt x="318439" y="336791"/>
                  </a:lnTo>
                  <a:lnTo>
                    <a:pt x="318439" y="310692"/>
                  </a:lnTo>
                  <a:lnTo>
                    <a:pt x="318439" y="26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974622" y="2003120"/>
              <a:ext cx="287655" cy="306705"/>
            </a:xfrm>
            <a:custGeom>
              <a:avLst/>
              <a:gdLst/>
              <a:ahLst/>
              <a:cxnLst/>
              <a:rect l="l" t="t" r="r" b="b"/>
              <a:pathLst>
                <a:path w="287654" h="306705">
                  <a:moveTo>
                    <a:pt x="135724" y="5016"/>
                  </a:moveTo>
                  <a:lnTo>
                    <a:pt x="133680" y="5016"/>
                  </a:lnTo>
                  <a:lnTo>
                    <a:pt x="133680" y="0"/>
                  </a:lnTo>
                  <a:lnTo>
                    <a:pt x="2044" y="0"/>
                  </a:lnTo>
                  <a:lnTo>
                    <a:pt x="2044" y="5016"/>
                  </a:lnTo>
                  <a:lnTo>
                    <a:pt x="0" y="5016"/>
                  </a:lnTo>
                  <a:lnTo>
                    <a:pt x="0" y="30124"/>
                  </a:lnTo>
                  <a:lnTo>
                    <a:pt x="0" y="306349"/>
                  </a:lnTo>
                  <a:lnTo>
                    <a:pt x="135724" y="306349"/>
                  </a:lnTo>
                  <a:lnTo>
                    <a:pt x="135724" y="275234"/>
                  </a:lnTo>
                  <a:lnTo>
                    <a:pt x="135724" y="274967"/>
                  </a:lnTo>
                  <a:lnTo>
                    <a:pt x="135724" y="259930"/>
                  </a:lnTo>
                  <a:lnTo>
                    <a:pt x="120065" y="259930"/>
                  </a:lnTo>
                  <a:lnTo>
                    <a:pt x="120065" y="274967"/>
                  </a:lnTo>
                  <a:lnTo>
                    <a:pt x="15659" y="274967"/>
                  </a:lnTo>
                  <a:lnTo>
                    <a:pt x="15659" y="259892"/>
                  </a:lnTo>
                  <a:lnTo>
                    <a:pt x="135724" y="259892"/>
                  </a:lnTo>
                  <a:lnTo>
                    <a:pt x="135724" y="237299"/>
                  </a:lnTo>
                  <a:lnTo>
                    <a:pt x="15659" y="237299"/>
                  </a:lnTo>
                  <a:lnTo>
                    <a:pt x="15659" y="222237"/>
                  </a:lnTo>
                  <a:lnTo>
                    <a:pt x="120065" y="222237"/>
                  </a:lnTo>
                  <a:lnTo>
                    <a:pt x="120065" y="236969"/>
                  </a:lnTo>
                  <a:lnTo>
                    <a:pt x="135724" y="236969"/>
                  </a:lnTo>
                  <a:lnTo>
                    <a:pt x="135724" y="30302"/>
                  </a:lnTo>
                  <a:lnTo>
                    <a:pt x="120065" y="30302"/>
                  </a:lnTo>
                  <a:lnTo>
                    <a:pt x="120065" y="45199"/>
                  </a:lnTo>
                  <a:lnTo>
                    <a:pt x="15659" y="45199"/>
                  </a:lnTo>
                  <a:lnTo>
                    <a:pt x="15659" y="30124"/>
                  </a:lnTo>
                  <a:lnTo>
                    <a:pt x="135724" y="30124"/>
                  </a:lnTo>
                  <a:lnTo>
                    <a:pt x="135724" y="5016"/>
                  </a:lnTo>
                  <a:close/>
                </a:path>
                <a:path w="287654" h="306705">
                  <a:moveTo>
                    <a:pt x="287121" y="5016"/>
                  </a:moveTo>
                  <a:lnTo>
                    <a:pt x="285064" y="5016"/>
                  </a:lnTo>
                  <a:lnTo>
                    <a:pt x="285064" y="0"/>
                  </a:lnTo>
                  <a:lnTo>
                    <a:pt x="153441" y="0"/>
                  </a:lnTo>
                  <a:lnTo>
                    <a:pt x="153441" y="5016"/>
                  </a:lnTo>
                  <a:lnTo>
                    <a:pt x="151384" y="5016"/>
                  </a:lnTo>
                  <a:lnTo>
                    <a:pt x="151384" y="30124"/>
                  </a:lnTo>
                  <a:lnTo>
                    <a:pt x="151384" y="306349"/>
                  </a:lnTo>
                  <a:lnTo>
                    <a:pt x="287121" y="306349"/>
                  </a:lnTo>
                  <a:lnTo>
                    <a:pt x="287121" y="275234"/>
                  </a:lnTo>
                  <a:lnTo>
                    <a:pt x="287121" y="274967"/>
                  </a:lnTo>
                  <a:lnTo>
                    <a:pt x="287121" y="259930"/>
                  </a:lnTo>
                  <a:lnTo>
                    <a:pt x="271449" y="259930"/>
                  </a:lnTo>
                  <a:lnTo>
                    <a:pt x="271449" y="274967"/>
                  </a:lnTo>
                  <a:lnTo>
                    <a:pt x="167055" y="274967"/>
                  </a:lnTo>
                  <a:lnTo>
                    <a:pt x="167055" y="259892"/>
                  </a:lnTo>
                  <a:lnTo>
                    <a:pt x="287121" y="259892"/>
                  </a:lnTo>
                  <a:lnTo>
                    <a:pt x="287121" y="237299"/>
                  </a:lnTo>
                  <a:lnTo>
                    <a:pt x="167055" y="237299"/>
                  </a:lnTo>
                  <a:lnTo>
                    <a:pt x="167055" y="222224"/>
                  </a:lnTo>
                  <a:lnTo>
                    <a:pt x="271449" y="222224"/>
                  </a:lnTo>
                  <a:lnTo>
                    <a:pt x="271449" y="236969"/>
                  </a:lnTo>
                  <a:lnTo>
                    <a:pt x="287121" y="236969"/>
                  </a:lnTo>
                  <a:lnTo>
                    <a:pt x="287121" y="30302"/>
                  </a:lnTo>
                  <a:lnTo>
                    <a:pt x="271449" y="30302"/>
                  </a:lnTo>
                  <a:lnTo>
                    <a:pt x="271449" y="45199"/>
                  </a:lnTo>
                  <a:lnTo>
                    <a:pt x="167055" y="45199"/>
                  </a:lnTo>
                  <a:lnTo>
                    <a:pt x="167055" y="30124"/>
                  </a:lnTo>
                  <a:lnTo>
                    <a:pt x="287121" y="30124"/>
                  </a:lnTo>
                  <a:lnTo>
                    <a:pt x="287121" y="5016"/>
                  </a:lnTo>
                  <a:close/>
                </a:path>
              </a:pathLst>
            </a:custGeom>
            <a:solidFill>
              <a:srgbClr val="2C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883271" y="2109952"/>
              <a:ext cx="469900" cy="337185"/>
            </a:xfrm>
            <a:custGeom>
              <a:avLst/>
              <a:gdLst/>
              <a:ahLst/>
              <a:cxnLst/>
              <a:rect l="l" t="t" r="r" b="b"/>
              <a:pathLst>
                <a:path w="469900" h="337185">
                  <a:moveTo>
                    <a:pt x="469823" y="26111"/>
                  </a:moveTo>
                  <a:lnTo>
                    <a:pt x="467715" y="15951"/>
                  </a:lnTo>
                  <a:lnTo>
                    <a:pt x="462000" y="7645"/>
                  </a:lnTo>
                  <a:lnTo>
                    <a:pt x="453504" y="2057"/>
                  </a:lnTo>
                  <a:lnTo>
                    <a:pt x="443115" y="0"/>
                  </a:lnTo>
                  <a:lnTo>
                    <a:pt x="329488" y="0"/>
                  </a:lnTo>
                  <a:lnTo>
                    <a:pt x="319087" y="2057"/>
                  </a:lnTo>
                  <a:lnTo>
                    <a:pt x="310603" y="7645"/>
                  </a:lnTo>
                  <a:lnTo>
                    <a:pt x="302120" y="2057"/>
                  </a:lnTo>
                  <a:lnTo>
                    <a:pt x="291719" y="0"/>
                  </a:lnTo>
                  <a:lnTo>
                    <a:pt x="178092" y="0"/>
                  </a:lnTo>
                  <a:lnTo>
                    <a:pt x="167703" y="2057"/>
                  </a:lnTo>
                  <a:lnTo>
                    <a:pt x="159219" y="7645"/>
                  </a:lnTo>
                  <a:lnTo>
                    <a:pt x="150723" y="2057"/>
                  </a:lnTo>
                  <a:lnTo>
                    <a:pt x="140335" y="0"/>
                  </a:lnTo>
                  <a:lnTo>
                    <a:pt x="26708" y="0"/>
                  </a:lnTo>
                  <a:lnTo>
                    <a:pt x="16306" y="2057"/>
                  </a:lnTo>
                  <a:lnTo>
                    <a:pt x="7823" y="7645"/>
                  </a:lnTo>
                  <a:lnTo>
                    <a:pt x="2095" y="15951"/>
                  </a:lnTo>
                  <a:lnTo>
                    <a:pt x="0" y="26111"/>
                  </a:lnTo>
                  <a:lnTo>
                    <a:pt x="0" y="336804"/>
                  </a:lnTo>
                  <a:lnTo>
                    <a:pt x="151384" y="336804"/>
                  </a:lnTo>
                  <a:lnTo>
                    <a:pt x="167043" y="336804"/>
                  </a:lnTo>
                  <a:lnTo>
                    <a:pt x="302768" y="336804"/>
                  </a:lnTo>
                  <a:lnTo>
                    <a:pt x="318427" y="336804"/>
                  </a:lnTo>
                  <a:lnTo>
                    <a:pt x="469823" y="336804"/>
                  </a:lnTo>
                  <a:lnTo>
                    <a:pt x="469823" y="310692"/>
                  </a:lnTo>
                  <a:lnTo>
                    <a:pt x="469823" y="26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898917" y="1008036"/>
              <a:ext cx="438784" cy="1424305"/>
            </a:xfrm>
            <a:custGeom>
              <a:avLst/>
              <a:gdLst/>
              <a:ahLst/>
              <a:cxnLst/>
              <a:rect l="l" t="t" r="r" b="b"/>
              <a:pathLst>
                <a:path w="438784" h="1424305">
                  <a:moveTo>
                    <a:pt x="135737" y="1122565"/>
                  </a:moveTo>
                  <a:lnTo>
                    <a:pt x="133680" y="1122565"/>
                  </a:lnTo>
                  <a:lnTo>
                    <a:pt x="133680" y="1117549"/>
                  </a:lnTo>
                  <a:lnTo>
                    <a:pt x="2057" y="1117549"/>
                  </a:lnTo>
                  <a:lnTo>
                    <a:pt x="2057" y="1122565"/>
                  </a:lnTo>
                  <a:lnTo>
                    <a:pt x="0" y="1122565"/>
                  </a:lnTo>
                  <a:lnTo>
                    <a:pt x="0" y="1147686"/>
                  </a:lnTo>
                  <a:lnTo>
                    <a:pt x="0" y="1423911"/>
                  </a:lnTo>
                  <a:lnTo>
                    <a:pt x="135737" y="1423911"/>
                  </a:lnTo>
                  <a:lnTo>
                    <a:pt x="135737" y="1392796"/>
                  </a:lnTo>
                  <a:lnTo>
                    <a:pt x="135737" y="1392516"/>
                  </a:lnTo>
                  <a:lnTo>
                    <a:pt x="135737" y="1377480"/>
                  </a:lnTo>
                  <a:lnTo>
                    <a:pt x="120065" y="1377480"/>
                  </a:lnTo>
                  <a:lnTo>
                    <a:pt x="120065" y="1392516"/>
                  </a:lnTo>
                  <a:lnTo>
                    <a:pt x="15671" y="1392516"/>
                  </a:lnTo>
                  <a:lnTo>
                    <a:pt x="15671" y="1377454"/>
                  </a:lnTo>
                  <a:lnTo>
                    <a:pt x="135737" y="1377454"/>
                  </a:lnTo>
                  <a:lnTo>
                    <a:pt x="135737" y="1354848"/>
                  </a:lnTo>
                  <a:lnTo>
                    <a:pt x="15671" y="1354848"/>
                  </a:lnTo>
                  <a:lnTo>
                    <a:pt x="15671" y="1339786"/>
                  </a:lnTo>
                  <a:lnTo>
                    <a:pt x="120065" y="1339786"/>
                  </a:lnTo>
                  <a:lnTo>
                    <a:pt x="120065" y="1354518"/>
                  </a:lnTo>
                  <a:lnTo>
                    <a:pt x="135737" y="1354518"/>
                  </a:lnTo>
                  <a:lnTo>
                    <a:pt x="135737" y="1147851"/>
                  </a:lnTo>
                  <a:lnTo>
                    <a:pt x="120065" y="1147851"/>
                  </a:lnTo>
                  <a:lnTo>
                    <a:pt x="120065" y="1162748"/>
                  </a:lnTo>
                  <a:lnTo>
                    <a:pt x="15671" y="1162748"/>
                  </a:lnTo>
                  <a:lnTo>
                    <a:pt x="15671" y="1147686"/>
                  </a:lnTo>
                  <a:lnTo>
                    <a:pt x="135737" y="1147686"/>
                  </a:lnTo>
                  <a:lnTo>
                    <a:pt x="135737" y="1122565"/>
                  </a:lnTo>
                  <a:close/>
                </a:path>
                <a:path w="438784" h="1424305">
                  <a:moveTo>
                    <a:pt x="211429" y="5029"/>
                  </a:moveTo>
                  <a:lnTo>
                    <a:pt x="209372" y="5029"/>
                  </a:lnTo>
                  <a:lnTo>
                    <a:pt x="209372" y="0"/>
                  </a:lnTo>
                  <a:lnTo>
                    <a:pt x="77749" y="0"/>
                  </a:lnTo>
                  <a:lnTo>
                    <a:pt x="77749" y="5029"/>
                  </a:lnTo>
                  <a:lnTo>
                    <a:pt x="75692" y="5029"/>
                  </a:lnTo>
                  <a:lnTo>
                    <a:pt x="75692" y="30137"/>
                  </a:lnTo>
                  <a:lnTo>
                    <a:pt x="75692" y="306362"/>
                  </a:lnTo>
                  <a:lnTo>
                    <a:pt x="211429" y="306362"/>
                  </a:lnTo>
                  <a:lnTo>
                    <a:pt x="211429" y="275247"/>
                  </a:lnTo>
                  <a:lnTo>
                    <a:pt x="211429" y="274967"/>
                  </a:lnTo>
                  <a:lnTo>
                    <a:pt x="211429" y="259930"/>
                  </a:lnTo>
                  <a:lnTo>
                    <a:pt x="195757" y="259930"/>
                  </a:lnTo>
                  <a:lnTo>
                    <a:pt x="195757" y="274967"/>
                  </a:lnTo>
                  <a:lnTo>
                    <a:pt x="91363" y="274967"/>
                  </a:lnTo>
                  <a:lnTo>
                    <a:pt x="91363" y="259905"/>
                  </a:lnTo>
                  <a:lnTo>
                    <a:pt x="211429" y="259905"/>
                  </a:lnTo>
                  <a:lnTo>
                    <a:pt x="211429" y="237299"/>
                  </a:lnTo>
                  <a:lnTo>
                    <a:pt x="91363" y="237299"/>
                  </a:lnTo>
                  <a:lnTo>
                    <a:pt x="91363" y="222237"/>
                  </a:lnTo>
                  <a:lnTo>
                    <a:pt x="195757" y="222237"/>
                  </a:lnTo>
                  <a:lnTo>
                    <a:pt x="195757" y="236969"/>
                  </a:lnTo>
                  <a:lnTo>
                    <a:pt x="211429" y="236969"/>
                  </a:lnTo>
                  <a:lnTo>
                    <a:pt x="211429" y="30302"/>
                  </a:lnTo>
                  <a:lnTo>
                    <a:pt x="195757" y="30302"/>
                  </a:lnTo>
                  <a:lnTo>
                    <a:pt x="195757" y="45199"/>
                  </a:lnTo>
                  <a:lnTo>
                    <a:pt x="91363" y="45199"/>
                  </a:lnTo>
                  <a:lnTo>
                    <a:pt x="91363" y="30137"/>
                  </a:lnTo>
                  <a:lnTo>
                    <a:pt x="211429" y="30137"/>
                  </a:lnTo>
                  <a:lnTo>
                    <a:pt x="211429" y="5029"/>
                  </a:lnTo>
                  <a:close/>
                </a:path>
                <a:path w="438784" h="1424305">
                  <a:moveTo>
                    <a:pt x="287121" y="1122565"/>
                  </a:moveTo>
                  <a:lnTo>
                    <a:pt x="285064" y="1122565"/>
                  </a:lnTo>
                  <a:lnTo>
                    <a:pt x="285064" y="1117549"/>
                  </a:lnTo>
                  <a:lnTo>
                    <a:pt x="153441" y="1117549"/>
                  </a:lnTo>
                  <a:lnTo>
                    <a:pt x="153441" y="1122565"/>
                  </a:lnTo>
                  <a:lnTo>
                    <a:pt x="151396" y="1122565"/>
                  </a:lnTo>
                  <a:lnTo>
                    <a:pt x="151396" y="1147686"/>
                  </a:lnTo>
                  <a:lnTo>
                    <a:pt x="151396" y="1423911"/>
                  </a:lnTo>
                  <a:lnTo>
                    <a:pt x="287121" y="1423911"/>
                  </a:lnTo>
                  <a:lnTo>
                    <a:pt x="287121" y="1392796"/>
                  </a:lnTo>
                  <a:lnTo>
                    <a:pt x="287121" y="1392516"/>
                  </a:lnTo>
                  <a:lnTo>
                    <a:pt x="287121" y="1377480"/>
                  </a:lnTo>
                  <a:lnTo>
                    <a:pt x="271462" y="1377480"/>
                  </a:lnTo>
                  <a:lnTo>
                    <a:pt x="271462" y="1392516"/>
                  </a:lnTo>
                  <a:lnTo>
                    <a:pt x="167055" y="1392516"/>
                  </a:lnTo>
                  <a:lnTo>
                    <a:pt x="167055" y="1377454"/>
                  </a:lnTo>
                  <a:lnTo>
                    <a:pt x="287121" y="1377454"/>
                  </a:lnTo>
                  <a:lnTo>
                    <a:pt x="287121" y="1354848"/>
                  </a:lnTo>
                  <a:lnTo>
                    <a:pt x="167055" y="1354848"/>
                  </a:lnTo>
                  <a:lnTo>
                    <a:pt x="167055" y="1339786"/>
                  </a:lnTo>
                  <a:lnTo>
                    <a:pt x="271462" y="1339786"/>
                  </a:lnTo>
                  <a:lnTo>
                    <a:pt x="271462" y="1354518"/>
                  </a:lnTo>
                  <a:lnTo>
                    <a:pt x="287121" y="1354518"/>
                  </a:lnTo>
                  <a:lnTo>
                    <a:pt x="287121" y="1147851"/>
                  </a:lnTo>
                  <a:lnTo>
                    <a:pt x="271462" y="1147851"/>
                  </a:lnTo>
                  <a:lnTo>
                    <a:pt x="271462" y="1162748"/>
                  </a:lnTo>
                  <a:lnTo>
                    <a:pt x="167055" y="1162748"/>
                  </a:lnTo>
                  <a:lnTo>
                    <a:pt x="167055" y="1147686"/>
                  </a:lnTo>
                  <a:lnTo>
                    <a:pt x="287121" y="1147686"/>
                  </a:lnTo>
                  <a:lnTo>
                    <a:pt x="287121" y="1122565"/>
                  </a:lnTo>
                  <a:close/>
                </a:path>
                <a:path w="438784" h="1424305">
                  <a:moveTo>
                    <a:pt x="362813" y="5029"/>
                  </a:moveTo>
                  <a:lnTo>
                    <a:pt x="360756" y="5029"/>
                  </a:lnTo>
                  <a:lnTo>
                    <a:pt x="360756" y="0"/>
                  </a:lnTo>
                  <a:lnTo>
                    <a:pt x="229133" y="0"/>
                  </a:lnTo>
                  <a:lnTo>
                    <a:pt x="229133" y="5029"/>
                  </a:lnTo>
                  <a:lnTo>
                    <a:pt x="227088" y="5029"/>
                  </a:lnTo>
                  <a:lnTo>
                    <a:pt x="227088" y="30137"/>
                  </a:lnTo>
                  <a:lnTo>
                    <a:pt x="227088" y="306362"/>
                  </a:lnTo>
                  <a:lnTo>
                    <a:pt x="362813" y="306362"/>
                  </a:lnTo>
                  <a:lnTo>
                    <a:pt x="362813" y="275247"/>
                  </a:lnTo>
                  <a:lnTo>
                    <a:pt x="362813" y="274967"/>
                  </a:lnTo>
                  <a:lnTo>
                    <a:pt x="362813" y="259930"/>
                  </a:lnTo>
                  <a:lnTo>
                    <a:pt x="347154" y="259930"/>
                  </a:lnTo>
                  <a:lnTo>
                    <a:pt x="347154" y="274967"/>
                  </a:lnTo>
                  <a:lnTo>
                    <a:pt x="242747" y="274967"/>
                  </a:lnTo>
                  <a:lnTo>
                    <a:pt x="242747" y="259905"/>
                  </a:lnTo>
                  <a:lnTo>
                    <a:pt x="362813" y="259905"/>
                  </a:lnTo>
                  <a:lnTo>
                    <a:pt x="362813" y="237299"/>
                  </a:lnTo>
                  <a:lnTo>
                    <a:pt x="242747" y="237299"/>
                  </a:lnTo>
                  <a:lnTo>
                    <a:pt x="242747" y="222237"/>
                  </a:lnTo>
                  <a:lnTo>
                    <a:pt x="347154" y="222237"/>
                  </a:lnTo>
                  <a:lnTo>
                    <a:pt x="347154" y="236969"/>
                  </a:lnTo>
                  <a:lnTo>
                    <a:pt x="362813" y="236969"/>
                  </a:lnTo>
                  <a:lnTo>
                    <a:pt x="362813" y="30302"/>
                  </a:lnTo>
                  <a:lnTo>
                    <a:pt x="347154" y="30302"/>
                  </a:lnTo>
                  <a:lnTo>
                    <a:pt x="347154" y="45199"/>
                  </a:lnTo>
                  <a:lnTo>
                    <a:pt x="242747" y="45199"/>
                  </a:lnTo>
                  <a:lnTo>
                    <a:pt x="242747" y="30137"/>
                  </a:lnTo>
                  <a:lnTo>
                    <a:pt x="362813" y="30137"/>
                  </a:lnTo>
                  <a:lnTo>
                    <a:pt x="362813" y="5029"/>
                  </a:lnTo>
                  <a:close/>
                </a:path>
                <a:path w="438784" h="1424305">
                  <a:moveTo>
                    <a:pt x="438505" y="1122565"/>
                  </a:moveTo>
                  <a:lnTo>
                    <a:pt x="436460" y="1122565"/>
                  </a:lnTo>
                  <a:lnTo>
                    <a:pt x="436460" y="1117549"/>
                  </a:lnTo>
                  <a:lnTo>
                    <a:pt x="304838" y="1117549"/>
                  </a:lnTo>
                  <a:lnTo>
                    <a:pt x="304838" y="1122565"/>
                  </a:lnTo>
                  <a:lnTo>
                    <a:pt x="302780" y="1122565"/>
                  </a:lnTo>
                  <a:lnTo>
                    <a:pt x="302780" y="1147686"/>
                  </a:lnTo>
                  <a:lnTo>
                    <a:pt x="302780" y="1423898"/>
                  </a:lnTo>
                  <a:lnTo>
                    <a:pt x="438505" y="1423898"/>
                  </a:lnTo>
                  <a:lnTo>
                    <a:pt x="438505" y="1392783"/>
                  </a:lnTo>
                  <a:lnTo>
                    <a:pt x="438505" y="1392516"/>
                  </a:lnTo>
                  <a:lnTo>
                    <a:pt x="438505" y="1377480"/>
                  </a:lnTo>
                  <a:lnTo>
                    <a:pt x="422846" y="1377480"/>
                  </a:lnTo>
                  <a:lnTo>
                    <a:pt x="422846" y="1392516"/>
                  </a:lnTo>
                  <a:lnTo>
                    <a:pt x="318439" y="1392516"/>
                  </a:lnTo>
                  <a:lnTo>
                    <a:pt x="318439" y="1377454"/>
                  </a:lnTo>
                  <a:lnTo>
                    <a:pt x="438505" y="1377454"/>
                  </a:lnTo>
                  <a:lnTo>
                    <a:pt x="438505" y="1354848"/>
                  </a:lnTo>
                  <a:lnTo>
                    <a:pt x="318439" y="1354848"/>
                  </a:lnTo>
                  <a:lnTo>
                    <a:pt x="318439" y="1339786"/>
                  </a:lnTo>
                  <a:lnTo>
                    <a:pt x="422846" y="1339786"/>
                  </a:lnTo>
                  <a:lnTo>
                    <a:pt x="422846" y="1354518"/>
                  </a:lnTo>
                  <a:lnTo>
                    <a:pt x="438505" y="1354518"/>
                  </a:lnTo>
                  <a:lnTo>
                    <a:pt x="438505" y="1147851"/>
                  </a:lnTo>
                  <a:lnTo>
                    <a:pt x="422846" y="1147851"/>
                  </a:lnTo>
                  <a:lnTo>
                    <a:pt x="422846" y="1162748"/>
                  </a:lnTo>
                  <a:lnTo>
                    <a:pt x="318439" y="1162748"/>
                  </a:lnTo>
                  <a:lnTo>
                    <a:pt x="318439" y="1147686"/>
                  </a:lnTo>
                  <a:lnTo>
                    <a:pt x="438505" y="1147686"/>
                  </a:lnTo>
                  <a:lnTo>
                    <a:pt x="438505" y="1122565"/>
                  </a:lnTo>
                  <a:close/>
                </a:path>
              </a:pathLst>
            </a:custGeom>
            <a:solidFill>
              <a:srgbClr val="2C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883258" y="1114882"/>
              <a:ext cx="469900" cy="337185"/>
            </a:xfrm>
            <a:custGeom>
              <a:avLst/>
              <a:gdLst/>
              <a:ahLst/>
              <a:cxnLst/>
              <a:rect l="l" t="t" r="r" b="b"/>
              <a:pathLst>
                <a:path w="469900" h="337184">
                  <a:moveTo>
                    <a:pt x="469823" y="26098"/>
                  </a:moveTo>
                  <a:lnTo>
                    <a:pt x="467728" y="15938"/>
                  </a:lnTo>
                  <a:lnTo>
                    <a:pt x="462000" y="7645"/>
                  </a:lnTo>
                  <a:lnTo>
                    <a:pt x="453517" y="2044"/>
                  </a:lnTo>
                  <a:lnTo>
                    <a:pt x="443115" y="0"/>
                  </a:lnTo>
                  <a:lnTo>
                    <a:pt x="329488" y="0"/>
                  </a:lnTo>
                  <a:lnTo>
                    <a:pt x="319087" y="2044"/>
                  </a:lnTo>
                  <a:lnTo>
                    <a:pt x="310616" y="7645"/>
                  </a:lnTo>
                  <a:lnTo>
                    <a:pt x="302120" y="2044"/>
                  </a:lnTo>
                  <a:lnTo>
                    <a:pt x="291731" y="0"/>
                  </a:lnTo>
                  <a:lnTo>
                    <a:pt x="178104" y="0"/>
                  </a:lnTo>
                  <a:lnTo>
                    <a:pt x="167703" y="2044"/>
                  </a:lnTo>
                  <a:lnTo>
                    <a:pt x="159219" y="7645"/>
                  </a:lnTo>
                  <a:lnTo>
                    <a:pt x="150736" y="2044"/>
                  </a:lnTo>
                  <a:lnTo>
                    <a:pt x="140335" y="0"/>
                  </a:lnTo>
                  <a:lnTo>
                    <a:pt x="26708" y="0"/>
                  </a:lnTo>
                  <a:lnTo>
                    <a:pt x="16319" y="2044"/>
                  </a:lnTo>
                  <a:lnTo>
                    <a:pt x="7823" y="7645"/>
                  </a:lnTo>
                  <a:lnTo>
                    <a:pt x="2095" y="15938"/>
                  </a:lnTo>
                  <a:lnTo>
                    <a:pt x="0" y="26111"/>
                  </a:lnTo>
                  <a:lnTo>
                    <a:pt x="0" y="336791"/>
                  </a:lnTo>
                  <a:lnTo>
                    <a:pt x="151384" y="336791"/>
                  </a:lnTo>
                  <a:lnTo>
                    <a:pt x="167043" y="336791"/>
                  </a:lnTo>
                  <a:lnTo>
                    <a:pt x="302780" y="336791"/>
                  </a:lnTo>
                  <a:lnTo>
                    <a:pt x="318439" y="336791"/>
                  </a:lnTo>
                  <a:lnTo>
                    <a:pt x="469823" y="336791"/>
                  </a:lnTo>
                  <a:lnTo>
                    <a:pt x="469823" y="310680"/>
                  </a:lnTo>
                  <a:lnTo>
                    <a:pt x="469823" y="26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898917" y="1130503"/>
              <a:ext cx="438784" cy="3368040"/>
            </a:xfrm>
            <a:custGeom>
              <a:avLst/>
              <a:gdLst/>
              <a:ahLst/>
              <a:cxnLst/>
              <a:rect l="l" t="t" r="r" b="b"/>
              <a:pathLst>
                <a:path w="438784" h="3368040">
                  <a:moveTo>
                    <a:pt x="135724" y="5029"/>
                  </a:moveTo>
                  <a:lnTo>
                    <a:pt x="133680" y="5029"/>
                  </a:lnTo>
                  <a:lnTo>
                    <a:pt x="133680" y="0"/>
                  </a:lnTo>
                  <a:lnTo>
                    <a:pt x="2044" y="0"/>
                  </a:lnTo>
                  <a:lnTo>
                    <a:pt x="2044" y="5029"/>
                  </a:lnTo>
                  <a:lnTo>
                    <a:pt x="0" y="5029"/>
                  </a:lnTo>
                  <a:lnTo>
                    <a:pt x="0" y="30137"/>
                  </a:lnTo>
                  <a:lnTo>
                    <a:pt x="0" y="306362"/>
                  </a:lnTo>
                  <a:lnTo>
                    <a:pt x="135724" y="306362"/>
                  </a:lnTo>
                  <a:lnTo>
                    <a:pt x="135724" y="275247"/>
                  </a:lnTo>
                  <a:lnTo>
                    <a:pt x="135724" y="274967"/>
                  </a:lnTo>
                  <a:lnTo>
                    <a:pt x="135724" y="259930"/>
                  </a:lnTo>
                  <a:lnTo>
                    <a:pt x="120065" y="259930"/>
                  </a:lnTo>
                  <a:lnTo>
                    <a:pt x="120065" y="274967"/>
                  </a:lnTo>
                  <a:lnTo>
                    <a:pt x="15659" y="274967"/>
                  </a:lnTo>
                  <a:lnTo>
                    <a:pt x="15659" y="259905"/>
                  </a:lnTo>
                  <a:lnTo>
                    <a:pt x="135724" y="259905"/>
                  </a:lnTo>
                  <a:lnTo>
                    <a:pt x="135724" y="237299"/>
                  </a:lnTo>
                  <a:lnTo>
                    <a:pt x="15659" y="237299"/>
                  </a:lnTo>
                  <a:lnTo>
                    <a:pt x="15659" y="222237"/>
                  </a:lnTo>
                  <a:lnTo>
                    <a:pt x="120065" y="222237"/>
                  </a:lnTo>
                  <a:lnTo>
                    <a:pt x="120065" y="236982"/>
                  </a:lnTo>
                  <a:lnTo>
                    <a:pt x="135724" y="236982"/>
                  </a:lnTo>
                  <a:lnTo>
                    <a:pt x="135724" y="30302"/>
                  </a:lnTo>
                  <a:lnTo>
                    <a:pt x="120065" y="30302"/>
                  </a:lnTo>
                  <a:lnTo>
                    <a:pt x="120065" y="45199"/>
                  </a:lnTo>
                  <a:lnTo>
                    <a:pt x="15659" y="45199"/>
                  </a:lnTo>
                  <a:lnTo>
                    <a:pt x="15659" y="30137"/>
                  </a:lnTo>
                  <a:lnTo>
                    <a:pt x="135724" y="30137"/>
                  </a:lnTo>
                  <a:lnTo>
                    <a:pt x="135724" y="5029"/>
                  </a:lnTo>
                  <a:close/>
                </a:path>
                <a:path w="438784" h="3368040">
                  <a:moveTo>
                    <a:pt x="135890" y="3242792"/>
                  </a:moveTo>
                  <a:lnTo>
                    <a:pt x="131152" y="3238462"/>
                  </a:lnTo>
                  <a:lnTo>
                    <a:pt x="109626" y="3208642"/>
                  </a:lnTo>
                  <a:lnTo>
                    <a:pt x="102450" y="3174708"/>
                  </a:lnTo>
                  <a:lnTo>
                    <a:pt x="109626" y="3140760"/>
                  </a:lnTo>
                  <a:lnTo>
                    <a:pt x="131152" y="3110966"/>
                  </a:lnTo>
                  <a:lnTo>
                    <a:pt x="135813" y="3106636"/>
                  </a:lnTo>
                  <a:lnTo>
                    <a:pt x="135813" y="3099625"/>
                  </a:lnTo>
                  <a:lnTo>
                    <a:pt x="131140" y="3095269"/>
                  </a:lnTo>
                  <a:lnTo>
                    <a:pt x="126403" y="3090964"/>
                  </a:lnTo>
                  <a:lnTo>
                    <a:pt x="118745" y="3090964"/>
                  </a:lnTo>
                  <a:lnTo>
                    <a:pt x="114058" y="3095269"/>
                  </a:lnTo>
                  <a:lnTo>
                    <a:pt x="87236" y="3132417"/>
                  </a:lnTo>
                  <a:lnTo>
                    <a:pt x="78295" y="3174708"/>
                  </a:lnTo>
                  <a:lnTo>
                    <a:pt x="87223" y="3216986"/>
                  </a:lnTo>
                  <a:lnTo>
                    <a:pt x="114020" y="3254121"/>
                  </a:lnTo>
                  <a:lnTo>
                    <a:pt x="116420" y="3256292"/>
                  </a:lnTo>
                  <a:lnTo>
                    <a:pt x="119507" y="3257410"/>
                  </a:lnTo>
                  <a:lnTo>
                    <a:pt x="125691" y="3257410"/>
                  </a:lnTo>
                  <a:lnTo>
                    <a:pt x="128778" y="3256292"/>
                  </a:lnTo>
                  <a:lnTo>
                    <a:pt x="131165" y="3254121"/>
                  </a:lnTo>
                  <a:lnTo>
                    <a:pt x="135813" y="3249790"/>
                  </a:lnTo>
                  <a:lnTo>
                    <a:pt x="135890" y="3242792"/>
                  </a:lnTo>
                  <a:close/>
                </a:path>
                <a:path w="438784" h="3368040">
                  <a:moveTo>
                    <a:pt x="173189" y="3128416"/>
                  </a:moveTo>
                  <a:lnTo>
                    <a:pt x="165227" y="3119653"/>
                  </a:lnTo>
                  <a:lnTo>
                    <a:pt x="158800" y="3119653"/>
                  </a:lnTo>
                  <a:lnTo>
                    <a:pt x="136906" y="3161042"/>
                  </a:lnTo>
                  <a:lnTo>
                    <a:pt x="135636" y="3175304"/>
                  </a:lnTo>
                  <a:lnTo>
                    <a:pt x="136893" y="3189554"/>
                  </a:lnTo>
                  <a:lnTo>
                    <a:pt x="154851" y="3226574"/>
                  </a:lnTo>
                  <a:lnTo>
                    <a:pt x="159423" y="3229851"/>
                  </a:lnTo>
                  <a:lnTo>
                    <a:pt x="164630" y="3229851"/>
                  </a:lnTo>
                  <a:lnTo>
                    <a:pt x="167233" y="3228733"/>
                  </a:lnTo>
                  <a:lnTo>
                    <a:pt x="173189" y="3222193"/>
                  </a:lnTo>
                  <a:lnTo>
                    <a:pt x="173189" y="3215094"/>
                  </a:lnTo>
                  <a:lnTo>
                    <a:pt x="169202" y="3210737"/>
                  </a:lnTo>
                  <a:lnTo>
                    <a:pt x="163499" y="3203067"/>
                  </a:lnTo>
                  <a:lnTo>
                    <a:pt x="159346" y="3194481"/>
                  </a:lnTo>
                  <a:lnTo>
                    <a:pt x="159270" y="3194240"/>
                  </a:lnTo>
                  <a:lnTo>
                    <a:pt x="156781" y="3185147"/>
                  </a:lnTo>
                  <a:lnTo>
                    <a:pt x="155917" y="3175304"/>
                  </a:lnTo>
                  <a:lnTo>
                    <a:pt x="155968" y="3174708"/>
                  </a:lnTo>
                  <a:lnTo>
                    <a:pt x="173189" y="3135515"/>
                  </a:lnTo>
                  <a:lnTo>
                    <a:pt x="173189" y="3128416"/>
                  </a:lnTo>
                  <a:close/>
                </a:path>
                <a:path w="438784" h="3368040">
                  <a:moveTo>
                    <a:pt x="247434" y="3174708"/>
                  </a:moveTo>
                  <a:lnTo>
                    <a:pt x="245224" y="3164040"/>
                  </a:lnTo>
                  <a:lnTo>
                    <a:pt x="239179" y="3155277"/>
                  </a:lnTo>
                  <a:lnTo>
                    <a:pt x="230225" y="3149371"/>
                  </a:lnTo>
                  <a:lnTo>
                    <a:pt x="219252" y="3147212"/>
                  </a:lnTo>
                  <a:lnTo>
                    <a:pt x="208267" y="3149371"/>
                  </a:lnTo>
                  <a:lnTo>
                    <a:pt x="199313" y="3155277"/>
                  </a:lnTo>
                  <a:lnTo>
                    <a:pt x="193268" y="3164040"/>
                  </a:lnTo>
                  <a:lnTo>
                    <a:pt x="191071" y="3174708"/>
                  </a:lnTo>
                  <a:lnTo>
                    <a:pt x="191173" y="3175304"/>
                  </a:lnTo>
                  <a:lnTo>
                    <a:pt x="193268" y="3185490"/>
                  </a:lnTo>
                  <a:lnTo>
                    <a:pt x="199313" y="3194240"/>
                  </a:lnTo>
                  <a:lnTo>
                    <a:pt x="208267" y="3200146"/>
                  </a:lnTo>
                  <a:lnTo>
                    <a:pt x="219252" y="3202317"/>
                  </a:lnTo>
                  <a:lnTo>
                    <a:pt x="230225" y="3200146"/>
                  </a:lnTo>
                  <a:lnTo>
                    <a:pt x="247434" y="3174708"/>
                  </a:lnTo>
                  <a:close/>
                </a:path>
                <a:path w="438784" h="3368040">
                  <a:moveTo>
                    <a:pt x="287108" y="5029"/>
                  </a:moveTo>
                  <a:lnTo>
                    <a:pt x="285064" y="5029"/>
                  </a:lnTo>
                  <a:lnTo>
                    <a:pt x="285064" y="0"/>
                  </a:lnTo>
                  <a:lnTo>
                    <a:pt x="153441" y="0"/>
                  </a:lnTo>
                  <a:lnTo>
                    <a:pt x="153441" y="5029"/>
                  </a:lnTo>
                  <a:lnTo>
                    <a:pt x="151384" y="5029"/>
                  </a:lnTo>
                  <a:lnTo>
                    <a:pt x="151384" y="30137"/>
                  </a:lnTo>
                  <a:lnTo>
                    <a:pt x="151384" y="306362"/>
                  </a:lnTo>
                  <a:lnTo>
                    <a:pt x="287108" y="306362"/>
                  </a:lnTo>
                  <a:lnTo>
                    <a:pt x="287108" y="275247"/>
                  </a:lnTo>
                  <a:lnTo>
                    <a:pt x="287108" y="274967"/>
                  </a:lnTo>
                  <a:lnTo>
                    <a:pt x="287108" y="259930"/>
                  </a:lnTo>
                  <a:lnTo>
                    <a:pt x="271449" y="259930"/>
                  </a:lnTo>
                  <a:lnTo>
                    <a:pt x="271449" y="274967"/>
                  </a:lnTo>
                  <a:lnTo>
                    <a:pt x="167043" y="274967"/>
                  </a:lnTo>
                  <a:lnTo>
                    <a:pt x="167043" y="259905"/>
                  </a:lnTo>
                  <a:lnTo>
                    <a:pt x="287108" y="259905"/>
                  </a:lnTo>
                  <a:lnTo>
                    <a:pt x="287108" y="237299"/>
                  </a:lnTo>
                  <a:lnTo>
                    <a:pt x="167043" y="237299"/>
                  </a:lnTo>
                  <a:lnTo>
                    <a:pt x="167043" y="222237"/>
                  </a:lnTo>
                  <a:lnTo>
                    <a:pt x="271449" y="222237"/>
                  </a:lnTo>
                  <a:lnTo>
                    <a:pt x="271449" y="236982"/>
                  </a:lnTo>
                  <a:lnTo>
                    <a:pt x="287108" y="236982"/>
                  </a:lnTo>
                  <a:lnTo>
                    <a:pt x="287108" y="30302"/>
                  </a:lnTo>
                  <a:lnTo>
                    <a:pt x="271449" y="30302"/>
                  </a:lnTo>
                  <a:lnTo>
                    <a:pt x="271449" y="45199"/>
                  </a:lnTo>
                  <a:lnTo>
                    <a:pt x="167043" y="45199"/>
                  </a:lnTo>
                  <a:lnTo>
                    <a:pt x="167043" y="30137"/>
                  </a:lnTo>
                  <a:lnTo>
                    <a:pt x="287108" y="30137"/>
                  </a:lnTo>
                  <a:lnTo>
                    <a:pt x="287108" y="5029"/>
                  </a:lnTo>
                  <a:close/>
                </a:path>
                <a:path w="438784" h="3368040">
                  <a:moveTo>
                    <a:pt x="298856" y="3367125"/>
                  </a:moveTo>
                  <a:lnTo>
                    <a:pt x="298831" y="3366287"/>
                  </a:lnTo>
                  <a:lnTo>
                    <a:pt x="292404" y="3348329"/>
                  </a:lnTo>
                  <a:lnTo>
                    <a:pt x="285470" y="3328974"/>
                  </a:lnTo>
                  <a:lnTo>
                    <a:pt x="285394" y="3328771"/>
                  </a:lnTo>
                  <a:lnTo>
                    <a:pt x="285318" y="3328555"/>
                  </a:lnTo>
                  <a:lnTo>
                    <a:pt x="278587" y="3309759"/>
                  </a:lnTo>
                  <a:lnTo>
                    <a:pt x="271653" y="3290405"/>
                  </a:lnTo>
                  <a:lnTo>
                    <a:pt x="271589" y="3290214"/>
                  </a:lnTo>
                  <a:lnTo>
                    <a:pt x="271500" y="3289985"/>
                  </a:lnTo>
                  <a:lnTo>
                    <a:pt x="264769" y="3271189"/>
                  </a:lnTo>
                  <a:lnTo>
                    <a:pt x="264274" y="3269818"/>
                  </a:lnTo>
                  <a:lnTo>
                    <a:pt x="264274" y="3328162"/>
                  </a:lnTo>
                  <a:lnTo>
                    <a:pt x="263969" y="3328771"/>
                  </a:lnTo>
                  <a:lnTo>
                    <a:pt x="263398" y="3328974"/>
                  </a:lnTo>
                  <a:lnTo>
                    <a:pt x="177050" y="3328974"/>
                  </a:lnTo>
                  <a:lnTo>
                    <a:pt x="176618" y="3328555"/>
                  </a:lnTo>
                  <a:lnTo>
                    <a:pt x="176631" y="3327717"/>
                  </a:lnTo>
                  <a:lnTo>
                    <a:pt x="257365" y="3309759"/>
                  </a:lnTo>
                  <a:lnTo>
                    <a:pt x="264274" y="3328162"/>
                  </a:lnTo>
                  <a:lnTo>
                    <a:pt x="264274" y="3269818"/>
                  </a:lnTo>
                  <a:lnTo>
                    <a:pt x="257848" y="3251847"/>
                  </a:lnTo>
                  <a:lnTo>
                    <a:pt x="257771" y="3251644"/>
                  </a:lnTo>
                  <a:lnTo>
                    <a:pt x="257695" y="3251416"/>
                  </a:lnTo>
                  <a:lnTo>
                    <a:pt x="250964" y="3232620"/>
                  </a:lnTo>
                  <a:lnTo>
                    <a:pt x="250456" y="3231210"/>
                  </a:lnTo>
                  <a:lnTo>
                    <a:pt x="250456" y="3289592"/>
                  </a:lnTo>
                  <a:lnTo>
                    <a:pt x="250164" y="3290214"/>
                  </a:lnTo>
                  <a:lnTo>
                    <a:pt x="249580" y="3290405"/>
                  </a:lnTo>
                  <a:lnTo>
                    <a:pt x="190868" y="3290405"/>
                  </a:lnTo>
                  <a:lnTo>
                    <a:pt x="190436" y="3289985"/>
                  </a:lnTo>
                  <a:lnTo>
                    <a:pt x="190449" y="3289147"/>
                  </a:lnTo>
                  <a:lnTo>
                    <a:pt x="196786" y="3271469"/>
                  </a:lnTo>
                  <a:lnTo>
                    <a:pt x="197192" y="3271189"/>
                  </a:lnTo>
                  <a:lnTo>
                    <a:pt x="243560" y="3271189"/>
                  </a:lnTo>
                  <a:lnTo>
                    <a:pt x="243967" y="3271469"/>
                  </a:lnTo>
                  <a:lnTo>
                    <a:pt x="250456" y="3289592"/>
                  </a:lnTo>
                  <a:lnTo>
                    <a:pt x="250456" y="3231210"/>
                  </a:lnTo>
                  <a:lnTo>
                    <a:pt x="250024" y="3230003"/>
                  </a:lnTo>
                  <a:lnTo>
                    <a:pt x="249974" y="3229851"/>
                  </a:lnTo>
                  <a:lnTo>
                    <a:pt x="247548" y="3223069"/>
                  </a:lnTo>
                  <a:lnTo>
                    <a:pt x="247357" y="3223069"/>
                  </a:lnTo>
                  <a:lnTo>
                    <a:pt x="246951" y="3222879"/>
                  </a:lnTo>
                  <a:lnTo>
                    <a:pt x="246367" y="3223069"/>
                  </a:lnTo>
                  <a:lnTo>
                    <a:pt x="240779" y="3226041"/>
                  </a:lnTo>
                  <a:lnTo>
                    <a:pt x="236651" y="3227451"/>
                  </a:lnTo>
                  <a:lnTo>
                    <a:pt x="236651" y="3251022"/>
                  </a:lnTo>
                  <a:lnTo>
                    <a:pt x="236347" y="3251644"/>
                  </a:lnTo>
                  <a:lnTo>
                    <a:pt x="235762" y="3251847"/>
                  </a:lnTo>
                  <a:lnTo>
                    <a:pt x="204673" y="3251847"/>
                  </a:lnTo>
                  <a:lnTo>
                    <a:pt x="204241" y="3251416"/>
                  </a:lnTo>
                  <a:lnTo>
                    <a:pt x="204266" y="3250577"/>
                  </a:lnTo>
                  <a:lnTo>
                    <a:pt x="210591" y="3232899"/>
                  </a:lnTo>
                  <a:lnTo>
                    <a:pt x="211010" y="3232620"/>
                  </a:lnTo>
                  <a:lnTo>
                    <a:pt x="229743" y="3232620"/>
                  </a:lnTo>
                  <a:lnTo>
                    <a:pt x="230162" y="3232899"/>
                  </a:lnTo>
                  <a:lnTo>
                    <a:pt x="236651" y="3251022"/>
                  </a:lnTo>
                  <a:lnTo>
                    <a:pt x="236651" y="3227451"/>
                  </a:lnTo>
                  <a:lnTo>
                    <a:pt x="234886" y="3228048"/>
                  </a:lnTo>
                  <a:lnTo>
                    <a:pt x="223189" y="3230003"/>
                  </a:lnTo>
                  <a:lnTo>
                    <a:pt x="216662" y="3230003"/>
                  </a:lnTo>
                  <a:lnTo>
                    <a:pt x="205701" y="3228581"/>
                  </a:lnTo>
                  <a:lnTo>
                    <a:pt x="199720" y="3226803"/>
                  </a:lnTo>
                  <a:lnTo>
                    <a:pt x="193611" y="3223831"/>
                  </a:lnTo>
                  <a:lnTo>
                    <a:pt x="192938" y="3224060"/>
                  </a:lnTo>
                  <a:lnTo>
                    <a:pt x="192671" y="3224593"/>
                  </a:lnTo>
                  <a:lnTo>
                    <a:pt x="141757" y="3366732"/>
                  </a:lnTo>
                  <a:lnTo>
                    <a:pt x="142049" y="3367316"/>
                  </a:lnTo>
                  <a:lnTo>
                    <a:pt x="142633" y="3367544"/>
                  </a:lnTo>
                  <a:lnTo>
                    <a:pt x="162115" y="3367544"/>
                  </a:lnTo>
                  <a:lnTo>
                    <a:pt x="162458" y="3367316"/>
                  </a:lnTo>
                  <a:lnTo>
                    <a:pt x="162521" y="3367125"/>
                  </a:lnTo>
                  <a:lnTo>
                    <a:pt x="169151" y="3348609"/>
                  </a:lnTo>
                  <a:lnTo>
                    <a:pt x="169570" y="3348329"/>
                  </a:lnTo>
                  <a:lnTo>
                    <a:pt x="271170" y="3348329"/>
                  </a:lnTo>
                  <a:lnTo>
                    <a:pt x="271602" y="3348609"/>
                  </a:lnTo>
                  <a:lnTo>
                    <a:pt x="278295" y="3367316"/>
                  </a:lnTo>
                  <a:lnTo>
                    <a:pt x="278638" y="3367544"/>
                  </a:lnTo>
                  <a:lnTo>
                    <a:pt x="298411" y="3367544"/>
                  </a:lnTo>
                  <a:lnTo>
                    <a:pt x="298856" y="3367125"/>
                  </a:lnTo>
                  <a:close/>
                </a:path>
                <a:path w="438784" h="3368040">
                  <a:moveTo>
                    <a:pt x="303822" y="3175304"/>
                  </a:moveTo>
                  <a:lnTo>
                    <a:pt x="292823" y="3135084"/>
                  </a:lnTo>
                  <a:lnTo>
                    <a:pt x="280644" y="3119653"/>
                  </a:lnTo>
                  <a:lnTo>
                    <a:pt x="274231" y="3119653"/>
                  </a:lnTo>
                  <a:lnTo>
                    <a:pt x="266268" y="3128416"/>
                  </a:lnTo>
                  <a:lnTo>
                    <a:pt x="266268" y="3135515"/>
                  </a:lnTo>
                  <a:lnTo>
                    <a:pt x="270256" y="3139897"/>
                  </a:lnTo>
                  <a:lnTo>
                    <a:pt x="275945" y="3147530"/>
                  </a:lnTo>
                  <a:lnTo>
                    <a:pt x="280111" y="3156127"/>
                  </a:lnTo>
                  <a:lnTo>
                    <a:pt x="282663" y="3165462"/>
                  </a:lnTo>
                  <a:lnTo>
                    <a:pt x="283527" y="3175304"/>
                  </a:lnTo>
                  <a:lnTo>
                    <a:pt x="282663" y="3185147"/>
                  </a:lnTo>
                  <a:lnTo>
                    <a:pt x="266268" y="3215094"/>
                  </a:lnTo>
                  <a:lnTo>
                    <a:pt x="266268" y="3222193"/>
                  </a:lnTo>
                  <a:lnTo>
                    <a:pt x="272224" y="3228733"/>
                  </a:lnTo>
                  <a:lnTo>
                    <a:pt x="274828" y="3229851"/>
                  </a:lnTo>
                  <a:lnTo>
                    <a:pt x="280035" y="3229851"/>
                  </a:lnTo>
                  <a:lnTo>
                    <a:pt x="302564" y="3189554"/>
                  </a:lnTo>
                  <a:lnTo>
                    <a:pt x="303822" y="3175304"/>
                  </a:lnTo>
                  <a:close/>
                </a:path>
                <a:path w="438784" h="3368040">
                  <a:moveTo>
                    <a:pt x="360197" y="3174708"/>
                  </a:moveTo>
                  <a:lnTo>
                    <a:pt x="351256" y="3132417"/>
                  </a:lnTo>
                  <a:lnTo>
                    <a:pt x="324434" y="3095269"/>
                  </a:lnTo>
                  <a:lnTo>
                    <a:pt x="319747" y="3090964"/>
                  </a:lnTo>
                  <a:lnTo>
                    <a:pt x="312102" y="3090964"/>
                  </a:lnTo>
                  <a:lnTo>
                    <a:pt x="307352" y="3095269"/>
                  </a:lnTo>
                  <a:lnTo>
                    <a:pt x="302679" y="3099625"/>
                  </a:lnTo>
                  <a:lnTo>
                    <a:pt x="302679" y="3106636"/>
                  </a:lnTo>
                  <a:lnTo>
                    <a:pt x="307340" y="3110966"/>
                  </a:lnTo>
                  <a:lnTo>
                    <a:pt x="328866" y="3140760"/>
                  </a:lnTo>
                  <a:lnTo>
                    <a:pt x="336042" y="3174708"/>
                  </a:lnTo>
                  <a:lnTo>
                    <a:pt x="335915" y="3175304"/>
                  </a:lnTo>
                  <a:lnTo>
                    <a:pt x="328866" y="3208642"/>
                  </a:lnTo>
                  <a:lnTo>
                    <a:pt x="307340" y="3238462"/>
                  </a:lnTo>
                  <a:lnTo>
                    <a:pt x="302615" y="3242792"/>
                  </a:lnTo>
                  <a:lnTo>
                    <a:pt x="302679" y="3249790"/>
                  </a:lnTo>
                  <a:lnTo>
                    <a:pt x="307340" y="3254121"/>
                  </a:lnTo>
                  <a:lnTo>
                    <a:pt x="309714" y="3256292"/>
                  </a:lnTo>
                  <a:lnTo>
                    <a:pt x="312801" y="3257410"/>
                  </a:lnTo>
                  <a:lnTo>
                    <a:pt x="318985" y="3257410"/>
                  </a:lnTo>
                  <a:lnTo>
                    <a:pt x="322072" y="3256292"/>
                  </a:lnTo>
                  <a:lnTo>
                    <a:pt x="324459" y="3254121"/>
                  </a:lnTo>
                  <a:lnTo>
                    <a:pt x="351269" y="3216986"/>
                  </a:lnTo>
                  <a:lnTo>
                    <a:pt x="360197" y="3174708"/>
                  </a:lnTo>
                  <a:close/>
                </a:path>
                <a:path w="438784" h="3368040">
                  <a:moveTo>
                    <a:pt x="438505" y="5029"/>
                  </a:moveTo>
                  <a:lnTo>
                    <a:pt x="436448" y="5029"/>
                  </a:lnTo>
                  <a:lnTo>
                    <a:pt x="436448" y="0"/>
                  </a:lnTo>
                  <a:lnTo>
                    <a:pt x="304825" y="0"/>
                  </a:lnTo>
                  <a:lnTo>
                    <a:pt x="304825" y="5029"/>
                  </a:lnTo>
                  <a:lnTo>
                    <a:pt x="302768" y="5029"/>
                  </a:lnTo>
                  <a:lnTo>
                    <a:pt x="302768" y="30137"/>
                  </a:lnTo>
                  <a:lnTo>
                    <a:pt x="302768" y="306362"/>
                  </a:lnTo>
                  <a:lnTo>
                    <a:pt x="438505" y="306362"/>
                  </a:lnTo>
                  <a:lnTo>
                    <a:pt x="438505" y="275247"/>
                  </a:lnTo>
                  <a:lnTo>
                    <a:pt x="438505" y="274967"/>
                  </a:lnTo>
                  <a:lnTo>
                    <a:pt x="438505" y="259930"/>
                  </a:lnTo>
                  <a:lnTo>
                    <a:pt x="422833" y="259930"/>
                  </a:lnTo>
                  <a:lnTo>
                    <a:pt x="422833" y="274967"/>
                  </a:lnTo>
                  <a:lnTo>
                    <a:pt x="318439" y="274967"/>
                  </a:lnTo>
                  <a:lnTo>
                    <a:pt x="318439" y="259905"/>
                  </a:lnTo>
                  <a:lnTo>
                    <a:pt x="438505" y="259905"/>
                  </a:lnTo>
                  <a:lnTo>
                    <a:pt x="438505" y="237299"/>
                  </a:lnTo>
                  <a:lnTo>
                    <a:pt x="318439" y="237299"/>
                  </a:lnTo>
                  <a:lnTo>
                    <a:pt x="318439" y="222237"/>
                  </a:lnTo>
                  <a:lnTo>
                    <a:pt x="422833" y="222237"/>
                  </a:lnTo>
                  <a:lnTo>
                    <a:pt x="422833" y="236982"/>
                  </a:lnTo>
                  <a:lnTo>
                    <a:pt x="438505" y="236982"/>
                  </a:lnTo>
                  <a:lnTo>
                    <a:pt x="438505" y="30302"/>
                  </a:lnTo>
                  <a:lnTo>
                    <a:pt x="422833" y="30302"/>
                  </a:lnTo>
                  <a:lnTo>
                    <a:pt x="422833" y="45199"/>
                  </a:lnTo>
                  <a:lnTo>
                    <a:pt x="318439" y="45199"/>
                  </a:lnTo>
                  <a:lnTo>
                    <a:pt x="318439" y="30137"/>
                  </a:lnTo>
                  <a:lnTo>
                    <a:pt x="438505" y="30137"/>
                  </a:lnTo>
                  <a:lnTo>
                    <a:pt x="438505" y="5029"/>
                  </a:lnTo>
                  <a:close/>
                </a:path>
              </a:pathLst>
            </a:custGeom>
            <a:solidFill>
              <a:srgbClr val="2C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6332804" y="1007681"/>
              <a:ext cx="438784" cy="3490595"/>
            </a:xfrm>
            <a:custGeom>
              <a:avLst/>
              <a:gdLst/>
              <a:ahLst/>
              <a:cxnLst/>
              <a:rect l="l" t="t" r="r" b="b"/>
              <a:pathLst>
                <a:path w="438784" h="3490595">
                  <a:moveTo>
                    <a:pt x="125285" y="15341"/>
                  </a:moveTo>
                  <a:lnTo>
                    <a:pt x="31330" y="15341"/>
                  </a:lnTo>
                  <a:lnTo>
                    <a:pt x="31330" y="275590"/>
                  </a:lnTo>
                  <a:lnTo>
                    <a:pt x="125285" y="275590"/>
                  </a:lnTo>
                  <a:lnTo>
                    <a:pt x="125285" y="15341"/>
                  </a:lnTo>
                  <a:close/>
                </a:path>
                <a:path w="438784" h="3490595">
                  <a:moveTo>
                    <a:pt x="125298" y="306209"/>
                  </a:moveTo>
                  <a:lnTo>
                    <a:pt x="31330" y="306209"/>
                  </a:lnTo>
                  <a:lnTo>
                    <a:pt x="31330" y="398056"/>
                  </a:lnTo>
                  <a:lnTo>
                    <a:pt x="125298" y="398056"/>
                  </a:lnTo>
                  <a:lnTo>
                    <a:pt x="125298" y="306209"/>
                  </a:lnTo>
                  <a:close/>
                </a:path>
                <a:path w="438784" h="3490595">
                  <a:moveTo>
                    <a:pt x="135902" y="3365614"/>
                  </a:moveTo>
                  <a:lnTo>
                    <a:pt x="131165" y="3361283"/>
                  </a:lnTo>
                  <a:lnTo>
                    <a:pt x="109639" y="3331464"/>
                  </a:lnTo>
                  <a:lnTo>
                    <a:pt x="102463" y="3297529"/>
                  </a:lnTo>
                  <a:lnTo>
                    <a:pt x="109639" y="3263582"/>
                  </a:lnTo>
                  <a:lnTo>
                    <a:pt x="131165" y="3233788"/>
                  </a:lnTo>
                  <a:lnTo>
                    <a:pt x="135826" y="3229457"/>
                  </a:lnTo>
                  <a:lnTo>
                    <a:pt x="135826" y="3222447"/>
                  </a:lnTo>
                  <a:lnTo>
                    <a:pt x="131152" y="3218091"/>
                  </a:lnTo>
                  <a:lnTo>
                    <a:pt x="126403" y="3213785"/>
                  </a:lnTo>
                  <a:lnTo>
                    <a:pt x="118757" y="3213785"/>
                  </a:lnTo>
                  <a:lnTo>
                    <a:pt x="114071" y="3218091"/>
                  </a:lnTo>
                  <a:lnTo>
                    <a:pt x="87249" y="3255238"/>
                  </a:lnTo>
                  <a:lnTo>
                    <a:pt x="78308" y="3297529"/>
                  </a:lnTo>
                  <a:lnTo>
                    <a:pt x="87236" y="3339808"/>
                  </a:lnTo>
                  <a:lnTo>
                    <a:pt x="114033" y="3376942"/>
                  </a:lnTo>
                  <a:lnTo>
                    <a:pt x="116433" y="3379114"/>
                  </a:lnTo>
                  <a:lnTo>
                    <a:pt x="119519" y="3380232"/>
                  </a:lnTo>
                  <a:lnTo>
                    <a:pt x="125704" y="3380232"/>
                  </a:lnTo>
                  <a:lnTo>
                    <a:pt x="128790" y="3379114"/>
                  </a:lnTo>
                  <a:lnTo>
                    <a:pt x="131178" y="3376942"/>
                  </a:lnTo>
                  <a:lnTo>
                    <a:pt x="135826" y="3372612"/>
                  </a:lnTo>
                  <a:lnTo>
                    <a:pt x="135902" y="3365614"/>
                  </a:lnTo>
                  <a:close/>
                </a:path>
                <a:path w="438784" h="3490595">
                  <a:moveTo>
                    <a:pt x="156616" y="15341"/>
                  </a:moveTo>
                  <a:lnTo>
                    <a:pt x="140957" y="15341"/>
                  </a:lnTo>
                  <a:lnTo>
                    <a:pt x="140957" y="275590"/>
                  </a:lnTo>
                  <a:lnTo>
                    <a:pt x="156616" y="275590"/>
                  </a:lnTo>
                  <a:lnTo>
                    <a:pt x="156616" y="15341"/>
                  </a:lnTo>
                  <a:close/>
                </a:path>
                <a:path w="438784" h="3490595">
                  <a:moveTo>
                    <a:pt x="173202" y="3251238"/>
                  </a:moveTo>
                  <a:lnTo>
                    <a:pt x="165239" y="3242475"/>
                  </a:lnTo>
                  <a:lnTo>
                    <a:pt x="158813" y="3242475"/>
                  </a:lnTo>
                  <a:lnTo>
                    <a:pt x="136918" y="3283864"/>
                  </a:lnTo>
                  <a:lnTo>
                    <a:pt x="135648" y="3298126"/>
                  </a:lnTo>
                  <a:lnTo>
                    <a:pt x="136906" y="3312376"/>
                  </a:lnTo>
                  <a:lnTo>
                    <a:pt x="154863" y="3349396"/>
                  </a:lnTo>
                  <a:lnTo>
                    <a:pt x="159435" y="3352673"/>
                  </a:lnTo>
                  <a:lnTo>
                    <a:pt x="164642" y="3352673"/>
                  </a:lnTo>
                  <a:lnTo>
                    <a:pt x="167233" y="3351555"/>
                  </a:lnTo>
                  <a:lnTo>
                    <a:pt x="173202" y="3345015"/>
                  </a:lnTo>
                  <a:lnTo>
                    <a:pt x="173202" y="3337915"/>
                  </a:lnTo>
                  <a:lnTo>
                    <a:pt x="169214" y="3333559"/>
                  </a:lnTo>
                  <a:lnTo>
                    <a:pt x="163512" y="3325888"/>
                  </a:lnTo>
                  <a:lnTo>
                    <a:pt x="159359" y="3317303"/>
                  </a:lnTo>
                  <a:lnTo>
                    <a:pt x="159283" y="3317062"/>
                  </a:lnTo>
                  <a:lnTo>
                    <a:pt x="156794" y="3307969"/>
                  </a:lnTo>
                  <a:lnTo>
                    <a:pt x="155930" y="3298126"/>
                  </a:lnTo>
                  <a:lnTo>
                    <a:pt x="155981" y="3297529"/>
                  </a:lnTo>
                  <a:lnTo>
                    <a:pt x="173202" y="3258337"/>
                  </a:lnTo>
                  <a:lnTo>
                    <a:pt x="173202" y="3251238"/>
                  </a:lnTo>
                  <a:close/>
                </a:path>
                <a:path w="438784" h="3490595">
                  <a:moveTo>
                    <a:pt x="247446" y="3297529"/>
                  </a:moveTo>
                  <a:lnTo>
                    <a:pt x="245237" y="3286861"/>
                  </a:lnTo>
                  <a:lnTo>
                    <a:pt x="239191" y="3278098"/>
                  </a:lnTo>
                  <a:lnTo>
                    <a:pt x="230238" y="3272193"/>
                  </a:lnTo>
                  <a:lnTo>
                    <a:pt x="219265" y="3270034"/>
                  </a:lnTo>
                  <a:lnTo>
                    <a:pt x="208280" y="3272193"/>
                  </a:lnTo>
                  <a:lnTo>
                    <a:pt x="199326" y="3278098"/>
                  </a:lnTo>
                  <a:lnTo>
                    <a:pt x="193281" y="3286861"/>
                  </a:lnTo>
                  <a:lnTo>
                    <a:pt x="191084" y="3297529"/>
                  </a:lnTo>
                  <a:lnTo>
                    <a:pt x="191173" y="3298126"/>
                  </a:lnTo>
                  <a:lnTo>
                    <a:pt x="193281" y="3308312"/>
                  </a:lnTo>
                  <a:lnTo>
                    <a:pt x="199326" y="3317062"/>
                  </a:lnTo>
                  <a:lnTo>
                    <a:pt x="208280" y="3322967"/>
                  </a:lnTo>
                  <a:lnTo>
                    <a:pt x="219265" y="3325139"/>
                  </a:lnTo>
                  <a:lnTo>
                    <a:pt x="230238" y="3322967"/>
                  </a:lnTo>
                  <a:lnTo>
                    <a:pt x="239191" y="3317062"/>
                  </a:lnTo>
                  <a:lnTo>
                    <a:pt x="245237" y="3308312"/>
                  </a:lnTo>
                  <a:lnTo>
                    <a:pt x="245300" y="3307969"/>
                  </a:lnTo>
                  <a:lnTo>
                    <a:pt x="247345" y="3298126"/>
                  </a:lnTo>
                  <a:lnTo>
                    <a:pt x="247446" y="3297529"/>
                  </a:lnTo>
                  <a:close/>
                </a:path>
                <a:path w="438784" h="3490595">
                  <a:moveTo>
                    <a:pt x="266242" y="306209"/>
                  </a:moveTo>
                  <a:lnTo>
                    <a:pt x="172275" y="306209"/>
                  </a:lnTo>
                  <a:lnTo>
                    <a:pt x="172275" y="398056"/>
                  </a:lnTo>
                  <a:lnTo>
                    <a:pt x="266242" y="398056"/>
                  </a:lnTo>
                  <a:lnTo>
                    <a:pt x="266242" y="306209"/>
                  </a:lnTo>
                  <a:close/>
                </a:path>
                <a:path w="438784" h="3490595">
                  <a:moveTo>
                    <a:pt x="266242" y="15341"/>
                  </a:moveTo>
                  <a:lnTo>
                    <a:pt x="172275" y="15341"/>
                  </a:lnTo>
                  <a:lnTo>
                    <a:pt x="172275" y="275590"/>
                  </a:lnTo>
                  <a:lnTo>
                    <a:pt x="266242" y="275590"/>
                  </a:lnTo>
                  <a:lnTo>
                    <a:pt x="266242" y="15341"/>
                  </a:lnTo>
                  <a:close/>
                </a:path>
                <a:path w="438784" h="3490595">
                  <a:moveTo>
                    <a:pt x="297561" y="15341"/>
                  </a:moveTo>
                  <a:lnTo>
                    <a:pt x="281901" y="15341"/>
                  </a:lnTo>
                  <a:lnTo>
                    <a:pt x="281901" y="275590"/>
                  </a:lnTo>
                  <a:lnTo>
                    <a:pt x="297561" y="275590"/>
                  </a:lnTo>
                  <a:lnTo>
                    <a:pt x="297561" y="15341"/>
                  </a:lnTo>
                  <a:close/>
                </a:path>
                <a:path w="438784" h="3490595">
                  <a:moveTo>
                    <a:pt x="298869" y="3489947"/>
                  </a:moveTo>
                  <a:lnTo>
                    <a:pt x="298843" y="3489109"/>
                  </a:lnTo>
                  <a:lnTo>
                    <a:pt x="292417" y="3471151"/>
                  </a:lnTo>
                  <a:lnTo>
                    <a:pt x="285483" y="3451796"/>
                  </a:lnTo>
                  <a:lnTo>
                    <a:pt x="285407" y="3451593"/>
                  </a:lnTo>
                  <a:lnTo>
                    <a:pt x="285330" y="3451364"/>
                  </a:lnTo>
                  <a:lnTo>
                    <a:pt x="278599" y="3432581"/>
                  </a:lnTo>
                  <a:lnTo>
                    <a:pt x="271665" y="3413226"/>
                  </a:lnTo>
                  <a:lnTo>
                    <a:pt x="271602" y="3413023"/>
                  </a:lnTo>
                  <a:lnTo>
                    <a:pt x="271513" y="3412807"/>
                  </a:lnTo>
                  <a:lnTo>
                    <a:pt x="264782" y="3394011"/>
                  </a:lnTo>
                  <a:lnTo>
                    <a:pt x="264287" y="3392640"/>
                  </a:lnTo>
                  <a:lnTo>
                    <a:pt x="264287" y="3450983"/>
                  </a:lnTo>
                  <a:lnTo>
                    <a:pt x="263982" y="3451593"/>
                  </a:lnTo>
                  <a:lnTo>
                    <a:pt x="263410" y="3451796"/>
                  </a:lnTo>
                  <a:lnTo>
                    <a:pt x="177063" y="3451796"/>
                  </a:lnTo>
                  <a:lnTo>
                    <a:pt x="176631" y="3451364"/>
                  </a:lnTo>
                  <a:lnTo>
                    <a:pt x="176644" y="3450539"/>
                  </a:lnTo>
                  <a:lnTo>
                    <a:pt x="182981" y="3432860"/>
                  </a:lnTo>
                  <a:lnTo>
                    <a:pt x="183388" y="3432581"/>
                  </a:lnTo>
                  <a:lnTo>
                    <a:pt x="257378" y="3432581"/>
                  </a:lnTo>
                  <a:lnTo>
                    <a:pt x="257797" y="3432860"/>
                  </a:lnTo>
                  <a:lnTo>
                    <a:pt x="264287" y="3450983"/>
                  </a:lnTo>
                  <a:lnTo>
                    <a:pt x="264287" y="3392640"/>
                  </a:lnTo>
                  <a:lnTo>
                    <a:pt x="257860" y="3374669"/>
                  </a:lnTo>
                  <a:lnTo>
                    <a:pt x="257784" y="3374466"/>
                  </a:lnTo>
                  <a:lnTo>
                    <a:pt x="257708" y="3374237"/>
                  </a:lnTo>
                  <a:lnTo>
                    <a:pt x="250977" y="3355441"/>
                  </a:lnTo>
                  <a:lnTo>
                    <a:pt x="250469" y="3354032"/>
                  </a:lnTo>
                  <a:lnTo>
                    <a:pt x="250469" y="3412413"/>
                  </a:lnTo>
                  <a:lnTo>
                    <a:pt x="250177" y="3413023"/>
                  </a:lnTo>
                  <a:lnTo>
                    <a:pt x="249593" y="3413226"/>
                  </a:lnTo>
                  <a:lnTo>
                    <a:pt x="190881" y="3413226"/>
                  </a:lnTo>
                  <a:lnTo>
                    <a:pt x="190449" y="3412807"/>
                  </a:lnTo>
                  <a:lnTo>
                    <a:pt x="190461" y="3411969"/>
                  </a:lnTo>
                  <a:lnTo>
                    <a:pt x="196799" y="3394291"/>
                  </a:lnTo>
                  <a:lnTo>
                    <a:pt x="197205" y="3394011"/>
                  </a:lnTo>
                  <a:lnTo>
                    <a:pt x="243560" y="3394011"/>
                  </a:lnTo>
                  <a:lnTo>
                    <a:pt x="243979" y="3394291"/>
                  </a:lnTo>
                  <a:lnTo>
                    <a:pt x="250469" y="3412413"/>
                  </a:lnTo>
                  <a:lnTo>
                    <a:pt x="250469" y="3354032"/>
                  </a:lnTo>
                  <a:lnTo>
                    <a:pt x="250037" y="3352825"/>
                  </a:lnTo>
                  <a:lnTo>
                    <a:pt x="249986" y="3352673"/>
                  </a:lnTo>
                  <a:lnTo>
                    <a:pt x="247561" y="3345891"/>
                  </a:lnTo>
                  <a:lnTo>
                    <a:pt x="247370" y="3345891"/>
                  </a:lnTo>
                  <a:lnTo>
                    <a:pt x="246964" y="3345700"/>
                  </a:lnTo>
                  <a:lnTo>
                    <a:pt x="246380" y="3345891"/>
                  </a:lnTo>
                  <a:lnTo>
                    <a:pt x="240792" y="3348863"/>
                  </a:lnTo>
                  <a:lnTo>
                    <a:pt x="236664" y="3350260"/>
                  </a:lnTo>
                  <a:lnTo>
                    <a:pt x="236664" y="3373844"/>
                  </a:lnTo>
                  <a:lnTo>
                    <a:pt x="236359" y="3374466"/>
                  </a:lnTo>
                  <a:lnTo>
                    <a:pt x="235788" y="3374669"/>
                  </a:lnTo>
                  <a:lnTo>
                    <a:pt x="204685" y="3374669"/>
                  </a:lnTo>
                  <a:lnTo>
                    <a:pt x="204254" y="3374237"/>
                  </a:lnTo>
                  <a:lnTo>
                    <a:pt x="204279" y="3373399"/>
                  </a:lnTo>
                  <a:lnTo>
                    <a:pt x="210604" y="3355721"/>
                  </a:lnTo>
                  <a:lnTo>
                    <a:pt x="211023" y="3355441"/>
                  </a:lnTo>
                  <a:lnTo>
                    <a:pt x="229755" y="3355441"/>
                  </a:lnTo>
                  <a:lnTo>
                    <a:pt x="230174" y="3355721"/>
                  </a:lnTo>
                  <a:lnTo>
                    <a:pt x="236664" y="3373844"/>
                  </a:lnTo>
                  <a:lnTo>
                    <a:pt x="236664" y="3350260"/>
                  </a:lnTo>
                  <a:lnTo>
                    <a:pt x="234899" y="3350857"/>
                  </a:lnTo>
                  <a:lnTo>
                    <a:pt x="223202" y="3352825"/>
                  </a:lnTo>
                  <a:lnTo>
                    <a:pt x="216674" y="3352825"/>
                  </a:lnTo>
                  <a:lnTo>
                    <a:pt x="205714" y="3351403"/>
                  </a:lnTo>
                  <a:lnTo>
                    <a:pt x="199732" y="3349625"/>
                  </a:lnTo>
                  <a:lnTo>
                    <a:pt x="193624" y="3346653"/>
                  </a:lnTo>
                  <a:lnTo>
                    <a:pt x="192951" y="3346881"/>
                  </a:lnTo>
                  <a:lnTo>
                    <a:pt x="192684" y="3347415"/>
                  </a:lnTo>
                  <a:lnTo>
                    <a:pt x="141770" y="3489553"/>
                  </a:lnTo>
                  <a:lnTo>
                    <a:pt x="142062" y="3490137"/>
                  </a:lnTo>
                  <a:lnTo>
                    <a:pt x="142646" y="3490366"/>
                  </a:lnTo>
                  <a:lnTo>
                    <a:pt x="162128" y="3490366"/>
                  </a:lnTo>
                  <a:lnTo>
                    <a:pt x="162471" y="3490137"/>
                  </a:lnTo>
                  <a:lnTo>
                    <a:pt x="162534" y="3489947"/>
                  </a:lnTo>
                  <a:lnTo>
                    <a:pt x="169164" y="3471430"/>
                  </a:lnTo>
                  <a:lnTo>
                    <a:pt x="169583" y="3471151"/>
                  </a:lnTo>
                  <a:lnTo>
                    <a:pt x="271183" y="3471151"/>
                  </a:lnTo>
                  <a:lnTo>
                    <a:pt x="271614" y="3471430"/>
                  </a:lnTo>
                  <a:lnTo>
                    <a:pt x="278307" y="3490137"/>
                  </a:lnTo>
                  <a:lnTo>
                    <a:pt x="278650" y="3490366"/>
                  </a:lnTo>
                  <a:lnTo>
                    <a:pt x="298424" y="3490366"/>
                  </a:lnTo>
                  <a:lnTo>
                    <a:pt x="298869" y="3489947"/>
                  </a:lnTo>
                  <a:close/>
                </a:path>
                <a:path w="438784" h="3490595">
                  <a:moveTo>
                    <a:pt x="303834" y="3298126"/>
                  </a:moveTo>
                  <a:lnTo>
                    <a:pt x="292836" y="3257905"/>
                  </a:lnTo>
                  <a:lnTo>
                    <a:pt x="280657" y="3242475"/>
                  </a:lnTo>
                  <a:lnTo>
                    <a:pt x="274243" y="3242475"/>
                  </a:lnTo>
                  <a:lnTo>
                    <a:pt x="266280" y="3251238"/>
                  </a:lnTo>
                  <a:lnTo>
                    <a:pt x="266280" y="3258337"/>
                  </a:lnTo>
                  <a:lnTo>
                    <a:pt x="270268" y="3262719"/>
                  </a:lnTo>
                  <a:lnTo>
                    <a:pt x="275958" y="3270351"/>
                  </a:lnTo>
                  <a:lnTo>
                    <a:pt x="280123" y="3278949"/>
                  </a:lnTo>
                  <a:lnTo>
                    <a:pt x="282676" y="3288271"/>
                  </a:lnTo>
                  <a:lnTo>
                    <a:pt x="283540" y="3298126"/>
                  </a:lnTo>
                  <a:lnTo>
                    <a:pt x="282676" y="3307969"/>
                  </a:lnTo>
                  <a:lnTo>
                    <a:pt x="266280" y="3337915"/>
                  </a:lnTo>
                  <a:lnTo>
                    <a:pt x="266280" y="3345015"/>
                  </a:lnTo>
                  <a:lnTo>
                    <a:pt x="272237" y="3351555"/>
                  </a:lnTo>
                  <a:lnTo>
                    <a:pt x="274840" y="3352673"/>
                  </a:lnTo>
                  <a:lnTo>
                    <a:pt x="280047" y="3352673"/>
                  </a:lnTo>
                  <a:lnTo>
                    <a:pt x="302577" y="3312376"/>
                  </a:lnTo>
                  <a:lnTo>
                    <a:pt x="303834" y="3298126"/>
                  </a:lnTo>
                  <a:close/>
                </a:path>
                <a:path w="438784" h="3490595">
                  <a:moveTo>
                    <a:pt x="360210" y="3297529"/>
                  </a:moveTo>
                  <a:lnTo>
                    <a:pt x="351269" y="3255238"/>
                  </a:lnTo>
                  <a:lnTo>
                    <a:pt x="324446" y="3218091"/>
                  </a:lnTo>
                  <a:lnTo>
                    <a:pt x="319760" y="3213785"/>
                  </a:lnTo>
                  <a:lnTo>
                    <a:pt x="312115" y="3213785"/>
                  </a:lnTo>
                  <a:lnTo>
                    <a:pt x="307365" y="3218091"/>
                  </a:lnTo>
                  <a:lnTo>
                    <a:pt x="302691" y="3222447"/>
                  </a:lnTo>
                  <a:lnTo>
                    <a:pt x="302691" y="3229457"/>
                  </a:lnTo>
                  <a:lnTo>
                    <a:pt x="307352" y="3233788"/>
                  </a:lnTo>
                  <a:lnTo>
                    <a:pt x="328879" y="3263582"/>
                  </a:lnTo>
                  <a:lnTo>
                    <a:pt x="336054" y="3297529"/>
                  </a:lnTo>
                  <a:lnTo>
                    <a:pt x="335927" y="3298126"/>
                  </a:lnTo>
                  <a:lnTo>
                    <a:pt x="328879" y="3331464"/>
                  </a:lnTo>
                  <a:lnTo>
                    <a:pt x="307352" y="3361283"/>
                  </a:lnTo>
                  <a:lnTo>
                    <a:pt x="302615" y="3365614"/>
                  </a:lnTo>
                  <a:lnTo>
                    <a:pt x="302691" y="3372612"/>
                  </a:lnTo>
                  <a:lnTo>
                    <a:pt x="307352" y="3376942"/>
                  </a:lnTo>
                  <a:lnTo>
                    <a:pt x="309727" y="3379114"/>
                  </a:lnTo>
                  <a:lnTo>
                    <a:pt x="312813" y="3380232"/>
                  </a:lnTo>
                  <a:lnTo>
                    <a:pt x="318998" y="3380232"/>
                  </a:lnTo>
                  <a:lnTo>
                    <a:pt x="322084" y="3379114"/>
                  </a:lnTo>
                  <a:lnTo>
                    <a:pt x="324472" y="3376942"/>
                  </a:lnTo>
                  <a:lnTo>
                    <a:pt x="351269" y="3339808"/>
                  </a:lnTo>
                  <a:lnTo>
                    <a:pt x="360210" y="3297529"/>
                  </a:lnTo>
                  <a:close/>
                </a:path>
                <a:path w="438784" h="3490595">
                  <a:moveTo>
                    <a:pt x="407187" y="306209"/>
                  </a:moveTo>
                  <a:lnTo>
                    <a:pt x="313220" y="306209"/>
                  </a:lnTo>
                  <a:lnTo>
                    <a:pt x="313220" y="398056"/>
                  </a:lnTo>
                  <a:lnTo>
                    <a:pt x="407187" y="398056"/>
                  </a:lnTo>
                  <a:lnTo>
                    <a:pt x="407187" y="306209"/>
                  </a:lnTo>
                  <a:close/>
                </a:path>
                <a:path w="438784" h="3490595">
                  <a:moveTo>
                    <a:pt x="407187" y="15341"/>
                  </a:moveTo>
                  <a:lnTo>
                    <a:pt x="313232" y="15341"/>
                  </a:lnTo>
                  <a:lnTo>
                    <a:pt x="313232" y="275590"/>
                  </a:lnTo>
                  <a:lnTo>
                    <a:pt x="407187" y="275590"/>
                  </a:lnTo>
                  <a:lnTo>
                    <a:pt x="407187" y="15341"/>
                  </a:lnTo>
                  <a:close/>
                </a:path>
                <a:path w="438784" h="3490595">
                  <a:moveTo>
                    <a:pt x="438518" y="15341"/>
                  </a:moveTo>
                  <a:lnTo>
                    <a:pt x="422846" y="15341"/>
                  </a:lnTo>
                  <a:lnTo>
                    <a:pt x="422846" y="275590"/>
                  </a:lnTo>
                  <a:lnTo>
                    <a:pt x="438518" y="275590"/>
                  </a:lnTo>
                  <a:lnTo>
                    <a:pt x="438518" y="15341"/>
                  </a:lnTo>
                  <a:close/>
                </a:path>
                <a:path w="438784" h="3490595">
                  <a:moveTo>
                    <a:pt x="438518" y="5016"/>
                  </a:moveTo>
                  <a:lnTo>
                    <a:pt x="436105" y="5016"/>
                  </a:lnTo>
                  <a:lnTo>
                    <a:pt x="436105" y="0"/>
                  </a:lnTo>
                  <a:lnTo>
                    <a:pt x="2413" y="0"/>
                  </a:lnTo>
                  <a:lnTo>
                    <a:pt x="2413" y="5016"/>
                  </a:lnTo>
                  <a:lnTo>
                    <a:pt x="0" y="5016"/>
                  </a:lnTo>
                  <a:lnTo>
                    <a:pt x="0" y="15062"/>
                  </a:lnTo>
                  <a:lnTo>
                    <a:pt x="0" y="276212"/>
                  </a:lnTo>
                  <a:lnTo>
                    <a:pt x="0" y="291287"/>
                  </a:lnTo>
                  <a:lnTo>
                    <a:pt x="0" y="413080"/>
                  </a:lnTo>
                  <a:lnTo>
                    <a:pt x="0" y="428142"/>
                  </a:lnTo>
                  <a:lnTo>
                    <a:pt x="438518" y="428142"/>
                  </a:lnTo>
                  <a:lnTo>
                    <a:pt x="438518" y="276212"/>
                  </a:lnTo>
                  <a:lnTo>
                    <a:pt x="422846" y="276212"/>
                  </a:lnTo>
                  <a:lnTo>
                    <a:pt x="422846" y="291287"/>
                  </a:lnTo>
                  <a:lnTo>
                    <a:pt x="422846" y="413080"/>
                  </a:lnTo>
                  <a:lnTo>
                    <a:pt x="297561" y="413080"/>
                  </a:lnTo>
                  <a:lnTo>
                    <a:pt x="297561" y="291287"/>
                  </a:lnTo>
                  <a:lnTo>
                    <a:pt x="422846" y="291287"/>
                  </a:lnTo>
                  <a:lnTo>
                    <a:pt x="422846" y="276212"/>
                  </a:lnTo>
                  <a:lnTo>
                    <a:pt x="281901" y="276212"/>
                  </a:lnTo>
                  <a:lnTo>
                    <a:pt x="281901" y="291287"/>
                  </a:lnTo>
                  <a:lnTo>
                    <a:pt x="281901" y="413080"/>
                  </a:lnTo>
                  <a:lnTo>
                    <a:pt x="156616" y="413080"/>
                  </a:lnTo>
                  <a:lnTo>
                    <a:pt x="156616" y="291287"/>
                  </a:lnTo>
                  <a:lnTo>
                    <a:pt x="281901" y="291287"/>
                  </a:lnTo>
                  <a:lnTo>
                    <a:pt x="281901" y="276212"/>
                  </a:lnTo>
                  <a:lnTo>
                    <a:pt x="140957" y="276212"/>
                  </a:lnTo>
                  <a:lnTo>
                    <a:pt x="140957" y="291287"/>
                  </a:lnTo>
                  <a:lnTo>
                    <a:pt x="140957" y="413080"/>
                  </a:lnTo>
                  <a:lnTo>
                    <a:pt x="15659" y="413080"/>
                  </a:lnTo>
                  <a:lnTo>
                    <a:pt x="15659" y="291287"/>
                  </a:lnTo>
                  <a:lnTo>
                    <a:pt x="140957" y="291287"/>
                  </a:lnTo>
                  <a:lnTo>
                    <a:pt x="140957" y="276212"/>
                  </a:lnTo>
                  <a:lnTo>
                    <a:pt x="15659" y="276212"/>
                  </a:lnTo>
                  <a:lnTo>
                    <a:pt x="15659" y="15062"/>
                  </a:lnTo>
                  <a:lnTo>
                    <a:pt x="438518" y="15062"/>
                  </a:lnTo>
                  <a:lnTo>
                    <a:pt x="438518" y="5016"/>
                  </a:lnTo>
                  <a:close/>
                </a:path>
              </a:pathLst>
            </a:custGeom>
            <a:solidFill>
              <a:srgbClr val="405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6786986" y="2829459"/>
              <a:ext cx="1017269" cy="531495"/>
            </a:xfrm>
            <a:custGeom>
              <a:avLst/>
              <a:gdLst/>
              <a:ahLst/>
              <a:cxnLst/>
              <a:rect l="l" t="t" r="r" b="b"/>
              <a:pathLst>
                <a:path w="1017270" h="531495">
                  <a:moveTo>
                    <a:pt x="1016732" y="531283"/>
                  </a:moveTo>
                  <a:lnTo>
                    <a:pt x="966317" y="523657"/>
                  </a:lnTo>
                  <a:lnTo>
                    <a:pt x="916929" y="512466"/>
                  </a:lnTo>
                  <a:lnTo>
                    <a:pt x="868747" y="497810"/>
                  </a:lnTo>
                  <a:lnTo>
                    <a:pt x="821950" y="479791"/>
                  </a:lnTo>
                  <a:lnTo>
                    <a:pt x="776716" y="458509"/>
                  </a:lnTo>
                  <a:lnTo>
                    <a:pt x="733223" y="434063"/>
                  </a:lnTo>
                  <a:lnTo>
                    <a:pt x="691650" y="406555"/>
                  </a:lnTo>
                  <a:lnTo>
                    <a:pt x="652176" y="376085"/>
                  </a:lnTo>
                  <a:lnTo>
                    <a:pt x="614978" y="342753"/>
                  </a:lnTo>
                  <a:lnTo>
                    <a:pt x="580236" y="306660"/>
                  </a:lnTo>
                  <a:lnTo>
                    <a:pt x="548128" y="267905"/>
                  </a:lnTo>
                  <a:lnTo>
                    <a:pt x="516987" y="230231"/>
                  </a:lnTo>
                  <a:lnTo>
                    <a:pt x="483398" y="195102"/>
                  </a:lnTo>
                  <a:lnTo>
                    <a:pt x="447526" y="162600"/>
                  </a:lnTo>
                  <a:lnTo>
                    <a:pt x="409539" y="132807"/>
                  </a:lnTo>
                  <a:lnTo>
                    <a:pt x="369603" y="105803"/>
                  </a:lnTo>
                  <a:lnTo>
                    <a:pt x="327887" y="81671"/>
                  </a:lnTo>
                  <a:lnTo>
                    <a:pt x="284555" y="60492"/>
                  </a:lnTo>
                  <a:lnTo>
                    <a:pt x="239776" y="42348"/>
                  </a:lnTo>
                  <a:lnTo>
                    <a:pt x="193715" y="27320"/>
                  </a:lnTo>
                  <a:lnTo>
                    <a:pt x="146541" y="15490"/>
                  </a:lnTo>
                  <a:lnTo>
                    <a:pt x="98419" y="6938"/>
                  </a:lnTo>
                  <a:lnTo>
                    <a:pt x="49516" y="1748"/>
                  </a:lnTo>
                  <a:lnTo>
                    <a:pt x="0" y="0"/>
                  </a:lnTo>
                </a:path>
              </a:pathLst>
            </a:custGeom>
            <a:ln w="108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800939" y="3334362"/>
              <a:ext cx="82550" cy="52705"/>
            </a:xfrm>
            <a:custGeom>
              <a:avLst/>
              <a:gdLst/>
              <a:ahLst/>
              <a:cxnLst/>
              <a:rect l="l" t="t" r="r" b="b"/>
              <a:pathLst>
                <a:path w="82550" h="52704">
                  <a:moveTo>
                    <a:pt x="0" y="52623"/>
                  </a:moveTo>
                  <a:lnTo>
                    <a:pt x="3132" y="0"/>
                  </a:lnTo>
                  <a:lnTo>
                    <a:pt x="82309" y="30905"/>
                  </a:lnTo>
                  <a:lnTo>
                    <a:pt x="0" y="526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085203" y="3032556"/>
              <a:ext cx="500380" cy="130175"/>
            </a:xfrm>
            <a:custGeom>
              <a:avLst/>
              <a:gdLst/>
              <a:ahLst/>
              <a:cxnLst/>
              <a:rect l="l" t="t" r="r" b="b"/>
              <a:pathLst>
                <a:path w="500379" h="130175">
                  <a:moveTo>
                    <a:pt x="499822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499822" y="0"/>
                  </a:lnTo>
                  <a:lnTo>
                    <a:pt x="499822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4" name="object 224" descr=""/>
          <p:cNvSpPr txBox="1"/>
          <p:nvPr/>
        </p:nvSpPr>
        <p:spPr>
          <a:xfrm>
            <a:off x="7248771" y="4272037"/>
            <a:ext cx="1733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595958"/>
                </a:solidFill>
                <a:latin typeface="Microsoft Sans Serif"/>
                <a:cs typeface="Microsoft Sans Serif"/>
              </a:rPr>
              <a:t>RF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25" name="object 225" descr=""/>
          <p:cNvSpPr txBox="1"/>
          <p:nvPr/>
        </p:nvSpPr>
        <p:spPr>
          <a:xfrm>
            <a:off x="7072503" y="3009057"/>
            <a:ext cx="52578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95958"/>
                </a:solidFill>
                <a:latin typeface="Microsoft Sans Serif"/>
                <a:cs typeface="Microsoft Sans Serif"/>
              </a:rPr>
              <a:t>L1",L2-</a:t>
            </a:r>
            <a:r>
              <a:rPr dirty="0" sz="850" spc="-25">
                <a:solidFill>
                  <a:srgbClr val="595958"/>
                </a:solidFill>
                <a:latin typeface="Microsoft Sans Serif"/>
                <a:cs typeface="Microsoft Sans Serif"/>
              </a:rPr>
              <a:t>RT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26" name="object 226" descr=""/>
          <p:cNvGrpSpPr/>
          <p:nvPr/>
        </p:nvGrpSpPr>
        <p:grpSpPr>
          <a:xfrm>
            <a:off x="6317159" y="2271266"/>
            <a:ext cx="1566545" cy="788035"/>
            <a:chOff x="6317159" y="2271266"/>
            <a:chExt cx="1566545" cy="788035"/>
          </a:xfrm>
        </p:grpSpPr>
        <p:sp>
          <p:nvSpPr>
            <p:cNvPr id="227" name="object 227" descr=""/>
            <p:cNvSpPr/>
            <p:nvPr/>
          </p:nvSpPr>
          <p:spPr>
            <a:xfrm>
              <a:off x="6317159" y="2599829"/>
              <a:ext cx="469900" cy="459740"/>
            </a:xfrm>
            <a:custGeom>
              <a:avLst/>
              <a:gdLst/>
              <a:ahLst/>
              <a:cxnLst/>
              <a:rect l="l" t="t" r="r" b="b"/>
              <a:pathLst>
                <a:path w="469900" h="459739">
                  <a:moveTo>
                    <a:pt x="469830" y="459266"/>
                  </a:moveTo>
                  <a:lnTo>
                    <a:pt x="0" y="459266"/>
                  </a:lnTo>
                  <a:lnTo>
                    <a:pt x="0" y="26109"/>
                  </a:lnTo>
                  <a:lnTo>
                    <a:pt x="2099" y="15946"/>
                  </a:lnTo>
                  <a:lnTo>
                    <a:pt x="7823" y="7647"/>
                  </a:lnTo>
                  <a:lnTo>
                    <a:pt x="16313" y="2051"/>
                  </a:lnTo>
                  <a:lnTo>
                    <a:pt x="26709" y="0"/>
                  </a:lnTo>
                  <a:lnTo>
                    <a:pt x="443120" y="0"/>
                  </a:lnTo>
                  <a:lnTo>
                    <a:pt x="453517" y="2051"/>
                  </a:lnTo>
                  <a:lnTo>
                    <a:pt x="462007" y="7647"/>
                  </a:lnTo>
                  <a:lnTo>
                    <a:pt x="467731" y="15946"/>
                  </a:lnTo>
                  <a:lnTo>
                    <a:pt x="469830" y="26109"/>
                  </a:lnTo>
                  <a:lnTo>
                    <a:pt x="469830" y="211175"/>
                  </a:lnTo>
                  <a:lnTo>
                    <a:pt x="469830" y="459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6332817" y="2614790"/>
              <a:ext cx="438784" cy="429895"/>
            </a:xfrm>
            <a:custGeom>
              <a:avLst/>
              <a:gdLst/>
              <a:ahLst/>
              <a:cxnLst/>
              <a:rect l="l" t="t" r="r" b="b"/>
              <a:pathLst>
                <a:path w="438784" h="429894">
                  <a:moveTo>
                    <a:pt x="82219" y="348627"/>
                  </a:moveTo>
                  <a:lnTo>
                    <a:pt x="31318" y="348627"/>
                  </a:lnTo>
                  <a:lnTo>
                    <a:pt x="31318" y="398373"/>
                  </a:lnTo>
                  <a:lnTo>
                    <a:pt x="82219" y="398373"/>
                  </a:lnTo>
                  <a:lnTo>
                    <a:pt x="82219" y="348627"/>
                  </a:lnTo>
                  <a:close/>
                </a:path>
                <a:path w="438784" h="429894">
                  <a:moveTo>
                    <a:pt x="82219" y="252945"/>
                  </a:moveTo>
                  <a:lnTo>
                    <a:pt x="31318" y="252945"/>
                  </a:lnTo>
                  <a:lnTo>
                    <a:pt x="31318" y="302691"/>
                  </a:lnTo>
                  <a:lnTo>
                    <a:pt x="82219" y="302691"/>
                  </a:lnTo>
                  <a:lnTo>
                    <a:pt x="82219" y="252945"/>
                  </a:lnTo>
                  <a:close/>
                </a:path>
                <a:path w="438784" h="429894">
                  <a:moveTo>
                    <a:pt x="82219" y="126644"/>
                  </a:moveTo>
                  <a:lnTo>
                    <a:pt x="31318" y="126644"/>
                  </a:lnTo>
                  <a:lnTo>
                    <a:pt x="31318" y="176403"/>
                  </a:lnTo>
                  <a:lnTo>
                    <a:pt x="82219" y="176403"/>
                  </a:lnTo>
                  <a:lnTo>
                    <a:pt x="82219" y="126644"/>
                  </a:lnTo>
                  <a:close/>
                </a:path>
                <a:path w="438784" h="429894">
                  <a:moveTo>
                    <a:pt x="82219" y="30962"/>
                  </a:moveTo>
                  <a:lnTo>
                    <a:pt x="31318" y="30962"/>
                  </a:lnTo>
                  <a:lnTo>
                    <a:pt x="31318" y="80721"/>
                  </a:lnTo>
                  <a:lnTo>
                    <a:pt x="82219" y="80721"/>
                  </a:lnTo>
                  <a:lnTo>
                    <a:pt x="82219" y="30962"/>
                  </a:lnTo>
                  <a:close/>
                </a:path>
                <a:path w="438784" h="429894">
                  <a:moveTo>
                    <a:pt x="340626" y="176403"/>
                  </a:moveTo>
                  <a:lnTo>
                    <a:pt x="324967" y="176403"/>
                  </a:lnTo>
                  <a:lnTo>
                    <a:pt x="324967" y="191706"/>
                  </a:lnTo>
                  <a:lnTo>
                    <a:pt x="340626" y="191706"/>
                  </a:lnTo>
                  <a:lnTo>
                    <a:pt x="340626" y="176403"/>
                  </a:lnTo>
                  <a:close/>
                </a:path>
                <a:path w="438784" h="429894">
                  <a:moveTo>
                    <a:pt x="340626" y="15659"/>
                  </a:moveTo>
                  <a:lnTo>
                    <a:pt x="324967" y="15659"/>
                  </a:lnTo>
                  <a:lnTo>
                    <a:pt x="324967" y="30962"/>
                  </a:lnTo>
                  <a:lnTo>
                    <a:pt x="340626" y="30962"/>
                  </a:lnTo>
                  <a:lnTo>
                    <a:pt x="340626" y="15659"/>
                  </a:lnTo>
                  <a:close/>
                </a:path>
                <a:path w="438784" h="429894">
                  <a:moveTo>
                    <a:pt x="407187" y="348627"/>
                  </a:moveTo>
                  <a:lnTo>
                    <a:pt x="356285" y="348627"/>
                  </a:lnTo>
                  <a:lnTo>
                    <a:pt x="356285" y="398373"/>
                  </a:lnTo>
                  <a:lnTo>
                    <a:pt x="407187" y="398373"/>
                  </a:lnTo>
                  <a:lnTo>
                    <a:pt x="407187" y="348627"/>
                  </a:lnTo>
                  <a:close/>
                </a:path>
                <a:path w="438784" h="429894">
                  <a:moveTo>
                    <a:pt x="407187" y="252945"/>
                  </a:moveTo>
                  <a:lnTo>
                    <a:pt x="356285" y="252945"/>
                  </a:lnTo>
                  <a:lnTo>
                    <a:pt x="356285" y="302691"/>
                  </a:lnTo>
                  <a:lnTo>
                    <a:pt x="407187" y="302691"/>
                  </a:lnTo>
                  <a:lnTo>
                    <a:pt x="407187" y="252945"/>
                  </a:lnTo>
                  <a:close/>
                </a:path>
                <a:path w="438784" h="429894">
                  <a:moveTo>
                    <a:pt x="407187" y="126644"/>
                  </a:moveTo>
                  <a:lnTo>
                    <a:pt x="356285" y="126644"/>
                  </a:lnTo>
                  <a:lnTo>
                    <a:pt x="356285" y="176403"/>
                  </a:lnTo>
                  <a:lnTo>
                    <a:pt x="407187" y="176403"/>
                  </a:lnTo>
                  <a:lnTo>
                    <a:pt x="407187" y="126644"/>
                  </a:lnTo>
                  <a:close/>
                </a:path>
                <a:path w="438784" h="429894">
                  <a:moveTo>
                    <a:pt x="407187" y="30962"/>
                  </a:moveTo>
                  <a:lnTo>
                    <a:pt x="356285" y="30962"/>
                  </a:lnTo>
                  <a:lnTo>
                    <a:pt x="356285" y="80721"/>
                  </a:lnTo>
                  <a:lnTo>
                    <a:pt x="407187" y="80721"/>
                  </a:lnTo>
                  <a:lnTo>
                    <a:pt x="407187" y="30962"/>
                  </a:lnTo>
                  <a:close/>
                </a:path>
                <a:path w="438784" h="429894">
                  <a:moveTo>
                    <a:pt x="438505" y="227253"/>
                  </a:moveTo>
                  <a:lnTo>
                    <a:pt x="436029" y="227253"/>
                  </a:lnTo>
                  <a:lnTo>
                    <a:pt x="436029" y="222237"/>
                  </a:lnTo>
                  <a:lnTo>
                    <a:pt x="97878" y="222237"/>
                  </a:lnTo>
                  <a:lnTo>
                    <a:pt x="97878" y="413080"/>
                  </a:lnTo>
                  <a:lnTo>
                    <a:pt x="15659" y="413080"/>
                  </a:lnTo>
                  <a:lnTo>
                    <a:pt x="15659" y="332727"/>
                  </a:lnTo>
                  <a:lnTo>
                    <a:pt x="97878" y="332727"/>
                  </a:lnTo>
                  <a:lnTo>
                    <a:pt x="97878" y="317652"/>
                  </a:lnTo>
                  <a:lnTo>
                    <a:pt x="15659" y="317652"/>
                  </a:lnTo>
                  <a:lnTo>
                    <a:pt x="15659" y="237299"/>
                  </a:lnTo>
                  <a:lnTo>
                    <a:pt x="97878" y="237299"/>
                  </a:lnTo>
                  <a:lnTo>
                    <a:pt x="97878" y="222237"/>
                  </a:lnTo>
                  <a:lnTo>
                    <a:pt x="2463" y="222237"/>
                  </a:lnTo>
                  <a:lnTo>
                    <a:pt x="2463" y="227253"/>
                  </a:lnTo>
                  <a:lnTo>
                    <a:pt x="0" y="227253"/>
                  </a:lnTo>
                  <a:lnTo>
                    <a:pt x="0" y="429399"/>
                  </a:lnTo>
                  <a:lnTo>
                    <a:pt x="438505" y="429399"/>
                  </a:lnTo>
                  <a:lnTo>
                    <a:pt x="438505" y="413689"/>
                  </a:lnTo>
                  <a:lnTo>
                    <a:pt x="438505" y="413080"/>
                  </a:lnTo>
                  <a:lnTo>
                    <a:pt x="438505" y="333324"/>
                  </a:lnTo>
                  <a:lnTo>
                    <a:pt x="422846" y="333324"/>
                  </a:lnTo>
                  <a:lnTo>
                    <a:pt x="422846" y="413080"/>
                  </a:lnTo>
                  <a:lnTo>
                    <a:pt x="340626" y="413080"/>
                  </a:lnTo>
                  <a:lnTo>
                    <a:pt x="340626" y="398373"/>
                  </a:lnTo>
                  <a:lnTo>
                    <a:pt x="324967" y="398373"/>
                  </a:lnTo>
                  <a:lnTo>
                    <a:pt x="324967" y="413080"/>
                  </a:lnTo>
                  <a:lnTo>
                    <a:pt x="113538" y="413080"/>
                  </a:lnTo>
                  <a:lnTo>
                    <a:pt x="113538" y="398018"/>
                  </a:lnTo>
                  <a:lnTo>
                    <a:pt x="340626" y="398018"/>
                  </a:lnTo>
                  <a:lnTo>
                    <a:pt x="340626" y="390728"/>
                  </a:lnTo>
                  <a:lnTo>
                    <a:pt x="340626" y="390474"/>
                  </a:lnTo>
                  <a:lnTo>
                    <a:pt x="340626" y="375424"/>
                  </a:lnTo>
                  <a:lnTo>
                    <a:pt x="324967" y="375424"/>
                  </a:lnTo>
                  <a:lnTo>
                    <a:pt x="324967" y="390474"/>
                  </a:lnTo>
                  <a:lnTo>
                    <a:pt x="113538" y="390474"/>
                  </a:lnTo>
                  <a:lnTo>
                    <a:pt x="113538" y="375412"/>
                  </a:lnTo>
                  <a:lnTo>
                    <a:pt x="340626" y="375412"/>
                  </a:lnTo>
                  <a:lnTo>
                    <a:pt x="340626" y="332727"/>
                  </a:lnTo>
                  <a:lnTo>
                    <a:pt x="438505" y="332727"/>
                  </a:lnTo>
                  <a:lnTo>
                    <a:pt x="438505" y="318008"/>
                  </a:lnTo>
                  <a:lnTo>
                    <a:pt x="438505" y="317652"/>
                  </a:lnTo>
                  <a:lnTo>
                    <a:pt x="438505" y="237642"/>
                  </a:lnTo>
                  <a:lnTo>
                    <a:pt x="422846" y="237642"/>
                  </a:lnTo>
                  <a:lnTo>
                    <a:pt x="422846" y="317652"/>
                  </a:lnTo>
                  <a:lnTo>
                    <a:pt x="340626" y="317652"/>
                  </a:lnTo>
                  <a:lnTo>
                    <a:pt x="340626" y="252945"/>
                  </a:lnTo>
                  <a:lnTo>
                    <a:pt x="340626" y="252361"/>
                  </a:lnTo>
                  <a:lnTo>
                    <a:pt x="340626" y="237642"/>
                  </a:lnTo>
                  <a:lnTo>
                    <a:pt x="324967" y="237642"/>
                  </a:lnTo>
                  <a:lnTo>
                    <a:pt x="324967" y="252361"/>
                  </a:lnTo>
                  <a:lnTo>
                    <a:pt x="113538" y="252361"/>
                  </a:lnTo>
                  <a:lnTo>
                    <a:pt x="113538" y="237299"/>
                  </a:lnTo>
                  <a:lnTo>
                    <a:pt x="438505" y="237299"/>
                  </a:lnTo>
                  <a:lnTo>
                    <a:pt x="438505" y="227253"/>
                  </a:lnTo>
                  <a:close/>
                </a:path>
                <a:path w="438784" h="429894">
                  <a:moveTo>
                    <a:pt x="438505" y="5016"/>
                  </a:moveTo>
                  <a:lnTo>
                    <a:pt x="435762" y="5016"/>
                  </a:lnTo>
                  <a:lnTo>
                    <a:pt x="435762" y="0"/>
                  </a:lnTo>
                  <a:lnTo>
                    <a:pt x="97878" y="0"/>
                  </a:lnTo>
                  <a:lnTo>
                    <a:pt x="97878" y="192100"/>
                  </a:lnTo>
                  <a:lnTo>
                    <a:pt x="15659" y="192100"/>
                  </a:lnTo>
                  <a:lnTo>
                    <a:pt x="15659" y="111747"/>
                  </a:lnTo>
                  <a:lnTo>
                    <a:pt x="97878" y="111747"/>
                  </a:lnTo>
                  <a:lnTo>
                    <a:pt x="97878" y="95427"/>
                  </a:lnTo>
                  <a:lnTo>
                    <a:pt x="15659" y="95427"/>
                  </a:lnTo>
                  <a:lnTo>
                    <a:pt x="15659" y="15062"/>
                  </a:lnTo>
                  <a:lnTo>
                    <a:pt x="97878" y="15062"/>
                  </a:lnTo>
                  <a:lnTo>
                    <a:pt x="97878" y="0"/>
                  </a:lnTo>
                  <a:lnTo>
                    <a:pt x="2730" y="0"/>
                  </a:lnTo>
                  <a:lnTo>
                    <a:pt x="2730" y="5016"/>
                  </a:lnTo>
                  <a:lnTo>
                    <a:pt x="0" y="5016"/>
                  </a:lnTo>
                  <a:lnTo>
                    <a:pt x="0" y="207162"/>
                  </a:lnTo>
                  <a:lnTo>
                    <a:pt x="438505" y="207162"/>
                  </a:lnTo>
                  <a:lnTo>
                    <a:pt x="438505" y="192100"/>
                  </a:lnTo>
                  <a:lnTo>
                    <a:pt x="113538" y="192100"/>
                  </a:lnTo>
                  <a:lnTo>
                    <a:pt x="113538" y="175780"/>
                  </a:lnTo>
                  <a:lnTo>
                    <a:pt x="340626" y="175780"/>
                  </a:lnTo>
                  <a:lnTo>
                    <a:pt x="340626" y="168744"/>
                  </a:lnTo>
                  <a:lnTo>
                    <a:pt x="340626" y="168249"/>
                  </a:lnTo>
                  <a:lnTo>
                    <a:pt x="340626" y="153441"/>
                  </a:lnTo>
                  <a:lnTo>
                    <a:pt x="324967" y="153441"/>
                  </a:lnTo>
                  <a:lnTo>
                    <a:pt x="324967" y="168249"/>
                  </a:lnTo>
                  <a:lnTo>
                    <a:pt x="113538" y="168249"/>
                  </a:lnTo>
                  <a:lnTo>
                    <a:pt x="113538" y="153174"/>
                  </a:lnTo>
                  <a:lnTo>
                    <a:pt x="340626" y="153174"/>
                  </a:lnTo>
                  <a:lnTo>
                    <a:pt x="340626" y="111747"/>
                  </a:lnTo>
                  <a:lnTo>
                    <a:pt x="422846" y="111747"/>
                  </a:lnTo>
                  <a:lnTo>
                    <a:pt x="422846" y="191706"/>
                  </a:lnTo>
                  <a:lnTo>
                    <a:pt x="438505" y="191706"/>
                  </a:lnTo>
                  <a:lnTo>
                    <a:pt x="438505" y="15659"/>
                  </a:lnTo>
                  <a:lnTo>
                    <a:pt x="422846" y="15659"/>
                  </a:lnTo>
                  <a:lnTo>
                    <a:pt x="422846" y="95427"/>
                  </a:lnTo>
                  <a:lnTo>
                    <a:pt x="340626" y="95427"/>
                  </a:lnTo>
                  <a:lnTo>
                    <a:pt x="340626" y="31394"/>
                  </a:lnTo>
                  <a:lnTo>
                    <a:pt x="113538" y="31394"/>
                  </a:lnTo>
                  <a:lnTo>
                    <a:pt x="113538" y="15062"/>
                  </a:lnTo>
                  <a:lnTo>
                    <a:pt x="438505" y="15062"/>
                  </a:lnTo>
                  <a:lnTo>
                    <a:pt x="438505" y="5016"/>
                  </a:lnTo>
                  <a:close/>
                </a:path>
              </a:pathLst>
            </a:custGeom>
            <a:solidFill>
              <a:srgbClr val="405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6786987" y="2297536"/>
              <a:ext cx="1017269" cy="455930"/>
            </a:xfrm>
            <a:custGeom>
              <a:avLst/>
              <a:gdLst/>
              <a:ahLst/>
              <a:cxnLst/>
              <a:rect l="l" t="t" r="r" b="b"/>
              <a:pathLst>
                <a:path w="1017270" h="455930">
                  <a:moveTo>
                    <a:pt x="0" y="455377"/>
                  </a:moveTo>
                  <a:lnTo>
                    <a:pt x="53617" y="453620"/>
                  </a:lnTo>
                  <a:lnTo>
                    <a:pt x="106498" y="448406"/>
                  </a:lnTo>
                  <a:lnTo>
                    <a:pt x="158431" y="439826"/>
                  </a:lnTo>
                  <a:lnTo>
                    <a:pt x="209203" y="427967"/>
                  </a:lnTo>
                  <a:lnTo>
                    <a:pt x="258602" y="412919"/>
                  </a:lnTo>
                  <a:lnTo>
                    <a:pt x="306416" y="394770"/>
                  </a:lnTo>
                  <a:lnTo>
                    <a:pt x="352434" y="373610"/>
                  </a:lnTo>
                  <a:lnTo>
                    <a:pt x="396441" y="349528"/>
                  </a:lnTo>
                  <a:lnTo>
                    <a:pt x="438228" y="322611"/>
                  </a:lnTo>
                  <a:lnTo>
                    <a:pt x="477581" y="292950"/>
                  </a:lnTo>
                  <a:lnTo>
                    <a:pt x="514288" y="260633"/>
                  </a:lnTo>
                  <a:lnTo>
                    <a:pt x="548137" y="225748"/>
                  </a:lnTo>
                  <a:lnTo>
                    <a:pt x="580240" y="192531"/>
                  </a:lnTo>
                  <a:lnTo>
                    <a:pt x="614978" y="161595"/>
                  </a:lnTo>
                  <a:lnTo>
                    <a:pt x="652172" y="133026"/>
                  </a:lnTo>
                  <a:lnTo>
                    <a:pt x="691643" y="106909"/>
                  </a:lnTo>
                  <a:lnTo>
                    <a:pt x="733212" y="83332"/>
                  </a:lnTo>
                  <a:lnTo>
                    <a:pt x="776702" y="62379"/>
                  </a:lnTo>
                  <a:lnTo>
                    <a:pt x="821933" y="44138"/>
                  </a:lnTo>
                  <a:lnTo>
                    <a:pt x="868726" y="28693"/>
                  </a:lnTo>
                  <a:lnTo>
                    <a:pt x="916904" y="16131"/>
                  </a:lnTo>
                  <a:lnTo>
                    <a:pt x="966288" y="6538"/>
                  </a:lnTo>
                  <a:lnTo>
                    <a:pt x="1016699" y="0"/>
                  </a:lnTo>
                </a:path>
              </a:pathLst>
            </a:custGeom>
            <a:ln w="108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7801125" y="2271266"/>
              <a:ext cx="82550" cy="52705"/>
            </a:xfrm>
            <a:custGeom>
              <a:avLst/>
              <a:gdLst/>
              <a:ahLst/>
              <a:cxnLst/>
              <a:rect l="l" t="t" r="r" b="b"/>
              <a:pathLst>
                <a:path w="82550" h="52705">
                  <a:moveTo>
                    <a:pt x="2693" y="52647"/>
                  </a:moveTo>
                  <a:lnTo>
                    <a:pt x="0" y="0"/>
                  </a:lnTo>
                  <a:lnTo>
                    <a:pt x="82135" y="22382"/>
                  </a:lnTo>
                  <a:lnTo>
                    <a:pt x="2693" y="52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7064922" y="2458473"/>
              <a:ext cx="541020" cy="130175"/>
            </a:xfrm>
            <a:custGeom>
              <a:avLst/>
              <a:gdLst/>
              <a:ahLst/>
              <a:cxnLst/>
              <a:rect l="l" t="t" r="r" b="b"/>
              <a:pathLst>
                <a:path w="541020" h="130175">
                  <a:moveTo>
                    <a:pt x="540396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540396" y="0"/>
                  </a:lnTo>
                  <a:lnTo>
                    <a:pt x="540396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 descr=""/>
          <p:cNvSpPr txBox="1"/>
          <p:nvPr/>
        </p:nvSpPr>
        <p:spPr>
          <a:xfrm>
            <a:off x="7052221" y="2434973"/>
            <a:ext cx="56642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595958"/>
                </a:solidFill>
                <a:latin typeface="Microsoft Sans Serif"/>
                <a:cs typeface="Microsoft Sans Serif"/>
              </a:rPr>
              <a:t>L2-NRT,L3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33" name="object 233" descr=""/>
          <p:cNvGrpSpPr/>
          <p:nvPr/>
        </p:nvGrpSpPr>
        <p:grpSpPr>
          <a:xfrm>
            <a:off x="6786984" y="1222030"/>
            <a:ext cx="1566545" cy="2296795"/>
            <a:chOff x="6786984" y="1222030"/>
            <a:chExt cx="1566545" cy="2296795"/>
          </a:xfrm>
        </p:grpSpPr>
        <p:sp>
          <p:nvSpPr>
            <p:cNvPr id="234" name="object 234" descr=""/>
            <p:cNvSpPr/>
            <p:nvPr/>
          </p:nvSpPr>
          <p:spPr>
            <a:xfrm>
              <a:off x="7883248" y="3059091"/>
              <a:ext cx="469900" cy="459740"/>
            </a:xfrm>
            <a:custGeom>
              <a:avLst/>
              <a:gdLst/>
              <a:ahLst/>
              <a:cxnLst/>
              <a:rect l="l" t="t" r="r" b="b"/>
              <a:pathLst>
                <a:path w="469900" h="459739">
                  <a:moveTo>
                    <a:pt x="469830" y="428644"/>
                  </a:moveTo>
                  <a:lnTo>
                    <a:pt x="0" y="428644"/>
                  </a:lnTo>
                  <a:lnTo>
                    <a:pt x="0" y="26109"/>
                  </a:lnTo>
                  <a:lnTo>
                    <a:pt x="2099" y="15946"/>
                  </a:lnTo>
                  <a:lnTo>
                    <a:pt x="7836" y="7639"/>
                  </a:lnTo>
                  <a:lnTo>
                    <a:pt x="16316" y="2051"/>
                  </a:lnTo>
                  <a:lnTo>
                    <a:pt x="26718" y="0"/>
                  </a:lnTo>
                  <a:lnTo>
                    <a:pt x="167228" y="0"/>
                  </a:lnTo>
                  <a:lnTo>
                    <a:pt x="174016" y="2746"/>
                  </a:lnTo>
                  <a:lnTo>
                    <a:pt x="179030" y="7639"/>
                  </a:lnTo>
                  <a:lnTo>
                    <a:pt x="462001" y="7639"/>
                  </a:lnTo>
                  <a:lnTo>
                    <a:pt x="467731" y="15946"/>
                  </a:lnTo>
                  <a:lnTo>
                    <a:pt x="469830" y="26109"/>
                  </a:lnTo>
                  <a:lnTo>
                    <a:pt x="469830" y="428644"/>
                  </a:lnTo>
                  <a:close/>
                </a:path>
                <a:path w="469900" h="459739">
                  <a:moveTo>
                    <a:pt x="290808" y="7639"/>
                  </a:moveTo>
                  <a:lnTo>
                    <a:pt x="179030" y="7639"/>
                  </a:lnTo>
                  <a:lnTo>
                    <a:pt x="184035" y="2746"/>
                  </a:lnTo>
                  <a:lnTo>
                    <a:pt x="190831" y="0"/>
                  </a:lnTo>
                  <a:lnTo>
                    <a:pt x="279007" y="0"/>
                  </a:lnTo>
                  <a:lnTo>
                    <a:pt x="285803" y="2746"/>
                  </a:lnTo>
                  <a:lnTo>
                    <a:pt x="290808" y="7639"/>
                  </a:lnTo>
                  <a:close/>
                </a:path>
                <a:path w="469900" h="459739">
                  <a:moveTo>
                    <a:pt x="461995" y="7639"/>
                  </a:moveTo>
                  <a:lnTo>
                    <a:pt x="290808" y="7639"/>
                  </a:lnTo>
                  <a:lnTo>
                    <a:pt x="295814" y="2746"/>
                  </a:lnTo>
                  <a:lnTo>
                    <a:pt x="302609" y="0"/>
                  </a:lnTo>
                  <a:lnTo>
                    <a:pt x="443120" y="0"/>
                  </a:lnTo>
                  <a:lnTo>
                    <a:pt x="453517" y="2051"/>
                  </a:lnTo>
                  <a:lnTo>
                    <a:pt x="461995" y="7639"/>
                  </a:lnTo>
                  <a:close/>
                </a:path>
                <a:path w="469900" h="459739">
                  <a:moveTo>
                    <a:pt x="396384" y="459258"/>
                  </a:moveTo>
                  <a:lnTo>
                    <a:pt x="74021" y="459258"/>
                  </a:lnTo>
                  <a:lnTo>
                    <a:pt x="71641" y="458950"/>
                  </a:lnTo>
                  <a:lnTo>
                    <a:pt x="72101" y="458950"/>
                  </a:lnTo>
                  <a:lnTo>
                    <a:pt x="68991" y="458026"/>
                  </a:lnTo>
                  <a:lnTo>
                    <a:pt x="59419" y="446150"/>
                  </a:lnTo>
                  <a:lnTo>
                    <a:pt x="59419" y="428644"/>
                  </a:lnTo>
                  <a:lnTo>
                    <a:pt x="410419" y="428644"/>
                  </a:lnTo>
                  <a:lnTo>
                    <a:pt x="410342" y="446150"/>
                  </a:lnTo>
                  <a:lnTo>
                    <a:pt x="398419" y="458950"/>
                  </a:lnTo>
                  <a:lnTo>
                    <a:pt x="396384" y="4592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898904" y="3074428"/>
              <a:ext cx="438784" cy="428625"/>
            </a:xfrm>
            <a:custGeom>
              <a:avLst/>
              <a:gdLst/>
              <a:ahLst/>
              <a:cxnLst/>
              <a:rect l="l" t="t" r="r" b="b"/>
              <a:pathLst>
                <a:path w="438784" h="428625">
                  <a:moveTo>
                    <a:pt x="155536" y="30594"/>
                  </a:moveTo>
                  <a:lnTo>
                    <a:pt x="139877" y="30594"/>
                  </a:lnTo>
                  <a:lnTo>
                    <a:pt x="139877" y="45910"/>
                  </a:lnTo>
                  <a:lnTo>
                    <a:pt x="155536" y="45910"/>
                  </a:lnTo>
                  <a:lnTo>
                    <a:pt x="155536" y="30594"/>
                  </a:lnTo>
                  <a:close/>
                </a:path>
                <a:path w="438784" h="428625">
                  <a:moveTo>
                    <a:pt x="155536" y="5016"/>
                  </a:moveTo>
                  <a:lnTo>
                    <a:pt x="153174" y="5016"/>
                  </a:lnTo>
                  <a:lnTo>
                    <a:pt x="153174" y="0"/>
                  </a:lnTo>
                  <a:lnTo>
                    <a:pt x="2362" y="0"/>
                  </a:lnTo>
                  <a:lnTo>
                    <a:pt x="2362" y="5016"/>
                  </a:lnTo>
                  <a:lnTo>
                    <a:pt x="0" y="5016"/>
                  </a:lnTo>
                  <a:lnTo>
                    <a:pt x="0" y="30124"/>
                  </a:lnTo>
                  <a:lnTo>
                    <a:pt x="0" y="46443"/>
                  </a:lnTo>
                  <a:lnTo>
                    <a:pt x="0" y="398005"/>
                  </a:lnTo>
                  <a:lnTo>
                    <a:pt x="155536" y="398005"/>
                  </a:lnTo>
                  <a:lnTo>
                    <a:pt x="155536" y="46443"/>
                  </a:lnTo>
                  <a:lnTo>
                    <a:pt x="15659" y="46443"/>
                  </a:lnTo>
                  <a:lnTo>
                    <a:pt x="15659" y="30124"/>
                  </a:lnTo>
                  <a:lnTo>
                    <a:pt x="155536" y="30124"/>
                  </a:lnTo>
                  <a:lnTo>
                    <a:pt x="155536" y="5016"/>
                  </a:lnTo>
                  <a:close/>
                </a:path>
                <a:path w="438784" h="428625">
                  <a:moveTo>
                    <a:pt x="267309" y="30594"/>
                  </a:moveTo>
                  <a:lnTo>
                    <a:pt x="251650" y="30594"/>
                  </a:lnTo>
                  <a:lnTo>
                    <a:pt x="251650" y="93941"/>
                  </a:lnTo>
                  <a:lnTo>
                    <a:pt x="267309" y="93941"/>
                  </a:lnTo>
                  <a:lnTo>
                    <a:pt x="267309" y="30594"/>
                  </a:lnTo>
                  <a:close/>
                </a:path>
                <a:path w="438784" h="428625">
                  <a:moveTo>
                    <a:pt x="267309" y="5016"/>
                  </a:moveTo>
                  <a:lnTo>
                    <a:pt x="264960" y="5016"/>
                  </a:lnTo>
                  <a:lnTo>
                    <a:pt x="264960" y="0"/>
                  </a:lnTo>
                  <a:lnTo>
                    <a:pt x="173545" y="0"/>
                  </a:lnTo>
                  <a:lnTo>
                    <a:pt x="173545" y="5016"/>
                  </a:lnTo>
                  <a:lnTo>
                    <a:pt x="171196" y="5016"/>
                  </a:lnTo>
                  <a:lnTo>
                    <a:pt x="171196" y="30124"/>
                  </a:lnTo>
                  <a:lnTo>
                    <a:pt x="171196" y="94157"/>
                  </a:lnTo>
                  <a:lnTo>
                    <a:pt x="171196" y="398005"/>
                  </a:lnTo>
                  <a:lnTo>
                    <a:pt x="267309" y="398005"/>
                  </a:lnTo>
                  <a:lnTo>
                    <a:pt x="267309" y="94157"/>
                  </a:lnTo>
                  <a:lnTo>
                    <a:pt x="186855" y="94157"/>
                  </a:lnTo>
                  <a:lnTo>
                    <a:pt x="186855" y="30124"/>
                  </a:lnTo>
                  <a:lnTo>
                    <a:pt x="267309" y="30124"/>
                  </a:lnTo>
                  <a:lnTo>
                    <a:pt x="267309" y="5016"/>
                  </a:lnTo>
                  <a:close/>
                </a:path>
                <a:path w="438784" h="428625">
                  <a:moveTo>
                    <a:pt x="379095" y="413067"/>
                  </a:moveTo>
                  <a:lnTo>
                    <a:pt x="59410" y="413067"/>
                  </a:lnTo>
                  <a:lnTo>
                    <a:pt x="59410" y="428142"/>
                  </a:lnTo>
                  <a:lnTo>
                    <a:pt x="379095" y="428142"/>
                  </a:lnTo>
                  <a:lnTo>
                    <a:pt x="379095" y="413067"/>
                  </a:lnTo>
                  <a:close/>
                </a:path>
                <a:path w="438784" h="428625">
                  <a:moveTo>
                    <a:pt x="438505" y="30594"/>
                  </a:moveTo>
                  <a:lnTo>
                    <a:pt x="422846" y="30594"/>
                  </a:lnTo>
                  <a:lnTo>
                    <a:pt x="422846" y="45910"/>
                  </a:lnTo>
                  <a:lnTo>
                    <a:pt x="438505" y="45910"/>
                  </a:lnTo>
                  <a:lnTo>
                    <a:pt x="438505" y="30594"/>
                  </a:lnTo>
                  <a:close/>
                </a:path>
                <a:path w="438784" h="428625">
                  <a:moveTo>
                    <a:pt x="438505" y="5016"/>
                  </a:moveTo>
                  <a:lnTo>
                    <a:pt x="436143" y="5016"/>
                  </a:lnTo>
                  <a:lnTo>
                    <a:pt x="436143" y="0"/>
                  </a:lnTo>
                  <a:lnTo>
                    <a:pt x="285343" y="0"/>
                  </a:lnTo>
                  <a:lnTo>
                    <a:pt x="285343" y="5016"/>
                  </a:lnTo>
                  <a:lnTo>
                    <a:pt x="282981" y="5016"/>
                  </a:lnTo>
                  <a:lnTo>
                    <a:pt x="282981" y="30124"/>
                  </a:lnTo>
                  <a:lnTo>
                    <a:pt x="282981" y="46443"/>
                  </a:lnTo>
                  <a:lnTo>
                    <a:pt x="282981" y="61518"/>
                  </a:lnTo>
                  <a:lnTo>
                    <a:pt x="282981" y="76581"/>
                  </a:lnTo>
                  <a:lnTo>
                    <a:pt x="282981" y="398005"/>
                  </a:lnTo>
                  <a:lnTo>
                    <a:pt x="438505" y="398005"/>
                  </a:lnTo>
                  <a:lnTo>
                    <a:pt x="438505" y="76581"/>
                  </a:lnTo>
                  <a:lnTo>
                    <a:pt x="298627" y="76581"/>
                  </a:lnTo>
                  <a:lnTo>
                    <a:pt x="298627" y="61518"/>
                  </a:lnTo>
                  <a:lnTo>
                    <a:pt x="422846" y="61518"/>
                  </a:lnTo>
                  <a:lnTo>
                    <a:pt x="422846" y="76517"/>
                  </a:lnTo>
                  <a:lnTo>
                    <a:pt x="438505" y="76517"/>
                  </a:lnTo>
                  <a:lnTo>
                    <a:pt x="438505" y="61518"/>
                  </a:lnTo>
                  <a:lnTo>
                    <a:pt x="438505" y="61214"/>
                  </a:lnTo>
                  <a:lnTo>
                    <a:pt x="438505" y="46443"/>
                  </a:lnTo>
                  <a:lnTo>
                    <a:pt x="298627" y="46443"/>
                  </a:lnTo>
                  <a:lnTo>
                    <a:pt x="298627" y="30124"/>
                  </a:lnTo>
                  <a:lnTo>
                    <a:pt x="438505" y="30124"/>
                  </a:lnTo>
                  <a:lnTo>
                    <a:pt x="438505" y="5016"/>
                  </a:lnTo>
                  <a:close/>
                </a:path>
              </a:pathLst>
            </a:custGeom>
            <a:solidFill>
              <a:srgbClr val="2C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6786984" y="1222030"/>
              <a:ext cx="1052830" cy="916305"/>
            </a:xfrm>
            <a:custGeom>
              <a:avLst/>
              <a:gdLst/>
              <a:ahLst/>
              <a:cxnLst/>
              <a:rect l="l" t="t" r="r" b="b"/>
              <a:pathLst>
                <a:path w="1052829" h="916305">
                  <a:moveTo>
                    <a:pt x="1052575" y="916191"/>
                  </a:moveTo>
                  <a:lnTo>
                    <a:pt x="1012813" y="909981"/>
                  </a:lnTo>
                  <a:lnTo>
                    <a:pt x="973553" y="899968"/>
                  </a:lnTo>
                  <a:lnTo>
                    <a:pt x="934881" y="886231"/>
                  </a:lnTo>
                  <a:lnTo>
                    <a:pt x="896885" y="868846"/>
                  </a:lnTo>
                  <a:lnTo>
                    <a:pt x="859649" y="847893"/>
                  </a:lnTo>
                  <a:lnTo>
                    <a:pt x="823260" y="823450"/>
                  </a:lnTo>
                  <a:lnTo>
                    <a:pt x="787806" y="795593"/>
                  </a:lnTo>
                  <a:lnTo>
                    <a:pt x="753371" y="764403"/>
                  </a:lnTo>
                  <a:lnTo>
                    <a:pt x="720042" y="729956"/>
                  </a:lnTo>
                  <a:lnTo>
                    <a:pt x="687905" y="692331"/>
                  </a:lnTo>
                  <a:lnTo>
                    <a:pt x="657047" y="651606"/>
                  </a:lnTo>
                  <a:lnTo>
                    <a:pt x="627555" y="607858"/>
                  </a:lnTo>
                  <a:lnTo>
                    <a:pt x="599513" y="561167"/>
                  </a:lnTo>
                  <a:lnTo>
                    <a:pt x="573009" y="511610"/>
                  </a:lnTo>
                  <a:lnTo>
                    <a:pt x="548128" y="459266"/>
                  </a:lnTo>
                  <a:lnTo>
                    <a:pt x="523018" y="406463"/>
                  </a:lnTo>
                  <a:lnTo>
                    <a:pt x="496270" y="356524"/>
                  </a:lnTo>
                  <a:lnTo>
                    <a:pt x="467975" y="309523"/>
                  </a:lnTo>
                  <a:lnTo>
                    <a:pt x="438221" y="265535"/>
                  </a:lnTo>
                  <a:lnTo>
                    <a:pt x="407098" y="224636"/>
                  </a:lnTo>
                  <a:lnTo>
                    <a:pt x="374696" y="186899"/>
                  </a:lnTo>
                  <a:lnTo>
                    <a:pt x="341104" y="152400"/>
                  </a:lnTo>
                  <a:lnTo>
                    <a:pt x="306412" y="121215"/>
                  </a:lnTo>
                  <a:lnTo>
                    <a:pt x="270709" y="93417"/>
                  </a:lnTo>
                  <a:lnTo>
                    <a:pt x="234085" y="69083"/>
                  </a:lnTo>
                  <a:lnTo>
                    <a:pt x="196628" y="48287"/>
                  </a:lnTo>
                  <a:lnTo>
                    <a:pt x="158430" y="31103"/>
                  </a:lnTo>
                  <a:lnTo>
                    <a:pt x="119578" y="17608"/>
                  </a:lnTo>
                  <a:lnTo>
                    <a:pt x="80163" y="7875"/>
                  </a:lnTo>
                  <a:lnTo>
                    <a:pt x="40273" y="198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7834715" y="2122478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5" h="31114">
                  <a:moveTo>
                    <a:pt x="0" y="31058"/>
                  </a:moveTo>
                  <a:lnTo>
                    <a:pt x="1740" y="0"/>
                  </a:lnTo>
                  <a:lnTo>
                    <a:pt x="48530" y="18081"/>
                  </a:lnTo>
                  <a:lnTo>
                    <a:pt x="0" y="31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258364" y="1616484"/>
              <a:ext cx="153670" cy="130175"/>
            </a:xfrm>
            <a:custGeom>
              <a:avLst/>
              <a:gdLst/>
              <a:ahLst/>
              <a:cxnLst/>
              <a:rect l="l" t="t" r="r" b="b"/>
              <a:pathLst>
                <a:path w="153670" h="130175">
                  <a:moveTo>
                    <a:pt x="153496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153496" y="0"/>
                  </a:lnTo>
                  <a:lnTo>
                    <a:pt x="153496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9" name="object 239" descr=""/>
          <p:cNvSpPr txBox="1"/>
          <p:nvPr/>
        </p:nvSpPr>
        <p:spPr>
          <a:xfrm>
            <a:off x="7245664" y="1592982"/>
            <a:ext cx="1790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595958"/>
                </a:solidFill>
                <a:latin typeface="Microsoft Sans Serif"/>
                <a:cs typeface="Microsoft Sans Serif"/>
              </a:rPr>
              <a:t>UP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40" name="object 240" descr=""/>
          <p:cNvGrpSpPr/>
          <p:nvPr/>
        </p:nvGrpSpPr>
        <p:grpSpPr>
          <a:xfrm>
            <a:off x="6781581" y="1118948"/>
            <a:ext cx="1101725" cy="271780"/>
            <a:chOff x="6781581" y="1118948"/>
            <a:chExt cx="1101725" cy="271780"/>
          </a:xfrm>
        </p:grpSpPr>
        <p:sp>
          <p:nvSpPr>
            <p:cNvPr id="241" name="object 241" descr=""/>
            <p:cNvSpPr/>
            <p:nvPr/>
          </p:nvSpPr>
          <p:spPr>
            <a:xfrm>
              <a:off x="6786977" y="1222030"/>
              <a:ext cx="1052830" cy="153035"/>
            </a:xfrm>
            <a:custGeom>
              <a:avLst/>
              <a:gdLst/>
              <a:ahLst/>
              <a:cxnLst/>
              <a:rect l="l" t="t" r="r" b="b"/>
              <a:pathLst>
                <a:path w="1052829" h="153034">
                  <a:moveTo>
                    <a:pt x="1052517" y="152694"/>
                  </a:moveTo>
                  <a:lnTo>
                    <a:pt x="993064" y="150902"/>
                  </a:lnTo>
                  <a:lnTo>
                    <a:pt x="934839" y="147699"/>
                  </a:lnTo>
                  <a:lnTo>
                    <a:pt x="878132" y="143128"/>
                  </a:lnTo>
                  <a:lnTo>
                    <a:pt x="823234" y="137234"/>
                  </a:lnTo>
                  <a:lnTo>
                    <a:pt x="770437" y="130060"/>
                  </a:lnTo>
                  <a:lnTo>
                    <a:pt x="720030" y="121651"/>
                  </a:lnTo>
                  <a:lnTo>
                    <a:pt x="672306" y="112050"/>
                  </a:lnTo>
                  <a:lnTo>
                    <a:pt x="627555" y="101301"/>
                  </a:lnTo>
                  <a:lnTo>
                    <a:pt x="586068" y="89449"/>
                  </a:lnTo>
                  <a:lnTo>
                    <a:pt x="548137" y="76537"/>
                  </a:lnTo>
                  <a:lnTo>
                    <a:pt x="511065" y="63894"/>
                  </a:lnTo>
                  <a:lnTo>
                    <a:pt x="470616" y="52273"/>
                  </a:lnTo>
                  <a:lnTo>
                    <a:pt x="427064" y="41712"/>
                  </a:lnTo>
                  <a:lnTo>
                    <a:pt x="380684" y="32249"/>
                  </a:lnTo>
                  <a:lnTo>
                    <a:pt x="331753" y="23924"/>
                  </a:lnTo>
                  <a:lnTo>
                    <a:pt x="280545" y="16773"/>
                  </a:lnTo>
                  <a:lnTo>
                    <a:pt x="227336" y="10837"/>
                  </a:lnTo>
                  <a:lnTo>
                    <a:pt x="172402" y="6153"/>
                  </a:lnTo>
                  <a:lnTo>
                    <a:pt x="116017" y="2760"/>
                  </a:lnTo>
                  <a:lnTo>
                    <a:pt x="58458" y="696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7835370" y="1359136"/>
              <a:ext cx="48260" cy="31115"/>
            </a:xfrm>
            <a:custGeom>
              <a:avLst/>
              <a:gdLst/>
              <a:ahLst/>
              <a:cxnLst/>
              <a:rect l="l" t="t" r="r" b="b"/>
              <a:pathLst>
                <a:path w="48259" h="31115">
                  <a:moveTo>
                    <a:pt x="0" y="31107"/>
                  </a:moveTo>
                  <a:lnTo>
                    <a:pt x="290" y="0"/>
                  </a:lnTo>
                  <a:lnTo>
                    <a:pt x="47875" y="15983"/>
                  </a:lnTo>
                  <a:lnTo>
                    <a:pt x="0" y="31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7258362" y="1233763"/>
              <a:ext cx="153670" cy="130175"/>
            </a:xfrm>
            <a:custGeom>
              <a:avLst/>
              <a:gdLst/>
              <a:ahLst/>
              <a:cxnLst/>
              <a:rect l="l" t="t" r="r" b="b"/>
              <a:pathLst>
                <a:path w="153670" h="130175">
                  <a:moveTo>
                    <a:pt x="153496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153496" y="0"/>
                  </a:lnTo>
                  <a:lnTo>
                    <a:pt x="153496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6786981" y="1145478"/>
              <a:ext cx="1016635" cy="76200"/>
            </a:xfrm>
            <a:custGeom>
              <a:avLst/>
              <a:gdLst/>
              <a:ahLst/>
              <a:cxnLst/>
              <a:rect l="l" t="t" r="r" b="b"/>
              <a:pathLst>
                <a:path w="1016634" h="76200">
                  <a:moveTo>
                    <a:pt x="1016600" y="75897"/>
                  </a:moveTo>
                  <a:lnTo>
                    <a:pt x="955131" y="74495"/>
                  </a:lnTo>
                  <a:lnTo>
                    <a:pt x="895256" y="72338"/>
                  </a:lnTo>
                  <a:lnTo>
                    <a:pt x="837301" y="69451"/>
                  </a:lnTo>
                  <a:lnTo>
                    <a:pt x="781591" y="65860"/>
                  </a:lnTo>
                  <a:lnTo>
                    <a:pt x="728453" y="61593"/>
                  </a:lnTo>
                  <a:lnTo>
                    <a:pt x="678212" y="56675"/>
                  </a:lnTo>
                  <a:lnTo>
                    <a:pt x="631193" y="51132"/>
                  </a:lnTo>
                  <a:lnTo>
                    <a:pt x="587724" y="44990"/>
                  </a:lnTo>
                  <a:lnTo>
                    <a:pt x="548128" y="38276"/>
                  </a:lnTo>
                  <a:lnTo>
                    <a:pt x="511057" y="31955"/>
                  </a:lnTo>
                  <a:lnTo>
                    <a:pt x="470608" y="26143"/>
                  </a:lnTo>
                  <a:lnTo>
                    <a:pt x="427057" y="20862"/>
                  </a:lnTo>
                  <a:lnTo>
                    <a:pt x="380679" y="16130"/>
                  </a:lnTo>
                  <a:lnTo>
                    <a:pt x="331748" y="11966"/>
                  </a:lnTo>
                  <a:lnTo>
                    <a:pt x="280542" y="8390"/>
                  </a:lnTo>
                  <a:lnTo>
                    <a:pt x="227334" y="5421"/>
                  </a:lnTo>
                  <a:lnTo>
                    <a:pt x="172400" y="3078"/>
                  </a:lnTo>
                  <a:lnTo>
                    <a:pt x="116017" y="1381"/>
                  </a:lnTo>
                  <a:lnTo>
                    <a:pt x="58458" y="348"/>
                  </a:lnTo>
                  <a:lnTo>
                    <a:pt x="0" y="0"/>
                  </a:lnTo>
                </a:path>
              </a:pathLst>
            </a:custGeom>
            <a:ln w="1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7802142" y="1195012"/>
              <a:ext cx="81280" cy="52705"/>
            </a:xfrm>
            <a:custGeom>
              <a:avLst/>
              <a:gdLst/>
              <a:ahLst/>
              <a:cxnLst/>
              <a:rect l="l" t="t" r="r" b="b"/>
              <a:pathLst>
                <a:path w="81279" h="52705">
                  <a:moveTo>
                    <a:pt x="0" y="52704"/>
                  </a:moveTo>
                  <a:lnTo>
                    <a:pt x="447" y="0"/>
                  </a:lnTo>
                  <a:lnTo>
                    <a:pt x="81107" y="27016"/>
                  </a:lnTo>
                  <a:lnTo>
                    <a:pt x="0" y="52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7227640" y="1118948"/>
              <a:ext cx="215265" cy="130175"/>
            </a:xfrm>
            <a:custGeom>
              <a:avLst/>
              <a:gdLst/>
              <a:ahLst/>
              <a:cxnLst/>
              <a:rect l="l" t="t" r="r" b="b"/>
              <a:pathLst>
                <a:path w="215265" h="130175">
                  <a:moveTo>
                    <a:pt x="214955" y="129614"/>
                  </a:moveTo>
                  <a:lnTo>
                    <a:pt x="0" y="129614"/>
                  </a:lnTo>
                  <a:lnTo>
                    <a:pt x="0" y="0"/>
                  </a:lnTo>
                  <a:lnTo>
                    <a:pt x="214955" y="0"/>
                  </a:lnTo>
                  <a:lnTo>
                    <a:pt x="214955" y="129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7" name="object 247" descr=""/>
          <p:cNvSpPr txBox="1"/>
          <p:nvPr/>
        </p:nvSpPr>
        <p:spPr>
          <a:xfrm>
            <a:off x="7153617" y="1095446"/>
            <a:ext cx="363220" cy="2698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60960">
              <a:lnSpc>
                <a:spcPts val="900"/>
              </a:lnSpc>
              <a:spcBef>
                <a:spcPts val="229"/>
              </a:spcBef>
            </a:pPr>
            <a:r>
              <a:rPr dirty="0" sz="850" spc="-20">
                <a:solidFill>
                  <a:srgbClr val="595958"/>
                </a:solidFill>
                <a:latin typeface="Microsoft Sans Serif"/>
                <a:cs typeface="Microsoft Sans Serif"/>
              </a:rPr>
              <a:t>core </a:t>
            </a:r>
            <a:r>
              <a:rPr dirty="0" sz="850" spc="-10">
                <a:solidFill>
                  <a:srgbClr val="595958"/>
                </a:solidFill>
                <a:latin typeface="Microsoft Sans Serif"/>
                <a:cs typeface="Microsoft Sans Serif"/>
              </a:rPr>
              <a:t>CP/UP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48" name="object 248" descr=""/>
          <p:cNvSpPr txBox="1"/>
          <p:nvPr/>
        </p:nvSpPr>
        <p:spPr>
          <a:xfrm>
            <a:off x="6436182" y="4586240"/>
            <a:ext cx="2317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25">
                <a:latin typeface="Microsoft Sans Serif"/>
                <a:cs typeface="Microsoft Sans Serif"/>
              </a:rPr>
              <a:t>4G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49" name="object 249" descr=""/>
          <p:cNvSpPr txBox="1"/>
          <p:nvPr/>
        </p:nvSpPr>
        <p:spPr>
          <a:xfrm>
            <a:off x="8002313" y="4586240"/>
            <a:ext cx="2317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25">
                <a:latin typeface="Microsoft Sans Serif"/>
                <a:cs typeface="Microsoft Sans Serif"/>
              </a:rPr>
              <a:t>5G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7520" y="843559"/>
            <a:ext cx="6503479" cy="40903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4343" y="133092"/>
            <a:ext cx="294005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CU/DU</a:t>
            </a:r>
            <a:r>
              <a:rPr dirty="0" spc="-40"/>
              <a:t>分离架构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510430" y="1732762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F1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33345" y="1018845"/>
            <a:ext cx="735330" cy="33655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ctr" marR="51435">
              <a:lnSpc>
                <a:spcPct val="100000"/>
              </a:lnSpc>
              <a:spcBef>
                <a:spcPts val="365"/>
              </a:spcBef>
            </a:pPr>
            <a:r>
              <a:rPr dirty="0" sz="800" spc="-10" b="1">
                <a:solidFill>
                  <a:srgbClr val="FF0000"/>
                </a:solidFill>
                <a:latin typeface="Microsoft YaHei"/>
                <a:cs typeface="Microsoft YaHei"/>
              </a:rPr>
              <a:t>CU</a:t>
            </a:r>
            <a:r>
              <a:rPr dirty="0" sz="800" spc="-30" b="1">
                <a:solidFill>
                  <a:srgbClr val="FF0000"/>
                </a:solidFill>
                <a:latin typeface="Microsoft YaHei"/>
                <a:cs typeface="Microsoft YaHei"/>
              </a:rPr>
              <a:t>设备</a:t>
            </a:r>
            <a:endParaRPr sz="8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800" spc="-20" b="1">
                <a:latin typeface="Microsoft YaHei"/>
                <a:cs typeface="Microsoft YaHei"/>
              </a:rPr>
              <a:t>基带非实时处理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57501" y="1789531"/>
            <a:ext cx="14566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Microsoft YaHei"/>
                <a:cs typeface="Microsoft YaHei"/>
              </a:rPr>
              <a:t>通用硬件平台，NFV</a:t>
            </a:r>
            <a:r>
              <a:rPr dirty="0" sz="800" spc="-20" b="1">
                <a:latin typeface="Microsoft YaHei"/>
                <a:cs typeface="Microsoft YaHei"/>
              </a:rPr>
              <a:t>虚拟化实现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33504" y="1065141"/>
            <a:ext cx="344170" cy="413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latin typeface="Microsoft YaHei"/>
                <a:cs typeface="Microsoft YaHei"/>
              </a:rPr>
              <a:t>RRC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dirty="0" sz="900" spc="-20" b="1">
                <a:latin typeface="Microsoft YaHei"/>
                <a:cs typeface="Microsoft YaHei"/>
              </a:rPr>
              <a:t>PDCP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83323" y="2346292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F1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16329" y="2346292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Microsoft YaHei"/>
                <a:cs typeface="Microsoft YaHei"/>
              </a:rPr>
              <a:t>F1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74230" y="2106033"/>
            <a:ext cx="306070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latin typeface="Microsoft YaHei"/>
                <a:cs typeface="Microsoft YaHei"/>
              </a:rPr>
              <a:t>RLC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 spc="-25" b="1">
                <a:latin typeface="Microsoft YaHei"/>
                <a:cs typeface="Microsoft YaHei"/>
              </a:rPr>
              <a:t>MAC</a:t>
            </a:r>
            <a:endParaRPr sz="900">
              <a:latin typeface="Microsoft YaHei"/>
              <a:cs typeface="Microsoft YaHei"/>
            </a:endParaRPr>
          </a:p>
          <a:p>
            <a:pPr marL="33655">
              <a:lnSpc>
                <a:spcPct val="100000"/>
              </a:lnSpc>
              <a:spcBef>
                <a:spcPts val="1155"/>
              </a:spcBef>
            </a:pPr>
            <a:r>
              <a:rPr dirty="0" sz="900" spc="-25" b="1">
                <a:latin typeface="Microsoft YaHei"/>
                <a:cs typeface="Microsoft YaHei"/>
              </a:rPr>
              <a:t>PHY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03185" y="2981190"/>
            <a:ext cx="2926715" cy="627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28346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Microsoft YaHei"/>
                <a:cs typeface="Microsoft YaHei"/>
              </a:rPr>
              <a:t>CPRI或eCPRI</a:t>
            </a:r>
            <a:endParaRPr sz="8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00">
              <a:latin typeface="Microsoft YaHei"/>
              <a:cs typeface="Microsoft YaHei"/>
            </a:endParaRPr>
          </a:p>
          <a:p>
            <a:pPr algn="ctr" marR="2298065">
              <a:lnSpc>
                <a:spcPct val="100000"/>
              </a:lnSpc>
            </a:pPr>
            <a:r>
              <a:rPr dirty="0" sz="900" spc="-25" b="1">
                <a:latin typeface="Microsoft YaHei"/>
                <a:cs typeface="Microsoft YaHei"/>
              </a:rPr>
              <a:t>RF</a:t>
            </a:r>
            <a:endParaRPr sz="900">
              <a:latin typeface="Microsoft YaHei"/>
              <a:cs typeface="Microsoft YaHei"/>
            </a:endParaRPr>
          </a:p>
          <a:p>
            <a:pPr marL="1130935">
              <a:lnSpc>
                <a:spcPct val="100000"/>
              </a:lnSpc>
              <a:spcBef>
                <a:spcPts val="145"/>
              </a:spcBef>
            </a:pPr>
            <a:r>
              <a:rPr dirty="0" sz="800" spc="-20" b="1">
                <a:solidFill>
                  <a:srgbClr val="FF0000"/>
                </a:solidFill>
                <a:latin typeface="Microsoft YaHei"/>
                <a:cs typeface="Microsoft YaHei"/>
              </a:rPr>
              <a:t>DU</a:t>
            </a:r>
            <a:r>
              <a:rPr dirty="0" sz="800" spc="-10" b="1">
                <a:solidFill>
                  <a:srgbClr val="FF0000"/>
                </a:solidFill>
                <a:latin typeface="Microsoft YaHei"/>
                <a:cs typeface="Microsoft YaHei"/>
              </a:rPr>
              <a:t>设备</a:t>
            </a:r>
            <a:r>
              <a:rPr dirty="0" sz="800" spc="-15" b="1">
                <a:latin typeface="Microsoft YaHei"/>
                <a:cs typeface="Microsoft YaHei"/>
              </a:rPr>
              <a:t>，基带实时处理，专用硬件平台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73847" y="3884350"/>
            <a:ext cx="2409825" cy="442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8415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时延：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eMBB</a:t>
            </a: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(百微妙级 ) 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uRLLC</a:t>
            </a:r>
            <a:r>
              <a:rPr dirty="0" sz="900" spc="-15" b="1">
                <a:solidFill>
                  <a:srgbClr val="0000FF"/>
                </a:solidFill>
                <a:latin typeface="Microsoft YaHei"/>
                <a:cs typeface="Microsoft YaHei"/>
              </a:rPr>
              <a:t>(几十微妙 )</a:t>
            </a:r>
            <a:endParaRPr sz="900">
              <a:latin typeface="Microsoft YaHei"/>
              <a:cs typeface="Microsoft YaHei"/>
            </a:endParaRPr>
          </a:p>
          <a:p>
            <a:pPr algn="r" marR="5080">
              <a:lnSpc>
                <a:spcPct val="100000"/>
              </a:lnSpc>
              <a:spcBef>
                <a:spcPts val="1120"/>
              </a:spcBef>
            </a:pP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前传带宽：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eMBB</a:t>
            </a: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(约二十几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Gbps@100MHz</a:t>
            </a:r>
            <a:r>
              <a:rPr dirty="0" sz="900" b="1">
                <a:solidFill>
                  <a:srgbClr val="0000FF"/>
                </a:solidFill>
                <a:latin typeface="Microsoft YaHei"/>
                <a:cs typeface="Microsoft YaHei"/>
              </a:rPr>
              <a:t> )</a:t>
            </a:r>
            <a:endParaRPr sz="900">
              <a:latin typeface="Microsoft YaHei"/>
              <a:cs typeface="Microsoft Ya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88001" y="3918913"/>
            <a:ext cx="2066925" cy="442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时延：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eMBB</a:t>
            </a:r>
            <a:r>
              <a:rPr dirty="0" sz="900" spc="-15" b="1">
                <a:solidFill>
                  <a:srgbClr val="0000FF"/>
                </a:solidFill>
                <a:latin typeface="Microsoft YaHei"/>
                <a:cs typeface="Microsoft YaHei"/>
              </a:rPr>
              <a:t>(几毫秒 )</a:t>
            </a:r>
            <a:endParaRPr sz="9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中传带宽：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eMBB</a:t>
            </a:r>
            <a:r>
              <a:rPr dirty="0" sz="900" spc="-5" b="1">
                <a:solidFill>
                  <a:srgbClr val="0000FF"/>
                </a:solidFill>
                <a:latin typeface="Microsoft YaHei"/>
                <a:cs typeface="Microsoft YaHei"/>
              </a:rPr>
              <a:t>(几</a:t>
            </a:r>
            <a:r>
              <a:rPr dirty="0" sz="900" spc="-10" b="1">
                <a:solidFill>
                  <a:srgbClr val="0000FF"/>
                </a:solidFill>
                <a:latin typeface="Microsoft YaHei"/>
                <a:cs typeface="Microsoft YaHei"/>
              </a:rPr>
              <a:t>Gbps@100MHz</a:t>
            </a:r>
            <a:r>
              <a:rPr dirty="0" sz="900" b="1">
                <a:solidFill>
                  <a:srgbClr val="0000FF"/>
                </a:solidFill>
                <a:latin typeface="Microsoft YaHei"/>
                <a:cs typeface="Microsoft YaHei"/>
              </a:rPr>
              <a:t> )</a:t>
            </a:r>
            <a:endParaRPr sz="9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731" y="112769"/>
            <a:ext cx="337121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 b="0">
                <a:latin typeface="Times New Roman"/>
                <a:cs typeface="Times New Roman"/>
              </a:rPr>
              <a:t>5G</a:t>
            </a:r>
            <a:r>
              <a:rPr dirty="0" spc="-40"/>
              <a:t>接入网方案部署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45288" y="1124751"/>
          <a:ext cx="8688070" cy="3514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4405"/>
                <a:gridCol w="2067560"/>
                <a:gridCol w="2756535"/>
                <a:gridCol w="1378584"/>
                <a:gridCol w="1449070"/>
              </a:tblGrid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5">
                          <a:latin typeface="SimSun"/>
                          <a:cs typeface="SimSun"/>
                        </a:rPr>
                        <a:t>切换方案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0">
                          <a:latin typeface="SimSun"/>
                          <a:cs typeface="SimSun"/>
                        </a:rPr>
                        <a:t>资源集中度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5">
                          <a:latin typeface="SimSun"/>
                          <a:cs typeface="SimSun"/>
                        </a:rPr>
                        <a:t>协同性能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0">
                          <a:latin typeface="SimSun"/>
                          <a:cs typeface="SimSun"/>
                        </a:rPr>
                        <a:t>传输带宽要求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0">
                          <a:latin typeface="SimSun"/>
                          <a:cs typeface="SimSun"/>
                        </a:rPr>
                        <a:t>传输时延要求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25">
                          <a:latin typeface="Arial MT"/>
                          <a:cs typeface="Arial MT"/>
                        </a:rPr>
                        <a:t>RRC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>
                          <a:latin typeface="SimSun"/>
                          <a:cs typeface="SimSun"/>
                        </a:rPr>
                        <a:t>不支持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50">
                          <a:latin typeface="SimSun"/>
                          <a:cs typeface="SimSun"/>
                        </a:rPr>
                        <a:t>低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SimSun"/>
                          <a:cs typeface="SimSun"/>
                        </a:rPr>
                        <a:t>宽松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577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RRC+L2(</a:t>
                      </a:r>
                      <a:r>
                        <a:rPr dirty="0" sz="1200">
                          <a:latin typeface="SimSun"/>
                          <a:cs typeface="SimSun"/>
                        </a:rPr>
                        <a:t>部分</a:t>
                      </a:r>
                      <a:r>
                        <a:rPr dirty="0" sz="1200" spc="-50">
                          <a:latin typeface="SimSun"/>
                          <a:cs typeface="SimSun"/>
                        </a:rPr>
                        <a:t>）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0">
                          <a:latin typeface="SimSun"/>
                          <a:cs typeface="SimSun"/>
                        </a:rPr>
                        <a:t>集中化调度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25">
                          <a:latin typeface="SimSun"/>
                          <a:cs typeface="SimSun"/>
                        </a:rPr>
                        <a:t>较严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RRC+L2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35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5">
                          <a:latin typeface="SimSun"/>
                          <a:cs typeface="SimSun"/>
                        </a:rPr>
                        <a:t>集中化调度、多小区干扰协调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SimSun"/>
                          <a:cs typeface="SimSun"/>
                        </a:rPr>
                        <a:t>严格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option7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RRC+L2+PHY(</a:t>
                      </a:r>
                      <a:r>
                        <a:rPr dirty="0" sz="1200">
                          <a:latin typeface="SimSun"/>
                          <a:cs typeface="SimSun"/>
                        </a:rPr>
                        <a:t>部分</a:t>
                      </a:r>
                      <a:r>
                        <a:rPr dirty="0" sz="1200" spc="-50">
                          <a:latin typeface="SimSun"/>
                          <a:cs typeface="SimSun"/>
                        </a:rPr>
                        <a:t>）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88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0" marR="74930" indent="-10668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00" spc="-5">
                          <a:latin typeface="SimSun"/>
                          <a:cs typeface="SimSun"/>
                        </a:rPr>
                        <a:t>集中化调度、多小区干扰协调上行高级</a:t>
                      </a:r>
                      <a:r>
                        <a:rPr dirty="0" sz="1200" spc="-20">
                          <a:latin typeface="SimSun"/>
                          <a:cs typeface="SimSun"/>
                        </a:rPr>
                        <a:t>接受机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927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50">
                          <a:latin typeface="SimSun"/>
                          <a:cs typeface="SimSun"/>
                        </a:rPr>
                        <a:t>中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88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option8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RRC+L2+PHY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8715" marR="75565" indent="-10668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00" spc="-5">
                          <a:latin typeface="SimSun"/>
                          <a:cs typeface="SimSun"/>
                        </a:rPr>
                        <a:t>集中化调度、多小区干扰协调上行高级</a:t>
                      </a:r>
                      <a:r>
                        <a:rPr dirty="0" sz="1200" spc="-20">
                          <a:latin typeface="SimSun"/>
                          <a:cs typeface="SimSun"/>
                        </a:rPr>
                        <a:t>接受机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927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50">
                          <a:latin typeface="SimSun"/>
                          <a:cs typeface="SimSun"/>
                        </a:rPr>
                        <a:t>高</a:t>
                      </a:r>
                      <a:endParaRPr sz="1200">
                        <a:latin typeface="SimSun"/>
                        <a:cs typeface="SimSun"/>
                      </a:endParaRPr>
                    </a:p>
                  </a:txBody>
                  <a:tcPr marL="0" marR="0" marB="0" marT="88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85677" y="768948"/>
            <a:ext cx="2164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Microsoft YaHei"/>
                <a:cs typeface="Microsoft YaHei"/>
              </a:rPr>
              <a:t>CU/DU</a:t>
            </a:r>
            <a:r>
              <a:rPr dirty="0" sz="1800" spc="-10">
                <a:latin typeface="Microsoft YaHei"/>
                <a:cs typeface="Microsoft YaHei"/>
              </a:rPr>
              <a:t>方案策略比较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2809" y="4672979"/>
            <a:ext cx="8114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Arial"/>
                <a:cs typeface="Arial"/>
              </a:rPr>
              <a:t>Option4:</a:t>
            </a:r>
            <a:r>
              <a:rPr dirty="0" sz="1800">
                <a:latin typeface="SimSun"/>
                <a:cs typeface="SimSun"/>
              </a:rPr>
              <a:t>对传输时延要求很高</a:t>
            </a:r>
            <a:r>
              <a:rPr dirty="0" sz="1800" spc="-10">
                <a:latin typeface="Arial MT"/>
                <a:cs typeface="Arial MT"/>
              </a:rPr>
              <a:t>,</a:t>
            </a:r>
            <a:r>
              <a:rPr dirty="0" sz="1800" spc="-5">
                <a:latin typeface="SimSun"/>
                <a:cs typeface="SimSun"/>
              </a:rPr>
              <a:t>且未看到其他性能增益，后续基本不考虑该方案。</a:t>
            </a:r>
            <a:endParaRPr sz="1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5216" y="112769"/>
            <a:ext cx="33693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5"/>
              <a:t>接入网方案部署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81000" y="1200148"/>
            <a:ext cx="2613660" cy="3640454"/>
          </a:xfrm>
          <a:custGeom>
            <a:avLst/>
            <a:gdLst/>
            <a:ahLst/>
            <a:cxnLst/>
            <a:rect l="l" t="t" r="r" b="b"/>
            <a:pathLst>
              <a:path w="2613660" h="3640454">
                <a:moveTo>
                  <a:pt x="0" y="435533"/>
                </a:moveTo>
                <a:lnTo>
                  <a:pt x="2555" y="388077"/>
                </a:lnTo>
                <a:lnTo>
                  <a:pt x="10045" y="342101"/>
                </a:lnTo>
                <a:lnTo>
                  <a:pt x="22203" y="297871"/>
                </a:lnTo>
                <a:lnTo>
                  <a:pt x="38765" y="255653"/>
                </a:lnTo>
                <a:lnTo>
                  <a:pt x="59463" y="215711"/>
                </a:lnTo>
                <a:lnTo>
                  <a:pt x="84032" y="178313"/>
                </a:lnTo>
                <a:lnTo>
                  <a:pt x="112208" y="143723"/>
                </a:lnTo>
                <a:lnTo>
                  <a:pt x="143723" y="112208"/>
                </a:lnTo>
                <a:lnTo>
                  <a:pt x="178313" y="84032"/>
                </a:lnTo>
                <a:lnTo>
                  <a:pt x="215711" y="59463"/>
                </a:lnTo>
                <a:lnTo>
                  <a:pt x="255653" y="38765"/>
                </a:lnTo>
                <a:lnTo>
                  <a:pt x="297871" y="22203"/>
                </a:lnTo>
                <a:lnTo>
                  <a:pt x="342101" y="10045"/>
                </a:lnTo>
                <a:lnTo>
                  <a:pt x="388077" y="2555"/>
                </a:lnTo>
                <a:lnTo>
                  <a:pt x="435533" y="0"/>
                </a:lnTo>
                <a:lnTo>
                  <a:pt x="2177605" y="0"/>
                </a:lnTo>
                <a:lnTo>
                  <a:pt x="2225061" y="2555"/>
                </a:lnTo>
                <a:lnTo>
                  <a:pt x="2271037" y="10045"/>
                </a:lnTo>
                <a:lnTo>
                  <a:pt x="2315267" y="22203"/>
                </a:lnTo>
                <a:lnTo>
                  <a:pt x="2357486" y="38765"/>
                </a:lnTo>
                <a:lnTo>
                  <a:pt x="2397427" y="59463"/>
                </a:lnTo>
                <a:lnTo>
                  <a:pt x="2434825" y="84032"/>
                </a:lnTo>
                <a:lnTo>
                  <a:pt x="2469415" y="112208"/>
                </a:lnTo>
                <a:lnTo>
                  <a:pt x="2500930" y="143723"/>
                </a:lnTo>
                <a:lnTo>
                  <a:pt x="2529106" y="178313"/>
                </a:lnTo>
                <a:lnTo>
                  <a:pt x="2553676" y="215711"/>
                </a:lnTo>
                <a:lnTo>
                  <a:pt x="2574374" y="255653"/>
                </a:lnTo>
                <a:lnTo>
                  <a:pt x="2590935" y="297871"/>
                </a:lnTo>
                <a:lnTo>
                  <a:pt x="2603093" y="342101"/>
                </a:lnTo>
                <a:lnTo>
                  <a:pt x="2610583" y="388077"/>
                </a:lnTo>
                <a:lnTo>
                  <a:pt x="2613139" y="435533"/>
                </a:lnTo>
                <a:lnTo>
                  <a:pt x="2613139" y="3204324"/>
                </a:lnTo>
                <a:lnTo>
                  <a:pt x="2610583" y="3251780"/>
                </a:lnTo>
                <a:lnTo>
                  <a:pt x="2603093" y="3297756"/>
                </a:lnTo>
                <a:lnTo>
                  <a:pt x="2590935" y="3341986"/>
                </a:lnTo>
                <a:lnTo>
                  <a:pt x="2574374" y="3384204"/>
                </a:lnTo>
                <a:lnTo>
                  <a:pt x="2553676" y="3424146"/>
                </a:lnTo>
                <a:lnTo>
                  <a:pt x="2529106" y="3461544"/>
                </a:lnTo>
                <a:lnTo>
                  <a:pt x="2500930" y="3496134"/>
                </a:lnTo>
                <a:lnTo>
                  <a:pt x="2469415" y="3527649"/>
                </a:lnTo>
                <a:lnTo>
                  <a:pt x="2434825" y="3555825"/>
                </a:lnTo>
                <a:lnTo>
                  <a:pt x="2397427" y="3580394"/>
                </a:lnTo>
                <a:lnTo>
                  <a:pt x="2357486" y="3601093"/>
                </a:lnTo>
                <a:lnTo>
                  <a:pt x="2315267" y="3617654"/>
                </a:lnTo>
                <a:lnTo>
                  <a:pt x="2271037" y="3629812"/>
                </a:lnTo>
                <a:lnTo>
                  <a:pt x="2225061" y="3637302"/>
                </a:lnTo>
                <a:lnTo>
                  <a:pt x="2177605" y="3639858"/>
                </a:lnTo>
                <a:lnTo>
                  <a:pt x="435533" y="3639858"/>
                </a:lnTo>
                <a:lnTo>
                  <a:pt x="388077" y="3637302"/>
                </a:lnTo>
                <a:lnTo>
                  <a:pt x="342101" y="3629812"/>
                </a:lnTo>
                <a:lnTo>
                  <a:pt x="297871" y="3617654"/>
                </a:lnTo>
                <a:lnTo>
                  <a:pt x="255653" y="3601093"/>
                </a:lnTo>
                <a:lnTo>
                  <a:pt x="215711" y="3580394"/>
                </a:lnTo>
                <a:lnTo>
                  <a:pt x="178313" y="3555825"/>
                </a:lnTo>
                <a:lnTo>
                  <a:pt x="143723" y="3527649"/>
                </a:lnTo>
                <a:lnTo>
                  <a:pt x="112208" y="3496134"/>
                </a:lnTo>
                <a:lnTo>
                  <a:pt x="84032" y="3461544"/>
                </a:lnTo>
                <a:lnTo>
                  <a:pt x="59463" y="3424146"/>
                </a:lnTo>
                <a:lnTo>
                  <a:pt x="38765" y="3384204"/>
                </a:lnTo>
                <a:lnTo>
                  <a:pt x="22203" y="3341986"/>
                </a:lnTo>
                <a:lnTo>
                  <a:pt x="10045" y="3297756"/>
                </a:lnTo>
                <a:lnTo>
                  <a:pt x="2555" y="3251780"/>
                </a:lnTo>
                <a:lnTo>
                  <a:pt x="0" y="3204324"/>
                </a:lnTo>
                <a:lnTo>
                  <a:pt x="0" y="435533"/>
                </a:lnTo>
                <a:close/>
              </a:path>
            </a:pathLst>
          </a:custGeom>
          <a:ln w="25400">
            <a:solidFill>
              <a:srgbClr val="89A4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85677" y="845148"/>
            <a:ext cx="2449195" cy="3832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Microsoft YaHei"/>
                <a:cs typeface="Microsoft YaHei"/>
              </a:rPr>
              <a:t>网络架构整体部署</a:t>
            </a:r>
            <a:endParaRPr sz="1800">
              <a:latin typeface="Microsoft YaHei"/>
              <a:cs typeface="Microsoft YaHei"/>
            </a:endParaRPr>
          </a:p>
          <a:p>
            <a:pPr marL="509270" indent="-217170">
              <a:lnSpc>
                <a:spcPct val="100000"/>
              </a:lnSpc>
              <a:spcBef>
                <a:spcPts val="1710"/>
              </a:spcBef>
              <a:buFont typeface="Wingdings"/>
              <a:buChar char=""/>
              <a:tabLst>
                <a:tab pos="509270" algn="l"/>
              </a:tabLst>
            </a:pPr>
            <a:r>
              <a:rPr dirty="0" sz="1500" spc="-10" b="1">
                <a:latin typeface="Microsoft YaHei"/>
                <a:cs typeface="Microsoft YaHei"/>
              </a:rPr>
              <a:t>中心处理虚拟化</a:t>
            </a:r>
            <a:endParaRPr sz="1500">
              <a:latin typeface="Microsoft YaHei"/>
              <a:cs typeface="Microsoft YaHei"/>
            </a:endParaRPr>
          </a:p>
          <a:p>
            <a:pPr marL="449580" marR="5080" indent="-157480">
              <a:lnSpc>
                <a:spcPct val="110000"/>
              </a:lnSpc>
              <a:spcBef>
                <a:spcPts val="500"/>
              </a:spcBef>
              <a:buFont typeface="Microsoft Sans Serif"/>
              <a:buChar char="–"/>
              <a:tabLst>
                <a:tab pos="449580" algn="l"/>
                <a:tab pos="454659" algn="l"/>
              </a:tabLst>
            </a:pPr>
            <a:r>
              <a:rPr dirty="0" sz="1500">
                <a:latin typeface="Microsoft YaHei"/>
                <a:cs typeface="Microsoft YaHei"/>
              </a:rPr>
              <a:t>	基于</a:t>
            </a:r>
            <a:r>
              <a:rPr dirty="0" sz="1500" spc="-10">
                <a:latin typeface="Arial MT"/>
                <a:cs typeface="Arial MT"/>
              </a:rPr>
              <a:t>SDN/NFV</a:t>
            </a:r>
            <a:r>
              <a:rPr dirty="0" sz="1500" spc="-15">
                <a:latin typeface="Microsoft YaHei"/>
                <a:cs typeface="Microsoft YaHei"/>
              </a:rPr>
              <a:t>架构，基</a:t>
            </a:r>
            <a:r>
              <a:rPr dirty="0" sz="1500" spc="-10">
                <a:latin typeface="Microsoft YaHei"/>
                <a:cs typeface="Microsoft YaHei"/>
              </a:rPr>
              <a:t>于虚拟化软件平台</a:t>
            </a:r>
            <a:endParaRPr sz="1500">
              <a:latin typeface="Microsoft YaHei"/>
              <a:cs typeface="Microsoft YaHei"/>
            </a:endParaRPr>
          </a:p>
          <a:p>
            <a:pPr marL="454659" indent="-162560">
              <a:lnSpc>
                <a:spcPct val="100000"/>
              </a:lnSpc>
              <a:spcBef>
                <a:spcPts val="680"/>
              </a:spcBef>
              <a:buFont typeface="Microsoft Sans Serif"/>
              <a:buChar char="–"/>
              <a:tabLst>
                <a:tab pos="454659" algn="l"/>
              </a:tabLst>
            </a:pPr>
            <a:r>
              <a:rPr dirty="0" sz="1500" spc="-10">
                <a:latin typeface="Microsoft YaHei"/>
                <a:cs typeface="Microsoft YaHei"/>
              </a:rPr>
              <a:t>软件定义核心网</a:t>
            </a:r>
            <a:endParaRPr sz="1500">
              <a:latin typeface="Microsoft YaHei"/>
              <a:cs typeface="Microsoft YaHei"/>
            </a:endParaRPr>
          </a:p>
          <a:p>
            <a:pPr marL="454659" indent="-162560">
              <a:lnSpc>
                <a:spcPct val="100000"/>
              </a:lnSpc>
              <a:spcBef>
                <a:spcPts val="680"/>
              </a:spcBef>
              <a:buFont typeface="Microsoft Sans Serif"/>
              <a:buChar char="–"/>
              <a:tabLst>
                <a:tab pos="454659" algn="l"/>
              </a:tabLst>
            </a:pPr>
            <a:r>
              <a:rPr dirty="0" sz="1500">
                <a:latin typeface="Microsoft YaHei"/>
                <a:cs typeface="Microsoft YaHei"/>
              </a:rPr>
              <a:t>软件定义</a:t>
            </a:r>
            <a:r>
              <a:rPr dirty="0" sz="1500" spc="-25">
                <a:latin typeface="Arial MT"/>
                <a:cs typeface="Arial MT"/>
              </a:rPr>
              <a:t>L3</a:t>
            </a:r>
            <a:endParaRPr sz="1500">
              <a:latin typeface="Arial MT"/>
              <a:cs typeface="Arial MT"/>
            </a:endParaRPr>
          </a:p>
          <a:p>
            <a:pPr marL="486409" indent="-194310">
              <a:lnSpc>
                <a:spcPct val="100000"/>
              </a:lnSpc>
              <a:spcBef>
                <a:spcPts val="680"/>
              </a:spcBef>
              <a:buFont typeface="Wingdings"/>
              <a:buChar char=""/>
              <a:tabLst>
                <a:tab pos="486409" algn="l"/>
              </a:tabLst>
            </a:pPr>
            <a:r>
              <a:rPr dirty="0" sz="1500" spc="-10" b="1">
                <a:latin typeface="Microsoft YaHei"/>
                <a:cs typeface="Microsoft YaHei"/>
              </a:rPr>
              <a:t>多种接入架构并存</a:t>
            </a:r>
            <a:endParaRPr sz="1500">
              <a:latin typeface="Microsoft YaHei"/>
              <a:cs typeface="Microsoft YaHei"/>
            </a:endParaRPr>
          </a:p>
          <a:p>
            <a:pPr marL="509905" indent="-217804">
              <a:lnSpc>
                <a:spcPct val="100000"/>
              </a:lnSpc>
              <a:spcBef>
                <a:spcPts val="680"/>
              </a:spcBef>
              <a:buChar char="–"/>
              <a:tabLst>
                <a:tab pos="509905" algn="l"/>
              </a:tabLst>
            </a:pPr>
            <a:r>
              <a:rPr dirty="0" sz="1500" spc="-25">
                <a:latin typeface="Microsoft YaHei"/>
                <a:cs typeface="Microsoft YaHei"/>
              </a:rPr>
              <a:t>传统 </a:t>
            </a:r>
            <a:r>
              <a:rPr dirty="0" sz="1500">
                <a:latin typeface="Arial MT"/>
                <a:cs typeface="Arial MT"/>
              </a:rPr>
              <a:t>BBU+RRU</a:t>
            </a:r>
            <a:r>
              <a:rPr dirty="0" sz="1500" spc="-40">
                <a:latin typeface="Arial MT"/>
                <a:cs typeface="Arial MT"/>
              </a:rPr>
              <a:t> ,</a:t>
            </a:r>
            <a:endParaRPr sz="1500">
              <a:latin typeface="Arial MT"/>
              <a:cs typeface="Arial MT"/>
            </a:endParaRPr>
          </a:p>
          <a:p>
            <a:pPr marL="509905" indent="-217804">
              <a:lnSpc>
                <a:spcPct val="100000"/>
              </a:lnSpc>
              <a:spcBef>
                <a:spcPts val="680"/>
              </a:spcBef>
              <a:buChar char="–"/>
              <a:tabLst>
                <a:tab pos="509905" algn="l"/>
              </a:tabLst>
            </a:pPr>
            <a:r>
              <a:rPr dirty="0" sz="1500" spc="-10">
                <a:latin typeface="Microsoft YaHei"/>
                <a:cs typeface="Microsoft YaHei"/>
              </a:rPr>
              <a:t>分布式 </a:t>
            </a:r>
            <a:r>
              <a:rPr dirty="0" sz="1500" spc="-10">
                <a:latin typeface="Arial MT"/>
                <a:cs typeface="Arial MT"/>
              </a:rPr>
              <a:t>picoRRU</a:t>
            </a:r>
            <a:endParaRPr sz="1500">
              <a:latin typeface="Arial MT"/>
              <a:cs typeface="Arial MT"/>
            </a:endParaRPr>
          </a:p>
          <a:p>
            <a:pPr marL="509905" indent="-217804">
              <a:lnSpc>
                <a:spcPct val="100000"/>
              </a:lnSpc>
              <a:spcBef>
                <a:spcPts val="680"/>
              </a:spcBef>
              <a:buChar char="–"/>
              <a:tabLst>
                <a:tab pos="509905" algn="l"/>
              </a:tabLst>
            </a:pPr>
            <a:r>
              <a:rPr dirty="0" sz="1500">
                <a:latin typeface="Microsoft YaHei"/>
                <a:cs typeface="Microsoft YaHei"/>
              </a:rPr>
              <a:t>一体化</a:t>
            </a:r>
            <a:r>
              <a:rPr dirty="0" sz="1500" spc="-10">
                <a:latin typeface="Arial MT"/>
                <a:cs typeface="Arial MT"/>
              </a:rPr>
              <a:t>Smallcell</a:t>
            </a:r>
            <a:endParaRPr sz="1500">
              <a:latin typeface="Arial MT"/>
              <a:cs typeface="Arial MT"/>
            </a:endParaRPr>
          </a:p>
          <a:p>
            <a:pPr marL="509905" indent="-217804">
              <a:lnSpc>
                <a:spcPct val="100000"/>
              </a:lnSpc>
              <a:spcBef>
                <a:spcPts val="680"/>
              </a:spcBef>
              <a:buFont typeface="Microsoft YaHei"/>
              <a:buChar char="–"/>
              <a:tabLst>
                <a:tab pos="509905" algn="l"/>
              </a:tabLst>
            </a:pPr>
            <a:r>
              <a:rPr dirty="0" sz="1500" spc="-10">
                <a:latin typeface="Arial MT"/>
                <a:cs typeface="Arial MT"/>
              </a:rPr>
              <a:t>CU+DU+AAU</a:t>
            </a:r>
            <a:endParaRPr sz="1500">
              <a:latin typeface="Arial MT"/>
              <a:cs typeface="Arial MT"/>
            </a:endParaRPr>
          </a:p>
          <a:p>
            <a:pPr marL="509905" indent="-217804">
              <a:lnSpc>
                <a:spcPct val="100000"/>
              </a:lnSpc>
              <a:spcBef>
                <a:spcPts val="680"/>
              </a:spcBef>
              <a:buFont typeface="Microsoft YaHei"/>
              <a:buChar char="–"/>
              <a:tabLst>
                <a:tab pos="509905" algn="l"/>
              </a:tabLst>
            </a:pPr>
            <a:r>
              <a:rPr dirty="0" sz="1500" spc="-20">
                <a:latin typeface="Arial MT"/>
                <a:cs typeface="Arial MT"/>
              </a:rPr>
              <a:t>CU+</a:t>
            </a:r>
            <a:r>
              <a:rPr dirty="0" sz="1500">
                <a:latin typeface="Microsoft YaHei"/>
                <a:cs typeface="Microsoft YaHei"/>
              </a:rPr>
              <a:t>一体化</a:t>
            </a:r>
            <a:r>
              <a:rPr dirty="0" sz="1500" spc="-25">
                <a:latin typeface="Arial MT"/>
                <a:cs typeface="Arial MT"/>
              </a:rPr>
              <a:t>DU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659962" y="1444108"/>
            <a:ext cx="4712970" cy="2445385"/>
            <a:chOff x="3659962" y="1444108"/>
            <a:chExt cx="4712970" cy="2445385"/>
          </a:xfrm>
        </p:grpSpPr>
        <p:sp>
          <p:nvSpPr>
            <p:cNvPr id="6" name="object 6" descr=""/>
            <p:cNvSpPr/>
            <p:nvPr/>
          </p:nvSpPr>
          <p:spPr>
            <a:xfrm>
              <a:off x="7552842" y="3218433"/>
              <a:ext cx="746760" cy="656590"/>
            </a:xfrm>
            <a:custGeom>
              <a:avLst/>
              <a:gdLst/>
              <a:ahLst/>
              <a:cxnLst/>
              <a:rect l="l" t="t" r="r" b="b"/>
              <a:pathLst>
                <a:path w="746759" h="656589">
                  <a:moveTo>
                    <a:pt x="746709" y="0"/>
                  </a:moveTo>
                  <a:lnTo>
                    <a:pt x="0" y="0"/>
                  </a:lnTo>
                  <a:lnTo>
                    <a:pt x="0" y="656170"/>
                  </a:lnTo>
                  <a:lnTo>
                    <a:pt x="746709" y="656170"/>
                  </a:lnTo>
                  <a:lnTo>
                    <a:pt x="746709" y="0"/>
                  </a:lnTo>
                  <a:close/>
                </a:path>
              </a:pathLst>
            </a:custGeom>
            <a:solidFill>
              <a:srgbClr val="FFF0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52842" y="3218433"/>
              <a:ext cx="746760" cy="656590"/>
            </a:xfrm>
            <a:custGeom>
              <a:avLst/>
              <a:gdLst/>
              <a:ahLst/>
              <a:cxnLst/>
              <a:rect l="l" t="t" r="r" b="b"/>
              <a:pathLst>
                <a:path w="746759" h="656589">
                  <a:moveTo>
                    <a:pt x="0" y="0"/>
                  </a:moveTo>
                  <a:lnTo>
                    <a:pt x="746709" y="0"/>
                  </a:lnTo>
                  <a:lnTo>
                    <a:pt x="746709" y="656170"/>
                  </a:lnTo>
                  <a:lnTo>
                    <a:pt x="0" y="65617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84699" y="1450458"/>
              <a:ext cx="518159" cy="412750"/>
            </a:xfrm>
            <a:custGeom>
              <a:avLst/>
              <a:gdLst/>
              <a:ahLst/>
              <a:cxnLst/>
              <a:rect l="l" t="t" r="r" b="b"/>
              <a:pathLst>
                <a:path w="518160" h="412750">
                  <a:moveTo>
                    <a:pt x="517956" y="41243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84699" y="1450464"/>
              <a:ext cx="87630" cy="82550"/>
            </a:xfrm>
            <a:custGeom>
              <a:avLst/>
              <a:gdLst/>
              <a:ahLst/>
              <a:cxnLst/>
              <a:rect l="l" t="t" r="r" b="b"/>
              <a:pathLst>
                <a:path w="87629" h="82550">
                  <a:moveTo>
                    <a:pt x="31927" y="82232"/>
                  </a:moveTo>
                  <a:lnTo>
                    <a:pt x="0" y="0"/>
                  </a:lnTo>
                  <a:lnTo>
                    <a:pt x="87299" y="126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15354" y="1780649"/>
              <a:ext cx="87630" cy="82550"/>
            </a:xfrm>
            <a:custGeom>
              <a:avLst/>
              <a:gdLst/>
              <a:ahLst/>
              <a:cxnLst/>
              <a:rect l="l" t="t" r="r" b="b"/>
              <a:pathLst>
                <a:path w="87629" h="82550">
                  <a:moveTo>
                    <a:pt x="55384" y="0"/>
                  </a:moveTo>
                  <a:lnTo>
                    <a:pt x="87299" y="82245"/>
                  </a:lnTo>
                  <a:lnTo>
                    <a:pt x="0" y="695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17678" y="1844427"/>
              <a:ext cx="4542155" cy="807720"/>
            </a:xfrm>
            <a:custGeom>
              <a:avLst/>
              <a:gdLst/>
              <a:ahLst/>
              <a:cxnLst/>
              <a:rect l="l" t="t" r="r" b="b"/>
              <a:pathLst>
                <a:path w="4542155" h="807719">
                  <a:moveTo>
                    <a:pt x="3843758" y="700323"/>
                  </a:moveTo>
                  <a:lnTo>
                    <a:pt x="1718138" y="700323"/>
                  </a:lnTo>
                  <a:lnTo>
                    <a:pt x="1753822" y="714038"/>
                  </a:lnTo>
                  <a:lnTo>
                    <a:pt x="1793448" y="727070"/>
                  </a:lnTo>
                  <a:lnTo>
                    <a:pt x="1836748" y="739359"/>
                  </a:lnTo>
                  <a:lnTo>
                    <a:pt x="1883452" y="750842"/>
                  </a:lnTo>
                  <a:lnTo>
                    <a:pt x="1933292" y="761458"/>
                  </a:lnTo>
                  <a:lnTo>
                    <a:pt x="1985998" y="771144"/>
                  </a:lnTo>
                  <a:lnTo>
                    <a:pt x="2041302" y="779840"/>
                  </a:lnTo>
                  <a:lnTo>
                    <a:pt x="2098935" y="787483"/>
                  </a:lnTo>
                  <a:lnTo>
                    <a:pt x="2161367" y="794291"/>
                  </a:lnTo>
                  <a:lnTo>
                    <a:pt x="2223943" y="799680"/>
                  </a:lnTo>
                  <a:lnTo>
                    <a:pt x="2286350" y="803675"/>
                  </a:lnTo>
                  <a:lnTo>
                    <a:pt x="2348273" y="806302"/>
                  </a:lnTo>
                  <a:lnTo>
                    <a:pt x="2409398" y="807587"/>
                  </a:lnTo>
                  <a:lnTo>
                    <a:pt x="2468044" y="807587"/>
                  </a:lnTo>
                  <a:lnTo>
                    <a:pt x="2525046" y="806302"/>
                  </a:lnTo>
                  <a:lnTo>
                    <a:pt x="2526535" y="806302"/>
                  </a:lnTo>
                  <a:lnTo>
                    <a:pt x="2584308" y="803675"/>
                  </a:lnTo>
                  <a:lnTo>
                    <a:pt x="2584496" y="803675"/>
                  </a:lnTo>
                  <a:lnTo>
                    <a:pt x="2639639" y="799827"/>
                  </a:lnTo>
                  <a:lnTo>
                    <a:pt x="2692063" y="794792"/>
                  </a:lnTo>
                  <a:lnTo>
                    <a:pt x="2741806" y="788571"/>
                  </a:lnTo>
                  <a:lnTo>
                    <a:pt x="2788552" y="781189"/>
                  </a:lnTo>
                  <a:lnTo>
                    <a:pt x="2831988" y="772674"/>
                  </a:lnTo>
                  <a:lnTo>
                    <a:pt x="2871799" y="763049"/>
                  </a:lnTo>
                  <a:lnTo>
                    <a:pt x="2939292" y="740580"/>
                  </a:lnTo>
                  <a:lnTo>
                    <a:pt x="2988439" y="714038"/>
                  </a:lnTo>
                  <a:lnTo>
                    <a:pt x="3801564" y="714038"/>
                  </a:lnTo>
                  <a:lnTo>
                    <a:pt x="3822716" y="708092"/>
                  </a:lnTo>
                  <a:lnTo>
                    <a:pt x="3843758" y="700323"/>
                  </a:lnTo>
                  <a:close/>
                </a:path>
                <a:path w="4542155" h="807719">
                  <a:moveTo>
                    <a:pt x="3801564" y="714038"/>
                  </a:moveTo>
                  <a:lnTo>
                    <a:pt x="2988787" y="714038"/>
                  </a:lnTo>
                  <a:lnTo>
                    <a:pt x="3036915" y="722901"/>
                  </a:lnTo>
                  <a:lnTo>
                    <a:pt x="3087454" y="730780"/>
                  </a:lnTo>
                  <a:lnTo>
                    <a:pt x="3139801" y="737585"/>
                  </a:lnTo>
                  <a:lnTo>
                    <a:pt x="3193622" y="743276"/>
                  </a:lnTo>
                  <a:lnTo>
                    <a:pt x="3248581" y="747815"/>
                  </a:lnTo>
                  <a:lnTo>
                    <a:pt x="3304342" y="751161"/>
                  </a:lnTo>
                  <a:lnTo>
                    <a:pt x="3375268" y="753635"/>
                  </a:lnTo>
                  <a:lnTo>
                    <a:pt x="3443946" y="754089"/>
                  </a:lnTo>
                  <a:lnTo>
                    <a:pt x="3509911" y="752611"/>
                  </a:lnTo>
                  <a:lnTo>
                    <a:pt x="3572699" y="749289"/>
                  </a:lnTo>
                  <a:lnTo>
                    <a:pt x="3631844" y="744210"/>
                  </a:lnTo>
                  <a:lnTo>
                    <a:pt x="3685894" y="737585"/>
                  </a:lnTo>
                  <a:lnTo>
                    <a:pt x="3686148" y="737585"/>
                  </a:lnTo>
                  <a:lnTo>
                    <a:pt x="3737352" y="729136"/>
                  </a:lnTo>
                  <a:lnTo>
                    <a:pt x="3782785" y="719316"/>
                  </a:lnTo>
                  <a:lnTo>
                    <a:pt x="3801564" y="714038"/>
                  </a:lnTo>
                  <a:close/>
                </a:path>
                <a:path w="4542155" h="807719">
                  <a:moveTo>
                    <a:pt x="353763" y="174913"/>
                  </a:moveTo>
                  <a:lnTo>
                    <a:pt x="295272" y="176654"/>
                  </a:lnTo>
                  <a:lnTo>
                    <a:pt x="240014" y="180362"/>
                  </a:lnTo>
                  <a:lnTo>
                    <a:pt x="188686" y="185961"/>
                  </a:lnTo>
                  <a:lnTo>
                    <a:pt x="141985" y="193374"/>
                  </a:lnTo>
                  <a:lnTo>
                    <a:pt x="100610" y="202527"/>
                  </a:lnTo>
                  <a:lnTo>
                    <a:pt x="29300" y="229842"/>
                  </a:lnTo>
                  <a:lnTo>
                    <a:pt x="0" y="266485"/>
                  </a:lnTo>
                  <a:lnTo>
                    <a:pt x="5776" y="285726"/>
                  </a:lnTo>
                  <a:lnTo>
                    <a:pt x="55981" y="323791"/>
                  </a:lnTo>
                  <a:lnTo>
                    <a:pt x="99527" y="341713"/>
                  </a:lnTo>
                  <a:lnTo>
                    <a:pt x="154781" y="358294"/>
                  </a:lnTo>
                  <a:lnTo>
                    <a:pt x="221303" y="373082"/>
                  </a:lnTo>
                  <a:lnTo>
                    <a:pt x="160502" y="389589"/>
                  </a:lnTo>
                  <a:lnTo>
                    <a:pt x="118705" y="409406"/>
                  </a:lnTo>
                  <a:lnTo>
                    <a:pt x="97050" y="431777"/>
                  </a:lnTo>
                  <a:lnTo>
                    <a:pt x="96678" y="455949"/>
                  </a:lnTo>
                  <a:lnTo>
                    <a:pt x="108741" y="472651"/>
                  </a:lnTo>
                  <a:lnTo>
                    <a:pt x="159332" y="504119"/>
                  </a:lnTo>
                  <a:lnTo>
                    <a:pt x="196301" y="518513"/>
                  </a:lnTo>
                  <a:lnTo>
                    <a:pt x="240014" y="531763"/>
                  </a:lnTo>
                  <a:lnTo>
                    <a:pt x="289692" y="543683"/>
                  </a:lnTo>
                  <a:lnTo>
                    <a:pt x="344555" y="554086"/>
                  </a:lnTo>
                  <a:lnTo>
                    <a:pt x="403825" y="562785"/>
                  </a:lnTo>
                  <a:lnTo>
                    <a:pt x="466723" y="569594"/>
                  </a:lnTo>
                  <a:lnTo>
                    <a:pt x="532468" y="574324"/>
                  </a:lnTo>
                  <a:lnTo>
                    <a:pt x="600284" y="576790"/>
                  </a:lnTo>
                  <a:lnTo>
                    <a:pt x="603027" y="578111"/>
                  </a:lnTo>
                  <a:lnTo>
                    <a:pt x="641193" y="594621"/>
                  </a:lnTo>
                  <a:lnTo>
                    <a:pt x="715394" y="620411"/>
                  </a:lnTo>
                  <a:lnTo>
                    <a:pt x="756664" y="632273"/>
                  </a:lnTo>
                  <a:lnTo>
                    <a:pt x="800429" y="643415"/>
                  </a:lnTo>
                  <a:lnTo>
                    <a:pt x="846473" y="653815"/>
                  </a:lnTo>
                  <a:lnTo>
                    <a:pt x="894582" y="663448"/>
                  </a:lnTo>
                  <a:lnTo>
                    <a:pt x="944542" y="672293"/>
                  </a:lnTo>
                  <a:lnTo>
                    <a:pt x="996138" y="680326"/>
                  </a:lnTo>
                  <a:lnTo>
                    <a:pt x="1049155" y="687523"/>
                  </a:lnTo>
                  <a:lnTo>
                    <a:pt x="1103378" y="693862"/>
                  </a:lnTo>
                  <a:lnTo>
                    <a:pt x="1158595" y="699319"/>
                  </a:lnTo>
                  <a:lnTo>
                    <a:pt x="1214589" y="703872"/>
                  </a:lnTo>
                  <a:lnTo>
                    <a:pt x="1271146" y="707497"/>
                  </a:lnTo>
                  <a:lnTo>
                    <a:pt x="1328052" y="710171"/>
                  </a:lnTo>
                  <a:lnTo>
                    <a:pt x="1385092" y="711871"/>
                  </a:lnTo>
                  <a:lnTo>
                    <a:pt x="1442052" y="712574"/>
                  </a:lnTo>
                  <a:lnTo>
                    <a:pt x="1498717" y="712257"/>
                  </a:lnTo>
                  <a:lnTo>
                    <a:pt x="1554873" y="710897"/>
                  </a:lnTo>
                  <a:lnTo>
                    <a:pt x="1610304" y="708469"/>
                  </a:lnTo>
                  <a:lnTo>
                    <a:pt x="1664798" y="704953"/>
                  </a:lnTo>
                  <a:lnTo>
                    <a:pt x="1718138" y="700323"/>
                  </a:lnTo>
                  <a:lnTo>
                    <a:pt x="3843758" y="700323"/>
                  </a:lnTo>
                  <a:lnTo>
                    <a:pt x="3884221" y="681781"/>
                  </a:lnTo>
                  <a:lnTo>
                    <a:pt x="3918147" y="650907"/>
                  </a:lnTo>
                  <a:lnTo>
                    <a:pt x="3923555" y="634139"/>
                  </a:lnTo>
                  <a:lnTo>
                    <a:pt x="3923607" y="633978"/>
                  </a:lnTo>
                  <a:lnTo>
                    <a:pt x="3985598" y="633978"/>
                  </a:lnTo>
                  <a:lnTo>
                    <a:pt x="4025801" y="633356"/>
                  </a:lnTo>
                  <a:lnTo>
                    <a:pt x="4075282" y="631640"/>
                  </a:lnTo>
                  <a:lnTo>
                    <a:pt x="4123427" y="629000"/>
                  </a:lnTo>
                  <a:lnTo>
                    <a:pt x="4170041" y="625449"/>
                  </a:lnTo>
                  <a:lnTo>
                    <a:pt x="4214929" y="620996"/>
                  </a:lnTo>
                  <a:lnTo>
                    <a:pt x="4257897" y="615652"/>
                  </a:lnTo>
                  <a:lnTo>
                    <a:pt x="4321408" y="605435"/>
                  </a:lnTo>
                  <a:lnTo>
                    <a:pt x="4377137" y="593493"/>
                  </a:lnTo>
                  <a:lnTo>
                    <a:pt x="4424979" y="580005"/>
                  </a:lnTo>
                  <a:lnTo>
                    <a:pt x="4464825" y="565146"/>
                  </a:lnTo>
                  <a:lnTo>
                    <a:pt x="4520107" y="532023"/>
                  </a:lnTo>
                  <a:lnTo>
                    <a:pt x="4542130" y="495538"/>
                  </a:lnTo>
                  <a:lnTo>
                    <a:pt x="4540403" y="476477"/>
                  </a:lnTo>
                  <a:lnTo>
                    <a:pt x="4510937" y="437602"/>
                  </a:lnTo>
                  <a:lnTo>
                    <a:pt x="4446079" y="398899"/>
                  </a:lnTo>
                  <a:lnTo>
                    <a:pt x="4400111" y="380054"/>
                  </a:lnTo>
                  <a:lnTo>
                    <a:pt x="4407692" y="376018"/>
                  </a:lnTo>
                  <a:lnTo>
                    <a:pt x="4442488" y="345969"/>
                  </a:lnTo>
                  <a:lnTo>
                    <a:pt x="4448115" y="328168"/>
                  </a:lnTo>
                  <a:lnTo>
                    <a:pt x="4443941" y="310210"/>
                  </a:lnTo>
                  <a:lnTo>
                    <a:pt x="4408032" y="274710"/>
                  </a:lnTo>
                  <a:lnTo>
                    <a:pt x="4338435" y="241235"/>
                  </a:lnTo>
                  <a:lnTo>
                    <a:pt x="4292152" y="225810"/>
                  </a:lnTo>
                  <a:lnTo>
                    <a:pt x="4238824" y="211553"/>
                  </a:lnTo>
                  <a:lnTo>
                    <a:pt x="4178912" y="198687"/>
                  </a:lnTo>
                  <a:lnTo>
                    <a:pt x="4112875" y="187433"/>
                  </a:lnTo>
                  <a:lnTo>
                    <a:pt x="4041171" y="178010"/>
                  </a:lnTo>
                  <a:lnTo>
                    <a:pt x="4038319" y="175216"/>
                  </a:lnTo>
                  <a:lnTo>
                    <a:pt x="414788" y="175216"/>
                  </a:lnTo>
                  <a:lnTo>
                    <a:pt x="353763" y="174913"/>
                  </a:lnTo>
                  <a:close/>
                </a:path>
                <a:path w="4542155" h="807719">
                  <a:moveTo>
                    <a:pt x="3985598" y="633978"/>
                  </a:moveTo>
                  <a:lnTo>
                    <a:pt x="3923607" y="633978"/>
                  </a:lnTo>
                  <a:lnTo>
                    <a:pt x="3975178" y="634139"/>
                  </a:lnTo>
                  <a:lnTo>
                    <a:pt x="3985598" y="633978"/>
                  </a:lnTo>
                  <a:close/>
                </a:path>
                <a:path w="4542155" h="807719">
                  <a:moveTo>
                    <a:pt x="1034967" y="7932"/>
                  </a:moveTo>
                  <a:lnTo>
                    <a:pt x="957238" y="7932"/>
                  </a:lnTo>
                  <a:lnTo>
                    <a:pt x="885996" y="9861"/>
                  </a:lnTo>
                  <a:lnTo>
                    <a:pt x="816963" y="13744"/>
                  </a:lnTo>
                  <a:lnTo>
                    <a:pt x="752067" y="19439"/>
                  </a:lnTo>
                  <a:lnTo>
                    <a:pt x="691682" y="26845"/>
                  </a:lnTo>
                  <a:lnTo>
                    <a:pt x="636186" y="35862"/>
                  </a:lnTo>
                  <a:lnTo>
                    <a:pt x="585954" y="46388"/>
                  </a:lnTo>
                  <a:lnTo>
                    <a:pt x="541363" y="58324"/>
                  </a:lnTo>
                  <a:lnTo>
                    <a:pt x="502787" y="71568"/>
                  </a:lnTo>
                  <a:lnTo>
                    <a:pt x="445188" y="101580"/>
                  </a:lnTo>
                  <a:lnTo>
                    <a:pt x="416258" y="135467"/>
                  </a:lnTo>
                  <a:lnTo>
                    <a:pt x="416164" y="135619"/>
                  </a:lnTo>
                  <a:lnTo>
                    <a:pt x="413308" y="153897"/>
                  </a:lnTo>
                  <a:lnTo>
                    <a:pt x="418725" y="172879"/>
                  </a:lnTo>
                  <a:lnTo>
                    <a:pt x="414788" y="175216"/>
                  </a:lnTo>
                  <a:lnTo>
                    <a:pt x="4038319" y="175216"/>
                  </a:lnTo>
                  <a:lnTo>
                    <a:pt x="4019076" y="156364"/>
                  </a:lnTo>
                  <a:lnTo>
                    <a:pt x="3982937" y="135467"/>
                  </a:lnTo>
                  <a:lnTo>
                    <a:pt x="3933713" y="115772"/>
                  </a:lnTo>
                  <a:lnTo>
                    <a:pt x="3872363" y="97733"/>
                  </a:lnTo>
                  <a:lnTo>
                    <a:pt x="3825171" y="86835"/>
                  </a:lnTo>
                  <a:lnTo>
                    <a:pt x="3780429" y="78340"/>
                  </a:lnTo>
                  <a:lnTo>
                    <a:pt x="3152730" y="78340"/>
                  </a:lnTo>
                  <a:lnTo>
                    <a:pt x="3119096" y="67096"/>
                  </a:lnTo>
                  <a:lnTo>
                    <a:pt x="3092499" y="59786"/>
                  </a:lnTo>
                  <a:lnTo>
                    <a:pt x="2377141" y="59786"/>
                  </a:lnTo>
                  <a:lnTo>
                    <a:pt x="2347572" y="51742"/>
                  </a:lnTo>
                  <a:lnTo>
                    <a:pt x="2345485" y="51239"/>
                  </a:lnTo>
                  <a:lnTo>
                    <a:pt x="1488052" y="51239"/>
                  </a:lnTo>
                  <a:lnTo>
                    <a:pt x="1441869" y="43016"/>
                  </a:lnTo>
                  <a:lnTo>
                    <a:pt x="1394156" y="35598"/>
                  </a:lnTo>
                  <a:lnTo>
                    <a:pt x="1345123" y="29007"/>
                  </a:lnTo>
                  <a:lnTo>
                    <a:pt x="1294980" y="23262"/>
                  </a:lnTo>
                  <a:lnTo>
                    <a:pt x="1243937" y="18383"/>
                  </a:lnTo>
                  <a:lnTo>
                    <a:pt x="1193751" y="14509"/>
                  </a:lnTo>
                  <a:lnTo>
                    <a:pt x="1194224" y="14509"/>
                  </a:lnTo>
                  <a:lnTo>
                    <a:pt x="1139991" y="11304"/>
                  </a:lnTo>
                  <a:lnTo>
                    <a:pt x="1087509" y="9144"/>
                  </a:lnTo>
                  <a:lnTo>
                    <a:pt x="1034967" y="7932"/>
                  </a:lnTo>
                  <a:close/>
                </a:path>
                <a:path w="4542155" h="807719">
                  <a:moveTo>
                    <a:pt x="3446453" y="50710"/>
                  </a:moveTo>
                  <a:lnTo>
                    <a:pt x="3391652" y="51466"/>
                  </a:lnTo>
                  <a:lnTo>
                    <a:pt x="3391834" y="51466"/>
                  </a:lnTo>
                  <a:lnTo>
                    <a:pt x="3338898" y="53736"/>
                  </a:lnTo>
                  <a:lnTo>
                    <a:pt x="3287928" y="57546"/>
                  </a:lnTo>
                  <a:lnTo>
                    <a:pt x="3239550" y="62907"/>
                  </a:lnTo>
                  <a:lnTo>
                    <a:pt x="3194304" y="69833"/>
                  </a:lnTo>
                  <a:lnTo>
                    <a:pt x="3152730" y="78340"/>
                  </a:lnTo>
                  <a:lnTo>
                    <a:pt x="3780429" y="78340"/>
                  </a:lnTo>
                  <a:lnTo>
                    <a:pt x="3775171" y="77342"/>
                  </a:lnTo>
                  <a:lnTo>
                    <a:pt x="3722904" y="69269"/>
                  </a:lnTo>
                  <a:lnTo>
                    <a:pt x="3668909" y="62630"/>
                  </a:lnTo>
                  <a:lnTo>
                    <a:pt x="3614849" y="57546"/>
                  </a:lnTo>
                  <a:lnTo>
                    <a:pt x="3615308" y="57546"/>
                  </a:lnTo>
                  <a:lnTo>
                    <a:pt x="3558223" y="53736"/>
                  </a:lnTo>
                  <a:lnTo>
                    <a:pt x="3558439" y="53736"/>
                  </a:lnTo>
                  <a:lnTo>
                    <a:pt x="3501959" y="51466"/>
                  </a:lnTo>
                  <a:lnTo>
                    <a:pt x="3446453" y="50710"/>
                  </a:lnTo>
                  <a:close/>
                </a:path>
                <a:path w="4542155" h="807719">
                  <a:moveTo>
                    <a:pt x="2701474" y="15421"/>
                  </a:moveTo>
                  <a:lnTo>
                    <a:pt x="2644609" y="16406"/>
                  </a:lnTo>
                  <a:lnTo>
                    <a:pt x="2590029" y="19216"/>
                  </a:lnTo>
                  <a:lnTo>
                    <a:pt x="2538469" y="23828"/>
                  </a:lnTo>
                  <a:lnTo>
                    <a:pt x="2490510" y="30245"/>
                  </a:lnTo>
                  <a:lnTo>
                    <a:pt x="2447352" y="38355"/>
                  </a:lnTo>
                  <a:lnTo>
                    <a:pt x="2409266" y="48220"/>
                  </a:lnTo>
                  <a:lnTo>
                    <a:pt x="2377141" y="59786"/>
                  </a:lnTo>
                  <a:lnTo>
                    <a:pt x="3092499" y="59786"/>
                  </a:lnTo>
                  <a:lnTo>
                    <a:pt x="3039507" y="47212"/>
                  </a:lnTo>
                  <a:lnTo>
                    <a:pt x="2994335" y="38767"/>
                  </a:lnTo>
                  <a:lnTo>
                    <a:pt x="2937076" y="30245"/>
                  </a:lnTo>
                  <a:lnTo>
                    <a:pt x="2878425" y="23675"/>
                  </a:lnTo>
                  <a:lnTo>
                    <a:pt x="2819117" y="19031"/>
                  </a:lnTo>
                  <a:lnTo>
                    <a:pt x="2762436" y="16406"/>
                  </a:lnTo>
                  <a:lnTo>
                    <a:pt x="2767839" y="16406"/>
                  </a:lnTo>
                  <a:lnTo>
                    <a:pt x="2701474" y="15421"/>
                  </a:lnTo>
                  <a:close/>
                </a:path>
                <a:path w="4542155" h="807719">
                  <a:moveTo>
                    <a:pt x="1908426" y="0"/>
                  </a:moveTo>
                  <a:lnTo>
                    <a:pt x="1849521" y="0"/>
                  </a:lnTo>
                  <a:lnTo>
                    <a:pt x="1794525" y="1499"/>
                  </a:lnTo>
                  <a:lnTo>
                    <a:pt x="1741405" y="4426"/>
                  </a:lnTo>
                  <a:lnTo>
                    <a:pt x="1690625" y="8767"/>
                  </a:lnTo>
                  <a:lnTo>
                    <a:pt x="1642649" y="14509"/>
                  </a:lnTo>
                  <a:lnTo>
                    <a:pt x="1597794" y="21670"/>
                  </a:lnTo>
                  <a:lnTo>
                    <a:pt x="1556595" y="30245"/>
                  </a:lnTo>
                  <a:lnTo>
                    <a:pt x="1488052" y="51239"/>
                  </a:lnTo>
                  <a:lnTo>
                    <a:pt x="2345485" y="51239"/>
                  </a:lnTo>
                  <a:lnTo>
                    <a:pt x="2282911" y="37077"/>
                  </a:lnTo>
                  <a:lnTo>
                    <a:pt x="2192926" y="21670"/>
                  </a:lnTo>
                  <a:lnTo>
                    <a:pt x="2137686" y="14509"/>
                  </a:lnTo>
                  <a:lnTo>
                    <a:pt x="2138040" y="14509"/>
                  </a:lnTo>
                  <a:lnTo>
                    <a:pt x="2078991" y="8520"/>
                  </a:lnTo>
                  <a:lnTo>
                    <a:pt x="2021128" y="4187"/>
                  </a:lnTo>
                  <a:lnTo>
                    <a:pt x="1963286" y="1330"/>
                  </a:lnTo>
                  <a:lnTo>
                    <a:pt x="1908426" y="0"/>
                  </a:lnTo>
                  <a:close/>
                </a:path>
              </a:pathLst>
            </a:custGeom>
            <a:solidFill>
              <a:srgbClr val="E4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17678" y="1844367"/>
              <a:ext cx="4542155" cy="807720"/>
            </a:xfrm>
            <a:custGeom>
              <a:avLst/>
              <a:gdLst/>
              <a:ahLst/>
              <a:cxnLst/>
              <a:rect l="l" t="t" r="r" b="b"/>
              <a:pathLst>
                <a:path w="4542155" h="807719">
                  <a:moveTo>
                    <a:pt x="418725" y="172940"/>
                  </a:moveTo>
                  <a:lnTo>
                    <a:pt x="413308" y="153957"/>
                  </a:lnTo>
                  <a:lnTo>
                    <a:pt x="416164" y="135679"/>
                  </a:lnTo>
                  <a:lnTo>
                    <a:pt x="426916" y="118207"/>
                  </a:lnTo>
                  <a:lnTo>
                    <a:pt x="470603" y="86081"/>
                  </a:lnTo>
                  <a:lnTo>
                    <a:pt x="541363" y="58385"/>
                  </a:lnTo>
                  <a:lnTo>
                    <a:pt x="585954" y="46449"/>
                  </a:lnTo>
                  <a:lnTo>
                    <a:pt x="636186" y="35922"/>
                  </a:lnTo>
                  <a:lnTo>
                    <a:pt x="691682" y="26906"/>
                  </a:lnTo>
                  <a:lnTo>
                    <a:pt x="752067" y="19500"/>
                  </a:lnTo>
                  <a:lnTo>
                    <a:pt x="816963" y="13805"/>
                  </a:lnTo>
                  <a:lnTo>
                    <a:pt x="885996" y="9921"/>
                  </a:lnTo>
                  <a:lnTo>
                    <a:pt x="958789" y="7950"/>
                  </a:lnTo>
                  <a:lnTo>
                    <a:pt x="1034967" y="7992"/>
                  </a:lnTo>
                  <a:lnTo>
                    <a:pt x="1087509" y="9205"/>
                  </a:lnTo>
                  <a:lnTo>
                    <a:pt x="1139991" y="11364"/>
                  </a:lnTo>
                  <a:lnTo>
                    <a:pt x="1192204" y="14450"/>
                  </a:lnTo>
                  <a:lnTo>
                    <a:pt x="1243937" y="18443"/>
                  </a:lnTo>
                  <a:lnTo>
                    <a:pt x="1294980" y="23322"/>
                  </a:lnTo>
                  <a:lnTo>
                    <a:pt x="1345123" y="29068"/>
                  </a:lnTo>
                  <a:lnTo>
                    <a:pt x="1394156" y="35659"/>
                  </a:lnTo>
                  <a:lnTo>
                    <a:pt x="1441869" y="43076"/>
                  </a:lnTo>
                  <a:lnTo>
                    <a:pt x="1488052" y="51299"/>
                  </a:lnTo>
                  <a:lnTo>
                    <a:pt x="1556961" y="30208"/>
                  </a:lnTo>
                  <a:lnTo>
                    <a:pt x="1597940" y="21701"/>
                  </a:lnTo>
                  <a:lnTo>
                    <a:pt x="1642649" y="14570"/>
                  </a:lnTo>
                  <a:lnTo>
                    <a:pt x="1690625" y="8828"/>
                  </a:lnTo>
                  <a:lnTo>
                    <a:pt x="1741405" y="4487"/>
                  </a:lnTo>
                  <a:lnTo>
                    <a:pt x="1794525" y="1560"/>
                  </a:lnTo>
                  <a:lnTo>
                    <a:pt x="1849521" y="60"/>
                  </a:lnTo>
                  <a:lnTo>
                    <a:pt x="1905929" y="0"/>
                  </a:lnTo>
                  <a:lnTo>
                    <a:pt x="1963286" y="1391"/>
                  </a:lnTo>
                  <a:lnTo>
                    <a:pt x="2021128" y="4247"/>
                  </a:lnTo>
                  <a:lnTo>
                    <a:pt x="2078991" y="8581"/>
                  </a:lnTo>
                  <a:lnTo>
                    <a:pt x="2136412" y="14405"/>
                  </a:lnTo>
                  <a:lnTo>
                    <a:pt x="2192926" y="21731"/>
                  </a:lnTo>
                  <a:lnTo>
                    <a:pt x="2248071" y="30573"/>
                  </a:lnTo>
                  <a:lnTo>
                    <a:pt x="2316120" y="44224"/>
                  </a:lnTo>
                  <a:lnTo>
                    <a:pt x="2377141" y="59846"/>
                  </a:lnTo>
                  <a:lnTo>
                    <a:pt x="2447352" y="38416"/>
                  </a:lnTo>
                  <a:lnTo>
                    <a:pt x="2490665" y="30277"/>
                  </a:lnTo>
                  <a:lnTo>
                    <a:pt x="2538469" y="23889"/>
                  </a:lnTo>
                  <a:lnTo>
                    <a:pt x="2590029" y="19277"/>
                  </a:lnTo>
                  <a:lnTo>
                    <a:pt x="2644609" y="16466"/>
                  </a:lnTo>
                  <a:lnTo>
                    <a:pt x="2701474" y="15482"/>
                  </a:lnTo>
                  <a:lnTo>
                    <a:pt x="2759889" y="16348"/>
                  </a:lnTo>
                  <a:lnTo>
                    <a:pt x="2819117" y="19091"/>
                  </a:lnTo>
                  <a:lnTo>
                    <a:pt x="2878425" y="23735"/>
                  </a:lnTo>
                  <a:lnTo>
                    <a:pt x="2937076" y="30306"/>
                  </a:lnTo>
                  <a:lnTo>
                    <a:pt x="2994335" y="38828"/>
                  </a:lnTo>
                  <a:lnTo>
                    <a:pt x="3039507" y="47272"/>
                  </a:lnTo>
                  <a:lnTo>
                    <a:pt x="3081224" y="56747"/>
                  </a:lnTo>
                  <a:lnTo>
                    <a:pt x="3119096" y="67156"/>
                  </a:lnTo>
                  <a:lnTo>
                    <a:pt x="3152730" y="78401"/>
                  </a:lnTo>
                  <a:lnTo>
                    <a:pt x="3194304" y="69894"/>
                  </a:lnTo>
                  <a:lnTo>
                    <a:pt x="3239550" y="62967"/>
                  </a:lnTo>
                  <a:lnTo>
                    <a:pt x="3287928" y="57606"/>
                  </a:lnTo>
                  <a:lnTo>
                    <a:pt x="3338898" y="53796"/>
                  </a:lnTo>
                  <a:lnTo>
                    <a:pt x="3391920" y="51522"/>
                  </a:lnTo>
                  <a:lnTo>
                    <a:pt x="3446453" y="50771"/>
                  </a:lnTo>
                  <a:lnTo>
                    <a:pt x="3501959" y="51526"/>
                  </a:lnTo>
                  <a:lnTo>
                    <a:pt x="3557897" y="53774"/>
                  </a:lnTo>
                  <a:lnTo>
                    <a:pt x="3613727" y="57501"/>
                  </a:lnTo>
                  <a:lnTo>
                    <a:pt x="3668909" y="62691"/>
                  </a:lnTo>
                  <a:lnTo>
                    <a:pt x="3722904" y="69329"/>
                  </a:lnTo>
                  <a:lnTo>
                    <a:pt x="3775171" y="77403"/>
                  </a:lnTo>
                  <a:lnTo>
                    <a:pt x="3825171" y="86896"/>
                  </a:lnTo>
                  <a:lnTo>
                    <a:pt x="3872363" y="97794"/>
                  </a:lnTo>
                  <a:lnTo>
                    <a:pt x="3933713" y="115832"/>
                  </a:lnTo>
                  <a:lnTo>
                    <a:pt x="3982937" y="135527"/>
                  </a:lnTo>
                  <a:lnTo>
                    <a:pt x="4019076" y="156424"/>
                  </a:lnTo>
                  <a:lnTo>
                    <a:pt x="4041171" y="178071"/>
                  </a:lnTo>
                  <a:lnTo>
                    <a:pt x="4112875" y="187493"/>
                  </a:lnTo>
                  <a:lnTo>
                    <a:pt x="4178912" y="198748"/>
                  </a:lnTo>
                  <a:lnTo>
                    <a:pt x="4238824" y="211614"/>
                  </a:lnTo>
                  <a:lnTo>
                    <a:pt x="4292152" y="225870"/>
                  </a:lnTo>
                  <a:lnTo>
                    <a:pt x="4338435" y="241296"/>
                  </a:lnTo>
                  <a:lnTo>
                    <a:pt x="4377215" y="257669"/>
                  </a:lnTo>
                  <a:lnTo>
                    <a:pt x="4430427" y="292378"/>
                  </a:lnTo>
                  <a:lnTo>
                    <a:pt x="4448115" y="328228"/>
                  </a:lnTo>
                  <a:lnTo>
                    <a:pt x="4442488" y="346029"/>
                  </a:lnTo>
                  <a:lnTo>
                    <a:pt x="4407692" y="376079"/>
                  </a:lnTo>
                  <a:lnTo>
                    <a:pt x="4400111" y="380115"/>
                  </a:lnTo>
                  <a:lnTo>
                    <a:pt x="4446079" y="398959"/>
                  </a:lnTo>
                  <a:lnTo>
                    <a:pt x="4482986" y="418201"/>
                  </a:lnTo>
                  <a:lnTo>
                    <a:pt x="4530041" y="457167"/>
                  </a:lnTo>
                  <a:lnTo>
                    <a:pt x="4542130" y="495599"/>
                  </a:lnTo>
                  <a:lnTo>
                    <a:pt x="4535330" y="514173"/>
                  </a:lnTo>
                  <a:lnTo>
                    <a:pt x="4496570" y="549153"/>
                  </a:lnTo>
                  <a:lnTo>
                    <a:pt x="4424979" y="580065"/>
                  </a:lnTo>
                  <a:lnTo>
                    <a:pt x="4377137" y="593554"/>
                  </a:lnTo>
                  <a:lnTo>
                    <a:pt x="4321408" y="605495"/>
                  </a:lnTo>
                  <a:lnTo>
                    <a:pt x="4257897" y="615713"/>
                  </a:lnTo>
                  <a:lnTo>
                    <a:pt x="4214929" y="621056"/>
                  </a:lnTo>
                  <a:lnTo>
                    <a:pt x="4170041" y="625509"/>
                  </a:lnTo>
                  <a:lnTo>
                    <a:pt x="4123427" y="629061"/>
                  </a:lnTo>
                  <a:lnTo>
                    <a:pt x="4075282" y="631700"/>
                  </a:lnTo>
                  <a:lnTo>
                    <a:pt x="4025801" y="633417"/>
                  </a:lnTo>
                  <a:lnTo>
                    <a:pt x="3975178" y="634200"/>
                  </a:lnTo>
                  <a:lnTo>
                    <a:pt x="3923607" y="634039"/>
                  </a:lnTo>
                  <a:lnTo>
                    <a:pt x="3884221" y="681841"/>
                  </a:lnTo>
                  <a:lnTo>
                    <a:pt x="3822716" y="708152"/>
                  </a:lnTo>
                  <a:lnTo>
                    <a:pt x="3782785" y="719377"/>
                  </a:lnTo>
                  <a:lnTo>
                    <a:pt x="3737352" y="729197"/>
                  </a:lnTo>
                  <a:lnTo>
                    <a:pt x="3686884" y="737524"/>
                  </a:lnTo>
                  <a:lnTo>
                    <a:pt x="3631844" y="744271"/>
                  </a:lnTo>
                  <a:lnTo>
                    <a:pt x="3572699" y="749349"/>
                  </a:lnTo>
                  <a:lnTo>
                    <a:pt x="3509911" y="752672"/>
                  </a:lnTo>
                  <a:lnTo>
                    <a:pt x="3443946" y="754150"/>
                  </a:lnTo>
                  <a:lnTo>
                    <a:pt x="3375268" y="753696"/>
                  </a:lnTo>
                  <a:lnTo>
                    <a:pt x="3304342" y="751222"/>
                  </a:lnTo>
                  <a:lnTo>
                    <a:pt x="3248581" y="747875"/>
                  </a:lnTo>
                  <a:lnTo>
                    <a:pt x="3193622" y="743337"/>
                  </a:lnTo>
                  <a:lnTo>
                    <a:pt x="3139801" y="737645"/>
                  </a:lnTo>
                  <a:lnTo>
                    <a:pt x="3087454" y="730840"/>
                  </a:lnTo>
                  <a:lnTo>
                    <a:pt x="3036915" y="722962"/>
                  </a:lnTo>
                  <a:lnTo>
                    <a:pt x="2988519" y="714049"/>
                  </a:lnTo>
                  <a:lnTo>
                    <a:pt x="2939292" y="740640"/>
                  </a:lnTo>
                  <a:lnTo>
                    <a:pt x="2871799" y="763110"/>
                  </a:lnTo>
                  <a:lnTo>
                    <a:pt x="2831988" y="772734"/>
                  </a:lnTo>
                  <a:lnTo>
                    <a:pt x="2788552" y="781250"/>
                  </a:lnTo>
                  <a:lnTo>
                    <a:pt x="2741806" y="788632"/>
                  </a:lnTo>
                  <a:lnTo>
                    <a:pt x="2692063" y="794853"/>
                  </a:lnTo>
                  <a:lnTo>
                    <a:pt x="2639639" y="799888"/>
                  </a:lnTo>
                  <a:lnTo>
                    <a:pt x="2584846" y="803711"/>
                  </a:lnTo>
                  <a:lnTo>
                    <a:pt x="2527999" y="806296"/>
                  </a:lnTo>
                  <a:lnTo>
                    <a:pt x="2469411" y="807617"/>
                  </a:lnTo>
                  <a:lnTo>
                    <a:pt x="2409398" y="807647"/>
                  </a:lnTo>
                  <a:lnTo>
                    <a:pt x="2348273" y="806362"/>
                  </a:lnTo>
                  <a:lnTo>
                    <a:pt x="2286350" y="803735"/>
                  </a:lnTo>
                  <a:lnTo>
                    <a:pt x="2223943" y="799741"/>
                  </a:lnTo>
                  <a:lnTo>
                    <a:pt x="2161367" y="794352"/>
                  </a:lnTo>
                  <a:lnTo>
                    <a:pt x="2098935" y="787544"/>
                  </a:lnTo>
                  <a:lnTo>
                    <a:pt x="2041302" y="779901"/>
                  </a:lnTo>
                  <a:lnTo>
                    <a:pt x="1985998" y="771205"/>
                  </a:lnTo>
                  <a:lnTo>
                    <a:pt x="1933292" y="761518"/>
                  </a:lnTo>
                  <a:lnTo>
                    <a:pt x="1883452" y="750902"/>
                  </a:lnTo>
                  <a:lnTo>
                    <a:pt x="1836748" y="739419"/>
                  </a:lnTo>
                  <a:lnTo>
                    <a:pt x="1793448" y="727131"/>
                  </a:lnTo>
                  <a:lnTo>
                    <a:pt x="1753822" y="714098"/>
                  </a:lnTo>
                  <a:lnTo>
                    <a:pt x="1718138" y="700383"/>
                  </a:lnTo>
                  <a:lnTo>
                    <a:pt x="1664798" y="705013"/>
                  </a:lnTo>
                  <a:lnTo>
                    <a:pt x="1610304" y="708530"/>
                  </a:lnTo>
                  <a:lnTo>
                    <a:pt x="1554873" y="710957"/>
                  </a:lnTo>
                  <a:lnTo>
                    <a:pt x="1498717" y="712318"/>
                  </a:lnTo>
                  <a:lnTo>
                    <a:pt x="1442052" y="712635"/>
                  </a:lnTo>
                  <a:lnTo>
                    <a:pt x="1385092" y="711932"/>
                  </a:lnTo>
                  <a:lnTo>
                    <a:pt x="1328052" y="710232"/>
                  </a:lnTo>
                  <a:lnTo>
                    <a:pt x="1271146" y="707558"/>
                  </a:lnTo>
                  <a:lnTo>
                    <a:pt x="1214589" y="703933"/>
                  </a:lnTo>
                  <a:lnTo>
                    <a:pt x="1158595" y="699380"/>
                  </a:lnTo>
                  <a:lnTo>
                    <a:pt x="1103378" y="693922"/>
                  </a:lnTo>
                  <a:lnTo>
                    <a:pt x="1049155" y="687583"/>
                  </a:lnTo>
                  <a:lnTo>
                    <a:pt x="996138" y="680386"/>
                  </a:lnTo>
                  <a:lnTo>
                    <a:pt x="944542" y="672354"/>
                  </a:lnTo>
                  <a:lnTo>
                    <a:pt x="894582" y="663509"/>
                  </a:lnTo>
                  <a:lnTo>
                    <a:pt x="846473" y="653875"/>
                  </a:lnTo>
                  <a:lnTo>
                    <a:pt x="800429" y="643476"/>
                  </a:lnTo>
                  <a:lnTo>
                    <a:pt x="756664" y="632334"/>
                  </a:lnTo>
                  <a:lnTo>
                    <a:pt x="715394" y="620472"/>
                  </a:lnTo>
                  <a:lnTo>
                    <a:pt x="676832" y="607914"/>
                  </a:lnTo>
                  <a:lnTo>
                    <a:pt x="608691" y="580800"/>
                  </a:lnTo>
                  <a:lnTo>
                    <a:pt x="600284" y="576851"/>
                  </a:lnTo>
                  <a:lnTo>
                    <a:pt x="532468" y="574385"/>
                  </a:lnTo>
                  <a:lnTo>
                    <a:pt x="466723" y="569654"/>
                  </a:lnTo>
                  <a:lnTo>
                    <a:pt x="403825" y="562846"/>
                  </a:lnTo>
                  <a:lnTo>
                    <a:pt x="344555" y="554147"/>
                  </a:lnTo>
                  <a:lnTo>
                    <a:pt x="289692" y="543744"/>
                  </a:lnTo>
                  <a:lnTo>
                    <a:pt x="240014" y="531824"/>
                  </a:lnTo>
                  <a:lnTo>
                    <a:pt x="196301" y="518573"/>
                  </a:lnTo>
                  <a:lnTo>
                    <a:pt x="159332" y="504180"/>
                  </a:lnTo>
                  <a:lnTo>
                    <a:pt x="108741" y="472711"/>
                  </a:lnTo>
                  <a:lnTo>
                    <a:pt x="96678" y="456010"/>
                  </a:lnTo>
                  <a:lnTo>
                    <a:pt x="97050" y="431837"/>
                  </a:lnTo>
                  <a:lnTo>
                    <a:pt x="118705" y="409466"/>
                  </a:lnTo>
                  <a:lnTo>
                    <a:pt x="160502" y="389650"/>
                  </a:lnTo>
                  <a:lnTo>
                    <a:pt x="221303" y="373143"/>
                  </a:lnTo>
                  <a:lnTo>
                    <a:pt x="154781" y="358355"/>
                  </a:lnTo>
                  <a:lnTo>
                    <a:pt x="99527" y="341774"/>
                  </a:lnTo>
                  <a:lnTo>
                    <a:pt x="55981" y="323852"/>
                  </a:lnTo>
                  <a:lnTo>
                    <a:pt x="5776" y="285786"/>
                  </a:lnTo>
                  <a:lnTo>
                    <a:pt x="0" y="266545"/>
                  </a:lnTo>
                  <a:lnTo>
                    <a:pt x="7694" y="247767"/>
                  </a:lnTo>
                  <a:lnTo>
                    <a:pt x="65258" y="213402"/>
                  </a:lnTo>
                  <a:lnTo>
                    <a:pt x="141985" y="193435"/>
                  </a:lnTo>
                  <a:lnTo>
                    <a:pt x="188686" y="186021"/>
                  </a:lnTo>
                  <a:lnTo>
                    <a:pt x="240014" y="180422"/>
                  </a:lnTo>
                  <a:lnTo>
                    <a:pt x="295272" y="176715"/>
                  </a:lnTo>
                  <a:lnTo>
                    <a:pt x="353763" y="174974"/>
                  </a:lnTo>
                  <a:lnTo>
                    <a:pt x="414788" y="175277"/>
                  </a:lnTo>
                  <a:lnTo>
                    <a:pt x="418725" y="17294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43991" y="1895457"/>
              <a:ext cx="4171950" cy="660400"/>
            </a:xfrm>
            <a:custGeom>
              <a:avLst/>
              <a:gdLst/>
              <a:ahLst/>
              <a:cxnLst/>
              <a:rect l="l" t="t" r="r" b="b"/>
              <a:pathLst>
                <a:path w="4171950" h="660400">
                  <a:moveTo>
                    <a:pt x="265341" y="346519"/>
                  </a:moveTo>
                  <a:lnTo>
                    <a:pt x="209724" y="344138"/>
                  </a:lnTo>
                  <a:lnTo>
                    <a:pt x="154785" y="340147"/>
                  </a:lnTo>
                  <a:lnTo>
                    <a:pt x="101119" y="334608"/>
                  </a:lnTo>
                  <a:lnTo>
                    <a:pt x="49325" y="327584"/>
                  </a:lnTo>
                  <a:lnTo>
                    <a:pt x="0" y="319138"/>
                  </a:lnTo>
                </a:path>
                <a:path w="4171950" h="660400">
                  <a:moveTo>
                    <a:pt x="492417" y="520611"/>
                  </a:moveTo>
                  <a:lnTo>
                    <a:pt x="463979" y="521758"/>
                  </a:lnTo>
                  <a:lnTo>
                    <a:pt x="434982" y="522420"/>
                  </a:lnTo>
                  <a:lnTo>
                    <a:pt x="405522" y="522597"/>
                  </a:lnTo>
                  <a:lnTo>
                    <a:pt x="375691" y="522287"/>
                  </a:lnTo>
                </a:path>
                <a:path w="4171950" h="660400">
                  <a:moveTo>
                    <a:pt x="1491729" y="646023"/>
                  </a:moveTo>
                  <a:lnTo>
                    <a:pt x="1471892" y="637289"/>
                  </a:lnTo>
                  <a:lnTo>
                    <a:pt x="1453819" y="628396"/>
                  </a:lnTo>
                  <a:lnTo>
                    <a:pt x="1437547" y="619359"/>
                  </a:lnTo>
                  <a:lnTo>
                    <a:pt x="1423111" y="610196"/>
                  </a:lnTo>
                </a:path>
                <a:path w="4171950" h="660400">
                  <a:moveTo>
                    <a:pt x="2792476" y="625729"/>
                  </a:moveTo>
                  <a:lnTo>
                    <a:pt x="2787968" y="634588"/>
                  </a:lnTo>
                  <a:lnTo>
                    <a:pt x="2781507" y="643285"/>
                  </a:lnTo>
                  <a:lnTo>
                    <a:pt x="2773111" y="651798"/>
                  </a:lnTo>
                  <a:lnTo>
                    <a:pt x="2762796" y="660107"/>
                  </a:lnTo>
                </a:path>
                <a:path w="4171950" h="660400">
                  <a:moveTo>
                    <a:pt x="3359658" y="431266"/>
                  </a:moveTo>
                  <a:lnTo>
                    <a:pt x="3434353" y="445331"/>
                  </a:lnTo>
                  <a:lnTo>
                    <a:pt x="3500991" y="461299"/>
                  </a:lnTo>
                  <a:lnTo>
                    <a:pt x="3558916" y="478878"/>
                  </a:lnTo>
                  <a:lnTo>
                    <a:pt x="3607471" y="497776"/>
                  </a:lnTo>
                  <a:lnTo>
                    <a:pt x="3646001" y="517700"/>
                  </a:lnTo>
                  <a:lnTo>
                    <a:pt x="3690358" y="559458"/>
                  </a:lnTo>
                  <a:lnTo>
                    <a:pt x="3694874" y="580707"/>
                  </a:lnTo>
                </a:path>
                <a:path w="4171950" h="660400">
                  <a:moveTo>
                    <a:pt x="4171746" y="326948"/>
                  </a:moveTo>
                  <a:lnTo>
                    <a:pt x="4142222" y="339642"/>
                  </a:lnTo>
                  <a:lnTo>
                    <a:pt x="4106389" y="351094"/>
                  </a:lnTo>
                  <a:lnTo>
                    <a:pt x="4064636" y="361199"/>
                  </a:lnTo>
                  <a:lnTo>
                    <a:pt x="4017352" y="369849"/>
                  </a:lnTo>
                </a:path>
                <a:path w="4171950" h="660400">
                  <a:moveTo>
                    <a:pt x="3815600" y="124205"/>
                  </a:moveTo>
                  <a:lnTo>
                    <a:pt x="3819098" y="130247"/>
                  </a:lnTo>
                  <a:lnTo>
                    <a:pt x="3821418" y="136269"/>
                  </a:lnTo>
                  <a:lnTo>
                    <a:pt x="3822560" y="142260"/>
                  </a:lnTo>
                  <a:lnTo>
                    <a:pt x="3822522" y="148208"/>
                  </a:lnTo>
                </a:path>
                <a:path w="4171950" h="660400">
                  <a:moveTo>
                    <a:pt x="2845841" y="51092"/>
                  </a:moveTo>
                  <a:lnTo>
                    <a:pt x="2862273" y="43816"/>
                  </a:lnTo>
                  <a:lnTo>
                    <a:pt x="2881020" y="36961"/>
                  </a:lnTo>
                  <a:lnTo>
                    <a:pt x="2902005" y="30552"/>
                  </a:lnTo>
                  <a:lnTo>
                    <a:pt x="2925152" y="24612"/>
                  </a:lnTo>
                </a:path>
                <a:path w="4171950" h="660400">
                  <a:moveTo>
                    <a:pt x="2116620" y="31280"/>
                  </a:moveTo>
                  <a:lnTo>
                    <a:pt x="2123854" y="24906"/>
                  </a:lnTo>
                  <a:lnTo>
                    <a:pt x="2132776" y="18732"/>
                  </a:lnTo>
                  <a:lnTo>
                    <a:pt x="2143357" y="12777"/>
                  </a:lnTo>
                  <a:lnTo>
                    <a:pt x="2155571" y="7061"/>
                  </a:lnTo>
                </a:path>
                <a:path w="4171950" h="660400">
                  <a:moveTo>
                    <a:pt x="1261198" y="0"/>
                  </a:moveTo>
                  <a:lnTo>
                    <a:pt x="1297392" y="7251"/>
                  </a:lnTo>
                  <a:lnTo>
                    <a:pt x="1332076" y="14952"/>
                  </a:lnTo>
                  <a:lnTo>
                    <a:pt x="1365156" y="23079"/>
                  </a:lnTo>
                  <a:lnTo>
                    <a:pt x="1396542" y="31610"/>
                  </a:lnTo>
                </a:path>
                <a:path w="4171950" h="660400">
                  <a:moveTo>
                    <a:pt x="215011" y="149504"/>
                  </a:moveTo>
                  <a:lnTo>
                    <a:pt x="207739" y="142607"/>
                  </a:lnTo>
                  <a:lnTo>
                    <a:pt x="201549" y="135694"/>
                  </a:lnTo>
                  <a:lnTo>
                    <a:pt x="196444" y="128775"/>
                  </a:lnTo>
                  <a:lnTo>
                    <a:pt x="192430" y="121856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674249" y="2433434"/>
              <a:ext cx="956310" cy="1094105"/>
            </a:xfrm>
            <a:custGeom>
              <a:avLst/>
              <a:gdLst/>
              <a:ahLst/>
              <a:cxnLst/>
              <a:rect l="l" t="t" r="r" b="b"/>
              <a:pathLst>
                <a:path w="956310" h="1094104">
                  <a:moveTo>
                    <a:pt x="955776" y="0"/>
                  </a:moveTo>
                  <a:lnTo>
                    <a:pt x="0" y="0"/>
                  </a:lnTo>
                  <a:lnTo>
                    <a:pt x="0" y="1094028"/>
                  </a:lnTo>
                  <a:lnTo>
                    <a:pt x="955776" y="1094028"/>
                  </a:lnTo>
                  <a:lnTo>
                    <a:pt x="955776" y="0"/>
                  </a:lnTo>
                  <a:close/>
                </a:path>
              </a:pathLst>
            </a:custGeom>
            <a:solidFill>
              <a:srgbClr val="FFF0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74249" y="2433434"/>
              <a:ext cx="956310" cy="1094105"/>
            </a:xfrm>
            <a:custGeom>
              <a:avLst/>
              <a:gdLst/>
              <a:ahLst/>
              <a:cxnLst/>
              <a:rect l="l" t="t" r="r" b="b"/>
              <a:pathLst>
                <a:path w="956310" h="1094104">
                  <a:moveTo>
                    <a:pt x="0" y="0"/>
                  </a:moveTo>
                  <a:lnTo>
                    <a:pt x="955776" y="0"/>
                  </a:lnTo>
                  <a:lnTo>
                    <a:pt x="955776" y="1094028"/>
                  </a:lnTo>
                  <a:lnTo>
                    <a:pt x="0" y="1094028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958890" y="4223358"/>
            <a:ext cx="272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C00000"/>
                </a:solidFill>
                <a:latin typeface="Arial"/>
                <a:cs typeface="Arial"/>
              </a:rPr>
              <a:t>RRU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616001" y="2851986"/>
            <a:ext cx="272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C00000"/>
                </a:solidFill>
                <a:latin typeface="Arial"/>
                <a:cs typeface="Arial"/>
              </a:rPr>
              <a:t>BBU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157235" y="2328254"/>
            <a:ext cx="408305" cy="210820"/>
            <a:chOff x="4157235" y="2328254"/>
            <a:chExt cx="408305" cy="210820"/>
          </a:xfrm>
        </p:grpSpPr>
        <p:sp>
          <p:nvSpPr>
            <p:cNvPr id="19" name="object 19" descr=""/>
            <p:cNvSpPr/>
            <p:nvPr/>
          </p:nvSpPr>
          <p:spPr>
            <a:xfrm>
              <a:off x="4163588" y="2343514"/>
              <a:ext cx="395605" cy="180340"/>
            </a:xfrm>
            <a:custGeom>
              <a:avLst/>
              <a:gdLst/>
              <a:ahLst/>
              <a:cxnLst/>
              <a:rect l="l" t="t" r="r" b="b"/>
              <a:pathLst>
                <a:path w="395604" h="180339">
                  <a:moveTo>
                    <a:pt x="0" y="179844"/>
                  </a:moveTo>
                  <a:lnTo>
                    <a:pt x="3952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471089" y="2334604"/>
              <a:ext cx="88265" cy="81280"/>
            </a:xfrm>
            <a:custGeom>
              <a:avLst/>
              <a:gdLst/>
              <a:ahLst/>
              <a:cxnLst/>
              <a:rect l="l" t="t" r="r" b="b"/>
              <a:pathLst>
                <a:path w="88264" h="81280">
                  <a:moveTo>
                    <a:pt x="0" y="0"/>
                  </a:moveTo>
                  <a:lnTo>
                    <a:pt x="87769" y="8902"/>
                  </a:lnTo>
                  <a:lnTo>
                    <a:pt x="36817" y="80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163585" y="2451342"/>
              <a:ext cx="88265" cy="81280"/>
            </a:xfrm>
            <a:custGeom>
              <a:avLst/>
              <a:gdLst/>
              <a:ahLst/>
              <a:cxnLst/>
              <a:rect l="l" t="t" r="r" b="b"/>
              <a:pathLst>
                <a:path w="88264" h="81280">
                  <a:moveTo>
                    <a:pt x="87769" y="80911"/>
                  </a:moveTo>
                  <a:lnTo>
                    <a:pt x="0" y="72021"/>
                  </a:lnTo>
                  <a:lnTo>
                    <a:pt x="5095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991945" y="2190441"/>
            <a:ext cx="3371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S1/X2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452242" y="4564452"/>
            <a:ext cx="520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C00000"/>
                </a:solidFill>
                <a:latin typeface="Arial"/>
                <a:cs typeface="Arial"/>
              </a:rPr>
              <a:t>Smallcell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348228" y="3703434"/>
            <a:ext cx="1096645" cy="998219"/>
            <a:chOff x="3348228" y="3703434"/>
            <a:chExt cx="1096645" cy="998219"/>
          </a:xfrm>
        </p:grpSpPr>
        <p:sp>
          <p:nvSpPr>
            <p:cNvPr id="25" name="object 25" descr=""/>
            <p:cNvSpPr/>
            <p:nvPr/>
          </p:nvSpPr>
          <p:spPr>
            <a:xfrm>
              <a:off x="3530612" y="3717721"/>
              <a:ext cx="716915" cy="523240"/>
            </a:xfrm>
            <a:custGeom>
              <a:avLst/>
              <a:gdLst/>
              <a:ahLst/>
              <a:cxnLst/>
              <a:rect l="l" t="t" r="r" b="b"/>
              <a:pathLst>
                <a:path w="716914" h="523239">
                  <a:moveTo>
                    <a:pt x="716838" y="0"/>
                  </a:moveTo>
                  <a:lnTo>
                    <a:pt x="0" y="0"/>
                  </a:lnTo>
                  <a:lnTo>
                    <a:pt x="0" y="523227"/>
                  </a:lnTo>
                  <a:lnTo>
                    <a:pt x="716838" y="523227"/>
                  </a:lnTo>
                  <a:lnTo>
                    <a:pt x="716838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530612" y="3717721"/>
              <a:ext cx="716915" cy="523240"/>
            </a:xfrm>
            <a:custGeom>
              <a:avLst/>
              <a:gdLst/>
              <a:ahLst/>
              <a:cxnLst/>
              <a:rect l="l" t="t" r="r" b="b"/>
              <a:pathLst>
                <a:path w="716914" h="523239">
                  <a:moveTo>
                    <a:pt x="0" y="0"/>
                  </a:moveTo>
                  <a:lnTo>
                    <a:pt x="716838" y="0"/>
                  </a:lnTo>
                  <a:lnTo>
                    <a:pt x="716838" y="523227"/>
                  </a:lnTo>
                  <a:lnTo>
                    <a:pt x="0" y="52322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6724" y="3733038"/>
              <a:ext cx="765047" cy="34975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590344" y="3812856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590344" y="3812856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8228" y="4303776"/>
              <a:ext cx="1096517" cy="39776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435309" y="4383655"/>
              <a:ext cx="923290" cy="238125"/>
            </a:xfrm>
            <a:custGeom>
              <a:avLst/>
              <a:gdLst/>
              <a:ahLst/>
              <a:cxnLst/>
              <a:rect l="l" t="t" r="r" b="b"/>
              <a:pathLst>
                <a:path w="923289" h="238125">
                  <a:moveTo>
                    <a:pt x="883081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883081" y="237832"/>
                  </a:lnTo>
                  <a:lnTo>
                    <a:pt x="898511" y="234716"/>
                  </a:lnTo>
                  <a:lnTo>
                    <a:pt x="911110" y="226220"/>
                  </a:lnTo>
                  <a:lnTo>
                    <a:pt x="919604" y="213620"/>
                  </a:lnTo>
                  <a:lnTo>
                    <a:pt x="922718" y="198196"/>
                  </a:lnTo>
                  <a:lnTo>
                    <a:pt x="922718" y="39636"/>
                  </a:lnTo>
                  <a:lnTo>
                    <a:pt x="919604" y="24206"/>
                  </a:lnTo>
                  <a:lnTo>
                    <a:pt x="911110" y="11607"/>
                  </a:lnTo>
                  <a:lnTo>
                    <a:pt x="898511" y="3114"/>
                  </a:lnTo>
                  <a:lnTo>
                    <a:pt x="883081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35309" y="4383655"/>
              <a:ext cx="923290" cy="238125"/>
            </a:xfrm>
            <a:custGeom>
              <a:avLst/>
              <a:gdLst/>
              <a:ahLst/>
              <a:cxnLst/>
              <a:rect l="l" t="t" r="r" b="b"/>
              <a:pathLst>
                <a:path w="923289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883081" y="0"/>
                  </a:lnTo>
                  <a:lnTo>
                    <a:pt x="898511" y="3114"/>
                  </a:lnTo>
                  <a:lnTo>
                    <a:pt x="911110" y="11607"/>
                  </a:lnTo>
                  <a:lnTo>
                    <a:pt x="919604" y="24206"/>
                  </a:lnTo>
                  <a:lnTo>
                    <a:pt x="922718" y="39636"/>
                  </a:lnTo>
                  <a:lnTo>
                    <a:pt x="922718" y="198196"/>
                  </a:lnTo>
                  <a:lnTo>
                    <a:pt x="919604" y="213620"/>
                  </a:lnTo>
                  <a:lnTo>
                    <a:pt x="911110" y="226220"/>
                  </a:lnTo>
                  <a:lnTo>
                    <a:pt x="898511" y="234716"/>
                  </a:lnTo>
                  <a:lnTo>
                    <a:pt x="883081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3653875" y="4380141"/>
            <a:ext cx="4857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Large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scale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antenna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506723" y="3923538"/>
            <a:ext cx="765175" cy="349885"/>
            <a:chOff x="3506723" y="3923538"/>
            <a:chExt cx="765175" cy="349885"/>
          </a:xfrm>
        </p:grpSpPr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6723" y="3923538"/>
              <a:ext cx="765047" cy="34975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590344" y="4003121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590344" y="4003121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3544900" y="3838901"/>
            <a:ext cx="68834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latin typeface="Arial MT"/>
                <a:cs typeface="Arial MT"/>
              </a:rPr>
              <a:t>CPRI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 sz="700" spc="-25">
                <a:latin typeface="Arial MT"/>
                <a:cs typeface="Arial MT"/>
              </a:rPr>
              <a:t>RF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3769614" y="3019805"/>
            <a:ext cx="765175" cy="349885"/>
            <a:chOff x="3769614" y="3019805"/>
            <a:chExt cx="765175" cy="349885"/>
          </a:xfrm>
        </p:grpSpPr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9614" y="3019805"/>
              <a:ext cx="765047" cy="349757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853460" y="3099361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853460" y="3099361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4048323" y="3125406"/>
            <a:ext cx="2089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PHY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3769614" y="2829305"/>
            <a:ext cx="765175" cy="349885"/>
            <a:chOff x="3769614" y="2829305"/>
            <a:chExt cx="765175" cy="349885"/>
          </a:xfrm>
        </p:grpSpPr>
        <p:pic>
          <p:nvPicPr>
            <p:cNvPr id="45" name="object 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9614" y="2829305"/>
              <a:ext cx="765047" cy="34975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3853460" y="2909096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853460" y="2909096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4089471" y="2935141"/>
            <a:ext cx="1250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L2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3769614" y="2639567"/>
            <a:ext cx="765175" cy="349250"/>
            <a:chOff x="3769614" y="2639567"/>
            <a:chExt cx="765175" cy="349250"/>
          </a:xfrm>
        </p:grpSpPr>
        <p:pic>
          <p:nvPicPr>
            <p:cNvPr id="50" name="object 5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9614" y="2639567"/>
              <a:ext cx="765047" cy="348996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3853460" y="2718831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6B6B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853460" y="2718831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4089471" y="2744876"/>
            <a:ext cx="1250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L3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3769614" y="3210305"/>
            <a:ext cx="765175" cy="349250"/>
            <a:chOff x="3769614" y="3210305"/>
            <a:chExt cx="765175" cy="349250"/>
          </a:xfrm>
        </p:grpSpPr>
        <p:pic>
          <p:nvPicPr>
            <p:cNvPr id="55" name="object 5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69614" y="3210305"/>
              <a:ext cx="765047" cy="348995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853460" y="328962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853460" y="328962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4033115" y="3315672"/>
            <a:ext cx="23749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latin typeface="Arial MT"/>
                <a:cs typeface="Arial MT"/>
              </a:rPr>
              <a:t>CPRI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3708653" y="2401061"/>
            <a:ext cx="887094" cy="398145"/>
            <a:chOff x="3708653" y="2401061"/>
            <a:chExt cx="887094" cy="398145"/>
          </a:xfrm>
        </p:grpSpPr>
        <p:pic>
          <p:nvPicPr>
            <p:cNvPr id="60" name="object 6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08653" y="2401061"/>
              <a:ext cx="886967" cy="397763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3793727" y="2481002"/>
              <a:ext cx="716915" cy="238125"/>
            </a:xfrm>
            <a:custGeom>
              <a:avLst/>
              <a:gdLst/>
              <a:ahLst/>
              <a:cxnLst/>
              <a:rect l="l" t="t" r="r" b="b"/>
              <a:pathLst>
                <a:path w="716914" h="238125">
                  <a:moveTo>
                    <a:pt x="677202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677202" y="237832"/>
                  </a:lnTo>
                  <a:lnTo>
                    <a:pt x="692626" y="234716"/>
                  </a:lnTo>
                  <a:lnTo>
                    <a:pt x="705226" y="226220"/>
                  </a:lnTo>
                  <a:lnTo>
                    <a:pt x="713722" y="213620"/>
                  </a:lnTo>
                  <a:lnTo>
                    <a:pt x="716838" y="198196"/>
                  </a:lnTo>
                  <a:lnTo>
                    <a:pt x="716838" y="39636"/>
                  </a:lnTo>
                  <a:lnTo>
                    <a:pt x="713722" y="24206"/>
                  </a:lnTo>
                  <a:lnTo>
                    <a:pt x="705226" y="11607"/>
                  </a:lnTo>
                  <a:lnTo>
                    <a:pt x="692626" y="3114"/>
                  </a:lnTo>
                  <a:lnTo>
                    <a:pt x="677202" y="0"/>
                  </a:lnTo>
                  <a:close/>
                </a:path>
              </a:pathLst>
            </a:custGeom>
            <a:solidFill>
              <a:srgbClr val="F0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793727" y="2481002"/>
              <a:ext cx="716915" cy="238125"/>
            </a:xfrm>
            <a:custGeom>
              <a:avLst/>
              <a:gdLst/>
              <a:ahLst/>
              <a:cxnLst/>
              <a:rect l="l" t="t" r="r" b="b"/>
              <a:pathLst>
                <a:path w="716914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677202" y="0"/>
                  </a:lnTo>
                  <a:lnTo>
                    <a:pt x="692626" y="3114"/>
                  </a:lnTo>
                  <a:lnTo>
                    <a:pt x="705226" y="11607"/>
                  </a:lnTo>
                  <a:lnTo>
                    <a:pt x="713722" y="24206"/>
                  </a:lnTo>
                  <a:lnTo>
                    <a:pt x="716838" y="39636"/>
                  </a:lnTo>
                  <a:lnTo>
                    <a:pt x="716838" y="198196"/>
                  </a:lnTo>
                  <a:lnTo>
                    <a:pt x="713722" y="213620"/>
                  </a:lnTo>
                  <a:lnTo>
                    <a:pt x="705226" y="226220"/>
                  </a:lnTo>
                  <a:lnTo>
                    <a:pt x="692626" y="234716"/>
                  </a:lnTo>
                  <a:lnTo>
                    <a:pt x="677202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3959199" y="2493490"/>
            <a:ext cx="385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Local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RRM/SON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3841189" y="3528480"/>
            <a:ext cx="1431290" cy="1078230"/>
            <a:chOff x="3841189" y="3528480"/>
            <a:chExt cx="1431290" cy="1078230"/>
          </a:xfrm>
        </p:grpSpPr>
        <p:sp>
          <p:nvSpPr>
            <p:cNvPr id="65" name="object 65" descr=""/>
            <p:cNvSpPr/>
            <p:nvPr/>
          </p:nvSpPr>
          <p:spPr>
            <a:xfrm>
              <a:off x="3889697" y="4253508"/>
              <a:ext cx="6350" cy="118110"/>
            </a:xfrm>
            <a:custGeom>
              <a:avLst/>
              <a:gdLst/>
              <a:ahLst/>
              <a:cxnLst/>
              <a:rect l="l" t="t" r="r" b="b"/>
              <a:pathLst>
                <a:path w="6350" h="118110">
                  <a:moveTo>
                    <a:pt x="6299" y="11758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849392" y="4253504"/>
              <a:ext cx="88900" cy="78740"/>
            </a:xfrm>
            <a:custGeom>
              <a:avLst/>
              <a:gdLst/>
              <a:ahLst/>
              <a:cxnLst/>
              <a:rect l="l" t="t" r="r" b="b"/>
              <a:pathLst>
                <a:path w="88900" h="78739">
                  <a:moveTo>
                    <a:pt x="0" y="78473"/>
                  </a:moveTo>
                  <a:lnTo>
                    <a:pt x="40309" y="0"/>
                  </a:lnTo>
                  <a:lnTo>
                    <a:pt x="88773" y="7371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847539" y="4292631"/>
              <a:ext cx="88900" cy="78740"/>
            </a:xfrm>
            <a:custGeom>
              <a:avLst/>
              <a:gdLst/>
              <a:ahLst/>
              <a:cxnLst/>
              <a:rect l="l" t="t" r="r" b="b"/>
              <a:pathLst>
                <a:path w="88900" h="78739">
                  <a:moveTo>
                    <a:pt x="88773" y="0"/>
                  </a:moveTo>
                  <a:lnTo>
                    <a:pt x="48463" y="78460"/>
                  </a:lnTo>
                  <a:lnTo>
                    <a:pt x="0" y="47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899216" y="3534830"/>
              <a:ext cx="243204" cy="175895"/>
            </a:xfrm>
            <a:custGeom>
              <a:avLst/>
              <a:gdLst/>
              <a:ahLst/>
              <a:cxnLst/>
              <a:rect l="l" t="t" r="r" b="b"/>
              <a:pathLst>
                <a:path w="243204" h="175895">
                  <a:moveTo>
                    <a:pt x="0" y="175526"/>
                  </a:moveTo>
                  <a:lnTo>
                    <a:pt x="242735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054162" y="3534831"/>
              <a:ext cx="88265" cy="81280"/>
            </a:xfrm>
            <a:custGeom>
              <a:avLst/>
              <a:gdLst/>
              <a:ahLst/>
              <a:cxnLst/>
              <a:rect l="l" t="t" r="r" b="b"/>
              <a:pathLst>
                <a:path w="88264" h="81279">
                  <a:moveTo>
                    <a:pt x="0" y="8623"/>
                  </a:moveTo>
                  <a:lnTo>
                    <a:pt x="87795" y="0"/>
                  </a:lnTo>
                  <a:lnTo>
                    <a:pt x="52095" y="8065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899213" y="3629685"/>
              <a:ext cx="88265" cy="81280"/>
            </a:xfrm>
            <a:custGeom>
              <a:avLst/>
              <a:gdLst/>
              <a:ahLst/>
              <a:cxnLst/>
              <a:rect l="l" t="t" r="r" b="b"/>
              <a:pathLst>
                <a:path w="88264" h="81279">
                  <a:moveTo>
                    <a:pt x="87795" y="72034"/>
                  </a:moveTo>
                  <a:lnTo>
                    <a:pt x="0" y="80670"/>
                  </a:lnTo>
                  <a:lnTo>
                    <a:pt x="35699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477499" y="3907993"/>
              <a:ext cx="776605" cy="666115"/>
            </a:xfrm>
            <a:custGeom>
              <a:avLst/>
              <a:gdLst/>
              <a:ahLst/>
              <a:cxnLst/>
              <a:rect l="l" t="t" r="r" b="b"/>
              <a:pathLst>
                <a:path w="776604" h="666114">
                  <a:moveTo>
                    <a:pt x="776566" y="0"/>
                  </a:moveTo>
                  <a:lnTo>
                    <a:pt x="0" y="0"/>
                  </a:lnTo>
                  <a:lnTo>
                    <a:pt x="0" y="665924"/>
                  </a:lnTo>
                  <a:lnTo>
                    <a:pt x="776566" y="665924"/>
                  </a:lnTo>
                  <a:lnTo>
                    <a:pt x="776566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8942" y="3876293"/>
              <a:ext cx="765047" cy="348996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4572801" y="3955554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572801" y="3955554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46270" y="4256531"/>
              <a:ext cx="826007" cy="349757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4530848" y="4336084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625386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625386" y="190271"/>
                  </a:lnTo>
                  <a:lnTo>
                    <a:pt x="637729" y="187779"/>
                  </a:lnTo>
                  <a:lnTo>
                    <a:pt x="647809" y="180982"/>
                  </a:lnTo>
                  <a:lnTo>
                    <a:pt x="654605" y="170902"/>
                  </a:lnTo>
                  <a:lnTo>
                    <a:pt x="657098" y="158559"/>
                  </a:lnTo>
                  <a:lnTo>
                    <a:pt x="657098" y="31711"/>
                  </a:lnTo>
                  <a:lnTo>
                    <a:pt x="654605" y="19368"/>
                  </a:lnTo>
                  <a:lnTo>
                    <a:pt x="647809" y="9288"/>
                  </a:lnTo>
                  <a:lnTo>
                    <a:pt x="637729" y="2492"/>
                  </a:lnTo>
                  <a:lnTo>
                    <a:pt x="62538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530848" y="4336084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625386" y="0"/>
                  </a:lnTo>
                  <a:lnTo>
                    <a:pt x="637729" y="2492"/>
                  </a:lnTo>
                  <a:lnTo>
                    <a:pt x="647809" y="9288"/>
                  </a:lnTo>
                  <a:lnTo>
                    <a:pt x="654605" y="19368"/>
                  </a:lnTo>
                  <a:lnTo>
                    <a:pt x="657098" y="31711"/>
                  </a:lnTo>
                  <a:lnTo>
                    <a:pt x="657098" y="158559"/>
                  </a:lnTo>
                  <a:lnTo>
                    <a:pt x="654605" y="170902"/>
                  </a:lnTo>
                  <a:lnTo>
                    <a:pt x="647809" y="180982"/>
                  </a:lnTo>
                  <a:lnTo>
                    <a:pt x="637729" y="187779"/>
                  </a:lnTo>
                  <a:lnTo>
                    <a:pt x="625386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8942" y="4066031"/>
              <a:ext cx="765047" cy="349757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4572801" y="4145819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572801" y="4145819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4477499" y="3907993"/>
            <a:ext cx="776605" cy="666115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algn="ctr" marL="287655" marR="269240">
              <a:lnSpc>
                <a:spcPct val="178300"/>
              </a:lnSpc>
              <a:spcBef>
                <a:spcPts val="20"/>
              </a:spcBef>
            </a:pPr>
            <a:r>
              <a:rPr dirty="0" sz="700" spc="-20">
                <a:latin typeface="Arial MT"/>
                <a:cs typeface="Arial MT"/>
              </a:rPr>
              <a:t>CPRI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RF</a:t>
            </a:r>
            <a:endParaRPr sz="700">
              <a:latin typeface="Arial MT"/>
              <a:cs typeface="Arial MT"/>
            </a:endParaRPr>
          </a:p>
          <a:p>
            <a:pPr algn="ctr" marR="5080">
              <a:lnSpc>
                <a:spcPct val="100000"/>
              </a:lnSpc>
              <a:spcBef>
                <a:spcPts val="725"/>
              </a:spcBef>
            </a:pPr>
            <a:r>
              <a:rPr dirty="0" sz="600" spc="-10">
                <a:latin typeface="Arial MT"/>
                <a:cs typeface="Arial MT"/>
              </a:rPr>
              <a:t>antenna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4366259" y="3543300"/>
            <a:ext cx="886460" cy="349250"/>
            <a:chOff x="4366259" y="3543300"/>
            <a:chExt cx="886460" cy="349250"/>
          </a:xfrm>
        </p:grpSpPr>
        <p:pic>
          <p:nvPicPr>
            <p:cNvPr id="83" name="object 8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66259" y="3543300"/>
              <a:ext cx="886205" cy="348995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4450826" y="3622591"/>
              <a:ext cx="716915" cy="190500"/>
            </a:xfrm>
            <a:custGeom>
              <a:avLst/>
              <a:gdLst/>
              <a:ahLst/>
              <a:cxnLst/>
              <a:rect l="l" t="t" r="r" b="b"/>
              <a:pathLst>
                <a:path w="716914" h="190500">
                  <a:moveTo>
                    <a:pt x="685126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685126" y="190271"/>
                  </a:lnTo>
                  <a:lnTo>
                    <a:pt x="697470" y="187779"/>
                  </a:lnTo>
                  <a:lnTo>
                    <a:pt x="707550" y="180982"/>
                  </a:lnTo>
                  <a:lnTo>
                    <a:pt x="714346" y="170902"/>
                  </a:lnTo>
                  <a:lnTo>
                    <a:pt x="716838" y="158559"/>
                  </a:lnTo>
                  <a:lnTo>
                    <a:pt x="716838" y="31711"/>
                  </a:lnTo>
                  <a:lnTo>
                    <a:pt x="714346" y="19368"/>
                  </a:lnTo>
                  <a:lnTo>
                    <a:pt x="707550" y="9288"/>
                  </a:lnTo>
                  <a:lnTo>
                    <a:pt x="697470" y="2492"/>
                  </a:lnTo>
                  <a:lnTo>
                    <a:pt x="685126" y="0"/>
                  </a:lnTo>
                  <a:close/>
                </a:path>
              </a:pathLst>
            </a:custGeom>
            <a:solidFill>
              <a:srgbClr val="8AC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450826" y="3622591"/>
              <a:ext cx="716915" cy="190500"/>
            </a:xfrm>
            <a:custGeom>
              <a:avLst/>
              <a:gdLst/>
              <a:ahLst/>
              <a:cxnLst/>
              <a:rect l="l" t="t" r="r" b="b"/>
              <a:pathLst>
                <a:path w="71691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685126" y="0"/>
                  </a:lnTo>
                  <a:lnTo>
                    <a:pt x="697470" y="2492"/>
                  </a:lnTo>
                  <a:lnTo>
                    <a:pt x="707550" y="9288"/>
                  </a:lnTo>
                  <a:lnTo>
                    <a:pt x="714346" y="19368"/>
                  </a:lnTo>
                  <a:lnTo>
                    <a:pt x="716838" y="31711"/>
                  </a:lnTo>
                  <a:lnTo>
                    <a:pt x="716838" y="158559"/>
                  </a:lnTo>
                  <a:lnTo>
                    <a:pt x="714346" y="170902"/>
                  </a:lnTo>
                  <a:lnTo>
                    <a:pt x="707550" y="180982"/>
                  </a:lnTo>
                  <a:lnTo>
                    <a:pt x="697470" y="187779"/>
                  </a:lnTo>
                  <a:lnTo>
                    <a:pt x="685126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4547783" y="3648636"/>
            <a:ext cx="52324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CPRI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Switch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4158234" y="3235858"/>
            <a:ext cx="2125980" cy="1313180"/>
            <a:chOff x="4158234" y="3235858"/>
            <a:chExt cx="2125980" cy="1313180"/>
          </a:xfrm>
        </p:grpSpPr>
        <p:sp>
          <p:nvSpPr>
            <p:cNvPr id="88" name="object 88" descr=""/>
            <p:cNvSpPr/>
            <p:nvPr/>
          </p:nvSpPr>
          <p:spPr>
            <a:xfrm>
              <a:off x="4815675" y="3823661"/>
              <a:ext cx="43815" cy="73660"/>
            </a:xfrm>
            <a:custGeom>
              <a:avLst/>
              <a:gdLst/>
              <a:ahLst/>
              <a:cxnLst/>
              <a:rect l="l" t="t" r="r" b="b"/>
              <a:pathLst>
                <a:path w="43814" h="73660">
                  <a:moveTo>
                    <a:pt x="43687" y="7352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815673" y="3823664"/>
              <a:ext cx="77470" cy="88265"/>
            </a:xfrm>
            <a:custGeom>
              <a:avLst/>
              <a:gdLst/>
              <a:ahLst/>
              <a:cxnLst/>
              <a:rect l="l" t="t" r="r" b="b"/>
              <a:pathLst>
                <a:path w="77470" h="88264">
                  <a:moveTo>
                    <a:pt x="723" y="88214"/>
                  </a:moveTo>
                  <a:lnTo>
                    <a:pt x="0" y="0"/>
                  </a:lnTo>
                  <a:lnTo>
                    <a:pt x="77139" y="4278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782216" y="3808967"/>
              <a:ext cx="77470" cy="88265"/>
            </a:xfrm>
            <a:custGeom>
              <a:avLst/>
              <a:gdLst/>
              <a:ahLst/>
              <a:cxnLst/>
              <a:rect l="l" t="t" r="r" b="b"/>
              <a:pathLst>
                <a:path w="77470" h="88264">
                  <a:moveTo>
                    <a:pt x="76428" y="0"/>
                  </a:moveTo>
                  <a:lnTo>
                    <a:pt x="77152" y="88214"/>
                  </a:lnTo>
                  <a:lnTo>
                    <a:pt x="0" y="454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164584" y="3529261"/>
              <a:ext cx="632460" cy="92075"/>
            </a:xfrm>
            <a:custGeom>
              <a:avLst/>
              <a:gdLst/>
              <a:ahLst/>
              <a:cxnLst/>
              <a:rect l="l" t="t" r="r" b="b"/>
              <a:pathLst>
                <a:path w="632460" h="92075">
                  <a:moveTo>
                    <a:pt x="632218" y="91528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164586" y="3496180"/>
              <a:ext cx="81915" cy="88265"/>
            </a:xfrm>
            <a:custGeom>
              <a:avLst/>
              <a:gdLst/>
              <a:ahLst/>
              <a:cxnLst/>
              <a:rect l="l" t="t" r="r" b="b"/>
              <a:pathLst>
                <a:path w="81914" h="88264">
                  <a:moveTo>
                    <a:pt x="69049" y="87985"/>
                  </a:moveTo>
                  <a:lnTo>
                    <a:pt x="0" y="33083"/>
                  </a:lnTo>
                  <a:lnTo>
                    <a:pt x="8178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715022" y="3565876"/>
              <a:ext cx="81915" cy="88265"/>
            </a:xfrm>
            <a:custGeom>
              <a:avLst/>
              <a:gdLst/>
              <a:ahLst/>
              <a:cxnLst/>
              <a:rect l="l" t="t" r="r" b="b"/>
              <a:pathLst>
                <a:path w="81914" h="88264">
                  <a:moveTo>
                    <a:pt x="12738" y="0"/>
                  </a:moveTo>
                  <a:lnTo>
                    <a:pt x="81775" y="54914"/>
                  </a:lnTo>
                  <a:lnTo>
                    <a:pt x="0" y="8798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433276" y="3250145"/>
              <a:ext cx="836930" cy="1284605"/>
            </a:xfrm>
            <a:custGeom>
              <a:avLst/>
              <a:gdLst/>
              <a:ahLst/>
              <a:cxnLst/>
              <a:rect l="l" t="t" r="r" b="b"/>
              <a:pathLst>
                <a:path w="836929" h="1284604">
                  <a:moveTo>
                    <a:pt x="836307" y="0"/>
                  </a:moveTo>
                  <a:lnTo>
                    <a:pt x="0" y="0"/>
                  </a:lnTo>
                  <a:lnTo>
                    <a:pt x="0" y="1284287"/>
                  </a:lnTo>
                  <a:lnTo>
                    <a:pt x="836307" y="1284287"/>
                  </a:lnTo>
                  <a:lnTo>
                    <a:pt x="836307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433276" y="3250145"/>
              <a:ext cx="836930" cy="1284605"/>
            </a:xfrm>
            <a:custGeom>
              <a:avLst/>
              <a:gdLst/>
              <a:ahLst/>
              <a:cxnLst/>
              <a:rect l="l" t="t" r="r" b="b"/>
              <a:pathLst>
                <a:path w="836929" h="1284604">
                  <a:moveTo>
                    <a:pt x="0" y="0"/>
                  </a:moveTo>
                  <a:lnTo>
                    <a:pt x="836307" y="0"/>
                  </a:lnTo>
                  <a:lnTo>
                    <a:pt x="836307" y="1284287"/>
                  </a:lnTo>
                  <a:lnTo>
                    <a:pt x="0" y="128428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68874" y="3836670"/>
              <a:ext cx="765047" cy="348995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5552752" y="3916073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552752" y="3916073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4649040" y="4603891"/>
            <a:ext cx="342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C00000"/>
                </a:solidFill>
                <a:latin typeface="Arial"/>
                <a:cs typeface="Arial"/>
              </a:rPr>
              <a:t>pRRU</a:t>
            </a:r>
            <a:endParaRPr sz="900">
              <a:latin typeface="Arial"/>
              <a:cs typeface="Arial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5747615" y="3942117"/>
            <a:ext cx="2089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PHY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5438394" y="4216908"/>
            <a:ext cx="826135" cy="349885"/>
            <a:chOff x="5438394" y="4216908"/>
            <a:chExt cx="826135" cy="349885"/>
          </a:xfrm>
        </p:grpSpPr>
        <p:pic>
          <p:nvPicPr>
            <p:cNvPr id="102" name="object 10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38394" y="4216908"/>
              <a:ext cx="826007" cy="349757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5522887" y="4296604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625386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625386" y="190271"/>
                  </a:lnTo>
                  <a:lnTo>
                    <a:pt x="637729" y="187779"/>
                  </a:lnTo>
                  <a:lnTo>
                    <a:pt x="647809" y="180982"/>
                  </a:lnTo>
                  <a:lnTo>
                    <a:pt x="654605" y="170902"/>
                  </a:lnTo>
                  <a:lnTo>
                    <a:pt x="657098" y="158559"/>
                  </a:lnTo>
                  <a:lnTo>
                    <a:pt x="657098" y="31711"/>
                  </a:lnTo>
                  <a:lnTo>
                    <a:pt x="654605" y="19368"/>
                  </a:lnTo>
                  <a:lnTo>
                    <a:pt x="647809" y="9288"/>
                  </a:lnTo>
                  <a:lnTo>
                    <a:pt x="637729" y="2492"/>
                  </a:lnTo>
                  <a:lnTo>
                    <a:pt x="62538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522887" y="4296604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625386" y="0"/>
                  </a:lnTo>
                  <a:lnTo>
                    <a:pt x="637729" y="2492"/>
                  </a:lnTo>
                  <a:lnTo>
                    <a:pt x="647809" y="9288"/>
                  </a:lnTo>
                  <a:lnTo>
                    <a:pt x="654605" y="19368"/>
                  </a:lnTo>
                  <a:lnTo>
                    <a:pt x="657098" y="31711"/>
                  </a:lnTo>
                  <a:lnTo>
                    <a:pt x="657098" y="158559"/>
                  </a:lnTo>
                  <a:lnTo>
                    <a:pt x="654605" y="170902"/>
                  </a:lnTo>
                  <a:lnTo>
                    <a:pt x="647809" y="180982"/>
                  </a:lnTo>
                  <a:lnTo>
                    <a:pt x="637729" y="187779"/>
                  </a:lnTo>
                  <a:lnTo>
                    <a:pt x="625386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 descr=""/>
          <p:cNvSpPr txBox="1"/>
          <p:nvPr/>
        </p:nvSpPr>
        <p:spPr>
          <a:xfrm>
            <a:off x="5699956" y="4331031"/>
            <a:ext cx="3028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antenna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6" name="object 106" descr=""/>
          <p:cNvGrpSpPr/>
          <p:nvPr/>
        </p:nvGrpSpPr>
        <p:grpSpPr>
          <a:xfrm>
            <a:off x="5468873" y="4026408"/>
            <a:ext cx="765175" cy="349885"/>
            <a:chOff x="5468873" y="4026408"/>
            <a:chExt cx="765175" cy="349885"/>
          </a:xfrm>
        </p:grpSpPr>
        <p:pic>
          <p:nvPicPr>
            <p:cNvPr id="107" name="object 10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68873" y="4026408"/>
              <a:ext cx="765047" cy="349757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5552754" y="4106338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552754" y="4106338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5779618" y="4132383"/>
            <a:ext cx="14414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RF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5468873" y="2590292"/>
            <a:ext cx="765175" cy="1405890"/>
            <a:chOff x="5468873" y="2590292"/>
            <a:chExt cx="765175" cy="1405890"/>
          </a:xfrm>
        </p:grpSpPr>
        <p:sp>
          <p:nvSpPr>
            <p:cNvPr id="112" name="object 112" descr=""/>
            <p:cNvSpPr/>
            <p:nvPr/>
          </p:nvSpPr>
          <p:spPr>
            <a:xfrm>
              <a:off x="5853386" y="2596642"/>
              <a:ext cx="115570" cy="736600"/>
            </a:xfrm>
            <a:custGeom>
              <a:avLst/>
              <a:gdLst/>
              <a:ahLst/>
              <a:cxnLst/>
              <a:rect l="l" t="t" r="r" b="b"/>
              <a:pathLst>
                <a:path w="115570" h="736600">
                  <a:moveTo>
                    <a:pt x="0" y="736219"/>
                  </a:moveTo>
                  <a:lnTo>
                    <a:pt x="11557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913226" y="2596643"/>
              <a:ext cx="88265" cy="82550"/>
            </a:xfrm>
            <a:custGeom>
              <a:avLst/>
              <a:gdLst/>
              <a:ahLst/>
              <a:cxnLst/>
              <a:rect l="l" t="t" r="r" b="b"/>
              <a:pathLst>
                <a:path w="88264" h="82550">
                  <a:moveTo>
                    <a:pt x="0" y="68376"/>
                  </a:moveTo>
                  <a:lnTo>
                    <a:pt x="55727" y="0"/>
                  </a:lnTo>
                  <a:lnTo>
                    <a:pt x="87820" y="8216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821292" y="3250694"/>
              <a:ext cx="88265" cy="82550"/>
            </a:xfrm>
            <a:custGeom>
              <a:avLst/>
              <a:gdLst/>
              <a:ahLst/>
              <a:cxnLst/>
              <a:rect l="l" t="t" r="r" b="b"/>
              <a:pathLst>
                <a:path w="88264" h="82550">
                  <a:moveTo>
                    <a:pt x="87820" y="13779"/>
                  </a:moveTo>
                  <a:lnTo>
                    <a:pt x="32092" y="82169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68873" y="3646170"/>
              <a:ext cx="765047" cy="349757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5552752" y="372580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552752" y="372580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 txBox="1"/>
          <p:nvPr/>
        </p:nvSpPr>
        <p:spPr>
          <a:xfrm>
            <a:off x="5788764" y="3751853"/>
            <a:ext cx="1250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L2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9" name="object 119" descr=""/>
          <p:cNvGrpSpPr/>
          <p:nvPr/>
        </p:nvGrpSpPr>
        <p:grpSpPr>
          <a:xfrm>
            <a:off x="5407914" y="3217926"/>
            <a:ext cx="887094" cy="588010"/>
            <a:chOff x="5407914" y="3217926"/>
            <a:chExt cx="887094" cy="588010"/>
          </a:xfrm>
        </p:grpSpPr>
        <p:pic>
          <p:nvPicPr>
            <p:cNvPr id="120" name="object 12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68874" y="3455670"/>
              <a:ext cx="765047" cy="349757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5552752" y="353554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6B6B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552752" y="353554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07914" y="3217926"/>
              <a:ext cx="886967" cy="397763"/>
            </a:xfrm>
            <a:prstGeom prst="rect">
              <a:avLst/>
            </a:prstGeom>
          </p:spPr>
        </p:pic>
        <p:sp>
          <p:nvSpPr>
            <p:cNvPr id="124" name="object 124" descr=""/>
            <p:cNvSpPr/>
            <p:nvPr/>
          </p:nvSpPr>
          <p:spPr>
            <a:xfrm>
              <a:off x="5493019" y="3297713"/>
              <a:ext cx="716915" cy="238125"/>
            </a:xfrm>
            <a:custGeom>
              <a:avLst/>
              <a:gdLst/>
              <a:ahLst/>
              <a:cxnLst/>
              <a:rect l="l" t="t" r="r" b="b"/>
              <a:pathLst>
                <a:path w="716914" h="238125">
                  <a:moveTo>
                    <a:pt x="677202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677202" y="237832"/>
                  </a:lnTo>
                  <a:lnTo>
                    <a:pt x="692626" y="234716"/>
                  </a:lnTo>
                  <a:lnTo>
                    <a:pt x="705226" y="226220"/>
                  </a:lnTo>
                  <a:lnTo>
                    <a:pt x="713722" y="213620"/>
                  </a:lnTo>
                  <a:lnTo>
                    <a:pt x="716838" y="198196"/>
                  </a:lnTo>
                  <a:lnTo>
                    <a:pt x="716838" y="39636"/>
                  </a:lnTo>
                  <a:lnTo>
                    <a:pt x="713722" y="24206"/>
                  </a:lnTo>
                  <a:lnTo>
                    <a:pt x="705226" y="11607"/>
                  </a:lnTo>
                  <a:lnTo>
                    <a:pt x="692626" y="3114"/>
                  </a:lnTo>
                  <a:lnTo>
                    <a:pt x="677202" y="0"/>
                  </a:lnTo>
                  <a:close/>
                </a:path>
              </a:pathLst>
            </a:custGeom>
            <a:solidFill>
              <a:srgbClr val="F0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493019" y="3297713"/>
              <a:ext cx="716915" cy="238125"/>
            </a:xfrm>
            <a:custGeom>
              <a:avLst/>
              <a:gdLst/>
              <a:ahLst/>
              <a:cxnLst/>
              <a:rect l="l" t="t" r="r" b="b"/>
              <a:pathLst>
                <a:path w="716914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677202" y="0"/>
                  </a:lnTo>
                  <a:lnTo>
                    <a:pt x="692626" y="3114"/>
                  </a:lnTo>
                  <a:lnTo>
                    <a:pt x="705226" y="11607"/>
                  </a:lnTo>
                  <a:lnTo>
                    <a:pt x="713722" y="24206"/>
                  </a:lnTo>
                  <a:lnTo>
                    <a:pt x="716838" y="39636"/>
                  </a:lnTo>
                  <a:lnTo>
                    <a:pt x="716838" y="198196"/>
                  </a:lnTo>
                  <a:lnTo>
                    <a:pt x="713722" y="213620"/>
                  </a:lnTo>
                  <a:lnTo>
                    <a:pt x="705226" y="226220"/>
                  </a:lnTo>
                  <a:lnTo>
                    <a:pt x="692626" y="234716"/>
                  </a:lnTo>
                  <a:lnTo>
                    <a:pt x="677202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 txBox="1"/>
          <p:nvPr/>
        </p:nvSpPr>
        <p:spPr>
          <a:xfrm>
            <a:off x="5658491" y="3310201"/>
            <a:ext cx="3854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Local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RRM/SON</a:t>
            </a:r>
            <a:endParaRPr sz="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700" spc="-25">
                <a:latin typeface="Arial MT"/>
                <a:cs typeface="Arial MT"/>
              </a:rPr>
              <a:t>L3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6448805" y="3598926"/>
            <a:ext cx="836930" cy="953769"/>
            <a:chOff x="6448805" y="3598926"/>
            <a:chExt cx="836930" cy="953769"/>
          </a:xfrm>
        </p:grpSpPr>
        <p:sp>
          <p:nvSpPr>
            <p:cNvPr id="128" name="object 128" descr=""/>
            <p:cNvSpPr/>
            <p:nvPr/>
          </p:nvSpPr>
          <p:spPr>
            <a:xfrm>
              <a:off x="6448805" y="3630676"/>
              <a:ext cx="836930" cy="856615"/>
            </a:xfrm>
            <a:custGeom>
              <a:avLst/>
              <a:gdLst/>
              <a:ahLst/>
              <a:cxnLst/>
              <a:rect l="l" t="t" r="r" b="b"/>
              <a:pathLst>
                <a:path w="836929" h="856614">
                  <a:moveTo>
                    <a:pt x="836307" y="0"/>
                  </a:moveTo>
                  <a:lnTo>
                    <a:pt x="0" y="0"/>
                  </a:lnTo>
                  <a:lnTo>
                    <a:pt x="0" y="856195"/>
                  </a:lnTo>
                  <a:lnTo>
                    <a:pt x="836307" y="856195"/>
                  </a:lnTo>
                  <a:lnTo>
                    <a:pt x="836307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84619" y="3788664"/>
              <a:ext cx="765047" cy="349757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6568271" y="386850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6568271" y="386850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86143" y="4191000"/>
              <a:ext cx="763523" cy="361187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6569553" y="4270375"/>
              <a:ext cx="596265" cy="202565"/>
            </a:xfrm>
            <a:custGeom>
              <a:avLst/>
              <a:gdLst/>
              <a:ahLst/>
              <a:cxnLst/>
              <a:rect l="l" t="t" r="r" b="b"/>
              <a:pathLst>
                <a:path w="596265" h="202564">
                  <a:moveTo>
                    <a:pt x="562368" y="0"/>
                  </a:moveTo>
                  <a:lnTo>
                    <a:pt x="33718" y="0"/>
                  </a:lnTo>
                  <a:lnTo>
                    <a:pt x="20595" y="2648"/>
                  </a:lnTo>
                  <a:lnTo>
                    <a:pt x="9877" y="9872"/>
                  </a:lnTo>
                  <a:lnTo>
                    <a:pt x="2650" y="20590"/>
                  </a:lnTo>
                  <a:lnTo>
                    <a:pt x="0" y="33718"/>
                  </a:lnTo>
                  <a:lnTo>
                    <a:pt x="0" y="168617"/>
                  </a:lnTo>
                  <a:lnTo>
                    <a:pt x="2650" y="181740"/>
                  </a:lnTo>
                  <a:lnTo>
                    <a:pt x="9877" y="192458"/>
                  </a:lnTo>
                  <a:lnTo>
                    <a:pt x="20595" y="199686"/>
                  </a:lnTo>
                  <a:lnTo>
                    <a:pt x="33718" y="202336"/>
                  </a:lnTo>
                  <a:lnTo>
                    <a:pt x="562368" y="202336"/>
                  </a:lnTo>
                  <a:lnTo>
                    <a:pt x="575491" y="199686"/>
                  </a:lnTo>
                  <a:lnTo>
                    <a:pt x="586209" y="192458"/>
                  </a:lnTo>
                  <a:lnTo>
                    <a:pt x="593436" y="181740"/>
                  </a:lnTo>
                  <a:lnTo>
                    <a:pt x="596087" y="168617"/>
                  </a:lnTo>
                  <a:lnTo>
                    <a:pt x="596087" y="33718"/>
                  </a:lnTo>
                  <a:lnTo>
                    <a:pt x="593436" y="20590"/>
                  </a:lnTo>
                  <a:lnTo>
                    <a:pt x="586209" y="9872"/>
                  </a:lnTo>
                  <a:lnTo>
                    <a:pt x="575491" y="2648"/>
                  </a:lnTo>
                  <a:lnTo>
                    <a:pt x="56236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569553" y="4270375"/>
              <a:ext cx="596265" cy="202565"/>
            </a:xfrm>
            <a:custGeom>
              <a:avLst/>
              <a:gdLst/>
              <a:ahLst/>
              <a:cxnLst/>
              <a:rect l="l" t="t" r="r" b="b"/>
              <a:pathLst>
                <a:path w="596265" h="202564">
                  <a:moveTo>
                    <a:pt x="0" y="33718"/>
                  </a:moveTo>
                  <a:lnTo>
                    <a:pt x="2650" y="20590"/>
                  </a:lnTo>
                  <a:lnTo>
                    <a:pt x="9877" y="9872"/>
                  </a:lnTo>
                  <a:lnTo>
                    <a:pt x="20595" y="2648"/>
                  </a:lnTo>
                  <a:lnTo>
                    <a:pt x="33718" y="0"/>
                  </a:lnTo>
                  <a:lnTo>
                    <a:pt x="562368" y="0"/>
                  </a:lnTo>
                  <a:lnTo>
                    <a:pt x="575491" y="2648"/>
                  </a:lnTo>
                  <a:lnTo>
                    <a:pt x="586209" y="9872"/>
                  </a:lnTo>
                  <a:lnTo>
                    <a:pt x="593436" y="20590"/>
                  </a:lnTo>
                  <a:lnTo>
                    <a:pt x="596087" y="33718"/>
                  </a:lnTo>
                  <a:lnTo>
                    <a:pt x="596087" y="168617"/>
                  </a:lnTo>
                  <a:lnTo>
                    <a:pt x="593436" y="181740"/>
                  </a:lnTo>
                  <a:lnTo>
                    <a:pt x="586209" y="192458"/>
                  </a:lnTo>
                  <a:lnTo>
                    <a:pt x="575491" y="199686"/>
                  </a:lnTo>
                  <a:lnTo>
                    <a:pt x="562368" y="202336"/>
                  </a:lnTo>
                  <a:lnTo>
                    <a:pt x="33718" y="202336"/>
                  </a:lnTo>
                  <a:lnTo>
                    <a:pt x="20595" y="199686"/>
                  </a:lnTo>
                  <a:lnTo>
                    <a:pt x="9877" y="192458"/>
                  </a:lnTo>
                  <a:lnTo>
                    <a:pt x="2650" y="181740"/>
                  </a:lnTo>
                  <a:lnTo>
                    <a:pt x="0" y="168617"/>
                  </a:lnTo>
                  <a:lnTo>
                    <a:pt x="0" y="33718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84619" y="3979164"/>
              <a:ext cx="765047" cy="349757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6568272" y="405877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568272" y="405877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84619" y="3598926"/>
              <a:ext cx="765047" cy="348995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6568271" y="367824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568271" y="367824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 txBox="1"/>
          <p:nvPr/>
        </p:nvSpPr>
        <p:spPr>
          <a:xfrm>
            <a:off x="6448805" y="3630676"/>
            <a:ext cx="836930" cy="856615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algn="ctr" marL="327025" marR="318135" indent="-1905">
              <a:lnSpc>
                <a:spcPct val="178400"/>
              </a:lnSpc>
              <a:spcBef>
                <a:spcPts val="20"/>
              </a:spcBef>
            </a:pPr>
            <a:r>
              <a:rPr dirty="0" sz="700" spc="-25">
                <a:latin typeface="Arial MT"/>
                <a:cs typeface="Arial MT"/>
              </a:rPr>
              <a:t>L2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PHY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RF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600" spc="-10">
                <a:latin typeface="Arial MT"/>
                <a:cs typeface="Arial MT"/>
              </a:rPr>
              <a:t>antenna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2" name="object 142" descr=""/>
          <p:cNvGrpSpPr/>
          <p:nvPr/>
        </p:nvGrpSpPr>
        <p:grpSpPr>
          <a:xfrm>
            <a:off x="7450035" y="3988828"/>
            <a:ext cx="865505" cy="563880"/>
            <a:chOff x="7450035" y="3988828"/>
            <a:chExt cx="865505" cy="563880"/>
          </a:xfrm>
        </p:grpSpPr>
        <p:sp>
          <p:nvSpPr>
            <p:cNvPr id="143" name="object 143" descr=""/>
            <p:cNvSpPr/>
            <p:nvPr/>
          </p:nvSpPr>
          <p:spPr>
            <a:xfrm>
              <a:off x="7464323" y="4003116"/>
              <a:ext cx="836930" cy="483870"/>
            </a:xfrm>
            <a:custGeom>
              <a:avLst/>
              <a:gdLst/>
              <a:ahLst/>
              <a:cxnLst/>
              <a:rect l="l" t="t" r="r" b="b"/>
              <a:pathLst>
                <a:path w="836929" h="483870">
                  <a:moveTo>
                    <a:pt x="836307" y="0"/>
                  </a:moveTo>
                  <a:lnTo>
                    <a:pt x="0" y="0"/>
                  </a:lnTo>
                  <a:lnTo>
                    <a:pt x="0" y="483742"/>
                  </a:lnTo>
                  <a:lnTo>
                    <a:pt x="836307" y="483742"/>
                  </a:lnTo>
                  <a:lnTo>
                    <a:pt x="836307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464323" y="4003116"/>
              <a:ext cx="836930" cy="483870"/>
            </a:xfrm>
            <a:custGeom>
              <a:avLst/>
              <a:gdLst/>
              <a:ahLst/>
              <a:cxnLst/>
              <a:rect l="l" t="t" r="r" b="b"/>
              <a:pathLst>
                <a:path w="836929" h="483870">
                  <a:moveTo>
                    <a:pt x="0" y="0"/>
                  </a:moveTo>
                  <a:lnTo>
                    <a:pt x="836307" y="0"/>
                  </a:lnTo>
                  <a:lnTo>
                    <a:pt x="836307" y="483742"/>
                  </a:lnTo>
                  <a:lnTo>
                    <a:pt x="0" y="483742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69886" y="4203191"/>
              <a:ext cx="825245" cy="348996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7553924" y="4282443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625386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625386" y="190271"/>
                  </a:lnTo>
                  <a:lnTo>
                    <a:pt x="637729" y="187779"/>
                  </a:lnTo>
                  <a:lnTo>
                    <a:pt x="647809" y="180982"/>
                  </a:lnTo>
                  <a:lnTo>
                    <a:pt x="654605" y="170902"/>
                  </a:lnTo>
                  <a:lnTo>
                    <a:pt x="657098" y="158559"/>
                  </a:lnTo>
                  <a:lnTo>
                    <a:pt x="657098" y="31711"/>
                  </a:lnTo>
                  <a:lnTo>
                    <a:pt x="654605" y="19368"/>
                  </a:lnTo>
                  <a:lnTo>
                    <a:pt x="647809" y="9288"/>
                  </a:lnTo>
                  <a:lnTo>
                    <a:pt x="637729" y="2492"/>
                  </a:lnTo>
                  <a:lnTo>
                    <a:pt x="62538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553924" y="4282443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625386" y="0"/>
                  </a:lnTo>
                  <a:lnTo>
                    <a:pt x="637729" y="2492"/>
                  </a:lnTo>
                  <a:lnTo>
                    <a:pt x="647809" y="9288"/>
                  </a:lnTo>
                  <a:lnTo>
                    <a:pt x="654605" y="19368"/>
                  </a:lnTo>
                  <a:lnTo>
                    <a:pt x="657098" y="31711"/>
                  </a:lnTo>
                  <a:lnTo>
                    <a:pt x="657098" y="158559"/>
                  </a:lnTo>
                  <a:lnTo>
                    <a:pt x="654605" y="170902"/>
                  </a:lnTo>
                  <a:lnTo>
                    <a:pt x="647809" y="180982"/>
                  </a:lnTo>
                  <a:lnTo>
                    <a:pt x="637729" y="187779"/>
                  </a:lnTo>
                  <a:lnTo>
                    <a:pt x="625386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 descr=""/>
          <p:cNvSpPr txBox="1"/>
          <p:nvPr/>
        </p:nvSpPr>
        <p:spPr>
          <a:xfrm>
            <a:off x="7571268" y="4316872"/>
            <a:ext cx="6229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antenna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9" name="object 149" descr=""/>
          <p:cNvGrpSpPr/>
          <p:nvPr/>
        </p:nvGrpSpPr>
        <p:grpSpPr>
          <a:xfrm>
            <a:off x="7500366" y="3979164"/>
            <a:ext cx="764540" cy="349885"/>
            <a:chOff x="7500366" y="3979164"/>
            <a:chExt cx="764540" cy="349885"/>
          </a:xfrm>
        </p:grpSpPr>
        <p:pic>
          <p:nvPicPr>
            <p:cNvPr id="150" name="object 15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500366" y="3979164"/>
              <a:ext cx="764285" cy="349757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7583792" y="405877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583792" y="4058772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 txBox="1"/>
          <p:nvPr/>
        </p:nvSpPr>
        <p:spPr>
          <a:xfrm>
            <a:off x="7823355" y="4084816"/>
            <a:ext cx="13144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RF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54" name="object 154" descr=""/>
          <p:cNvGrpSpPr/>
          <p:nvPr/>
        </p:nvGrpSpPr>
        <p:grpSpPr>
          <a:xfrm>
            <a:off x="6122670" y="2302764"/>
            <a:ext cx="1130300" cy="349250"/>
            <a:chOff x="6122670" y="2302764"/>
            <a:chExt cx="1130300" cy="349250"/>
          </a:xfrm>
        </p:grpSpPr>
        <p:pic>
          <p:nvPicPr>
            <p:cNvPr id="155" name="object 1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22670" y="2302764"/>
              <a:ext cx="1130033" cy="348995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6209849" y="2382056"/>
              <a:ext cx="956310" cy="190500"/>
            </a:xfrm>
            <a:custGeom>
              <a:avLst/>
              <a:gdLst/>
              <a:ahLst/>
              <a:cxnLst/>
              <a:rect l="l" t="t" r="r" b="b"/>
              <a:pathLst>
                <a:path w="956309" h="190500">
                  <a:moveTo>
                    <a:pt x="924077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924077" y="190271"/>
                  </a:lnTo>
                  <a:lnTo>
                    <a:pt x="936420" y="187779"/>
                  </a:lnTo>
                  <a:lnTo>
                    <a:pt x="946500" y="180982"/>
                  </a:lnTo>
                  <a:lnTo>
                    <a:pt x="953297" y="170902"/>
                  </a:lnTo>
                  <a:lnTo>
                    <a:pt x="955789" y="158559"/>
                  </a:lnTo>
                  <a:lnTo>
                    <a:pt x="955789" y="31711"/>
                  </a:lnTo>
                  <a:lnTo>
                    <a:pt x="953297" y="19368"/>
                  </a:lnTo>
                  <a:lnTo>
                    <a:pt x="946500" y="9288"/>
                  </a:lnTo>
                  <a:lnTo>
                    <a:pt x="936420" y="2492"/>
                  </a:lnTo>
                  <a:lnTo>
                    <a:pt x="924077" y="0"/>
                  </a:lnTo>
                  <a:close/>
                </a:path>
              </a:pathLst>
            </a:custGeom>
            <a:solidFill>
              <a:srgbClr val="6B6B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6209849" y="2382056"/>
              <a:ext cx="956310" cy="190500"/>
            </a:xfrm>
            <a:custGeom>
              <a:avLst/>
              <a:gdLst/>
              <a:ahLst/>
              <a:cxnLst/>
              <a:rect l="l" t="t" r="r" b="b"/>
              <a:pathLst>
                <a:path w="956309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924077" y="0"/>
                  </a:lnTo>
                  <a:lnTo>
                    <a:pt x="936420" y="2492"/>
                  </a:lnTo>
                  <a:lnTo>
                    <a:pt x="946500" y="9288"/>
                  </a:lnTo>
                  <a:lnTo>
                    <a:pt x="953297" y="19368"/>
                  </a:lnTo>
                  <a:lnTo>
                    <a:pt x="955789" y="31711"/>
                  </a:lnTo>
                  <a:lnTo>
                    <a:pt x="955789" y="158559"/>
                  </a:lnTo>
                  <a:lnTo>
                    <a:pt x="953297" y="170902"/>
                  </a:lnTo>
                  <a:lnTo>
                    <a:pt x="946500" y="180982"/>
                  </a:lnTo>
                  <a:lnTo>
                    <a:pt x="936420" y="187779"/>
                  </a:lnTo>
                  <a:lnTo>
                    <a:pt x="924077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 txBox="1"/>
          <p:nvPr/>
        </p:nvSpPr>
        <p:spPr>
          <a:xfrm>
            <a:off x="6449490" y="2354761"/>
            <a:ext cx="4762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2560" marR="5080" indent="-150495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latin typeface="Arial MT"/>
                <a:cs typeface="Arial MT"/>
              </a:rPr>
              <a:t>Centralized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L3+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59" name="object 159" descr=""/>
          <p:cNvGrpSpPr/>
          <p:nvPr/>
        </p:nvGrpSpPr>
        <p:grpSpPr>
          <a:xfrm>
            <a:off x="4510278" y="2028444"/>
            <a:ext cx="1069340" cy="398145"/>
            <a:chOff x="4510278" y="2028444"/>
            <a:chExt cx="1069340" cy="398145"/>
          </a:xfrm>
        </p:grpSpPr>
        <p:pic>
          <p:nvPicPr>
            <p:cNvPr id="160" name="object 1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10278" y="2028444"/>
              <a:ext cx="1069085" cy="397763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4596973" y="2108556"/>
              <a:ext cx="896619" cy="238125"/>
            </a:xfrm>
            <a:custGeom>
              <a:avLst/>
              <a:gdLst/>
              <a:ahLst/>
              <a:cxnLst/>
              <a:rect l="l" t="t" r="r" b="b"/>
              <a:pathLst>
                <a:path w="896620" h="238125">
                  <a:moveTo>
                    <a:pt x="856411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856411" y="237832"/>
                  </a:lnTo>
                  <a:lnTo>
                    <a:pt x="871836" y="234716"/>
                  </a:lnTo>
                  <a:lnTo>
                    <a:pt x="884435" y="226220"/>
                  </a:lnTo>
                  <a:lnTo>
                    <a:pt x="892932" y="213620"/>
                  </a:lnTo>
                  <a:lnTo>
                    <a:pt x="896048" y="198196"/>
                  </a:lnTo>
                  <a:lnTo>
                    <a:pt x="896048" y="39636"/>
                  </a:lnTo>
                  <a:lnTo>
                    <a:pt x="892932" y="24206"/>
                  </a:lnTo>
                  <a:lnTo>
                    <a:pt x="884435" y="11607"/>
                  </a:lnTo>
                  <a:lnTo>
                    <a:pt x="871836" y="3114"/>
                  </a:lnTo>
                  <a:lnTo>
                    <a:pt x="8564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4596973" y="2108556"/>
              <a:ext cx="896619" cy="238125"/>
            </a:xfrm>
            <a:custGeom>
              <a:avLst/>
              <a:gdLst/>
              <a:ahLst/>
              <a:cxnLst/>
              <a:rect l="l" t="t" r="r" b="b"/>
              <a:pathLst>
                <a:path w="896620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856411" y="0"/>
                  </a:lnTo>
                  <a:lnTo>
                    <a:pt x="871836" y="3114"/>
                  </a:lnTo>
                  <a:lnTo>
                    <a:pt x="884435" y="11607"/>
                  </a:lnTo>
                  <a:lnTo>
                    <a:pt x="892932" y="24206"/>
                  </a:lnTo>
                  <a:lnTo>
                    <a:pt x="896048" y="39636"/>
                  </a:lnTo>
                  <a:lnTo>
                    <a:pt x="896048" y="198196"/>
                  </a:lnTo>
                  <a:lnTo>
                    <a:pt x="892932" y="213620"/>
                  </a:lnTo>
                  <a:lnTo>
                    <a:pt x="884435" y="226220"/>
                  </a:lnTo>
                  <a:lnTo>
                    <a:pt x="871836" y="234716"/>
                  </a:lnTo>
                  <a:lnTo>
                    <a:pt x="856411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 descr=""/>
          <p:cNvSpPr txBox="1"/>
          <p:nvPr/>
        </p:nvSpPr>
        <p:spPr>
          <a:xfrm>
            <a:off x="4839477" y="2121043"/>
            <a:ext cx="411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5080" indent="-13335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Centralized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RRM/SON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64" name="object 164" descr=""/>
          <p:cNvGrpSpPr/>
          <p:nvPr/>
        </p:nvGrpSpPr>
        <p:grpSpPr>
          <a:xfrm>
            <a:off x="5527547" y="1837944"/>
            <a:ext cx="2432050" cy="2159635"/>
            <a:chOff x="5527547" y="1837944"/>
            <a:chExt cx="2432050" cy="2159635"/>
          </a:xfrm>
        </p:grpSpPr>
        <p:sp>
          <p:nvSpPr>
            <p:cNvPr id="165" name="object 165" descr=""/>
            <p:cNvSpPr/>
            <p:nvPr/>
          </p:nvSpPr>
          <p:spPr>
            <a:xfrm>
              <a:off x="7886523" y="3886508"/>
              <a:ext cx="36195" cy="104775"/>
            </a:xfrm>
            <a:custGeom>
              <a:avLst/>
              <a:gdLst/>
              <a:ahLst/>
              <a:cxnLst/>
              <a:rect l="l" t="t" r="r" b="b"/>
              <a:pathLst>
                <a:path w="36195" h="104775">
                  <a:moveTo>
                    <a:pt x="0" y="104711"/>
                  </a:moveTo>
                  <a:lnTo>
                    <a:pt x="35623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855520" y="3886505"/>
              <a:ext cx="84455" cy="86995"/>
            </a:xfrm>
            <a:custGeom>
              <a:avLst/>
              <a:gdLst/>
              <a:ahLst/>
              <a:cxnLst/>
              <a:rect l="l" t="t" r="r" b="b"/>
              <a:pathLst>
                <a:path w="84454" h="86995">
                  <a:moveTo>
                    <a:pt x="0" y="57823"/>
                  </a:moveTo>
                  <a:lnTo>
                    <a:pt x="66624" y="0"/>
                  </a:lnTo>
                  <a:lnTo>
                    <a:pt x="84162" y="8646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868980" y="3904767"/>
              <a:ext cx="84455" cy="86995"/>
            </a:xfrm>
            <a:custGeom>
              <a:avLst/>
              <a:gdLst/>
              <a:ahLst/>
              <a:cxnLst/>
              <a:rect l="l" t="t" r="r" b="b"/>
              <a:pathLst>
                <a:path w="84454" h="86995">
                  <a:moveTo>
                    <a:pt x="84162" y="28625"/>
                  </a:moveTo>
                  <a:lnTo>
                    <a:pt x="17538" y="8644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6872783" y="3071023"/>
              <a:ext cx="287020" cy="548640"/>
            </a:xfrm>
            <a:custGeom>
              <a:avLst/>
              <a:gdLst/>
              <a:ahLst/>
              <a:cxnLst/>
              <a:rect l="l" t="t" r="r" b="b"/>
              <a:pathLst>
                <a:path w="287020" h="548639">
                  <a:moveTo>
                    <a:pt x="0" y="548512"/>
                  </a:moveTo>
                  <a:lnTo>
                    <a:pt x="2870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085093" y="3071021"/>
              <a:ext cx="79375" cy="88265"/>
            </a:xfrm>
            <a:custGeom>
              <a:avLst/>
              <a:gdLst/>
              <a:ahLst/>
              <a:cxnLst/>
              <a:rect l="l" t="t" r="r" b="b"/>
              <a:pathLst>
                <a:path w="79375" h="88264">
                  <a:moveTo>
                    <a:pt x="0" y="46901"/>
                  </a:moveTo>
                  <a:lnTo>
                    <a:pt x="74714" y="0"/>
                  </a:lnTo>
                  <a:lnTo>
                    <a:pt x="78765" y="881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6868730" y="3531416"/>
              <a:ext cx="79375" cy="88265"/>
            </a:xfrm>
            <a:custGeom>
              <a:avLst/>
              <a:gdLst/>
              <a:ahLst/>
              <a:cxnLst/>
              <a:rect l="l" t="t" r="r" b="b"/>
              <a:pathLst>
                <a:path w="79375" h="88264">
                  <a:moveTo>
                    <a:pt x="78765" y="41211"/>
                  </a:moveTo>
                  <a:lnTo>
                    <a:pt x="4051" y="88125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07218" y="3218436"/>
              <a:ext cx="461956" cy="31710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88160" y="2822054"/>
              <a:ext cx="461954" cy="317100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46163" y="2776131"/>
              <a:ext cx="461949" cy="317102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527547" y="1837944"/>
              <a:ext cx="886967" cy="398525"/>
            </a:xfrm>
            <a:prstGeom prst="rect">
              <a:avLst/>
            </a:prstGeom>
          </p:spPr>
        </p:pic>
        <p:sp>
          <p:nvSpPr>
            <p:cNvPr id="175" name="object 175" descr=""/>
            <p:cNvSpPr/>
            <p:nvPr/>
          </p:nvSpPr>
          <p:spPr>
            <a:xfrm>
              <a:off x="5612490" y="1918291"/>
              <a:ext cx="716915" cy="238125"/>
            </a:xfrm>
            <a:custGeom>
              <a:avLst/>
              <a:gdLst/>
              <a:ahLst/>
              <a:cxnLst/>
              <a:rect l="l" t="t" r="r" b="b"/>
              <a:pathLst>
                <a:path w="716914" h="238125">
                  <a:moveTo>
                    <a:pt x="677202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677202" y="237832"/>
                  </a:lnTo>
                  <a:lnTo>
                    <a:pt x="692626" y="234716"/>
                  </a:lnTo>
                  <a:lnTo>
                    <a:pt x="705226" y="226220"/>
                  </a:lnTo>
                  <a:lnTo>
                    <a:pt x="713722" y="213620"/>
                  </a:lnTo>
                  <a:lnTo>
                    <a:pt x="716838" y="198196"/>
                  </a:lnTo>
                  <a:lnTo>
                    <a:pt x="716838" y="39636"/>
                  </a:lnTo>
                  <a:lnTo>
                    <a:pt x="713722" y="24206"/>
                  </a:lnTo>
                  <a:lnTo>
                    <a:pt x="705226" y="11607"/>
                  </a:lnTo>
                  <a:lnTo>
                    <a:pt x="692626" y="3114"/>
                  </a:lnTo>
                  <a:lnTo>
                    <a:pt x="677202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5612490" y="1918291"/>
              <a:ext cx="716915" cy="238125"/>
            </a:xfrm>
            <a:custGeom>
              <a:avLst/>
              <a:gdLst/>
              <a:ahLst/>
              <a:cxnLst/>
              <a:rect l="l" t="t" r="r" b="b"/>
              <a:pathLst>
                <a:path w="716914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677202" y="0"/>
                  </a:lnTo>
                  <a:lnTo>
                    <a:pt x="692626" y="3114"/>
                  </a:lnTo>
                  <a:lnTo>
                    <a:pt x="705226" y="11607"/>
                  </a:lnTo>
                  <a:lnTo>
                    <a:pt x="713722" y="24206"/>
                  </a:lnTo>
                  <a:lnTo>
                    <a:pt x="716838" y="39636"/>
                  </a:lnTo>
                  <a:lnTo>
                    <a:pt x="716838" y="198196"/>
                  </a:lnTo>
                  <a:lnTo>
                    <a:pt x="713722" y="213620"/>
                  </a:lnTo>
                  <a:lnTo>
                    <a:pt x="705226" y="226220"/>
                  </a:lnTo>
                  <a:lnTo>
                    <a:pt x="692626" y="234716"/>
                  </a:lnTo>
                  <a:lnTo>
                    <a:pt x="677202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 descr=""/>
          <p:cNvSpPr txBox="1"/>
          <p:nvPr/>
        </p:nvSpPr>
        <p:spPr>
          <a:xfrm>
            <a:off x="5761199" y="1976498"/>
            <a:ext cx="41973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Arial MT"/>
                <a:cs typeface="Arial MT"/>
              </a:rPr>
              <a:t>Edge</a:t>
            </a:r>
            <a:r>
              <a:rPr dirty="0" sz="600" spc="-30">
                <a:latin typeface="Arial MT"/>
                <a:cs typeface="Arial MT"/>
              </a:rPr>
              <a:t> </a:t>
            </a:r>
            <a:r>
              <a:rPr dirty="0" sz="600" spc="-20">
                <a:latin typeface="Arial MT"/>
                <a:cs typeface="Arial MT"/>
              </a:rPr>
              <a:t>vEPC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8" name="object 178" descr=""/>
          <p:cNvGrpSpPr/>
          <p:nvPr/>
        </p:nvGrpSpPr>
        <p:grpSpPr>
          <a:xfrm>
            <a:off x="6629400" y="1825752"/>
            <a:ext cx="947419" cy="347980"/>
            <a:chOff x="6629400" y="1825752"/>
            <a:chExt cx="947419" cy="347980"/>
          </a:xfrm>
        </p:grpSpPr>
        <p:pic>
          <p:nvPicPr>
            <p:cNvPr id="179" name="object 17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29400" y="1825752"/>
              <a:ext cx="947165" cy="347471"/>
            </a:xfrm>
            <a:prstGeom prst="rect">
              <a:avLst/>
            </a:prstGeom>
          </p:spPr>
        </p:pic>
        <p:sp>
          <p:nvSpPr>
            <p:cNvPr id="180" name="object 180" descr=""/>
            <p:cNvSpPr/>
            <p:nvPr/>
          </p:nvSpPr>
          <p:spPr>
            <a:xfrm>
              <a:off x="6714815" y="1905412"/>
              <a:ext cx="776605" cy="188595"/>
            </a:xfrm>
            <a:custGeom>
              <a:avLst/>
              <a:gdLst/>
              <a:ahLst/>
              <a:cxnLst/>
              <a:rect l="l" t="t" r="r" b="b"/>
              <a:pathLst>
                <a:path w="776604" h="188594">
                  <a:moveTo>
                    <a:pt x="745159" y="0"/>
                  </a:moveTo>
                  <a:lnTo>
                    <a:pt x="31419" y="0"/>
                  </a:lnTo>
                  <a:lnTo>
                    <a:pt x="19186" y="2469"/>
                  </a:lnTo>
                  <a:lnTo>
                    <a:pt x="9199" y="9204"/>
                  </a:lnTo>
                  <a:lnTo>
                    <a:pt x="2467" y="19191"/>
                  </a:lnTo>
                  <a:lnTo>
                    <a:pt x="0" y="31419"/>
                  </a:lnTo>
                  <a:lnTo>
                    <a:pt x="0" y="157073"/>
                  </a:lnTo>
                  <a:lnTo>
                    <a:pt x="2467" y="169299"/>
                  </a:lnTo>
                  <a:lnTo>
                    <a:pt x="9199" y="179282"/>
                  </a:lnTo>
                  <a:lnTo>
                    <a:pt x="19186" y="186012"/>
                  </a:lnTo>
                  <a:lnTo>
                    <a:pt x="31419" y="188480"/>
                  </a:lnTo>
                  <a:lnTo>
                    <a:pt x="745159" y="188480"/>
                  </a:lnTo>
                  <a:lnTo>
                    <a:pt x="757387" y="186012"/>
                  </a:lnTo>
                  <a:lnTo>
                    <a:pt x="767375" y="179282"/>
                  </a:lnTo>
                  <a:lnTo>
                    <a:pt x="774109" y="169299"/>
                  </a:lnTo>
                  <a:lnTo>
                    <a:pt x="776579" y="157073"/>
                  </a:lnTo>
                  <a:lnTo>
                    <a:pt x="776579" y="31419"/>
                  </a:lnTo>
                  <a:lnTo>
                    <a:pt x="774109" y="19191"/>
                  </a:lnTo>
                  <a:lnTo>
                    <a:pt x="767375" y="9204"/>
                  </a:lnTo>
                  <a:lnTo>
                    <a:pt x="757387" y="2469"/>
                  </a:lnTo>
                  <a:lnTo>
                    <a:pt x="745159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6714815" y="1905412"/>
              <a:ext cx="776605" cy="188595"/>
            </a:xfrm>
            <a:custGeom>
              <a:avLst/>
              <a:gdLst/>
              <a:ahLst/>
              <a:cxnLst/>
              <a:rect l="l" t="t" r="r" b="b"/>
              <a:pathLst>
                <a:path w="776604" h="188594">
                  <a:moveTo>
                    <a:pt x="0" y="31419"/>
                  </a:moveTo>
                  <a:lnTo>
                    <a:pt x="2467" y="19191"/>
                  </a:lnTo>
                  <a:lnTo>
                    <a:pt x="9199" y="9204"/>
                  </a:lnTo>
                  <a:lnTo>
                    <a:pt x="19186" y="2469"/>
                  </a:lnTo>
                  <a:lnTo>
                    <a:pt x="31419" y="0"/>
                  </a:lnTo>
                  <a:lnTo>
                    <a:pt x="745159" y="0"/>
                  </a:lnTo>
                  <a:lnTo>
                    <a:pt x="757387" y="2469"/>
                  </a:lnTo>
                  <a:lnTo>
                    <a:pt x="767375" y="9204"/>
                  </a:lnTo>
                  <a:lnTo>
                    <a:pt x="774109" y="19191"/>
                  </a:lnTo>
                  <a:lnTo>
                    <a:pt x="776579" y="31419"/>
                  </a:lnTo>
                  <a:lnTo>
                    <a:pt x="776579" y="157073"/>
                  </a:lnTo>
                  <a:lnTo>
                    <a:pt x="774109" y="169299"/>
                  </a:lnTo>
                  <a:lnTo>
                    <a:pt x="767375" y="179282"/>
                  </a:lnTo>
                  <a:lnTo>
                    <a:pt x="757387" y="186012"/>
                  </a:lnTo>
                  <a:lnTo>
                    <a:pt x="745159" y="188480"/>
                  </a:lnTo>
                  <a:lnTo>
                    <a:pt x="31419" y="188480"/>
                  </a:lnTo>
                  <a:lnTo>
                    <a:pt x="19186" y="186012"/>
                  </a:lnTo>
                  <a:lnTo>
                    <a:pt x="9199" y="179282"/>
                  </a:lnTo>
                  <a:lnTo>
                    <a:pt x="2467" y="169299"/>
                  </a:lnTo>
                  <a:lnTo>
                    <a:pt x="0" y="157073"/>
                  </a:lnTo>
                  <a:lnTo>
                    <a:pt x="0" y="31419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 descr=""/>
          <p:cNvSpPr txBox="1"/>
          <p:nvPr/>
        </p:nvSpPr>
        <p:spPr>
          <a:xfrm>
            <a:off x="6940225" y="1938950"/>
            <a:ext cx="3257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Arial MT"/>
                <a:cs typeface="Arial MT"/>
              </a:rPr>
              <a:t>NFV</a:t>
            </a:r>
            <a:r>
              <a:rPr dirty="0" sz="600" spc="-25">
                <a:latin typeface="Arial MT"/>
                <a:cs typeface="Arial MT"/>
              </a:rPr>
              <a:t> app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83" name="object 183" descr=""/>
          <p:cNvGrpSpPr/>
          <p:nvPr/>
        </p:nvGrpSpPr>
        <p:grpSpPr>
          <a:xfrm>
            <a:off x="6989919" y="2302764"/>
            <a:ext cx="857250" cy="472440"/>
            <a:chOff x="6989919" y="2302764"/>
            <a:chExt cx="857250" cy="472440"/>
          </a:xfrm>
        </p:grpSpPr>
        <p:sp>
          <p:nvSpPr>
            <p:cNvPr id="184" name="object 184" descr=""/>
            <p:cNvSpPr/>
            <p:nvPr/>
          </p:nvSpPr>
          <p:spPr>
            <a:xfrm>
              <a:off x="6996269" y="2552940"/>
              <a:ext cx="271145" cy="215900"/>
            </a:xfrm>
            <a:custGeom>
              <a:avLst/>
              <a:gdLst/>
              <a:ahLst/>
              <a:cxnLst/>
              <a:rect l="l" t="t" r="r" b="b"/>
              <a:pathLst>
                <a:path w="271145" h="215900">
                  <a:moveTo>
                    <a:pt x="271030" y="21536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6996276" y="2552936"/>
              <a:ext cx="87630" cy="82550"/>
            </a:xfrm>
            <a:custGeom>
              <a:avLst/>
              <a:gdLst/>
              <a:ahLst/>
              <a:cxnLst/>
              <a:rect l="l" t="t" r="r" b="b"/>
              <a:pathLst>
                <a:path w="87629" h="82550">
                  <a:moveTo>
                    <a:pt x="32003" y="82207"/>
                  </a:moveTo>
                  <a:lnTo>
                    <a:pt x="0" y="0"/>
                  </a:lnTo>
                  <a:lnTo>
                    <a:pt x="87312" y="125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179991" y="2686097"/>
              <a:ext cx="87630" cy="82550"/>
            </a:xfrm>
            <a:custGeom>
              <a:avLst/>
              <a:gdLst/>
              <a:ahLst/>
              <a:cxnLst/>
              <a:rect l="l" t="t" r="r" b="b"/>
              <a:pathLst>
                <a:path w="87629" h="82550">
                  <a:moveTo>
                    <a:pt x="55308" y="0"/>
                  </a:moveTo>
                  <a:lnTo>
                    <a:pt x="87312" y="82207"/>
                  </a:lnTo>
                  <a:lnTo>
                    <a:pt x="0" y="695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82028" y="2302764"/>
              <a:ext cx="765047" cy="348995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7165631" y="2382056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165631" y="2382056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 descr=""/>
          <p:cNvSpPr txBox="1"/>
          <p:nvPr/>
        </p:nvSpPr>
        <p:spPr>
          <a:xfrm>
            <a:off x="7327728" y="2408101"/>
            <a:ext cx="2724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latin typeface="Arial MT"/>
                <a:cs typeface="Arial MT"/>
              </a:rPr>
              <a:t>PDCP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1" name="object 191" descr=""/>
          <p:cNvSpPr txBox="1"/>
          <p:nvPr/>
        </p:nvSpPr>
        <p:spPr>
          <a:xfrm>
            <a:off x="4960427" y="2376358"/>
            <a:ext cx="527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C00000"/>
                </a:solidFill>
                <a:latin typeface="Arial"/>
                <a:cs typeface="Arial"/>
              </a:rPr>
              <a:t>SDN/NFV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2" name="object 192" descr=""/>
          <p:cNvGrpSpPr/>
          <p:nvPr/>
        </p:nvGrpSpPr>
        <p:grpSpPr>
          <a:xfrm>
            <a:off x="5675897" y="1006783"/>
            <a:ext cx="2326005" cy="588010"/>
            <a:chOff x="5675897" y="1006783"/>
            <a:chExt cx="2326005" cy="588010"/>
          </a:xfrm>
        </p:grpSpPr>
        <p:sp>
          <p:nvSpPr>
            <p:cNvPr id="193" name="object 193" descr=""/>
            <p:cNvSpPr/>
            <p:nvPr/>
          </p:nvSpPr>
          <p:spPr>
            <a:xfrm>
              <a:off x="5688597" y="1019483"/>
              <a:ext cx="2300605" cy="562610"/>
            </a:xfrm>
            <a:custGeom>
              <a:avLst/>
              <a:gdLst/>
              <a:ahLst/>
              <a:cxnLst/>
              <a:rect l="l" t="t" r="r" b="b"/>
              <a:pathLst>
                <a:path w="2300604" h="562610">
                  <a:moveTo>
                    <a:pt x="1507656" y="493837"/>
                  </a:moveTo>
                  <a:lnTo>
                    <a:pt x="866369" y="493837"/>
                  </a:lnTo>
                  <a:lnTo>
                    <a:pt x="904311" y="511939"/>
                  </a:lnTo>
                  <a:lnTo>
                    <a:pt x="949730" y="527815"/>
                  </a:lnTo>
                  <a:lnTo>
                    <a:pt x="1001537" y="541139"/>
                  </a:lnTo>
                  <a:lnTo>
                    <a:pt x="1058647" y="551583"/>
                  </a:lnTo>
                  <a:lnTo>
                    <a:pt x="1121925" y="559003"/>
                  </a:lnTo>
                  <a:lnTo>
                    <a:pt x="1184909" y="562512"/>
                  </a:lnTo>
                  <a:lnTo>
                    <a:pt x="1246323" y="562279"/>
                  </a:lnTo>
                  <a:lnTo>
                    <a:pt x="1304891" y="558473"/>
                  </a:lnTo>
                  <a:lnTo>
                    <a:pt x="1359338" y="551262"/>
                  </a:lnTo>
                  <a:lnTo>
                    <a:pt x="1408388" y="540816"/>
                  </a:lnTo>
                  <a:lnTo>
                    <a:pt x="1450765" y="527303"/>
                  </a:lnTo>
                  <a:lnTo>
                    <a:pt x="1485194" y="510893"/>
                  </a:lnTo>
                  <a:lnTo>
                    <a:pt x="1507656" y="493837"/>
                  </a:lnTo>
                  <a:close/>
                </a:path>
                <a:path w="2300604" h="562610">
                  <a:moveTo>
                    <a:pt x="1900336" y="491754"/>
                  </a:moveTo>
                  <a:lnTo>
                    <a:pt x="1510399" y="491754"/>
                  </a:lnTo>
                  <a:lnTo>
                    <a:pt x="1547505" y="500198"/>
                  </a:lnTo>
                  <a:lnTo>
                    <a:pt x="1586891" y="506938"/>
                  </a:lnTo>
                  <a:lnTo>
                    <a:pt x="1628388" y="511939"/>
                  </a:lnTo>
                  <a:lnTo>
                    <a:pt x="1628653" y="511939"/>
                  </a:lnTo>
                  <a:lnTo>
                    <a:pt x="1670203" y="514969"/>
                  </a:lnTo>
                  <a:lnTo>
                    <a:pt x="1740964" y="515742"/>
                  </a:lnTo>
                  <a:lnTo>
                    <a:pt x="1806294" y="511183"/>
                  </a:lnTo>
                  <a:lnTo>
                    <a:pt x="1864301" y="501823"/>
                  </a:lnTo>
                  <a:lnTo>
                    <a:pt x="1900336" y="491754"/>
                  </a:lnTo>
                  <a:close/>
                </a:path>
                <a:path w="2300604" h="562610">
                  <a:moveTo>
                    <a:pt x="526314" y="13573"/>
                  </a:moveTo>
                  <a:lnTo>
                    <a:pt x="455276" y="15968"/>
                  </a:lnTo>
                  <a:lnTo>
                    <a:pt x="390797" y="22999"/>
                  </a:lnTo>
                  <a:lnTo>
                    <a:pt x="334137" y="34176"/>
                  </a:lnTo>
                  <a:lnTo>
                    <a:pt x="286560" y="49011"/>
                  </a:lnTo>
                  <a:lnTo>
                    <a:pt x="249328" y="67015"/>
                  </a:lnTo>
                  <a:lnTo>
                    <a:pt x="210951" y="110573"/>
                  </a:lnTo>
                  <a:lnTo>
                    <a:pt x="212332" y="135150"/>
                  </a:lnTo>
                  <a:lnTo>
                    <a:pt x="210312" y="136827"/>
                  </a:lnTo>
                  <a:lnTo>
                    <a:pt x="156979" y="138369"/>
                  </a:lnTo>
                  <a:lnTo>
                    <a:pt x="108338" y="144098"/>
                  </a:lnTo>
                  <a:lnTo>
                    <a:pt x="66287" y="153693"/>
                  </a:lnTo>
                  <a:lnTo>
                    <a:pt x="4879" y="188910"/>
                  </a:lnTo>
                  <a:lnTo>
                    <a:pt x="0" y="212854"/>
                  </a:lnTo>
                  <a:lnTo>
                    <a:pt x="16811" y="236843"/>
                  </a:lnTo>
                  <a:lnTo>
                    <a:pt x="54034" y="259053"/>
                  </a:lnTo>
                  <a:lnTo>
                    <a:pt x="110389" y="277657"/>
                  </a:lnTo>
                  <a:lnTo>
                    <a:pt x="79403" y="289811"/>
                  </a:lnTo>
                  <a:lnTo>
                    <a:pt x="58027" y="304119"/>
                  </a:lnTo>
                  <a:lnTo>
                    <a:pt x="46841" y="320039"/>
                  </a:lnTo>
                  <a:lnTo>
                    <a:pt x="46431" y="337030"/>
                  </a:lnTo>
                  <a:lnTo>
                    <a:pt x="60900" y="357968"/>
                  </a:lnTo>
                  <a:lnTo>
                    <a:pt x="130594" y="393070"/>
                  </a:lnTo>
                  <a:lnTo>
                    <a:pt x="180972" y="405703"/>
                  </a:lnTo>
                  <a:lnTo>
                    <a:pt x="238473" y="414037"/>
                  </a:lnTo>
                  <a:lnTo>
                    <a:pt x="300673" y="417306"/>
                  </a:lnTo>
                  <a:lnTo>
                    <a:pt x="302057" y="418208"/>
                  </a:lnTo>
                  <a:lnTo>
                    <a:pt x="336107" y="436975"/>
                  </a:lnTo>
                  <a:lnTo>
                    <a:pt x="372376" y="452266"/>
                  </a:lnTo>
                  <a:lnTo>
                    <a:pt x="413039" y="465797"/>
                  </a:lnTo>
                  <a:lnTo>
                    <a:pt x="457427" y="477480"/>
                  </a:lnTo>
                  <a:lnTo>
                    <a:pt x="504871" y="487226"/>
                  </a:lnTo>
                  <a:lnTo>
                    <a:pt x="554703" y="494948"/>
                  </a:lnTo>
                  <a:lnTo>
                    <a:pt x="606253" y="500557"/>
                  </a:lnTo>
                  <a:lnTo>
                    <a:pt x="658853" y="503966"/>
                  </a:lnTo>
                  <a:lnTo>
                    <a:pt x="711833" y="505086"/>
                  </a:lnTo>
                  <a:lnTo>
                    <a:pt x="764525" y="503830"/>
                  </a:lnTo>
                  <a:lnTo>
                    <a:pt x="815034" y="500198"/>
                  </a:lnTo>
                  <a:lnTo>
                    <a:pt x="815556" y="500198"/>
                  </a:lnTo>
                  <a:lnTo>
                    <a:pt x="866369" y="493837"/>
                  </a:lnTo>
                  <a:lnTo>
                    <a:pt x="1507656" y="493837"/>
                  </a:lnTo>
                  <a:lnTo>
                    <a:pt x="1510399" y="491754"/>
                  </a:lnTo>
                  <a:lnTo>
                    <a:pt x="1900336" y="491754"/>
                  </a:lnTo>
                  <a:lnTo>
                    <a:pt x="1913095" y="488188"/>
                  </a:lnTo>
                  <a:lnTo>
                    <a:pt x="1950785" y="470810"/>
                  </a:lnTo>
                  <a:lnTo>
                    <a:pt x="1975480" y="450215"/>
                  </a:lnTo>
                  <a:lnTo>
                    <a:pt x="1985290" y="426933"/>
                  </a:lnTo>
                  <a:lnTo>
                    <a:pt x="2030743" y="425867"/>
                  </a:lnTo>
                  <a:lnTo>
                    <a:pt x="2074526" y="422818"/>
                  </a:lnTo>
                  <a:lnTo>
                    <a:pt x="2116110" y="417835"/>
                  </a:lnTo>
                  <a:lnTo>
                    <a:pt x="2154962" y="410969"/>
                  </a:lnTo>
                  <a:lnTo>
                    <a:pt x="2215627" y="394307"/>
                  </a:lnTo>
                  <a:lnTo>
                    <a:pt x="2260352" y="373584"/>
                  </a:lnTo>
                  <a:lnTo>
                    <a:pt x="2300193" y="323963"/>
                  </a:lnTo>
                  <a:lnTo>
                    <a:pt x="2294417" y="297068"/>
                  </a:lnTo>
                  <a:lnTo>
                    <a:pt x="2270916" y="270119"/>
                  </a:lnTo>
                  <a:lnTo>
                    <a:pt x="2229244" y="244116"/>
                  </a:lnTo>
                  <a:lnTo>
                    <a:pt x="2234629" y="240281"/>
                  </a:lnTo>
                  <a:lnTo>
                    <a:pt x="2239163" y="236293"/>
                  </a:lnTo>
                  <a:lnTo>
                    <a:pt x="2242820" y="232166"/>
                  </a:lnTo>
                  <a:lnTo>
                    <a:pt x="2254055" y="207214"/>
                  </a:lnTo>
                  <a:lnTo>
                    <a:pt x="2245419" y="182184"/>
                  </a:lnTo>
                  <a:lnTo>
                    <a:pt x="2218757" y="158285"/>
                  </a:lnTo>
                  <a:lnTo>
                    <a:pt x="2176122" y="136827"/>
                  </a:lnTo>
                  <a:lnTo>
                    <a:pt x="2118748" y="118708"/>
                  </a:lnTo>
                  <a:lnTo>
                    <a:pt x="2049094" y="105445"/>
                  </a:lnTo>
                  <a:lnTo>
                    <a:pt x="2038085" y="90438"/>
                  </a:lnTo>
                  <a:lnTo>
                    <a:pt x="2019951" y="76084"/>
                  </a:lnTo>
                  <a:lnTo>
                    <a:pt x="1995173" y="62695"/>
                  </a:lnTo>
                  <a:lnTo>
                    <a:pt x="1964233" y="50581"/>
                  </a:lnTo>
                  <a:lnTo>
                    <a:pt x="1938614" y="43571"/>
                  </a:lnTo>
                  <a:lnTo>
                    <a:pt x="1599514" y="43571"/>
                  </a:lnTo>
                  <a:lnTo>
                    <a:pt x="1591178" y="39837"/>
                  </a:lnTo>
                  <a:lnTo>
                    <a:pt x="755663" y="39837"/>
                  </a:lnTo>
                  <a:lnTo>
                    <a:pt x="713084" y="30619"/>
                  </a:lnTo>
                  <a:lnTo>
                    <a:pt x="668239" y="23314"/>
                  </a:lnTo>
                  <a:lnTo>
                    <a:pt x="621748" y="17990"/>
                  </a:lnTo>
                  <a:lnTo>
                    <a:pt x="574233" y="14720"/>
                  </a:lnTo>
                  <a:lnTo>
                    <a:pt x="526314" y="13573"/>
                  </a:lnTo>
                  <a:close/>
                </a:path>
                <a:path w="2300604" h="562610">
                  <a:moveTo>
                    <a:pt x="1748702" y="21457"/>
                  </a:moveTo>
                  <a:lnTo>
                    <a:pt x="1694138" y="24572"/>
                  </a:lnTo>
                  <a:lnTo>
                    <a:pt x="1643679" y="31929"/>
                  </a:lnTo>
                  <a:lnTo>
                    <a:pt x="1599514" y="43571"/>
                  </a:lnTo>
                  <a:lnTo>
                    <a:pt x="1938614" y="43571"/>
                  </a:lnTo>
                  <a:lnTo>
                    <a:pt x="1915137" y="37147"/>
                  </a:lnTo>
                  <a:lnTo>
                    <a:pt x="1861391" y="27786"/>
                  </a:lnTo>
                  <a:lnTo>
                    <a:pt x="1805558" y="22578"/>
                  </a:lnTo>
                  <a:lnTo>
                    <a:pt x="1807003" y="22578"/>
                  </a:lnTo>
                  <a:lnTo>
                    <a:pt x="1748702" y="21457"/>
                  </a:lnTo>
                  <a:close/>
                </a:path>
                <a:path w="2300604" h="562610">
                  <a:moveTo>
                    <a:pt x="978890" y="0"/>
                  </a:moveTo>
                  <a:lnTo>
                    <a:pt x="925375" y="1167"/>
                  </a:lnTo>
                  <a:lnTo>
                    <a:pt x="874744" y="5821"/>
                  </a:lnTo>
                  <a:lnTo>
                    <a:pt x="828548" y="13876"/>
                  </a:lnTo>
                  <a:lnTo>
                    <a:pt x="788337" y="25243"/>
                  </a:lnTo>
                  <a:lnTo>
                    <a:pt x="755663" y="39837"/>
                  </a:lnTo>
                  <a:lnTo>
                    <a:pt x="1591178" y="39837"/>
                  </a:lnTo>
                  <a:lnTo>
                    <a:pt x="1586329" y="37665"/>
                  </a:lnTo>
                  <a:lnTo>
                    <a:pt x="1206411" y="37665"/>
                  </a:lnTo>
                  <a:lnTo>
                    <a:pt x="1191491" y="32287"/>
                  </a:lnTo>
                  <a:lnTo>
                    <a:pt x="1141235" y="18285"/>
                  </a:lnTo>
                  <a:lnTo>
                    <a:pt x="1088371" y="8472"/>
                  </a:lnTo>
                  <a:lnTo>
                    <a:pt x="1033739" y="2405"/>
                  </a:lnTo>
                  <a:lnTo>
                    <a:pt x="978890" y="0"/>
                  </a:lnTo>
                  <a:close/>
                </a:path>
                <a:path w="2300604" h="562610">
                  <a:moveTo>
                    <a:pt x="1400892" y="3580"/>
                  </a:moveTo>
                  <a:lnTo>
                    <a:pt x="1342435" y="4721"/>
                  </a:lnTo>
                  <a:lnTo>
                    <a:pt x="1288546" y="10913"/>
                  </a:lnTo>
                  <a:lnTo>
                    <a:pt x="1242209" y="21959"/>
                  </a:lnTo>
                  <a:lnTo>
                    <a:pt x="1206411" y="37665"/>
                  </a:lnTo>
                  <a:lnTo>
                    <a:pt x="1586329" y="37665"/>
                  </a:lnTo>
                  <a:lnTo>
                    <a:pt x="1542393" y="22745"/>
                  </a:lnTo>
                  <a:lnTo>
                    <a:pt x="1460931" y="7685"/>
                  </a:lnTo>
                  <a:lnTo>
                    <a:pt x="1400892" y="358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5688597" y="1019483"/>
              <a:ext cx="2300605" cy="562610"/>
            </a:xfrm>
            <a:custGeom>
              <a:avLst/>
              <a:gdLst/>
              <a:ahLst/>
              <a:cxnLst/>
              <a:rect l="l" t="t" r="r" b="b"/>
              <a:pathLst>
                <a:path w="2300604" h="562610">
                  <a:moveTo>
                    <a:pt x="212332" y="135150"/>
                  </a:moveTo>
                  <a:lnTo>
                    <a:pt x="223704" y="87699"/>
                  </a:lnTo>
                  <a:lnTo>
                    <a:pt x="286560" y="49011"/>
                  </a:lnTo>
                  <a:lnTo>
                    <a:pt x="334137" y="34176"/>
                  </a:lnTo>
                  <a:lnTo>
                    <a:pt x="390797" y="22999"/>
                  </a:lnTo>
                  <a:lnTo>
                    <a:pt x="455276" y="15968"/>
                  </a:lnTo>
                  <a:lnTo>
                    <a:pt x="526314" y="13573"/>
                  </a:lnTo>
                  <a:lnTo>
                    <a:pt x="574233" y="14720"/>
                  </a:lnTo>
                  <a:lnTo>
                    <a:pt x="621748" y="17990"/>
                  </a:lnTo>
                  <a:lnTo>
                    <a:pt x="668239" y="23314"/>
                  </a:lnTo>
                  <a:lnTo>
                    <a:pt x="713084" y="30619"/>
                  </a:lnTo>
                  <a:lnTo>
                    <a:pt x="755663" y="39837"/>
                  </a:lnTo>
                  <a:lnTo>
                    <a:pt x="788337" y="25243"/>
                  </a:lnTo>
                  <a:lnTo>
                    <a:pt x="828548" y="13876"/>
                  </a:lnTo>
                  <a:lnTo>
                    <a:pt x="874744" y="5821"/>
                  </a:lnTo>
                  <a:lnTo>
                    <a:pt x="925375" y="1167"/>
                  </a:lnTo>
                  <a:lnTo>
                    <a:pt x="978890" y="0"/>
                  </a:lnTo>
                  <a:lnTo>
                    <a:pt x="1033739" y="2405"/>
                  </a:lnTo>
                  <a:lnTo>
                    <a:pt x="1088371" y="8472"/>
                  </a:lnTo>
                  <a:lnTo>
                    <a:pt x="1141235" y="18285"/>
                  </a:lnTo>
                  <a:lnTo>
                    <a:pt x="1191491" y="32287"/>
                  </a:lnTo>
                  <a:lnTo>
                    <a:pt x="1206411" y="37665"/>
                  </a:lnTo>
                  <a:lnTo>
                    <a:pt x="1242209" y="21959"/>
                  </a:lnTo>
                  <a:lnTo>
                    <a:pt x="1288546" y="10913"/>
                  </a:lnTo>
                  <a:lnTo>
                    <a:pt x="1342435" y="4721"/>
                  </a:lnTo>
                  <a:lnTo>
                    <a:pt x="1400892" y="3580"/>
                  </a:lnTo>
                  <a:lnTo>
                    <a:pt x="1460931" y="7685"/>
                  </a:lnTo>
                  <a:lnTo>
                    <a:pt x="1519568" y="17231"/>
                  </a:lnTo>
                  <a:lnTo>
                    <a:pt x="1563456" y="29015"/>
                  </a:lnTo>
                  <a:lnTo>
                    <a:pt x="1599514" y="43571"/>
                  </a:lnTo>
                  <a:lnTo>
                    <a:pt x="1643679" y="31929"/>
                  </a:lnTo>
                  <a:lnTo>
                    <a:pt x="1694138" y="24572"/>
                  </a:lnTo>
                  <a:lnTo>
                    <a:pt x="1748702" y="21457"/>
                  </a:lnTo>
                  <a:lnTo>
                    <a:pt x="1805183" y="22543"/>
                  </a:lnTo>
                  <a:lnTo>
                    <a:pt x="1861391" y="27786"/>
                  </a:lnTo>
                  <a:lnTo>
                    <a:pt x="1915137" y="37147"/>
                  </a:lnTo>
                  <a:lnTo>
                    <a:pt x="1964233" y="50581"/>
                  </a:lnTo>
                  <a:lnTo>
                    <a:pt x="2019951" y="76084"/>
                  </a:lnTo>
                  <a:lnTo>
                    <a:pt x="2049094" y="105445"/>
                  </a:lnTo>
                  <a:lnTo>
                    <a:pt x="2118748" y="118708"/>
                  </a:lnTo>
                  <a:lnTo>
                    <a:pt x="2175918" y="136724"/>
                  </a:lnTo>
                  <a:lnTo>
                    <a:pt x="2218757" y="158285"/>
                  </a:lnTo>
                  <a:lnTo>
                    <a:pt x="2245419" y="182184"/>
                  </a:lnTo>
                  <a:lnTo>
                    <a:pt x="2254055" y="207214"/>
                  </a:lnTo>
                  <a:lnTo>
                    <a:pt x="2242820" y="232166"/>
                  </a:lnTo>
                  <a:lnTo>
                    <a:pt x="2239163" y="236293"/>
                  </a:lnTo>
                  <a:lnTo>
                    <a:pt x="2234629" y="240281"/>
                  </a:lnTo>
                  <a:lnTo>
                    <a:pt x="2229244" y="244116"/>
                  </a:lnTo>
                  <a:lnTo>
                    <a:pt x="2270916" y="270119"/>
                  </a:lnTo>
                  <a:lnTo>
                    <a:pt x="2294417" y="297068"/>
                  </a:lnTo>
                  <a:lnTo>
                    <a:pt x="2300193" y="323963"/>
                  </a:lnTo>
                  <a:lnTo>
                    <a:pt x="2288689" y="349802"/>
                  </a:lnTo>
                  <a:lnTo>
                    <a:pt x="2215627" y="394307"/>
                  </a:lnTo>
                  <a:lnTo>
                    <a:pt x="2154962" y="410969"/>
                  </a:lnTo>
                  <a:lnTo>
                    <a:pt x="2116110" y="417835"/>
                  </a:lnTo>
                  <a:lnTo>
                    <a:pt x="2074526" y="422818"/>
                  </a:lnTo>
                  <a:lnTo>
                    <a:pt x="2030743" y="425867"/>
                  </a:lnTo>
                  <a:lnTo>
                    <a:pt x="1985290" y="426933"/>
                  </a:lnTo>
                  <a:lnTo>
                    <a:pt x="1975480" y="450215"/>
                  </a:lnTo>
                  <a:lnTo>
                    <a:pt x="1913095" y="488188"/>
                  </a:lnTo>
                  <a:lnTo>
                    <a:pt x="1864301" y="501823"/>
                  </a:lnTo>
                  <a:lnTo>
                    <a:pt x="1806294" y="511183"/>
                  </a:lnTo>
                  <a:lnTo>
                    <a:pt x="1740964" y="515742"/>
                  </a:lnTo>
                  <a:lnTo>
                    <a:pt x="1670203" y="514969"/>
                  </a:lnTo>
                  <a:lnTo>
                    <a:pt x="1627981" y="511890"/>
                  </a:lnTo>
                  <a:lnTo>
                    <a:pt x="1586891" y="506938"/>
                  </a:lnTo>
                  <a:lnTo>
                    <a:pt x="1547505" y="500198"/>
                  </a:lnTo>
                  <a:lnTo>
                    <a:pt x="1510399" y="491754"/>
                  </a:lnTo>
                  <a:lnTo>
                    <a:pt x="1450765" y="527303"/>
                  </a:lnTo>
                  <a:lnTo>
                    <a:pt x="1408388" y="540816"/>
                  </a:lnTo>
                  <a:lnTo>
                    <a:pt x="1359338" y="551262"/>
                  </a:lnTo>
                  <a:lnTo>
                    <a:pt x="1304891" y="558473"/>
                  </a:lnTo>
                  <a:lnTo>
                    <a:pt x="1246323" y="562279"/>
                  </a:lnTo>
                  <a:lnTo>
                    <a:pt x="1184909" y="562512"/>
                  </a:lnTo>
                  <a:lnTo>
                    <a:pt x="1121925" y="559003"/>
                  </a:lnTo>
                  <a:lnTo>
                    <a:pt x="1058647" y="551583"/>
                  </a:lnTo>
                  <a:lnTo>
                    <a:pt x="1001537" y="541139"/>
                  </a:lnTo>
                  <a:lnTo>
                    <a:pt x="949730" y="527815"/>
                  </a:lnTo>
                  <a:lnTo>
                    <a:pt x="904311" y="511939"/>
                  </a:lnTo>
                  <a:lnTo>
                    <a:pt x="866369" y="493837"/>
                  </a:lnTo>
                  <a:lnTo>
                    <a:pt x="816260" y="500110"/>
                  </a:lnTo>
                  <a:lnTo>
                    <a:pt x="764525" y="503830"/>
                  </a:lnTo>
                  <a:lnTo>
                    <a:pt x="711833" y="505086"/>
                  </a:lnTo>
                  <a:lnTo>
                    <a:pt x="658853" y="503966"/>
                  </a:lnTo>
                  <a:lnTo>
                    <a:pt x="606253" y="500557"/>
                  </a:lnTo>
                  <a:lnTo>
                    <a:pt x="554703" y="494948"/>
                  </a:lnTo>
                  <a:lnTo>
                    <a:pt x="504871" y="487226"/>
                  </a:lnTo>
                  <a:lnTo>
                    <a:pt x="457427" y="477480"/>
                  </a:lnTo>
                  <a:lnTo>
                    <a:pt x="413039" y="465797"/>
                  </a:lnTo>
                  <a:lnTo>
                    <a:pt x="372376" y="452266"/>
                  </a:lnTo>
                  <a:lnTo>
                    <a:pt x="336107" y="436975"/>
                  </a:lnTo>
                  <a:lnTo>
                    <a:pt x="302057" y="418208"/>
                  </a:lnTo>
                  <a:lnTo>
                    <a:pt x="300673" y="417306"/>
                  </a:lnTo>
                  <a:lnTo>
                    <a:pt x="238473" y="414037"/>
                  </a:lnTo>
                  <a:lnTo>
                    <a:pt x="180972" y="405703"/>
                  </a:lnTo>
                  <a:lnTo>
                    <a:pt x="130594" y="393070"/>
                  </a:lnTo>
                  <a:lnTo>
                    <a:pt x="89762" y="376903"/>
                  </a:lnTo>
                  <a:lnTo>
                    <a:pt x="46431" y="337030"/>
                  </a:lnTo>
                  <a:lnTo>
                    <a:pt x="46841" y="320039"/>
                  </a:lnTo>
                  <a:lnTo>
                    <a:pt x="58027" y="304119"/>
                  </a:lnTo>
                  <a:lnTo>
                    <a:pt x="79403" y="289811"/>
                  </a:lnTo>
                  <a:lnTo>
                    <a:pt x="110389" y="277657"/>
                  </a:lnTo>
                  <a:lnTo>
                    <a:pt x="54034" y="259053"/>
                  </a:lnTo>
                  <a:lnTo>
                    <a:pt x="16811" y="236843"/>
                  </a:lnTo>
                  <a:lnTo>
                    <a:pt x="0" y="212854"/>
                  </a:lnTo>
                  <a:lnTo>
                    <a:pt x="4879" y="188910"/>
                  </a:lnTo>
                  <a:lnTo>
                    <a:pt x="66287" y="153693"/>
                  </a:lnTo>
                  <a:lnTo>
                    <a:pt x="108338" y="144098"/>
                  </a:lnTo>
                  <a:lnTo>
                    <a:pt x="156979" y="138369"/>
                  </a:lnTo>
                  <a:lnTo>
                    <a:pt x="210312" y="136827"/>
                  </a:lnTo>
                  <a:lnTo>
                    <a:pt x="212332" y="13515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5801551" y="1055922"/>
              <a:ext cx="2115820" cy="455295"/>
            </a:xfrm>
            <a:custGeom>
              <a:avLst/>
              <a:gdLst/>
              <a:ahLst/>
              <a:cxnLst/>
              <a:rect l="l" t="t" r="r" b="b"/>
              <a:pathLst>
                <a:path w="2115820" h="455294">
                  <a:moveTo>
                    <a:pt x="134289" y="255917"/>
                  </a:moveTo>
                  <a:lnTo>
                    <a:pt x="99112" y="254287"/>
                  </a:lnTo>
                  <a:lnTo>
                    <a:pt x="64611" y="250893"/>
                  </a:lnTo>
                  <a:lnTo>
                    <a:pt x="31376" y="245811"/>
                  </a:lnTo>
                  <a:lnTo>
                    <a:pt x="0" y="239115"/>
                  </a:lnTo>
                </a:path>
                <a:path w="2115820" h="455294">
                  <a:moveTo>
                    <a:pt x="247827" y="376161"/>
                  </a:moveTo>
                  <a:lnTo>
                    <a:pt x="233400" y="377230"/>
                  </a:lnTo>
                  <a:lnTo>
                    <a:pt x="218690" y="377961"/>
                  </a:lnTo>
                  <a:lnTo>
                    <a:pt x="203747" y="378354"/>
                  </a:lnTo>
                  <a:lnTo>
                    <a:pt x="188620" y="378409"/>
                  </a:lnTo>
                </a:path>
                <a:path w="2115820" h="455294">
                  <a:moveTo>
                    <a:pt x="753389" y="455104"/>
                  </a:moveTo>
                  <a:lnTo>
                    <a:pt x="743412" y="449148"/>
                  </a:lnTo>
                  <a:lnTo>
                    <a:pt x="734333" y="443063"/>
                  </a:lnTo>
                  <a:lnTo>
                    <a:pt x="726168" y="436861"/>
                  </a:lnTo>
                  <a:lnTo>
                    <a:pt x="718934" y="430555"/>
                  </a:lnTo>
                </a:path>
                <a:path w="2115820" h="455294">
                  <a:moveTo>
                    <a:pt x="1413141" y="428879"/>
                  </a:moveTo>
                  <a:lnTo>
                    <a:pt x="1410770" y="435141"/>
                  </a:lnTo>
                  <a:lnTo>
                    <a:pt x="1407415" y="441310"/>
                  </a:lnTo>
                  <a:lnTo>
                    <a:pt x="1403081" y="447372"/>
                  </a:lnTo>
                  <a:lnTo>
                    <a:pt x="1397774" y="453313"/>
                  </a:lnTo>
                </a:path>
                <a:path w="2115820" h="455294">
                  <a:moveTo>
                    <a:pt x="1702523" y="287020"/>
                  </a:moveTo>
                  <a:lnTo>
                    <a:pt x="1773911" y="306818"/>
                  </a:lnTo>
                  <a:lnTo>
                    <a:pt x="1827569" y="331468"/>
                  </a:lnTo>
                  <a:lnTo>
                    <a:pt x="1860856" y="359373"/>
                  </a:lnTo>
                  <a:lnTo>
                    <a:pt x="1871129" y="388937"/>
                  </a:lnTo>
                </a:path>
                <a:path w="2115820" h="455294">
                  <a:moveTo>
                    <a:pt x="2115261" y="206235"/>
                  </a:moveTo>
                  <a:lnTo>
                    <a:pt x="2100173" y="215427"/>
                  </a:lnTo>
                  <a:lnTo>
                    <a:pt x="2081899" y="223807"/>
                  </a:lnTo>
                  <a:lnTo>
                    <a:pt x="2060638" y="231293"/>
                  </a:lnTo>
                  <a:lnTo>
                    <a:pt x="2036584" y="237807"/>
                  </a:lnTo>
                </a:path>
                <a:path w="2115820" h="455294">
                  <a:moveTo>
                    <a:pt x="1936546" y="67043"/>
                  </a:moveTo>
                  <a:lnTo>
                    <a:pt x="1939226" y="72669"/>
                  </a:lnTo>
                  <a:lnTo>
                    <a:pt x="1940331" y="78295"/>
                  </a:lnTo>
                  <a:lnTo>
                    <a:pt x="1939836" y="83845"/>
                  </a:lnTo>
                </a:path>
                <a:path w="2115820" h="455294">
                  <a:moveTo>
                    <a:pt x="1445488" y="24587"/>
                  </a:moveTo>
                  <a:lnTo>
                    <a:pt x="1453880" y="19325"/>
                  </a:lnTo>
                  <a:lnTo>
                    <a:pt x="1463446" y="14336"/>
                  </a:lnTo>
                  <a:lnTo>
                    <a:pt x="1474145" y="9640"/>
                  </a:lnTo>
                  <a:lnTo>
                    <a:pt x="1485938" y="5257"/>
                  </a:lnTo>
                </a:path>
                <a:path w="2115820" h="455294">
                  <a:moveTo>
                    <a:pt x="1075905" y="17373"/>
                  </a:moveTo>
                  <a:lnTo>
                    <a:pt x="1079632" y="12824"/>
                  </a:lnTo>
                  <a:lnTo>
                    <a:pt x="1084211" y="8405"/>
                  </a:lnTo>
                  <a:lnTo>
                    <a:pt x="1089629" y="4127"/>
                  </a:lnTo>
                  <a:lnTo>
                    <a:pt x="1095870" y="0"/>
                  </a:lnTo>
                </a:path>
                <a:path w="2115820" h="455294">
                  <a:moveTo>
                    <a:pt x="642442" y="3263"/>
                  </a:moveTo>
                  <a:lnTo>
                    <a:pt x="660724" y="8024"/>
                  </a:lnTo>
                  <a:lnTo>
                    <a:pt x="678240" y="13114"/>
                  </a:lnTo>
                  <a:lnTo>
                    <a:pt x="694941" y="18521"/>
                  </a:lnTo>
                  <a:lnTo>
                    <a:pt x="710780" y="24231"/>
                  </a:lnTo>
                </a:path>
                <a:path w="2115820" h="455294">
                  <a:moveTo>
                    <a:pt x="110578" y="117932"/>
                  </a:moveTo>
                  <a:lnTo>
                    <a:pt x="105384" y="111582"/>
                  </a:lnTo>
                  <a:lnTo>
                    <a:pt x="101638" y="105156"/>
                  </a:lnTo>
                  <a:lnTo>
                    <a:pt x="99390" y="98717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25718" y="1124711"/>
              <a:ext cx="825245" cy="397763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6209855" y="1204796"/>
              <a:ext cx="657225" cy="238125"/>
            </a:xfrm>
            <a:custGeom>
              <a:avLst/>
              <a:gdLst/>
              <a:ahLst/>
              <a:cxnLst/>
              <a:rect l="l" t="t" r="r" b="b"/>
              <a:pathLst>
                <a:path w="657225" h="238125">
                  <a:moveTo>
                    <a:pt x="617461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617461" y="237832"/>
                  </a:lnTo>
                  <a:lnTo>
                    <a:pt x="632891" y="234716"/>
                  </a:lnTo>
                  <a:lnTo>
                    <a:pt x="645490" y="226220"/>
                  </a:lnTo>
                  <a:lnTo>
                    <a:pt x="653983" y="213620"/>
                  </a:lnTo>
                  <a:lnTo>
                    <a:pt x="657098" y="198196"/>
                  </a:lnTo>
                  <a:lnTo>
                    <a:pt x="657098" y="39636"/>
                  </a:lnTo>
                  <a:lnTo>
                    <a:pt x="653983" y="24206"/>
                  </a:lnTo>
                  <a:lnTo>
                    <a:pt x="645490" y="11607"/>
                  </a:lnTo>
                  <a:lnTo>
                    <a:pt x="632891" y="3114"/>
                  </a:lnTo>
                  <a:lnTo>
                    <a:pt x="617461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6209855" y="1204796"/>
              <a:ext cx="657225" cy="238125"/>
            </a:xfrm>
            <a:custGeom>
              <a:avLst/>
              <a:gdLst/>
              <a:ahLst/>
              <a:cxnLst/>
              <a:rect l="l" t="t" r="r" b="b"/>
              <a:pathLst>
                <a:path w="657225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617461" y="0"/>
                  </a:lnTo>
                  <a:lnTo>
                    <a:pt x="632891" y="3114"/>
                  </a:lnTo>
                  <a:lnTo>
                    <a:pt x="645490" y="11607"/>
                  </a:lnTo>
                  <a:lnTo>
                    <a:pt x="653983" y="24206"/>
                  </a:lnTo>
                  <a:lnTo>
                    <a:pt x="657098" y="39636"/>
                  </a:lnTo>
                  <a:lnTo>
                    <a:pt x="657098" y="198196"/>
                  </a:lnTo>
                  <a:lnTo>
                    <a:pt x="653983" y="213620"/>
                  </a:lnTo>
                  <a:lnTo>
                    <a:pt x="645490" y="226220"/>
                  </a:lnTo>
                  <a:lnTo>
                    <a:pt x="632891" y="234716"/>
                  </a:lnTo>
                  <a:lnTo>
                    <a:pt x="617461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 descr=""/>
          <p:cNvSpPr txBox="1"/>
          <p:nvPr/>
        </p:nvSpPr>
        <p:spPr>
          <a:xfrm>
            <a:off x="6428327" y="1263004"/>
            <a:ext cx="2203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latin typeface="Arial MT"/>
                <a:cs typeface="Arial MT"/>
              </a:rPr>
              <a:t>vEPC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0" name="object 200" descr=""/>
          <p:cNvGrpSpPr/>
          <p:nvPr/>
        </p:nvGrpSpPr>
        <p:grpSpPr>
          <a:xfrm>
            <a:off x="6842759" y="1124711"/>
            <a:ext cx="825500" cy="398145"/>
            <a:chOff x="6842759" y="1124711"/>
            <a:chExt cx="825500" cy="398145"/>
          </a:xfrm>
        </p:grpSpPr>
        <p:pic>
          <p:nvPicPr>
            <p:cNvPr id="201" name="object 20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842759" y="1124711"/>
              <a:ext cx="825244" cy="397763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6926691" y="1204796"/>
              <a:ext cx="657225" cy="238125"/>
            </a:xfrm>
            <a:custGeom>
              <a:avLst/>
              <a:gdLst/>
              <a:ahLst/>
              <a:cxnLst/>
              <a:rect l="l" t="t" r="r" b="b"/>
              <a:pathLst>
                <a:path w="657225" h="238125">
                  <a:moveTo>
                    <a:pt x="617461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617461" y="237832"/>
                  </a:lnTo>
                  <a:lnTo>
                    <a:pt x="632891" y="234716"/>
                  </a:lnTo>
                  <a:lnTo>
                    <a:pt x="645490" y="226220"/>
                  </a:lnTo>
                  <a:lnTo>
                    <a:pt x="653983" y="213620"/>
                  </a:lnTo>
                  <a:lnTo>
                    <a:pt x="657098" y="198196"/>
                  </a:lnTo>
                  <a:lnTo>
                    <a:pt x="657098" y="39636"/>
                  </a:lnTo>
                  <a:lnTo>
                    <a:pt x="653983" y="24206"/>
                  </a:lnTo>
                  <a:lnTo>
                    <a:pt x="645490" y="11607"/>
                  </a:lnTo>
                  <a:lnTo>
                    <a:pt x="632891" y="3114"/>
                  </a:lnTo>
                  <a:lnTo>
                    <a:pt x="617461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6926691" y="1204796"/>
              <a:ext cx="657225" cy="238125"/>
            </a:xfrm>
            <a:custGeom>
              <a:avLst/>
              <a:gdLst/>
              <a:ahLst/>
              <a:cxnLst/>
              <a:rect l="l" t="t" r="r" b="b"/>
              <a:pathLst>
                <a:path w="657225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617461" y="0"/>
                  </a:lnTo>
                  <a:lnTo>
                    <a:pt x="632891" y="3114"/>
                  </a:lnTo>
                  <a:lnTo>
                    <a:pt x="645490" y="11607"/>
                  </a:lnTo>
                  <a:lnTo>
                    <a:pt x="653983" y="24206"/>
                  </a:lnTo>
                  <a:lnTo>
                    <a:pt x="657098" y="39636"/>
                  </a:lnTo>
                  <a:lnTo>
                    <a:pt x="657098" y="198196"/>
                  </a:lnTo>
                  <a:lnTo>
                    <a:pt x="653983" y="213620"/>
                  </a:lnTo>
                  <a:lnTo>
                    <a:pt x="645490" y="226220"/>
                  </a:lnTo>
                  <a:lnTo>
                    <a:pt x="632891" y="234716"/>
                  </a:lnTo>
                  <a:lnTo>
                    <a:pt x="617461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 descr=""/>
          <p:cNvSpPr txBox="1"/>
          <p:nvPr/>
        </p:nvSpPr>
        <p:spPr>
          <a:xfrm>
            <a:off x="7157323" y="1263004"/>
            <a:ext cx="1936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Arial MT"/>
                <a:cs typeface="Arial MT"/>
              </a:rPr>
              <a:t>vGW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05" name="object 205" descr=""/>
          <p:cNvGrpSpPr/>
          <p:nvPr/>
        </p:nvGrpSpPr>
        <p:grpSpPr>
          <a:xfrm>
            <a:off x="7440168" y="1933194"/>
            <a:ext cx="765175" cy="398780"/>
            <a:chOff x="7440168" y="1933194"/>
            <a:chExt cx="765175" cy="398780"/>
          </a:xfrm>
        </p:grpSpPr>
        <p:pic>
          <p:nvPicPr>
            <p:cNvPr id="206" name="object 20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440168" y="1933194"/>
              <a:ext cx="765047" cy="398525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7524055" y="2013424"/>
              <a:ext cx="597535" cy="238125"/>
            </a:xfrm>
            <a:custGeom>
              <a:avLst/>
              <a:gdLst/>
              <a:ahLst/>
              <a:cxnLst/>
              <a:rect l="l" t="t" r="r" b="b"/>
              <a:pathLst>
                <a:path w="597534" h="238125">
                  <a:moveTo>
                    <a:pt x="557720" y="0"/>
                  </a:moveTo>
                  <a:lnTo>
                    <a:pt x="39636" y="0"/>
                  </a:lnTo>
                  <a:lnTo>
                    <a:pt x="24206" y="3114"/>
                  </a:lnTo>
                  <a:lnTo>
                    <a:pt x="11607" y="11607"/>
                  </a:lnTo>
                  <a:lnTo>
                    <a:pt x="3114" y="24206"/>
                  </a:lnTo>
                  <a:lnTo>
                    <a:pt x="0" y="39636"/>
                  </a:lnTo>
                  <a:lnTo>
                    <a:pt x="0" y="198196"/>
                  </a:lnTo>
                  <a:lnTo>
                    <a:pt x="3114" y="213620"/>
                  </a:lnTo>
                  <a:lnTo>
                    <a:pt x="11607" y="226220"/>
                  </a:lnTo>
                  <a:lnTo>
                    <a:pt x="24206" y="234716"/>
                  </a:lnTo>
                  <a:lnTo>
                    <a:pt x="39636" y="237832"/>
                  </a:lnTo>
                  <a:lnTo>
                    <a:pt x="557720" y="237832"/>
                  </a:lnTo>
                  <a:lnTo>
                    <a:pt x="573150" y="234716"/>
                  </a:lnTo>
                  <a:lnTo>
                    <a:pt x="585749" y="226220"/>
                  </a:lnTo>
                  <a:lnTo>
                    <a:pt x="594242" y="213620"/>
                  </a:lnTo>
                  <a:lnTo>
                    <a:pt x="597357" y="198196"/>
                  </a:lnTo>
                  <a:lnTo>
                    <a:pt x="597357" y="39636"/>
                  </a:lnTo>
                  <a:lnTo>
                    <a:pt x="594242" y="24206"/>
                  </a:lnTo>
                  <a:lnTo>
                    <a:pt x="585749" y="11607"/>
                  </a:lnTo>
                  <a:lnTo>
                    <a:pt x="573150" y="3114"/>
                  </a:lnTo>
                  <a:lnTo>
                    <a:pt x="55772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524055" y="2013424"/>
              <a:ext cx="597535" cy="238125"/>
            </a:xfrm>
            <a:custGeom>
              <a:avLst/>
              <a:gdLst/>
              <a:ahLst/>
              <a:cxnLst/>
              <a:rect l="l" t="t" r="r" b="b"/>
              <a:pathLst>
                <a:path w="597534" h="238125">
                  <a:moveTo>
                    <a:pt x="0" y="39636"/>
                  </a:moveTo>
                  <a:lnTo>
                    <a:pt x="3114" y="24206"/>
                  </a:lnTo>
                  <a:lnTo>
                    <a:pt x="11607" y="11607"/>
                  </a:lnTo>
                  <a:lnTo>
                    <a:pt x="24206" y="3114"/>
                  </a:lnTo>
                  <a:lnTo>
                    <a:pt x="39636" y="0"/>
                  </a:lnTo>
                  <a:lnTo>
                    <a:pt x="557720" y="0"/>
                  </a:lnTo>
                  <a:lnTo>
                    <a:pt x="573150" y="3114"/>
                  </a:lnTo>
                  <a:lnTo>
                    <a:pt x="585749" y="11607"/>
                  </a:lnTo>
                  <a:lnTo>
                    <a:pt x="594242" y="24206"/>
                  </a:lnTo>
                  <a:lnTo>
                    <a:pt x="597357" y="39636"/>
                  </a:lnTo>
                  <a:lnTo>
                    <a:pt x="597357" y="198196"/>
                  </a:lnTo>
                  <a:lnTo>
                    <a:pt x="594242" y="213620"/>
                  </a:lnTo>
                  <a:lnTo>
                    <a:pt x="585749" y="226220"/>
                  </a:lnTo>
                  <a:lnTo>
                    <a:pt x="573150" y="234716"/>
                  </a:lnTo>
                  <a:lnTo>
                    <a:pt x="557720" y="237832"/>
                  </a:lnTo>
                  <a:lnTo>
                    <a:pt x="39636" y="237832"/>
                  </a:lnTo>
                  <a:lnTo>
                    <a:pt x="24206" y="234716"/>
                  </a:lnTo>
                  <a:lnTo>
                    <a:pt x="11607" y="226220"/>
                  </a:lnTo>
                  <a:lnTo>
                    <a:pt x="3114" y="213620"/>
                  </a:lnTo>
                  <a:lnTo>
                    <a:pt x="0" y="198196"/>
                  </a:lnTo>
                  <a:lnTo>
                    <a:pt x="0" y="39636"/>
                  </a:lnTo>
                  <a:close/>
                </a:path>
              </a:pathLst>
            </a:custGeom>
            <a:ln w="25399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9" name="object 209" descr=""/>
          <p:cNvSpPr txBox="1"/>
          <p:nvPr/>
        </p:nvSpPr>
        <p:spPr>
          <a:xfrm>
            <a:off x="7727581" y="2071631"/>
            <a:ext cx="1905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Arial MT"/>
                <a:cs typeface="Arial MT"/>
              </a:rPr>
              <a:t>CDN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0" name="object 210" descr=""/>
          <p:cNvGrpSpPr/>
          <p:nvPr/>
        </p:nvGrpSpPr>
        <p:grpSpPr>
          <a:xfrm>
            <a:off x="8444970" y="2584750"/>
            <a:ext cx="191135" cy="1998345"/>
            <a:chOff x="8444970" y="2584750"/>
            <a:chExt cx="191135" cy="1998345"/>
          </a:xfrm>
        </p:grpSpPr>
        <p:sp>
          <p:nvSpPr>
            <p:cNvPr id="211" name="object 211" descr=""/>
            <p:cNvSpPr/>
            <p:nvPr/>
          </p:nvSpPr>
          <p:spPr>
            <a:xfrm>
              <a:off x="8540238" y="2743495"/>
              <a:ext cx="0" cy="1680845"/>
            </a:xfrm>
            <a:custGeom>
              <a:avLst/>
              <a:gdLst/>
              <a:ahLst/>
              <a:cxnLst/>
              <a:rect l="l" t="t" r="r" b="b"/>
              <a:pathLst>
                <a:path w="0" h="1680845">
                  <a:moveTo>
                    <a:pt x="0" y="0"/>
                  </a:moveTo>
                  <a:lnTo>
                    <a:pt x="0" y="1680286"/>
                  </a:lnTo>
                </a:path>
              </a:pathLst>
            </a:custGeom>
            <a:ln w="635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8444967" y="2584754"/>
              <a:ext cx="191135" cy="1998345"/>
            </a:xfrm>
            <a:custGeom>
              <a:avLst/>
              <a:gdLst/>
              <a:ahLst/>
              <a:cxnLst/>
              <a:rect l="l" t="t" r="r" b="b"/>
              <a:pathLst>
                <a:path w="191134" h="1998345">
                  <a:moveTo>
                    <a:pt x="190500" y="190500"/>
                  </a:moveTo>
                  <a:lnTo>
                    <a:pt x="95262" y="0"/>
                  </a:lnTo>
                  <a:lnTo>
                    <a:pt x="0" y="190487"/>
                  </a:lnTo>
                  <a:lnTo>
                    <a:pt x="190500" y="190500"/>
                  </a:lnTo>
                  <a:close/>
                </a:path>
                <a:path w="191134" h="1998345">
                  <a:moveTo>
                    <a:pt x="190512" y="1807286"/>
                  </a:moveTo>
                  <a:lnTo>
                    <a:pt x="12" y="1807286"/>
                  </a:lnTo>
                  <a:lnTo>
                    <a:pt x="95262" y="1997786"/>
                  </a:lnTo>
                  <a:lnTo>
                    <a:pt x="190512" y="180728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 descr=""/>
          <p:cNvSpPr txBox="1"/>
          <p:nvPr/>
        </p:nvSpPr>
        <p:spPr>
          <a:xfrm>
            <a:off x="8215340" y="2803693"/>
            <a:ext cx="23050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C00000"/>
                </a:solidFill>
                <a:latin typeface="Arial"/>
                <a:cs typeface="Arial"/>
              </a:rPr>
              <a:t>SW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4" name="object 214" descr=""/>
          <p:cNvSpPr txBox="1"/>
          <p:nvPr/>
        </p:nvSpPr>
        <p:spPr>
          <a:xfrm>
            <a:off x="8225520" y="4516023"/>
            <a:ext cx="3295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C00000"/>
                </a:solidFill>
                <a:latin typeface="Arial"/>
                <a:cs typeface="Arial"/>
              </a:rPr>
              <a:t>ASIC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5" name="object 215" descr=""/>
          <p:cNvGrpSpPr/>
          <p:nvPr/>
        </p:nvGrpSpPr>
        <p:grpSpPr>
          <a:xfrm>
            <a:off x="7379969" y="4502657"/>
            <a:ext cx="826135" cy="349250"/>
            <a:chOff x="7379969" y="4502657"/>
            <a:chExt cx="826135" cy="349250"/>
          </a:xfrm>
        </p:grpSpPr>
        <p:pic>
          <p:nvPicPr>
            <p:cNvPr id="216" name="object 21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79969" y="4502657"/>
              <a:ext cx="825995" cy="348996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7464318" y="4582001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625386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625386" y="190271"/>
                  </a:lnTo>
                  <a:lnTo>
                    <a:pt x="637729" y="187779"/>
                  </a:lnTo>
                  <a:lnTo>
                    <a:pt x="647809" y="180982"/>
                  </a:lnTo>
                  <a:lnTo>
                    <a:pt x="654605" y="170902"/>
                  </a:lnTo>
                  <a:lnTo>
                    <a:pt x="657098" y="158559"/>
                  </a:lnTo>
                  <a:lnTo>
                    <a:pt x="657098" y="31711"/>
                  </a:lnTo>
                  <a:lnTo>
                    <a:pt x="654605" y="19368"/>
                  </a:lnTo>
                  <a:lnTo>
                    <a:pt x="647809" y="9288"/>
                  </a:lnTo>
                  <a:lnTo>
                    <a:pt x="637729" y="2492"/>
                  </a:lnTo>
                  <a:lnTo>
                    <a:pt x="62538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464318" y="4582001"/>
              <a:ext cx="657225" cy="190500"/>
            </a:xfrm>
            <a:custGeom>
              <a:avLst/>
              <a:gdLst/>
              <a:ahLst/>
              <a:cxnLst/>
              <a:rect l="l" t="t" r="r" b="b"/>
              <a:pathLst>
                <a:path w="65722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625386" y="0"/>
                  </a:lnTo>
                  <a:lnTo>
                    <a:pt x="637729" y="2492"/>
                  </a:lnTo>
                  <a:lnTo>
                    <a:pt x="647809" y="9288"/>
                  </a:lnTo>
                  <a:lnTo>
                    <a:pt x="654605" y="19368"/>
                  </a:lnTo>
                  <a:lnTo>
                    <a:pt x="657098" y="31711"/>
                  </a:lnTo>
                  <a:lnTo>
                    <a:pt x="657098" y="158559"/>
                  </a:lnTo>
                  <a:lnTo>
                    <a:pt x="654605" y="170902"/>
                  </a:lnTo>
                  <a:lnTo>
                    <a:pt x="647809" y="180982"/>
                  </a:lnTo>
                  <a:lnTo>
                    <a:pt x="637729" y="187779"/>
                  </a:lnTo>
                  <a:lnTo>
                    <a:pt x="625386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9" name="object 219" descr=""/>
          <p:cNvSpPr txBox="1"/>
          <p:nvPr/>
        </p:nvSpPr>
        <p:spPr>
          <a:xfrm>
            <a:off x="7641390" y="4616428"/>
            <a:ext cx="3028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 MT"/>
                <a:cs typeface="Arial MT"/>
              </a:rPr>
              <a:t>antenna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20" name="object 220" descr=""/>
          <p:cNvGrpSpPr/>
          <p:nvPr/>
        </p:nvGrpSpPr>
        <p:grpSpPr>
          <a:xfrm>
            <a:off x="5564885" y="1573681"/>
            <a:ext cx="2343785" cy="3002915"/>
            <a:chOff x="5564885" y="1573681"/>
            <a:chExt cx="2343785" cy="3002915"/>
          </a:xfrm>
        </p:grpSpPr>
        <p:sp>
          <p:nvSpPr>
            <p:cNvPr id="221" name="object 221" descr=""/>
            <p:cNvSpPr/>
            <p:nvPr/>
          </p:nvSpPr>
          <p:spPr>
            <a:xfrm>
              <a:off x="6220932" y="1583180"/>
              <a:ext cx="589915" cy="316865"/>
            </a:xfrm>
            <a:custGeom>
              <a:avLst/>
              <a:gdLst/>
              <a:ahLst/>
              <a:cxnLst/>
              <a:rect l="l" t="t" r="r" b="b"/>
              <a:pathLst>
                <a:path w="589915" h="316864">
                  <a:moveTo>
                    <a:pt x="0" y="316293"/>
                  </a:moveTo>
                  <a:lnTo>
                    <a:pt x="58955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6722327" y="1580031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0" y="0"/>
                  </a:moveTo>
                  <a:lnTo>
                    <a:pt x="88163" y="3149"/>
                  </a:lnTo>
                  <a:lnTo>
                    <a:pt x="42024" y="7833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6220931" y="1824280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4" h="78739">
                  <a:moveTo>
                    <a:pt x="88163" y="78333"/>
                  </a:moveTo>
                  <a:lnTo>
                    <a:pt x="0" y="75196"/>
                  </a:lnTo>
                  <a:lnTo>
                    <a:pt x="46126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796137" y="4261175"/>
              <a:ext cx="83185" cy="309245"/>
            </a:xfrm>
            <a:custGeom>
              <a:avLst/>
              <a:gdLst/>
              <a:ahLst/>
              <a:cxnLst/>
              <a:rect l="l" t="t" r="r" b="b"/>
              <a:pathLst>
                <a:path w="83184" h="309245">
                  <a:moveTo>
                    <a:pt x="0" y="308686"/>
                  </a:moveTo>
                  <a:lnTo>
                    <a:pt x="8307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816477" y="4261180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59" h="85725">
                  <a:moveTo>
                    <a:pt x="0" y="62026"/>
                  </a:moveTo>
                  <a:lnTo>
                    <a:pt x="62725" y="0"/>
                  </a:lnTo>
                  <a:lnTo>
                    <a:pt x="85839" y="851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773008" y="4484726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59" h="85725">
                  <a:moveTo>
                    <a:pt x="85851" y="23101"/>
                  </a:moveTo>
                  <a:lnTo>
                    <a:pt x="23126" y="8512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7" name="object 22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69596" y="1585328"/>
              <a:ext cx="392657" cy="269532"/>
            </a:xfrm>
            <a:prstGeom prst="rect">
              <a:avLst/>
            </a:prstGeom>
          </p:spPr>
        </p:pic>
        <p:pic>
          <p:nvPicPr>
            <p:cNvPr id="228" name="object 22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64885" y="2297430"/>
              <a:ext cx="703325" cy="349757"/>
            </a:xfrm>
            <a:prstGeom prst="rect">
              <a:avLst/>
            </a:prstGeom>
          </p:spPr>
        </p:pic>
        <p:sp>
          <p:nvSpPr>
            <p:cNvPr id="229" name="object 229" descr=""/>
            <p:cNvSpPr/>
            <p:nvPr/>
          </p:nvSpPr>
          <p:spPr>
            <a:xfrm>
              <a:off x="5647716" y="2376977"/>
              <a:ext cx="537845" cy="190500"/>
            </a:xfrm>
            <a:custGeom>
              <a:avLst/>
              <a:gdLst/>
              <a:ahLst/>
              <a:cxnLst/>
              <a:rect l="l" t="t" r="r" b="b"/>
              <a:pathLst>
                <a:path w="537845" h="190500">
                  <a:moveTo>
                    <a:pt x="505917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05917" y="190271"/>
                  </a:lnTo>
                  <a:lnTo>
                    <a:pt x="518260" y="187779"/>
                  </a:lnTo>
                  <a:lnTo>
                    <a:pt x="528340" y="180982"/>
                  </a:lnTo>
                  <a:lnTo>
                    <a:pt x="535136" y="170902"/>
                  </a:lnTo>
                  <a:lnTo>
                    <a:pt x="537629" y="158559"/>
                  </a:lnTo>
                  <a:lnTo>
                    <a:pt x="537629" y="31711"/>
                  </a:lnTo>
                  <a:lnTo>
                    <a:pt x="535136" y="19368"/>
                  </a:lnTo>
                  <a:lnTo>
                    <a:pt x="528340" y="9288"/>
                  </a:lnTo>
                  <a:lnTo>
                    <a:pt x="518260" y="2492"/>
                  </a:lnTo>
                  <a:lnTo>
                    <a:pt x="505917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5647716" y="2376977"/>
              <a:ext cx="537845" cy="190500"/>
            </a:xfrm>
            <a:custGeom>
              <a:avLst/>
              <a:gdLst/>
              <a:ahLst/>
              <a:cxnLst/>
              <a:rect l="l" t="t" r="r" b="b"/>
              <a:pathLst>
                <a:path w="537845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05917" y="0"/>
                  </a:lnTo>
                  <a:lnTo>
                    <a:pt x="518260" y="2492"/>
                  </a:lnTo>
                  <a:lnTo>
                    <a:pt x="528340" y="9288"/>
                  </a:lnTo>
                  <a:lnTo>
                    <a:pt x="535136" y="19368"/>
                  </a:lnTo>
                  <a:lnTo>
                    <a:pt x="537629" y="31711"/>
                  </a:lnTo>
                  <a:lnTo>
                    <a:pt x="537629" y="158559"/>
                  </a:lnTo>
                  <a:lnTo>
                    <a:pt x="535136" y="170902"/>
                  </a:lnTo>
                  <a:lnTo>
                    <a:pt x="528340" y="180982"/>
                  </a:lnTo>
                  <a:lnTo>
                    <a:pt x="518260" y="187779"/>
                  </a:lnTo>
                  <a:lnTo>
                    <a:pt x="505917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1" name="object 231" descr=""/>
          <p:cNvSpPr txBox="1"/>
          <p:nvPr/>
        </p:nvSpPr>
        <p:spPr>
          <a:xfrm>
            <a:off x="5790322" y="2411406"/>
            <a:ext cx="24955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latin typeface="Arial MT"/>
                <a:cs typeface="Arial MT"/>
              </a:rPr>
              <a:t>SeGW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2" name="object 232" descr=""/>
          <p:cNvGrpSpPr/>
          <p:nvPr/>
        </p:nvGrpSpPr>
        <p:grpSpPr>
          <a:xfrm>
            <a:off x="3754124" y="1132919"/>
            <a:ext cx="4578350" cy="2610485"/>
            <a:chOff x="3754124" y="1132919"/>
            <a:chExt cx="4578350" cy="2610485"/>
          </a:xfrm>
        </p:grpSpPr>
        <p:pic>
          <p:nvPicPr>
            <p:cNvPr id="233" name="object 23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567422" y="3393947"/>
              <a:ext cx="765047" cy="348996"/>
            </a:xfrm>
            <a:prstGeom prst="rect">
              <a:avLst/>
            </a:prstGeom>
          </p:spPr>
        </p:pic>
        <p:sp>
          <p:nvSpPr>
            <p:cNvPr id="234" name="object 234" descr=""/>
            <p:cNvSpPr/>
            <p:nvPr/>
          </p:nvSpPr>
          <p:spPr>
            <a:xfrm>
              <a:off x="7651386" y="347331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651386" y="3473317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34599" y="1506054"/>
              <a:ext cx="392663" cy="269535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3766824" y="1145619"/>
              <a:ext cx="1718310" cy="316230"/>
            </a:xfrm>
            <a:custGeom>
              <a:avLst/>
              <a:gdLst/>
              <a:ahLst/>
              <a:cxnLst/>
              <a:rect l="l" t="t" r="r" b="b"/>
              <a:pathLst>
                <a:path w="1718310" h="316230">
                  <a:moveTo>
                    <a:pt x="1447094" y="274127"/>
                  </a:moveTo>
                  <a:lnTo>
                    <a:pt x="648495" y="274127"/>
                  </a:lnTo>
                  <a:lnTo>
                    <a:pt x="676991" y="284556"/>
                  </a:lnTo>
                  <a:lnTo>
                    <a:pt x="749861" y="301695"/>
                  </a:lnTo>
                  <a:lnTo>
                    <a:pt x="792602" y="308024"/>
                  </a:lnTo>
                  <a:lnTo>
                    <a:pt x="853437" y="313664"/>
                  </a:lnTo>
                  <a:lnTo>
                    <a:pt x="913404" y="315734"/>
                  </a:lnTo>
                  <a:lnTo>
                    <a:pt x="970480" y="314410"/>
                  </a:lnTo>
                  <a:lnTo>
                    <a:pt x="1022643" y="309869"/>
                  </a:lnTo>
                  <a:lnTo>
                    <a:pt x="1067871" y="302286"/>
                  </a:lnTo>
                  <a:lnTo>
                    <a:pt x="1104141" y="291837"/>
                  </a:lnTo>
                  <a:lnTo>
                    <a:pt x="1129431" y="278699"/>
                  </a:lnTo>
                  <a:lnTo>
                    <a:pt x="1436176" y="278699"/>
                  </a:lnTo>
                  <a:lnTo>
                    <a:pt x="1447094" y="274127"/>
                  </a:lnTo>
                  <a:close/>
                </a:path>
                <a:path w="1718310" h="316230">
                  <a:moveTo>
                    <a:pt x="1435883" y="278699"/>
                  </a:moveTo>
                  <a:lnTo>
                    <a:pt x="1129431" y="278699"/>
                  </a:lnTo>
                  <a:lnTo>
                    <a:pt x="1157220" y="283739"/>
                  </a:lnTo>
                  <a:lnTo>
                    <a:pt x="1186694" y="287848"/>
                  </a:lnTo>
                  <a:lnTo>
                    <a:pt x="1217423" y="290974"/>
                  </a:lnTo>
                  <a:lnTo>
                    <a:pt x="1248976" y="293063"/>
                  </a:lnTo>
                  <a:lnTo>
                    <a:pt x="1336422" y="293809"/>
                  </a:lnTo>
                  <a:lnTo>
                    <a:pt x="1320341" y="293809"/>
                  </a:lnTo>
                  <a:lnTo>
                    <a:pt x="1385672" y="288607"/>
                  </a:lnTo>
                  <a:lnTo>
                    <a:pt x="1435883" y="278699"/>
                  </a:lnTo>
                  <a:close/>
                </a:path>
                <a:path w="1718310" h="316230">
                  <a:moveTo>
                    <a:pt x="390279" y="3376"/>
                  </a:moveTo>
                  <a:lnTo>
                    <a:pt x="320622" y="4909"/>
                  </a:lnTo>
                  <a:lnTo>
                    <a:pt x="260301" y="10987"/>
                  </a:lnTo>
                  <a:lnTo>
                    <a:pt x="211542" y="20989"/>
                  </a:lnTo>
                  <a:lnTo>
                    <a:pt x="157606" y="50291"/>
                  </a:lnTo>
                  <a:lnTo>
                    <a:pt x="156887" y="68133"/>
                  </a:lnTo>
                  <a:lnTo>
                    <a:pt x="156878" y="68349"/>
                  </a:lnTo>
                  <a:lnTo>
                    <a:pt x="155379" y="69264"/>
                  </a:lnTo>
                  <a:lnTo>
                    <a:pt x="115568" y="69649"/>
                  </a:lnTo>
                  <a:lnTo>
                    <a:pt x="79295" y="72410"/>
                  </a:lnTo>
                  <a:lnTo>
                    <a:pt x="47979" y="77386"/>
                  </a:lnTo>
                  <a:lnTo>
                    <a:pt x="23033" y="84415"/>
                  </a:lnTo>
                  <a:lnTo>
                    <a:pt x="0" y="99725"/>
                  </a:lnTo>
                  <a:lnTo>
                    <a:pt x="3416" y="116579"/>
                  </a:lnTo>
                  <a:lnTo>
                    <a:pt x="31386" y="132969"/>
                  </a:lnTo>
                  <a:lnTo>
                    <a:pt x="82012" y="146886"/>
                  </a:lnTo>
                  <a:lnTo>
                    <a:pt x="58983" y="153383"/>
                  </a:lnTo>
                  <a:lnTo>
                    <a:pt x="43146" y="161167"/>
                  </a:lnTo>
                  <a:lnTo>
                    <a:pt x="34934" y="169943"/>
                  </a:lnTo>
                  <a:lnTo>
                    <a:pt x="34780" y="179411"/>
                  </a:lnTo>
                  <a:lnTo>
                    <a:pt x="55409" y="196773"/>
                  </a:lnTo>
                  <a:lnTo>
                    <a:pt x="98137" y="211405"/>
                  </a:lnTo>
                  <a:lnTo>
                    <a:pt x="156835" y="221795"/>
                  </a:lnTo>
                  <a:lnTo>
                    <a:pt x="225709" y="226449"/>
                  </a:lnTo>
                  <a:lnTo>
                    <a:pt x="225416" y="226449"/>
                  </a:lnTo>
                  <a:lnTo>
                    <a:pt x="265171" y="242248"/>
                  </a:lnTo>
                  <a:lnTo>
                    <a:pt x="309708" y="254462"/>
                  </a:lnTo>
                  <a:lnTo>
                    <a:pt x="360467" y="264433"/>
                  </a:lnTo>
                  <a:lnTo>
                    <a:pt x="415760" y="271973"/>
                  </a:lnTo>
                  <a:lnTo>
                    <a:pt x="473897" y="276899"/>
                  </a:lnTo>
                  <a:lnTo>
                    <a:pt x="533191" y="279023"/>
                  </a:lnTo>
                  <a:lnTo>
                    <a:pt x="591953" y="278161"/>
                  </a:lnTo>
                  <a:lnTo>
                    <a:pt x="648495" y="274127"/>
                  </a:lnTo>
                  <a:lnTo>
                    <a:pt x="1447094" y="274127"/>
                  </a:lnTo>
                  <a:lnTo>
                    <a:pt x="1470243" y="264433"/>
                  </a:lnTo>
                  <a:lnTo>
                    <a:pt x="1477756" y="254462"/>
                  </a:lnTo>
                  <a:lnTo>
                    <a:pt x="1483495" y="246784"/>
                  </a:lnTo>
                  <a:lnTo>
                    <a:pt x="1517433" y="246598"/>
                  </a:lnTo>
                  <a:lnTo>
                    <a:pt x="1581110" y="242886"/>
                  </a:lnTo>
                  <a:lnTo>
                    <a:pt x="1669959" y="226449"/>
                  </a:lnTo>
                  <a:lnTo>
                    <a:pt x="1706194" y="209214"/>
                  </a:lnTo>
                  <a:lnTo>
                    <a:pt x="1717881" y="189222"/>
                  </a:lnTo>
                  <a:lnTo>
                    <a:pt x="1704129" y="167993"/>
                  </a:lnTo>
                  <a:lnTo>
                    <a:pt x="1664051" y="147051"/>
                  </a:lnTo>
                  <a:lnTo>
                    <a:pt x="1668038" y="144956"/>
                  </a:lnTo>
                  <a:lnTo>
                    <a:pt x="1671391" y="142771"/>
                  </a:lnTo>
                  <a:lnTo>
                    <a:pt x="1674096" y="140511"/>
                  </a:lnTo>
                  <a:lnTo>
                    <a:pt x="1680691" y="119665"/>
                  </a:lnTo>
                  <a:lnTo>
                    <a:pt x="1655461" y="99102"/>
                  </a:lnTo>
                  <a:lnTo>
                    <a:pt x="1603096" y="81150"/>
                  </a:lnTo>
                  <a:lnTo>
                    <a:pt x="1528288" y="68133"/>
                  </a:lnTo>
                  <a:lnTo>
                    <a:pt x="1519935" y="59669"/>
                  </a:lnTo>
                  <a:lnTo>
                    <a:pt x="1506266" y="51504"/>
                  </a:lnTo>
                  <a:lnTo>
                    <a:pt x="1487643" y="43818"/>
                  </a:lnTo>
                  <a:lnTo>
                    <a:pt x="1464432" y="36790"/>
                  </a:lnTo>
                  <a:lnTo>
                    <a:pt x="1428547" y="29640"/>
                  </a:lnTo>
                  <a:lnTo>
                    <a:pt x="1191992" y="29640"/>
                  </a:lnTo>
                  <a:lnTo>
                    <a:pt x="1179264" y="25258"/>
                  </a:lnTo>
                  <a:lnTo>
                    <a:pt x="1170734" y="22845"/>
                  </a:lnTo>
                  <a:lnTo>
                    <a:pt x="898380" y="22845"/>
                  </a:lnTo>
                  <a:lnTo>
                    <a:pt x="888373" y="20051"/>
                  </a:lnTo>
                  <a:lnTo>
                    <a:pt x="561779" y="20051"/>
                  </a:lnTo>
                  <a:lnTo>
                    <a:pt x="521647" y="13315"/>
                  </a:lnTo>
                  <a:lnTo>
                    <a:pt x="479082" y="8232"/>
                  </a:lnTo>
                  <a:lnTo>
                    <a:pt x="435236" y="4909"/>
                  </a:lnTo>
                  <a:lnTo>
                    <a:pt x="435540" y="4909"/>
                  </a:lnTo>
                  <a:lnTo>
                    <a:pt x="390279" y="3376"/>
                  </a:lnTo>
                  <a:close/>
                </a:path>
                <a:path w="1718310" h="316230">
                  <a:moveTo>
                    <a:pt x="1294893" y="18702"/>
                  </a:moveTo>
                  <a:lnTo>
                    <a:pt x="1239439" y="21793"/>
                  </a:lnTo>
                  <a:lnTo>
                    <a:pt x="1191992" y="29640"/>
                  </a:lnTo>
                  <a:lnTo>
                    <a:pt x="1428547" y="29640"/>
                  </a:lnTo>
                  <a:lnTo>
                    <a:pt x="1411876" y="26318"/>
                  </a:lnTo>
                  <a:lnTo>
                    <a:pt x="1353868" y="20250"/>
                  </a:lnTo>
                  <a:lnTo>
                    <a:pt x="1294893" y="18702"/>
                  </a:lnTo>
                  <a:close/>
                </a:path>
                <a:path w="1718310" h="316230">
                  <a:moveTo>
                    <a:pt x="1025581" y="5281"/>
                  </a:moveTo>
                  <a:lnTo>
                    <a:pt x="974996" y="7142"/>
                  </a:lnTo>
                  <a:lnTo>
                    <a:pt x="931312" y="13044"/>
                  </a:lnTo>
                  <a:lnTo>
                    <a:pt x="898380" y="22845"/>
                  </a:lnTo>
                  <a:lnTo>
                    <a:pt x="1170734" y="22845"/>
                  </a:lnTo>
                  <a:lnTo>
                    <a:pt x="1132060" y="14247"/>
                  </a:lnTo>
                  <a:lnTo>
                    <a:pt x="1079218" y="7602"/>
                  </a:lnTo>
                  <a:lnTo>
                    <a:pt x="1025581" y="5281"/>
                  </a:lnTo>
                  <a:close/>
                </a:path>
                <a:path w="1718310" h="316230">
                  <a:moveTo>
                    <a:pt x="688179" y="0"/>
                  </a:moveTo>
                  <a:lnTo>
                    <a:pt x="637220" y="3376"/>
                  </a:lnTo>
                  <a:lnTo>
                    <a:pt x="637959" y="3376"/>
                  </a:lnTo>
                  <a:lnTo>
                    <a:pt x="595458" y="10002"/>
                  </a:lnTo>
                  <a:lnTo>
                    <a:pt x="561779" y="20051"/>
                  </a:lnTo>
                  <a:lnTo>
                    <a:pt x="888373" y="20051"/>
                  </a:lnTo>
                  <a:lnTo>
                    <a:pt x="849536" y="11466"/>
                  </a:lnTo>
                  <a:lnTo>
                    <a:pt x="796437" y="4005"/>
                  </a:lnTo>
                  <a:lnTo>
                    <a:pt x="741737" y="210"/>
                  </a:lnTo>
                  <a:lnTo>
                    <a:pt x="688179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3766824" y="1145619"/>
              <a:ext cx="1718310" cy="316230"/>
            </a:xfrm>
            <a:custGeom>
              <a:avLst/>
              <a:gdLst/>
              <a:ahLst/>
              <a:cxnLst/>
              <a:rect l="l" t="t" r="r" b="b"/>
              <a:pathLst>
                <a:path w="1718310" h="316230">
                  <a:moveTo>
                    <a:pt x="156878" y="68349"/>
                  </a:moveTo>
                  <a:lnTo>
                    <a:pt x="176569" y="34297"/>
                  </a:lnTo>
                  <a:lnTo>
                    <a:pt x="260301" y="10987"/>
                  </a:lnTo>
                  <a:lnTo>
                    <a:pt x="320622" y="4909"/>
                  </a:lnTo>
                  <a:lnTo>
                    <a:pt x="390279" y="3376"/>
                  </a:lnTo>
                  <a:lnTo>
                    <a:pt x="434990" y="4890"/>
                  </a:lnTo>
                  <a:lnTo>
                    <a:pt x="479082" y="8232"/>
                  </a:lnTo>
                  <a:lnTo>
                    <a:pt x="521647" y="13315"/>
                  </a:lnTo>
                  <a:lnTo>
                    <a:pt x="561779" y="20051"/>
                  </a:lnTo>
                  <a:lnTo>
                    <a:pt x="595458" y="10002"/>
                  </a:lnTo>
                  <a:lnTo>
                    <a:pt x="638505" y="3291"/>
                  </a:lnTo>
                  <a:lnTo>
                    <a:pt x="688179" y="0"/>
                  </a:lnTo>
                  <a:lnTo>
                    <a:pt x="741737" y="210"/>
                  </a:lnTo>
                  <a:lnTo>
                    <a:pt x="796437" y="4005"/>
                  </a:lnTo>
                  <a:lnTo>
                    <a:pt x="849536" y="11466"/>
                  </a:lnTo>
                  <a:lnTo>
                    <a:pt x="887189" y="19721"/>
                  </a:lnTo>
                  <a:lnTo>
                    <a:pt x="898380" y="22845"/>
                  </a:lnTo>
                  <a:lnTo>
                    <a:pt x="931312" y="13044"/>
                  </a:lnTo>
                  <a:lnTo>
                    <a:pt x="974996" y="7142"/>
                  </a:lnTo>
                  <a:lnTo>
                    <a:pt x="1025581" y="5281"/>
                  </a:lnTo>
                  <a:lnTo>
                    <a:pt x="1079218" y="7602"/>
                  </a:lnTo>
                  <a:lnTo>
                    <a:pt x="1132060" y="14247"/>
                  </a:lnTo>
                  <a:lnTo>
                    <a:pt x="1179264" y="25258"/>
                  </a:lnTo>
                  <a:lnTo>
                    <a:pt x="1191992" y="29640"/>
                  </a:lnTo>
                  <a:lnTo>
                    <a:pt x="1239439" y="21793"/>
                  </a:lnTo>
                  <a:lnTo>
                    <a:pt x="1294893" y="18702"/>
                  </a:lnTo>
                  <a:lnTo>
                    <a:pt x="1353868" y="20250"/>
                  </a:lnTo>
                  <a:lnTo>
                    <a:pt x="1411876" y="26318"/>
                  </a:lnTo>
                  <a:lnTo>
                    <a:pt x="1464432" y="36790"/>
                  </a:lnTo>
                  <a:lnTo>
                    <a:pt x="1506266" y="51504"/>
                  </a:lnTo>
                  <a:lnTo>
                    <a:pt x="1528288" y="68133"/>
                  </a:lnTo>
                  <a:lnTo>
                    <a:pt x="1603096" y="81150"/>
                  </a:lnTo>
                  <a:lnTo>
                    <a:pt x="1655461" y="99102"/>
                  </a:lnTo>
                  <a:lnTo>
                    <a:pt x="1680691" y="119665"/>
                  </a:lnTo>
                  <a:lnTo>
                    <a:pt x="1674096" y="140511"/>
                  </a:lnTo>
                  <a:lnTo>
                    <a:pt x="1671391" y="142771"/>
                  </a:lnTo>
                  <a:lnTo>
                    <a:pt x="1668038" y="144956"/>
                  </a:lnTo>
                  <a:lnTo>
                    <a:pt x="1664051" y="147051"/>
                  </a:lnTo>
                  <a:lnTo>
                    <a:pt x="1704129" y="167993"/>
                  </a:lnTo>
                  <a:lnTo>
                    <a:pt x="1717881" y="189222"/>
                  </a:lnTo>
                  <a:lnTo>
                    <a:pt x="1706194" y="209214"/>
                  </a:lnTo>
                  <a:lnTo>
                    <a:pt x="1669959" y="226449"/>
                  </a:lnTo>
                  <a:lnTo>
                    <a:pt x="1610063" y="239406"/>
                  </a:lnTo>
                  <a:lnTo>
                    <a:pt x="1550103" y="245290"/>
                  </a:lnTo>
                  <a:lnTo>
                    <a:pt x="1483495" y="246784"/>
                  </a:lnTo>
                  <a:lnTo>
                    <a:pt x="1470332" y="264395"/>
                  </a:lnTo>
                  <a:lnTo>
                    <a:pt x="1436438" y="278590"/>
                  </a:lnTo>
                  <a:lnTo>
                    <a:pt x="1385672" y="288607"/>
                  </a:lnTo>
                  <a:lnTo>
                    <a:pt x="1321898" y="293685"/>
                  </a:lnTo>
                  <a:lnTo>
                    <a:pt x="1248976" y="293063"/>
                  </a:lnTo>
                  <a:lnTo>
                    <a:pt x="1217423" y="290974"/>
                  </a:lnTo>
                  <a:lnTo>
                    <a:pt x="1186694" y="287848"/>
                  </a:lnTo>
                  <a:lnTo>
                    <a:pt x="1157220" y="283739"/>
                  </a:lnTo>
                  <a:lnTo>
                    <a:pt x="1129431" y="278699"/>
                  </a:lnTo>
                  <a:lnTo>
                    <a:pt x="1104141" y="291837"/>
                  </a:lnTo>
                  <a:lnTo>
                    <a:pt x="1067871" y="302286"/>
                  </a:lnTo>
                  <a:lnTo>
                    <a:pt x="1022643" y="309869"/>
                  </a:lnTo>
                  <a:lnTo>
                    <a:pt x="970480" y="314410"/>
                  </a:lnTo>
                  <a:lnTo>
                    <a:pt x="913404" y="315734"/>
                  </a:lnTo>
                  <a:lnTo>
                    <a:pt x="853437" y="313664"/>
                  </a:lnTo>
                  <a:lnTo>
                    <a:pt x="792602" y="308024"/>
                  </a:lnTo>
                  <a:lnTo>
                    <a:pt x="749861" y="301695"/>
                  </a:lnTo>
                  <a:lnTo>
                    <a:pt x="711052" y="293809"/>
                  </a:lnTo>
                  <a:lnTo>
                    <a:pt x="648495" y="274127"/>
                  </a:lnTo>
                  <a:lnTo>
                    <a:pt x="591953" y="278161"/>
                  </a:lnTo>
                  <a:lnTo>
                    <a:pt x="533191" y="279023"/>
                  </a:lnTo>
                  <a:lnTo>
                    <a:pt x="473897" y="276899"/>
                  </a:lnTo>
                  <a:lnTo>
                    <a:pt x="415760" y="271973"/>
                  </a:lnTo>
                  <a:lnTo>
                    <a:pt x="360467" y="264433"/>
                  </a:lnTo>
                  <a:lnTo>
                    <a:pt x="309708" y="254462"/>
                  </a:lnTo>
                  <a:lnTo>
                    <a:pt x="265171" y="242248"/>
                  </a:lnTo>
                  <a:lnTo>
                    <a:pt x="228544" y="227976"/>
                  </a:lnTo>
                  <a:lnTo>
                    <a:pt x="227465" y="227455"/>
                  </a:lnTo>
                  <a:lnTo>
                    <a:pt x="226411" y="226947"/>
                  </a:lnTo>
                  <a:lnTo>
                    <a:pt x="225369" y="226426"/>
                  </a:lnTo>
                  <a:lnTo>
                    <a:pt x="156835" y="221795"/>
                  </a:lnTo>
                  <a:lnTo>
                    <a:pt x="98137" y="211405"/>
                  </a:lnTo>
                  <a:lnTo>
                    <a:pt x="55409" y="196773"/>
                  </a:lnTo>
                  <a:lnTo>
                    <a:pt x="34780" y="179411"/>
                  </a:lnTo>
                  <a:lnTo>
                    <a:pt x="34934" y="169943"/>
                  </a:lnTo>
                  <a:lnTo>
                    <a:pt x="43146" y="161167"/>
                  </a:lnTo>
                  <a:lnTo>
                    <a:pt x="58983" y="153383"/>
                  </a:lnTo>
                  <a:lnTo>
                    <a:pt x="82012" y="146886"/>
                  </a:lnTo>
                  <a:lnTo>
                    <a:pt x="31386" y="132969"/>
                  </a:lnTo>
                  <a:lnTo>
                    <a:pt x="3416" y="116579"/>
                  </a:lnTo>
                  <a:lnTo>
                    <a:pt x="0" y="99725"/>
                  </a:lnTo>
                  <a:lnTo>
                    <a:pt x="23033" y="84415"/>
                  </a:lnTo>
                  <a:lnTo>
                    <a:pt x="47979" y="77386"/>
                  </a:lnTo>
                  <a:lnTo>
                    <a:pt x="79295" y="72410"/>
                  </a:lnTo>
                  <a:lnTo>
                    <a:pt x="115568" y="69649"/>
                  </a:lnTo>
                  <a:lnTo>
                    <a:pt x="155379" y="69264"/>
                  </a:lnTo>
                  <a:lnTo>
                    <a:pt x="156878" y="68349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3850744" y="1165595"/>
              <a:ext cx="1579880" cy="257810"/>
            </a:xfrm>
            <a:custGeom>
              <a:avLst/>
              <a:gdLst/>
              <a:ahLst/>
              <a:cxnLst/>
              <a:rect l="l" t="t" r="r" b="b"/>
              <a:pathLst>
                <a:path w="1579879" h="257809">
                  <a:moveTo>
                    <a:pt x="100431" y="136321"/>
                  </a:moveTo>
                  <a:lnTo>
                    <a:pt x="74144" y="135101"/>
                  </a:lnTo>
                  <a:lnTo>
                    <a:pt x="48348" y="132900"/>
                  </a:lnTo>
                  <a:lnTo>
                    <a:pt x="23486" y="129769"/>
                  </a:lnTo>
                  <a:lnTo>
                    <a:pt x="0" y="125755"/>
                  </a:lnTo>
                </a:path>
                <a:path w="1579879" h="257809">
                  <a:moveTo>
                    <a:pt x="186296" y="204368"/>
                  </a:moveTo>
                  <a:lnTo>
                    <a:pt x="175529" y="204835"/>
                  </a:lnTo>
                  <a:lnTo>
                    <a:pt x="164550" y="205111"/>
                  </a:lnTo>
                  <a:lnTo>
                    <a:pt x="153395" y="205197"/>
                  </a:lnTo>
                  <a:lnTo>
                    <a:pt x="142100" y="205092"/>
                  </a:lnTo>
                </a:path>
                <a:path w="1579879" h="257809">
                  <a:moveTo>
                    <a:pt x="564540" y="252869"/>
                  </a:moveTo>
                  <a:lnTo>
                    <a:pt x="557039" y="249463"/>
                  </a:lnTo>
                  <a:lnTo>
                    <a:pt x="550205" y="245992"/>
                  </a:lnTo>
                  <a:lnTo>
                    <a:pt x="544052" y="242464"/>
                  </a:lnTo>
                  <a:lnTo>
                    <a:pt x="538594" y="238886"/>
                  </a:lnTo>
                </a:path>
                <a:path w="1579879" h="257809">
                  <a:moveTo>
                    <a:pt x="1056995" y="244119"/>
                  </a:moveTo>
                  <a:lnTo>
                    <a:pt x="1055217" y="248792"/>
                  </a:lnTo>
                  <a:lnTo>
                    <a:pt x="1051445" y="253314"/>
                  </a:lnTo>
                  <a:lnTo>
                    <a:pt x="1045743" y="257606"/>
                  </a:lnTo>
                </a:path>
                <a:path w="1579879" h="257809">
                  <a:moveTo>
                    <a:pt x="1271841" y="167614"/>
                  </a:moveTo>
                  <a:lnTo>
                    <a:pt x="1325331" y="179289"/>
                  </a:lnTo>
                  <a:lnTo>
                    <a:pt x="1365623" y="193511"/>
                  </a:lnTo>
                  <a:lnTo>
                    <a:pt x="1390729" y="209364"/>
                  </a:lnTo>
                  <a:lnTo>
                    <a:pt x="1398663" y="225932"/>
                  </a:lnTo>
                </a:path>
                <a:path w="1579879" h="257809">
                  <a:moveTo>
                    <a:pt x="1579359" y="126263"/>
                  </a:moveTo>
                  <a:lnTo>
                    <a:pt x="1568172" y="131249"/>
                  </a:lnTo>
                  <a:lnTo>
                    <a:pt x="1554599" y="135756"/>
                  </a:lnTo>
                  <a:lnTo>
                    <a:pt x="1538784" y="139740"/>
                  </a:lnTo>
                  <a:lnTo>
                    <a:pt x="1520875" y="143154"/>
                  </a:lnTo>
                </a:path>
                <a:path w="1579879" h="257809">
                  <a:moveTo>
                    <a:pt x="1444650" y="47066"/>
                  </a:moveTo>
                  <a:lnTo>
                    <a:pt x="1446707" y="50228"/>
                  </a:lnTo>
                  <a:lnTo>
                    <a:pt x="1447584" y="53378"/>
                  </a:lnTo>
                  <a:lnTo>
                    <a:pt x="1447253" y="56464"/>
                  </a:lnTo>
                </a:path>
                <a:path w="1579879" h="257809">
                  <a:moveTo>
                    <a:pt x="1077556" y="19037"/>
                  </a:moveTo>
                  <a:lnTo>
                    <a:pt x="1083778" y="16174"/>
                  </a:lnTo>
                  <a:lnTo>
                    <a:pt x="1090880" y="13476"/>
                  </a:lnTo>
                  <a:lnTo>
                    <a:pt x="1098832" y="10952"/>
                  </a:lnTo>
                  <a:lnTo>
                    <a:pt x="1107605" y="8610"/>
                  </a:lnTo>
                </a:path>
                <a:path w="1579879" h="257809">
                  <a:moveTo>
                    <a:pt x="801497" y="11722"/>
                  </a:moveTo>
                  <a:lnTo>
                    <a:pt x="804722" y="8331"/>
                  </a:lnTo>
                  <a:lnTo>
                    <a:pt x="809675" y="5143"/>
                  </a:lnTo>
                  <a:lnTo>
                    <a:pt x="816254" y="2209"/>
                  </a:lnTo>
                </a:path>
                <a:path w="1579879" h="257809">
                  <a:moveTo>
                    <a:pt x="477659" y="0"/>
                  </a:moveTo>
                  <a:lnTo>
                    <a:pt x="491358" y="2815"/>
                  </a:lnTo>
                  <a:lnTo>
                    <a:pt x="504483" y="5808"/>
                  </a:lnTo>
                  <a:lnTo>
                    <a:pt x="517002" y="8970"/>
                  </a:lnTo>
                  <a:lnTo>
                    <a:pt x="528878" y="12293"/>
                  </a:lnTo>
                </a:path>
                <a:path w="1579879" h="257809">
                  <a:moveTo>
                    <a:pt x="81495" y="59194"/>
                  </a:moveTo>
                  <a:lnTo>
                    <a:pt x="77558" y="55600"/>
                  </a:lnTo>
                  <a:lnTo>
                    <a:pt x="74714" y="51981"/>
                  </a:lnTo>
                  <a:lnTo>
                    <a:pt x="72961" y="48374"/>
                  </a:lnTo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0" name="object 240" descr=""/>
          <p:cNvSpPr txBox="1"/>
          <p:nvPr/>
        </p:nvSpPr>
        <p:spPr>
          <a:xfrm>
            <a:off x="6582574" y="4630050"/>
            <a:ext cx="53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C00000"/>
                </a:solidFill>
                <a:latin typeface="Microsoft YaHei"/>
                <a:cs typeface="Microsoft YaHei"/>
              </a:rPr>
              <a:t>一体化</a:t>
            </a:r>
            <a:r>
              <a:rPr dirty="0" sz="900" spc="-25" b="1">
                <a:solidFill>
                  <a:srgbClr val="C00000"/>
                </a:solidFill>
                <a:latin typeface="Arial"/>
                <a:cs typeface="Arial"/>
              </a:rPr>
              <a:t>DU</a:t>
            </a:r>
            <a:endParaRPr sz="900">
              <a:latin typeface="Arial"/>
              <a:cs typeface="Arial"/>
            </a:endParaRPr>
          </a:p>
        </p:txBody>
      </p:sp>
      <p:sp>
        <p:nvSpPr>
          <p:cNvPr id="241" name="object 241" descr=""/>
          <p:cNvSpPr txBox="1"/>
          <p:nvPr/>
        </p:nvSpPr>
        <p:spPr>
          <a:xfrm>
            <a:off x="7770838" y="1805583"/>
            <a:ext cx="64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C00000"/>
                </a:solidFill>
                <a:latin typeface="Arial"/>
                <a:cs typeface="Arial"/>
              </a:rPr>
              <a:t>Edge</a:t>
            </a:r>
            <a:r>
              <a:rPr dirty="0" sz="9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C00000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242" name="object 242" descr=""/>
          <p:cNvSpPr txBox="1"/>
          <p:nvPr/>
        </p:nvSpPr>
        <p:spPr>
          <a:xfrm>
            <a:off x="7720317" y="1437422"/>
            <a:ext cx="622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C00000"/>
                </a:solidFill>
                <a:latin typeface="Arial"/>
                <a:cs typeface="Arial"/>
              </a:rPr>
              <a:t>Core</a:t>
            </a:r>
            <a:r>
              <a:rPr dirty="0" sz="9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C00000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243" name="object 243" descr=""/>
          <p:cNvSpPr txBox="1"/>
          <p:nvPr/>
        </p:nvSpPr>
        <p:spPr>
          <a:xfrm>
            <a:off x="4278736" y="1187199"/>
            <a:ext cx="695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C00000"/>
                </a:solidFill>
                <a:latin typeface="Arial"/>
                <a:cs typeface="Arial"/>
              </a:rPr>
              <a:t>Internet</a:t>
            </a:r>
            <a:r>
              <a:rPr dirty="0" sz="9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C00000"/>
                </a:solidFill>
                <a:latin typeface="Arial"/>
                <a:cs typeface="Arial"/>
              </a:rPr>
              <a:t>App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4" name="object 244" descr=""/>
          <p:cNvGrpSpPr/>
          <p:nvPr/>
        </p:nvGrpSpPr>
        <p:grpSpPr>
          <a:xfrm>
            <a:off x="6198870" y="2044458"/>
            <a:ext cx="948055" cy="368935"/>
            <a:chOff x="6198870" y="2044458"/>
            <a:chExt cx="948055" cy="368935"/>
          </a:xfrm>
        </p:grpSpPr>
        <p:pic>
          <p:nvPicPr>
            <p:cNvPr id="245" name="object 24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198870" y="2044458"/>
              <a:ext cx="947927" cy="368795"/>
            </a:xfrm>
            <a:prstGeom prst="rect">
              <a:avLst/>
            </a:prstGeom>
          </p:spPr>
        </p:pic>
        <p:sp>
          <p:nvSpPr>
            <p:cNvPr id="246" name="object 246" descr=""/>
            <p:cNvSpPr/>
            <p:nvPr/>
          </p:nvSpPr>
          <p:spPr>
            <a:xfrm>
              <a:off x="6284625" y="2123986"/>
              <a:ext cx="776605" cy="209550"/>
            </a:xfrm>
            <a:custGeom>
              <a:avLst/>
              <a:gdLst/>
              <a:ahLst/>
              <a:cxnLst/>
              <a:rect l="l" t="t" r="r" b="b"/>
              <a:pathLst>
                <a:path w="776604" h="209550">
                  <a:moveTo>
                    <a:pt x="741705" y="0"/>
                  </a:moveTo>
                  <a:lnTo>
                    <a:pt x="34861" y="0"/>
                  </a:lnTo>
                  <a:lnTo>
                    <a:pt x="21291" y="2739"/>
                  </a:lnTo>
                  <a:lnTo>
                    <a:pt x="10210" y="10210"/>
                  </a:lnTo>
                  <a:lnTo>
                    <a:pt x="2739" y="21291"/>
                  </a:lnTo>
                  <a:lnTo>
                    <a:pt x="0" y="34861"/>
                  </a:lnTo>
                  <a:lnTo>
                    <a:pt x="0" y="174294"/>
                  </a:lnTo>
                  <a:lnTo>
                    <a:pt x="2739" y="187864"/>
                  </a:lnTo>
                  <a:lnTo>
                    <a:pt x="10210" y="198945"/>
                  </a:lnTo>
                  <a:lnTo>
                    <a:pt x="21291" y="206416"/>
                  </a:lnTo>
                  <a:lnTo>
                    <a:pt x="34861" y="209156"/>
                  </a:lnTo>
                  <a:lnTo>
                    <a:pt x="741705" y="209156"/>
                  </a:lnTo>
                  <a:lnTo>
                    <a:pt x="755274" y="206416"/>
                  </a:lnTo>
                  <a:lnTo>
                    <a:pt x="766356" y="198945"/>
                  </a:lnTo>
                  <a:lnTo>
                    <a:pt x="773827" y="187864"/>
                  </a:lnTo>
                  <a:lnTo>
                    <a:pt x="776566" y="174294"/>
                  </a:lnTo>
                  <a:lnTo>
                    <a:pt x="776566" y="34861"/>
                  </a:lnTo>
                  <a:lnTo>
                    <a:pt x="773827" y="21291"/>
                  </a:lnTo>
                  <a:lnTo>
                    <a:pt x="766356" y="10210"/>
                  </a:lnTo>
                  <a:lnTo>
                    <a:pt x="755274" y="2739"/>
                  </a:lnTo>
                  <a:lnTo>
                    <a:pt x="741705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6284625" y="2123986"/>
              <a:ext cx="776605" cy="209550"/>
            </a:xfrm>
            <a:custGeom>
              <a:avLst/>
              <a:gdLst/>
              <a:ahLst/>
              <a:cxnLst/>
              <a:rect l="l" t="t" r="r" b="b"/>
              <a:pathLst>
                <a:path w="776604" h="209550">
                  <a:moveTo>
                    <a:pt x="0" y="34861"/>
                  </a:moveTo>
                  <a:lnTo>
                    <a:pt x="2739" y="21291"/>
                  </a:lnTo>
                  <a:lnTo>
                    <a:pt x="10210" y="10210"/>
                  </a:lnTo>
                  <a:lnTo>
                    <a:pt x="21291" y="2739"/>
                  </a:lnTo>
                  <a:lnTo>
                    <a:pt x="34861" y="0"/>
                  </a:lnTo>
                  <a:lnTo>
                    <a:pt x="741705" y="0"/>
                  </a:lnTo>
                  <a:lnTo>
                    <a:pt x="755274" y="2739"/>
                  </a:lnTo>
                  <a:lnTo>
                    <a:pt x="766356" y="10210"/>
                  </a:lnTo>
                  <a:lnTo>
                    <a:pt x="773827" y="21291"/>
                  </a:lnTo>
                  <a:lnTo>
                    <a:pt x="776566" y="34861"/>
                  </a:lnTo>
                  <a:lnTo>
                    <a:pt x="776566" y="174294"/>
                  </a:lnTo>
                  <a:lnTo>
                    <a:pt x="773827" y="187864"/>
                  </a:lnTo>
                  <a:lnTo>
                    <a:pt x="766356" y="198945"/>
                  </a:lnTo>
                  <a:lnTo>
                    <a:pt x="755274" y="206416"/>
                  </a:lnTo>
                  <a:lnTo>
                    <a:pt x="741705" y="209156"/>
                  </a:lnTo>
                  <a:lnTo>
                    <a:pt x="34861" y="209156"/>
                  </a:lnTo>
                  <a:lnTo>
                    <a:pt x="21291" y="206416"/>
                  </a:lnTo>
                  <a:lnTo>
                    <a:pt x="10210" y="198945"/>
                  </a:lnTo>
                  <a:lnTo>
                    <a:pt x="2739" y="187864"/>
                  </a:lnTo>
                  <a:lnTo>
                    <a:pt x="0" y="174294"/>
                  </a:lnTo>
                  <a:lnTo>
                    <a:pt x="0" y="3486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 descr=""/>
          <p:cNvSpPr txBox="1"/>
          <p:nvPr/>
        </p:nvSpPr>
        <p:spPr>
          <a:xfrm>
            <a:off x="6575472" y="2167860"/>
            <a:ext cx="1949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Arial MT"/>
                <a:cs typeface="Arial MT"/>
              </a:rPr>
              <a:t>MEC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49" name="object 249" descr=""/>
          <p:cNvGrpSpPr/>
          <p:nvPr/>
        </p:nvGrpSpPr>
        <p:grpSpPr>
          <a:xfrm>
            <a:off x="7559040" y="3176777"/>
            <a:ext cx="764540" cy="349250"/>
            <a:chOff x="7559040" y="3176777"/>
            <a:chExt cx="764540" cy="349250"/>
          </a:xfrm>
        </p:grpSpPr>
        <p:pic>
          <p:nvPicPr>
            <p:cNvPr id="250" name="object 25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559040" y="3176777"/>
              <a:ext cx="764285" cy="348996"/>
            </a:xfrm>
            <a:prstGeom prst="rect">
              <a:avLst/>
            </a:prstGeom>
          </p:spPr>
        </p:pic>
        <p:sp>
          <p:nvSpPr>
            <p:cNvPr id="251" name="object 251" descr=""/>
            <p:cNvSpPr/>
            <p:nvPr/>
          </p:nvSpPr>
          <p:spPr>
            <a:xfrm>
              <a:off x="7642442" y="3256244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7642442" y="3256244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3" name="object 253" descr=""/>
          <p:cNvSpPr txBox="1"/>
          <p:nvPr/>
        </p:nvSpPr>
        <p:spPr>
          <a:xfrm>
            <a:off x="7878452" y="3282289"/>
            <a:ext cx="1250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L2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54" name="object 254" descr=""/>
          <p:cNvGrpSpPr/>
          <p:nvPr/>
        </p:nvGrpSpPr>
        <p:grpSpPr>
          <a:xfrm>
            <a:off x="7559040" y="3557015"/>
            <a:ext cx="764540" cy="349885"/>
            <a:chOff x="7559040" y="3557015"/>
            <a:chExt cx="764540" cy="349885"/>
          </a:xfrm>
        </p:grpSpPr>
        <p:pic>
          <p:nvPicPr>
            <p:cNvPr id="255" name="object 25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59040" y="3557015"/>
              <a:ext cx="764285" cy="349757"/>
            </a:xfrm>
            <a:prstGeom prst="rect">
              <a:avLst/>
            </a:prstGeom>
          </p:spPr>
        </p:pic>
        <p:sp>
          <p:nvSpPr>
            <p:cNvPr id="256" name="object 256" descr=""/>
            <p:cNvSpPr/>
            <p:nvPr/>
          </p:nvSpPr>
          <p:spPr>
            <a:xfrm>
              <a:off x="7642442" y="3636774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565658" y="0"/>
                  </a:moveTo>
                  <a:lnTo>
                    <a:pt x="31711" y="0"/>
                  </a:lnTo>
                  <a:lnTo>
                    <a:pt x="19368" y="2492"/>
                  </a:lnTo>
                  <a:lnTo>
                    <a:pt x="9288" y="9288"/>
                  </a:lnTo>
                  <a:lnTo>
                    <a:pt x="2492" y="19368"/>
                  </a:lnTo>
                  <a:lnTo>
                    <a:pt x="0" y="31711"/>
                  </a:lnTo>
                  <a:lnTo>
                    <a:pt x="0" y="158559"/>
                  </a:lnTo>
                  <a:lnTo>
                    <a:pt x="2492" y="170902"/>
                  </a:lnTo>
                  <a:lnTo>
                    <a:pt x="9288" y="180982"/>
                  </a:lnTo>
                  <a:lnTo>
                    <a:pt x="19368" y="187779"/>
                  </a:lnTo>
                  <a:lnTo>
                    <a:pt x="31711" y="190271"/>
                  </a:lnTo>
                  <a:lnTo>
                    <a:pt x="565658" y="190271"/>
                  </a:lnTo>
                  <a:lnTo>
                    <a:pt x="578001" y="187779"/>
                  </a:lnTo>
                  <a:lnTo>
                    <a:pt x="588081" y="180982"/>
                  </a:lnTo>
                  <a:lnTo>
                    <a:pt x="594877" y="170902"/>
                  </a:lnTo>
                  <a:lnTo>
                    <a:pt x="597369" y="158559"/>
                  </a:lnTo>
                  <a:lnTo>
                    <a:pt x="597369" y="31711"/>
                  </a:lnTo>
                  <a:lnTo>
                    <a:pt x="594877" y="19368"/>
                  </a:lnTo>
                  <a:lnTo>
                    <a:pt x="588081" y="9288"/>
                  </a:lnTo>
                  <a:lnTo>
                    <a:pt x="578001" y="2492"/>
                  </a:lnTo>
                  <a:lnTo>
                    <a:pt x="565658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7642442" y="3636774"/>
              <a:ext cx="597535" cy="190500"/>
            </a:xfrm>
            <a:custGeom>
              <a:avLst/>
              <a:gdLst/>
              <a:ahLst/>
              <a:cxnLst/>
              <a:rect l="l" t="t" r="r" b="b"/>
              <a:pathLst>
                <a:path w="597534" h="190500">
                  <a:moveTo>
                    <a:pt x="0" y="31711"/>
                  </a:moveTo>
                  <a:lnTo>
                    <a:pt x="2492" y="19368"/>
                  </a:lnTo>
                  <a:lnTo>
                    <a:pt x="9288" y="9288"/>
                  </a:lnTo>
                  <a:lnTo>
                    <a:pt x="19368" y="2492"/>
                  </a:lnTo>
                  <a:lnTo>
                    <a:pt x="31711" y="0"/>
                  </a:lnTo>
                  <a:lnTo>
                    <a:pt x="565658" y="0"/>
                  </a:lnTo>
                  <a:lnTo>
                    <a:pt x="578001" y="2492"/>
                  </a:lnTo>
                  <a:lnTo>
                    <a:pt x="588081" y="9288"/>
                  </a:lnTo>
                  <a:lnTo>
                    <a:pt x="594877" y="19368"/>
                  </a:lnTo>
                  <a:lnTo>
                    <a:pt x="597369" y="31711"/>
                  </a:lnTo>
                  <a:lnTo>
                    <a:pt x="597369" y="158559"/>
                  </a:lnTo>
                  <a:lnTo>
                    <a:pt x="594877" y="170902"/>
                  </a:lnTo>
                  <a:lnTo>
                    <a:pt x="588081" y="180982"/>
                  </a:lnTo>
                  <a:lnTo>
                    <a:pt x="578001" y="187779"/>
                  </a:lnTo>
                  <a:lnTo>
                    <a:pt x="565658" y="190271"/>
                  </a:lnTo>
                  <a:lnTo>
                    <a:pt x="31711" y="190271"/>
                  </a:lnTo>
                  <a:lnTo>
                    <a:pt x="19368" y="187779"/>
                  </a:lnTo>
                  <a:lnTo>
                    <a:pt x="9288" y="180982"/>
                  </a:lnTo>
                  <a:lnTo>
                    <a:pt x="2492" y="170902"/>
                  </a:lnTo>
                  <a:lnTo>
                    <a:pt x="0" y="158559"/>
                  </a:lnTo>
                  <a:lnTo>
                    <a:pt x="0" y="31711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8" name="object 258" descr=""/>
          <p:cNvSpPr txBox="1"/>
          <p:nvPr/>
        </p:nvSpPr>
        <p:spPr>
          <a:xfrm>
            <a:off x="7822096" y="3442891"/>
            <a:ext cx="237490" cy="352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130">
              <a:lnSpc>
                <a:spcPct val="153200"/>
              </a:lnSpc>
              <a:spcBef>
                <a:spcPts val="100"/>
              </a:spcBef>
            </a:pPr>
            <a:r>
              <a:rPr dirty="0" sz="700" spc="-25">
                <a:latin typeface="Arial MT"/>
                <a:cs typeface="Arial MT"/>
              </a:rPr>
              <a:t>PHY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CPRI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59" name="object 259" descr=""/>
          <p:cNvGrpSpPr/>
          <p:nvPr/>
        </p:nvGrpSpPr>
        <p:grpSpPr>
          <a:xfrm>
            <a:off x="7283135" y="3060054"/>
            <a:ext cx="637540" cy="191770"/>
            <a:chOff x="7283135" y="3060054"/>
            <a:chExt cx="637540" cy="191770"/>
          </a:xfrm>
        </p:grpSpPr>
        <p:sp>
          <p:nvSpPr>
            <p:cNvPr id="260" name="object 260" descr=""/>
            <p:cNvSpPr/>
            <p:nvPr/>
          </p:nvSpPr>
          <p:spPr>
            <a:xfrm>
              <a:off x="7289494" y="3095621"/>
              <a:ext cx="624840" cy="120650"/>
            </a:xfrm>
            <a:custGeom>
              <a:avLst/>
              <a:gdLst/>
              <a:ahLst/>
              <a:cxnLst/>
              <a:rect l="l" t="t" r="r" b="b"/>
              <a:pathLst>
                <a:path w="624840" h="120650">
                  <a:moveTo>
                    <a:pt x="624357" y="12043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7289485" y="3066404"/>
              <a:ext cx="83820" cy="87630"/>
            </a:xfrm>
            <a:custGeom>
              <a:avLst/>
              <a:gdLst/>
              <a:ahLst/>
              <a:cxnLst/>
              <a:rect l="l" t="t" r="r" b="b"/>
              <a:pathLst>
                <a:path w="83820" h="87630">
                  <a:moveTo>
                    <a:pt x="66408" y="87287"/>
                  </a:moveTo>
                  <a:lnTo>
                    <a:pt x="0" y="29209"/>
                  </a:lnTo>
                  <a:lnTo>
                    <a:pt x="8324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7830613" y="3157973"/>
              <a:ext cx="83820" cy="87630"/>
            </a:xfrm>
            <a:custGeom>
              <a:avLst/>
              <a:gdLst/>
              <a:ahLst/>
              <a:cxnLst/>
              <a:rect l="l" t="t" r="r" b="b"/>
              <a:pathLst>
                <a:path w="83820" h="87630">
                  <a:moveTo>
                    <a:pt x="16840" y="0"/>
                  </a:moveTo>
                  <a:lnTo>
                    <a:pt x="83235" y="58077"/>
                  </a:lnTo>
                  <a:lnTo>
                    <a:pt x="0" y="8728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3" name="object 263" descr=""/>
          <p:cNvSpPr txBox="1"/>
          <p:nvPr/>
        </p:nvSpPr>
        <p:spPr>
          <a:xfrm>
            <a:off x="7397250" y="3513891"/>
            <a:ext cx="190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C00000"/>
                </a:solidFill>
                <a:latin typeface="Arial"/>
                <a:cs typeface="Arial"/>
              </a:rPr>
              <a:t>DU</a:t>
            </a:r>
            <a:endParaRPr sz="900">
              <a:latin typeface="Arial"/>
              <a:cs typeface="Arial"/>
            </a:endParaRPr>
          </a:p>
        </p:txBody>
      </p:sp>
      <p:sp>
        <p:nvSpPr>
          <p:cNvPr id="264" name="object 264" descr=""/>
          <p:cNvSpPr txBox="1"/>
          <p:nvPr/>
        </p:nvSpPr>
        <p:spPr>
          <a:xfrm>
            <a:off x="7293695" y="4153743"/>
            <a:ext cx="269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C00000"/>
                </a:solidFill>
                <a:latin typeface="Arial"/>
                <a:cs typeface="Arial"/>
              </a:rPr>
              <a:t>AAU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6118" y="137830"/>
            <a:ext cx="2964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 b="0">
                <a:latin typeface="Times New Roman"/>
                <a:cs typeface="Times New Roman"/>
              </a:rPr>
              <a:t>5G</a:t>
            </a:r>
            <a:r>
              <a:rPr dirty="0" spc="-40"/>
              <a:t>基站部署方案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47637" y="890587"/>
            <a:ext cx="8961120" cy="3996054"/>
            <a:chOff x="147637" y="890587"/>
            <a:chExt cx="8961120" cy="39960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9991" y="1491630"/>
              <a:ext cx="4608511" cy="339458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2400" y="895350"/>
              <a:ext cx="4464685" cy="3750945"/>
            </a:xfrm>
            <a:custGeom>
              <a:avLst/>
              <a:gdLst/>
              <a:ahLst/>
              <a:cxnLst/>
              <a:rect l="l" t="t" r="r" b="b"/>
              <a:pathLst>
                <a:path w="4464685" h="3750945">
                  <a:moveTo>
                    <a:pt x="0" y="0"/>
                  </a:moveTo>
                  <a:lnTo>
                    <a:pt x="4464494" y="0"/>
                  </a:lnTo>
                  <a:lnTo>
                    <a:pt x="4464494" y="3750741"/>
                  </a:lnTo>
                  <a:lnTo>
                    <a:pt x="0" y="37507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9F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940158" y="1035951"/>
            <a:ext cx="1728470" cy="323215"/>
          </a:xfrm>
          <a:prstGeom prst="rect">
            <a:avLst/>
          </a:prstGeom>
          <a:solidFill>
            <a:srgbClr val="009999"/>
          </a:solidFill>
        </p:spPr>
        <p:txBody>
          <a:bodyPr wrap="square" lIns="0" tIns="38735" rIns="0" bIns="0" rtlCol="0" vert="horz">
            <a:spAutoFit/>
          </a:bodyPr>
          <a:lstStyle/>
          <a:p>
            <a:pPr marL="344170">
              <a:lnSpc>
                <a:spcPct val="100000"/>
              </a:lnSpc>
              <a:spcBef>
                <a:spcPts val="305"/>
              </a:spcBef>
            </a:pPr>
            <a:r>
              <a:rPr dirty="0" sz="1500" spc="-20" b="1">
                <a:solidFill>
                  <a:srgbClr val="FFFFFF"/>
                </a:solidFill>
                <a:latin typeface="Microsoft YaHei"/>
                <a:cs typeface="Microsoft YaHei"/>
              </a:rPr>
              <a:t>CU-</a:t>
            </a:r>
            <a:r>
              <a:rPr dirty="0" sz="1500" spc="-10" b="1">
                <a:solidFill>
                  <a:srgbClr val="FFFFFF"/>
                </a:solidFill>
                <a:latin typeface="Microsoft YaHei"/>
                <a:cs typeface="Microsoft YaHei"/>
              </a:rPr>
              <a:t>DU</a:t>
            </a:r>
            <a:r>
              <a:rPr dirty="0" sz="1500" spc="-25" b="1">
                <a:solidFill>
                  <a:srgbClr val="FFFFFF"/>
                </a:solidFill>
                <a:latin typeface="Microsoft YaHei"/>
                <a:cs typeface="Microsoft YaHei"/>
              </a:rPr>
              <a:t>分离</a:t>
            </a:r>
            <a:endParaRPr sz="15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1140" y="884174"/>
            <a:ext cx="3206750" cy="15722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Wingdings"/>
              <a:buChar char=""/>
              <a:tabLst>
                <a:tab pos="354965" algn="l"/>
              </a:tabLst>
            </a:pPr>
            <a:r>
              <a:rPr dirty="0" sz="1200" b="1">
                <a:latin typeface="Microsoft YaHei"/>
                <a:cs typeface="Microsoft YaHei"/>
              </a:rPr>
              <a:t>传统</a:t>
            </a:r>
            <a:r>
              <a:rPr dirty="0" sz="1200" spc="-10" b="1">
                <a:latin typeface="Microsoft YaHei"/>
                <a:cs typeface="Microsoft YaHei"/>
              </a:rPr>
              <a:t>BBU+RRU</a:t>
            </a:r>
            <a:r>
              <a:rPr dirty="0" sz="1200" spc="-25" b="1">
                <a:latin typeface="Microsoft YaHei"/>
                <a:cs typeface="Microsoft YaHei"/>
              </a:rPr>
              <a:t>方案</a:t>
            </a:r>
            <a:endParaRPr sz="1200">
              <a:latin typeface="Microsoft YaHei"/>
              <a:cs typeface="Microsoft YaHei"/>
            </a:endParaRPr>
          </a:p>
          <a:p>
            <a:pPr lvl="1" marL="755015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5015" algn="l"/>
              </a:tabLst>
            </a:pPr>
            <a:r>
              <a:rPr dirty="0" sz="1200" spc="-5">
                <a:latin typeface="Microsoft YaHei"/>
                <a:cs typeface="Microsoft YaHei"/>
              </a:rPr>
              <a:t>优点：网络结构简单，减少基站节点</a:t>
            </a:r>
            <a:endParaRPr sz="1200">
              <a:latin typeface="Microsoft YaHei"/>
              <a:cs typeface="Microsoft YaHei"/>
            </a:endParaRPr>
          </a:p>
          <a:p>
            <a:pPr lvl="1" marL="755015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5015" algn="l"/>
              </a:tabLst>
            </a:pPr>
            <a:r>
              <a:rPr dirty="0" sz="1200" spc="-10">
                <a:latin typeface="Microsoft YaHei"/>
                <a:cs typeface="Microsoft YaHei"/>
              </a:rPr>
              <a:t>BBU</a:t>
            </a:r>
            <a:r>
              <a:rPr dirty="0" sz="1200" spc="-15">
                <a:latin typeface="Microsoft YaHei"/>
                <a:cs typeface="Microsoft YaHei"/>
              </a:rPr>
              <a:t>远端部署</a:t>
            </a:r>
            <a:endParaRPr sz="1200">
              <a:latin typeface="Microsoft YaHei"/>
              <a:cs typeface="Microsoft YaHei"/>
            </a:endParaRPr>
          </a:p>
          <a:p>
            <a:pPr lvl="1" marL="755015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5015" algn="l"/>
              </a:tabLst>
            </a:pPr>
            <a:r>
              <a:rPr dirty="0" sz="1200" spc="-10">
                <a:latin typeface="Microsoft YaHei"/>
                <a:cs typeface="Microsoft YaHei"/>
              </a:rPr>
              <a:t>BBU</a:t>
            </a:r>
            <a:r>
              <a:rPr dirty="0" sz="1200" spc="-15">
                <a:latin typeface="Microsoft YaHei"/>
                <a:cs typeface="Microsoft YaHei"/>
              </a:rPr>
              <a:t>集中放置</a:t>
            </a:r>
            <a:endParaRPr sz="1200">
              <a:latin typeface="Microsoft YaHei"/>
              <a:cs typeface="Microsoft YaHei"/>
            </a:endParaRPr>
          </a:p>
          <a:p>
            <a:pPr algn="r" lvl="2" marL="227965" marR="824230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200" spc="-10">
                <a:latin typeface="Microsoft YaHei"/>
                <a:cs typeface="Microsoft YaHei"/>
              </a:rPr>
              <a:t>减少前端机房需求</a:t>
            </a:r>
            <a:endParaRPr sz="1200">
              <a:latin typeface="Microsoft YaHei"/>
              <a:cs typeface="Microsoft YaHei"/>
            </a:endParaRPr>
          </a:p>
          <a:p>
            <a:pPr algn="r" lvl="2" marL="227965" marR="824230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200" spc="-10">
                <a:latin typeface="Microsoft YaHei"/>
                <a:cs typeface="Microsoft YaHei"/>
              </a:rPr>
              <a:t>传输带宽需求巨大</a:t>
            </a:r>
            <a:endParaRPr sz="1200">
              <a:latin typeface="Microsoft YaHei"/>
              <a:cs typeface="Microsoft YaHei"/>
            </a:endParaRPr>
          </a:p>
          <a:p>
            <a:pPr algn="r" marL="342265" marR="862330" indent="-342265">
              <a:lnSpc>
                <a:spcPct val="100000"/>
              </a:lnSpc>
              <a:spcBef>
                <a:spcPts val="300"/>
              </a:spcBef>
              <a:buFont typeface="Wingdings"/>
              <a:buChar char=""/>
              <a:tabLst>
                <a:tab pos="342265" algn="l"/>
              </a:tabLst>
            </a:pPr>
            <a:r>
              <a:rPr dirty="0" sz="1200" b="1">
                <a:latin typeface="Microsoft YaHei"/>
                <a:cs typeface="Microsoft YaHei"/>
              </a:rPr>
              <a:t>一体化基站方案（</a:t>
            </a:r>
            <a:r>
              <a:rPr dirty="0" sz="1200">
                <a:latin typeface="Microsoft YaHei"/>
                <a:cs typeface="Microsoft YaHei"/>
              </a:rPr>
              <a:t>热点场景</a:t>
            </a:r>
            <a:r>
              <a:rPr dirty="0" sz="1200" spc="-50">
                <a:latin typeface="Microsoft YaHei"/>
                <a:cs typeface="Microsoft YaHei"/>
              </a:rPr>
              <a:t>）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6110" y="2431033"/>
            <a:ext cx="4855845" cy="262699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800100" indent="-285750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>
                <a:latin typeface="Microsoft YaHei"/>
                <a:cs typeface="Microsoft YaHei"/>
              </a:rPr>
              <a:t>适合</a:t>
            </a:r>
            <a:r>
              <a:rPr dirty="0" sz="1200" spc="-10">
                <a:latin typeface="Microsoft YaHei"/>
                <a:cs typeface="Microsoft YaHei"/>
              </a:rPr>
              <a:t>Smallcell（</a:t>
            </a:r>
            <a:r>
              <a:rPr dirty="0" sz="1200">
                <a:latin typeface="Microsoft YaHei"/>
                <a:cs typeface="Microsoft YaHei"/>
              </a:rPr>
              <a:t>成本低，部署灵活，不方便站间协同</a:t>
            </a:r>
            <a:r>
              <a:rPr dirty="0" sz="1200" spc="-50">
                <a:latin typeface="Microsoft YaHei"/>
                <a:cs typeface="Microsoft YaHei"/>
              </a:rPr>
              <a:t>）</a:t>
            </a:r>
            <a:endParaRPr sz="1200">
              <a:latin typeface="Microsoft YaHei"/>
              <a:cs typeface="Microsoft YaHei"/>
            </a:endParaRPr>
          </a:p>
          <a:p>
            <a:pPr marL="800100" indent="-28575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>
                <a:latin typeface="Microsoft YaHei"/>
                <a:cs typeface="Microsoft YaHei"/>
              </a:rPr>
              <a:t>也可以</a:t>
            </a:r>
            <a:r>
              <a:rPr dirty="0" sz="1200" spc="-20">
                <a:latin typeface="Microsoft YaHei"/>
                <a:cs typeface="Microsoft YaHei"/>
              </a:rPr>
              <a:t>CU</a:t>
            </a:r>
            <a:r>
              <a:rPr dirty="0" sz="1200" spc="-10">
                <a:latin typeface="Microsoft YaHei"/>
                <a:cs typeface="Microsoft YaHei"/>
              </a:rPr>
              <a:t>集中，</a:t>
            </a:r>
            <a:r>
              <a:rPr dirty="0" sz="1200" spc="-20">
                <a:latin typeface="Microsoft YaHei"/>
                <a:cs typeface="Microsoft YaHei"/>
              </a:rPr>
              <a:t>DU+RRU</a:t>
            </a:r>
            <a:r>
              <a:rPr dirty="0" sz="1200" spc="-15">
                <a:latin typeface="Microsoft YaHei"/>
                <a:cs typeface="Microsoft YaHei"/>
              </a:rPr>
              <a:t>一体化；</a:t>
            </a:r>
            <a:endParaRPr sz="1200">
              <a:latin typeface="Microsoft YaHei"/>
              <a:cs typeface="Microsoft YaHei"/>
            </a:endParaRPr>
          </a:p>
          <a:p>
            <a:pPr marL="400050" indent="-342900">
              <a:lnSpc>
                <a:spcPct val="100000"/>
              </a:lnSpc>
              <a:spcBef>
                <a:spcPts val="300"/>
              </a:spcBef>
              <a:buFont typeface="Wingdings"/>
              <a:buChar char=""/>
              <a:tabLst>
                <a:tab pos="400050" algn="l"/>
              </a:tabLst>
            </a:pPr>
            <a:r>
              <a:rPr dirty="0" sz="1200" spc="-10" b="1">
                <a:latin typeface="Microsoft YaHei"/>
                <a:cs typeface="Microsoft YaHei"/>
              </a:rPr>
              <a:t>CU（</a:t>
            </a:r>
            <a:r>
              <a:rPr dirty="0" sz="1200" b="1">
                <a:latin typeface="Microsoft YaHei"/>
                <a:cs typeface="Microsoft YaHei"/>
              </a:rPr>
              <a:t>中央单元</a:t>
            </a:r>
            <a:r>
              <a:rPr dirty="0" sz="1200" spc="-10" b="1">
                <a:latin typeface="Microsoft YaHei"/>
                <a:cs typeface="Microsoft YaHei"/>
              </a:rPr>
              <a:t>）－DU（</a:t>
            </a:r>
            <a:r>
              <a:rPr dirty="0" sz="1200" b="1">
                <a:latin typeface="Microsoft YaHei"/>
                <a:cs typeface="Microsoft YaHei"/>
              </a:rPr>
              <a:t>分布单元）</a:t>
            </a:r>
            <a:r>
              <a:rPr dirty="0" sz="1200" spc="-25" b="1">
                <a:latin typeface="Microsoft YaHei"/>
                <a:cs typeface="Microsoft YaHei"/>
              </a:rPr>
              <a:t>分离</a:t>
            </a:r>
            <a:endParaRPr sz="1200">
              <a:latin typeface="Microsoft YaHei"/>
              <a:cs typeface="Microsoft YaHei"/>
            </a:endParaRPr>
          </a:p>
          <a:p>
            <a:pPr lvl="1" marL="800100" marR="566420" indent="-28575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 spc="-20">
                <a:latin typeface="Microsoft YaHei"/>
                <a:cs typeface="Microsoft YaHei"/>
              </a:rPr>
              <a:t>CU</a:t>
            </a:r>
            <a:r>
              <a:rPr dirty="0" sz="1200" spc="-10">
                <a:latin typeface="Microsoft YaHei"/>
                <a:cs typeface="Microsoft YaHei"/>
              </a:rPr>
              <a:t>可以基于服务器，支持虚拟化，便于基站间/系统</a:t>
            </a:r>
            <a:r>
              <a:rPr dirty="0" sz="1200" spc="-5">
                <a:latin typeface="Microsoft YaHei"/>
                <a:cs typeface="Microsoft YaHei"/>
              </a:rPr>
              <a:t>间协同；增加传输处理节点，增加业务面时延</a:t>
            </a:r>
            <a:endParaRPr sz="1200">
              <a:latin typeface="Microsoft YaHei"/>
              <a:cs typeface="Microsoft YaHei"/>
            </a:endParaRPr>
          </a:p>
          <a:p>
            <a:pPr lvl="1" marL="800100" indent="-28575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 spc="-20">
                <a:latin typeface="Microsoft YaHei"/>
                <a:cs typeface="Microsoft YaHei"/>
              </a:rPr>
              <a:t>DU</a:t>
            </a:r>
            <a:r>
              <a:rPr dirty="0" sz="1200" spc="-15">
                <a:latin typeface="Microsoft YaHei"/>
                <a:cs typeface="Microsoft YaHei"/>
              </a:rPr>
              <a:t>远端部署</a:t>
            </a:r>
            <a:endParaRPr sz="1200">
              <a:latin typeface="Microsoft YaHei"/>
              <a:cs typeface="Microsoft YaHei"/>
            </a:endParaRPr>
          </a:p>
          <a:p>
            <a:pPr lvl="1" marL="800100" indent="-28575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 spc="-20">
                <a:latin typeface="Microsoft YaHei"/>
                <a:cs typeface="Microsoft YaHei"/>
              </a:rPr>
              <a:t>DU</a:t>
            </a:r>
            <a:r>
              <a:rPr dirty="0" sz="1200">
                <a:latin typeface="Microsoft YaHei"/>
                <a:cs typeface="Microsoft YaHei"/>
              </a:rPr>
              <a:t>集中部署（问题同</a:t>
            </a:r>
            <a:r>
              <a:rPr dirty="0" sz="1200" spc="-10">
                <a:latin typeface="Microsoft YaHei"/>
                <a:cs typeface="Microsoft YaHei"/>
              </a:rPr>
              <a:t>BBU</a:t>
            </a:r>
            <a:r>
              <a:rPr dirty="0" sz="1200">
                <a:latin typeface="Microsoft YaHei"/>
                <a:cs typeface="Microsoft YaHei"/>
              </a:rPr>
              <a:t>集中放置</a:t>
            </a:r>
            <a:r>
              <a:rPr dirty="0" sz="1200" spc="-50">
                <a:latin typeface="Microsoft YaHei"/>
                <a:cs typeface="Microsoft YaHei"/>
              </a:rPr>
              <a:t>）</a:t>
            </a:r>
            <a:endParaRPr sz="1200">
              <a:latin typeface="Microsoft YaHei"/>
              <a:cs typeface="Microsoft YaHei"/>
            </a:endParaRPr>
          </a:p>
          <a:p>
            <a:pPr lvl="1" marL="800100" indent="-28575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 spc="-20">
                <a:latin typeface="Microsoft YaHei"/>
                <a:cs typeface="Microsoft YaHei"/>
              </a:rPr>
              <a:t>CU</a:t>
            </a:r>
            <a:r>
              <a:rPr dirty="0" sz="1200" spc="-10">
                <a:latin typeface="Microsoft YaHei"/>
                <a:cs typeface="Microsoft YaHei"/>
              </a:rPr>
              <a:t>中心机房部署</a:t>
            </a:r>
            <a:endParaRPr sz="1200">
              <a:latin typeface="Microsoft YaHei"/>
              <a:cs typeface="Microsoft YaHei"/>
            </a:endParaRPr>
          </a:p>
          <a:p>
            <a:pPr lvl="1" marL="800100" marR="601345" indent="-28575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800100" algn="l"/>
              </a:tabLst>
            </a:pPr>
            <a:r>
              <a:rPr dirty="0" sz="1200" spc="-20">
                <a:latin typeface="Microsoft YaHei"/>
                <a:cs typeface="Microsoft YaHei"/>
              </a:rPr>
              <a:t>CU</a:t>
            </a:r>
            <a:r>
              <a:rPr dirty="0" sz="1200">
                <a:latin typeface="Microsoft YaHei"/>
                <a:cs typeface="Microsoft YaHei"/>
              </a:rPr>
              <a:t>区域中心，与</a:t>
            </a:r>
            <a:r>
              <a:rPr dirty="0" sz="1200" spc="-10">
                <a:latin typeface="Microsoft YaHei"/>
                <a:cs typeface="Microsoft YaHei"/>
              </a:rPr>
              <a:t>MEC</a:t>
            </a:r>
            <a:r>
              <a:rPr dirty="0" sz="1200">
                <a:latin typeface="Microsoft YaHei"/>
                <a:cs typeface="Microsoft YaHei"/>
              </a:rPr>
              <a:t>结合部署（</a:t>
            </a:r>
            <a:r>
              <a:rPr dirty="0" sz="1200" spc="-10">
                <a:latin typeface="Microsoft YaHei"/>
                <a:cs typeface="Microsoft YaHei"/>
              </a:rPr>
              <a:t>机场，大型购物中</a:t>
            </a:r>
            <a:r>
              <a:rPr dirty="0" sz="1200">
                <a:latin typeface="Microsoft YaHei"/>
                <a:cs typeface="Microsoft YaHei"/>
              </a:rPr>
              <a:t>心等热点区域</a:t>
            </a:r>
            <a:r>
              <a:rPr dirty="0" sz="1200" spc="-50">
                <a:latin typeface="Microsoft YaHei"/>
                <a:cs typeface="Microsoft YaHei"/>
              </a:rPr>
              <a:t>）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ts val="1160"/>
              </a:lnSpc>
            </a:pPr>
            <a:r>
              <a:rPr dirty="0" sz="1050" spc="-20">
                <a:latin typeface="Microsoft YaHei"/>
                <a:cs typeface="Microsoft YaHei"/>
              </a:rPr>
              <a:t>说明：</a:t>
            </a:r>
            <a:endParaRPr sz="1050">
              <a:latin typeface="Microsoft YaHei"/>
              <a:cs typeface="Microsoft YaHei"/>
            </a:endParaRPr>
          </a:p>
          <a:p>
            <a:pPr marL="12700" marR="5080">
              <a:lnSpc>
                <a:spcPct val="100000"/>
              </a:lnSpc>
            </a:pPr>
            <a:r>
              <a:rPr dirty="0" sz="1050" spc="-10">
                <a:latin typeface="Microsoft YaHei"/>
                <a:cs typeface="Microsoft YaHei"/>
              </a:rPr>
              <a:t>CU-</a:t>
            </a:r>
            <a:r>
              <a:rPr dirty="0" sz="1050" spc="-20">
                <a:latin typeface="Microsoft YaHei"/>
                <a:cs typeface="Microsoft YaHei"/>
              </a:rPr>
              <a:t>DU</a:t>
            </a:r>
            <a:r>
              <a:rPr dirty="0" sz="1050">
                <a:latin typeface="Microsoft YaHei"/>
                <a:cs typeface="Microsoft YaHei"/>
              </a:rPr>
              <a:t>分离目的是，通过基带部分功能上移，避免</a:t>
            </a:r>
            <a:r>
              <a:rPr dirty="0" sz="1050" spc="-10">
                <a:latin typeface="Microsoft YaHei"/>
                <a:cs typeface="Microsoft YaHei"/>
              </a:rPr>
              <a:t>5G</a:t>
            </a:r>
            <a:r>
              <a:rPr dirty="0" sz="1050">
                <a:latin typeface="Microsoft YaHei"/>
                <a:cs typeface="Microsoft YaHei"/>
              </a:rPr>
              <a:t>高速率下的传统</a:t>
            </a:r>
            <a:r>
              <a:rPr dirty="0" sz="1050" spc="-10">
                <a:latin typeface="Microsoft YaHei"/>
                <a:cs typeface="Microsoft YaHei"/>
              </a:rPr>
              <a:t>BBU-</a:t>
            </a:r>
            <a:r>
              <a:rPr dirty="0" sz="1050" spc="-20">
                <a:latin typeface="Microsoft YaHei"/>
                <a:cs typeface="Microsoft YaHei"/>
              </a:rPr>
              <a:t>RRU</a:t>
            </a:r>
            <a:r>
              <a:rPr dirty="0" sz="1050" spc="-50">
                <a:latin typeface="Microsoft YaHei"/>
                <a:cs typeface="Microsoft YaHei"/>
              </a:rPr>
              <a:t>间 </a:t>
            </a:r>
            <a:r>
              <a:rPr dirty="0" sz="1050" spc="-10">
                <a:latin typeface="Microsoft YaHei"/>
                <a:cs typeface="Microsoft YaHei"/>
              </a:rPr>
              <a:t>CPRI</a:t>
            </a:r>
            <a:r>
              <a:rPr dirty="0" sz="1050" spc="-5">
                <a:latin typeface="Microsoft YaHei"/>
                <a:cs typeface="Microsoft YaHei"/>
              </a:rPr>
              <a:t>接口传输带宽问题。同时便于控制面的集中，为多业务提供灵活的配置能力。</a:t>
            </a:r>
            <a:endParaRPr sz="10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537" y="865632"/>
            <a:ext cx="7500988" cy="41154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6042" y="150512"/>
            <a:ext cx="29857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无线技术路线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34" y="1030418"/>
            <a:ext cx="7067025" cy="38415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2988" y="165988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网络主要无线技术特征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3673" y="153501"/>
            <a:ext cx="379920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50"/>
              <a:t>超大规模天线技术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465870" y="1042416"/>
            <a:ext cx="4639945" cy="1865630"/>
            <a:chOff x="2465870" y="1042416"/>
            <a:chExt cx="4639945" cy="1865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5870" y="1545526"/>
              <a:ext cx="946383" cy="13337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3049" y="1171527"/>
              <a:ext cx="2661024" cy="16680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1401" y="2345436"/>
              <a:ext cx="593597" cy="45796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163940" y="2387528"/>
              <a:ext cx="457200" cy="317500"/>
            </a:xfrm>
            <a:custGeom>
              <a:avLst/>
              <a:gdLst/>
              <a:ahLst/>
              <a:cxnLst/>
              <a:rect l="l" t="t" r="r" b="b"/>
              <a:pathLst>
                <a:path w="457200" h="317500">
                  <a:moveTo>
                    <a:pt x="40538" y="0"/>
                  </a:moveTo>
                  <a:lnTo>
                    <a:pt x="0" y="70142"/>
                  </a:lnTo>
                  <a:lnTo>
                    <a:pt x="366280" y="281825"/>
                  </a:lnTo>
                  <a:lnTo>
                    <a:pt x="346011" y="316890"/>
                  </a:lnTo>
                  <a:lnTo>
                    <a:pt x="456679" y="287299"/>
                  </a:lnTo>
                  <a:lnTo>
                    <a:pt x="427075" y="176618"/>
                  </a:lnTo>
                  <a:lnTo>
                    <a:pt x="406806" y="211683"/>
                  </a:lnTo>
                  <a:lnTo>
                    <a:pt x="40538" y="0"/>
                  </a:lnTo>
                  <a:close/>
                </a:path>
              </a:pathLst>
            </a:custGeom>
            <a:solidFill>
              <a:srgbClr val="E4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163940" y="2387528"/>
              <a:ext cx="457200" cy="317500"/>
            </a:xfrm>
            <a:custGeom>
              <a:avLst/>
              <a:gdLst/>
              <a:ahLst/>
              <a:cxnLst/>
              <a:rect l="l" t="t" r="r" b="b"/>
              <a:pathLst>
                <a:path w="457200" h="317500">
                  <a:moveTo>
                    <a:pt x="40538" y="0"/>
                  </a:moveTo>
                  <a:lnTo>
                    <a:pt x="406806" y="211683"/>
                  </a:lnTo>
                  <a:lnTo>
                    <a:pt x="427075" y="176618"/>
                  </a:lnTo>
                  <a:lnTo>
                    <a:pt x="456679" y="287299"/>
                  </a:lnTo>
                  <a:lnTo>
                    <a:pt x="346011" y="316890"/>
                  </a:lnTo>
                  <a:lnTo>
                    <a:pt x="366280" y="281825"/>
                  </a:lnTo>
                  <a:lnTo>
                    <a:pt x="0" y="70142"/>
                  </a:lnTo>
                  <a:lnTo>
                    <a:pt x="40538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5711" y="1939302"/>
              <a:ext cx="640829" cy="32536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354525" y="1984358"/>
              <a:ext cx="505459" cy="173355"/>
            </a:xfrm>
            <a:custGeom>
              <a:avLst/>
              <a:gdLst/>
              <a:ahLst/>
              <a:cxnLst/>
              <a:rect l="l" t="t" r="r" b="b"/>
              <a:pathLst>
                <a:path w="505460" h="173355">
                  <a:moveTo>
                    <a:pt x="9994" y="0"/>
                  </a:moveTo>
                  <a:lnTo>
                    <a:pt x="0" y="80391"/>
                  </a:lnTo>
                  <a:lnTo>
                    <a:pt x="419811" y="132613"/>
                  </a:lnTo>
                  <a:lnTo>
                    <a:pt x="414807" y="172808"/>
                  </a:lnTo>
                  <a:lnTo>
                    <a:pt x="505193" y="102412"/>
                  </a:lnTo>
                  <a:lnTo>
                    <a:pt x="434809" y="12026"/>
                  </a:lnTo>
                  <a:lnTo>
                    <a:pt x="429806" y="52222"/>
                  </a:lnTo>
                  <a:lnTo>
                    <a:pt x="999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54525" y="1984358"/>
              <a:ext cx="505459" cy="173355"/>
            </a:xfrm>
            <a:custGeom>
              <a:avLst/>
              <a:gdLst/>
              <a:ahLst/>
              <a:cxnLst/>
              <a:rect l="l" t="t" r="r" b="b"/>
              <a:pathLst>
                <a:path w="505460" h="173355">
                  <a:moveTo>
                    <a:pt x="9994" y="0"/>
                  </a:moveTo>
                  <a:lnTo>
                    <a:pt x="429806" y="52222"/>
                  </a:lnTo>
                  <a:lnTo>
                    <a:pt x="434809" y="12026"/>
                  </a:lnTo>
                  <a:lnTo>
                    <a:pt x="505193" y="102412"/>
                  </a:lnTo>
                  <a:lnTo>
                    <a:pt x="414807" y="172808"/>
                  </a:lnTo>
                  <a:lnTo>
                    <a:pt x="419811" y="132613"/>
                  </a:lnTo>
                  <a:lnTo>
                    <a:pt x="0" y="80391"/>
                  </a:lnTo>
                  <a:lnTo>
                    <a:pt x="9994" y="0"/>
                  </a:lnTo>
                  <a:close/>
                </a:path>
              </a:pathLst>
            </a:custGeom>
            <a:ln w="25400">
              <a:solidFill>
                <a:srgbClr val="22226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1901" y="1443990"/>
              <a:ext cx="640841" cy="32613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350277" y="1498372"/>
              <a:ext cx="506095" cy="161925"/>
            </a:xfrm>
            <a:custGeom>
              <a:avLst/>
              <a:gdLst/>
              <a:ahLst/>
              <a:cxnLst/>
              <a:rect l="l" t="t" r="r" b="b"/>
              <a:pathLst>
                <a:path w="506095" h="161925">
                  <a:moveTo>
                    <a:pt x="419811" y="0"/>
                  </a:moveTo>
                  <a:lnTo>
                    <a:pt x="422275" y="40436"/>
                  </a:lnTo>
                  <a:lnTo>
                    <a:pt x="0" y="66065"/>
                  </a:lnTo>
                  <a:lnTo>
                    <a:pt x="4914" y="146926"/>
                  </a:lnTo>
                  <a:lnTo>
                    <a:pt x="427177" y="121284"/>
                  </a:lnTo>
                  <a:lnTo>
                    <a:pt x="429628" y="161721"/>
                  </a:lnTo>
                  <a:lnTo>
                    <a:pt x="505587" y="75945"/>
                  </a:lnTo>
                  <a:lnTo>
                    <a:pt x="419811" y="0"/>
                  </a:lnTo>
                  <a:close/>
                </a:path>
              </a:pathLst>
            </a:custGeom>
            <a:solidFill>
              <a:srgbClr val="FF000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350277" y="1498372"/>
              <a:ext cx="506095" cy="161925"/>
            </a:xfrm>
            <a:custGeom>
              <a:avLst/>
              <a:gdLst/>
              <a:ahLst/>
              <a:cxnLst/>
              <a:rect l="l" t="t" r="r" b="b"/>
              <a:pathLst>
                <a:path w="506095" h="161925">
                  <a:moveTo>
                    <a:pt x="0" y="66065"/>
                  </a:moveTo>
                  <a:lnTo>
                    <a:pt x="422275" y="40436"/>
                  </a:lnTo>
                  <a:lnTo>
                    <a:pt x="419811" y="0"/>
                  </a:lnTo>
                  <a:lnTo>
                    <a:pt x="505587" y="75945"/>
                  </a:lnTo>
                  <a:lnTo>
                    <a:pt x="429628" y="161721"/>
                  </a:lnTo>
                  <a:lnTo>
                    <a:pt x="427177" y="121284"/>
                  </a:lnTo>
                  <a:lnTo>
                    <a:pt x="4914" y="146926"/>
                  </a:lnTo>
                  <a:lnTo>
                    <a:pt x="0" y="6606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81599" y="1042416"/>
              <a:ext cx="630173" cy="38709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222180" y="1093184"/>
              <a:ext cx="494030" cy="241935"/>
            </a:xfrm>
            <a:custGeom>
              <a:avLst/>
              <a:gdLst/>
              <a:ahLst/>
              <a:cxnLst/>
              <a:rect l="l" t="t" r="r" b="b"/>
              <a:pathLst>
                <a:path w="494029" h="241934">
                  <a:moveTo>
                    <a:pt x="392036" y="0"/>
                  </a:moveTo>
                  <a:lnTo>
                    <a:pt x="404037" y="38684"/>
                  </a:lnTo>
                  <a:lnTo>
                    <a:pt x="0" y="164071"/>
                  </a:lnTo>
                  <a:lnTo>
                    <a:pt x="24015" y="241439"/>
                  </a:lnTo>
                  <a:lnTo>
                    <a:pt x="428053" y="116052"/>
                  </a:lnTo>
                  <a:lnTo>
                    <a:pt x="440055" y="154736"/>
                  </a:lnTo>
                  <a:lnTo>
                    <a:pt x="493407" y="53352"/>
                  </a:lnTo>
                  <a:lnTo>
                    <a:pt x="392036" y="0"/>
                  </a:lnTo>
                  <a:close/>
                </a:path>
              </a:pathLst>
            </a:custGeom>
            <a:solidFill>
              <a:srgbClr val="C0C0C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22180" y="1093184"/>
              <a:ext cx="494030" cy="241935"/>
            </a:xfrm>
            <a:custGeom>
              <a:avLst/>
              <a:gdLst/>
              <a:ahLst/>
              <a:cxnLst/>
              <a:rect l="l" t="t" r="r" b="b"/>
              <a:pathLst>
                <a:path w="494029" h="241934">
                  <a:moveTo>
                    <a:pt x="0" y="164071"/>
                  </a:moveTo>
                  <a:lnTo>
                    <a:pt x="404037" y="38684"/>
                  </a:lnTo>
                  <a:lnTo>
                    <a:pt x="392036" y="0"/>
                  </a:lnTo>
                  <a:lnTo>
                    <a:pt x="493407" y="53352"/>
                  </a:lnTo>
                  <a:lnTo>
                    <a:pt x="440055" y="154736"/>
                  </a:lnTo>
                  <a:lnTo>
                    <a:pt x="428053" y="116052"/>
                  </a:lnTo>
                  <a:lnTo>
                    <a:pt x="24015" y="241439"/>
                  </a:lnTo>
                  <a:lnTo>
                    <a:pt x="0" y="164071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2535" y="2454402"/>
              <a:ext cx="1065275" cy="45338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3589" y="2423922"/>
              <a:ext cx="1025650" cy="44576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850242" y="2491994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5">
                  <a:moveTo>
                    <a:pt x="882091" y="0"/>
                  </a:moveTo>
                  <a:lnTo>
                    <a:pt x="54013" y="0"/>
                  </a:lnTo>
                  <a:lnTo>
                    <a:pt x="32988" y="4244"/>
                  </a:lnTo>
                  <a:lnTo>
                    <a:pt x="15819" y="15819"/>
                  </a:lnTo>
                  <a:lnTo>
                    <a:pt x="4244" y="32988"/>
                  </a:lnTo>
                  <a:lnTo>
                    <a:pt x="0" y="54013"/>
                  </a:lnTo>
                  <a:lnTo>
                    <a:pt x="0" y="270040"/>
                  </a:lnTo>
                  <a:lnTo>
                    <a:pt x="4244" y="291057"/>
                  </a:lnTo>
                  <a:lnTo>
                    <a:pt x="15819" y="308222"/>
                  </a:lnTo>
                  <a:lnTo>
                    <a:pt x="32988" y="319796"/>
                  </a:lnTo>
                  <a:lnTo>
                    <a:pt x="54013" y="324040"/>
                  </a:lnTo>
                  <a:lnTo>
                    <a:pt x="882091" y="324040"/>
                  </a:lnTo>
                  <a:lnTo>
                    <a:pt x="903116" y="319796"/>
                  </a:lnTo>
                  <a:lnTo>
                    <a:pt x="920284" y="308222"/>
                  </a:lnTo>
                  <a:lnTo>
                    <a:pt x="931859" y="291057"/>
                  </a:lnTo>
                  <a:lnTo>
                    <a:pt x="936104" y="270040"/>
                  </a:lnTo>
                  <a:lnTo>
                    <a:pt x="936104" y="54013"/>
                  </a:lnTo>
                  <a:lnTo>
                    <a:pt x="931859" y="32988"/>
                  </a:lnTo>
                  <a:lnTo>
                    <a:pt x="920284" y="15819"/>
                  </a:lnTo>
                  <a:lnTo>
                    <a:pt x="903116" y="4244"/>
                  </a:lnTo>
                  <a:lnTo>
                    <a:pt x="882091" y="0"/>
                  </a:lnTo>
                  <a:close/>
                </a:path>
              </a:pathLst>
            </a:custGeom>
            <a:solidFill>
              <a:srgbClr val="E4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50242" y="2491994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5">
                  <a:moveTo>
                    <a:pt x="0" y="54013"/>
                  </a:moveTo>
                  <a:lnTo>
                    <a:pt x="4244" y="32988"/>
                  </a:lnTo>
                  <a:lnTo>
                    <a:pt x="15819" y="15819"/>
                  </a:lnTo>
                  <a:lnTo>
                    <a:pt x="32988" y="4244"/>
                  </a:lnTo>
                  <a:lnTo>
                    <a:pt x="54013" y="0"/>
                  </a:lnTo>
                  <a:lnTo>
                    <a:pt x="882091" y="0"/>
                  </a:lnTo>
                  <a:lnTo>
                    <a:pt x="903116" y="4244"/>
                  </a:lnTo>
                  <a:lnTo>
                    <a:pt x="920284" y="15819"/>
                  </a:lnTo>
                  <a:lnTo>
                    <a:pt x="931859" y="32988"/>
                  </a:lnTo>
                  <a:lnTo>
                    <a:pt x="936104" y="54013"/>
                  </a:lnTo>
                  <a:lnTo>
                    <a:pt x="936104" y="270040"/>
                  </a:lnTo>
                  <a:lnTo>
                    <a:pt x="931859" y="291057"/>
                  </a:lnTo>
                  <a:lnTo>
                    <a:pt x="920284" y="308222"/>
                  </a:lnTo>
                  <a:lnTo>
                    <a:pt x="903116" y="319796"/>
                  </a:lnTo>
                  <a:lnTo>
                    <a:pt x="882091" y="324040"/>
                  </a:lnTo>
                  <a:lnTo>
                    <a:pt x="54013" y="324040"/>
                  </a:lnTo>
                  <a:lnTo>
                    <a:pt x="32988" y="319796"/>
                  </a:lnTo>
                  <a:lnTo>
                    <a:pt x="15819" y="308222"/>
                  </a:lnTo>
                  <a:lnTo>
                    <a:pt x="4244" y="291057"/>
                  </a:lnTo>
                  <a:lnTo>
                    <a:pt x="0" y="270040"/>
                  </a:lnTo>
                  <a:lnTo>
                    <a:pt x="0" y="54013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56553" y="1914156"/>
              <a:ext cx="1065274" cy="45337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7608" y="1884426"/>
              <a:ext cx="1025650" cy="44576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994258" y="1951934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5">
                  <a:moveTo>
                    <a:pt x="882091" y="0"/>
                  </a:moveTo>
                  <a:lnTo>
                    <a:pt x="54013" y="0"/>
                  </a:lnTo>
                  <a:lnTo>
                    <a:pt x="32988" y="4244"/>
                  </a:lnTo>
                  <a:lnTo>
                    <a:pt x="15819" y="15819"/>
                  </a:lnTo>
                  <a:lnTo>
                    <a:pt x="4244" y="32988"/>
                  </a:lnTo>
                  <a:lnTo>
                    <a:pt x="0" y="54013"/>
                  </a:lnTo>
                  <a:lnTo>
                    <a:pt x="0" y="270040"/>
                  </a:lnTo>
                  <a:lnTo>
                    <a:pt x="4244" y="291057"/>
                  </a:lnTo>
                  <a:lnTo>
                    <a:pt x="15819" y="308222"/>
                  </a:lnTo>
                  <a:lnTo>
                    <a:pt x="32988" y="319796"/>
                  </a:lnTo>
                  <a:lnTo>
                    <a:pt x="54013" y="324040"/>
                  </a:lnTo>
                  <a:lnTo>
                    <a:pt x="882091" y="324040"/>
                  </a:lnTo>
                  <a:lnTo>
                    <a:pt x="903116" y="319796"/>
                  </a:lnTo>
                  <a:lnTo>
                    <a:pt x="920284" y="308222"/>
                  </a:lnTo>
                  <a:lnTo>
                    <a:pt x="931859" y="291057"/>
                  </a:lnTo>
                  <a:lnTo>
                    <a:pt x="936104" y="270040"/>
                  </a:lnTo>
                  <a:lnTo>
                    <a:pt x="936104" y="54013"/>
                  </a:lnTo>
                  <a:lnTo>
                    <a:pt x="931859" y="32988"/>
                  </a:lnTo>
                  <a:lnTo>
                    <a:pt x="920284" y="15819"/>
                  </a:lnTo>
                  <a:lnTo>
                    <a:pt x="903116" y="4244"/>
                  </a:lnTo>
                  <a:lnTo>
                    <a:pt x="8820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994258" y="1951934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5">
                  <a:moveTo>
                    <a:pt x="0" y="54013"/>
                  </a:moveTo>
                  <a:lnTo>
                    <a:pt x="4244" y="32988"/>
                  </a:lnTo>
                  <a:lnTo>
                    <a:pt x="15819" y="15819"/>
                  </a:lnTo>
                  <a:lnTo>
                    <a:pt x="32988" y="4244"/>
                  </a:lnTo>
                  <a:lnTo>
                    <a:pt x="54013" y="0"/>
                  </a:lnTo>
                  <a:lnTo>
                    <a:pt x="882091" y="0"/>
                  </a:lnTo>
                  <a:lnTo>
                    <a:pt x="903116" y="4244"/>
                  </a:lnTo>
                  <a:lnTo>
                    <a:pt x="920284" y="15819"/>
                  </a:lnTo>
                  <a:lnTo>
                    <a:pt x="931859" y="32988"/>
                  </a:lnTo>
                  <a:lnTo>
                    <a:pt x="936104" y="54013"/>
                  </a:lnTo>
                  <a:lnTo>
                    <a:pt x="936104" y="270040"/>
                  </a:lnTo>
                  <a:lnTo>
                    <a:pt x="931859" y="291057"/>
                  </a:lnTo>
                  <a:lnTo>
                    <a:pt x="920284" y="308222"/>
                  </a:lnTo>
                  <a:lnTo>
                    <a:pt x="903116" y="319796"/>
                  </a:lnTo>
                  <a:lnTo>
                    <a:pt x="882091" y="324040"/>
                  </a:lnTo>
                  <a:lnTo>
                    <a:pt x="54013" y="324040"/>
                  </a:lnTo>
                  <a:lnTo>
                    <a:pt x="32988" y="319796"/>
                  </a:lnTo>
                  <a:lnTo>
                    <a:pt x="15819" y="308222"/>
                  </a:lnTo>
                  <a:lnTo>
                    <a:pt x="4244" y="291057"/>
                  </a:lnTo>
                  <a:lnTo>
                    <a:pt x="0" y="270040"/>
                  </a:lnTo>
                  <a:lnTo>
                    <a:pt x="0" y="54013"/>
                  </a:lnTo>
                  <a:close/>
                </a:path>
              </a:pathLst>
            </a:custGeom>
            <a:ln w="25400">
              <a:solidFill>
                <a:srgbClr val="22226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8943" y="1374647"/>
              <a:ext cx="1064513" cy="45262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79997" y="1344167"/>
              <a:ext cx="1025651" cy="44576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066266" y="1411874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5">
                  <a:moveTo>
                    <a:pt x="882091" y="0"/>
                  </a:moveTo>
                  <a:lnTo>
                    <a:pt x="54013" y="0"/>
                  </a:lnTo>
                  <a:lnTo>
                    <a:pt x="32988" y="4244"/>
                  </a:lnTo>
                  <a:lnTo>
                    <a:pt x="15819" y="15819"/>
                  </a:lnTo>
                  <a:lnTo>
                    <a:pt x="4244" y="32988"/>
                  </a:lnTo>
                  <a:lnTo>
                    <a:pt x="0" y="54013"/>
                  </a:lnTo>
                  <a:lnTo>
                    <a:pt x="0" y="270040"/>
                  </a:lnTo>
                  <a:lnTo>
                    <a:pt x="4244" y="291057"/>
                  </a:lnTo>
                  <a:lnTo>
                    <a:pt x="15819" y="308222"/>
                  </a:lnTo>
                  <a:lnTo>
                    <a:pt x="32988" y="319796"/>
                  </a:lnTo>
                  <a:lnTo>
                    <a:pt x="54013" y="324040"/>
                  </a:lnTo>
                  <a:lnTo>
                    <a:pt x="882091" y="324040"/>
                  </a:lnTo>
                  <a:lnTo>
                    <a:pt x="903116" y="319796"/>
                  </a:lnTo>
                  <a:lnTo>
                    <a:pt x="920284" y="308222"/>
                  </a:lnTo>
                  <a:lnTo>
                    <a:pt x="931859" y="291057"/>
                  </a:lnTo>
                  <a:lnTo>
                    <a:pt x="936104" y="270040"/>
                  </a:lnTo>
                  <a:lnTo>
                    <a:pt x="936104" y="54013"/>
                  </a:lnTo>
                  <a:lnTo>
                    <a:pt x="931859" y="32988"/>
                  </a:lnTo>
                  <a:lnTo>
                    <a:pt x="920284" y="15819"/>
                  </a:lnTo>
                  <a:lnTo>
                    <a:pt x="903116" y="4244"/>
                  </a:lnTo>
                  <a:lnTo>
                    <a:pt x="882091" y="0"/>
                  </a:lnTo>
                  <a:close/>
                </a:path>
              </a:pathLst>
            </a:custGeom>
            <a:solidFill>
              <a:srgbClr val="FF000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066266" y="1411874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5">
                  <a:moveTo>
                    <a:pt x="0" y="54013"/>
                  </a:moveTo>
                  <a:lnTo>
                    <a:pt x="4244" y="32988"/>
                  </a:lnTo>
                  <a:lnTo>
                    <a:pt x="15819" y="15819"/>
                  </a:lnTo>
                  <a:lnTo>
                    <a:pt x="32988" y="4244"/>
                  </a:lnTo>
                  <a:lnTo>
                    <a:pt x="54013" y="0"/>
                  </a:lnTo>
                  <a:lnTo>
                    <a:pt x="882091" y="0"/>
                  </a:lnTo>
                  <a:lnTo>
                    <a:pt x="903116" y="4244"/>
                  </a:lnTo>
                  <a:lnTo>
                    <a:pt x="920284" y="15819"/>
                  </a:lnTo>
                  <a:lnTo>
                    <a:pt x="931859" y="32988"/>
                  </a:lnTo>
                  <a:lnTo>
                    <a:pt x="936104" y="54013"/>
                  </a:lnTo>
                  <a:lnTo>
                    <a:pt x="936104" y="270040"/>
                  </a:lnTo>
                  <a:lnTo>
                    <a:pt x="931859" y="291057"/>
                  </a:lnTo>
                  <a:lnTo>
                    <a:pt x="920284" y="308222"/>
                  </a:lnTo>
                  <a:lnTo>
                    <a:pt x="903116" y="319796"/>
                  </a:lnTo>
                  <a:lnTo>
                    <a:pt x="882091" y="324040"/>
                  </a:lnTo>
                  <a:lnTo>
                    <a:pt x="54013" y="324040"/>
                  </a:lnTo>
                  <a:lnTo>
                    <a:pt x="32988" y="319796"/>
                  </a:lnTo>
                  <a:lnTo>
                    <a:pt x="15819" y="308222"/>
                  </a:lnTo>
                  <a:lnTo>
                    <a:pt x="4244" y="291057"/>
                  </a:lnTo>
                  <a:lnTo>
                    <a:pt x="0" y="270040"/>
                  </a:lnTo>
                  <a:lnTo>
                    <a:pt x="0" y="54013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013050" y="1417942"/>
            <a:ext cx="826135" cy="137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CSI-</a:t>
            </a: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 MT"/>
              <a:cs typeface="Arial MT"/>
            </a:endParaRPr>
          </a:p>
          <a:p>
            <a:pPr marL="156210">
              <a:lnSpc>
                <a:spcPct val="100000"/>
              </a:lnSpc>
            </a:pPr>
            <a:r>
              <a:rPr dirty="0" sz="1800" spc="-10">
                <a:latin typeface="Arial MT"/>
                <a:cs typeface="Arial MT"/>
              </a:rPr>
              <a:t>CSI-</a:t>
            </a:r>
            <a:r>
              <a:rPr dirty="0" sz="1800" spc="-5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CSI-</a:t>
            </a:r>
            <a:r>
              <a:rPr dirty="0" sz="1800" spc="-5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884925" y="858011"/>
            <a:ext cx="1076960" cy="483234"/>
            <a:chOff x="5884925" y="858011"/>
            <a:chExt cx="1076960" cy="483234"/>
          </a:xfrm>
        </p:grpSpPr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84925" y="888491"/>
              <a:ext cx="1064513" cy="45262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35979" y="858011"/>
              <a:ext cx="1025651" cy="44576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922251" y="925819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4">
                  <a:moveTo>
                    <a:pt x="882091" y="0"/>
                  </a:moveTo>
                  <a:lnTo>
                    <a:pt x="54013" y="0"/>
                  </a:lnTo>
                  <a:lnTo>
                    <a:pt x="32988" y="4244"/>
                  </a:lnTo>
                  <a:lnTo>
                    <a:pt x="15819" y="15819"/>
                  </a:lnTo>
                  <a:lnTo>
                    <a:pt x="4244" y="32988"/>
                  </a:lnTo>
                  <a:lnTo>
                    <a:pt x="0" y="54013"/>
                  </a:lnTo>
                  <a:lnTo>
                    <a:pt x="0" y="270040"/>
                  </a:lnTo>
                  <a:lnTo>
                    <a:pt x="4244" y="291057"/>
                  </a:lnTo>
                  <a:lnTo>
                    <a:pt x="15819" y="308222"/>
                  </a:lnTo>
                  <a:lnTo>
                    <a:pt x="32988" y="319796"/>
                  </a:lnTo>
                  <a:lnTo>
                    <a:pt x="54013" y="324040"/>
                  </a:lnTo>
                  <a:lnTo>
                    <a:pt x="882091" y="324040"/>
                  </a:lnTo>
                  <a:lnTo>
                    <a:pt x="903116" y="319796"/>
                  </a:lnTo>
                  <a:lnTo>
                    <a:pt x="920284" y="308222"/>
                  </a:lnTo>
                  <a:lnTo>
                    <a:pt x="931859" y="291057"/>
                  </a:lnTo>
                  <a:lnTo>
                    <a:pt x="936104" y="270040"/>
                  </a:lnTo>
                  <a:lnTo>
                    <a:pt x="936104" y="54013"/>
                  </a:lnTo>
                  <a:lnTo>
                    <a:pt x="931859" y="32988"/>
                  </a:lnTo>
                  <a:lnTo>
                    <a:pt x="920284" y="15819"/>
                  </a:lnTo>
                  <a:lnTo>
                    <a:pt x="903116" y="4244"/>
                  </a:lnTo>
                  <a:lnTo>
                    <a:pt x="882091" y="0"/>
                  </a:lnTo>
                  <a:close/>
                </a:path>
              </a:pathLst>
            </a:custGeom>
            <a:solidFill>
              <a:srgbClr val="C0C0C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2251" y="925819"/>
              <a:ext cx="936625" cy="324485"/>
            </a:xfrm>
            <a:custGeom>
              <a:avLst/>
              <a:gdLst/>
              <a:ahLst/>
              <a:cxnLst/>
              <a:rect l="l" t="t" r="r" b="b"/>
              <a:pathLst>
                <a:path w="936625" h="324484">
                  <a:moveTo>
                    <a:pt x="0" y="54013"/>
                  </a:moveTo>
                  <a:lnTo>
                    <a:pt x="4244" y="32988"/>
                  </a:lnTo>
                  <a:lnTo>
                    <a:pt x="15819" y="15819"/>
                  </a:lnTo>
                  <a:lnTo>
                    <a:pt x="32988" y="4244"/>
                  </a:lnTo>
                  <a:lnTo>
                    <a:pt x="54013" y="0"/>
                  </a:lnTo>
                  <a:lnTo>
                    <a:pt x="882091" y="0"/>
                  </a:lnTo>
                  <a:lnTo>
                    <a:pt x="903116" y="4244"/>
                  </a:lnTo>
                  <a:lnTo>
                    <a:pt x="920284" y="15819"/>
                  </a:lnTo>
                  <a:lnTo>
                    <a:pt x="931859" y="32988"/>
                  </a:lnTo>
                  <a:lnTo>
                    <a:pt x="936104" y="54013"/>
                  </a:lnTo>
                  <a:lnTo>
                    <a:pt x="936104" y="270040"/>
                  </a:lnTo>
                  <a:lnTo>
                    <a:pt x="931859" y="291057"/>
                  </a:lnTo>
                  <a:lnTo>
                    <a:pt x="920284" y="308222"/>
                  </a:lnTo>
                  <a:lnTo>
                    <a:pt x="903116" y="319796"/>
                  </a:lnTo>
                  <a:lnTo>
                    <a:pt x="882091" y="324040"/>
                  </a:lnTo>
                  <a:lnTo>
                    <a:pt x="54013" y="324040"/>
                  </a:lnTo>
                  <a:lnTo>
                    <a:pt x="32988" y="319796"/>
                  </a:lnTo>
                  <a:lnTo>
                    <a:pt x="15819" y="308222"/>
                  </a:lnTo>
                  <a:lnTo>
                    <a:pt x="4244" y="291057"/>
                  </a:lnTo>
                  <a:lnTo>
                    <a:pt x="0" y="270040"/>
                  </a:lnTo>
                  <a:lnTo>
                    <a:pt x="0" y="54013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6085057" y="931888"/>
            <a:ext cx="61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CSI-</a:t>
            </a: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068067" y="806195"/>
            <a:ext cx="5962015" cy="4337685"/>
            <a:chOff x="2068067" y="806195"/>
            <a:chExt cx="5962015" cy="4337685"/>
          </a:xfrm>
        </p:grpSpPr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90409" y="1761667"/>
              <a:ext cx="333369" cy="4286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7879" y="3651761"/>
              <a:ext cx="946378" cy="133376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2758605" y="3524313"/>
              <a:ext cx="473709" cy="418465"/>
            </a:xfrm>
            <a:custGeom>
              <a:avLst/>
              <a:gdLst/>
              <a:ahLst/>
              <a:cxnLst/>
              <a:rect l="l" t="t" r="r" b="b"/>
              <a:pathLst>
                <a:path w="473710" h="418464">
                  <a:moveTo>
                    <a:pt x="473697" y="0"/>
                  </a:moveTo>
                  <a:lnTo>
                    <a:pt x="0" y="0"/>
                  </a:lnTo>
                  <a:lnTo>
                    <a:pt x="0" y="418045"/>
                  </a:lnTo>
                  <a:lnTo>
                    <a:pt x="473697" y="418045"/>
                  </a:lnTo>
                  <a:lnTo>
                    <a:pt x="473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758605" y="3485530"/>
              <a:ext cx="473709" cy="39370"/>
            </a:xfrm>
            <a:custGeom>
              <a:avLst/>
              <a:gdLst/>
              <a:ahLst/>
              <a:cxnLst/>
              <a:rect l="l" t="t" r="r" b="b"/>
              <a:pathLst>
                <a:path w="473710" h="39370">
                  <a:moveTo>
                    <a:pt x="0" y="38785"/>
                  </a:moveTo>
                  <a:lnTo>
                    <a:pt x="473697" y="38785"/>
                  </a:lnTo>
                  <a:lnTo>
                    <a:pt x="473697" y="0"/>
                  </a:lnTo>
                  <a:lnTo>
                    <a:pt x="0" y="0"/>
                  </a:lnTo>
                  <a:lnTo>
                    <a:pt x="0" y="38785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719819" y="3485519"/>
              <a:ext cx="39370" cy="457200"/>
            </a:xfrm>
            <a:custGeom>
              <a:avLst/>
              <a:gdLst/>
              <a:ahLst/>
              <a:cxnLst/>
              <a:rect l="l" t="t" r="r" b="b"/>
              <a:pathLst>
                <a:path w="39369" h="457200">
                  <a:moveTo>
                    <a:pt x="0" y="0"/>
                  </a:moveTo>
                  <a:lnTo>
                    <a:pt x="0" y="418058"/>
                  </a:lnTo>
                  <a:lnTo>
                    <a:pt x="38785" y="456844"/>
                  </a:lnTo>
                  <a:lnTo>
                    <a:pt x="38785" y="38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719819" y="3485519"/>
              <a:ext cx="513080" cy="457200"/>
            </a:xfrm>
            <a:custGeom>
              <a:avLst/>
              <a:gdLst/>
              <a:ahLst/>
              <a:cxnLst/>
              <a:rect l="l" t="t" r="r" b="b"/>
              <a:pathLst>
                <a:path w="513080" h="457200">
                  <a:moveTo>
                    <a:pt x="38785" y="456844"/>
                  </a:moveTo>
                  <a:lnTo>
                    <a:pt x="0" y="418058"/>
                  </a:lnTo>
                  <a:lnTo>
                    <a:pt x="0" y="0"/>
                  </a:lnTo>
                  <a:lnTo>
                    <a:pt x="473697" y="0"/>
                  </a:lnTo>
                  <a:lnTo>
                    <a:pt x="512483" y="38798"/>
                  </a:lnTo>
                  <a:lnTo>
                    <a:pt x="512483" y="456844"/>
                  </a:lnTo>
                  <a:lnTo>
                    <a:pt x="38785" y="456844"/>
                  </a:lnTo>
                  <a:close/>
                </a:path>
                <a:path w="513080" h="457200">
                  <a:moveTo>
                    <a:pt x="38785" y="456844"/>
                  </a:moveTo>
                  <a:lnTo>
                    <a:pt x="38785" y="38798"/>
                  </a:lnTo>
                  <a:lnTo>
                    <a:pt x="0" y="0"/>
                  </a:lnTo>
                </a:path>
                <a:path w="513080" h="457200">
                  <a:moveTo>
                    <a:pt x="38785" y="38798"/>
                  </a:moveTo>
                  <a:lnTo>
                    <a:pt x="512483" y="38798"/>
                  </a:lnTo>
                </a:path>
              </a:pathLst>
            </a:custGeom>
            <a:ln w="9525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783855" y="3574356"/>
              <a:ext cx="464820" cy="2540"/>
            </a:xfrm>
            <a:custGeom>
              <a:avLst/>
              <a:gdLst/>
              <a:ahLst/>
              <a:cxnLst/>
              <a:rect l="l" t="t" r="r" b="b"/>
              <a:pathLst>
                <a:path w="464819" h="2539">
                  <a:moveTo>
                    <a:pt x="0" y="0"/>
                  </a:moveTo>
                  <a:lnTo>
                    <a:pt x="464464" y="2273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783855" y="3650495"/>
              <a:ext cx="464820" cy="2540"/>
            </a:xfrm>
            <a:custGeom>
              <a:avLst/>
              <a:gdLst/>
              <a:ahLst/>
              <a:cxnLst/>
              <a:rect l="l" t="t" r="r" b="b"/>
              <a:pathLst>
                <a:path w="464819" h="2539">
                  <a:moveTo>
                    <a:pt x="0" y="0"/>
                  </a:moveTo>
                  <a:lnTo>
                    <a:pt x="464464" y="2273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783855" y="3802773"/>
              <a:ext cx="464820" cy="2540"/>
            </a:xfrm>
            <a:custGeom>
              <a:avLst/>
              <a:gdLst/>
              <a:ahLst/>
              <a:cxnLst/>
              <a:rect l="l" t="t" r="r" b="b"/>
              <a:pathLst>
                <a:path w="464819" h="2539">
                  <a:moveTo>
                    <a:pt x="0" y="0"/>
                  </a:moveTo>
                  <a:lnTo>
                    <a:pt x="464464" y="2273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783855" y="3726634"/>
              <a:ext cx="464820" cy="2540"/>
            </a:xfrm>
            <a:custGeom>
              <a:avLst/>
              <a:gdLst/>
              <a:ahLst/>
              <a:cxnLst/>
              <a:rect l="l" t="t" r="r" b="b"/>
              <a:pathLst>
                <a:path w="464819" h="2539">
                  <a:moveTo>
                    <a:pt x="0" y="0"/>
                  </a:moveTo>
                  <a:lnTo>
                    <a:pt x="464464" y="2273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783855" y="3878912"/>
              <a:ext cx="464820" cy="2540"/>
            </a:xfrm>
            <a:custGeom>
              <a:avLst/>
              <a:gdLst/>
              <a:ahLst/>
              <a:cxnLst/>
              <a:rect l="l" t="t" r="r" b="b"/>
              <a:pathLst>
                <a:path w="464819" h="2539">
                  <a:moveTo>
                    <a:pt x="0" y="0"/>
                  </a:moveTo>
                  <a:lnTo>
                    <a:pt x="464464" y="2273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332598" y="3767159"/>
              <a:ext cx="2038985" cy="487045"/>
            </a:xfrm>
            <a:custGeom>
              <a:avLst/>
              <a:gdLst/>
              <a:ahLst/>
              <a:cxnLst/>
              <a:rect l="l" t="t" r="r" b="b"/>
              <a:pathLst>
                <a:path w="2038985" h="487045">
                  <a:moveTo>
                    <a:pt x="37122" y="0"/>
                  </a:moveTo>
                  <a:lnTo>
                    <a:pt x="0" y="126301"/>
                  </a:lnTo>
                  <a:lnTo>
                    <a:pt x="360283" y="214021"/>
                  </a:lnTo>
                  <a:lnTo>
                    <a:pt x="559612" y="261423"/>
                  </a:lnTo>
                  <a:lnTo>
                    <a:pt x="703425" y="294637"/>
                  </a:lnTo>
                  <a:lnTo>
                    <a:pt x="795812" y="315349"/>
                  </a:lnTo>
                  <a:lnTo>
                    <a:pt x="884919" y="334719"/>
                  </a:lnTo>
                  <a:lnTo>
                    <a:pt x="970330" y="352577"/>
                  </a:lnTo>
                  <a:lnTo>
                    <a:pt x="1029413" y="364468"/>
                  </a:lnTo>
                  <a:lnTo>
                    <a:pt x="1087420" y="375796"/>
                  </a:lnTo>
                  <a:lnTo>
                    <a:pt x="1144267" y="386561"/>
                  </a:lnTo>
                  <a:lnTo>
                    <a:pt x="1199867" y="396764"/>
                  </a:lnTo>
                  <a:lnTo>
                    <a:pt x="1254133" y="406404"/>
                  </a:lnTo>
                  <a:lnTo>
                    <a:pt x="1306980" y="415484"/>
                  </a:lnTo>
                  <a:lnTo>
                    <a:pt x="1358322" y="424002"/>
                  </a:lnTo>
                  <a:lnTo>
                    <a:pt x="1408072" y="431959"/>
                  </a:lnTo>
                  <a:lnTo>
                    <a:pt x="1456144" y="439357"/>
                  </a:lnTo>
                  <a:lnTo>
                    <a:pt x="1502452" y="446194"/>
                  </a:lnTo>
                  <a:lnTo>
                    <a:pt x="1546910" y="452473"/>
                  </a:lnTo>
                  <a:lnTo>
                    <a:pt x="1589432" y="458192"/>
                  </a:lnTo>
                  <a:lnTo>
                    <a:pt x="1629931" y="463353"/>
                  </a:lnTo>
                  <a:lnTo>
                    <a:pt x="1668322" y="467956"/>
                  </a:lnTo>
                  <a:lnTo>
                    <a:pt x="1740119" y="475722"/>
                  </a:lnTo>
                  <a:lnTo>
                    <a:pt x="1805789" y="481558"/>
                  </a:lnTo>
                  <a:lnTo>
                    <a:pt x="1864619" y="485222"/>
                  </a:lnTo>
                  <a:lnTo>
                    <a:pt x="1915894" y="486471"/>
                  </a:lnTo>
                  <a:lnTo>
                    <a:pt x="1958899" y="485060"/>
                  </a:lnTo>
                  <a:lnTo>
                    <a:pt x="1992920" y="480748"/>
                  </a:lnTo>
                  <a:lnTo>
                    <a:pt x="2017242" y="473290"/>
                  </a:lnTo>
                  <a:lnTo>
                    <a:pt x="2036258" y="455836"/>
                  </a:lnTo>
                  <a:lnTo>
                    <a:pt x="2038720" y="430868"/>
                  </a:lnTo>
                  <a:lnTo>
                    <a:pt x="2023518" y="401213"/>
                  </a:lnTo>
                  <a:lnTo>
                    <a:pt x="1989538" y="369695"/>
                  </a:lnTo>
                  <a:lnTo>
                    <a:pt x="1935670" y="339140"/>
                  </a:lnTo>
                  <a:lnTo>
                    <a:pt x="1873657" y="312252"/>
                  </a:lnTo>
                  <a:lnTo>
                    <a:pt x="1800607" y="284574"/>
                  </a:lnTo>
                  <a:lnTo>
                    <a:pt x="1758203" y="270440"/>
                  </a:lnTo>
                  <a:lnTo>
                    <a:pt x="1710953" y="256112"/>
                  </a:lnTo>
                  <a:lnTo>
                    <a:pt x="1658162" y="241590"/>
                  </a:lnTo>
                  <a:lnTo>
                    <a:pt x="1599134" y="226876"/>
                  </a:lnTo>
                  <a:lnTo>
                    <a:pt x="1533173" y="211969"/>
                  </a:lnTo>
                  <a:lnTo>
                    <a:pt x="1459583" y="196871"/>
                  </a:lnTo>
                  <a:lnTo>
                    <a:pt x="1377670" y="181584"/>
                  </a:lnTo>
                  <a:lnTo>
                    <a:pt x="1304208" y="168954"/>
                  </a:lnTo>
                  <a:lnTo>
                    <a:pt x="1224784" y="156134"/>
                  </a:lnTo>
                  <a:lnTo>
                    <a:pt x="1139874" y="143140"/>
                  </a:lnTo>
                  <a:lnTo>
                    <a:pt x="1049956" y="129987"/>
                  </a:lnTo>
                  <a:lnTo>
                    <a:pt x="906730" y="109993"/>
                  </a:lnTo>
                  <a:lnTo>
                    <a:pt x="754918" y="89726"/>
                  </a:lnTo>
                  <a:lnTo>
                    <a:pt x="541928" y="62368"/>
                  </a:lnTo>
                  <a:lnTo>
                    <a:pt x="37122" y="0"/>
                  </a:lnTo>
                  <a:close/>
                </a:path>
              </a:pathLst>
            </a:custGeom>
            <a:solidFill>
              <a:srgbClr val="FFFF00">
                <a:alpha val="498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332598" y="3767159"/>
              <a:ext cx="2038985" cy="487045"/>
            </a:xfrm>
            <a:custGeom>
              <a:avLst/>
              <a:gdLst/>
              <a:ahLst/>
              <a:cxnLst/>
              <a:rect l="l" t="t" r="r" b="b"/>
              <a:pathLst>
                <a:path w="2038985" h="487045">
                  <a:moveTo>
                    <a:pt x="37122" y="0"/>
                  </a:moveTo>
                  <a:lnTo>
                    <a:pt x="94006" y="6955"/>
                  </a:lnTo>
                  <a:lnTo>
                    <a:pt x="150831" y="13908"/>
                  </a:lnTo>
                  <a:lnTo>
                    <a:pt x="207537" y="20857"/>
                  </a:lnTo>
                  <a:lnTo>
                    <a:pt x="264064" y="27801"/>
                  </a:lnTo>
                  <a:lnTo>
                    <a:pt x="320352" y="34737"/>
                  </a:lnTo>
                  <a:lnTo>
                    <a:pt x="376343" y="41664"/>
                  </a:lnTo>
                  <a:lnTo>
                    <a:pt x="431975" y="48579"/>
                  </a:lnTo>
                  <a:lnTo>
                    <a:pt x="487190" y="55481"/>
                  </a:lnTo>
                  <a:lnTo>
                    <a:pt x="541928" y="62368"/>
                  </a:lnTo>
                  <a:lnTo>
                    <a:pt x="596130" y="69238"/>
                  </a:lnTo>
                  <a:lnTo>
                    <a:pt x="649735" y="76089"/>
                  </a:lnTo>
                  <a:lnTo>
                    <a:pt x="702684" y="82919"/>
                  </a:lnTo>
                  <a:lnTo>
                    <a:pt x="754918" y="89726"/>
                  </a:lnTo>
                  <a:lnTo>
                    <a:pt x="806377" y="96509"/>
                  </a:lnTo>
                  <a:lnTo>
                    <a:pt x="857000" y="103265"/>
                  </a:lnTo>
                  <a:lnTo>
                    <a:pt x="906730" y="109993"/>
                  </a:lnTo>
                  <a:lnTo>
                    <a:pt x="955505" y="116691"/>
                  </a:lnTo>
                  <a:lnTo>
                    <a:pt x="1003267" y="123356"/>
                  </a:lnTo>
                  <a:lnTo>
                    <a:pt x="1049956" y="129987"/>
                  </a:lnTo>
                  <a:lnTo>
                    <a:pt x="1095511" y="136583"/>
                  </a:lnTo>
                  <a:lnTo>
                    <a:pt x="1139874" y="143140"/>
                  </a:lnTo>
                  <a:lnTo>
                    <a:pt x="1182985" y="149658"/>
                  </a:lnTo>
                  <a:lnTo>
                    <a:pt x="1224784" y="156134"/>
                  </a:lnTo>
                  <a:lnTo>
                    <a:pt x="1265212" y="162567"/>
                  </a:lnTo>
                  <a:lnTo>
                    <a:pt x="1304208" y="168954"/>
                  </a:lnTo>
                  <a:lnTo>
                    <a:pt x="1377670" y="181584"/>
                  </a:lnTo>
                  <a:lnTo>
                    <a:pt x="1459583" y="196871"/>
                  </a:lnTo>
                  <a:lnTo>
                    <a:pt x="1533173" y="211969"/>
                  </a:lnTo>
                  <a:lnTo>
                    <a:pt x="1599134" y="226876"/>
                  </a:lnTo>
                  <a:lnTo>
                    <a:pt x="1658162" y="241590"/>
                  </a:lnTo>
                  <a:lnTo>
                    <a:pt x="1710953" y="256112"/>
                  </a:lnTo>
                  <a:lnTo>
                    <a:pt x="1758203" y="270440"/>
                  </a:lnTo>
                  <a:lnTo>
                    <a:pt x="1800607" y="284574"/>
                  </a:lnTo>
                  <a:lnTo>
                    <a:pt x="1838859" y="298512"/>
                  </a:lnTo>
                  <a:lnTo>
                    <a:pt x="1905696" y="325796"/>
                  </a:lnTo>
                  <a:lnTo>
                    <a:pt x="1989538" y="369695"/>
                  </a:lnTo>
                  <a:lnTo>
                    <a:pt x="2023518" y="401213"/>
                  </a:lnTo>
                  <a:lnTo>
                    <a:pt x="2038720" y="430868"/>
                  </a:lnTo>
                  <a:lnTo>
                    <a:pt x="2036258" y="455836"/>
                  </a:lnTo>
                  <a:lnTo>
                    <a:pt x="2017242" y="473290"/>
                  </a:lnTo>
                  <a:lnTo>
                    <a:pt x="1992920" y="480748"/>
                  </a:lnTo>
                  <a:lnTo>
                    <a:pt x="1958899" y="485060"/>
                  </a:lnTo>
                  <a:lnTo>
                    <a:pt x="1915894" y="486471"/>
                  </a:lnTo>
                  <a:lnTo>
                    <a:pt x="1864619" y="485222"/>
                  </a:lnTo>
                  <a:lnTo>
                    <a:pt x="1805789" y="481558"/>
                  </a:lnTo>
                  <a:lnTo>
                    <a:pt x="1740119" y="475722"/>
                  </a:lnTo>
                  <a:lnTo>
                    <a:pt x="1668322" y="467956"/>
                  </a:lnTo>
                  <a:lnTo>
                    <a:pt x="1629931" y="463353"/>
                  </a:lnTo>
                  <a:lnTo>
                    <a:pt x="1589432" y="458192"/>
                  </a:lnTo>
                  <a:lnTo>
                    <a:pt x="1546910" y="452473"/>
                  </a:lnTo>
                  <a:lnTo>
                    <a:pt x="1502452" y="446194"/>
                  </a:lnTo>
                  <a:lnTo>
                    <a:pt x="1456144" y="439357"/>
                  </a:lnTo>
                  <a:lnTo>
                    <a:pt x="1408072" y="431959"/>
                  </a:lnTo>
                  <a:lnTo>
                    <a:pt x="1358322" y="424002"/>
                  </a:lnTo>
                  <a:lnTo>
                    <a:pt x="1306980" y="415484"/>
                  </a:lnTo>
                  <a:lnTo>
                    <a:pt x="1254133" y="406404"/>
                  </a:lnTo>
                  <a:lnTo>
                    <a:pt x="1199867" y="396764"/>
                  </a:lnTo>
                  <a:lnTo>
                    <a:pt x="1144267" y="386561"/>
                  </a:lnTo>
                  <a:lnTo>
                    <a:pt x="1087420" y="375796"/>
                  </a:lnTo>
                  <a:lnTo>
                    <a:pt x="1029413" y="364468"/>
                  </a:lnTo>
                  <a:lnTo>
                    <a:pt x="970330" y="352577"/>
                  </a:lnTo>
                  <a:lnTo>
                    <a:pt x="928113" y="343847"/>
                  </a:lnTo>
                  <a:lnTo>
                    <a:pt x="884919" y="334719"/>
                  </a:lnTo>
                  <a:lnTo>
                    <a:pt x="840801" y="325212"/>
                  </a:lnTo>
                  <a:lnTo>
                    <a:pt x="795812" y="315349"/>
                  </a:lnTo>
                  <a:lnTo>
                    <a:pt x="750002" y="305150"/>
                  </a:lnTo>
                  <a:lnTo>
                    <a:pt x="703425" y="294637"/>
                  </a:lnTo>
                  <a:lnTo>
                    <a:pt x="656133" y="283831"/>
                  </a:lnTo>
                  <a:lnTo>
                    <a:pt x="608178" y="272752"/>
                  </a:lnTo>
                  <a:lnTo>
                    <a:pt x="559612" y="261423"/>
                  </a:lnTo>
                  <a:lnTo>
                    <a:pt x="510487" y="249864"/>
                  </a:lnTo>
                  <a:lnTo>
                    <a:pt x="460856" y="238097"/>
                  </a:lnTo>
                  <a:lnTo>
                    <a:pt x="410771" y="226142"/>
                  </a:lnTo>
                  <a:lnTo>
                    <a:pt x="360283" y="214021"/>
                  </a:lnTo>
                  <a:lnTo>
                    <a:pt x="309446" y="201755"/>
                  </a:lnTo>
                  <a:lnTo>
                    <a:pt x="258311" y="189365"/>
                  </a:lnTo>
                  <a:lnTo>
                    <a:pt x="206931" y="176873"/>
                  </a:lnTo>
                  <a:lnTo>
                    <a:pt x="155357" y="164299"/>
                  </a:lnTo>
                  <a:lnTo>
                    <a:pt x="103643" y="151665"/>
                  </a:lnTo>
                  <a:lnTo>
                    <a:pt x="51839" y="138992"/>
                  </a:lnTo>
                  <a:lnTo>
                    <a:pt x="0" y="12630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58555" y="3754389"/>
              <a:ext cx="1742439" cy="666750"/>
            </a:xfrm>
            <a:custGeom>
              <a:avLst/>
              <a:gdLst/>
              <a:ahLst/>
              <a:cxnLst/>
              <a:rect l="l" t="t" r="r" b="b"/>
              <a:pathLst>
                <a:path w="1742439" h="666750">
                  <a:moveTo>
                    <a:pt x="47485" y="0"/>
                  </a:moveTo>
                  <a:lnTo>
                    <a:pt x="0" y="103136"/>
                  </a:lnTo>
                  <a:lnTo>
                    <a:pt x="154293" y="165196"/>
                  </a:lnTo>
                  <a:lnTo>
                    <a:pt x="406667" y="265784"/>
                  </a:lnTo>
                  <a:lnTo>
                    <a:pt x="552137" y="322645"/>
                  </a:lnTo>
                  <a:lnTo>
                    <a:pt x="645466" y="358420"/>
                  </a:lnTo>
                  <a:lnTo>
                    <a:pt x="735221" y="392110"/>
                  </a:lnTo>
                  <a:lnTo>
                    <a:pt x="820839" y="423392"/>
                  </a:lnTo>
                  <a:lnTo>
                    <a:pt x="879325" y="444201"/>
                  </a:lnTo>
                  <a:lnTo>
                    <a:pt x="936609" y="464161"/>
                  </a:lnTo>
                  <a:lnTo>
                    <a:pt x="992569" y="483255"/>
                  </a:lnTo>
                  <a:lnTo>
                    <a:pt x="1047087" y="501465"/>
                  </a:lnTo>
                  <a:lnTo>
                    <a:pt x="1100042" y="518774"/>
                  </a:lnTo>
                  <a:lnTo>
                    <a:pt x="1151315" y="535165"/>
                  </a:lnTo>
                  <a:lnTo>
                    <a:pt x="1200786" y="550620"/>
                  </a:lnTo>
                  <a:lnTo>
                    <a:pt x="1248336" y="565122"/>
                  </a:lnTo>
                  <a:lnTo>
                    <a:pt x="1293844" y="578654"/>
                  </a:lnTo>
                  <a:lnTo>
                    <a:pt x="1337192" y="591199"/>
                  </a:lnTo>
                  <a:lnTo>
                    <a:pt x="1378259" y="602739"/>
                  </a:lnTo>
                  <a:lnTo>
                    <a:pt x="1416926" y="613257"/>
                  </a:lnTo>
                  <a:lnTo>
                    <a:pt x="1488548" y="631717"/>
                  </a:lnTo>
                  <a:lnTo>
                    <a:pt x="1553062" y="646774"/>
                  </a:lnTo>
                  <a:lnTo>
                    <a:pt x="1609524" y="657950"/>
                  </a:lnTo>
                  <a:lnTo>
                    <a:pt x="1656989" y="664766"/>
                  </a:lnTo>
                  <a:lnTo>
                    <a:pt x="1694510" y="666746"/>
                  </a:lnTo>
                  <a:lnTo>
                    <a:pt x="1721142" y="663409"/>
                  </a:lnTo>
                  <a:lnTo>
                    <a:pt x="1742445" y="646427"/>
                  </a:lnTo>
                  <a:lnTo>
                    <a:pt x="1742035" y="616916"/>
                  </a:lnTo>
                  <a:lnTo>
                    <a:pt x="1717357" y="579311"/>
                  </a:lnTo>
                  <a:lnTo>
                    <a:pt x="1665858" y="538048"/>
                  </a:lnTo>
                  <a:lnTo>
                    <a:pt x="1609337" y="503741"/>
                  </a:lnTo>
                  <a:lnTo>
                    <a:pt x="1540673" y="466783"/>
                  </a:lnTo>
                  <a:lnTo>
                    <a:pt x="1499765" y="447011"/>
                  </a:lnTo>
                  <a:lnTo>
                    <a:pt x="1453394" y="426217"/>
                  </a:lnTo>
                  <a:lnTo>
                    <a:pt x="1400751" y="404281"/>
                  </a:lnTo>
                  <a:lnTo>
                    <a:pt x="1341028" y="381084"/>
                  </a:lnTo>
                  <a:lnTo>
                    <a:pt x="1273414" y="356506"/>
                  </a:lnTo>
                  <a:lnTo>
                    <a:pt x="1197101" y="330428"/>
                  </a:lnTo>
                  <a:lnTo>
                    <a:pt x="1088293" y="295456"/>
                  </a:lnTo>
                  <a:lnTo>
                    <a:pt x="1007878" y="270712"/>
                  </a:lnTo>
                  <a:lnTo>
                    <a:pt x="921849" y="244950"/>
                  </a:lnTo>
                  <a:lnTo>
                    <a:pt x="830799" y="218276"/>
                  </a:lnTo>
                  <a:lnTo>
                    <a:pt x="686101" y="176791"/>
                  </a:lnTo>
                  <a:lnTo>
                    <a:pt x="481107" y="119290"/>
                  </a:lnTo>
                  <a:lnTo>
                    <a:pt x="47485" y="0"/>
                  </a:lnTo>
                  <a:close/>
                </a:path>
              </a:pathLst>
            </a:custGeom>
            <a:solidFill>
              <a:srgbClr val="FFFF00">
                <a:alpha val="498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258555" y="3754389"/>
              <a:ext cx="1742439" cy="666750"/>
            </a:xfrm>
            <a:custGeom>
              <a:avLst/>
              <a:gdLst/>
              <a:ahLst/>
              <a:cxnLst/>
              <a:rect l="l" t="t" r="r" b="b"/>
              <a:pathLst>
                <a:path w="1742439" h="666750">
                  <a:moveTo>
                    <a:pt x="47485" y="0"/>
                  </a:moveTo>
                  <a:lnTo>
                    <a:pt x="102463" y="15052"/>
                  </a:lnTo>
                  <a:lnTo>
                    <a:pt x="157368" y="30090"/>
                  </a:lnTo>
                  <a:lnTo>
                    <a:pt x="212125" y="45102"/>
                  </a:lnTo>
                  <a:lnTo>
                    <a:pt x="266660" y="60074"/>
                  </a:lnTo>
                  <a:lnTo>
                    <a:pt x="320900" y="74992"/>
                  </a:lnTo>
                  <a:lnTo>
                    <a:pt x="374770" y="89843"/>
                  </a:lnTo>
                  <a:lnTo>
                    <a:pt x="428197" y="104613"/>
                  </a:lnTo>
                  <a:lnTo>
                    <a:pt x="481107" y="119290"/>
                  </a:lnTo>
                  <a:lnTo>
                    <a:pt x="533427" y="133860"/>
                  </a:lnTo>
                  <a:lnTo>
                    <a:pt x="585081" y="148309"/>
                  </a:lnTo>
                  <a:lnTo>
                    <a:pt x="635997" y="162624"/>
                  </a:lnTo>
                  <a:lnTo>
                    <a:pt x="686101" y="176791"/>
                  </a:lnTo>
                  <a:lnTo>
                    <a:pt x="735319" y="190798"/>
                  </a:lnTo>
                  <a:lnTo>
                    <a:pt x="783576" y="204631"/>
                  </a:lnTo>
                  <a:lnTo>
                    <a:pt x="830799" y="218276"/>
                  </a:lnTo>
                  <a:lnTo>
                    <a:pt x="876915" y="231720"/>
                  </a:lnTo>
                  <a:lnTo>
                    <a:pt x="921849" y="244950"/>
                  </a:lnTo>
                  <a:lnTo>
                    <a:pt x="965528" y="257951"/>
                  </a:lnTo>
                  <a:lnTo>
                    <a:pt x="1007878" y="270712"/>
                  </a:lnTo>
                  <a:lnTo>
                    <a:pt x="1048824" y="283218"/>
                  </a:lnTo>
                  <a:lnTo>
                    <a:pt x="1088293" y="295456"/>
                  </a:lnTo>
                  <a:lnTo>
                    <a:pt x="1126212" y="307413"/>
                  </a:lnTo>
                  <a:lnTo>
                    <a:pt x="1162506" y="319074"/>
                  </a:lnTo>
                  <a:lnTo>
                    <a:pt x="1273414" y="356506"/>
                  </a:lnTo>
                  <a:lnTo>
                    <a:pt x="1341028" y="381084"/>
                  </a:lnTo>
                  <a:lnTo>
                    <a:pt x="1400751" y="404281"/>
                  </a:lnTo>
                  <a:lnTo>
                    <a:pt x="1453394" y="426217"/>
                  </a:lnTo>
                  <a:lnTo>
                    <a:pt x="1499765" y="447011"/>
                  </a:lnTo>
                  <a:lnTo>
                    <a:pt x="1540673" y="466783"/>
                  </a:lnTo>
                  <a:lnTo>
                    <a:pt x="1576927" y="485654"/>
                  </a:lnTo>
                  <a:lnTo>
                    <a:pt x="1638711" y="521166"/>
                  </a:lnTo>
                  <a:lnTo>
                    <a:pt x="1717357" y="579311"/>
                  </a:lnTo>
                  <a:lnTo>
                    <a:pt x="1742035" y="616916"/>
                  </a:lnTo>
                  <a:lnTo>
                    <a:pt x="1742445" y="646427"/>
                  </a:lnTo>
                  <a:lnTo>
                    <a:pt x="1721142" y="663409"/>
                  </a:lnTo>
                  <a:lnTo>
                    <a:pt x="1694510" y="666746"/>
                  </a:lnTo>
                  <a:lnTo>
                    <a:pt x="1656989" y="664766"/>
                  </a:lnTo>
                  <a:lnTo>
                    <a:pt x="1609524" y="657950"/>
                  </a:lnTo>
                  <a:lnTo>
                    <a:pt x="1553062" y="646774"/>
                  </a:lnTo>
                  <a:lnTo>
                    <a:pt x="1488548" y="631717"/>
                  </a:lnTo>
                  <a:lnTo>
                    <a:pt x="1416926" y="613257"/>
                  </a:lnTo>
                  <a:lnTo>
                    <a:pt x="1378259" y="602739"/>
                  </a:lnTo>
                  <a:lnTo>
                    <a:pt x="1337192" y="591199"/>
                  </a:lnTo>
                  <a:lnTo>
                    <a:pt x="1293844" y="578654"/>
                  </a:lnTo>
                  <a:lnTo>
                    <a:pt x="1248336" y="565122"/>
                  </a:lnTo>
                  <a:lnTo>
                    <a:pt x="1200786" y="550620"/>
                  </a:lnTo>
                  <a:lnTo>
                    <a:pt x="1151315" y="535165"/>
                  </a:lnTo>
                  <a:lnTo>
                    <a:pt x="1100042" y="518774"/>
                  </a:lnTo>
                  <a:lnTo>
                    <a:pt x="1047087" y="501465"/>
                  </a:lnTo>
                  <a:lnTo>
                    <a:pt x="992569" y="483255"/>
                  </a:lnTo>
                  <a:lnTo>
                    <a:pt x="936609" y="464161"/>
                  </a:lnTo>
                  <a:lnTo>
                    <a:pt x="879325" y="444201"/>
                  </a:lnTo>
                  <a:lnTo>
                    <a:pt x="820839" y="423392"/>
                  </a:lnTo>
                  <a:lnTo>
                    <a:pt x="778582" y="408073"/>
                  </a:lnTo>
                  <a:lnTo>
                    <a:pt x="735221" y="392110"/>
                  </a:lnTo>
                  <a:lnTo>
                    <a:pt x="690825" y="375546"/>
                  </a:lnTo>
                  <a:lnTo>
                    <a:pt x="645466" y="358420"/>
                  </a:lnTo>
                  <a:lnTo>
                    <a:pt x="599213" y="340772"/>
                  </a:lnTo>
                  <a:lnTo>
                    <a:pt x="552137" y="322645"/>
                  </a:lnTo>
                  <a:lnTo>
                    <a:pt x="504307" y="304077"/>
                  </a:lnTo>
                  <a:lnTo>
                    <a:pt x="455794" y="285110"/>
                  </a:lnTo>
                  <a:lnTo>
                    <a:pt x="406667" y="265784"/>
                  </a:lnTo>
                  <a:lnTo>
                    <a:pt x="356998" y="246141"/>
                  </a:lnTo>
                  <a:lnTo>
                    <a:pt x="306855" y="226219"/>
                  </a:lnTo>
                  <a:lnTo>
                    <a:pt x="256310" y="206061"/>
                  </a:lnTo>
                  <a:lnTo>
                    <a:pt x="205433" y="185706"/>
                  </a:lnTo>
                  <a:lnTo>
                    <a:pt x="154293" y="165196"/>
                  </a:lnTo>
                  <a:lnTo>
                    <a:pt x="102960" y="144570"/>
                  </a:lnTo>
                  <a:lnTo>
                    <a:pt x="51506" y="123870"/>
                  </a:lnTo>
                  <a:lnTo>
                    <a:pt x="0" y="10313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206681" y="3718432"/>
              <a:ext cx="1221105" cy="862965"/>
            </a:xfrm>
            <a:custGeom>
              <a:avLst/>
              <a:gdLst/>
              <a:ahLst/>
              <a:cxnLst/>
              <a:rect l="l" t="t" r="r" b="b"/>
              <a:pathLst>
                <a:path w="1221104" h="862964">
                  <a:moveTo>
                    <a:pt x="84378" y="0"/>
                  </a:moveTo>
                  <a:lnTo>
                    <a:pt x="0" y="105587"/>
                  </a:lnTo>
                  <a:lnTo>
                    <a:pt x="175380" y="245093"/>
                  </a:lnTo>
                  <a:lnTo>
                    <a:pt x="261388" y="312711"/>
                  </a:lnTo>
                  <a:lnTo>
                    <a:pt x="345307" y="377717"/>
                  </a:lnTo>
                  <a:lnTo>
                    <a:pt x="386257" y="408962"/>
                  </a:lnTo>
                  <a:lnTo>
                    <a:pt x="426413" y="439221"/>
                  </a:lnTo>
                  <a:lnTo>
                    <a:pt x="465684" y="468381"/>
                  </a:lnTo>
                  <a:lnTo>
                    <a:pt x="503980" y="496331"/>
                  </a:lnTo>
                  <a:lnTo>
                    <a:pt x="541210" y="522960"/>
                  </a:lnTo>
                  <a:lnTo>
                    <a:pt x="588468" y="555952"/>
                  </a:lnTo>
                  <a:lnTo>
                    <a:pt x="634796" y="587472"/>
                  </a:lnTo>
                  <a:lnTo>
                    <a:pt x="680035" y="617468"/>
                  </a:lnTo>
                  <a:lnTo>
                    <a:pt x="724026" y="645891"/>
                  </a:lnTo>
                  <a:lnTo>
                    <a:pt x="766611" y="672688"/>
                  </a:lnTo>
                  <a:lnTo>
                    <a:pt x="807631" y="697810"/>
                  </a:lnTo>
                  <a:lnTo>
                    <a:pt x="846928" y="721204"/>
                  </a:lnTo>
                  <a:lnTo>
                    <a:pt x="884343" y="742821"/>
                  </a:lnTo>
                  <a:lnTo>
                    <a:pt x="919718" y="762608"/>
                  </a:lnTo>
                  <a:lnTo>
                    <a:pt x="1014013" y="811590"/>
                  </a:lnTo>
                  <a:lnTo>
                    <a:pt x="1068617" y="836321"/>
                  </a:lnTo>
                  <a:lnTo>
                    <a:pt x="1115709" y="853675"/>
                  </a:lnTo>
                  <a:lnTo>
                    <a:pt x="1154293" y="862617"/>
                  </a:lnTo>
                  <a:lnTo>
                    <a:pt x="1183373" y="862114"/>
                  </a:lnTo>
                  <a:lnTo>
                    <a:pt x="1208453" y="845979"/>
                  </a:lnTo>
                  <a:lnTo>
                    <a:pt x="1220987" y="814477"/>
                  </a:lnTo>
                  <a:lnTo>
                    <a:pt x="1216923" y="772101"/>
                  </a:lnTo>
                  <a:lnTo>
                    <a:pt x="1192212" y="723341"/>
                  </a:lnTo>
                  <a:lnTo>
                    <a:pt x="1151107" y="670529"/>
                  </a:lnTo>
                  <a:lnTo>
                    <a:pt x="1125209" y="641769"/>
                  </a:lnTo>
                  <a:lnTo>
                    <a:pt x="1094136" y="610912"/>
                  </a:lnTo>
                  <a:lnTo>
                    <a:pt x="1056679" y="577565"/>
                  </a:lnTo>
                  <a:lnTo>
                    <a:pt x="1011629" y="541330"/>
                  </a:lnTo>
                  <a:lnTo>
                    <a:pt x="957777" y="501815"/>
                  </a:lnTo>
                  <a:lnTo>
                    <a:pt x="893914" y="458622"/>
                  </a:lnTo>
                  <a:lnTo>
                    <a:pt x="827787" y="416738"/>
                  </a:lnTo>
                  <a:lnTo>
                    <a:pt x="791504" y="394570"/>
                  </a:lnTo>
                  <a:lnTo>
                    <a:pt x="753252" y="371652"/>
                  </a:lnTo>
                  <a:lnTo>
                    <a:pt x="713160" y="348033"/>
                  </a:lnTo>
                  <a:lnTo>
                    <a:pt x="671360" y="323763"/>
                  </a:lnTo>
                  <a:lnTo>
                    <a:pt x="627984" y="298893"/>
                  </a:lnTo>
                  <a:lnTo>
                    <a:pt x="537029" y="247551"/>
                  </a:lnTo>
                  <a:lnTo>
                    <a:pt x="441344" y="194408"/>
                  </a:lnTo>
                  <a:lnTo>
                    <a:pt x="341981" y="139863"/>
                  </a:lnTo>
                  <a:lnTo>
                    <a:pt x="84378" y="0"/>
                  </a:lnTo>
                  <a:close/>
                </a:path>
              </a:pathLst>
            </a:custGeom>
            <a:solidFill>
              <a:srgbClr val="FFFF00">
                <a:alpha val="498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206681" y="3718432"/>
              <a:ext cx="1221105" cy="862965"/>
            </a:xfrm>
            <a:custGeom>
              <a:avLst/>
              <a:gdLst/>
              <a:ahLst/>
              <a:cxnLst/>
              <a:rect l="l" t="t" r="r" b="b"/>
              <a:pathLst>
                <a:path w="1221104" h="862964">
                  <a:moveTo>
                    <a:pt x="84378" y="0"/>
                  </a:moveTo>
                  <a:lnTo>
                    <a:pt x="136424" y="28172"/>
                  </a:lnTo>
                  <a:lnTo>
                    <a:pt x="188339" y="56295"/>
                  </a:lnTo>
                  <a:lnTo>
                    <a:pt x="239991" y="84318"/>
                  </a:lnTo>
                  <a:lnTo>
                    <a:pt x="291249" y="112191"/>
                  </a:lnTo>
                  <a:lnTo>
                    <a:pt x="341981" y="139863"/>
                  </a:lnTo>
                  <a:lnTo>
                    <a:pt x="392056" y="167286"/>
                  </a:lnTo>
                  <a:lnTo>
                    <a:pt x="441344" y="194408"/>
                  </a:lnTo>
                  <a:lnTo>
                    <a:pt x="489712" y="221180"/>
                  </a:lnTo>
                  <a:lnTo>
                    <a:pt x="537029" y="247551"/>
                  </a:lnTo>
                  <a:lnTo>
                    <a:pt x="583163" y="273472"/>
                  </a:lnTo>
                  <a:lnTo>
                    <a:pt x="627984" y="298893"/>
                  </a:lnTo>
                  <a:lnTo>
                    <a:pt x="671360" y="323763"/>
                  </a:lnTo>
                  <a:lnTo>
                    <a:pt x="713160" y="348033"/>
                  </a:lnTo>
                  <a:lnTo>
                    <a:pt x="753252" y="371652"/>
                  </a:lnTo>
                  <a:lnTo>
                    <a:pt x="791504" y="394570"/>
                  </a:lnTo>
                  <a:lnTo>
                    <a:pt x="827787" y="416738"/>
                  </a:lnTo>
                  <a:lnTo>
                    <a:pt x="861967" y="438105"/>
                  </a:lnTo>
                  <a:lnTo>
                    <a:pt x="957777" y="501815"/>
                  </a:lnTo>
                  <a:lnTo>
                    <a:pt x="1011629" y="541330"/>
                  </a:lnTo>
                  <a:lnTo>
                    <a:pt x="1056679" y="577565"/>
                  </a:lnTo>
                  <a:lnTo>
                    <a:pt x="1094136" y="610912"/>
                  </a:lnTo>
                  <a:lnTo>
                    <a:pt x="1125209" y="641769"/>
                  </a:lnTo>
                  <a:lnTo>
                    <a:pt x="1151107" y="670529"/>
                  </a:lnTo>
                  <a:lnTo>
                    <a:pt x="1192212" y="723341"/>
                  </a:lnTo>
                  <a:lnTo>
                    <a:pt x="1216923" y="772101"/>
                  </a:lnTo>
                  <a:lnTo>
                    <a:pt x="1220987" y="814477"/>
                  </a:lnTo>
                  <a:lnTo>
                    <a:pt x="1208453" y="845979"/>
                  </a:lnTo>
                  <a:lnTo>
                    <a:pt x="1183373" y="862114"/>
                  </a:lnTo>
                  <a:lnTo>
                    <a:pt x="1154293" y="862617"/>
                  </a:lnTo>
                  <a:lnTo>
                    <a:pt x="1115709" y="853675"/>
                  </a:lnTo>
                  <a:lnTo>
                    <a:pt x="1068617" y="836321"/>
                  </a:lnTo>
                  <a:lnTo>
                    <a:pt x="1014013" y="811590"/>
                  </a:lnTo>
                  <a:lnTo>
                    <a:pt x="952893" y="780516"/>
                  </a:lnTo>
                  <a:lnTo>
                    <a:pt x="884343" y="742821"/>
                  </a:lnTo>
                  <a:lnTo>
                    <a:pt x="846928" y="721204"/>
                  </a:lnTo>
                  <a:lnTo>
                    <a:pt x="807631" y="697810"/>
                  </a:lnTo>
                  <a:lnTo>
                    <a:pt x="766611" y="672688"/>
                  </a:lnTo>
                  <a:lnTo>
                    <a:pt x="724026" y="645891"/>
                  </a:lnTo>
                  <a:lnTo>
                    <a:pt x="680035" y="617468"/>
                  </a:lnTo>
                  <a:lnTo>
                    <a:pt x="634796" y="587472"/>
                  </a:lnTo>
                  <a:lnTo>
                    <a:pt x="588468" y="555952"/>
                  </a:lnTo>
                  <a:lnTo>
                    <a:pt x="541210" y="522960"/>
                  </a:lnTo>
                  <a:lnTo>
                    <a:pt x="503980" y="496331"/>
                  </a:lnTo>
                  <a:lnTo>
                    <a:pt x="465684" y="468381"/>
                  </a:lnTo>
                  <a:lnTo>
                    <a:pt x="426413" y="439221"/>
                  </a:lnTo>
                  <a:lnTo>
                    <a:pt x="386257" y="408962"/>
                  </a:lnTo>
                  <a:lnTo>
                    <a:pt x="345307" y="377717"/>
                  </a:lnTo>
                  <a:lnTo>
                    <a:pt x="303654" y="345596"/>
                  </a:lnTo>
                  <a:lnTo>
                    <a:pt x="261388" y="312711"/>
                  </a:lnTo>
                  <a:lnTo>
                    <a:pt x="218600" y="279173"/>
                  </a:lnTo>
                  <a:lnTo>
                    <a:pt x="175380" y="245093"/>
                  </a:lnTo>
                  <a:lnTo>
                    <a:pt x="131820" y="210584"/>
                  </a:lnTo>
                  <a:lnTo>
                    <a:pt x="88009" y="175755"/>
                  </a:lnTo>
                  <a:lnTo>
                    <a:pt x="44039" y="140719"/>
                  </a:lnTo>
                  <a:lnTo>
                    <a:pt x="0" y="10558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159393" y="3903553"/>
              <a:ext cx="760095" cy="687070"/>
            </a:xfrm>
            <a:custGeom>
              <a:avLst/>
              <a:gdLst/>
              <a:ahLst/>
              <a:cxnLst/>
              <a:rect l="l" t="t" r="r" b="b"/>
              <a:pathLst>
                <a:path w="760095" h="687070">
                  <a:moveTo>
                    <a:pt x="147358" y="0"/>
                  </a:moveTo>
                  <a:lnTo>
                    <a:pt x="0" y="133985"/>
                  </a:lnTo>
                  <a:lnTo>
                    <a:pt x="66073" y="223990"/>
                  </a:lnTo>
                  <a:lnTo>
                    <a:pt x="98967" y="267970"/>
                  </a:lnTo>
                  <a:lnTo>
                    <a:pt x="131668" y="310697"/>
                  </a:lnTo>
                  <a:lnTo>
                    <a:pt x="164101" y="351745"/>
                  </a:lnTo>
                  <a:lnTo>
                    <a:pt x="196190" y="390686"/>
                  </a:lnTo>
                  <a:lnTo>
                    <a:pt x="227862" y="427094"/>
                  </a:lnTo>
                  <a:lnTo>
                    <a:pt x="259041" y="460540"/>
                  </a:lnTo>
                  <a:lnTo>
                    <a:pt x="300365" y="501066"/>
                  </a:lnTo>
                  <a:lnTo>
                    <a:pt x="341542" y="537727"/>
                  </a:lnTo>
                  <a:lnTo>
                    <a:pt x="382016" y="570437"/>
                  </a:lnTo>
                  <a:lnTo>
                    <a:pt x="421227" y="599113"/>
                  </a:lnTo>
                  <a:lnTo>
                    <a:pt x="458620" y="623667"/>
                  </a:lnTo>
                  <a:lnTo>
                    <a:pt x="493636" y="644017"/>
                  </a:lnTo>
                  <a:lnTo>
                    <a:pt x="542439" y="667554"/>
                  </a:lnTo>
                  <a:lnTo>
                    <a:pt x="587538" y="682374"/>
                  </a:lnTo>
                  <a:lnTo>
                    <a:pt x="628329" y="686740"/>
                  </a:lnTo>
                  <a:lnTo>
                    <a:pt x="664210" y="678916"/>
                  </a:lnTo>
                  <a:lnTo>
                    <a:pt x="698452" y="655607"/>
                  </a:lnTo>
                  <a:lnTo>
                    <a:pt x="730257" y="618564"/>
                  </a:lnTo>
                  <a:lnTo>
                    <a:pt x="752912" y="573594"/>
                  </a:lnTo>
                  <a:lnTo>
                    <a:pt x="759701" y="526503"/>
                  </a:lnTo>
                  <a:lnTo>
                    <a:pt x="755194" y="488621"/>
                  </a:lnTo>
                  <a:lnTo>
                    <a:pt x="744587" y="448530"/>
                  </a:lnTo>
                  <a:lnTo>
                    <a:pt x="724129" y="405625"/>
                  </a:lnTo>
                  <a:lnTo>
                    <a:pt x="690073" y="359301"/>
                  </a:lnTo>
                  <a:lnTo>
                    <a:pt x="638670" y="308952"/>
                  </a:lnTo>
                  <a:lnTo>
                    <a:pt x="608574" y="284503"/>
                  </a:lnTo>
                  <a:lnTo>
                    <a:pt x="574316" y="259014"/>
                  </a:lnTo>
                  <a:lnTo>
                    <a:pt x="536312" y="232590"/>
                  </a:lnTo>
                  <a:lnTo>
                    <a:pt x="494977" y="205334"/>
                  </a:lnTo>
                  <a:lnTo>
                    <a:pt x="450729" y="177352"/>
                  </a:lnTo>
                  <a:lnTo>
                    <a:pt x="403983" y="148745"/>
                  </a:lnTo>
                  <a:lnTo>
                    <a:pt x="355155" y="119620"/>
                  </a:lnTo>
                  <a:lnTo>
                    <a:pt x="304663" y="90078"/>
                  </a:lnTo>
                  <a:lnTo>
                    <a:pt x="252921" y="60225"/>
                  </a:lnTo>
                  <a:lnTo>
                    <a:pt x="147358" y="0"/>
                  </a:lnTo>
                  <a:close/>
                </a:path>
              </a:pathLst>
            </a:custGeom>
            <a:solidFill>
              <a:srgbClr val="FFFF00">
                <a:alpha val="498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159393" y="3903553"/>
              <a:ext cx="760095" cy="687070"/>
            </a:xfrm>
            <a:custGeom>
              <a:avLst/>
              <a:gdLst/>
              <a:ahLst/>
              <a:cxnLst/>
              <a:rect l="l" t="t" r="r" b="b"/>
              <a:pathLst>
                <a:path w="760095" h="687070">
                  <a:moveTo>
                    <a:pt x="147358" y="0"/>
                  </a:moveTo>
                  <a:lnTo>
                    <a:pt x="200348" y="30164"/>
                  </a:lnTo>
                  <a:lnTo>
                    <a:pt x="252921" y="60225"/>
                  </a:lnTo>
                  <a:lnTo>
                    <a:pt x="304663" y="90078"/>
                  </a:lnTo>
                  <a:lnTo>
                    <a:pt x="355155" y="119620"/>
                  </a:lnTo>
                  <a:lnTo>
                    <a:pt x="403983" y="148745"/>
                  </a:lnTo>
                  <a:lnTo>
                    <a:pt x="450729" y="177352"/>
                  </a:lnTo>
                  <a:lnTo>
                    <a:pt x="494977" y="205334"/>
                  </a:lnTo>
                  <a:lnTo>
                    <a:pt x="536312" y="232590"/>
                  </a:lnTo>
                  <a:lnTo>
                    <a:pt x="574316" y="259014"/>
                  </a:lnTo>
                  <a:lnTo>
                    <a:pt x="608574" y="284503"/>
                  </a:lnTo>
                  <a:lnTo>
                    <a:pt x="638670" y="308952"/>
                  </a:lnTo>
                  <a:lnTo>
                    <a:pt x="690073" y="359301"/>
                  </a:lnTo>
                  <a:lnTo>
                    <a:pt x="724129" y="405625"/>
                  </a:lnTo>
                  <a:lnTo>
                    <a:pt x="744587" y="448530"/>
                  </a:lnTo>
                  <a:lnTo>
                    <a:pt x="755194" y="488621"/>
                  </a:lnTo>
                  <a:lnTo>
                    <a:pt x="759701" y="526503"/>
                  </a:lnTo>
                  <a:lnTo>
                    <a:pt x="752912" y="573594"/>
                  </a:lnTo>
                  <a:lnTo>
                    <a:pt x="730257" y="618564"/>
                  </a:lnTo>
                  <a:lnTo>
                    <a:pt x="698452" y="655607"/>
                  </a:lnTo>
                  <a:lnTo>
                    <a:pt x="664210" y="678916"/>
                  </a:lnTo>
                  <a:lnTo>
                    <a:pt x="628329" y="686740"/>
                  </a:lnTo>
                  <a:lnTo>
                    <a:pt x="587538" y="682374"/>
                  </a:lnTo>
                  <a:lnTo>
                    <a:pt x="542439" y="667554"/>
                  </a:lnTo>
                  <a:lnTo>
                    <a:pt x="493636" y="644017"/>
                  </a:lnTo>
                  <a:lnTo>
                    <a:pt x="458620" y="623667"/>
                  </a:lnTo>
                  <a:lnTo>
                    <a:pt x="421227" y="599113"/>
                  </a:lnTo>
                  <a:lnTo>
                    <a:pt x="382016" y="570437"/>
                  </a:lnTo>
                  <a:lnTo>
                    <a:pt x="341542" y="537727"/>
                  </a:lnTo>
                  <a:lnTo>
                    <a:pt x="300365" y="501066"/>
                  </a:lnTo>
                  <a:lnTo>
                    <a:pt x="259041" y="460540"/>
                  </a:lnTo>
                  <a:lnTo>
                    <a:pt x="227862" y="427094"/>
                  </a:lnTo>
                  <a:lnTo>
                    <a:pt x="196190" y="390686"/>
                  </a:lnTo>
                  <a:lnTo>
                    <a:pt x="164101" y="351745"/>
                  </a:lnTo>
                  <a:lnTo>
                    <a:pt x="131668" y="310697"/>
                  </a:lnTo>
                  <a:lnTo>
                    <a:pt x="98967" y="267970"/>
                  </a:lnTo>
                  <a:lnTo>
                    <a:pt x="66073" y="223990"/>
                  </a:lnTo>
                  <a:lnTo>
                    <a:pt x="33058" y="179186"/>
                  </a:lnTo>
                  <a:lnTo>
                    <a:pt x="0" y="13398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87340" y="4045457"/>
              <a:ext cx="640841" cy="325373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426534" y="4090592"/>
              <a:ext cx="505459" cy="173355"/>
            </a:xfrm>
            <a:custGeom>
              <a:avLst/>
              <a:gdLst/>
              <a:ahLst/>
              <a:cxnLst/>
              <a:rect l="l" t="t" r="r" b="b"/>
              <a:pathLst>
                <a:path w="505460" h="173354">
                  <a:moveTo>
                    <a:pt x="9994" y="0"/>
                  </a:moveTo>
                  <a:lnTo>
                    <a:pt x="0" y="80390"/>
                  </a:lnTo>
                  <a:lnTo>
                    <a:pt x="419811" y="132613"/>
                  </a:lnTo>
                  <a:lnTo>
                    <a:pt x="414807" y="172808"/>
                  </a:lnTo>
                  <a:lnTo>
                    <a:pt x="505193" y="102412"/>
                  </a:lnTo>
                  <a:lnTo>
                    <a:pt x="434809" y="12026"/>
                  </a:lnTo>
                  <a:lnTo>
                    <a:pt x="429806" y="52222"/>
                  </a:lnTo>
                  <a:lnTo>
                    <a:pt x="999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426534" y="4090592"/>
              <a:ext cx="505459" cy="173355"/>
            </a:xfrm>
            <a:custGeom>
              <a:avLst/>
              <a:gdLst/>
              <a:ahLst/>
              <a:cxnLst/>
              <a:rect l="l" t="t" r="r" b="b"/>
              <a:pathLst>
                <a:path w="505460" h="173354">
                  <a:moveTo>
                    <a:pt x="9994" y="0"/>
                  </a:moveTo>
                  <a:lnTo>
                    <a:pt x="429806" y="52222"/>
                  </a:lnTo>
                  <a:lnTo>
                    <a:pt x="434809" y="12026"/>
                  </a:lnTo>
                  <a:lnTo>
                    <a:pt x="505193" y="102412"/>
                  </a:lnTo>
                  <a:lnTo>
                    <a:pt x="414807" y="172808"/>
                  </a:lnTo>
                  <a:lnTo>
                    <a:pt x="419811" y="132613"/>
                  </a:lnTo>
                  <a:lnTo>
                    <a:pt x="0" y="80390"/>
                  </a:lnTo>
                  <a:lnTo>
                    <a:pt x="9994" y="0"/>
                  </a:lnTo>
                  <a:close/>
                </a:path>
              </a:pathLst>
            </a:custGeom>
            <a:ln w="25400">
              <a:solidFill>
                <a:srgbClr val="22226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38278" y="4029913"/>
              <a:ext cx="333373" cy="42862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68067" y="806195"/>
              <a:ext cx="5961887" cy="2234945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2105825" y="843559"/>
              <a:ext cx="5833110" cy="2106295"/>
            </a:xfrm>
            <a:custGeom>
              <a:avLst/>
              <a:gdLst/>
              <a:ahLst/>
              <a:cxnLst/>
              <a:rect l="l" t="t" r="r" b="b"/>
              <a:pathLst>
                <a:path w="5833109" h="2106295">
                  <a:moveTo>
                    <a:pt x="0" y="0"/>
                  </a:moveTo>
                  <a:lnTo>
                    <a:pt x="5832652" y="0"/>
                  </a:lnTo>
                  <a:lnTo>
                    <a:pt x="5832652" y="2106231"/>
                  </a:lnTo>
                  <a:lnTo>
                    <a:pt x="0" y="210623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68067" y="2912363"/>
              <a:ext cx="5961887" cy="223113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105825" y="2949790"/>
              <a:ext cx="5833110" cy="2106295"/>
            </a:xfrm>
            <a:custGeom>
              <a:avLst/>
              <a:gdLst/>
              <a:ahLst/>
              <a:cxnLst/>
              <a:rect l="l" t="t" r="r" b="b"/>
              <a:pathLst>
                <a:path w="5833109" h="2106295">
                  <a:moveTo>
                    <a:pt x="0" y="0"/>
                  </a:moveTo>
                  <a:lnTo>
                    <a:pt x="5832652" y="0"/>
                  </a:lnTo>
                  <a:lnTo>
                    <a:pt x="5832652" y="2106231"/>
                  </a:lnTo>
                  <a:lnTo>
                    <a:pt x="0" y="210623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96667" y="926591"/>
              <a:ext cx="2551937" cy="411479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75559" y="918971"/>
              <a:ext cx="2043683" cy="583691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2321852" y="951572"/>
            <a:ext cx="2448560" cy="307975"/>
          </a:xfrm>
          <a:prstGeom prst="rect">
            <a:avLst/>
          </a:prstGeom>
          <a:solidFill>
            <a:srgbClr val="8AC6CD"/>
          </a:solidFill>
        </p:spPr>
        <p:txBody>
          <a:bodyPr wrap="square" lIns="0" tIns="40640" rIns="0" bIns="0" rtlCol="0" vert="horz">
            <a:spAutoFit/>
          </a:bodyPr>
          <a:lstStyle/>
          <a:p>
            <a:pPr marL="385445">
              <a:lnSpc>
                <a:spcPct val="100000"/>
              </a:lnSpc>
              <a:spcBef>
                <a:spcPts val="320"/>
              </a:spcBef>
            </a:pPr>
            <a:r>
              <a:rPr dirty="0" sz="1400" b="1">
                <a:solidFill>
                  <a:srgbClr val="F2F2F2"/>
                </a:solidFill>
                <a:latin typeface="Arial"/>
                <a:cs typeface="Arial"/>
              </a:rPr>
              <a:t>CSI</a:t>
            </a:r>
            <a:r>
              <a:rPr dirty="0" sz="1400" spc="-55" b="1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2F2F2"/>
                </a:solidFill>
                <a:latin typeface="Arial"/>
                <a:cs typeface="Arial"/>
              </a:rPr>
              <a:t>measurement</a:t>
            </a:r>
            <a:r>
              <a:rPr dirty="0" sz="1400" spc="-65" b="1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2F2F2"/>
                </a:solidFill>
                <a:latin typeface="Arial"/>
                <a:cs typeface="Arial"/>
              </a:rPr>
              <a:t>&amp;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148773" y="1193428"/>
            <a:ext cx="7950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F2F2F2"/>
                </a:solidFill>
                <a:latin typeface="Arial"/>
                <a:cs typeface="Arial"/>
              </a:rPr>
              <a:t>feedback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2296667" y="3025139"/>
            <a:ext cx="2552065" cy="419100"/>
            <a:chOff x="2296667" y="3025139"/>
            <a:chExt cx="2552065" cy="419100"/>
          </a:xfrm>
        </p:grpSpPr>
        <p:pic>
          <p:nvPicPr>
            <p:cNvPr id="70" name="object 7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96667" y="3032759"/>
              <a:ext cx="2551937" cy="41147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41497" y="3025139"/>
              <a:ext cx="1511807" cy="370331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2321852" y="3057804"/>
            <a:ext cx="2448560" cy="307975"/>
          </a:xfrm>
          <a:prstGeom prst="rect">
            <a:avLst/>
          </a:prstGeom>
          <a:solidFill>
            <a:srgbClr val="8AC6CD"/>
          </a:solidFill>
        </p:spPr>
        <p:txBody>
          <a:bodyPr wrap="square" lIns="0" tIns="40640" rIns="0" bIns="0" rtlCol="0" vert="horz">
            <a:spAutoFit/>
          </a:bodyPr>
          <a:lstStyle/>
          <a:p>
            <a:pPr marL="650875">
              <a:lnSpc>
                <a:spcPct val="100000"/>
              </a:lnSpc>
              <a:spcBef>
                <a:spcPts val="320"/>
              </a:spcBef>
            </a:pPr>
            <a:r>
              <a:rPr dirty="0" sz="1400" spc="-10" b="1">
                <a:solidFill>
                  <a:srgbClr val="F2F2F2"/>
                </a:solidFill>
                <a:latin typeface="Arial"/>
                <a:cs typeface="Arial"/>
              </a:rPr>
              <a:t>Transmission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5849" y="3203329"/>
            <a:ext cx="3001553" cy="1434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6636" y="3107617"/>
            <a:ext cx="3161550" cy="15377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9322" y="921156"/>
            <a:ext cx="3193035" cy="174692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003894" y="2710527"/>
            <a:ext cx="328993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10">
                <a:latin typeface="Arial MT"/>
                <a:cs typeface="Arial MT"/>
              </a:rPr>
              <a:t>F-</a:t>
            </a:r>
            <a:r>
              <a:rPr dirty="0" sz="1400" spc="-20">
                <a:latin typeface="Arial MT"/>
                <a:cs typeface="Arial MT"/>
              </a:rPr>
              <a:t>OFDM</a:t>
            </a:r>
            <a:r>
              <a:rPr dirty="0" sz="1400" spc="-25">
                <a:latin typeface="Microsoft YaHei"/>
                <a:cs typeface="Microsoft YaHei"/>
              </a:rPr>
              <a:t>波形技术：根据业务灵活配置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56638" y="882830"/>
            <a:ext cx="2285199" cy="187812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032249" y="2710527"/>
            <a:ext cx="32924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20">
                <a:latin typeface="Arial MT"/>
                <a:cs typeface="Arial MT"/>
              </a:rPr>
              <a:t>SCMA</a:t>
            </a:r>
            <a:r>
              <a:rPr dirty="0" sz="1400" spc="-25">
                <a:latin typeface="Microsoft YaHei"/>
                <a:cs typeface="Microsoft YaHei"/>
              </a:rPr>
              <a:t>稀疏码本多址：多维调制、扩频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32249" y="4676942"/>
            <a:ext cx="346964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20">
                <a:latin typeface="Arial MT"/>
                <a:cs typeface="Arial MT"/>
              </a:rPr>
              <a:t>PDMA</a:t>
            </a:r>
            <a:r>
              <a:rPr dirty="0" sz="1400" spc="-25">
                <a:latin typeface="Microsoft YaHei"/>
                <a:cs typeface="Microsoft YaHei"/>
              </a:rPr>
              <a:t>图样多址：功率域、空间域、码域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03894" y="4676941"/>
            <a:ext cx="32340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20">
                <a:latin typeface="Arial MT"/>
                <a:cs typeface="Arial MT"/>
              </a:rPr>
              <a:t>MUSA</a:t>
            </a:r>
            <a:r>
              <a:rPr dirty="0" sz="1400" spc="-20">
                <a:latin typeface="Microsoft YaHei"/>
                <a:cs typeface="Microsoft YaHei"/>
              </a:rPr>
              <a:t>多用户多址：非线性</a:t>
            </a:r>
            <a:r>
              <a:rPr dirty="0" sz="1400" spc="-10">
                <a:latin typeface="Arial MT"/>
                <a:cs typeface="Arial MT"/>
              </a:rPr>
              <a:t>SIC</a:t>
            </a:r>
            <a:r>
              <a:rPr dirty="0" sz="1400" spc="-30">
                <a:latin typeface="Microsoft YaHei"/>
                <a:cs typeface="Microsoft YaHei"/>
              </a:rPr>
              <a:t>接收机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698432" y="159112"/>
            <a:ext cx="379920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系统新型多址技术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31596" y="3641775"/>
            <a:ext cx="3133090" cy="98425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35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25">
                <a:latin typeface="Microsoft YaHei"/>
                <a:cs typeface="Microsoft YaHei"/>
              </a:rPr>
              <a:t>小基站根据上下行业务量灵活自适应</a:t>
            </a:r>
            <a:endParaRPr sz="1400">
              <a:latin typeface="Microsoft YaHei"/>
              <a:cs typeface="Microsoft YaHei"/>
            </a:endParaRPr>
          </a:p>
          <a:p>
            <a:pPr marL="278765" indent="-266065">
              <a:lnSpc>
                <a:spcPct val="100000"/>
              </a:lnSpc>
              <a:spcBef>
                <a:spcPts val="830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25">
                <a:latin typeface="Microsoft YaHei"/>
                <a:cs typeface="Microsoft YaHei"/>
              </a:rPr>
              <a:t>上下行信号对称统一消除上下行干扰</a:t>
            </a:r>
            <a:endParaRPr sz="1400">
              <a:latin typeface="Microsoft YaHei"/>
              <a:cs typeface="Microsoft YaHei"/>
            </a:endParaRPr>
          </a:p>
          <a:p>
            <a:pPr marL="278765" indent="-266065">
              <a:lnSpc>
                <a:spcPct val="100000"/>
              </a:lnSpc>
              <a:spcBef>
                <a:spcPts val="840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25">
                <a:latin typeface="Microsoft YaHei"/>
                <a:cs typeface="Microsoft YaHei"/>
              </a:rPr>
              <a:t>宏站管理、控制；小站业务、低功率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1206" y="970621"/>
            <a:ext cx="7359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0" b="1">
                <a:latin typeface="Microsoft YaHei"/>
                <a:cs typeface="Microsoft YaHei"/>
              </a:rPr>
              <a:t>灵活双工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39303" y="961211"/>
            <a:ext cx="5581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5" b="1">
                <a:latin typeface="Microsoft YaHei"/>
                <a:cs typeface="Microsoft YaHei"/>
              </a:rPr>
              <a:t>全双工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4562" y="3395578"/>
            <a:ext cx="4289425" cy="130365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35"/>
              </a:spcBef>
              <a:buFont typeface="Wingdings"/>
              <a:buChar char=""/>
              <a:tabLst>
                <a:tab pos="278765" algn="l"/>
              </a:tabLst>
            </a:pPr>
            <a:r>
              <a:rPr dirty="0" sz="1400" spc="-30">
                <a:latin typeface="Microsoft YaHei"/>
                <a:cs typeface="Microsoft YaHei"/>
              </a:rPr>
              <a:t>自干扰抑制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400" spc="-25">
                <a:latin typeface="Microsoft YaHei"/>
                <a:cs typeface="Microsoft YaHei"/>
              </a:rPr>
              <a:t>空间域：天线位置、空间零陷波束、高隔离收发天线。</a:t>
            </a:r>
            <a:endParaRPr sz="1400">
              <a:latin typeface="Microsoft YaHei"/>
              <a:cs typeface="Microsoft YaHei"/>
            </a:endParaRPr>
          </a:p>
          <a:p>
            <a:pPr marL="12700" marR="5080">
              <a:lnSpc>
                <a:spcPct val="149600"/>
              </a:lnSpc>
              <a:spcBef>
                <a:spcPts val="10"/>
              </a:spcBef>
            </a:pPr>
            <a:r>
              <a:rPr dirty="0" sz="1400" spc="-25">
                <a:latin typeface="Microsoft YaHei"/>
                <a:cs typeface="Microsoft YaHei"/>
              </a:rPr>
              <a:t>射频域：构建与接收自干扰信号幅相相反的对消信号。数字域：残存线性与非线性自干扰进行重建消除。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303" y="1368965"/>
            <a:ext cx="3307582" cy="183803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679739" y="1681106"/>
            <a:ext cx="2438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C00000"/>
                </a:solidFill>
                <a:latin typeface="Arial MT"/>
                <a:cs typeface="Arial MT"/>
              </a:rPr>
              <a:t>TX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79739" y="2717693"/>
            <a:ext cx="2628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8AC6CD"/>
                </a:solidFill>
                <a:latin typeface="Arial MT"/>
                <a:cs typeface="Arial MT"/>
              </a:rPr>
              <a:t>RX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2496" y="1352728"/>
            <a:ext cx="2929607" cy="210997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663348" y="182033"/>
            <a:ext cx="379920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系统新型双工技术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49" y="973035"/>
            <a:ext cx="7564259" cy="400671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071799" y="4687811"/>
            <a:ext cx="3429635" cy="34671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26034" rIns="0" bIns="0" rtlCol="0" vert="horz">
            <a:spAutoFit/>
          </a:bodyPr>
          <a:lstStyle/>
          <a:p>
            <a:pPr marL="666115">
              <a:lnSpc>
                <a:spcPct val="100000"/>
              </a:lnSpc>
              <a:spcBef>
                <a:spcPts val="204"/>
              </a:spcBef>
            </a:pPr>
            <a:r>
              <a:rPr dirty="0" sz="1800" b="1">
                <a:solidFill>
                  <a:srgbClr val="FFFFFF"/>
                </a:solidFill>
                <a:latin typeface="Microsoft YaHei"/>
                <a:cs typeface="Microsoft YaHei"/>
              </a:rPr>
              <a:t>超密集组网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UDN</a:t>
            </a:r>
            <a:r>
              <a:rPr dirty="0" sz="1800" spc="-25" b="1">
                <a:solidFill>
                  <a:srgbClr val="FFFFFF"/>
                </a:solidFill>
                <a:latin typeface="Microsoft YaHei"/>
                <a:cs typeface="Microsoft YaHei"/>
              </a:rPr>
              <a:t>场景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6094" y="131526"/>
            <a:ext cx="420497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系统超密集组网技术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9096" y="3092758"/>
            <a:ext cx="6849745" cy="1793239"/>
            <a:chOff x="1149096" y="3092758"/>
            <a:chExt cx="6849745" cy="179323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096" y="3203448"/>
              <a:ext cx="1167384" cy="57302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2055" y="3203448"/>
              <a:ext cx="2090928" cy="5730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5223" y="3867912"/>
              <a:ext cx="1197864" cy="5730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5191" y="3867912"/>
              <a:ext cx="2045208" cy="5730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9669" y="3097529"/>
              <a:ext cx="161543" cy="177926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240355" y="3111808"/>
              <a:ext cx="20320" cy="1675130"/>
            </a:xfrm>
            <a:custGeom>
              <a:avLst/>
              <a:gdLst/>
              <a:ahLst/>
              <a:cxnLst/>
              <a:rect l="l" t="t" r="r" b="b"/>
              <a:pathLst>
                <a:path w="20319" h="1675129">
                  <a:moveTo>
                    <a:pt x="0" y="1674634"/>
                  </a:moveTo>
                  <a:lnTo>
                    <a:pt x="2025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6105" y="3102863"/>
              <a:ext cx="161543" cy="177850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776765" y="3116672"/>
              <a:ext cx="20320" cy="1675130"/>
            </a:xfrm>
            <a:custGeom>
              <a:avLst/>
              <a:gdLst/>
              <a:ahLst/>
              <a:cxnLst/>
              <a:rect l="l" t="t" r="r" b="b"/>
              <a:pathLst>
                <a:path w="20320" h="1675129">
                  <a:moveTo>
                    <a:pt x="0" y="1674634"/>
                  </a:moveTo>
                  <a:lnTo>
                    <a:pt x="2025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42587" y="3105149"/>
              <a:ext cx="149351" cy="177774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006958" y="3119107"/>
              <a:ext cx="20320" cy="1673860"/>
            </a:xfrm>
            <a:custGeom>
              <a:avLst/>
              <a:gdLst/>
              <a:ahLst/>
              <a:cxnLst/>
              <a:rect l="l" t="t" r="r" b="b"/>
              <a:pathLst>
                <a:path w="20320" h="1673860">
                  <a:moveTo>
                    <a:pt x="0" y="1673415"/>
                  </a:moveTo>
                  <a:lnTo>
                    <a:pt x="20256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40807" y="3105149"/>
              <a:ext cx="147828" cy="177774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005488" y="3119107"/>
              <a:ext cx="19050" cy="1673860"/>
            </a:xfrm>
            <a:custGeom>
              <a:avLst/>
              <a:gdLst/>
              <a:ahLst/>
              <a:cxnLst/>
              <a:rect l="l" t="t" r="r" b="b"/>
              <a:pathLst>
                <a:path w="19050" h="1673860">
                  <a:moveTo>
                    <a:pt x="0" y="1673415"/>
                  </a:moveTo>
                  <a:lnTo>
                    <a:pt x="18694" y="0"/>
                  </a:lnTo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2885" y="4442459"/>
              <a:ext cx="3195827" cy="44348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061902" y="4625911"/>
              <a:ext cx="2677160" cy="0"/>
            </a:xfrm>
            <a:custGeom>
              <a:avLst/>
              <a:gdLst/>
              <a:ahLst/>
              <a:cxnLst/>
              <a:rect l="l" t="t" r="r" b="b"/>
              <a:pathLst>
                <a:path w="2677159" h="0">
                  <a:moveTo>
                    <a:pt x="0" y="0"/>
                  </a:moveTo>
                  <a:lnTo>
                    <a:pt x="2677147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24749" y="4559228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61904" y="4559228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133350"/>
                  </a:moveTo>
                  <a:lnTo>
                    <a:pt x="0" y="66675"/>
                  </a:lnTo>
                  <a:lnTo>
                    <a:pt x="114300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36669" y="4505706"/>
              <a:ext cx="1358633" cy="34061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044844" y="4637746"/>
              <a:ext cx="942340" cy="0"/>
            </a:xfrm>
            <a:custGeom>
              <a:avLst/>
              <a:gdLst/>
              <a:ahLst/>
              <a:cxnLst/>
              <a:rect l="l" t="t" r="r" b="b"/>
              <a:pathLst>
                <a:path w="942339" h="0">
                  <a:moveTo>
                    <a:pt x="0" y="0"/>
                  </a:moveTo>
                  <a:lnTo>
                    <a:pt x="941933" y="0"/>
                  </a:lnTo>
                </a:path>
              </a:pathLst>
            </a:custGeom>
            <a:ln w="381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72480" y="457106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044848" y="457106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133350"/>
                  </a:moveTo>
                  <a:lnTo>
                    <a:pt x="0" y="66675"/>
                  </a:lnTo>
                  <a:lnTo>
                    <a:pt x="114300" y="0"/>
                  </a:lnTo>
                </a:path>
              </a:pathLst>
            </a:custGeom>
            <a:ln w="381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62399" y="4363212"/>
              <a:ext cx="1221473" cy="408431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143136" y="3465883"/>
            <a:ext cx="663575" cy="671195"/>
            <a:chOff x="4143136" y="3465883"/>
            <a:chExt cx="663575" cy="671195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68140" y="3490722"/>
              <a:ext cx="638555" cy="646175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147898" y="3470645"/>
              <a:ext cx="628015" cy="635635"/>
            </a:xfrm>
            <a:custGeom>
              <a:avLst/>
              <a:gdLst/>
              <a:ahLst/>
              <a:cxnLst/>
              <a:rect l="l" t="t" r="r" b="b"/>
              <a:pathLst>
                <a:path w="628014" h="635635">
                  <a:moveTo>
                    <a:pt x="0" y="0"/>
                  </a:moveTo>
                  <a:lnTo>
                    <a:pt x="313220" y="260807"/>
                  </a:lnTo>
                  <a:lnTo>
                    <a:pt x="90411" y="311175"/>
                  </a:lnTo>
                  <a:lnTo>
                    <a:pt x="627697" y="635546"/>
                  </a:lnTo>
                  <a:lnTo>
                    <a:pt x="295198" y="359727"/>
                  </a:lnTo>
                  <a:lnTo>
                    <a:pt x="530656" y="2836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47898" y="3470645"/>
              <a:ext cx="628015" cy="635635"/>
            </a:xfrm>
            <a:custGeom>
              <a:avLst/>
              <a:gdLst/>
              <a:ahLst/>
              <a:cxnLst/>
              <a:rect l="l" t="t" r="r" b="b"/>
              <a:pathLst>
                <a:path w="628014" h="635635">
                  <a:moveTo>
                    <a:pt x="530656" y="283616"/>
                  </a:moveTo>
                  <a:lnTo>
                    <a:pt x="0" y="0"/>
                  </a:lnTo>
                  <a:lnTo>
                    <a:pt x="313220" y="260807"/>
                  </a:lnTo>
                  <a:lnTo>
                    <a:pt x="90411" y="311175"/>
                  </a:lnTo>
                  <a:lnTo>
                    <a:pt x="627697" y="635546"/>
                  </a:lnTo>
                  <a:lnTo>
                    <a:pt x="295198" y="359727"/>
                  </a:lnTo>
                  <a:lnTo>
                    <a:pt x="530656" y="283616"/>
                  </a:lnTo>
                  <a:close/>
                </a:path>
              </a:pathLst>
            </a:custGeom>
            <a:ln w="9525">
              <a:solidFill>
                <a:srgbClr val="ECF6A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123085" y="4417810"/>
            <a:ext cx="839469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Microsoft YaHei"/>
                <a:cs typeface="Microsoft YaHei"/>
              </a:rPr>
              <a:t>空口传输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008631" y="4363211"/>
            <a:ext cx="4910455" cy="422275"/>
            <a:chOff x="2008631" y="4363211"/>
            <a:chExt cx="4910455" cy="422275"/>
          </a:xfrm>
        </p:grpSpPr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8631" y="4363211"/>
              <a:ext cx="1221485" cy="40843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97474" y="4376927"/>
              <a:ext cx="1221473" cy="408431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858441" y="4431187"/>
            <a:ext cx="839469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Microsoft YaHei"/>
                <a:cs typeface="Microsoft YaHei"/>
              </a:rPr>
              <a:t>接收时延</a:t>
            </a:r>
            <a:endParaRPr sz="1600">
              <a:latin typeface="Microsoft YaHei"/>
              <a:cs typeface="Microsoft YaHei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490977" y="3718559"/>
            <a:ext cx="1205483" cy="796289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2169640" y="3778456"/>
            <a:ext cx="1381760" cy="90931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479425" marR="5080">
              <a:lnSpc>
                <a:spcPct val="97500"/>
              </a:lnSpc>
              <a:spcBef>
                <a:spcPts val="140"/>
              </a:spcBef>
            </a:pPr>
            <a:r>
              <a:rPr dirty="0" sz="1400" spc="-30">
                <a:latin typeface="SimSun"/>
                <a:cs typeface="SimSun"/>
              </a:rPr>
              <a:t>编码、调</a:t>
            </a:r>
            <a:r>
              <a:rPr dirty="0" sz="1400" spc="-50">
                <a:latin typeface="SimSun"/>
                <a:cs typeface="SimSun"/>
              </a:rPr>
              <a:t> </a:t>
            </a:r>
            <a:r>
              <a:rPr dirty="0" sz="1400" spc="-30">
                <a:latin typeface="SimSun"/>
                <a:cs typeface="SimSun"/>
              </a:rPr>
              <a:t>制、映射、</a:t>
            </a:r>
            <a:r>
              <a:rPr dirty="0" sz="1400" spc="-50">
                <a:latin typeface="SimSun"/>
                <a:cs typeface="SimSun"/>
              </a:rPr>
              <a:t> </a:t>
            </a:r>
            <a:r>
              <a:rPr dirty="0" sz="1400" spc="-20">
                <a:latin typeface="Arial MT"/>
                <a:cs typeface="Arial MT"/>
              </a:rPr>
              <a:t>IFFT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600" spc="-15">
                <a:latin typeface="Microsoft YaHei"/>
                <a:cs typeface="Microsoft YaHei"/>
              </a:rPr>
              <a:t>发送时延</a:t>
            </a:r>
            <a:endParaRPr sz="1600">
              <a:latin typeface="Microsoft YaHei"/>
              <a:cs typeface="Microsoft YaHe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293113" y="3358133"/>
            <a:ext cx="5165725" cy="943610"/>
            <a:chOff x="1293113" y="3358133"/>
            <a:chExt cx="5165725" cy="943610"/>
          </a:xfrm>
        </p:grpSpPr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06923" y="3358133"/>
              <a:ext cx="1351787" cy="80543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93113" y="3709415"/>
              <a:ext cx="721613" cy="592073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1439044" y="3769312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35">
                <a:latin typeface="SimSun"/>
                <a:cs typeface="SimSun"/>
              </a:rPr>
              <a:t>组包调度</a:t>
            </a:r>
            <a:endParaRPr sz="1400">
              <a:latin typeface="SimSun"/>
              <a:cs typeface="SimSun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037068" y="3412997"/>
            <a:ext cx="721613" cy="592073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5227068" y="3362766"/>
            <a:ext cx="2496820" cy="90106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30"/>
              </a:spcBef>
              <a:tabLst>
                <a:tab pos="1967864" algn="l"/>
              </a:tabLst>
            </a:pPr>
            <a:r>
              <a:rPr dirty="0" sz="1400" spc="-10">
                <a:latin typeface="Arial MT"/>
                <a:cs typeface="Arial MT"/>
              </a:rPr>
              <a:t>FFT</a:t>
            </a:r>
            <a:r>
              <a:rPr dirty="0" sz="1400" spc="-20">
                <a:latin typeface="SimSun"/>
                <a:cs typeface="SimSun"/>
              </a:rPr>
              <a:t>、信道</a:t>
            </a:r>
            <a:r>
              <a:rPr dirty="0" sz="1400" spc="-50">
                <a:latin typeface="SimSun"/>
                <a:cs typeface="SimSun"/>
              </a:rPr>
              <a:t>估</a:t>
            </a:r>
            <a:r>
              <a:rPr dirty="0" sz="1400">
                <a:latin typeface="SimSun"/>
                <a:cs typeface="SimSun"/>
              </a:rPr>
              <a:t>	</a:t>
            </a:r>
            <a:r>
              <a:rPr dirty="0" baseline="-17857" sz="2100" spc="-30">
                <a:latin typeface="SimSun"/>
                <a:cs typeface="SimSun"/>
              </a:rPr>
              <a:t>解</a:t>
            </a:r>
            <a:r>
              <a:rPr dirty="0" baseline="-17857" sz="2100" spc="-75">
                <a:latin typeface="SimSun"/>
                <a:cs typeface="SimSun"/>
              </a:rPr>
              <a:t>包</a:t>
            </a:r>
            <a:endParaRPr baseline="-17857" sz="2100">
              <a:latin typeface="SimSun"/>
              <a:cs typeface="SimSun"/>
            </a:endParaRPr>
          </a:p>
          <a:p>
            <a:pPr marL="38100">
              <a:lnSpc>
                <a:spcPts val="1465"/>
              </a:lnSpc>
              <a:spcBef>
                <a:spcPts val="430"/>
              </a:spcBef>
              <a:tabLst>
                <a:tab pos="1967864" algn="l"/>
              </a:tabLst>
            </a:pPr>
            <a:r>
              <a:rPr dirty="0" baseline="17857" sz="2100" spc="-75">
                <a:latin typeface="SimSun"/>
                <a:cs typeface="SimSun"/>
              </a:rPr>
              <a:t>计</a:t>
            </a:r>
            <a:r>
              <a:rPr dirty="0" baseline="17857" sz="2100">
                <a:latin typeface="SimSun"/>
                <a:cs typeface="SimSun"/>
              </a:rPr>
              <a:t>	</a:t>
            </a:r>
            <a:r>
              <a:rPr dirty="0" sz="1400" spc="-20">
                <a:latin typeface="SimSun"/>
                <a:cs typeface="SimSun"/>
              </a:rPr>
              <a:t>反</a:t>
            </a:r>
            <a:r>
              <a:rPr dirty="0" sz="1400" spc="-50">
                <a:latin typeface="SimSun"/>
                <a:cs typeface="SimSun"/>
              </a:rPr>
              <a:t>馈</a:t>
            </a:r>
            <a:endParaRPr sz="1400">
              <a:latin typeface="SimSun"/>
              <a:cs typeface="SimSun"/>
            </a:endParaRPr>
          </a:p>
          <a:p>
            <a:pPr marL="38100">
              <a:lnSpc>
                <a:spcPts val="1095"/>
              </a:lnSpc>
            </a:pPr>
            <a:r>
              <a:rPr dirty="0" sz="1400" spc="-30">
                <a:latin typeface="SimSun"/>
                <a:cs typeface="SimSun"/>
              </a:rPr>
              <a:t>解调、译码</a:t>
            </a:r>
            <a:endParaRPr sz="1400">
              <a:latin typeface="SimSun"/>
              <a:cs typeface="SimSun"/>
            </a:endParaRPr>
          </a:p>
          <a:p>
            <a:pPr marL="190500">
              <a:lnSpc>
                <a:spcPts val="1789"/>
              </a:lnSpc>
              <a:tabLst>
                <a:tab pos="1746250" algn="l"/>
              </a:tabLst>
            </a:pPr>
            <a:r>
              <a:rPr dirty="0" sz="1800">
                <a:solidFill>
                  <a:srgbClr val="FFFFFF"/>
                </a:solidFill>
                <a:latin typeface="SimSun"/>
                <a:cs typeface="SimSun"/>
              </a:rPr>
              <a:t>物理层接</a:t>
            </a:r>
            <a:r>
              <a:rPr dirty="0" sz="1800" spc="-50">
                <a:solidFill>
                  <a:srgbClr val="FFFFFF"/>
                </a:solidFill>
                <a:latin typeface="SimSun"/>
                <a:cs typeface="SimSun"/>
              </a:rPr>
              <a:t>收</a:t>
            </a:r>
            <a:r>
              <a:rPr dirty="0" sz="1800">
                <a:solidFill>
                  <a:srgbClr val="FFFFFF"/>
                </a:solidFill>
                <a:latin typeface="SimSun"/>
                <a:cs typeface="SimSun"/>
              </a:rPr>
              <a:t>	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L2</a:t>
            </a:r>
            <a:r>
              <a:rPr dirty="0" sz="1800">
                <a:solidFill>
                  <a:srgbClr val="FFFFFF"/>
                </a:solidFill>
                <a:latin typeface="SimSun"/>
                <a:cs typeface="SimSun"/>
              </a:rPr>
              <a:t>处</a:t>
            </a:r>
            <a:r>
              <a:rPr dirty="0" sz="1800" spc="-50">
                <a:solidFill>
                  <a:srgbClr val="FFFFFF"/>
                </a:solidFill>
                <a:latin typeface="SimSun"/>
                <a:cs typeface="SimSun"/>
              </a:rPr>
              <a:t>理</a:t>
            </a:r>
            <a:endParaRPr sz="1800">
              <a:latin typeface="SimSun"/>
              <a:cs typeface="SimSun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018793" y="3717810"/>
            <a:ext cx="7928609" cy="1163320"/>
            <a:chOff x="1018793" y="3717810"/>
            <a:chExt cx="7928609" cy="1163320"/>
          </a:xfrm>
        </p:grpSpPr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8793" y="4437887"/>
              <a:ext cx="3195827" cy="442721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278074" y="4621047"/>
              <a:ext cx="2677160" cy="0"/>
            </a:xfrm>
            <a:custGeom>
              <a:avLst/>
              <a:gdLst/>
              <a:ahLst/>
              <a:cxnLst/>
              <a:rect l="l" t="t" r="r" b="b"/>
              <a:pathLst>
                <a:path w="2677160" h="0">
                  <a:moveTo>
                    <a:pt x="0" y="0"/>
                  </a:moveTo>
                  <a:lnTo>
                    <a:pt x="2677147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840920" y="4554364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278078" y="4554364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133350"/>
                  </a:moveTo>
                  <a:lnTo>
                    <a:pt x="0" y="66675"/>
                  </a:lnTo>
                  <a:lnTo>
                    <a:pt x="114300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18119" y="3717810"/>
              <a:ext cx="1129282" cy="457948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4267982" y="2677160"/>
            <a:ext cx="2092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SimSun"/>
                <a:cs typeface="SimSun"/>
              </a:rPr>
              <a:t>空口时延分解示意图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82343" y="3740580"/>
            <a:ext cx="713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SimSun"/>
                <a:cs typeface="SimSun"/>
              </a:rPr>
              <a:t>发送侧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7994490" y="3795306"/>
            <a:ext cx="713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SimSun"/>
                <a:cs typeface="SimSun"/>
              </a:rPr>
              <a:t>接收侧</a:t>
            </a:r>
            <a:endParaRPr sz="1800">
              <a:latin typeface="SimSun"/>
              <a:cs typeface="SimSun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9514" y="742950"/>
            <a:ext cx="3957510" cy="2164630"/>
          </a:xfrm>
          <a:prstGeom prst="rect">
            <a:avLst/>
          </a:prstGeom>
        </p:spPr>
      </p:pic>
      <p:sp>
        <p:nvSpPr>
          <p:cNvPr id="51" name="object 51" descr=""/>
          <p:cNvSpPr txBox="1"/>
          <p:nvPr/>
        </p:nvSpPr>
        <p:spPr>
          <a:xfrm>
            <a:off x="1242146" y="2703367"/>
            <a:ext cx="2360930" cy="89535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-65" b="1">
                <a:latin typeface="Arial"/>
                <a:cs typeface="Arial"/>
              </a:rPr>
              <a:t>LTE</a:t>
            </a:r>
            <a:r>
              <a:rPr dirty="0" sz="1800" spc="-10">
                <a:latin typeface="SimSun"/>
                <a:cs typeface="SimSun"/>
              </a:rPr>
              <a:t>空口时延需求</a:t>
            </a:r>
            <a:endParaRPr sz="1800">
              <a:latin typeface="SimSun"/>
              <a:cs typeface="SimSun"/>
            </a:endParaRPr>
          </a:p>
          <a:p>
            <a:pPr marL="104775">
              <a:lnSpc>
                <a:spcPct val="100000"/>
              </a:lnSpc>
              <a:spcBef>
                <a:spcPts val="1265"/>
              </a:spcBef>
              <a:tabLst>
                <a:tab pos="1204595" algn="l"/>
              </a:tabLst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L2</a:t>
            </a:r>
            <a:r>
              <a:rPr dirty="0" sz="1800">
                <a:solidFill>
                  <a:srgbClr val="FFFFFF"/>
                </a:solidFill>
                <a:latin typeface="SimSun"/>
                <a:cs typeface="SimSun"/>
              </a:rPr>
              <a:t>处</a:t>
            </a:r>
            <a:r>
              <a:rPr dirty="0" sz="1800" spc="-50">
                <a:solidFill>
                  <a:srgbClr val="FFFFFF"/>
                </a:solidFill>
                <a:latin typeface="SimSun"/>
                <a:cs typeface="SimSun"/>
              </a:rPr>
              <a:t>理</a:t>
            </a:r>
            <a:r>
              <a:rPr dirty="0" sz="1800">
                <a:solidFill>
                  <a:srgbClr val="FFFFFF"/>
                </a:solidFill>
                <a:latin typeface="SimSun"/>
                <a:cs typeface="SimSun"/>
              </a:rPr>
              <a:t>	物理层发</a:t>
            </a:r>
            <a:r>
              <a:rPr dirty="0" sz="1800" spc="-50">
                <a:solidFill>
                  <a:srgbClr val="FFFFFF"/>
                </a:solidFill>
                <a:latin typeface="SimSun"/>
                <a:cs typeface="SimSun"/>
              </a:rPr>
              <a:t>送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378909" y="185004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45"/>
              <a:t>系统低时延高可靠技术</a:t>
            </a:r>
          </a:p>
        </p:txBody>
      </p:sp>
      <p:grpSp>
        <p:nvGrpSpPr>
          <p:cNvPr id="53" name="object 53" descr=""/>
          <p:cNvGrpSpPr/>
          <p:nvPr/>
        </p:nvGrpSpPr>
        <p:grpSpPr>
          <a:xfrm>
            <a:off x="4431791" y="1184147"/>
            <a:ext cx="4120515" cy="1186815"/>
            <a:chOff x="4431791" y="1184147"/>
            <a:chExt cx="4120515" cy="1186815"/>
          </a:xfrm>
        </p:grpSpPr>
        <p:pic>
          <p:nvPicPr>
            <p:cNvPr id="54" name="object 5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451603" y="1835657"/>
              <a:ext cx="3054845" cy="53492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31791" y="1848611"/>
              <a:ext cx="2083306" cy="43814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97565" y="1858517"/>
              <a:ext cx="2963354" cy="443318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497571" y="1858516"/>
              <a:ext cx="2963545" cy="443865"/>
            </a:xfrm>
            <a:custGeom>
              <a:avLst/>
              <a:gdLst/>
              <a:ahLst/>
              <a:cxnLst/>
              <a:rect l="l" t="t" r="r" b="b"/>
              <a:pathLst>
                <a:path w="2963545" h="443864">
                  <a:moveTo>
                    <a:pt x="0" y="83185"/>
                  </a:moveTo>
                  <a:lnTo>
                    <a:pt x="5660" y="55148"/>
                  </a:lnTo>
                  <a:lnTo>
                    <a:pt x="21096" y="32251"/>
                  </a:lnTo>
                  <a:lnTo>
                    <a:pt x="43992" y="16812"/>
                  </a:lnTo>
                  <a:lnTo>
                    <a:pt x="72034" y="11150"/>
                  </a:lnTo>
                  <a:lnTo>
                    <a:pt x="1177544" y="11150"/>
                  </a:lnTo>
                  <a:lnTo>
                    <a:pt x="1682203" y="11150"/>
                  </a:lnTo>
                  <a:lnTo>
                    <a:pt x="1946617" y="11150"/>
                  </a:lnTo>
                  <a:lnTo>
                    <a:pt x="1974651" y="16812"/>
                  </a:lnTo>
                  <a:lnTo>
                    <a:pt x="1997544" y="32251"/>
                  </a:lnTo>
                  <a:lnTo>
                    <a:pt x="2012979" y="55148"/>
                  </a:lnTo>
                  <a:lnTo>
                    <a:pt x="2018639" y="83185"/>
                  </a:lnTo>
                  <a:lnTo>
                    <a:pt x="2963354" y="0"/>
                  </a:lnTo>
                  <a:lnTo>
                    <a:pt x="2018639" y="191223"/>
                  </a:lnTo>
                  <a:lnTo>
                    <a:pt x="2018639" y="371297"/>
                  </a:lnTo>
                  <a:lnTo>
                    <a:pt x="2012979" y="399331"/>
                  </a:lnTo>
                  <a:lnTo>
                    <a:pt x="1997544" y="422224"/>
                  </a:lnTo>
                  <a:lnTo>
                    <a:pt x="1974651" y="437659"/>
                  </a:lnTo>
                  <a:lnTo>
                    <a:pt x="1946617" y="443318"/>
                  </a:lnTo>
                  <a:lnTo>
                    <a:pt x="1682203" y="443318"/>
                  </a:lnTo>
                  <a:lnTo>
                    <a:pt x="1177544" y="443318"/>
                  </a:lnTo>
                  <a:lnTo>
                    <a:pt x="72034" y="443318"/>
                  </a:lnTo>
                  <a:lnTo>
                    <a:pt x="43992" y="437659"/>
                  </a:lnTo>
                  <a:lnTo>
                    <a:pt x="21096" y="422224"/>
                  </a:lnTo>
                  <a:lnTo>
                    <a:pt x="5660" y="399331"/>
                  </a:lnTo>
                  <a:lnTo>
                    <a:pt x="0" y="371297"/>
                  </a:lnTo>
                  <a:lnTo>
                    <a:pt x="0" y="191223"/>
                  </a:lnTo>
                  <a:lnTo>
                    <a:pt x="0" y="83185"/>
                  </a:lnTo>
                  <a:close/>
                </a:path>
              </a:pathLst>
            </a:custGeom>
            <a:ln w="9524">
              <a:solidFill>
                <a:srgbClr val="2F2F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50913" y="1184147"/>
              <a:ext cx="2001011" cy="723137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6588224" y="1221596"/>
              <a:ext cx="1872614" cy="594360"/>
            </a:xfrm>
            <a:custGeom>
              <a:avLst/>
              <a:gdLst/>
              <a:ahLst/>
              <a:cxnLst/>
              <a:rect l="l" t="t" r="r" b="b"/>
              <a:pathLst>
                <a:path w="1872615" h="594360">
                  <a:moveTo>
                    <a:pt x="1812798" y="0"/>
                  </a:moveTo>
                  <a:lnTo>
                    <a:pt x="59410" y="0"/>
                  </a:lnTo>
                  <a:lnTo>
                    <a:pt x="36283" y="4669"/>
                  </a:lnTo>
                  <a:lnTo>
                    <a:pt x="17399" y="17403"/>
                  </a:lnTo>
                  <a:lnTo>
                    <a:pt x="4668" y="36288"/>
                  </a:lnTo>
                  <a:lnTo>
                    <a:pt x="0" y="59410"/>
                  </a:lnTo>
                  <a:lnTo>
                    <a:pt x="0" y="534657"/>
                  </a:lnTo>
                  <a:lnTo>
                    <a:pt x="4668" y="557784"/>
                  </a:lnTo>
                  <a:lnTo>
                    <a:pt x="17398" y="576668"/>
                  </a:lnTo>
                  <a:lnTo>
                    <a:pt x="36283" y="589399"/>
                  </a:lnTo>
                  <a:lnTo>
                    <a:pt x="59410" y="594067"/>
                  </a:lnTo>
                  <a:lnTo>
                    <a:pt x="1812798" y="594067"/>
                  </a:lnTo>
                  <a:lnTo>
                    <a:pt x="1835925" y="589399"/>
                  </a:lnTo>
                  <a:lnTo>
                    <a:pt x="1854809" y="576668"/>
                  </a:lnTo>
                  <a:lnTo>
                    <a:pt x="1867540" y="557784"/>
                  </a:lnTo>
                  <a:lnTo>
                    <a:pt x="1872208" y="534657"/>
                  </a:lnTo>
                  <a:lnTo>
                    <a:pt x="1872208" y="59410"/>
                  </a:lnTo>
                  <a:lnTo>
                    <a:pt x="1867540" y="36288"/>
                  </a:lnTo>
                  <a:lnTo>
                    <a:pt x="1854809" y="17403"/>
                  </a:lnTo>
                  <a:lnTo>
                    <a:pt x="1835925" y="4669"/>
                  </a:lnTo>
                  <a:lnTo>
                    <a:pt x="1812798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588224" y="1221596"/>
              <a:ext cx="1872614" cy="594360"/>
            </a:xfrm>
            <a:custGeom>
              <a:avLst/>
              <a:gdLst/>
              <a:ahLst/>
              <a:cxnLst/>
              <a:rect l="l" t="t" r="r" b="b"/>
              <a:pathLst>
                <a:path w="1872615" h="594360">
                  <a:moveTo>
                    <a:pt x="0" y="59410"/>
                  </a:moveTo>
                  <a:lnTo>
                    <a:pt x="4668" y="36288"/>
                  </a:lnTo>
                  <a:lnTo>
                    <a:pt x="17399" y="17403"/>
                  </a:lnTo>
                  <a:lnTo>
                    <a:pt x="36283" y="4669"/>
                  </a:lnTo>
                  <a:lnTo>
                    <a:pt x="59410" y="0"/>
                  </a:lnTo>
                  <a:lnTo>
                    <a:pt x="1812798" y="0"/>
                  </a:lnTo>
                  <a:lnTo>
                    <a:pt x="1835925" y="4669"/>
                  </a:lnTo>
                  <a:lnTo>
                    <a:pt x="1854809" y="17403"/>
                  </a:lnTo>
                  <a:lnTo>
                    <a:pt x="1867540" y="36288"/>
                  </a:lnTo>
                  <a:lnTo>
                    <a:pt x="1872208" y="59410"/>
                  </a:lnTo>
                  <a:lnTo>
                    <a:pt x="1872208" y="534657"/>
                  </a:lnTo>
                  <a:lnTo>
                    <a:pt x="1867540" y="557784"/>
                  </a:lnTo>
                  <a:lnTo>
                    <a:pt x="1854809" y="576668"/>
                  </a:lnTo>
                  <a:lnTo>
                    <a:pt x="1835925" y="589399"/>
                  </a:lnTo>
                  <a:lnTo>
                    <a:pt x="1812798" y="594067"/>
                  </a:lnTo>
                  <a:lnTo>
                    <a:pt x="59410" y="594067"/>
                  </a:lnTo>
                  <a:lnTo>
                    <a:pt x="36283" y="589399"/>
                  </a:lnTo>
                  <a:lnTo>
                    <a:pt x="17398" y="576668"/>
                  </a:lnTo>
                  <a:lnTo>
                    <a:pt x="4668" y="557784"/>
                  </a:lnTo>
                  <a:lnTo>
                    <a:pt x="0" y="534657"/>
                  </a:lnTo>
                  <a:lnTo>
                    <a:pt x="0" y="5941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4597408" y="1223231"/>
            <a:ext cx="3705225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61540" marR="5080" indent="21209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Microsoft YaHei"/>
                <a:cs typeface="Microsoft YaHei"/>
              </a:rPr>
              <a:t>ITU：1ms 3GPP：0.5ms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5G</a:t>
            </a:r>
            <a:r>
              <a:rPr dirty="0" sz="1800" spc="-10">
                <a:solidFill>
                  <a:srgbClr val="FFFFFF"/>
                </a:solidFill>
                <a:latin typeface="SimSun"/>
                <a:cs typeface="SimSun"/>
              </a:rPr>
              <a:t>空口时延指标</a:t>
            </a:r>
            <a:endParaRPr sz="1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1273343"/>
            <a:ext cx="9153525" cy="3448685"/>
            <a:chOff x="-4762" y="1273343"/>
            <a:chExt cx="9153525" cy="3448685"/>
          </a:xfrm>
        </p:grpSpPr>
        <p:sp>
          <p:nvSpPr>
            <p:cNvPr id="3" name="object 3" descr=""/>
            <p:cNvSpPr/>
            <p:nvPr/>
          </p:nvSpPr>
          <p:spPr>
            <a:xfrm>
              <a:off x="0" y="311180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612943" y="1278106"/>
              <a:ext cx="18415" cy="3439160"/>
            </a:xfrm>
            <a:custGeom>
              <a:avLst/>
              <a:gdLst/>
              <a:ahLst/>
              <a:cxnLst/>
              <a:rect l="l" t="t" r="r" b="b"/>
              <a:pathLst>
                <a:path w="18414" h="3439160">
                  <a:moveTo>
                    <a:pt x="0" y="0"/>
                  </a:moveTo>
                  <a:lnTo>
                    <a:pt x="18046" y="3438905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330259" y="930608"/>
            <a:ext cx="63487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latin typeface="Microsoft YaHei"/>
                <a:cs typeface="Microsoft YaHei"/>
              </a:rPr>
              <a:t>高频段通信是</a:t>
            </a:r>
            <a:r>
              <a:rPr dirty="0" sz="1400" spc="-10">
                <a:latin typeface="Arial MT"/>
                <a:cs typeface="Arial MT"/>
              </a:rPr>
              <a:t>5G</a:t>
            </a:r>
            <a:r>
              <a:rPr dirty="0" sz="1400" spc="-20">
                <a:latin typeface="Microsoft YaHei"/>
                <a:cs typeface="Microsoft YaHei"/>
              </a:rPr>
              <a:t>新空口满足</a:t>
            </a:r>
            <a:r>
              <a:rPr dirty="0" sz="1400" spc="-10">
                <a:latin typeface="Arial MT"/>
                <a:cs typeface="Arial MT"/>
              </a:rPr>
              <a:t>20Gbps</a:t>
            </a:r>
            <a:r>
              <a:rPr dirty="0" sz="1400" spc="-20">
                <a:latin typeface="Microsoft YaHei"/>
                <a:cs typeface="Microsoft YaHei"/>
              </a:rPr>
              <a:t>峰值速率和</a:t>
            </a:r>
            <a:r>
              <a:rPr dirty="0" sz="1400">
                <a:latin typeface="Arial MT"/>
                <a:cs typeface="Arial MT"/>
              </a:rPr>
              <a:t>10Tbps/km2</a:t>
            </a:r>
            <a:r>
              <a:rPr dirty="0" sz="1400" spc="165">
                <a:latin typeface="Arial MT"/>
                <a:cs typeface="Arial MT"/>
              </a:rPr>
              <a:t> </a:t>
            </a:r>
            <a:r>
              <a:rPr dirty="0" sz="1400" spc="-25">
                <a:latin typeface="Microsoft YaHei"/>
                <a:cs typeface="Microsoft YaHei"/>
              </a:rPr>
              <a:t>吞吐量的最有效技术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23721" y="3192722"/>
            <a:ext cx="10909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Microsoft YaHei"/>
                <a:cs typeface="Microsoft YaHei"/>
              </a:rPr>
              <a:t>射频技术研究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95202" y="3559841"/>
            <a:ext cx="1040130" cy="864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9865" algn="l"/>
              </a:tabLst>
            </a:pPr>
            <a:r>
              <a:rPr dirty="0" sz="1100" spc="-30">
                <a:latin typeface="Microsoft YaHei"/>
                <a:cs typeface="Microsoft YaHei"/>
              </a:rPr>
              <a:t>天线阵列</a:t>
            </a:r>
            <a:endParaRPr sz="1100">
              <a:latin typeface="Microsoft YaHei"/>
              <a:cs typeface="Microsoft YaHei"/>
            </a:endParaRPr>
          </a:p>
          <a:p>
            <a:pPr marL="189865" indent="-177165">
              <a:lnSpc>
                <a:spcPct val="100000"/>
              </a:lnSpc>
              <a:buFont typeface="Arial MT"/>
              <a:buChar char="•"/>
              <a:tabLst>
                <a:tab pos="189865" algn="l"/>
              </a:tabLst>
            </a:pPr>
            <a:r>
              <a:rPr dirty="0" sz="1100" spc="-25">
                <a:latin typeface="Microsoft YaHei"/>
                <a:cs typeface="Microsoft YaHei"/>
              </a:rPr>
              <a:t>射频收发单元</a:t>
            </a:r>
            <a:endParaRPr sz="1100">
              <a:latin typeface="Microsoft YaHei"/>
              <a:cs typeface="Microsoft YaHei"/>
            </a:endParaRPr>
          </a:p>
          <a:p>
            <a:pPr marL="189865" indent="-177165">
              <a:lnSpc>
                <a:spcPct val="100000"/>
              </a:lnSpc>
              <a:buFont typeface="Arial MT"/>
              <a:buChar char="•"/>
              <a:tabLst>
                <a:tab pos="189865" algn="l"/>
              </a:tabLst>
            </a:pPr>
            <a:r>
              <a:rPr dirty="0" sz="1100" spc="-30">
                <a:latin typeface="Microsoft YaHei"/>
                <a:cs typeface="Microsoft YaHei"/>
              </a:rPr>
              <a:t>数字单元</a:t>
            </a:r>
            <a:endParaRPr sz="1100">
              <a:latin typeface="Microsoft YaHei"/>
              <a:cs typeface="Microsoft YaHei"/>
            </a:endParaRPr>
          </a:p>
          <a:p>
            <a:pPr marL="189865" indent="-177165">
              <a:lnSpc>
                <a:spcPct val="100000"/>
              </a:lnSpc>
              <a:buFont typeface="Arial MT"/>
              <a:buChar char="•"/>
              <a:tabLst>
                <a:tab pos="189865" algn="l"/>
              </a:tabLst>
            </a:pPr>
            <a:r>
              <a:rPr dirty="0" sz="1100" spc="-30">
                <a:latin typeface="Microsoft YaHei"/>
                <a:cs typeface="Microsoft YaHei"/>
              </a:rPr>
              <a:t>波束控制器</a:t>
            </a:r>
            <a:endParaRPr sz="1100">
              <a:latin typeface="Microsoft YaHei"/>
              <a:cs typeface="Microsoft YaHei"/>
            </a:endParaRPr>
          </a:p>
          <a:p>
            <a:pPr marL="189865" indent="-177165">
              <a:lnSpc>
                <a:spcPct val="100000"/>
              </a:lnSpc>
              <a:spcBef>
                <a:spcPts val="10"/>
              </a:spcBef>
              <a:buChar char="•"/>
              <a:tabLst>
                <a:tab pos="189865" algn="l"/>
              </a:tabLst>
            </a:pPr>
            <a:r>
              <a:rPr dirty="0" sz="1100" spc="-25">
                <a:latin typeface="Arial MT"/>
                <a:cs typeface="Arial MT"/>
              </a:rPr>
              <a:t>……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41121" y="2564145"/>
          <a:ext cx="3665854" cy="14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"/>
                <a:gridCol w="618490"/>
                <a:gridCol w="441959"/>
                <a:gridCol w="441960"/>
                <a:gridCol w="441960"/>
                <a:gridCol w="530225"/>
                <a:gridCol w="706754"/>
              </a:tblGrid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582538" y="2725613"/>
            <a:ext cx="30861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59-</a:t>
            </a:r>
            <a:r>
              <a:rPr dirty="0" sz="250" spc="290">
                <a:latin typeface="SimSun"/>
                <a:cs typeface="SimSun"/>
              </a:rPr>
              <a:t>64</a:t>
            </a:r>
            <a:endParaRPr sz="25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63189" y="2725614"/>
            <a:ext cx="30861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71-</a:t>
            </a:r>
            <a:r>
              <a:rPr dirty="0" sz="250" spc="290">
                <a:latin typeface="SimSun"/>
                <a:cs typeface="SimSun"/>
              </a:rPr>
              <a:t>76</a:t>
            </a:r>
            <a:endParaRPr sz="250">
              <a:latin typeface="SimSun"/>
              <a:cs typeface="SimSu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99667" y="2725615"/>
            <a:ext cx="30861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81-</a:t>
            </a:r>
            <a:r>
              <a:rPr dirty="0" sz="250" spc="290">
                <a:latin typeface="SimSun"/>
                <a:cs typeface="SimSun"/>
              </a:rPr>
              <a:t>86</a:t>
            </a:r>
            <a:endParaRPr sz="2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540440" y="2725615"/>
            <a:ext cx="36512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92-</a:t>
            </a:r>
            <a:r>
              <a:rPr dirty="0" sz="250" spc="290">
                <a:latin typeface="SimSun"/>
                <a:cs typeface="SimSun"/>
              </a:rPr>
              <a:t>100</a:t>
            </a:r>
            <a:endParaRPr sz="2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25738" y="2496860"/>
            <a:ext cx="19558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290">
                <a:latin typeface="SimSun"/>
                <a:cs typeface="SimSun"/>
              </a:rPr>
              <a:t>100</a:t>
            </a:r>
            <a:endParaRPr sz="250">
              <a:latin typeface="SimSun"/>
              <a:cs typeface="SimSun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523963" y="2285255"/>
          <a:ext cx="3664585" cy="14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615"/>
                <a:gridCol w="910590"/>
                <a:gridCol w="57784"/>
                <a:gridCol w="212725"/>
                <a:gridCol w="348615"/>
                <a:gridCol w="57785"/>
                <a:gridCol w="426084"/>
                <a:gridCol w="1220470"/>
              </a:tblGrid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 descr=""/>
          <p:cNvSpPr txBox="1"/>
          <p:nvPr/>
        </p:nvSpPr>
        <p:spPr>
          <a:xfrm>
            <a:off x="540129" y="2227073"/>
            <a:ext cx="25146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295">
                <a:latin typeface="SimSun"/>
                <a:cs typeface="SimSun"/>
              </a:rPr>
              <a:t>40.5</a:t>
            </a:r>
            <a:endParaRPr sz="250">
              <a:latin typeface="SimSun"/>
              <a:cs typeface="SimSu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53835" y="2222115"/>
            <a:ext cx="13906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290">
                <a:latin typeface="SimSun"/>
                <a:cs typeface="SimSun"/>
              </a:rPr>
              <a:t>59</a:t>
            </a:r>
            <a:endParaRPr sz="25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9498" y="2434702"/>
            <a:ext cx="534035" cy="125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40.5-</a:t>
            </a:r>
            <a:r>
              <a:rPr dirty="0" sz="250" spc="295">
                <a:latin typeface="SimSun"/>
                <a:cs typeface="SimSun"/>
              </a:rPr>
              <a:t>42.3</a:t>
            </a:r>
            <a:endParaRPr sz="250">
              <a:latin typeface="SimSun"/>
              <a:cs typeface="SimSun"/>
            </a:endParaRPr>
          </a:p>
          <a:p>
            <a:pPr marL="46355">
              <a:lnSpc>
                <a:spcPct val="100000"/>
              </a:lnSpc>
              <a:spcBef>
                <a:spcPts val="190"/>
              </a:spcBef>
            </a:pPr>
            <a:r>
              <a:rPr dirty="0" sz="250" spc="290">
                <a:latin typeface="SimSun"/>
                <a:cs typeface="SimSun"/>
              </a:rPr>
              <a:t>59</a:t>
            </a:r>
            <a:endParaRPr sz="250">
              <a:latin typeface="SimSun"/>
              <a:cs typeface="SimSun"/>
            </a:endParaRP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482841" y="2006996"/>
          <a:ext cx="3731260" cy="14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7565"/>
                <a:gridCol w="409575"/>
                <a:gridCol w="445134"/>
                <a:gridCol w="391794"/>
                <a:gridCol w="285114"/>
                <a:gridCol w="1283334"/>
              </a:tblGrid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 descr=""/>
          <p:cNvSpPr txBox="1"/>
          <p:nvPr/>
        </p:nvSpPr>
        <p:spPr>
          <a:xfrm>
            <a:off x="1336892" y="2170508"/>
            <a:ext cx="76009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24.65-27-</a:t>
            </a:r>
            <a:r>
              <a:rPr dirty="0" sz="250" spc="295">
                <a:latin typeface="SimSun"/>
                <a:cs typeface="SimSun"/>
              </a:rPr>
              <a:t>29.5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466192" y="2170508"/>
            <a:ext cx="53403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31.8-</a:t>
            </a:r>
            <a:r>
              <a:rPr dirty="0" sz="250" spc="295">
                <a:latin typeface="SimSun"/>
                <a:cs typeface="SimSun"/>
              </a:rPr>
              <a:t>33.4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00660" y="1948574"/>
            <a:ext cx="13906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290">
                <a:latin typeface="SimSun"/>
                <a:cs typeface="SimSun"/>
              </a:rPr>
              <a:t>20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844465" y="1943616"/>
            <a:ext cx="25146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295">
                <a:latin typeface="SimSun"/>
                <a:cs typeface="SimSun"/>
              </a:rPr>
              <a:t>40.5</a:t>
            </a:r>
            <a:endParaRPr sz="250">
              <a:latin typeface="SimSun"/>
              <a:cs typeface="SimSun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524824" y="1713408"/>
          <a:ext cx="3681729" cy="14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220"/>
                <a:gridCol w="711199"/>
                <a:gridCol w="177800"/>
                <a:gridCol w="533400"/>
                <a:gridCol w="127635"/>
                <a:gridCol w="255269"/>
                <a:gridCol w="252094"/>
                <a:gridCol w="1181734"/>
              </a:tblGrid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 descr=""/>
          <p:cNvSpPr txBox="1"/>
          <p:nvPr/>
        </p:nvSpPr>
        <p:spPr>
          <a:xfrm>
            <a:off x="514558" y="1650207"/>
            <a:ext cx="30861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05">
                <a:latin typeface="SimSun"/>
                <a:cs typeface="SimSun"/>
              </a:rPr>
              <a:t>5.925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45318" y="1650207"/>
            <a:ext cx="13906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290">
                <a:latin typeface="SimSun"/>
                <a:cs typeface="SimSun"/>
              </a:rPr>
              <a:t>20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01318" y="1878962"/>
            <a:ext cx="64770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5.925-</a:t>
            </a:r>
            <a:r>
              <a:rPr dirty="0" sz="250" spc="305">
                <a:latin typeface="SimSun"/>
                <a:cs typeface="SimSun"/>
              </a:rPr>
              <a:t>7.145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91714" y="1878962"/>
            <a:ext cx="180467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10-10.6</a:t>
            </a:r>
            <a:r>
              <a:rPr dirty="0" sz="250" spc="310">
                <a:latin typeface="SimSun"/>
                <a:cs typeface="SimSun"/>
              </a:rPr>
              <a:t>  </a:t>
            </a:r>
            <a:r>
              <a:rPr dirty="0" sz="250" spc="315">
                <a:latin typeface="SimSun"/>
                <a:cs typeface="SimSun"/>
              </a:rPr>
              <a:t>12.75-13.25</a:t>
            </a:r>
            <a:r>
              <a:rPr dirty="0" sz="250" spc="225">
                <a:latin typeface="SimSun"/>
                <a:cs typeface="SimSun"/>
              </a:rPr>
              <a:t>  </a:t>
            </a:r>
            <a:r>
              <a:rPr dirty="0" sz="250" spc="315">
                <a:latin typeface="SimSun"/>
                <a:cs typeface="SimSun"/>
              </a:rPr>
              <a:t>14.3-</a:t>
            </a:r>
            <a:r>
              <a:rPr dirty="0" sz="250" spc="305">
                <a:latin typeface="SimSun"/>
                <a:cs typeface="SimSun"/>
              </a:rPr>
              <a:t>15.35</a:t>
            </a:r>
            <a:endParaRPr sz="250">
              <a:latin typeface="SimSun"/>
              <a:cs typeface="SimSu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731626" y="2817287"/>
            <a:ext cx="710565" cy="152400"/>
            <a:chOff x="2731626" y="2817287"/>
            <a:chExt cx="710565" cy="152400"/>
          </a:xfrm>
        </p:grpSpPr>
        <p:sp>
          <p:nvSpPr>
            <p:cNvPr id="29" name="object 29" descr=""/>
            <p:cNvSpPr/>
            <p:nvPr/>
          </p:nvSpPr>
          <p:spPr>
            <a:xfrm>
              <a:off x="2733214" y="2818874"/>
              <a:ext cx="177165" cy="149225"/>
            </a:xfrm>
            <a:custGeom>
              <a:avLst/>
              <a:gdLst/>
              <a:ahLst/>
              <a:cxnLst/>
              <a:rect l="l" t="t" r="r" b="b"/>
              <a:pathLst>
                <a:path w="177164" h="149225">
                  <a:moveTo>
                    <a:pt x="176697" y="149192"/>
                  </a:moveTo>
                  <a:lnTo>
                    <a:pt x="0" y="149192"/>
                  </a:lnTo>
                  <a:lnTo>
                    <a:pt x="0" y="0"/>
                  </a:lnTo>
                  <a:lnTo>
                    <a:pt x="176697" y="0"/>
                  </a:lnTo>
                  <a:lnTo>
                    <a:pt x="176697" y="1491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733214" y="2818874"/>
              <a:ext cx="177165" cy="149225"/>
            </a:xfrm>
            <a:custGeom>
              <a:avLst/>
              <a:gdLst/>
              <a:ahLst/>
              <a:cxnLst/>
              <a:rect l="l" t="t" r="r" b="b"/>
              <a:pathLst>
                <a:path w="177164" h="149225">
                  <a:moveTo>
                    <a:pt x="0" y="149192"/>
                  </a:moveTo>
                  <a:lnTo>
                    <a:pt x="176697" y="149192"/>
                  </a:lnTo>
                  <a:lnTo>
                    <a:pt x="176697" y="0"/>
                  </a:lnTo>
                  <a:lnTo>
                    <a:pt x="0" y="0"/>
                  </a:lnTo>
                  <a:lnTo>
                    <a:pt x="0" y="1491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263297" y="2818875"/>
              <a:ext cx="177165" cy="149225"/>
            </a:xfrm>
            <a:custGeom>
              <a:avLst/>
              <a:gdLst/>
              <a:ahLst/>
              <a:cxnLst/>
              <a:rect l="l" t="t" r="r" b="b"/>
              <a:pathLst>
                <a:path w="177164" h="149225">
                  <a:moveTo>
                    <a:pt x="176697" y="149192"/>
                  </a:moveTo>
                  <a:lnTo>
                    <a:pt x="0" y="149192"/>
                  </a:lnTo>
                  <a:lnTo>
                    <a:pt x="0" y="0"/>
                  </a:lnTo>
                  <a:lnTo>
                    <a:pt x="176697" y="0"/>
                  </a:lnTo>
                  <a:lnTo>
                    <a:pt x="176697" y="14919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263297" y="2818875"/>
              <a:ext cx="177165" cy="149225"/>
            </a:xfrm>
            <a:custGeom>
              <a:avLst/>
              <a:gdLst/>
              <a:ahLst/>
              <a:cxnLst/>
              <a:rect l="l" t="t" r="r" b="b"/>
              <a:pathLst>
                <a:path w="177164" h="149225">
                  <a:moveTo>
                    <a:pt x="0" y="149192"/>
                  </a:moveTo>
                  <a:lnTo>
                    <a:pt x="176697" y="149192"/>
                  </a:lnTo>
                  <a:lnTo>
                    <a:pt x="176697" y="0"/>
                  </a:lnTo>
                  <a:lnTo>
                    <a:pt x="0" y="0"/>
                  </a:lnTo>
                  <a:lnTo>
                    <a:pt x="0" y="1491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947076" y="2801824"/>
            <a:ext cx="13779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50" spc="580">
                <a:latin typeface="SimSun"/>
                <a:cs typeface="SimSun"/>
              </a:rPr>
              <a:t>高优先级</a:t>
            </a:r>
            <a:endParaRPr sz="250">
              <a:latin typeface="SimSun"/>
              <a:cs typeface="SimSu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477112" y="2801824"/>
            <a:ext cx="13779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50" spc="580">
                <a:latin typeface="SimSun"/>
                <a:cs typeface="SimSun"/>
              </a:rPr>
              <a:t>中优先级</a:t>
            </a:r>
            <a:endParaRPr sz="25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38277" y="2851946"/>
            <a:ext cx="998219" cy="76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" spc="875">
                <a:latin typeface="SimSun"/>
                <a:cs typeface="SimSun"/>
              </a:rPr>
              <a:t>频率单位</a:t>
            </a:r>
            <a:r>
              <a:rPr dirty="0" sz="300" spc="525">
                <a:latin typeface="SimSun"/>
                <a:cs typeface="SimSun"/>
              </a:rPr>
              <a:t>：GHz</a:t>
            </a:r>
            <a:endParaRPr sz="300">
              <a:latin typeface="SimSun"/>
              <a:cs typeface="SimSu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63786" y="2435586"/>
            <a:ext cx="157099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315">
                <a:latin typeface="SimSun"/>
                <a:cs typeface="SimSun"/>
              </a:rPr>
              <a:t>47</a:t>
            </a:r>
            <a:r>
              <a:rPr dirty="0" sz="250" spc="434">
                <a:latin typeface="SimSun"/>
                <a:cs typeface="SimSun"/>
              </a:rPr>
              <a:t> </a:t>
            </a:r>
            <a:r>
              <a:rPr dirty="0" sz="250" spc="315">
                <a:latin typeface="SimSun"/>
                <a:cs typeface="SimSun"/>
              </a:rPr>
              <a:t>47.2-48.4-50.2</a:t>
            </a:r>
            <a:r>
              <a:rPr dirty="0" sz="250" spc="380">
                <a:latin typeface="SimSun"/>
                <a:cs typeface="SimSun"/>
              </a:rPr>
              <a:t> </a:t>
            </a:r>
            <a:r>
              <a:rPr dirty="0" sz="250" spc="315">
                <a:latin typeface="SimSun"/>
                <a:cs typeface="SimSun"/>
              </a:rPr>
              <a:t>50.4-</a:t>
            </a:r>
            <a:r>
              <a:rPr dirty="0" sz="250" spc="295">
                <a:latin typeface="SimSun"/>
                <a:cs typeface="SimSun"/>
              </a:rPr>
              <a:t>52.6</a:t>
            </a:r>
            <a:endParaRPr sz="250">
              <a:latin typeface="SimSun"/>
              <a:cs typeface="SimSu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350899" y="1322324"/>
            <a:ext cx="197866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Microsoft YaHei"/>
                <a:cs typeface="Microsoft YaHei"/>
              </a:rPr>
              <a:t>潜在频谱分析和信道建模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370717" y="1356590"/>
            <a:ext cx="28663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Microsoft YaHei"/>
                <a:cs typeface="Microsoft YaHei"/>
              </a:rPr>
              <a:t>多天线传输及基于波束赋形接入控制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41370" y="1653654"/>
            <a:ext cx="7851140" cy="3027680"/>
            <a:chOff x="1041370" y="1653654"/>
            <a:chExt cx="7851140" cy="3027680"/>
          </a:xfrm>
        </p:grpSpPr>
        <p:pic>
          <p:nvPicPr>
            <p:cNvPr id="40" name="object 4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0678" y="1672846"/>
              <a:ext cx="1160169" cy="487128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7599" y="1861172"/>
              <a:ext cx="512973" cy="5523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266049" y="1656254"/>
              <a:ext cx="1207135" cy="253365"/>
            </a:xfrm>
            <a:custGeom>
              <a:avLst/>
              <a:gdLst/>
              <a:ahLst/>
              <a:cxnLst/>
              <a:rect l="l" t="t" r="r" b="b"/>
              <a:pathLst>
                <a:path w="1207135" h="253364">
                  <a:moveTo>
                    <a:pt x="1336" y="253239"/>
                  </a:moveTo>
                  <a:lnTo>
                    <a:pt x="62929" y="229635"/>
                  </a:lnTo>
                  <a:lnTo>
                    <a:pt x="101826" y="218499"/>
                  </a:lnTo>
                  <a:lnTo>
                    <a:pt x="147487" y="205925"/>
                  </a:lnTo>
                  <a:lnTo>
                    <a:pt x="198594" y="192241"/>
                  </a:lnTo>
                  <a:lnTo>
                    <a:pt x="253831" y="177776"/>
                  </a:lnTo>
                  <a:lnTo>
                    <a:pt x="311878" y="162858"/>
                  </a:lnTo>
                  <a:lnTo>
                    <a:pt x="371419" y="147815"/>
                  </a:lnTo>
                  <a:lnTo>
                    <a:pt x="431137" y="132976"/>
                  </a:lnTo>
                  <a:lnTo>
                    <a:pt x="489712" y="118669"/>
                  </a:lnTo>
                  <a:lnTo>
                    <a:pt x="545828" y="105221"/>
                  </a:lnTo>
                  <a:lnTo>
                    <a:pt x="598167" y="92962"/>
                  </a:lnTo>
                  <a:lnTo>
                    <a:pt x="645412" y="82219"/>
                  </a:lnTo>
                  <a:lnTo>
                    <a:pt x="686244" y="73321"/>
                  </a:lnTo>
                  <a:lnTo>
                    <a:pt x="747635" y="60983"/>
                  </a:lnTo>
                  <a:lnTo>
                    <a:pt x="811599" y="49268"/>
                  </a:lnTo>
                  <a:lnTo>
                    <a:pt x="876317" y="38357"/>
                  </a:lnTo>
                  <a:lnTo>
                    <a:pt x="939970" y="28437"/>
                  </a:lnTo>
                  <a:lnTo>
                    <a:pt x="1000738" y="19690"/>
                  </a:lnTo>
                  <a:lnTo>
                    <a:pt x="1056804" y="12301"/>
                  </a:lnTo>
                  <a:lnTo>
                    <a:pt x="1106347" y="6453"/>
                  </a:lnTo>
                  <a:lnTo>
                    <a:pt x="1147550" y="2331"/>
                  </a:lnTo>
                  <a:lnTo>
                    <a:pt x="1197657" y="0"/>
                  </a:lnTo>
                  <a:lnTo>
                    <a:pt x="1206541" y="4015"/>
                  </a:lnTo>
                  <a:lnTo>
                    <a:pt x="1173286" y="25258"/>
                  </a:lnTo>
                  <a:lnTo>
                    <a:pt x="1133248" y="40561"/>
                  </a:lnTo>
                  <a:lnTo>
                    <a:pt x="1079003" y="57703"/>
                  </a:lnTo>
                  <a:lnTo>
                    <a:pt x="1011602" y="75722"/>
                  </a:lnTo>
                  <a:lnTo>
                    <a:pt x="932096" y="93654"/>
                  </a:lnTo>
                  <a:lnTo>
                    <a:pt x="854334" y="109069"/>
                  </a:lnTo>
                  <a:lnTo>
                    <a:pt x="805686" y="118339"/>
                  </a:lnTo>
                  <a:lnTo>
                    <a:pt x="751858" y="128411"/>
                  </a:lnTo>
                  <a:lnTo>
                    <a:pt x="693847" y="139104"/>
                  </a:lnTo>
                  <a:lnTo>
                    <a:pt x="632651" y="150239"/>
                  </a:lnTo>
                  <a:lnTo>
                    <a:pt x="569269" y="161635"/>
                  </a:lnTo>
                  <a:lnTo>
                    <a:pt x="504697" y="173112"/>
                  </a:lnTo>
                  <a:lnTo>
                    <a:pt x="439934" y="184491"/>
                  </a:lnTo>
                  <a:lnTo>
                    <a:pt x="375978" y="195591"/>
                  </a:lnTo>
                  <a:lnTo>
                    <a:pt x="313827" y="206232"/>
                  </a:lnTo>
                  <a:lnTo>
                    <a:pt x="254478" y="216234"/>
                  </a:lnTo>
                  <a:lnTo>
                    <a:pt x="198930" y="225418"/>
                  </a:lnTo>
                  <a:lnTo>
                    <a:pt x="148181" y="233602"/>
                  </a:lnTo>
                  <a:lnTo>
                    <a:pt x="103228" y="240608"/>
                  </a:lnTo>
                  <a:lnTo>
                    <a:pt x="65068" y="246254"/>
                  </a:lnTo>
                  <a:lnTo>
                    <a:pt x="13125" y="252750"/>
                  </a:lnTo>
                  <a:lnTo>
                    <a:pt x="1336" y="25323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0626" y="1741131"/>
              <a:ext cx="346355" cy="1684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8226" y="1653654"/>
              <a:ext cx="2304249" cy="54005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6176" y="3435845"/>
              <a:ext cx="2664291" cy="70207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0191" y="4137926"/>
              <a:ext cx="2520276" cy="432045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1370" y="3841488"/>
              <a:ext cx="3218258" cy="839617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1943226" y="3207084"/>
            <a:ext cx="7359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30">
                <a:latin typeface="Microsoft YaHei"/>
                <a:cs typeface="Microsoft YaHei"/>
              </a:rPr>
              <a:t>组网方式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081984" y="4314488"/>
            <a:ext cx="594360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240">
                <a:solidFill>
                  <a:srgbClr val="FF0000"/>
                </a:solidFill>
                <a:latin typeface="SimSun"/>
                <a:cs typeface="SimSun"/>
              </a:rPr>
              <a:t>Blind</a:t>
            </a:r>
            <a:r>
              <a:rPr dirty="0" sz="400" spc="27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dirty="0" sz="400" spc="220">
                <a:solidFill>
                  <a:srgbClr val="FF0000"/>
                </a:solidFill>
                <a:latin typeface="SimSun"/>
                <a:cs typeface="SimSun"/>
              </a:rPr>
              <a:t>spot</a:t>
            </a:r>
            <a:endParaRPr sz="400">
              <a:latin typeface="SimSun"/>
              <a:cs typeface="SimSun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511907" y="3494545"/>
            <a:ext cx="3430270" cy="1071245"/>
            <a:chOff x="511907" y="3494545"/>
            <a:chExt cx="3430270" cy="1071245"/>
          </a:xfrm>
        </p:grpSpPr>
        <p:sp>
          <p:nvSpPr>
            <p:cNvPr id="51" name="object 51" descr=""/>
            <p:cNvSpPr/>
            <p:nvPr/>
          </p:nvSpPr>
          <p:spPr>
            <a:xfrm>
              <a:off x="579510" y="4091034"/>
              <a:ext cx="333375" cy="131445"/>
            </a:xfrm>
            <a:custGeom>
              <a:avLst/>
              <a:gdLst/>
              <a:ahLst/>
              <a:cxnLst/>
              <a:rect l="l" t="t" r="r" b="b"/>
              <a:pathLst>
                <a:path w="333375" h="131445">
                  <a:moveTo>
                    <a:pt x="66650" y="130929"/>
                  </a:moveTo>
                  <a:lnTo>
                    <a:pt x="0" y="65462"/>
                  </a:lnTo>
                  <a:lnTo>
                    <a:pt x="266594" y="0"/>
                  </a:lnTo>
                  <a:lnTo>
                    <a:pt x="333244" y="65462"/>
                  </a:lnTo>
                  <a:lnTo>
                    <a:pt x="66650" y="1309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79510" y="4091034"/>
              <a:ext cx="333375" cy="131445"/>
            </a:xfrm>
            <a:custGeom>
              <a:avLst/>
              <a:gdLst/>
              <a:ahLst/>
              <a:cxnLst/>
              <a:rect l="l" t="t" r="r" b="b"/>
              <a:pathLst>
                <a:path w="333375" h="131445">
                  <a:moveTo>
                    <a:pt x="66650" y="130929"/>
                  </a:moveTo>
                  <a:lnTo>
                    <a:pt x="333244" y="65462"/>
                  </a:lnTo>
                  <a:lnTo>
                    <a:pt x="266594" y="0"/>
                  </a:lnTo>
                  <a:lnTo>
                    <a:pt x="0" y="65462"/>
                  </a:lnTo>
                  <a:lnTo>
                    <a:pt x="66650" y="13092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46162" y="4156498"/>
              <a:ext cx="266700" cy="131445"/>
            </a:xfrm>
            <a:custGeom>
              <a:avLst/>
              <a:gdLst/>
              <a:ahLst/>
              <a:cxnLst/>
              <a:rect l="l" t="t" r="r" b="b"/>
              <a:pathLst>
                <a:path w="266700" h="131445">
                  <a:moveTo>
                    <a:pt x="0" y="130929"/>
                  </a:moveTo>
                  <a:lnTo>
                    <a:pt x="0" y="65466"/>
                  </a:lnTo>
                  <a:lnTo>
                    <a:pt x="266594" y="0"/>
                  </a:lnTo>
                  <a:lnTo>
                    <a:pt x="266594" y="65466"/>
                  </a:lnTo>
                  <a:lnTo>
                    <a:pt x="0" y="1309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46162" y="4156498"/>
              <a:ext cx="266700" cy="131445"/>
            </a:xfrm>
            <a:custGeom>
              <a:avLst/>
              <a:gdLst/>
              <a:ahLst/>
              <a:cxnLst/>
              <a:rect l="l" t="t" r="r" b="b"/>
              <a:pathLst>
                <a:path w="266700" h="131445">
                  <a:moveTo>
                    <a:pt x="266594" y="0"/>
                  </a:moveTo>
                  <a:lnTo>
                    <a:pt x="266594" y="65466"/>
                  </a:lnTo>
                  <a:lnTo>
                    <a:pt x="0" y="130929"/>
                  </a:lnTo>
                  <a:lnTo>
                    <a:pt x="0" y="65466"/>
                  </a:lnTo>
                  <a:lnTo>
                    <a:pt x="26659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907" y="4155656"/>
              <a:ext cx="135204" cy="13272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5390" y="4062006"/>
              <a:ext cx="47993" cy="13538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015397" y="4061999"/>
              <a:ext cx="48260" cy="13970"/>
            </a:xfrm>
            <a:custGeom>
              <a:avLst/>
              <a:gdLst/>
              <a:ahLst/>
              <a:cxnLst/>
              <a:rect l="l" t="t" r="r" b="b"/>
              <a:pathLst>
                <a:path w="48259" h="13970">
                  <a:moveTo>
                    <a:pt x="47986" y="6775"/>
                  </a:moveTo>
                  <a:lnTo>
                    <a:pt x="47986" y="3034"/>
                  </a:lnTo>
                  <a:lnTo>
                    <a:pt x="37243" y="0"/>
                  </a:lnTo>
                  <a:lnTo>
                    <a:pt x="23989" y="0"/>
                  </a:lnTo>
                  <a:lnTo>
                    <a:pt x="10742" y="0"/>
                  </a:lnTo>
                  <a:lnTo>
                    <a:pt x="0" y="3034"/>
                  </a:lnTo>
                  <a:lnTo>
                    <a:pt x="0" y="6775"/>
                  </a:lnTo>
                  <a:lnTo>
                    <a:pt x="0" y="10517"/>
                  </a:lnTo>
                  <a:lnTo>
                    <a:pt x="10742" y="13551"/>
                  </a:lnTo>
                  <a:lnTo>
                    <a:pt x="23989" y="13551"/>
                  </a:lnTo>
                  <a:lnTo>
                    <a:pt x="37243" y="13551"/>
                  </a:lnTo>
                  <a:lnTo>
                    <a:pt x="47986" y="10517"/>
                  </a:lnTo>
                  <a:lnTo>
                    <a:pt x="47986" y="6775"/>
                  </a:lnTo>
                  <a:close/>
                </a:path>
              </a:pathLst>
            </a:custGeom>
            <a:ln w="35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1819" y="4068153"/>
              <a:ext cx="95694" cy="94780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991811" y="4068153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4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7391" y="4001236"/>
              <a:ext cx="23990" cy="11772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027389" y="4001227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30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39389" y="4013012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79407" y="3986290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5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5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5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5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991812" y="4001227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4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4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4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952480" y="4506082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30" h="56514">
                  <a:moveTo>
                    <a:pt x="130634" y="25531"/>
                  </a:moveTo>
                  <a:lnTo>
                    <a:pt x="130634" y="18329"/>
                  </a:lnTo>
                  <a:lnTo>
                    <a:pt x="85315" y="7201"/>
                  </a:lnTo>
                  <a:lnTo>
                    <a:pt x="117302" y="0"/>
                  </a:lnTo>
                  <a:lnTo>
                    <a:pt x="175954" y="14404"/>
                  </a:lnTo>
                  <a:lnTo>
                    <a:pt x="130634" y="25531"/>
                  </a:lnTo>
                  <a:close/>
                </a:path>
                <a:path w="176530" h="56514">
                  <a:moveTo>
                    <a:pt x="98638" y="26185"/>
                  </a:moveTo>
                  <a:lnTo>
                    <a:pt x="39987" y="11785"/>
                  </a:lnTo>
                  <a:lnTo>
                    <a:pt x="71982" y="3928"/>
                  </a:lnTo>
                  <a:lnTo>
                    <a:pt x="130634" y="18329"/>
                  </a:lnTo>
                  <a:lnTo>
                    <a:pt x="98638" y="26185"/>
                  </a:lnTo>
                  <a:close/>
                </a:path>
                <a:path w="176530" h="56514">
                  <a:moveTo>
                    <a:pt x="58651" y="56300"/>
                  </a:moveTo>
                  <a:lnTo>
                    <a:pt x="58651" y="43208"/>
                  </a:lnTo>
                  <a:lnTo>
                    <a:pt x="175954" y="14404"/>
                  </a:lnTo>
                  <a:lnTo>
                    <a:pt x="175954" y="27495"/>
                  </a:lnTo>
                  <a:lnTo>
                    <a:pt x="58651" y="56300"/>
                  </a:lnTo>
                  <a:close/>
                </a:path>
                <a:path w="176530" h="56514">
                  <a:moveTo>
                    <a:pt x="58651" y="43208"/>
                  </a:moveTo>
                  <a:lnTo>
                    <a:pt x="0" y="28804"/>
                  </a:lnTo>
                  <a:lnTo>
                    <a:pt x="26662" y="22257"/>
                  </a:lnTo>
                  <a:lnTo>
                    <a:pt x="85314" y="36661"/>
                  </a:lnTo>
                  <a:lnTo>
                    <a:pt x="58651" y="432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952480" y="4506082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30" h="56514">
                  <a:moveTo>
                    <a:pt x="0" y="28804"/>
                  </a:moveTo>
                  <a:lnTo>
                    <a:pt x="58651" y="43208"/>
                  </a:lnTo>
                  <a:lnTo>
                    <a:pt x="85314" y="36661"/>
                  </a:lnTo>
                  <a:lnTo>
                    <a:pt x="26662" y="22257"/>
                  </a:lnTo>
                  <a:lnTo>
                    <a:pt x="0" y="28804"/>
                  </a:lnTo>
                  <a:close/>
                </a:path>
                <a:path w="176530" h="56514">
                  <a:moveTo>
                    <a:pt x="39987" y="11785"/>
                  </a:moveTo>
                  <a:lnTo>
                    <a:pt x="98638" y="26185"/>
                  </a:lnTo>
                  <a:lnTo>
                    <a:pt x="130634" y="18329"/>
                  </a:lnTo>
                  <a:lnTo>
                    <a:pt x="71982" y="3928"/>
                  </a:lnTo>
                  <a:lnTo>
                    <a:pt x="39987" y="11785"/>
                  </a:lnTo>
                  <a:close/>
                </a:path>
                <a:path w="176530" h="56514">
                  <a:moveTo>
                    <a:pt x="175954" y="14404"/>
                  </a:moveTo>
                  <a:lnTo>
                    <a:pt x="117302" y="0"/>
                  </a:lnTo>
                  <a:lnTo>
                    <a:pt x="85314" y="7202"/>
                  </a:lnTo>
                  <a:lnTo>
                    <a:pt x="130634" y="18329"/>
                  </a:lnTo>
                  <a:lnTo>
                    <a:pt x="130634" y="25531"/>
                  </a:lnTo>
                  <a:lnTo>
                    <a:pt x="175954" y="14404"/>
                  </a:lnTo>
                  <a:close/>
                </a:path>
                <a:path w="176530" h="56514">
                  <a:moveTo>
                    <a:pt x="58651" y="56300"/>
                  </a:moveTo>
                  <a:lnTo>
                    <a:pt x="175954" y="27495"/>
                  </a:lnTo>
                  <a:lnTo>
                    <a:pt x="175954" y="14404"/>
                  </a:lnTo>
                  <a:lnTo>
                    <a:pt x="58651" y="43208"/>
                  </a:lnTo>
                  <a:lnTo>
                    <a:pt x="58651" y="563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979141" y="4517865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58651" y="24876"/>
                  </a:moveTo>
                  <a:lnTo>
                    <a:pt x="0" y="10475"/>
                  </a:ln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close/>
                </a:path>
                <a:path w="114935" h="25400">
                  <a:moveTo>
                    <a:pt x="58651" y="24876"/>
                  </a:moveTo>
                  <a:lnTo>
                    <a:pt x="71982" y="14404"/>
                  </a:ln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979141" y="4517865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0" y="10475"/>
                  </a:move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lnTo>
                    <a:pt x="0" y="10475"/>
                  </a:lnTo>
                  <a:close/>
                </a:path>
                <a:path w="114935" h="25400">
                  <a:moveTo>
                    <a:pt x="71982" y="14404"/>
                  </a:move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lnTo>
                    <a:pt x="71982" y="144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029793" y="4532269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12414" y="30114"/>
                  </a:moveTo>
                  <a:lnTo>
                    <a:pt x="3583" y="30114"/>
                  </a:lnTo>
                  <a:lnTo>
                    <a:pt x="0" y="27183"/>
                  </a:lnTo>
                  <a:lnTo>
                    <a:pt x="0" y="19950"/>
                  </a:lnTo>
                  <a:lnTo>
                    <a:pt x="3583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7183"/>
                  </a:lnTo>
                  <a:lnTo>
                    <a:pt x="12414" y="30114"/>
                  </a:lnTo>
                  <a:close/>
                </a:path>
                <a:path w="77469" h="30479">
                  <a:moveTo>
                    <a:pt x="73732" y="13091"/>
                  </a:moveTo>
                  <a:lnTo>
                    <a:pt x="64900" y="13091"/>
                  </a:lnTo>
                  <a:lnTo>
                    <a:pt x="61317" y="10160"/>
                  </a:lnTo>
                  <a:lnTo>
                    <a:pt x="61317" y="2930"/>
                  </a:lnTo>
                  <a:lnTo>
                    <a:pt x="64900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10160"/>
                  </a:lnTo>
                  <a:lnTo>
                    <a:pt x="73732" y="1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029793" y="4532269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0" y="23566"/>
                  </a:moveTo>
                  <a:lnTo>
                    <a:pt x="0" y="19950"/>
                  </a:lnTo>
                  <a:lnTo>
                    <a:pt x="3583" y="17019"/>
                  </a:lnTo>
                  <a:lnTo>
                    <a:pt x="7998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3566"/>
                  </a:lnTo>
                  <a:lnTo>
                    <a:pt x="15997" y="27183"/>
                  </a:lnTo>
                  <a:lnTo>
                    <a:pt x="12414" y="30114"/>
                  </a:lnTo>
                  <a:lnTo>
                    <a:pt x="7998" y="30114"/>
                  </a:lnTo>
                  <a:lnTo>
                    <a:pt x="3583" y="30114"/>
                  </a:lnTo>
                  <a:lnTo>
                    <a:pt x="0" y="27183"/>
                  </a:lnTo>
                  <a:lnTo>
                    <a:pt x="0" y="23566"/>
                  </a:lnTo>
                  <a:close/>
                </a:path>
                <a:path w="77469" h="30479">
                  <a:moveTo>
                    <a:pt x="61317" y="6547"/>
                  </a:moveTo>
                  <a:lnTo>
                    <a:pt x="61317" y="2930"/>
                  </a:lnTo>
                  <a:lnTo>
                    <a:pt x="64900" y="0"/>
                  </a:lnTo>
                  <a:lnTo>
                    <a:pt x="69316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6547"/>
                  </a:lnTo>
                  <a:lnTo>
                    <a:pt x="77315" y="10160"/>
                  </a:lnTo>
                  <a:lnTo>
                    <a:pt x="73732" y="13091"/>
                  </a:lnTo>
                  <a:lnTo>
                    <a:pt x="69316" y="13091"/>
                  </a:lnTo>
                  <a:lnTo>
                    <a:pt x="64900" y="13091"/>
                  </a:lnTo>
                  <a:lnTo>
                    <a:pt x="61317" y="10160"/>
                  </a:lnTo>
                  <a:lnTo>
                    <a:pt x="61317" y="6547"/>
                  </a:lnTo>
                  <a:close/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952480" y="4534887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58651" y="27495"/>
                  </a:moveTo>
                  <a:lnTo>
                    <a:pt x="0" y="13094"/>
                  </a:lnTo>
                  <a:lnTo>
                    <a:pt x="0" y="0"/>
                  </a:lnTo>
                  <a:lnTo>
                    <a:pt x="58651" y="14404"/>
                  </a:lnTo>
                  <a:lnTo>
                    <a:pt x="58651" y="27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952480" y="4534887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0" y="0"/>
                  </a:moveTo>
                  <a:lnTo>
                    <a:pt x="0" y="13094"/>
                  </a:lnTo>
                  <a:lnTo>
                    <a:pt x="58651" y="27495"/>
                  </a:lnTo>
                  <a:lnTo>
                    <a:pt x="58651" y="1440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957806" y="4541443"/>
              <a:ext cx="43180" cy="14604"/>
            </a:xfrm>
            <a:custGeom>
              <a:avLst/>
              <a:gdLst/>
              <a:ahLst/>
              <a:cxnLst/>
              <a:rect l="l" t="t" r="r" b="b"/>
              <a:pathLst>
                <a:path w="43180" h="14604">
                  <a:moveTo>
                    <a:pt x="16002" y="3924"/>
                  </a:moveTo>
                  <a:lnTo>
                    <a:pt x="0" y="0"/>
                  </a:lnTo>
                  <a:lnTo>
                    <a:pt x="0" y="3924"/>
                  </a:lnTo>
                  <a:lnTo>
                    <a:pt x="16002" y="7848"/>
                  </a:lnTo>
                  <a:lnTo>
                    <a:pt x="16002" y="3924"/>
                  </a:lnTo>
                  <a:close/>
                </a:path>
                <a:path w="43180" h="14604">
                  <a:moveTo>
                    <a:pt x="42659" y="10464"/>
                  </a:moveTo>
                  <a:lnTo>
                    <a:pt x="26657" y="6540"/>
                  </a:lnTo>
                  <a:lnTo>
                    <a:pt x="26657" y="10464"/>
                  </a:lnTo>
                  <a:lnTo>
                    <a:pt x="42659" y="14401"/>
                  </a:lnTo>
                  <a:lnTo>
                    <a:pt x="42659" y="104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792523" y="4482427"/>
              <a:ext cx="229870" cy="59055"/>
            </a:xfrm>
            <a:custGeom>
              <a:avLst/>
              <a:gdLst/>
              <a:ahLst/>
              <a:cxnLst/>
              <a:rect l="l" t="t" r="r" b="b"/>
              <a:pathLst>
                <a:path w="229869" h="59054">
                  <a:moveTo>
                    <a:pt x="0" y="0"/>
                  </a:moveTo>
                  <a:lnTo>
                    <a:pt x="119080" y="58482"/>
                  </a:lnTo>
                  <a:lnTo>
                    <a:pt x="229350" y="4323"/>
                  </a:lnTo>
                </a:path>
              </a:pathLst>
            </a:custGeom>
            <a:ln w="3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989855" y="4470731"/>
              <a:ext cx="64769" cy="31750"/>
            </a:xfrm>
            <a:custGeom>
              <a:avLst/>
              <a:gdLst/>
              <a:ahLst/>
              <a:cxnLst/>
              <a:rect l="l" t="t" r="r" b="b"/>
              <a:pathLst>
                <a:path w="64769" h="31750">
                  <a:moveTo>
                    <a:pt x="43090" y="31745"/>
                  </a:moveTo>
                  <a:lnTo>
                    <a:pt x="36358" y="24692"/>
                  </a:lnTo>
                  <a:lnTo>
                    <a:pt x="26632" y="18666"/>
                  </a:lnTo>
                  <a:lnTo>
                    <a:pt x="14361" y="13889"/>
                  </a:lnTo>
                  <a:lnTo>
                    <a:pt x="0" y="10583"/>
                  </a:lnTo>
                  <a:lnTo>
                    <a:pt x="64639" y="0"/>
                  </a:lnTo>
                  <a:lnTo>
                    <a:pt x="43090" y="317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875589" y="3585469"/>
              <a:ext cx="328930" cy="280035"/>
            </a:xfrm>
            <a:custGeom>
              <a:avLst/>
              <a:gdLst/>
              <a:ahLst/>
              <a:cxnLst/>
              <a:rect l="l" t="t" r="r" b="b"/>
              <a:pathLst>
                <a:path w="328930" h="280035">
                  <a:moveTo>
                    <a:pt x="164089" y="279702"/>
                  </a:moveTo>
                  <a:lnTo>
                    <a:pt x="328320" y="238489"/>
                  </a:lnTo>
                  <a:lnTo>
                    <a:pt x="55766" y="168772"/>
                  </a:lnTo>
                  <a:lnTo>
                    <a:pt x="245574" y="121229"/>
                  </a:lnTo>
                  <a:lnTo>
                    <a:pt x="103350" y="85659"/>
                  </a:lnTo>
                  <a:lnTo>
                    <a:pt x="210919" y="59126"/>
                  </a:lnTo>
                  <a:lnTo>
                    <a:pt x="124525" y="36841"/>
                  </a:lnTo>
                  <a:lnTo>
                    <a:pt x="192495" y="19489"/>
                  </a:lnTo>
                  <a:lnTo>
                    <a:pt x="139768" y="5722"/>
                  </a:lnTo>
                  <a:lnTo>
                    <a:pt x="162629" y="0"/>
                  </a:lnTo>
                  <a:lnTo>
                    <a:pt x="185504" y="5778"/>
                  </a:lnTo>
                  <a:lnTo>
                    <a:pt x="132778" y="19416"/>
                  </a:lnTo>
                  <a:lnTo>
                    <a:pt x="200754" y="36935"/>
                  </a:lnTo>
                  <a:lnTo>
                    <a:pt x="114361" y="59009"/>
                  </a:lnTo>
                  <a:lnTo>
                    <a:pt x="221930" y="85801"/>
                  </a:lnTo>
                  <a:lnTo>
                    <a:pt x="82951" y="121032"/>
                  </a:lnTo>
                  <a:lnTo>
                    <a:pt x="272596" y="169035"/>
                  </a:lnTo>
                  <a:lnTo>
                    <a:pt x="0" y="238090"/>
                  </a:lnTo>
                  <a:lnTo>
                    <a:pt x="164089" y="279702"/>
                  </a:lnTo>
                  <a:close/>
                </a:path>
              </a:pathLst>
            </a:custGeom>
            <a:ln w="4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038685" y="3501847"/>
              <a:ext cx="635" cy="399415"/>
            </a:xfrm>
            <a:custGeom>
              <a:avLst/>
              <a:gdLst/>
              <a:ahLst/>
              <a:cxnLst/>
              <a:rect l="l" t="t" r="r" b="b"/>
              <a:pathLst>
                <a:path w="635" h="399414">
                  <a:moveTo>
                    <a:pt x="49" y="0"/>
                  </a:moveTo>
                  <a:lnTo>
                    <a:pt x="0" y="399338"/>
                  </a:lnTo>
                </a:path>
              </a:pathLst>
            </a:custGeom>
            <a:ln w="14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903240" y="3591442"/>
              <a:ext cx="271145" cy="231140"/>
            </a:xfrm>
            <a:custGeom>
              <a:avLst/>
              <a:gdLst/>
              <a:ahLst/>
              <a:cxnLst/>
              <a:rect l="l" t="t" r="r" b="b"/>
              <a:pathLst>
                <a:path w="271144" h="231139">
                  <a:moveTo>
                    <a:pt x="135458" y="230860"/>
                  </a:moveTo>
                  <a:lnTo>
                    <a:pt x="0" y="196506"/>
                  </a:lnTo>
                  <a:lnTo>
                    <a:pt x="230168" y="139160"/>
                  </a:lnTo>
                  <a:lnTo>
                    <a:pt x="64005" y="97156"/>
                  </a:lnTo>
                  <a:lnTo>
                    <a:pt x="188347" y="65532"/>
                  </a:lnTo>
                  <a:lnTo>
                    <a:pt x="92050" y="40884"/>
                  </a:lnTo>
                  <a:lnTo>
                    <a:pt x="167595" y="21038"/>
                  </a:lnTo>
                  <a:lnTo>
                    <a:pt x="109579" y="6356"/>
                  </a:lnTo>
                  <a:lnTo>
                    <a:pt x="134979" y="0"/>
                  </a:lnTo>
                  <a:lnTo>
                    <a:pt x="160400" y="6419"/>
                  </a:lnTo>
                  <a:lnTo>
                    <a:pt x="102377" y="20958"/>
                  </a:lnTo>
                  <a:lnTo>
                    <a:pt x="180137" y="40991"/>
                  </a:lnTo>
                  <a:lnTo>
                    <a:pt x="81625" y="65400"/>
                  </a:lnTo>
                  <a:lnTo>
                    <a:pt x="206306" y="97330"/>
                  </a:lnTo>
                  <a:lnTo>
                    <a:pt x="40445" y="138931"/>
                  </a:lnTo>
                  <a:lnTo>
                    <a:pt x="271037" y="196835"/>
                  </a:lnTo>
                  <a:lnTo>
                    <a:pt x="135458" y="230860"/>
                  </a:lnTo>
                  <a:close/>
                </a:path>
              </a:pathLst>
            </a:custGeom>
            <a:ln w="4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845840" y="3550484"/>
              <a:ext cx="390525" cy="351155"/>
            </a:xfrm>
            <a:custGeom>
              <a:avLst/>
              <a:gdLst/>
              <a:ahLst/>
              <a:cxnLst/>
              <a:rect l="l" t="t" r="r" b="b"/>
              <a:pathLst>
                <a:path w="390525" h="351154">
                  <a:moveTo>
                    <a:pt x="0" y="306501"/>
                  </a:moveTo>
                  <a:lnTo>
                    <a:pt x="37522" y="263282"/>
                  </a:lnTo>
                  <a:lnTo>
                    <a:pt x="71207" y="219499"/>
                  </a:lnTo>
                  <a:lnTo>
                    <a:pt x="101026" y="175202"/>
                  </a:lnTo>
                  <a:lnTo>
                    <a:pt x="126946" y="130439"/>
                  </a:lnTo>
                  <a:lnTo>
                    <a:pt x="148937" y="85261"/>
                  </a:lnTo>
                  <a:lnTo>
                    <a:pt x="166967" y="39717"/>
                  </a:lnTo>
                  <a:lnTo>
                    <a:pt x="175686" y="39387"/>
                  </a:lnTo>
                  <a:lnTo>
                    <a:pt x="177371" y="29589"/>
                  </a:lnTo>
                  <a:lnTo>
                    <a:pt x="178902" y="19783"/>
                  </a:lnTo>
                  <a:lnTo>
                    <a:pt x="180280" y="9973"/>
                  </a:lnTo>
                  <a:lnTo>
                    <a:pt x="181505" y="159"/>
                  </a:lnTo>
                  <a:lnTo>
                    <a:pt x="188559" y="162"/>
                  </a:lnTo>
                  <a:lnTo>
                    <a:pt x="195612" y="107"/>
                  </a:lnTo>
                  <a:lnTo>
                    <a:pt x="202666" y="0"/>
                  </a:lnTo>
                  <a:lnTo>
                    <a:pt x="203227" y="9649"/>
                  </a:lnTo>
                  <a:lnTo>
                    <a:pt x="216244" y="39554"/>
                  </a:lnTo>
                  <a:lnTo>
                    <a:pt x="233967" y="85331"/>
                  </a:lnTo>
                  <a:lnTo>
                    <a:pt x="256260" y="130680"/>
                  </a:lnTo>
                  <a:lnTo>
                    <a:pt x="283082" y="175535"/>
                  </a:lnTo>
                  <a:lnTo>
                    <a:pt x="314389" y="219833"/>
                  </a:lnTo>
                  <a:lnTo>
                    <a:pt x="350141" y="263509"/>
                  </a:lnTo>
                  <a:lnTo>
                    <a:pt x="390294" y="306498"/>
                  </a:lnTo>
                  <a:lnTo>
                    <a:pt x="358066" y="273473"/>
                  </a:lnTo>
                  <a:lnTo>
                    <a:pt x="193842" y="314687"/>
                  </a:lnTo>
                  <a:lnTo>
                    <a:pt x="192847" y="350701"/>
                  </a:lnTo>
                  <a:lnTo>
                    <a:pt x="193842" y="314687"/>
                  </a:lnTo>
                  <a:lnTo>
                    <a:pt x="29752" y="273075"/>
                  </a:lnTo>
                  <a:lnTo>
                    <a:pt x="0" y="306501"/>
                  </a:lnTo>
                  <a:close/>
                </a:path>
              </a:pathLst>
            </a:custGeom>
            <a:ln w="10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4640" y="4186390"/>
              <a:ext cx="47993" cy="13538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3854645" y="4186383"/>
              <a:ext cx="48260" cy="13970"/>
            </a:xfrm>
            <a:custGeom>
              <a:avLst/>
              <a:gdLst/>
              <a:ahLst/>
              <a:cxnLst/>
              <a:rect l="l" t="t" r="r" b="b"/>
              <a:pathLst>
                <a:path w="48260" h="13970">
                  <a:moveTo>
                    <a:pt x="47986" y="6775"/>
                  </a:moveTo>
                  <a:lnTo>
                    <a:pt x="47986" y="3034"/>
                  </a:lnTo>
                  <a:lnTo>
                    <a:pt x="37243" y="0"/>
                  </a:lnTo>
                  <a:lnTo>
                    <a:pt x="23989" y="0"/>
                  </a:lnTo>
                  <a:lnTo>
                    <a:pt x="10742" y="0"/>
                  </a:lnTo>
                  <a:lnTo>
                    <a:pt x="0" y="3034"/>
                  </a:lnTo>
                  <a:lnTo>
                    <a:pt x="0" y="6775"/>
                  </a:lnTo>
                  <a:lnTo>
                    <a:pt x="0" y="10517"/>
                  </a:lnTo>
                  <a:lnTo>
                    <a:pt x="10742" y="13551"/>
                  </a:lnTo>
                  <a:lnTo>
                    <a:pt x="23989" y="13551"/>
                  </a:lnTo>
                  <a:lnTo>
                    <a:pt x="37243" y="13551"/>
                  </a:lnTo>
                  <a:lnTo>
                    <a:pt x="47986" y="10517"/>
                  </a:lnTo>
                  <a:lnTo>
                    <a:pt x="47986" y="6775"/>
                  </a:lnTo>
                  <a:close/>
                </a:path>
              </a:pathLst>
            </a:custGeom>
            <a:ln w="35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31056" y="4192536"/>
              <a:ext cx="95707" cy="94780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3831058" y="4192534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5" h="95250">
                  <a:moveTo>
                    <a:pt x="95154" y="79572"/>
                  </a:moveTo>
                  <a:lnTo>
                    <a:pt x="71467" y="3"/>
                  </a:lnTo>
                  <a:lnTo>
                    <a:pt x="65150" y="4130"/>
                  </a:lnTo>
                  <a:lnTo>
                    <a:pt x="56403" y="6659"/>
                  </a:lnTo>
                  <a:lnTo>
                    <a:pt x="23686" y="3"/>
                  </a:lnTo>
                  <a:lnTo>
                    <a:pt x="0" y="79579"/>
                  </a:lnTo>
                  <a:lnTo>
                    <a:pt x="1308" y="84948"/>
                  </a:lnTo>
                  <a:lnTo>
                    <a:pt x="9520" y="89597"/>
                  </a:lnTo>
                  <a:lnTo>
                    <a:pt x="23306" y="93038"/>
                  </a:lnTo>
                  <a:lnTo>
                    <a:pt x="41334" y="94780"/>
                  </a:lnTo>
                  <a:lnTo>
                    <a:pt x="60344" y="94410"/>
                  </a:lnTo>
                  <a:lnTo>
                    <a:pt x="76806" y="92091"/>
                  </a:lnTo>
                  <a:lnTo>
                    <a:pt x="88987" y="88198"/>
                  </a:lnTo>
                  <a:lnTo>
                    <a:pt x="95154" y="83109"/>
                  </a:lnTo>
                  <a:lnTo>
                    <a:pt x="95704" y="81938"/>
                  </a:lnTo>
                  <a:lnTo>
                    <a:pt x="95704" y="80750"/>
                  </a:lnTo>
                  <a:lnTo>
                    <a:pt x="95154" y="79576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866637" y="4125611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29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878637" y="4137396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818655" y="4110674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4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4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4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4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831060" y="4125611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5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5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5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1259287" y="4387184"/>
            <a:ext cx="1091565" cy="182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44500">
              <a:lnSpc>
                <a:spcPct val="128899"/>
              </a:lnSpc>
              <a:spcBef>
                <a:spcPts val="90"/>
              </a:spcBef>
            </a:pPr>
            <a:r>
              <a:rPr dirty="0" sz="400" spc="240">
                <a:latin typeface="SimSun"/>
                <a:cs typeface="SimSun"/>
              </a:rPr>
              <a:t>Corner</a:t>
            </a:r>
            <a:r>
              <a:rPr dirty="0" sz="400" spc="260">
                <a:latin typeface="SimSun"/>
                <a:cs typeface="SimSun"/>
              </a:rPr>
              <a:t> </a:t>
            </a:r>
            <a:r>
              <a:rPr dirty="0" sz="400" spc="220">
                <a:latin typeface="SimSun"/>
                <a:cs typeface="SimSun"/>
              </a:rPr>
              <a:t>case </a:t>
            </a:r>
            <a:r>
              <a:rPr dirty="0" sz="400" spc="240">
                <a:latin typeface="SimSun"/>
                <a:cs typeface="SimSun"/>
              </a:rPr>
              <a:t>LOS</a:t>
            </a:r>
            <a:r>
              <a:rPr dirty="0" sz="400" spc="250">
                <a:latin typeface="SimSun"/>
                <a:cs typeface="SimSun"/>
              </a:rPr>
              <a:t> </a:t>
            </a:r>
            <a:r>
              <a:rPr dirty="0" sz="400" spc="229">
                <a:latin typeface="SimSun"/>
                <a:cs typeface="SimSun"/>
              </a:rPr>
              <a:t>area1</a:t>
            </a:r>
            <a:endParaRPr sz="400">
              <a:latin typeface="SimSun"/>
              <a:cs typeface="SimSun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2517548" y="4359834"/>
            <a:ext cx="663575" cy="217804"/>
            <a:chOff x="2517548" y="4359834"/>
            <a:chExt cx="663575" cy="217804"/>
          </a:xfrm>
        </p:grpSpPr>
        <p:sp>
          <p:nvSpPr>
            <p:cNvPr id="90" name="object 90" descr=""/>
            <p:cNvSpPr/>
            <p:nvPr/>
          </p:nvSpPr>
          <p:spPr>
            <a:xfrm>
              <a:off x="2519770" y="4362057"/>
              <a:ext cx="659130" cy="213360"/>
            </a:xfrm>
            <a:custGeom>
              <a:avLst/>
              <a:gdLst/>
              <a:ahLst/>
              <a:cxnLst/>
              <a:rect l="l" t="t" r="r" b="b"/>
              <a:pathLst>
                <a:path w="659130" h="213360">
                  <a:moveTo>
                    <a:pt x="97452" y="213270"/>
                  </a:moveTo>
                  <a:lnTo>
                    <a:pt x="56708" y="212412"/>
                  </a:lnTo>
                  <a:lnTo>
                    <a:pt x="25781" y="207467"/>
                  </a:lnTo>
                  <a:lnTo>
                    <a:pt x="6231" y="198285"/>
                  </a:lnTo>
                  <a:lnTo>
                    <a:pt x="0" y="183302"/>
                  </a:lnTo>
                  <a:lnTo>
                    <a:pt x="10758" y="164874"/>
                  </a:lnTo>
                  <a:lnTo>
                    <a:pt x="77034" y="121202"/>
                  </a:lnTo>
                  <a:lnTo>
                    <a:pt x="129445" y="97716"/>
                  </a:lnTo>
                  <a:lnTo>
                    <a:pt x="192633" y="74302"/>
                  </a:lnTo>
                  <a:lnTo>
                    <a:pt x="265045" y="51840"/>
                  </a:lnTo>
                  <a:lnTo>
                    <a:pt x="331496" y="34482"/>
                  </a:lnTo>
                  <a:lnTo>
                    <a:pt x="395923" y="20471"/>
                  </a:lnTo>
                  <a:lnTo>
                    <a:pt x="456768" y="9954"/>
                  </a:lnTo>
                  <a:lnTo>
                    <a:pt x="512471" y="3081"/>
                  </a:lnTo>
                  <a:lnTo>
                    <a:pt x="561474" y="0"/>
                  </a:lnTo>
                  <a:lnTo>
                    <a:pt x="602218" y="857"/>
                  </a:lnTo>
                  <a:lnTo>
                    <a:pt x="633145" y="5803"/>
                  </a:lnTo>
                  <a:lnTo>
                    <a:pt x="652695" y="14984"/>
                  </a:lnTo>
                  <a:lnTo>
                    <a:pt x="658929" y="29969"/>
                  </a:lnTo>
                  <a:lnTo>
                    <a:pt x="648171" y="48398"/>
                  </a:lnTo>
                  <a:lnTo>
                    <a:pt x="581894" y="92070"/>
                  </a:lnTo>
                  <a:lnTo>
                    <a:pt x="529482" y="115556"/>
                  </a:lnTo>
                  <a:lnTo>
                    <a:pt x="466293" y="138968"/>
                  </a:lnTo>
                  <a:lnTo>
                    <a:pt x="393881" y="161430"/>
                  </a:lnTo>
                  <a:lnTo>
                    <a:pt x="327430" y="178788"/>
                  </a:lnTo>
                  <a:lnTo>
                    <a:pt x="263003" y="192799"/>
                  </a:lnTo>
                  <a:lnTo>
                    <a:pt x="202158" y="203315"/>
                  </a:lnTo>
                  <a:lnTo>
                    <a:pt x="146455" y="210188"/>
                  </a:lnTo>
                  <a:lnTo>
                    <a:pt x="97452" y="213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2519770" y="4362057"/>
              <a:ext cx="659130" cy="213360"/>
            </a:xfrm>
            <a:custGeom>
              <a:avLst/>
              <a:gdLst/>
              <a:ahLst/>
              <a:cxnLst/>
              <a:rect l="l" t="t" r="r" b="b"/>
              <a:pathLst>
                <a:path w="659130" h="213360">
                  <a:moveTo>
                    <a:pt x="652695" y="14984"/>
                  </a:moveTo>
                  <a:lnTo>
                    <a:pt x="633145" y="5803"/>
                  </a:lnTo>
                  <a:lnTo>
                    <a:pt x="602218" y="857"/>
                  </a:lnTo>
                  <a:lnTo>
                    <a:pt x="561474" y="0"/>
                  </a:lnTo>
                  <a:lnTo>
                    <a:pt x="512471" y="3081"/>
                  </a:lnTo>
                  <a:lnTo>
                    <a:pt x="456768" y="9954"/>
                  </a:lnTo>
                  <a:lnTo>
                    <a:pt x="395923" y="20471"/>
                  </a:lnTo>
                  <a:lnTo>
                    <a:pt x="331496" y="34482"/>
                  </a:lnTo>
                  <a:lnTo>
                    <a:pt x="265045" y="51840"/>
                  </a:lnTo>
                  <a:lnTo>
                    <a:pt x="192633" y="74302"/>
                  </a:lnTo>
                  <a:lnTo>
                    <a:pt x="129445" y="97716"/>
                  </a:lnTo>
                  <a:lnTo>
                    <a:pt x="77034" y="121202"/>
                  </a:lnTo>
                  <a:lnTo>
                    <a:pt x="36954" y="143881"/>
                  </a:lnTo>
                  <a:lnTo>
                    <a:pt x="0" y="183302"/>
                  </a:lnTo>
                  <a:lnTo>
                    <a:pt x="6231" y="198285"/>
                  </a:lnTo>
                  <a:lnTo>
                    <a:pt x="25781" y="207467"/>
                  </a:lnTo>
                  <a:lnTo>
                    <a:pt x="56708" y="212412"/>
                  </a:lnTo>
                  <a:lnTo>
                    <a:pt x="97452" y="213270"/>
                  </a:lnTo>
                  <a:lnTo>
                    <a:pt x="146455" y="210188"/>
                  </a:lnTo>
                  <a:lnTo>
                    <a:pt x="202158" y="203315"/>
                  </a:lnTo>
                  <a:lnTo>
                    <a:pt x="263003" y="192799"/>
                  </a:lnTo>
                  <a:lnTo>
                    <a:pt x="327430" y="178788"/>
                  </a:lnTo>
                  <a:lnTo>
                    <a:pt x="393881" y="161430"/>
                  </a:lnTo>
                  <a:lnTo>
                    <a:pt x="466293" y="138968"/>
                  </a:lnTo>
                  <a:lnTo>
                    <a:pt x="529482" y="115556"/>
                  </a:lnTo>
                  <a:lnTo>
                    <a:pt x="581894" y="92070"/>
                  </a:lnTo>
                  <a:lnTo>
                    <a:pt x="621975" y="69391"/>
                  </a:lnTo>
                  <a:lnTo>
                    <a:pt x="658929" y="29969"/>
                  </a:lnTo>
                  <a:lnTo>
                    <a:pt x="652695" y="14984"/>
                  </a:lnTo>
                  <a:close/>
                </a:path>
              </a:pathLst>
            </a:custGeom>
            <a:ln w="3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2617370" y="4413049"/>
            <a:ext cx="589915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240">
                <a:latin typeface="SimSun"/>
                <a:cs typeface="SimSun"/>
              </a:rPr>
              <a:t>NLOS</a:t>
            </a:r>
            <a:r>
              <a:rPr dirty="0" sz="400" spc="254">
                <a:latin typeface="SimSun"/>
                <a:cs typeface="SimSun"/>
              </a:rPr>
              <a:t> </a:t>
            </a:r>
            <a:r>
              <a:rPr dirty="0" sz="400" spc="229">
                <a:latin typeface="SimSun"/>
                <a:cs typeface="SimSun"/>
              </a:rPr>
              <a:t>area1</a:t>
            </a:r>
            <a:endParaRPr sz="400">
              <a:latin typeface="SimSun"/>
              <a:cs typeface="SimSun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488766" y="3652478"/>
            <a:ext cx="3390265" cy="887094"/>
            <a:chOff x="488766" y="3652478"/>
            <a:chExt cx="3390265" cy="887094"/>
          </a:xfrm>
        </p:grpSpPr>
        <p:sp>
          <p:nvSpPr>
            <p:cNvPr id="94" name="object 94" descr=""/>
            <p:cNvSpPr/>
            <p:nvPr/>
          </p:nvSpPr>
          <p:spPr>
            <a:xfrm>
              <a:off x="1068973" y="4005463"/>
              <a:ext cx="2216785" cy="413384"/>
            </a:xfrm>
            <a:custGeom>
              <a:avLst/>
              <a:gdLst/>
              <a:ahLst/>
              <a:cxnLst/>
              <a:rect l="l" t="t" r="r" b="b"/>
              <a:pathLst>
                <a:path w="2216785" h="413385">
                  <a:moveTo>
                    <a:pt x="0" y="0"/>
                  </a:moveTo>
                  <a:lnTo>
                    <a:pt x="2216486" y="334336"/>
                  </a:lnTo>
                  <a:lnTo>
                    <a:pt x="1843254" y="412893"/>
                  </a:lnTo>
                </a:path>
              </a:pathLst>
            </a:custGeom>
            <a:ln w="3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8162" y="4383633"/>
              <a:ext cx="47980" cy="13538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3378160" y="4383628"/>
              <a:ext cx="48260" cy="13970"/>
            </a:xfrm>
            <a:custGeom>
              <a:avLst/>
              <a:gdLst/>
              <a:ahLst/>
              <a:cxnLst/>
              <a:rect l="l" t="t" r="r" b="b"/>
              <a:pathLst>
                <a:path w="48260" h="13970">
                  <a:moveTo>
                    <a:pt x="47986" y="6775"/>
                  </a:moveTo>
                  <a:lnTo>
                    <a:pt x="47986" y="3034"/>
                  </a:lnTo>
                  <a:lnTo>
                    <a:pt x="37243" y="0"/>
                  </a:lnTo>
                  <a:lnTo>
                    <a:pt x="23989" y="0"/>
                  </a:lnTo>
                  <a:lnTo>
                    <a:pt x="10742" y="0"/>
                  </a:lnTo>
                  <a:lnTo>
                    <a:pt x="0" y="3034"/>
                  </a:lnTo>
                  <a:lnTo>
                    <a:pt x="0" y="6775"/>
                  </a:lnTo>
                  <a:lnTo>
                    <a:pt x="0" y="10517"/>
                  </a:lnTo>
                  <a:lnTo>
                    <a:pt x="10742" y="13551"/>
                  </a:lnTo>
                  <a:lnTo>
                    <a:pt x="23989" y="13551"/>
                  </a:lnTo>
                  <a:lnTo>
                    <a:pt x="37243" y="13551"/>
                  </a:lnTo>
                  <a:lnTo>
                    <a:pt x="47986" y="10517"/>
                  </a:lnTo>
                  <a:lnTo>
                    <a:pt x="47986" y="6775"/>
                  </a:lnTo>
                  <a:close/>
                </a:path>
              </a:pathLst>
            </a:custGeom>
            <a:ln w="35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54565" y="4389780"/>
              <a:ext cx="95707" cy="94780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3354573" y="4389779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5" h="95250">
                  <a:moveTo>
                    <a:pt x="95154" y="79572"/>
                  </a:moveTo>
                  <a:lnTo>
                    <a:pt x="71467" y="3"/>
                  </a:lnTo>
                  <a:lnTo>
                    <a:pt x="65150" y="4130"/>
                  </a:lnTo>
                  <a:lnTo>
                    <a:pt x="56403" y="6659"/>
                  </a:lnTo>
                  <a:lnTo>
                    <a:pt x="23686" y="0"/>
                  </a:lnTo>
                  <a:lnTo>
                    <a:pt x="0" y="79579"/>
                  </a:lnTo>
                  <a:lnTo>
                    <a:pt x="1308" y="84948"/>
                  </a:lnTo>
                  <a:lnTo>
                    <a:pt x="9520" y="89597"/>
                  </a:lnTo>
                  <a:lnTo>
                    <a:pt x="23306" y="93038"/>
                  </a:lnTo>
                  <a:lnTo>
                    <a:pt x="41334" y="94780"/>
                  </a:lnTo>
                  <a:lnTo>
                    <a:pt x="60344" y="94410"/>
                  </a:lnTo>
                  <a:lnTo>
                    <a:pt x="76806" y="92091"/>
                  </a:lnTo>
                  <a:lnTo>
                    <a:pt x="88987" y="88198"/>
                  </a:lnTo>
                  <a:lnTo>
                    <a:pt x="95154" y="83109"/>
                  </a:lnTo>
                  <a:lnTo>
                    <a:pt x="95704" y="81938"/>
                  </a:lnTo>
                  <a:lnTo>
                    <a:pt x="95704" y="80750"/>
                  </a:lnTo>
                  <a:lnTo>
                    <a:pt x="95154" y="79576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3390152" y="4322857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29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3402152" y="4334641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342170" y="4307919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4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4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4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4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354575" y="4322856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5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5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5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55710" y="3983989"/>
              <a:ext cx="47980" cy="13550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2155706" y="3983992"/>
              <a:ext cx="48260" cy="13970"/>
            </a:xfrm>
            <a:custGeom>
              <a:avLst/>
              <a:gdLst/>
              <a:ahLst/>
              <a:cxnLst/>
              <a:rect l="l" t="t" r="r" b="b"/>
              <a:pathLst>
                <a:path w="48260" h="13970">
                  <a:moveTo>
                    <a:pt x="47986" y="6775"/>
                  </a:moveTo>
                  <a:lnTo>
                    <a:pt x="47986" y="3034"/>
                  </a:lnTo>
                  <a:lnTo>
                    <a:pt x="37243" y="0"/>
                  </a:lnTo>
                  <a:lnTo>
                    <a:pt x="23989" y="0"/>
                  </a:lnTo>
                  <a:lnTo>
                    <a:pt x="10742" y="0"/>
                  </a:lnTo>
                  <a:lnTo>
                    <a:pt x="0" y="3034"/>
                  </a:lnTo>
                  <a:lnTo>
                    <a:pt x="0" y="6775"/>
                  </a:lnTo>
                  <a:lnTo>
                    <a:pt x="0" y="10517"/>
                  </a:lnTo>
                  <a:lnTo>
                    <a:pt x="10742" y="13551"/>
                  </a:lnTo>
                  <a:lnTo>
                    <a:pt x="23989" y="13551"/>
                  </a:lnTo>
                  <a:lnTo>
                    <a:pt x="37243" y="13551"/>
                  </a:lnTo>
                  <a:lnTo>
                    <a:pt x="47986" y="10517"/>
                  </a:lnTo>
                  <a:lnTo>
                    <a:pt x="47986" y="6775"/>
                  </a:lnTo>
                  <a:close/>
                </a:path>
              </a:pathLst>
            </a:custGeom>
            <a:ln w="35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32114" y="3990149"/>
              <a:ext cx="95707" cy="94767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2132120" y="3990146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5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2167698" y="3923219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30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2179698" y="393500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119716" y="3908282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4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4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4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4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132121" y="3923219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5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5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5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4659" y="4300727"/>
              <a:ext cx="95707" cy="100939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504662" y="4306888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4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0232" y="4239958"/>
              <a:ext cx="24003" cy="11785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540241" y="4239962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29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52240" y="4251746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92258" y="4225024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5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5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5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5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04663" y="4239961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4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4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4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90891" y="3786923"/>
              <a:ext cx="95707" cy="100926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1490901" y="3793068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4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526479" y="3726142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30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538479" y="3737927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478497" y="3711205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5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5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5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5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490902" y="3726142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4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4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4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33345" y="3731678"/>
              <a:ext cx="95707" cy="100939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2533342" y="3737835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5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568920" y="3670909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30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580920" y="3682693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520938" y="3655971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4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4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4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4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533343" y="3670908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5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5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5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78340" y="3958183"/>
              <a:ext cx="95707" cy="100926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3178343" y="3964342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5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13925" y="3897413"/>
              <a:ext cx="23990" cy="11785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3213922" y="3897415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30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225921" y="3909200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165939" y="3882478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4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4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4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4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178344" y="3897415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5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5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5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50885" y="4332020"/>
              <a:ext cx="95694" cy="100926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1550885" y="4338175"/>
              <a:ext cx="95885" cy="95250"/>
            </a:xfrm>
            <a:custGeom>
              <a:avLst/>
              <a:gdLst/>
              <a:ahLst/>
              <a:cxnLst/>
              <a:rect l="l" t="t" r="r" b="b"/>
              <a:pathLst>
                <a:path w="95885" h="95250">
                  <a:moveTo>
                    <a:pt x="95154" y="79569"/>
                  </a:moveTo>
                  <a:lnTo>
                    <a:pt x="71467" y="0"/>
                  </a:lnTo>
                  <a:lnTo>
                    <a:pt x="65150" y="4127"/>
                  </a:lnTo>
                  <a:lnTo>
                    <a:pt x="56403" y="6656"/>
                  </a:lnTo>
                  <a:lnTo>
                    <a:pt x="23686" y="0"/>
                  </a:lnTo>
                  <a:lnTo>
                    <a:pt x="0" y="79576"/>
                  </a:lnTo>
                  <a:lnTo>
                    <a:pt x="1308" y="84944"/>
                  </a:lnTo>
                  <a:lnTo>
                    <a:pt x="9520" y="89594"/>
                  </a:lnTo>
                  <a:lnTo>
                    <a:pt x="23306" y="93034"/>
                  </a:lnTo>
                  <a:lnTo>
                    <a:pt x="41334" y="94776"/>
                  </a:lnTo>
                  <a:lnTo>
                    <a:pt x="60344" y="94407"/>
                  </a:lnTo>
                  <a:lnTo>
                    <a:pt x="76806" y="92087"/>
                  </a:lnTo>
                  <a:lnTo>
                    <a:pt x="88987" y="88195"/>
                  </a:lnTo>
                  <a:lnTo>
                    <a:pt x="95154" y="83106"/>
                  </a:lnTo>
                  <a:lnTo>
                    <a:pt x="95704" y="81935"/>
                  </a:lnTo>
                  <a:lnTo>
                    <a:pt x="95704" y="80746"/>
                  </a:lnTo>
                  <a:lnTo>
                    <a:pt x="95154" y="79572"/>
                  </a:lnTo>
                  <a:close/>
                </a:path>
              </a:pathLst>
            </a:custGeom>
            <a:ln w="5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586464" y="4271248"/>
              <a:ext cx="24130" cy="12065"/>
            </a:xfrm>
            <a:custGeom>
              <a:avLst/>
              <a:gdLst/>
              <a:ahLst/>
              <a:cxnLst/>
              <a:rect l="l" t="t" r="r" b="b"/>
              <a:pathLst>
                <a:path w="24130" h="12064">
                  <a:moveTo>
                    <a:pt x="23996" y="5892"/>
                  </a:moveTo>
                  <a:lnTo>
                    <a:pt x="23996" y="2639"/>
                  </a:lnTo>
                  <a:lnTo>
                    <a:pt x="18628" y="0"/>
                  </a:lnTo>
                  <a:lnTo>
                    <a:pt x="11998" y="0"/>
                  </a:lnTo>
                  <a:lnTo>
                    <a:pt x="5374" y="0"/>
                  </a:lnTo>
                  <a:lnTo>
                    <a:pt x="0" y="2639"/>
                  </a:lnTo>
                  <a:lnTo>
                    <a:pt x="0" y="5892"/>
                  </a:lnTo>
                  <a:lnTo>
                    <a:pt x="0" y="9145"/>
                  </a:lnTo>
                  <a:lnTo>
                    <a:pt x="5374" y="11785"/>
                  </a:lnTo>
                  <a:lnTo>
                    <a:pt x="11998" y="11785"/>
                  </a:lnTo>
                  <a:lnTo>
                    <a:pt x="18628" y="11785"/>
                  </a:lnTo>
                  <a:lnTo>
                    <a:pt x="23996" y="9145"/>
                  </a:lnTo>
                  <a:lnTo>
                    <a:pt x="23996" y="5892"/>
                  </a:lnTo>
                  <a:close/>
                </a:path>
              </a:pathLst>
            </a:custGeom>
            <a:ln w="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598464" y="4283033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w="0" h="55879">
                  <a:moveTo>
                    <a:pt x="0" y="55763"/>
                  </a:moveTo>
                  <a:lnTo>
                    <a:pt x="0" y="0"/>
                  </a:lnTo>
                </a:path>
              </a:pathLst>
            </a:custGeom>
            <a:ln w="67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538481" y="4256311"/>
              <a:ext cx="120014" cy="41910"/>
            </a:xfrm>
            <a:custGeom>
              <a:avLst/>
              <a:gdLst/>
              <a:ahLst/>
              <a:cxnLst/>
              <a:rect l="l" t="t" r="r" b="b"/>
              <a:pathLst>
                <a:path w="120014" h="41910">
                  <a:moveTo>
                    <a:pt x="34533" y="8331"/>
                  </a:moveTo>
                  <a:lnTo>
                    <a:pt x="26625" y="14179"/>
                  </a:lnTo>
                  <a:lnTo>
                    <a:pt x="23989" y="20830"/>
                  </a:lnTo>
                  <a:lnTo>
                    <a:pt x="26625" y="27481"/>
                  </a:lnTo>
                  <a:lnTo>
                    <a:pt x="34533" y="33329"/>
                  </a:lnTo>
                </a:path>
                <a:path w="120014" h="41910">
                  <a:moveTo>
                    <a:pt x="85432" y="33329"/>
                  </a:moveTo>
                  <a:lnTo>
                    <a:pt x="93336" y="27481"/>
                  </a:lnTo>
                  <a:lnTo>
                    <a:pt x="95970" y="20830"/>
                  </a:lnTo>
                  <a:lnTo>
                    <a:pt x="93336" y="14179"/>
                  </a:lnTo>
                  <a:lnTo>
                    <a:pt x="85432" y="8331"/>
                  </a:lnTo>
                </a:path>
                <a:path w="120014" h="41910">
                  <a:moveTo>
                    <a:pt x="17568" y="0"/>
                  </a:moveTo>
                  <a:lnTo>
                    <a:pt x="4392" y="9745"/>
                  </a:lnTo>
                  <a:lnTo>
                    <a:pt x="0" y="20830"/>
                  </a:lnTo>
                  <a:lnTo>
                    <a:pt x="4392" y="31915"/>
                  </a:lnTo>
                  <a:lnTo>
                    <a:pt x="17568" y="41660"/>
                  </a:lnTo>
                </a:path>
                <a:path w="120014" h="41910">
                  <a:moveTo>
                    <a:pt x="102403" y="41660"/>
                  </a:moveTo>
                  <a:lnTo>
                    <a:pt x="115576" y="31915"/>
                  </a:lnTo>
                  <a:lnTo>
                    <a:pt x="119967" y="20830"/>
                  </a:lnTo>
                  <a:lnTo>
                    <a:pt x="115576" y="9745"/>
                  </a:lnTo>
                  <a:lnTo>
                    <a:pt x="102403" y="0"/>
                  </a:lnTo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550887" y="4271248"/>
              <a:ext cx="95885" cy="161925"/>
            </a:xfrm>
            <a:custGeom>
              <a:avLst/>
              <a:gdLst/>
              <a:ahLst/>
              <a:cxnLst/>
              <a:rect l="l" t="t" r="r" b="b"/>
              <a:pathLst>
                <a:path w="95885" h="161925">
                  <a:moveTo>
                    <a:pt x="47577" y="60772"/>
                  </a:moveTo>
                  <a:lnTo>
                    <a:pt x="35190" y="60779"/>
                  </a:lnTo>
                  <a:lnTo>
                    <a:pt x="24843" y="63443"/>
                  </a:lnTo>
                  <a:lnTo>
                    <a:pt x="23686" y="66924"/>
                  </a:lnTo>
                  <a:lnTo>
                    <a:pt x="0" y="146504"/>
                  </a:lnTo>
                  <a:lnTo>
                    <a:pt x="1307" y="151872"/>
                  </a:lnTo>
                  <a:lnTo>
                    <a:pt x="9518" y="156520"/>
                  </a:lnTo>
                  <a:lnTo>
                    <a:pt x="23303" y="159959"/>
                  </a:lnTo>
                  <a:lnTo>
                    <a:pt x="41334" y="161701"/>
                  </a:lnTo>
                  <a:lnTo>
                    <a:pt x="60343" y="161332"/>
                  </a:lnTo>
                  <a:lnTo>
                    <a:pt x="76804" y="159014"/>
                  </a:lnTo>
                  <a:lnTo>
                    <a:pt x="88984" y="155123"/>
                  </a:lnTo>
                  <a:lnTo>
                    <a:pt x="95154" y="150034"/>
                  </a:lnTo>
                  <a:lnTo>
                    <a:pt x="95704" y="148859"/>
                  </a:lnTo>
                  <a:lnTo>
                    <a:pt x="95704" y="147671"/>
                  </a:lnTo>
                  <a:lnTo>
                    <a:pt x="95154" y="146500"/>
                  </a:lnTo>
                  <a:lnTo>
                    <a:pt x="71651" y="67541"/>
                  </a:lnTo>
                  <a:lnTo>
                    <a:pt x="71616" y="63796"/>
                  </a:lnTo>
                  <a:lnTo>
                    <a:pt x="60845" y="60765"/>
                  </a:lnTo>
                  <a:lnTo>
                    <a:pt x="47577" y="60772"/>
                  </a:lnTo>
                  <a:close/>
                </a:path>
                <a:path w="95885" h="161925">
                  <a:moveTo>
                    <a:pt x="59575" y="5892"/>
                  </a:moveTo>
                  <a:lnTo>
                    <a:pt x="59575" y="2639"/>
                  </a:lnTo>
                  <a:lnTo>
                    <a:pt x="54200" y="0"/>
                  </a:lnTo>
                  <a:lnTo>
                    <a:pt x="47577" y="0"/>
                  </a:lnTo>
                  <a:lnTo>
                    <a:pt x="40953" y="0"/>
                  </a:lnTo>
                  <a:lnTo>
                    <a:pt x="35578" y="2639"/>
                  </a:lnTo>
                  <a:lnTo>
                    <a:pt x="35578" y="5892"/>
                  </a:lnTo>
                  <a:lnTo>
                    <a:pt x="35578" y="9145"/>
                  </a:lnTo>
                  <a:lnTo>
                    <a:pt x="40953" y="11785"/>
                  </a:lnTo>
                  <a:lnTo>
                    <a:pt x="47577" y="11785"/>
                  </a:lnTo>
                  <a:lnTo>
                    <a:pt x="54200" y="11785"/>
                  </a:lnTo>
                  <a:lnTo>
                    <a:pt x="59575" y="9145"/>
                  </a:lnTo>
                  <a:lnTo>
                    <a:pt x="59575" y="5892"/>
                  </a:lnTo>
                  <a:close/>
                </a:path>
                <a:path w="95885" h="161925">
                  <a:moveTo>
                    <a:pt x="47577" y="60772"/>
                  </a:moveTo>
                  <a:lnTo>
                    <a:pt x="47577" y="11785"/>
                  </a:lnTo>
                </a:path>
              </a:pathLst>
            </a:custGeom>
            <a:ln w="10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747330" y="3815602"/>
              <a:ext cx="283845" cy="139700"/>
            </a:xfrm>
            <a:custGeom>
              <a:avLst/>
              <a:gdLst/>
              <a:ahLst/>
              <a:cxnLst/>
              <a:rect l="l" t="t" r="r" b="b"/>
              <a:pathLst>
                <a:path w="283844" h="139700">
                  <a:moveTo>
                    <a:pt x="0" y="0"/>
                  </a:moveTo>
                  <a:lnTo>
                    <a:pt x="283501" y="139232"/>
                  </a:lnTo>
                </a:path>
              </a:pathLst>
            </a:custGeom>
            <a:ln w="399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714703" y="3799585"/>
              <a:ext cx="349250" cy="171450"/>
            </a:xfrm>
            <a:custGeom>
              <a:avLst/>
              <a:gdLst/>
              <a:ahLst/>
              <a:cxnLst/>
              <a:rect l="l" t="t" r="r" b="b"/>
              <a:pathLst>
                <a:path w="349250" h="171450">
                  <a:moveTo>
                    <a:pt x="64643" y="10591"/>
                  </a:moveTo>
                  <a:lnTo>
                    <a:pt x="0" y="0"/>
                  </a:lnTo>
                  <a:lnTo>
                    <a:pt x="21551" y="31750"/>
                  </a:lnTo>
                  <a:lnTo>
                    <a:pt x="28282" y="24701"/>
                  </a:lnTo>
                  <a:lnTo>
                    <a:pt x="38011" y="18669"/>
                  </a:lnTo>
                  <a:lnTo>
                    <a:pt x="50279" y="13893"/>
                  </a:lnTo>
                  <a:lnTo>
                    <a:pt x="64643" y="10591"/>
                  </a:lnTo>
                  <a:close/>
                </a:path>
                <a:path w="349250" h="171450">
                  <a:moveTo>
                    <a:pt x="348742" y="171272"/>
                  </a:moveTo>
                  <a:lnTo>
                    <a:pt x="327190" y="139534"/>
                  </a:lnTo>
                  <a:lnTo>
                    <a:pt x="320459" y="146583"/>
                  </a:lnTo>
                  <a:lnTo>
                    <a:pt x="310730" y="152615"/>
                  </a:lnTo>
                  <a:lnTo>
                    <a:pt x="298462" y="157391"/>
                  </a:lnTo>
                  <a:lnTo>
                    <a:pt x="284099" y="160693"/>
                  </a:lnTo>
                  <a:lnTo>
                    <a:pt x="348742" y="17127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17266" y="3814077"/>
              <a:ext cx="386080" cy="158115"/>
            </a:xfrm>
            <a:custGeom>
              <a:avLst/>
              <a:gdLst/>
              <a:ahLst/>
              <a:cxnLst/>
              <a:rect l="l" t="t" r="r" b="b"/>
              <a:pathLst>
                <a:path w="386080" h="158114">
                  <a:moveTo>
                    <a:pt x="385759" y="0"/>
                  </a:moveTo>
                  <a:lnTo>
                    <a:pt x="0" y="157717"/>
                  </a:lnTo>
                </a:path>
              </a:pathLst>
            </a:custGeom>
            <a:ln w="381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081798" y="3799585"/>
              <a:ext cx="457200" cy="187325"/>
            </a:xfrm>
            <a:custGeom>
              <a:avLst/>
              <a:gdLst/>
              <a:ahLst/>
              <a:cxnLst/>
              <a:rect l="l" t="t" r="r" b="b"/>
              <a:pathLst>
                <a:path w="457200" h="187325">
                  <a:moveTo>
                    <a:pt x="66332" y="179057"/>
                  </a:moveTo>
                  <a:lnTo>
                    <a:pt x="52641" y="175120"/>
                  </a:lnTo>
                  <a:lnTo>
                    <a:pt x="41313" y="169824"/>
                  </a:lnTo>
                  <a:lnTo>
                    <a:pt x="32740" y="163385"/>
                  </a:lnTo>
                  <a:lnTo>
                    <a:pt x="27343" y="156057"/>
                  </a:lnTo>
                  <a:lnTo>
                    <a:pt x="0" y="186715"/>
                  </a:lnTo>
                  <a:lnTo>
                    <a:pt x="66332" y="179057"/>
                  </a:lnTo>
                  <a:close/>
                </a:path>
                <a:path w="457200" h="187325">
                  <a:moveTo>
                    <a:pt x="456679" y="0"/>
                  </a:moveTo>
                  <a:lnTo>
                    <a:pt x="390347" y="7658"/>
                  </a:lnTo>
                  <a:lnTo>
                    <a:pt x="404037" y="11582"/>
                  </a:lnTo>
                  <a:lnTo>
                    <a:pt x="415366" y="16891"/>
                  </a:lnTo>
                  <a:lnTo>
                    <a:pt x="423938" y="23329"/>
                  </a:lnTo>
                  <a:lnTo>
                    <a:pt x="429336" y="30657"/>
                  </a:lnTo>
                  <a:lnTo>
                    <a:pt x="4566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2797838" y="3813175"/>
              <a:ext cx="391795" cy="144145"/>
            </a:xfrm>
            <a:custGeom>
              <a:avLst/>
              <a:gdLst/>
              <a:ahLst/>
              <a:cxnLst/>
              <a:rect l="l" t="t" r="r" b="b"/>
              <a:pathLst>
                <a:path w="391794" h="144145">
                  <a:moveTo>
                    <a:pt x="0" y="0"/>
                  </a:moveTo>
                  <a:lnTo>
                    <a:pt x="391176" y="144086"/>
                  </a:lnTo>
                </a:path>
              </a:pathLst>
            </a:custGeom>
            <a:ln w="3737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2760929" y="3799585"/>
              <a:ext cx="465455" cy="171450"/>
            </a:xfrm>
            <a:custGeom>
              <a:avLst/>
              <a:gdLst/>
              <a:ahLst/>
              <a:cxnLst/>
              <a:rect l="l" t="t" r="r" b="b"/>
              <a:pathLst>
                <a:path w="465455" h="171450">
                  <a:moveTo>
                    <a:pt x="67030" y="5994"/>
                  </a:moveTo>
                  <a:lnTo>
                    <a:pt x="0" y="0"/>
                  </a:lnTo>
                  <a:lnTo>
                    <a:pt x="30467" y="29933"/>
                  </a:lnTo>
                  <a:lnTo>
                    <a:pt x="35102" y="22479"/>
                  </a:lnTo>
                  <a:lnTo>
                    <a:pt x="43002" y="15836"/>
                  </a:lnTo>
                  <a:lnTo>
                    <a:pt x="53771" y="10261"/>
                  </a:lnTo>
                  <a:lnTo>
                    <a:pt x="67030" y="5994"/>
                  </a:lnTo>
                  <a:close/>
                </a:path>
                <a:path w="465455" h="171450">
                  <a:moveTo>
                    <a:pt x="464985" y="171272"/>
                  </a:moveTo>
                  <a:lnTo>
                    <a:pt x="434517" y="141351"/>
                  </a:lnTo>
                  <a:lnTo>
                    <a:pt x="429882" y="148793"/>
                  </a:lnTo>
                  <a:lnTo>
                    <a:pt x="421982" y="155435"/>
                  </a:lnTo>
                  <a:lnTo>
                    <a:pt x="411213" y="161023"/>
                  </a:lnTo>
                  <a:lnTo>
                    <a:pt x="397941" y="165290"/>
                  </a:lnTo>
                  <a:lnTo>
                    <a:pt x="464985" y="17127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3323795" y="4021057"/>
              <a:ext cx="516255" cy="165735"/>
            </a:xfrm>
            <a:custGeom>
              <a:avLst/>
              <a:gdLst/>
              <a:ahLst/>
              <a:cxnLst/>
              <a:rect l="l" t="t" r="r" b="b"/>
              <a:pathLst>
                <a:path w="516254" h="165735">
                  <a:moveTo>
                    <a:pt x="0" y="0"/>
                  </a:moveTo>
                  <a:lnTo>
                    <a:pt x="516217" y="165602"/>
                  </a:lnTo>
                </a:path>
              </a:pathLst>
            </a:custGeom>
            <a:ln w="3647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285172" y="4008678"/>
              <a:ext cx="593725" cy="190500"/>
            </a:xfrm>
            <a:custGeom>
              <a:avLst/>
              <a:gdLst/>
              <a:ahLst/>
              <a:cxnLst/>
              <a:rect l="l" t="t" r="r" b="b"/>
              <a:pathLst>
                <a:path w="593725" h="190500">
                  <a:moveTo>
                    <a:pt x="67678" y="3835"/>
                  </a:moveTo>
                  <a:lnTo>
                    <a:pt x="0" y="0"/>
                  </a:lnTo>
                  <a:lnTo>
                    <a:pt x="34353" y="28892"/>
                  </a:lnTo>
                  <a:lnTo>
                    <a:pt x="37998" y="21310"/>
                  </a:lnTo>
                  <a:lnTo>
                    <a:pt x="44996" y="14427"/>
                  </a:lnTo>
                  <a:lnTo>
                    <a:pt x="55003" y="8521"/>
                  </a:lnTo>
                  <a:lnTo>
                    <a:pt x="67678" y="3835"/>
                  </a:lnTo>
                  <a:close/>
                </a:path>
                <a:path w="593725" h="190500">
                  <a:moveTo>
                    <a:pt x="593458" y="190373"/>
                  </a:moveTo>
                  <a:lnTo>
                    <a:pt x="559104" y="161480"/>
                  </a:lnTo>
                  <a:lnTo>
                    <a:pt x="555459" y="169062"/>
                  </a:lnTo>
                  <a:lnTo>
                    <a:pt x="548462" y="175945"/>
                  </a:lnTo>
                  <a:lnTo>
                    <a:pt x="538441" y="181851"/>
                  </a:lnTo>
                  <a:lnTo>
                    <a:pt x="525767" y="186537"/>
                  </a:lnTo>
                  <a:lnTo>
                    <a:pt x="593458" y="19037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22119" y="3799582"/>
              <a:ext cx="190073" cy="150360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52552" y="3735858"/>
              <a:ext cx="213953" cy="71579"/>
            </a:xfrm>
            <a:prstGeom prst="rect">
              <a:avLst/>
            </a:prstGeom>
          </p:spPr>
        </p:pic>
        <p:sp>
          <p:nvSpPr>
            <p:cNvPr id="153" name="object 153" descr=""/>
            <p:cNvSpPr/>
            <p:nvPr/>
          </p:nvSpPr>
          <p:spPr>
            <a:xfrm>
              <a:off x="1040881" y="4328338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30" h="56514">
                  <a:moveTo>
                    <a:pt x="130634" y="25531"/>
                  </a:moveTo>
                  <a:lnTo>
                    <a:pt x="130634" y="18329"/>
                  </a:lnTo>
                  <a:lnTo>
                    <a:pt x="85311" y="7201"/>
                  </a:lnTo>
                  <a:lnTo>
                    <a:pt x="117302" y="0"/>
                  </a:lnTo>
                  <a:lnTo>
                    <a:pt x="175954" y="14404"/>
                  </a:lnTo>
                  <a:lnTo>
                    <a:pt x="130634" y="25531"/>
                  </a:lnTo>
                  <a:close/>
                </a:path>
                <a:path w="176530" h="56514">
                  <a:moveTo>
                    <a:pt x="98638" y="26185"/>
                  </a:moveTo>
                  <a:lnTo>
                    <a:pt x="39987" y="11785"/>
                  </a:lnTo>
                  <a:lnTo>
                    <a:pt x="71982" y="3928"/>
                  </a:lnTo>
                  <a:lnTo>
                    <a:pt x="130634" y="18329"/>
                  </a:lnTo>
                  <a:lnTo>
                    <a:pt x="98638" y="26185"/>
                  </a:lnTo>
                  <a:close/>
                </a:path>
                <a:path w="176530" h="56514">
                  <a:moveTo>
                    <a:pt x="58651" y="56300"/>
                  </a:moveTo>
                  <a:lnTo>
                    <a:pt x="58651" y="43205"/>
                  </a:lnTo>
                  <a:lnTo>
                    <a:pt x="175954" y="14404"/>
                  </a:lnTo>
                  <a:lnTo>
                    <a:pt x="175954" y="27495"/>
                  </a:lnTo>
                  <a:lnTo>
                    <a:pt x="58651" y="56300"/>
                  </a:lnTo>
                  <a:close/>
                </a:path>
                <a:path w="176530" h="56514">
                  <a:moveTo>
                    <a:pt x="58651" y="43205"/>
                  </a:moveTo>
                  <a:lnTo>
                    <a:pt x="0" y="28804"/>
                  </a:lnTo>
                  <a:lnTo>
                    <a:pt x="26662" y="22257"/>
                  </a:lnTo>
                  <a:lnTo>
                    <a:pt x="85305" y="36661"/>
                  </a:lnTo>
                  <a:lnTo>
                    <a:pt x="58651" y="4320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040881" y="4328338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30" h="56514">
                  <a:moveTo>
                    <a:pt x="0" y="28804"/>
                  </a:moveTo>
                  <a:lnTo>
                    <a:pt x="58651" y="43205"/>
                  </a:lnTo>
                  <a:lnTo>
                    <a:pt x="85307" y="36661"/>
                  </a:lnTo>
                  <a:lnTo>
                    <a:pt x="26662" y="22257"/>
                  </a:lnTo>
                  <a:lnTo>
                    <a:pt x="0" y="28804"/>
                  </a:lnTo>
                  <a:close/>
                </a:path>
                <a:path w="176530" h="56514">
                  <a:moveTo>
                    <a:pt x="39987" y="11785"/>
                  </a:moveTo>
                  <a:lnTo>
                    <a:pt x="98638" y="26185"/>
                  </a:lnTo>
                  <a:lnTo>
                    <a:pt x="130634" y="18329"/>
                  </a:lnTo>
                  <a:lnTo>
                    <a:pt x="71982" y="3928"/>
                  </a:lnTo>
                  <a:lnTo>
                    <a:pt x="39987" y="11785"/>
                  </a:lnTo>
                  <a:close/>
                </a:path>
                <a:path w="176530" h="56514">
                  <a:moveTo>
                    <a:pt x="175954" y="14404"/>
                  </a:moveTo>
                  <a:lnTo>
                    <a:pt x="117302" y="0"/>
                  </a:lnTo>
                  <a:lnTo>
                    <a:pt x="85307" y="7202"/>
                  </a:lnTo>
                  <a:lnTo>
                    <a:pt x="130634" y="18329"/>
                  </a:lnTo>
                  <a:lnTo>
                    <a:pt x="130634" y="25531"/>
                  </a:lnTo>
                  <a:lnTo>
                    <a:pt x="175954" y="14404"/>
                  </a:lnTo>
                  <a:close/>
                </a:path>
                <a:path w="176530" h="56514">
                  <a:moveTo>
                    <a:pt x="58651" y="56300"/>
                  </a:moveTo>
                  <a:lnTo>
                    <a:pt x="175954" y="27495"/>
                  </a:lnTo>
                  <a:lnTo>
                    <a:pt x="175954" y="14404"/>
                  </a:lnTo>
                  <a:lnTo>
                    <a:pt x="58651" y="43205"/>
                  </a:lnTo>
                  <a:lnTo>
                    <a:pt x="58651" y="563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067541" y="4340121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4" h="25400">
                  <a:moveTo>
                    <a:pt x="58651" y="24876"/>
                  </a:moveTo>
                  <a:lnTo>
                    <a:pt x="0" y="10475"/>
                  </a:ln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close/>
                </a:path>
                <a:path w="114934" h="25400">
                  <a:moveTo>
                    <a:pt x="58651" y="24876"/>
                  </a:moveTo>
                  <a:lnTo>
                    <a:pt x="71982" y="14404"/>
                  </a:ln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067541" y="4340121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4" h="25400">
                  <a:moveTo>
                    <a:pt x="0" y="10475"/>
                  </a:move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lnTo>
                    <a:pt x="0" y="10475"/>
                  </a:lnTo>
                  <a:close/>
                </a:path>
                <a:path w="114934" h="25400">
                  <a:moveTo>
                    <a:pt x="71982" y="14404"/>
                  </a:move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lnTo>
                    <a:pt x="71982" y="144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118194" y="4354525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12414" y="30114"/>
                  </a:moveTo>
                  <a:lnTo>
                    <a:pt x="3583" y="30114"/>
                  </a:lnTo>
                  <a:lnTo>
                    <a:pt x="0" y="27183"/>
                  </a:lnTo>
                  <a:lnTo>
                    <a:pt x="0" y="19950"/>
                  </a:lnTo>
                  <a:lnTo>
                    <a:pt x="3583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7183"/>
                  </a:lnTo>
                  <a:lnTo>
                    <a:pt x="12414" y="30114"/>
                  </a:lnTo>
                  <a:close/>
                </a:path>
                <a:path w="77469" h="30479">
                  <a:moveTo>
                    <a:pt x="73732" y="13091"/>
                  </a:moveTo>
                  <a:lnTo>
                    <a:pt x="64900" y="13091"/>
                  </a:lnTo>
                  <a:lnTo>
                    <a:pt x="61317" y="10160"/>
                  </a:lnTo>
                  <a:lnTo>
                    <a:pt x="61317" y="2930"/>
                  </a:lnTo>
                  <a:lnTo>
                    <a:pt x="64900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10160"/>
                  </a:lnTo>
                  <a:lnTo>
                    <a:pt x="73732" y="1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118194" y="4354525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0" y="23566"/>
                  </a:moveTo>
                  <a:lnTo>
                    <a:pt x="0" y="19950"/>
                  </a:lnTo>
                  <a:lnTo>
                    <a:pt x="3583" y="17019"/>
                  </a:lnTo>
                  <a:lnTo>
                    <a:pt x="7998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3566"/>
                  </a:lnTo>
                  <a:lnTo>
                    <a:pt x="15997" y="27183"/>
                  </a:lnTo>
                  <a:lnTo>
                    <a:pt x="12414" y="30114"/>
                  </a:lnTo>
                  <a:lnTo>
                    <a:pt x="7998" y="30114"/>
                  </a:lnTo>
                  <a:lnTo>
                    <a:pt x="3583" y="30114"/>
                  </a:lnTo>
                  <a:lnTo>
                    <a:pt x="0" y="27183"/>
                  </a:lnTo>
                  <a:lnTo>
                    <a:pt x="0" y="23566"/>
                  </a:lnTo>
                  <a:close/>
                </a:path>
                <a:path w="77469" h="30479">
                  <a:moveTo>
                    <a:pt x="61317" y="6547"/>
                  </a:moveTo>
                  <a:lnTo>
                    <a:pt x="61317" y="2930"/>
                  </a:lnTo>
                  <a:lnTo>
                    <a:pt x="64900" y="0"/>
                  </a:lnTo>
                  <a:lnTo>
                    <a:pt x="69316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6547"/>
                  </a:lnTo>
                  <a:lnTo>
                    <a:pt x="77315" y="10160"/>
                  </a:lnTo>
                  <a:lnTo>
                    <a:pt x="73732" y="13091"/>
                  </a:lnTo>
                  <a:lnTo>
                    <a:pt x="69316" y="13091"/>
                  </a:lnTo>
                  <a:lnTo>
                    <a:pt x="64900" y="13091"/>
                  </a:lnTo>
                  <a:lnTo>
                    <a:pt x="61317" y="10160"/>
                  </a:lnTo>
                  <a:lnTo>
                    <a:pt x="61317" y="6547"/>
                  </a:lnTo>
                  <a:close/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040881" y="4357143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58651" y="27495"/>
                  </a:moveTo>
                  <a:lnTo>
                    <a:pt x="0" y="13094"/>
                  </a:lnTo>
                  <a:lnTo>
                    <a:pt x="0" y="0"/>
                  </a:lnTo>
                  <a:lnTo>
                    <a:pt x="58651" y="14400"/>
                  </a:lnTo>
                  <a:lnTo>
                    <a:pt x="58651" y="27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040881" y="4357143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0" y="0"/>
                  </a:moveTo>
                  <a:lnTo>
                    <a:pt x="0" y="13094"/>
                  </a:lnTo>
                  <a:lnTo>
                    <a:pt x="58651" y="27495"/>
                  </a:lnTo>
                  <a:lnTo>
                    <a:pt x="58651" y="144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046213" y="4180839"/>
              <a:ext cx="2038350" cy="197485"/>
            </a:xfrm>
            <a:custGeom>
              <a:avLst/>
              <a:gdLst/>
              <a:ahLst/>
              <a:cxnLst/>
              <a:rect l="l" t="t" r="r" b="b"/>
              <a:pathLst>
                <a:path w="2038350" h="197485">
                  <a:moveTo>
                    <a:pt x="15989" y="186778"/>
                  </a:moveTo>
                  <a:lnTo>
                    <a:pt x="0" y="182854"/>
                  </a:lnTo>
                  <a:lnTo>
                    <a:pt x="0" y="186778"/>
                  </a:lnTo>
                  <a:lnTo>
                    <a:pt x="15989" y="190715"/>
                  </a:lnTo>
                  <a:lnTo>
                    <a:pt x="15989" y="186778"/>
                  </a:lnTo>
                  <a:close/>
                </a:path>
                <a:path w="2038350" h="197485">
                  <a:moveTo>
                    <a:pt x="42646" y="193332"/>
                  </a:moveTo>
                  <a:lnTo>
                    <a:pt x="26657" y="189407"/>
                  </a:lnTo>
                  <a:lnTo>
                    <a:pt x="26657" y="193332"/>
                  </a:lnTo>
                  <a:lnTo>
                    <a:pt x="42646" y="197256"/>
                  </a:lnTo>
                  <a:lnTo>
                    <a:pt x="42646" y="193332"/>
                  </a:lnTo>
                  <a:close/>
                </a:path>
                <a:path w="2038350" h="197485">
                  <a:moveTo>
                    <a:pt x="1947392" y="36652"/>
                  </a:moveTo>
                  <a:lnTo>
                    <a:pt x="1888744" y="22250"/>
                  </a:lnTo>
                  <a:lnTo>
                    <a:pt x="1862074" y="28803"/>
                  </a:lnTo>
                  <a:lnTo>
                    <a:pt x="1920735" y="43205"/>
                  </a:lnTo>
                  <a:lnTo>
                    <a:pt x="1947392" y="36652"/>
                  </a:lnTo>
                  <a:close/>
                </a:path>
                <a:path w="2038350" h="197485">
                  <a:moveTo>
                    <a:pt x="2038032" y="14401"/>
                  </a:moveTo>
                  <a:lnTo>
                    <a:pt x="1979383" y="0"/>
                  </a:lnTo>
                  <a:lnTo>
                    <a:pt x="1947392" y="7200"/>
                  </a:lnTo>
                  <a:lnTo>
                    <a:pt x="1934057" y="3924"/>
                  </a:lnTo>
                  <a:lnTo>
                    <a:pt x="1902066" y="11785"/>
                  </a:lnTo>
                  <a:lnTo>
                    <a:pt x="1960714" y="26187"/>
                  </a:lnTo>
                  <a:lnTo>
                    <a:pt x="1992718" y="18326"/>
                  </a:lnTo>
                  <a:lnTo>
                    <a:pt x="1992718" y="25527"/>
                  </a:lnTo>
                  <a:lnTo>
                    <a:pt x="1920735" y="43205"/>
                  </a:lnTo>
                  <a:lnTo>
                    <a:pt x="1920735" y="56299"/>
                  </a:lnTo>
                  <a:lnTo>
                    <a:pt x="2038032" y="27495"/>
                  </a:lnTo>
                  <a:lnTo>
                    <a:pt x="2038032" y="1440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2908299" y="4180829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30" h="56514">
                  <a:moveTo>
                    <a:pt x="0" y="28804"/>
                  </a:moveTo>
                  <a:lnTo>
                    <a:pt x="58651" y="43208"/>
                  </a:lnTo>
                  <a:lnTo>
                    <a:pt x="85314" y="36661"/>
                  </a:lnTo>
                  <a:lnTo>
                    <a:pt x="26662" y="22257"/>
                  </a:lnTo>
                  <a:lnTo>
                    <a:pt x="0" y="28804"/>
                  </a:lnTo>
                  <a:close/>
                </a:path>
                <a:path w="176530" h="56514">
                  <a:moveTo>
                    <a:pt x="39987" y="11785"/>
                  </a:moveTo>
                  <a:lnTo>
                    <a:pt x="98638" y="26185"/>
                  </a:lnTo>
                  <a:lnTo>
                    <a:pt x="130634" y="18329"/>
                  </a:lnTo>
                  <a:lnTo>
                    <a:pt x="71982" y="3928"/>
                  </a:lnTo>
                  <a:lnTo>
                    <a:pt x="39987" y="11785"/>
                  </a:lnTo>
                  <a:close/>
                </a:path>
                <a:path w="176530" h="56514">
                  <a:moveTo>
                    <a:pt x="175954" y="14404"/>
                  </a:moveTo>
                  <a:lnTo>
                    <a:pt x="117302" y="0"/>
                  </a:lnTo>
                  <a:lnTo>
                    <a:pt x="85314" y="7202"/>
                  </a:lnTo>
                  <a:lnTo>
                    <a:pt x="130634" y="18329"/>
                  </a:lnTo>
                  <a:lnTo>
                    <a:pt x="130634" y="25531"/>
                  </a:lnTo>
                  <a:lnTo>
                    <a:pt x="175954" y="14404"/>
                  </a:lnTo>
                  <a:close/>
                </a:path>
                <a:path w="176530" h="56514">
                  <a:moveTo>
                    <a:pt x="58651" y="56300"/>
                  </a:moveTo>
                  <a:lnTo>
                    <a:pt x="175954" y="27495"/>
                  </a:lnTo>
                  <a:lnTo>
                    <a:pt x="175954" y="14404"/>
                  </a:lnTo>
                  <a:lnTo>
                    <a:pt x="58651" y="43208"/>
                  </a:lnTo>
                  <a:lnTo>
                    <a:pt x="58651" y="563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2934958" y="4192612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58651" y="24879"/>
                  </a:moveTo>
                  <a:lnTo>
                    <a:pt x="0" y="10475"/>
                  </a:lnTo>
                  <a:lnTo>
                    <a:pt x="13331" y="0"/>
                  </a:lnTo>
                  <a:lnTo>
                    <a:pt x="71982" y="14404"/>
                  </a:lnTo>
                  <a:lnTo>
                    <a:pt x="58651" y="24879"/>
                  </a:lnTo>
                  <a:close/>
                </a:path>
                <a:path w="114935" h="25400">
                  <a:moveTo>
                    <a:pt x="58651" y="24879"/>
                  </a:moveTo>
                  <a:lnTo>
                    <a:pt x="71982" y="14404"/>
                  </a:ln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2934958" y="4192612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0" y="10475"/>
                  </a:moveTo>
                  <a:lnTo>
                    <a:pt x="13331" y="0"/>
                  </a:lnTo>
                  <a:lnTo>
                    <a:pt x="71982" y="14404"/>
                  </a:lnTo>
                  <a:lnTo>
                    <a:pt x="58651" y="24879"/>
                  </a:lnTo>
                  <a:lnTo>
                    <a:pt x="0" y="10475"/>
                  </a:lnTo>
                  <a:close/>
                </a:path>
                <a:path w="114935" h="25400">
                  <a:moveTo>
                    <a:pt x="71982" y="14404"/>
                  </a:move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9"/>
                  </a:lnTo>
                  <a:lnTo>
                    <a:pt x="71982" y="144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2985611" y="4207016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12414" y="30114"/>
                  </a:moveTo>
                  <a:lnTo>
                    <a:pt x="3583" y="30114"/>
                  </a:lnTo>
                  <a:lnTo>
                    <a:pt x="0" y="27183"/>
                  </a:lnTo>
                  <a:lnTo>
                    <a:pt x="0" y="19950"/>
                  </a:lnTo>
                  <a:lnTo>
                    <a:pt x="3583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7183"/>
                  </a:lnTo>
                  <a:lnTo>
                    <a:pt x="12414" y="30114"/>
                  </a:lnTo>
                  <a:close/>
                </a:path>
                <a:path w="77469" h="30479">
                  <a:moveTo>
                    <a:pt x="73732" y="13091"/>
                  </a:moveTo>
                  <a:lnTo>
                    <a:pt x="64900" y="13091"/>
                  </a:lnTo>
                  <a:lnTo>
                    <a:pt x="61317" y="10160"/>
                  </a:lnTo>
                  <a:lnTo>
                    <a:pt x="61317" y="2930"/>
                  </a:lnTo>
                  <a:lnTo>
                    <a:pt x="64900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10160"/>
                  </a:lnTo>
                  <a:lnTo>
                    <a:pt x="73732" y="1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2985611" y="4207016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0" y="23566"/>
                  </a:moveTo>
                  <a:lnTo>
                    <a:pt x="0" y="19950"/>
                  </a:lnTo>
                  <a:lnTo>
                    <a:pt x="3583" y="17019"/>
                  </a:lnTo>
                  <a:lnTo>
                    <a:pt x="7998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3566"/>
                  </a:lnTo>
                  <a:lnTo>
                    <a:pt x="15997" y="27183"/>
                  </a:lnTo>
                  <a:lnTo>
                    <a:pt x="12414" y="30114"/>
                  </a:lnTo>
                  <a:lnTo>
                    <a:pt x="7998" y="30114"/>
                  </a:lnTo>
                  <a:lnTo>
                    <a:pt x="3583" y="30114"/>
                  </a:lnTo>
                  <a:lnTo>
                    <a:pt x="0" y="27183"/>
                  </a:lnTo>
                  <a:lnTo>
                    <a:pt x="0" y="23566"/>
                  </a:lnTo>
                  <a:close/>
                </a:path>
                <a:path w="77469" h="30479">
                  <a:moveTo>
                    <a:pt x="61317" y="6547"/>
                  </a:moveTo>
                  <a:lnTo>
                    <a:pt x="61317" y="2930"/>
                  </a:lnTo>
                  <a:lnTo>
                    <a:pt x="64900" y="0"/>
                  </a:lnTo>
                  <a:lnTo>
                    <a:pt x="69316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6547"/>
                  </a:lnTo>
                  <a:lnTo>
                    <a:pt x="77315" y="10160"/>
                  </a:lnTo>
                  <a:lnTo>
                    <a:pt x="73732" y="13091"/>
                  </a:lnTo>
                  <a:lnTo>
                    <a:pt x="69316" y="13091"/>
                  </a:lnTo>
                  <a:lnTo>
                    <a:pt x="64900" y="13091"/>
                  </a:lnTo>
                  <a:lnTo>
                    <a:pt x="61317" y="10160"/>
                  </a:lnTo>
                  <a:lnTo>
                    <a:pt x="61317" y="6547"/>
                  </a:lnTo>
                  <a:close/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2908299" y="4209634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58651" y="27495"/>
                  </a:moveTo>
                  <a:lnTo>
                    <a:pt x="0" y="13094"/>
                  </a:lnTo>
                  <a:lnTo>
                    <a:pt x="0" y="0"/>
                  </a:lnTo>
                  <a:lnTo>
                    <a:pt x="58651" y="14400"/>
                  </a:lnTo>
                  <a:lnTo>
                    <a:pt x="58651" y="27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2908299" y="4209634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0" y="0"/>
                  </a:moveTo>
                  <a:lnTo>
                    <a:pt x="0" y="13094"/>
                  </a:lnTo>
                  <a:lnTo>
                    <a:pt x="58651" y="27495"/>
                  </a:lnTo>
                  <a:lnTo>
                    <a:pt x="58651" y="144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2316657" y="4216183"/>
              <a:ext cx="640080" cy="320040"/>
            </a:xfrm>
            <a:custGeom>
              <a:avLst/>
              <a:gdLst/>
              <a:ahLst/>
              <a:cxnLst/>
              <a:rect l="l" t="t" r="r" b="b"/>
              <a:pathLst>
                <a:path w="640080" h="320039">
                  <a:moveTo>
                    <a:pt x="85293" y="300380"/>
                  </a:moveTo>
                  <a:lnTo>
                    <a:pt x="26657" y="285978"/>
                  </a:lnTo>
                  <a:lnTo>
                    <a:pt x="0" y="292531"/>
                  </a:lnTo>
                  <a:lnTo>
                    <a:pt x="58648" y="306933"/>
                  </a:lnTo>
                  <a:lnTo>
                    <a:pt x="85293" y="300380"/>
                  </a:lnTo>
                  <a:close/>
                </a:path>
                <a:path w="640080" h="320039">
                  <a:moveTo>
                    <a:pt x="175945" y="278117"/>
                  </a:moveTo>
                  <a:lnTo>
                    <a:pt x="117297" y="263728"/>
                  </a:lnTo>
                  <a:lnTo>
                    <a:pt x="85305" y="270929"/>
                  </a:lnTo>
                  <a:lnTo>
                    <a:pt x="71983" y="267652"/>
                  </a:lnTo>
                  <a:lnTo>
                    <a:pt x="39979" y="275513"/>
                  </a:lnTo>
                  <a:lnTo>
                    <a:pt x="98628" y="289902"/>
                  </a:lnTo>
                  <a:lnTo>
                    <a:pt x="130632" y="282054"/>
                  </a:lnTo>
                  <a:lnTo>
                    <a:pt x="130632" y="289255"/>
                  </a:lnTo>
                  <a:lnTo>
                    <a:pt x="58648" y="306933"/>
                  </a:lnTo>
                  <a:lnTo>
                    <a:pt x="58648" y="320027"/>
                  </a:lnTo>
                  <a:lnTo>
                    <a:pt x="175945" y="291223"/>
                  </a:lnTo>
                  <a:lnTo>
                    <a:pt x="175945" y="278117"/>
                  </a:lnTo>
                  <a:close/>
                </a:path>
                <a:path w="640080" h="320039">
                  <a:moveTo>
                    <a:pt x="612965" y="3937"/>
                  </a:moveTo>
                  <a:lnTo>
                    <a:pt x="596963" y="0"/>
                  </a:lnTo>
                  <a:lnTo>
                    <a:pt x="596963" y="3937"/>
                  </a:lnTo>
                  <a:lnTo>
                    <a:pt x="612965" y="7861"/>
                  </a:lnTo>
                  <a:lnTo>
                    <a:pt x="612965" y="3937"/>
                  </a:lnTo>
                  <a:close/>
                </a:path>
                <a:path w="640080" h="320039">
                  <a:moveTo>
                    <a:pt x="639622" y="10477"/>
                  </a:moveTo>
                  <a:lnTo>
                    <a:pt x="623620" y="6553"/>
                  </a:lnTo>
                  <a:lnTo>
                    <a:pt x="623620" y="10477"/>
                  </a:lnTo>
                  <a:lnTo>
                    <a:pt x="639622" y="14401"/>
                  </a:lnTo>
                  <a:lnTo>
                    <a:pt x="639622" y="1047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2316658" y="4479900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30" h="56514">
                  <a:moveTo>
                    <a:pt x="0" y="28804"/>
                  </a:moveTo>
                  <a:lnTo>
                    <a:pt x="58651" y="43205"/>
                  </a:lnTo>
                  <a:lnTo>
                    <a:pt x="85307" y="36661"/>
                  </a:lnTo>
                  <a:lnTo>
                    <a:pt x="26662" y="22257"/>
                  </a:lnTo>
                  <a:lnTo>
                    <a:pt x="0" y="28804"/>
                  </a:lnTo>
                  <a:close/>
                </a:path>
                <a:path w="176530" h="56514">
                  <a:moveTo>
                    <a:pt x="39987" y="11785"/>
                  </a:moveTo>
                  <a:lnTo>
                    <a:pt x="98638" y="26185"/>
                  </a:lnTo>
                  <a:lnTo>
                    <a:pt x="130634" y="18329"/>
                  </a:lnTo>
                  <a:lnTo>
                    <a:pt x="71982" y="3928"/>
                  </a:lnTo>
                  <a:lnTo>
                    <a:pt x="39987" y="11785"/>
                  </a:lnTo>
                  <a:close/>
                </a:path>
                <a:path w="176530" h="56514">
                  <a:moveTo>
                    <a:pt x="175954" y="14400"/>
                  </a:moveTo>
                  <a:lnTo>
                    <a:pt x="117302" y="0"/>
                  </a:lnTo>
                  <a:lnTo>
                    <a:pt x="85307" y="7202"/>
                  </a:lnTo>
                  <a:lnTo>
                    <a:pt x="130634" y="18329"/>
                  </a:lnTo>
                  <a:lnTo>
                    <a:pt x="130634" y="25531"/>
                  </a:lnTo>
                  <a:lnTo>
                    <a:pt x="175954" y="14400"/>
                  </a:lnTo>
                  <a:close/>
                </a:path>
                <a:path w="176530" h="56514">
                  <a:moveTo>
                    <a:pt x="58651" y="56300"/>
                  </a:moveTo>
                  <a:lnTo>
                    <a:pt x="175954" y="27495"/>
                  </a:lnTo>
                  <a:lnTo>
                    <a:pt x="175954" y="14400"/>
                  </a:lnTo>
                  <a:lnTo>
                    <a:pt x="58651" y="43205"/>
                  </a:lnTo>
                  <a:lnTo>
                    <a:pt x="58651" y="563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2343318" y="4491682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58651" y="24876"/>
                  </a:moveTo>
                  <a:lnTo>
                    <a:pt x="0" y="10475"/>
                  </a:ln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close/>
                </a:path>
                <a:path w="114935" h="25400">
                  <a:moveTo>
                    <a:pt x="58651" y="24876"/>
                  </a:moveTo>
                  <a:lnTo>
                    <a:pt x="71982" y="14404"/>
                  </a:ln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2343318" y="4491682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0" y="10475"/>
                  </a:move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lnTo>
                    <a:pt x="0" y="10475"/>
                  </a:lnTo>
                  <a:close/>
                </a:path>
                <a:path w="114935" h="25400">
                  <a:moveTo>
                    <a:pt x="71982" y="14404"/>
                  </a:move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lnTo>
                    <a:pt x="71982" y="144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2393971" y="4506086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12414" y="30114"/>
                  </a:moveTo>
                  <a:lnTo>
                    <a:pt x="3583" y="30114"/>
                  </a:lnTo>
                  <a:lnTo>
                    <a:pt x="0" y="27183"/>
                  </a:lnTo>
                  <a:lnTo>
                    <a:pt x="0" y="19950"/>
                  </a:lnTo>
                  <a:lnTo>
                    <a:pt x="3583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7183"/>
                  </a:lnTo>
                  <a:lnTo>
                    <a:pt x="12414" y="30114"/>
                  </a:lnTo>
                  <a:close/>
                </a:path>
                <a:path w="77469" h="30479">
                  <a:moveTo>
                    <a:pt x="73732" y="13091"/>
                  </a:moveTo>
                  <a:lnTo>
                    <a:pt x="64900" y="13091"/>
                  </a:lnTo>
                  <a:lnTo>
                    <a:pt x="61317" y="10160"/>
                  </a:lnTo>
                  <a:lnTo>
                    <a:pt x="61317" y="2930"/>
                  </a:lnTo>
                  <a:lnTo>
                    <a:pt x="64900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10160"/>
                  </a:lnTo>
                  <a:lnTo>
                    <a:pt x="73732" y="1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2393971" y="4506086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69" h="30479">
                  <a:moveTo>
                    <a:pt x="0" y="23566"/>
                  </a:moveTo>
                  <a:lnTo>
                    <a:pt x="0" y="19950"/>
                  </a:lnTo>
                  <a:lnTo>
                    <a:pt x="3583" y="17019"/>
                  </a:lnTo>
                  <a:lnTo>
                    <a:pt x="7998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3566"/>
                  </a:lnTo>
                  <a:lnTo>
                    <a:pt x="15997" y="27183"/>
                  </a:lnTo>
                  <a:lnTo>
                    <a:pt x="12414" y="30114"/>
                  </a:lnTo>
                  <a:lnTo>
                    <a:pt x="7998" y="30114"/>
                  </a:lnTo>
                  <a:lnTo>
                    <a:pt x="3583" y="30114"/>
                  </a:lnTo>
                  <a:lnTo>
                    <a:pt x="0" y="27183"/>
                  </a:lnTo>
                  <a:lnTo>
                    <a:pt x="0" y="23566"/>
                  </a:lnTo>
                  <a:close/>
                </a:path>
                <a:path w="77469" h="30479">
                  <a:moveTo>
                    <a:pt x="61317" y="6547"/>
                  </a:moveTo>
                  <a:lnTo>
                    <a:pt x="61317" y="2930"/>
                  </a:lnTo>
                  <a:lnTo>
                    <a:pt x="64900" y="0"/>
                  </a:lnTo>
                  <a:lnTo>
                    <a:pt x="69316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6547"/>
                  </a:lnTo>
                  <a:lnTo>
                    <a:pt x="77315" y="10160"/>
                  </a:lnTo>
                  <a:lnTo>
                    <a:pt x="73732" y="13091"/>
                  </a:lnTo>
                  <a:lnTo>
                    <a:pt x="69316" y="13091"/>
                  </a:lnTo>
                  <a:lnTo>
                    <a:pt x="64900" y="13091"/>
                  </a:lnTo>
                  <a:lnTo>
                    <a:pt x="61317" y="10160"/>
                  </a:lnTo>
                  <a:lnTo>
                    <a:pt x="61317" y="6547"/>
                  </a:lnTo>
                  <a:close/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2316658" y="4508705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58651" y="27495"/>
                  </a:moveTo>
                  <a:lnTo>
                    <a:pt x="0" y="13094"/>
                  </a:lnTo>
                  <a:lnTo>
                    <a:pt x="0" y="0"/>
                  </a:lnTo>
                  <a:lnTo>
                    <a:pt x="58651" y="14400"/>
                  </a:lnTo>
                  <a:lnTo>
                    <a:pt x="58651" y="27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2316658" y="4508705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5" h="27939">
                  <a:moveTo>
                    <a:pt x="0" y="0"/>
                  </a:moveTo>
                  <a:lnTo>
                    <a:pt x="0" y="13094"/>
                  </a:lnTo>
                  <a:lnTo>
                    <a:pt x="58651" y="27495"/>
                  </a:lnTo>
                  <a:lnTo>
                    <a:pt x="58651" y="144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2321979" y="4144708"/>
              <a:ext cx="1282065" cy="385445"/>
            </a:xfrm>
            <a:custGeom>
              <a:avLst/>
              <a:gdLst/>
              <a:ahLst/>
              <a:cxnLst/>
              <a:rect l="l" t="t" r="r" b="b"/>
              <a:pathLst>
                <a:path w="1282064" h="385445">
                  <a:moveTo>
                    <a:pt x="16002" y="374472"/>
                  </a:moveTo>
                  <a:lnTo>
                    <a:pt x="0" y="370547"/>
                  </a:lnTo>
                  <a:lnTo>
                    <a:pt x="0" y="374472"/>
                  </a:lnTo>
                  <a:lnTo>
                    <a:pt x="16002" y="378409"/>
                  </a:lnTo>
                  <a:lnTo>
                    <a:pt x="16002" y="374472"/>
                  </a:lnTo>
                  <a:close/>
                </a:path>
                <a:path w="1282064" h="385445">
                  <a:moveTo>
                    <a:pt x="42659" y="381025"/>
                  </a:moveTo>
                  <a:lnTo>
                    <a:pt x="26670" y="377101"/>
                  </a:lnTo>
                  <a:lnTo>
                    <a:pt x="26670" y="381025"/>
                  </a:lnTo>
                  <a:lnTo>
                    <a:pt x="42659" y="384949"/>
                  </a:lnTo>
                  <a:lnTo>
                    <a:pt x="42659" y="381025"/>
                  </a:lnTo>
                  <a:close/>
                </a:path>
                <a:path w="1282064" h="385445">
                  <a:moveTo>
                    <a:pt x="1281518" y="14401"/>
                  </a:moveTo>
                  <a:lnTo>
                    <a:pt x="1222857" y="0"/>
                  </a:lnTo>
                  <a:lnTo>
                    <a:pt x="1190866" y="7200"/>
                  </a:lnTo>
                  <a:lnTo>
                    <a:pt x="1177544" y="3924"/>
                  </a:lnTo>
                  <a:lnTo>
                    <a:pt x="1145552" y="11785"/>
                  </a:lnTo>
                  <a:lnTo>
                    <a:pt x="1204201" y="26187"/>
                  </a:lnTo>
                  <a:lnTo>
                    <a:pt x="1236192" y="18326"/>
                  </a:lnTo>
                  <a:lnTo>
                    <a:pt x="1236192" y="25527"/>
                  </a:lnTo>
                  <a:lnTo>
                    <a:pt x="1281518" y="14401"/>
                  </a:lnTo>
                  <a:close/>
                </a:path>
                <a:path w="1282064" h="385445">
                  <a:moveTo>
                    <a:pt x="1281518" y="14401"/>
                  </a:moveTo>
                  <a:lnTo>
                    <a:pt x="1190866" y="36664"/>
                  </a:lnTo>
                  <a:lnTo>
                    <a:pt x="1132217" y="22263"/>
                  </a:lnTo>
                  <a:lnTo>
                    <a:pt x="1105560" y="28803"/>
                  </a:lnTo>
                  <a:lnTo>
                    <a:pt x="1164209" y="43205"/>
                  </a:lnTo>
                  <a:lnTo>
                    <a:pt x="1164209" y="56299"/>
                  </a:lnTo>
                  <a:lnTo>
                    <a:pt x="1281518" y="27495"/>
                  </a:lnTo>
                  <a:lnTo>
                    <a:pt x="1281518" y="1440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3427545" y="4144701"/>
              <a:ext cx="176530" cy="56515"/>
            </a:xfrm>
            <a:custGeom>
              <a:avLst/>
              <a:gdLst/>
              <a:ahLst/>
              <a:cxnLst/>
              <a:rect l="l" t="t" r="r" b="b"/>
              <a:pathLst>
                <a:path w="176529" h="56514">
                  <a:moveTo>
                    <a:pt x="0" y="28804"/>
                  </a:moveTo>
                  <a:lnTo>
                    <a:pt x="58651" y="43205"/>
                  </a:lnTo>
                  <a:lnTo>
                    <a:pt x="85307" y="36661"/>
                  </a:lnTo>
                  <a:lnTo>
                    <a:pt x="26662" y="22257"/>
                  </a:lnTo>
                  <a:lnTo>
                    <a:pt x="0" y="28804"/>
                  </a:lnTo>
                  <a:close/>
                </a:path>
                <a:path w="176529" h="56514">
                  <a:moveTo>
                    <a:pt x="39987" y="11785"/>
                  </a:moveTo>
                  <a:lnTo>
                    <a:pt x="98638" y="26185"/>
                  </a:lnTo>
                  <a:lnTo>
                    <a:pt x="130634" y="18329"/>
                  </a:lnTo>
                  <a:lnTo>
                    <a:pt x="71982" y="3928"/>
                  </a:lnTo>
                  <a:lnTo>
                    <a:pt x="39987" y="11785"/>
                  </a:lnTo>
                  <a:close/>
                </a:path>
                <a:path w="176529" h="56514">
                  <a:moveTo>
                    <a:pt x="175954" y="14404"/>
                  </a:moveTo>
                  <a:lnTo>
                    <a:pt x="117302" y="0"/>
                  </a:lnTo>
                  <a:lnTo>
                    <a:pt x="85307" y="7202"/>
                  </a:lnTo>
                  <a:lnTo>
                    <a:pt x="130634" y="18329"/>
                  </a:lnTo>
                  <a:lnTo>
                    <a:pt x="130634" y="25531"/>
                  </a:lnTo>
                  <a:lnTo>
                    <a:pt x="175954" y="14404"/>
                  </a:lnTo>
                  <a:close/>
                </a:path>
                <a:path w="176529" h="56514">
                  <a:moveTo>
                    <a:pt x="58651" y="56300"/>
                  </a:moveTo>
                  <a:lnTo>
                    <a:pt x="175954" y="27495"/>
                  </a:lnTo>
                  <a:lnTo>
                    <a:pt x="175954" y="14404"/>
                  </a:lnTo>
                  <a:lnTo>
                    <a:pt x="58651" y="43205"/>
                  </a:lnTo>
                  <a:lnTo>
                    <a:pt x="58651" y="563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3454205" y="4156484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58651" y="24876"/>
                  </a:moveTo>
                  <a:lnTo>
                    <a:pt x="0" y="10475"/>
                  </a:ln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close/>
                </a:path>
                <a:path w="114935" h="25400">
                  <a:moveTo>
                    <a:pt x="58651" y="24876"/>
                  </a:moveTo>
                  <a:lnTo>
                    <a:pt x="71982" y="14404"/>
                  </a:ln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3454205" y="4156484"/>
              <a:ext cx="114935" cy="25400"/>
            </a:xfrm>
            <a:custGeom>
              <a:avLst/>
              <a:gdLst/>
              <a:ahLst/>
              <a:cxnLst/>
              <a:rect l="l" t="t" r="r" b="b"/>
              <a:pathLst>
                <a:path w="114935" h="25400">
                  <a:moveTo>
                    <a:pt x="0" y="10475"/>
                  </a:moveTo>
                  <a:lnTo>
                    <a:pt x="13331" y="0"/>
                  </a:lnTo>
                  <a:lnTo>
                    <a:pt x="71982" y="14404"/>
                  </a:lnTo>
                  <a:lnTo>
                    <a:pt x="58651" y="24876"/>
                  </a:lnTo>
                  <a:lnTo>
                    <a:pt x="0" y="10475"/>
                  </a:lnTo>
                  <a:close/>
                </a:path>
                <a:path w="114935" h="25400">
                  <a:moveTo>
                    <a:pt x="71982" y="14404"/>
                  </a:moveTo>
                  <a:lnTo>
                    <a:pt x="103971" y="6547"/>
                  </a:lnTo>
                  <a:lnTo>
                    <a:pt x="114636" y="11130"/>
                  </a:lnTo>
                  <a:lnTo>
                    <a:pt x="58651" y="24876"/>
                  </a:lnTo>
                  <a:lnTo>
                    <a:pt x="71982" y="144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3504858" y="4170888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70" h="30479">
                  <a:moveTo>
                    <a:pt x="12414" y="30114"/>
                  </a:moveTo>
                  <a:lnTo>
                    <a:pt x="3583" y="30114"/>
                  </a:lnTo>
                  <a:lnTo>
                    <a:pt x="0" y="27183"/>
                  </a:lnTo>
                  <a:lnTo>
                    <a:pt x="0" y="19950"/>
                  </a:lnTo>
                  <a:lnTo>
                    <a:pt x="3583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7183"/>
                  </a:lnTo>
                  <a:lnTo>
                    <a:pt x="12414" y="30114"/>
                  </a:lnTo>
                  <a:close/>
                </a:path>
                <a:path w="77470" h="30479">
                  <a:moveTo>
                    <a:pt x="73732" y="13091"/>
                  </a:moveTo>
                  <a:lnTo>
                    <a:pt x="64900" y="13091"/>
                  </a:lnTo>
                  <a:lnTo>
                    <a:pt x="61317" y="10160"/>
                  </a:lnTo>
                  <a:lnTo>
                    <a:pt x="61317" y="2930"/>
                  </a:lnTo>
                  <a:lnTo>
                    <a:pt x="64900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10160"/>
                  </a:lnTo>
                  <a:lnTo>
                    <a:pt x="73732" y="1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3504858" y="4170888"/>
              <a:ext cx="77470" cy="30480"/>
            </a:xfrm>
            <a:custGeom>
              <a:avLst/>
              <a:gdLst/>
              <a:ahLst/>
              <a:cxnLst/>
              <a:rect l="l" t="t" r="r" b="b"/>
              <a:pathLst>
                <a:path w="77470" h="30479">
                  <a:moveTo>
                    <a:pt x="0" y="23566"/>
                  </a:moveTo>
                  <a:lnTo>
                    <a:pt x="0" y="19950"/>
                  </a:lnTo>
                  <a:lnTo>
                    <a:pt x="3583" y="17019"/>
                  </a:lnTo>
                  <a:lnTo>
                    <a:pt x="7998" y="17019"/>
                  </a:lnTo>
                  <a:lnTo>
                    <a:pt x="12414" y="17019"/>
                  </a:lnTo>
                  <a:lnTo>
                    <a:pt x="15997" y="19950"/>
                  </a:lnTo>
                  <a:lnTo>
                    <a:pt x="15997" y="23566"/>
                  </a:lnTo>
                  <a:lnTo>
                    <a:pt x="15997" y="27183"/>
                  </a:lnTo>
                  <a:lnTo>
                    <a:pt x="12414" y="30114"/>
                  </a:lnTo>
                  <a:lnTo>
                    <a:pt x="7998" y="30114"/>
                  </a:lnTo>
                  <a:lnTo>
                    <a:pt x="3583" y="30114"/>
                  </a:lnTo>
                  <a:lnTo>
                    <a:pt x="0" y="27183"/>
                  </a:lnTo>
                  <a:lnTo>
                    <a:pt x="0" y="23566"/>
                  </a:lnTo>
                  <a:close/>
                </a:path>
                <a:path w="77470" h="30479">
                  <a:moveTo>
                    <a:pt x="61317" y="6547"/>
                  </a:moveTo>
                  <a:lnTo>
                    <a:pt x="61317" y="2930"/>
                  </a:lnTo>
                  <a:lnTo>
                    <a:pt x="64900" y="0"/>
                  </a:lnTo>
                  <a:lnTo>
                    <a:pt x="69316" y="0"/>
                  </a:lnTo>
                  <a:lnTo>
                    <a:pt x="73732" y="0"/>
                  </a:lnTo>
                  <a:lnTo>
                    <a:pt x="77315" y="2930"/>
                  </a:lnTo>
                  <a:lnTo>
                    <a:pt x="77315" y="6547"/>
                  </a:lnTo>
                  <a:lnTo>
                    <a:pt x="77315" y="10160"/>
                  </a:lnTo>
                  <a:lnTo>
                    <a:pt x="73732" y="13091"/>
                  </a:lnTo>
                  <a:lnTo>
                    <a:pt x="69316" y="13091"/>
                  </a:lnTo>
                  <a:lnTo>
                    <a:pt x="64900" y="13091"/>
                  </a:lnTo>
                  <a:lnTo>
                    <a:pt x="61317" y="10160"/>
                  </a:lnTo>
                  <a:lnTo>
                    <a:pt x="61317" y="6547"/>
                  </a:lnTo>
                  <a:close/>
                </a:path>
              </a:pathLst>
            </a:custGeom>
            <a:ln w="5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3427545" y="4173506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4" h="27939">
                  <a:moveTo>
                    <a:pt x="58651" y="27495"/>
                  </a:moveTo>
                  <a:lnTo>
                    <a:pt x="0" y="13094"/>
                  </a:lnTo>
                  <a:lnTo>
                    <a:pt x="0" y="0"/>
                  </a:lnTo>
                  <a:lnTo>
                    <a:pt x="58651" y="14400"/>
                  </a:lnTo>
                  <a:lnTo>
                    <a:pt x="58651" y="27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3427545" y="4173506"/>
              <a:ext cx="59055" cy="27940"/>
            </a:xfrm>
            <a:custGeom>
              <a:avLst/>
              <a:gdLst/>
              <a:ahLst/>
              <a:cxnLst/>
              <a:rect l="l" t="t" r="r" b="b"/>
              <a:pathLst>
                <a:path w="59054" h="27939">
                  <a:moveTo>
                    <a:pt x="0" y="0"/>
                  </a:moveTo>
                  <a:lnTo>
                    <a:pt x="0" y="13094"/>
                  </a:lnTo>
                  <a:lnTo>
                    <a:pt x="58651" y="27495"/>
                  </a:lnTo>
                  <a:lnTo>
                    <a:pt x="58651" y="144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3432873" y="4180065"/>
              <a:ext cx="43180" cy="14604"/>
            </a:xfrm>
            <a:custGeom>
              <a:avLst/>
              <a:gdLst/>
              <a:ahLst/>
              <a:cxnLst/>
              <a:rect l="l" t="t" r="r" b="b"/>
              <a:pathLst>
                <a:path w="43179" h="14604">
                  <a:moveTo>
                    <a:pt x="15989" y="3924"/>
                  </a:moveTo>
                  <a:lnTo>
                    <a:pt x="0" y="0"/>
                  </a:lnTo>
                  <a:lnTo>
                    <a:pt x="0" y="3924"/>
                  </a:lnTo>
                  <a:lnTo>
                    <a:pt x="15989" y="7848"/>
                  </a:lnTo>
                  <a:lnTo>
                    <a:pt x="15989" y="3924"/>
                  </a:lnTo>
                  <a:close/>
                </a:path>
                <a:path w="43179" h="14604">
                  <a:moveTo>
                    <a:pt x="42659" y="10464"/>
                  </a:moveTo>
                  <a:lnTo>
                    <a:pt x="26657" y="6540"/>
                  </a:lnTo>
                  <a:lnTo>
                    <a:pt x="26657" y="10464"/>
                  </a:lnTo>
                  <a:lnTo>
                    <a:pt x="42659" y="14401"/>
                  </a:lnTo>
                  <a:lnTo>
                    <a:pt x="42659" y="104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 descr=""/>
          <p:cNvSpPr txBox="1"/>
          <p:nvPr/>
        </p:nvSpPr>
        <p:spPr>
          <a:xfrm>
            <a:off x="2589423" y="3558559"/>
            <a:ext cx="307975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229">
                <a:latin typeface="SimSun"/>
                <a:cs typeface="SimSun"/>
              </a:rPr>
              <a:t>F_low</a:t>
            </a:r>
            <a:endParaRPr sz="400">
              <a:latin typeface="SimSun"/>
              <a:cs typeface="SimSun"/>
            </a:endParaRPr>
          </a:p>
        </p:txBody>
      </p:sp>
      <p:sp>
        <p:nvSpPr>
          <p:cNvPr id="187" name="object 187" descr=""/>
          <p:cNvSpPr txBox="1"/>
          <p:nvPr/>
        </p:nvSpPr>
        <p:spPr>
          <a:xfrm>
            <a:off x="2724095" y="3706818"/>
            <a:ext cx="364490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229">
                <a:latin typeface="SimSun"/>
                <a:cs typeface="SimSun"/>
              </a:rPr>
              <a:t>F_high</a:t>
            </a:r>
            <a:endParaRPr sz="400">
              <a:latin typeface="SimSun"/>
              <a:cs typeface="SimSun"/>
            </a:endParaRPr>
          </a:p>
        </p:txBody>
      </p:sp>
      <p:grpSp>
        <p:nvGrpSpPr>
          <p:cNvPr id="188" name="object 188" descr=""/>
          <p:cNvGrpSpPr/>
          <p:nvPr/>
        </p:nvGrpSpPr>
        <p:grpSpPr>
          <a:xfrm>
            <a:off x="2068821" y="2311977"/>
            <a:ext cx="3213100" cy="2520950"/>
            <a:chOff x="2068821" y="2311977"/>
            <a:chExt cx="3213100" cy="2520950"/>
          </a:xfrm>
        </p:grpSpPr>
        <p:pic>
          <p:nvPicPr>
            <p:cNvPr id="189" name="object 18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29386" y="4513139"/>
              <a:ext cx="159081" cy="156760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2528211" y="4597907"/>
              <a:ext cx="397510" cy="156210"/>
            </a:xfrm>
            <a:custGeom>
              <a:avLst/>
              <a:gdLst/>
              <a:ahLst/>
              <a:cxnLst/>
              <a:rect l="l" t="t" r="r" b="b"/>
              <a:pathLst>
                <a:path w="397510" h="156210">
                  <a:moveTo>
                    <a:pt x="79396" y="155971"/>
                  </a:moveTo>
                  <a:lnTo>
                    <a:pt x="0" y="77985"/>
                  </a:lnTo>
                  <a:lnTo>
                    <a:pt x="317585" y="0"/>
                  </a:lnTo>
                  <a:lnTo>
                    <a:pt x="396981" y="77985"/>
                  </a:lnTo>
                  <a:lnTo>
                    <a:pt x="79396" y="1559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2528211" y="4597907"/>
              <a:ext cx="397510" cy="156210"/>
            </a:xfrm>
            <a:custGeom>
              <a:avLst/>
              <a:gdLst/>
              <a:ahLst/>
              <a:cxnLst/>
              <a:rect l="l" t="t" r="r" b="b"/>
              <a:pathLst>
                <a:path w="397510" h="156210">
                  <a:moveTo>
                    <a:pt x="79396" y="155971"/>
                  </a:moveTo>
                  <a:lnTo>
                    <a:pt x="396981" y="77985"/>
                  </a:lnTo>
                  <a:lnTo>
                    <a:pt x="317585" y="0"/>
                  </a:lnTo>
                  <a:lnTo>
                    <a:pt x="0" y="77985"/>
                  </a:lnTo>
                  <a:lnTo>
                    <a:pt x="79396" y="1559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2607605" y="4675894"/>
              <a:ext cx="318135" cy="156210"/>
            </a:xfrm>
            <a:custGeom>
              <a:avLst/>
              <a:gdLst/>
              <a:ahLst/>
              <a:cxnLst/>
              <a:rect l="l" t="t" r="r" b="b"/>
              <a:pathLst>
                <a:path w="318135" h="156210">
                  <a:moveTo>
                    <a:pt x="0" y="155971"/>
                  </a:moveTo>
                  <a:lnTo>
                    <a:pt x="0" y="77985"/>
                  </a:lnTo>
                  <a:lnTo>
                    <a:pt x="317585" y="0"/>
                  </a:lnTo>
                  <a:lnTo>
                    <a:pt x="317585" y="77985"/>
                  </a:lnTo>
                  <a:lnTo>
                    <a:pt x="0" y="1559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2607605" y="4675894"/>
              <a:ext cx="318135" cy="156210"/>
            </a:xfrm>
            <a:custGeom>
              <a:avLst/>
              <a:gdLst/>
              <a:ahLst/>
              <a:cxnLst/>
              <a:rect l="l" t="t" r="r" b="b"/>
              <a:pathLst>
                <a:path w="318135" h="156210">
                  <a:moveTo>
                    <a:pt x="317585" y="0"/>
                  </a:moveTo>
                  <a:lnTo>
                    <a:pt x="317585" y="77985"/>
                  </a:lnTo>
                  <a:lnTo>
                    <a:pt x="0" y="155971"/>
                  </a:lnTo>
                  <a:lnTo>
                    <a:pt x="0" y="77985"/>
                  </a:lnTo>
                  <a:lnTo>
                    <a:pt x="31758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47863" y="4675052"/>
              <a:ext cx="160696" cy="157764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2111805" y="3525905"/>
              <a:ext cx="1099185" cy="210820"/>
            </a:xfrm>
            <a:custGeom>
              <a:avLst/>
              <a:gdLst/>
              <a:ahLst/>
              <a:cxnLst/>
              <a:rect l="l" t="t" r="r" b="b"/>
              <a:pathLst>
                <a:path w="1099185" h="210820">
                  <a:moveTo>
                    <a:pt x="0" y="0"/>
                  </a:moveTo>
                  <a:lnTo>
                    <a:pt x="1098590" y="210217"/>
                  </a:lnTo>
                </a:path>
              </a:pathLst>
            </a:custGeom>
            <a:ln w="34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2068817" y="3514610"/>
              <a:ext cx="1184910" cy="233045"/>
            </a:xfrm>
            <a:custGeom>
              <a:avLst/>
              <a:gdLst/>
              <a:ahLst/>
              <a:cxnLst/>
              <a:rect l="l" t="t" r="r" b="b"/>
              <a:pathLst>
                <a:path w="1184910" h="233045">
                  <a:moveTo>
                    <a:pt x="67843" y="0"/>
                  </a:moveTo>
                  <a:lnTo>
                    <a:pt x="0" y="3073"/>
                  </a:lnTo>
                  <a:lnTo>
                    <a:pt x="45720" y="27889"/>
                  </a:lnTo>
                  <a:lnTo>
                    <a:pt x="46101" y="20091"/>
                  </a:lnTo>
                  <a:lnTo>
                    <a:pt x="50076" y="12661"/>
                  </a:lnTo>
                  <a:lnTo>
                    <a:pt x="57404" y="5867"/>
                  </a:lnTo>
                  <a:lnTo>
                    <a:pt x="67843" y="0"/>
                  </a:lnTo>
                  <a:close/>
                </a:path>
                <a:path w="1184910" h="233045">
                  <a:moveTo>
                    <a:pt x="1184554" y="229743"/>
                  </a:moveTo>
                  <a:lnTo>
                    <a:pt x="1138834" y="204927"/>
                  </a:lnTo>
                  <a:lnTo>
                    <a:pt x="1138440" y="212725"/>
                  </a:lnTo>
                  <a:lnTo>
                    <a:pt x="1134478" y="220154"/>
                  </a:lnTo>
                  <a:lnTo>
                    <a:pt x="1127150" y="226961"/>
                  </a:lnTo>
                  <a:lnTo>
                    <a:pt x="1116711" y="232829"/>
                  </a:lnTo>
                  <a:lnTo>
                    <a:pt x="1184554" y="2297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2671545" y="3696114"/>
              <a:ext cx="515620" cy="53975"/>
            </a:xfrm>
            <a:custGeom>
              <a:avLst/>
              <a:gdLst/>
              <a:ahLst/>
              <a:cxnLst/>
              <a:rect l="l" t="t" r="r" b="b"/>
              <a:pathLst>
                <a:path w="515619" h="53975">
                  <a:moveTo>
                    <a:pt x="0" y="0"/>
                  </a:moveTo>
                  <a:lnTo>
                    <a:pt x="515102" y="53857"/>
                  </a:lnTo>
                </a:path>
              </a:pathLst>
            </a:custGeom>
            <a:ln w="10088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2606370" y="3677170"/>
              <a:ext cx="645795" cy="92075"/>
            </a:xfrm>
            <a:custGeom>
              <a:avLst/>
              <a:gdLst/>
              <a:ahLst/>
              <a:cxnLst/>
              <a:rect l="l" t="t" r="r" b="b"/>
              <a:pathLst>
                <a:path w="645795" h="92075">
                  <a:moveTo>
                    <a:pt x="95262" y="0"/>
                  </a:moveTo>
                  <a:lnTo>
                    <a:pt x="0" y="12141"/>
                  </a:lnTo>
                  <a:lnTo>
                    <a:pt x="76923" y="42278"/>
                  </a:lnTo>
                  <a:lnTo>
                    <a:pt x="73799" y="31127"/>
                  </a:lnTo>
                  <a:lnTo>
                    <a:pt x="75933" y="20078"/>
                  </a:lnTo>
                  <a:lnTo>
                    <a:pt x="83146" y="9550"/>
                  </a:lnTo>
                  <a:lnTo>
                    <a:pt x="95262" y="0"/>
                  </a:lnTo>
                  <a:close/>
                </a:path>
                <a:path w="645795" h="92075">
                  <a:moveTo>
                    <a:pt x="645439" y="79629"/>
                  </a:moveTo>
                  <a:lnTo>
                    <a:pt x="568502" y="49479"/>
                  </a:lnTo>
                  <a:lnTo>
                    <a:pt x="571639" y="60629"/>
                  </a:lnTo>
                  <a:lnTo>
                    <a:pt x="569506" y="71678"/>
                  </a:lnTo>
                  <a:lnTo>
                    <a:pt x="562279" y="82207"/>
                  </a:lnTo>
                  <a:lnTo>
                    <a:pt x="550176" y="91757"/>
                  </a:lnTo>
                  <a:lnTo>
                    <a:pt x="645439" y="7962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3105350" y="3984402"/>
              <a:ext cx="347345" cy="206375"/>
            </a:xfrm>
            <a:custGeom>
              <a:avLst/>
              <a:gdLst/>
              <a:ahLst/>
              <a:cxnLst/>
              <a:rect l="l" t="t" r="r" b="b"/>
              <a:pathLst>
                <a:path w="347345" h="206375">
                  <a:moveTo>
                    <a:pt x="0" y="206012"/>
                  </a:moveTo>
                  <a:lnTo>
                    <a:pt x="346716" y="180470"/>
                  </a:lnTo>
                  <a:lnTo>
                    <a:pt x="153897" y="0"/>
                  </a:lnTo>
                </a:path>
              </a:pathLst>
            </a:custGeom>
            <a:ln w="4224">
              <a:solidFill>
                <a:srgbClr val="285E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3059722" y="3964342"/>
              <a:ext cx="233679" cy="240029"/>
            </a:xfrm>
            <a:custGeom>
              <a:avLst/>
              <a:gdLst/>
              <a:ahLst/>
              <a:cxnLst/>
              <a:rect l="l" t="t" r="r" b="b"/>
              <a:pathLst>
                <a:path w="233679" h="240029">
                  <a:moveTo>
                    <a:pt x="64782" y="239801"/>
                  </a:moveTo>
                  <a:lnTo>
                    <a:pt x="57238" y="232943"/>
                  </a:lnTo>
                  <a:lnTo>
                    <a:pt x="53149" y="225526"/>
                  </a:lnTo>
                  <a:lnTo>
                    <a:pt x="52628" y="217843"/>
                  </a:lnTo>
                  <a:lnTo>
                    <a:pt x="55753" y="210197"/>
                  </a:lnTo>
                  <a:lnTo>
                    <a:pt x="0" y="229438"/>
                  </a:lnTo>
                  <a:lnTo>
                    <a:pt x="64782" y="239801"/>
                  </a:lnTo>
                  <a:close/>
                </a:path>
                <a:path w="233679" h="240029">
                  <a:moveTo>
                    <a:pt x="233387" y="19558"/>
                  </a:moveTo>
                  <a:lnTo>
                    <a:pt x="178092" y="0"/>
                  </a:lnTo>
                  <a:lnTo>
                    <a:pt x="179425" y="33464"/>
                  </a:lnTo>
                  <a:lnTo>
                    <a:pt x="190119" y="27711"/>
                  </a:lnTo>
                  <a:lnTo>
                    <a:pt x="203060" y="23380"/>
                  </a:lnTo>
                  <a:lnTo>
                    <a:pt x="217665" y="20612"/>
                  </a:lnTo>
                  <a:lnTo>
                    <a:pt x="233387" y="19558"/>
                  </a:lnTo>
                  <a:close/>
                </a:path>
              </a:pathLst>
            </a:custGeom>
            <a:solidFill>
              <a:srgbClr val="285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5038537" y="2312925"/>
              <a:ext cx="242570" cy="533400"/>
            </a:xfrm>
            <a:custGeom>
              <a:avLst/>
              <a:gdLst/>
              <a:ahLst/>
              <a:cxnLst/>
              <a:rect l="l" t="t" r="r" b="b"/>
              <a:pathLst>
                <a:path w="242570" h="533400">
                  <a:moveTo>
                    <a:pt x="242170" y="533183"/>
                  </a:moveTo>
                  <a:lnTo>
                    <a:pt x="0" y="533183"/>
                  </a:lnTo>
                  <a:lnTo>
                    <a:pt x="0" y="0"/>
                  </a:lnTo>
                  <a:lnTo>
                    <a:pt x="242170" y="0"/>
                  </a:lnTo>
                  <a:lnTo>
                    <a:pt x="242170" y="533183"/>
                  </a:lnTo>
                  <a:close/>
                </a:path>
              </a:pathLst>
            </a:custGeom>
            <a:solidFill>
              <a:srgbClr val="EBF1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5038537" y="2312929"/>
              <a:ext cx="242570" cy="533400"/>
            </a:xfrm>
            <a:custGeom>
              <a:avLst/>
              <a:gdLst/>
              <a:ahLst/>
              <a:cxnLst/>
              <a:rect l="l" t="t" r="r" b="b"/>
              <a:pathLst>
                <a:path w="242570" h="533400">
                  <a:moveTo>
                    <a:pt x="0" y="533183"/>
                  </a:moveTo>
                  <a:lnTo>
                    <a:pt x="242170" y="533183"/>
                  </a:lnTo>
                  <a:lnTo>
                    <a:pt x="242170" y="0"/>
                  </a:lnTo>
                  <a:lnTo>
                    <a:pt x="0" y="0"/>
                  </a:lnTo>
                  <a:lnTo>
                    <a:pt x="0" y="533183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5067596" y="2333872"/>
              <a:ext cx="158750" cy="93345"/>
            </a:xfrm>
            <a:custGeom>
              <a:avLst/>
              <a:gdLst/>
              <a:ahLst/>
              <a:cxnLst/>
              <a:rect l="l" t="t" r="r" b="b"/>
              <a:pathLst>
                <a:path w="158750" h="93344">
                  <a:moveTo>
                    <a:pt x="158217" y="93309"/>
                  </a:moveTo>
                  <a:lnTo>
                    <a:pt x="0" y="93309"/>
                  </a:lnTo>
                  <a:lnTo>
                    <a:pt x="0" y="0"/>
                  </a:lnTo>
                  <a:lnTo>
                    <a:pt x="158217" y="0"/>
                  </a:lnTo>
                  <a:lnTo>
                    <a:pt x="158217" y="93309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5067596" y="2333872"/>
              <a:ext cx="158750" cy="93345"/>
            </a:xfrm>
            <a:custGeom>
              <a:avLst/>
              <a:gdLst/>
              <a:ahLst/>
              <a:cxnLst/>
              <a:rect l="l" t="t" r="r" b="b"/>
              <a:pathLst>
                <a:path w="158750" h="93344">
                  <a:moveTo>
                    <a:pt x="0" y="93309"/>
                  </a:moveTo>
                  <a:lnTo>
                    <a:pt x="158217" y="93309"/>
                  </a:lnTo>
                  <a:lnTo>
                    <a:pt x="158217" y="0"/>
                  </a:lnTo>
                  <a:lnTo>
                    <a:pt x="0" y="0"/>
                  </a:lnTo>
                  <a:lnTo>
                    <a:pt x="0" y="93309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5067596" y="2480499"/>
              <a:ext cx="158750" cy="93345"/>
            </a:xfrm>
            <a:custGeom>
              <a:avLst/>
              <a:gdLst/>
              <a:ahLst/>
              <a:cxnLst/>
              <a:rect l="l" t="t" r="r" b="b"/>
              <a:pathLst>
                <a:path w="158750" h="93344">
                  <a:moveTo>
                    <a:pt x="158217" y="93309"/>
                  </a:moveTo>
                  <a:lnTo>
                    <a:pt x="0" y="93309"/>
                  </a:lnTo>
                  <a:lnTo>
                    <a:pt x="0" y="0"/>
                  </a:lnTo>
                  <a:lnTo>
                    <a:pt x="158217" y="0"/>
                  </a:lnTo>
                  <a:lnTo>
                    <a:pt x="158217" y="93309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5067596" y="2480495"/>
              <a:ext cx="158750" cy="93345"/>
            </a:xfrm>
            <a:custGeom>
              <a:avLst/>
              <a:gdLst/>
              <a:ahLst/>
              <a:cxnLst/>
              <a:rect l="l" t="t" r="r" b="b"/>
              <a:pathLst>
                <a:path w="158750" h="93344">
                  <a:moveTo>
                    <a:pt x="0" y="93309"/>
                  </a:moveTo>
                  <a:lnTo>
                    <a:pt x="158217" y="93309"/>
                  </a:lnTo>
                  <a:lnTo>
                    <a:pt x="158217" y="0"/>
                  </a:lnTo>
                  <a:lnTo>
                    <a:pt x="0" y="0"/>
                  </a:lnTo>
                  <a:lnTo>
                    <a:pt x="0" y="93309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5067596" y="2729950"/>
              <a:ext cx="158750" cy="93345"/>
            </a:xfrm>
            <a:custGeom>
              <a:avLst/>
              <a:gdLst/>
              <a:ahLst/>
              <a:cxnLst/>
              <a:rect l="l" t="t" r="r" b="b"/>
              <a:pathLst>
                <a:path w="158750" h="93344">
                  <a:moveTo>
                    <a:pt x="158217" y="93309"/>
                  </a:moveTo>
                  <a:lnTo>
                    <a:pt x="0" y="93309"/>
                  </a:lnTo>
                  <a:lnTo>
                    <a:pt x="0" y="0"/>
                  </a:lnTo>
                  <a:lnTo>
                    <a:pt x="158217" y="0"/>
                  </a:lnTo>
                  <a:lnTo>
                    <a:pt x="158217" y="93309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5067596" y="2729950"/>
              <a:ext cx="158750" cy="93345"/>
            </a:xfrm>
            <a:custGeom>
              <a:avLst/>
              <a:gdLst/>
              <a:ahLst/>
              <a:cxnLst/>
              <a:rect l="l" t="t" r="r" b="b"/>
              <a:pathLst>
                <a:path w="158750" h="93344">
                  <a:moveTo>
                    <a:pt x="0" y="93309"/>
                  </a:moveTo>
                  <a:lnTo>
                    <a:pt x="158217" y="93309"/>
                  </a:lnTo>
                  <a:lnTo>
                    <a:pt x="158217" y="0"/>
                  </a:lnTo>
                  <a:lnTo>
                    <a:pt x="0" y="0"/>
                  </a:lnTo>
                  <a:lnTo>
                    <a:pt x="0" y="93309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5145090" y="2602369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w="0" h="68580">
                  <a:moveTo>
                    <a:pt x="0" y="0"/>
                  </a:moveTo>
                  <a:lnTo>
                    <a:pt x="0" y="68552"/>
                  </a:lnTo>
                </a:path>
              </a:pathLst>
            </a:custGeom>
            <a:ln w="4920">
              <a:solidFill>
                <a:srgbClr val="164326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4825425" y="2463912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w="0" h="152400">
                  <a:moveTo>
                    <a:pt x="0" y="0"/>
                  </a:moveTo>
                  <a:lnTo>
                    <a:pt x="0" y="152337"/>
                  </a:lnTo>
                </a:path>
              </a:pathLst>
            </a:custGeom>
            <a:ln w="4920">
              <a:solidFill>
                <a:srgbClr val="16432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1" name="object 211" descr=""/>
          <p:cNvSpPr txBox="1"/>
          <p:nvPr/>
        </p:nvSpPr>
        <p:spPr>
          <a:xfrm>
            <a:off x="885276" y="3862741"/>
            <a:ext cx="702945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229">
                <a:latin typeface="SimSun"/>
                <a:cs typeface="SimSun"/>
              </a:rPr>
              <a:t>interference</a:t>
            </a:r>
            <a:endParaRPr sz="400">
              <a:latin typeface="SimSun"/>
              <a:cs typeface="SimSun"/>
            </a:endParaRPr>
          </a:p>
        </p:txBody>
      </p:sp>
      <p:graphicFrame>
        <p:nvGraphicFramePr>
          <p:cNvPr id="212" name="object 212" descr=""/>
          <p:cNvGraphicFramePr>
            <a:graphicFrameLocks noGrp="1"/>
          </p:cNvGraphicFramePr>
          <p:nvPr/>
        </p:nvGraphicFramePr>
        <p:xfrm>
          <a:off x="5405904" y="2323554"/>
          <a:ext cx="320040" cy="507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"/>
                <a:gridCol w="174625"/>
              </a:tblGrid>
              <a:tr h="102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300" spc="35">
                          <a:solidFill>
                            <a:srgbClr val="164326"/>
                          </a:solidFill>
                          <a:latin typeface="SimSun"/>
                          <a:cs typeface="SimSun"/>
                        </a:rPr>
                        <a:t>DAC</a:t>
                      </a:r>
                      <a:endParaRPr sz="300">
                        <a:latin typeface="SimSun"/>
                        <a:cs typeface="SimSun"/>
                      </a:endParaRPr>
                    </a:p>
                  </a:txBody>
                  <a:tcPr marL="0" marR="0" marB="0" marT="3175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03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00" spc="35">
                          <a:solidFill>
                            <a:srgbClr val="164326"/>
                          </a:solidFill>
                          <a:latin typeface="SimSun"/>
                          <a:cs typeface="SimSun"/>
                        </a:rPr>
                        <a:t>DAC</a:t>
                      </a:r>
                      <a:endParaRPr sz="300">
                        <a:latin typeface="SimSun"/>
                        <a:cs typeface="SimSun"/>
                      </a:endParaRPr>
                    </a:p>
                  </a:txBody>
                  <a:tcPr marL="0" marR="0" marB="0" marT="2032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1517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2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00" spc="35">
                          <a:solidFill>
                            <a:srgbClr val="164326"/>
                          </a:solidFill>
                          <a:latin typeface="SimSun"/>
                          <a:cs typeface="SimSun"/>
                        </a:rPr>
                        <a:t>DAC</a:t>
                      </a:r>
                      <a:endParaRPr sz="300">
                        <a:latin typeface="SimSun"/>
                        <a:cs typeface="SimSun"/>
                      </a:endParaRPr>
                    </a:p>
                  </a:txBody>
                  <a:tcPr marL="0" marR="0" marB="0" marT="2032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13" name="object 213" descr=""/>
          <p:cNvSpPr/>
          <p:nvPr/>
        </p:nvSpPr>
        <p:spPr>
          <a:xfrm>
            <a:off x="5551935" y="261760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170"/>
                </a:lnTo>
              </a:path>
            </a:pathLst>
          </a:custGeom>
          <a:ln w="4920">
            <a:solidFill>
              <a:srgbClr val="164326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14" name="object 214" descr=""/>
          <p:cNvGrpSpPr/>
          <p:nvPr/>
        </p:nvGrpSpPr>
        <p:grpSpPr>
          <a:xfrm>
            <a:off x="6260189" y="2342659"/>
            <a:ext cx="309880" cy="93345"/>
            <a:chOff x="6260189" y="2342659"/>
            <a:chExt cx="309880" cy="93345"/>
          </a:xfrm>
        </p:grpSpPr>
        <p:pic>
          <p:nvPicPr>
            <p:cNvPr id="215" name="object 21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60189" y="2342659"/>
              <a:ext cx="117706" cy="92871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6472203" y="2351009"/>
              <a:ext cx="97155" cy="76200"/>
            </a:xfrm>
            <a:custGeom>
              <a:avLst/>
              <a:gdLst/>
              <a:ahLst/>
              <a:cxnLst/>
              <a:rect l="l" t="t" r="r" b="b"/>
              <a:pathLst>
                <a:path w="97154" h="76200">
                  <a:moveTo>
                    <a:pt x="0" y="76170"/>
                  </a:moveTo>
                  <a:lnTo>
                    <a:pt x="0" y="0"/>
                  </a:lnTo>
                  <a:lnTo>
                    <a:pt x="96870" y="38085"/>
                  </a:lnTo>
                  <a:lnTo>
                    <a:pt x="0" y="76170"/>
                  </a:lnTo>
                  <a:close/>
                </a:path>
              </a:pathLst>
            </a:custGeom>
            <a:solidFill>
              <a:srgbClr val="CADA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6472203" y="2351009"/>
              <a:ext cx="97155" cy="76200"/>
            </a:xfrm>
            <a:custGeom>
              <a:avLst/>
              <a:gdLst/>
              <a:ahLst/>
              <a:cxnLst/>
              <a:rect l="l" t="t" r="r" b="b"/>
              <a:pathLst>
                <a:path w="97154" h="76200">
                  <a:moveTo>
                    <a:pt x="0" y="76170"/>
                  </a:moveTo>
                  <a:lnTo>
                    <a:pt x="96870" y="38085"/>
                  </a:lnTo>
                  <a:lnTo>
                    <a:pt x="0" y="0"/>
                  </a:lnTo>
                  <a:lnTo>
                    <a:pt x="0" y="76170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8" name="object 218" descr=""/>
          <p:cNvSpPr txBox="1"/>
          <p:nvPr/>
        </p:nvSpPr>
        <p:spPr>
          <a:xfrm>
            <a:off x="6472605" y="2353825"/>
            <a:ext cx="66675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25">
                <a:solidFill>
                  <a:srgbClr val="164326"/>
                </a:solidFill>
                <a:latin typeface="SimSun"/>
                <a:cs typeface="SimSun"/>
              </a:rPr>
              <a:t>PA</a:t>
            </a:r>
            <a:endParaRPr sz="250">
              <a:latin typeface="SimSun"/>
              <a:cs typeface="SimSun"/>
            </a:endParaRPr>
          </a:p>
        </p:txBody>
      </p:sp>
      <p:grpSp>
        <p:nvGrpSpPr>
          <p:cNvPr id="219" name="object 219" descr=""/>
          <p:cNvGrpSpPr/>
          <p:nvPr/>
        </p:nvGrpSpPr>
        <p:grpSpPr>
          <a:xfrm>
            <a:off x="6471249" y="2313878"/>
            <a:ext cx="925830" cy="502920"/>
            <a:chOff x="6471249" y="2313878"/>
            <a:chExt cx="925830" cy="502920"/>
          </a:xfrm>
        </p:grpSpPr>
        <p:sp>
          <p:nvSpPr>
            <p:cNvPr id="220" name="object 220" descr=""/>
            <p:cNvSpPr/>
            <p:nvPr/>
          </p:nvSpPr>
          <p:spPr>
            <a:xfrm>
              <a:off x="6472202" y="2495731"/>
              <a:ext cx="97155" cy="76200"/>
            </a:xfrm>
            <a:custGeom>
              <a:avLst/>
              <a:gdLst/>
              <a:ahLst/>
              <a:cxnLst/>
              <a:rect l="l" t="t" r="r" b="b"/>
              <a:pathLst>
                <a:path w="97154" h="76200">
                  <a:moveTo>
                    <a:pt x="0" y="76170"/>
                  </a:moveTo>
                  <a:lnTo>
                    <a:pt x="0" y="0"/>
                  </a:lnTo>
                  <a:lnTo>
                    <a:pt x="96870" y="38085"/>
                  </a:lnTo>
                  <a:lnTo>
                    <a:pt x="0" y="76170"/>
                  </a:lnTo>
                  <a:close/>
                </a:path>
              </a:pathLst>
            </a:custGeom>
            <a:solidFill>
              <a:srgbClr val="CADA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6472202" y="2495731"/>
              <a:ext cx="97155" cy="76200"/>
            </a:xfrm>
            <a:custGeom>
              <a:avLst/>
              <a:gdLst/>
              <a:ahLst/>
              <a:cxnLst/>
              <a:rect l="l" t="t" r="r" b="b"/>
              <a:pathLst>
                <a:path w="97154" h="76200">
                  <a:moveTo>
                    <a:pt x="0" y="76170"/>
                  </a:moveTo>
                  <a:lnTo>
                    <a:pt x="96870" y="38085"/>
                  </a:lnTo>
                  <a:lnTo>
                    <a:pt x="0" y="0"/>
                  </a:lnTo>
                  <a:lnTo>
                    <a:pt x="0" y="76170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6472202" y="2739473"/>
              <a:ext cx="97155" cy="76200"/>
            </a:xfrm>
            <a:custGeom>
              <a:avLst/>
              <a:gdLst/>
              <a:ahLst/>
              <a:cxnLst/>
              <a:rect l="l" t="t" r="r" b="b"/>
              <a:pathLst>
                <a:path w="97154" h="76200">
                  <a:moveTo>
                    <a:pt x="0" y="76170"/>
                  </a:moveTo>
                  <a:lnTo>
                    <a:pt x="0" y="0"/>
                  </a:lnTo>
                  <a:lnTo>
                    <a:pt x="96870" y="38085"/>
                  </a:lnTo>
                  <a:lnTo>
                    <a:pt x="0" y="76170"/>
                  </a:lnTo>
                  <a:close/>
                </a:path>
              </a:pathLst>
            </a:custGeom>
            <a:solidFill>
              <a:srgbClr val="CADA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6472202" y="2739473"/>
              <a:ext cx="97155" cy="76200"/>
            </a:xfrm>
            <a:custGeom>
              <a:avLst/>
              <a:gdLst/>
              <a:ahLst/>
              <a:cxnLst/>
              <a:rect l="l" t="t" r="r" b="b"/>
              <a:pathLst>
                <a:path w="97154" h="76200">
                  <a:moveTo>
                    <a:pt x="0" y="76170"/>
                  </a:moveTo>
                  <a:lnTo>
                    <a:pt x="96870" y="38085"/>
                  </a:lnTo>
                  <a:lnTo>
                    <a:pt x="0" y="0"/>
                  </a:lnTo>
                  <a:lnTo>
                    <a:pt x="0" y="76170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6560847" y="2388520"/>
              <a:ext cx="75565" cy="0"/>
            </a:xfrm>
            <a:custGeom>
              <a:avLst/>
              <a:gdLst/>
              <a:ahLst/>
              <a:cxnLst/>
              <a:rect l="l" t="t" r="r" b="b"/>
              <a:pathLst>
                <a:path w="75565" h="0">
                  <a:moveTo>
                    <a:pt x="0" y="0"/>
                  </a:moveTo>
                  <a:lnTo>
                    <a:pt x="75438" y="0"/>
                  </a:lnTo>
                </a:path>
              </a:pathLst>
            </a:custGeom>
            <a:ln w="3869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636286" y="2343393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19">
                  <a:moveTo>
                    <a:pt x="0" y="0"/>
                  </a:moveTo>
                  <a:lnTo>
                    <a:pt x="0" y="45126"/>
                  </a:lnTo>
                </a:path>
              </a:pathLst>
            </a:custGeom>
            <a:ln w="4920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6602383" y="2314831"/>
              <a:ext cx="67945" cy="26670"/>
            </a:xfrm>
            <a:custGeom>
              <a:avLst/>
              <a:gdLst/>
              <a:ahLst/>
              <a:cxnLst/>
              <a:rect l="l" t="t" r="r" b="b"/>
              <a:pathLst>
                <a:path w="67945" h="26669">
                  <a:moveTo>
                    <a:pt x="33903" y="26658"/>
                  </a:moveTo>
                  <a:lnTo>
                    <a:pt x="0" y="0"/>
                  </a:lnTo>
                  <a:lnTo>
                    <a:pt x="67806" y="0"/>
                  </a:lnTo>
                  <a:lnTo>
                    <a:pt x="33903" y="26658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6602383" y="2314831"/>
              <a:ext cx="67945" cy="26670"/>
            </a:xfrm>
            <a:custGeom>
              <a:avLst/>
              <a:gdLst/>
              <a:ahLst/>
              <a:cxnLst/>
              <a:rect l="l" t="t" r="r" b="b"/>
              <a:pathLst>
                <a:path w="67945" h="26669">
                  <a:moveTo>
                    <a:pt x="33903" y="26658"/>
                  </a:moveTo>
                  <a:lnTo>
                    <a:pt x="0" y="0"/>
                  </a:lnTo>
                  <a:lnTo>
                    <a:pt x="67806" y="0"/>
                  </a:lnTo>
                  <a:lnTo>
                    <a:pt x="33903" y="26658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6569935" y="2533191"/>
              <a:ext cx="75565" cy="0"/>
            </a:xfrm>
            <a:custGeom>
              <a:avLst/>
              <a:gdLst/>
              <a:ahLst/>
              <a:cxnLst/>
              <a:rect l="l" t="t" r="r" b="b"/>
              <a:pathLst>
                <a:path w="75565" h="0">
                  <a:moveTo>
                    <a:pt x="0" y="0"/>
                  </a:moveTo>
                  <a:lnTo>
                    <a:pt x="75438" y="0"/>
                  </a:lnTo>
                </a:path>
              </a:pathLst>
            </a:custGeom>
            <a:ln w="3869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6645374" y="2488065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19">
                  <a:moveTo>
                    <a:pt x="0" y="0"/>
                  </a:moveTo>
                  <a:lnTo>
                    <a:pt x="0" y="45126"/>
                  </a:lnTo>
                </a:path>
              </a:pathLst>
            </a:custGeom>
            <a:ln w="4920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6611471" y="2459503"/>
              <a:ext cx="67945" cy="26670"/>
            </a:xfrm>
            <a:custGeom>
              <a:avLst/>
              <a:gdLst/>
              <a:ahLst/>
              <a:cxnLst/>
              <a:rect l="l" t="t" r="r" b="b"/>
              <a:pathLst>
                <a:path w="67945" h="26669">
                  <a:moveTo>
                    <a:pt x="33903" y="26658"/>
                  </a:moveTo>
                  <a:lnTo>
                    <a:pt x="0" y="0"/>
                  </a:lnTo>
                  <a:lnTo>
                    <a:pt x="67806" y="0"/>
                  </a:lnTo>
                  <a:lnTo>
                    <a:pt x="33903" y="26658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6611471" y="2459503"/>
              <a:ext cx="67945" cy="26670"/>
            </a:xfrm>
            <a:custGeom>
              <a:avLst/>
              <a:gdLst/>
              <a:ahLst/>
              <a:cxnLst/>
              <a:rect l="l" t="t" r="r" b="b"/>
              <a:pathLst>
                <a:path w="67945" h="26669">
                  <a:moveTo>
                    <a:pt x="33903" y="26658"/>
                  </a:moveTo>
                  <a:lnTo>
                    <a:pt x="0" y="0"/>
                  </a:lnTo>
                  <a:lnTo>
                    <a:pt x="67806" y="0"/>
                  </a:lnTo>
                  <a:lnTo>
                    <a:pt x="33903" y="26658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6567513" y="2778838"/>
              <a:ext cx="75565" cy="0"/>
            </a:xfrm>
            <a:custGeom>
              <a:avLst/>
              <a:gdLst/>
              <a:ahLst/>
              <a:cxnLst/>
              <a:rect l="l" t="t" r="r" b="b"/>
              <a:pathLst>
                <a:path w="75565" h="0">
                  <a:moveTo>
                    <a:pt x="0" y="0"/>
                  </a:moveTo>
                  <a:lnTo>
                    <a:pt x="75438" y="0"/>
                  </a:lnTo>
                </a:path>
              </a:pathLst>
            </a:custGeom>
            <a:ln w="3869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6642952" y="2733711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19">
                  <a:moveTo>
                    <a:pt x="0" y="0"/>
                  </a:moveTo>
                  <a:lnTo>
                    <a:pt x="0" y="45126"/>
                  </a:lnTo>
                </a:path>
              </a:pathLst>
            </a:custGeom>
            <a:ln w="4920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6609049" y="2705149"/>
              <a:ext cx="67945" cy="26670"/>
            </a:xfrm>
            <a:custGeom>
              <a:avLst/>
              <a:gdLst/>
              <a:ahLst/>
              <a:cxnLst/>
              <a:rect l="l" t="t" r="r" b="b"/>
              <a:pathLst>
                <a:path w="67945" h="26669">
                  <a:moveTo>
                    <a:pt x="33903" y="26658"/>
                  </a:moveTo>
                  <a:lnTo>
                    <a:pt x="0" y="0"/>
                  </a:lnTo>
                  <a:lnTo>
                    <a:pt x="67806" y="0"/>
                  </a:lnTo>
                  <a:lnTo>
                    <a:pt x="33903" y="26658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6609049" y="2705149"/>
              <a:ext cx="67945" cy="26670"/>
            </a:xfrm>
            <a:custGeom>
              <a:avLst/>
              <a:gdLst/>
              <a:ahLst/>
              <a:cxnLst/>
              <a:rect l="l" t="t" r="r" b="b"/>
              <a:pathLst>
                <a:path w="67945" h="26669">
                  <a:moveTo>
                    <a:pt x="33903" y="26658"/>
                  </a:moveTo>
                  <a:lnTo>
                    <a:pt x="0" y="0"/>
                  </a:lnTo>
                  <a:lnTo>
                    <a:pt x="67806" y="0"/>
                  </a:lnTo>
                  <a:lnTo>
                    <a:pt x="33903" y="26658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81393" y="2486342"/>
              <a:ext cx="99244" cy="25565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6772158" y="2366143"/>
              <a:ext cx="417195" cy="128905"/>
            </a:xfrm>
            <a:custGeom>
              <a:avLst/>
              <a:gdLst/>
              <a:ahLst/>
              <a:cxnLst/>
              <a:rect l="l" t="t" r="r" b="b"/>
              <a:pathLst>
                <a:path w="417195" h="128905">
                  <a:moveTo>
                    <a:pt x="0" y="128316"/>
                  </a:moveTo>
                  <a:lnTo>
                    <a:pt x="36023" y="103267"/>
                  </a:lnTo>
                  <a:lnTo>
                    <a:pt x="81541" y="81989"/>
                  </a:lnTo>
                  <a:lnTo>
                    <a:pt x="134215" y="59505"/>
                  </a:lnTo>
                  <a:lnTo>
                    <a:pt x="185660" y="39288"/>
                  </a:lnTo>
                  <a:lnTo>
                    <a:pt x="227489" y="24809"/>
                  </a:lnTo>
                  <a:lnTo>
                    <a:pt x="282887" y="11540"/>
                  </a:lnTo>
                  <a:lnTo>
                    <a:pt x="339325" y="3208"/>
                  </a:lnTo>
                  <a:lnTo>
                    <a:pt x="386193" y="0"/>
                  </a:lnTo>
                  <a:lnTo>
                    <a:pt x="412885" y="2105"/>
                  </a:lnTo>
                  <a:lnTo>
                    <a:pt x="417108" y="11551"/>
                  </a:lnTo>
                  <a:lnTo>
                    <a:pt x="404204" y="27709"/>
                  </a:lnTo>
                  <a:lnTo>
                    <a:pt x="330751" y="63604"/>
                  </a:lnTo>
                  <a:lnTo>
                    <a:pt x="291675" y="73850"/>
                  </a:lnTo>
                  <a:lnTo>
                    <a:pt x="238131" y="86342"/>
                  </a:lnTo>
                  <a:lnTo>
                    <a:pt x="177165" y="99531"/>
                  </a:lnTo>
                  <a:lnTo>
                    <a:pt x="115824" y="111871"/>
                  </a:lnTo>
                  <a:lnTo>
                    <a:pt x="61152" y="121813"/>
                  </a:lnTo>
                  <a:lnTo>
                    <a:pt x="20195" y="127811"/>
                  </a:lnTo>
                  <a:lnTo>
                    <a:pt x="0" y="128316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61586" y="2445232"/>
              <a:ext cx="73250" cy="45796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08845" y="2314726"/>
              <a:ext cx="87860" cy="76303"/>
            </a:xfrm>
            <a:prstGeom prst="rect">
              <a:avLst/>
            </a:prstGeom>
          </p:spPr>
        </p:pic>
      </p:grpSp>
      <p:sp>
        <p:nvSpPr>
          <p:cNvPr id="240" name="object 240" descr=""/>
          <p:cNvSpPr txBox="1"/>
          <p:nvPr/>
        </p:nvSpPr>
        <p:spPr>
          <a:xfrm>
            <a:off x="4833363" y="2413600"/>
            <a:ext cx="42545" cy="57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" spc="-50">
                <a:latin typeface="Times New Roman"/>
                <a:cs typeface="Times New Roman"/>
              </a:rPr>
              <a:t>0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241" name="object 241" descr=""/>
          <p:cNvSpPr txBox="1"/>
          <p:nvPr/>
        </p:nvSpPr>
        <p:spPr>
          <a:xfrm>
            <a:off x="4803015" y="2382536"/>
            <a:ext cx="5461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i="1">
                <a:latin typeface="Times New Roman"/>
                <a:cs typeface="Times New Roman"/>
              </a:rPr>
              <a:t>S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42" name="object 242" descr=""/>
          <p:cNvSpPr/>
          <p:nvPr/>
        </p:nvSpPr>
        <p:spPr>
          <a:xfrm>
            <a:off x="8507880" y="2409419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 h="0">
                <a:moveTo>
                  <a:pt x="0" y="0"/>
                </a:moveTo>
                <a:lnTo>
                  <a:pt x="54678" y="0"/>
                </a:lnTo>
              </a:path>
            </a:pathLst>
          </a:custGeom>
          <a:ln w="3175">
            <a:solidFill>
              <a:srgbClr val="16432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3" name="object 243" descr=""/>
          <p:cNvGrpSpPr/>
          <p:nvPr/>
        </p:nvGrpSpPr>
        <p:grpSpPr>
          <a:xfrm>
            <a:off x="7308843" y="2394588"/>
            <a:ext cx="1306195" cy="201295"/>
            <a:chOff x="7308843" y="2394588"/>
            <a:chExt cx="1306195" cy="201295"/>
          </a:xfrm>
        </p:grpSpPr>
        <p:sp>
          <p:nvSpPr>
            <p:cNvPr id="244" name="object 244" descr=""/>
            <p:cNvSpPr/>
            <p:nvPr/>
          </p:nvSpPr>
          <p:spPr>
            <a:xfrm>
              <a:off x="8557845" y="2394588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1"/>
                  </a:moveTo>
                  <a:lnTo>
                    <a:pt x="0" y="0"/>
                  </a:lnTo>
                  <a:lnTo>
                    <a:pt x="56590" y="14828"/>
                  </a:lnTo>
                  <a:lnTo>
                    <a:pt x="0" y="29661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08843" y="2467730"/>
              <a:ext cx="209376" cy="127764"/>
            </a:xfrm>
            <a:prstGeom prst="rect">
              <a:avLst/>
            </a:prstGeom>
          </p:spPr>
        </p:pic>
      </p:grpSp>
      <p:sp>
        <p:nvSpPr>
          <p:cNvPr id="246" name="object 246" descr=""/>
          <p:cNvSpPr txBox="1"/>
          <p:nvPr/>
        </p:nvSpPr>
        <p:spPr>
          <a:xfrm>
            <a:off x="7399556" y="2509973"/>
            <a:ext cx="86995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25">
                <a:solidFill>
                  <a:srgbClr val="164326"/>
                </a:solidFill>
                <a:latin typeface="SimSun"/>
                <a:cs typeface="SimSun"/>
              </a:rPr>
              <a:t>LNA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47" name="object 247" descr=""/>
          <p:cNvSpPr/>
          <p:nvPr/>
        </p:nvSpPr>
        <p:spPr>
          <a:xfrm>
            <a:off x="8507878" y="2562422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 h="0">
                <a:moveTo>
                  <a:pt x="0" y="0"/>
                </a:moveTo>
                <a:lnTo>
                  <a:pt x="54678" y="0"/>
                </a:lnTo>
              </a:path>
            </a:pathLst>
          </a:custGeom>
          <a:ln w="3175">
            <a:solidFill>
              <a:srgbClr val="16432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8" name="object 248" descr=""/>
          <p:cNvGrpSpPr/>
          <p:nvPr/>
        </p:nvGrpSpPr>
        <p:grpSpPr>
          <a:xfrm>
            <a:off x="7308841" y="2547587"/>
            <a:ext cx="1306195" cy="288290"/>
            <a:chOff x="7308841" y="2547587"/>
            <a:chExt cx="1306195" cy="288290"/>
          </a:xfrm>
        </p:grpSpPr>
        <p:sp>
          <p:nvSpPr>
            <p:cNvPr id="249" name="object 249" descr=""/>
            <p:cNvSpPr/>
            <p:nvPr/>
          </p:nvSpPr>
          <p:spPr>
            <a:xfrm>
              <a:off x="8557843" y="2547587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5"/>
                  </a:moveTo>
                  <a:lnTo>
                    <a:pt x="0" y="0"/>
                  </a:lnTo>
                  <a:lnTo>
                    <a:pt x="56590" y="14832"/>
                  </a:lnTo>
                  <a:lnTo>
                    <a:pt x="0" y="2966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08841" y="2708327"/>
              <a:ext cx="208784" cy="127099"/>
            </a:xfrm>
            <a:prstGeom prst="rect">
              <a:avLst/>
            </a:prstGeom>
          </p:spPr>
        </p:pic>
      </p:grpSp>
      <p:sp>
        <p:nvSpPr>
          <p:cNvPr id="251" name="object 251" descr=""/>
          <p:cNvSpPr txBox="1"/>
          <p:nvPr/>
        </p:nvSpPr>
        <p:spPr>
          <a:xfrm>
            <a:off x="7398961" y="2749906"/>
            <a:ext cx="86995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25">
                <a:solidFill>
                  <a:srgbClr val="164326"/>
                </a:solidFill>
                <a:latin typeface="SimSun"/>
                <a:cs typeface="SimSun"/>
              </a:rPr>
              <a:t>LNA</a:t>
            </a:r>
            <a:endParaRPr sz="250">
              <a:latin typeface="SimSun"/>
              <a:cs typeface="SimSun"/>
            </a:endParaRPr>
          </a:p>
        </p:txBody>
      </p:sp>
      <p:graphicFrame>
        <p:nvGraphicFramePr>
          <p:cNvPr id="252" name="object 252" descr=""/>
          <p:cNvGraphicFramePr>
            <a:graphicFrameLocks noGrp="1"/>
          </p:cNvGraphicFramePr>
          <p:nvPr/>
        </p:nvGraphicFramePr>
        <p:xfrm>
          <a:off x="8289194" y="2350873"/>
          <a:ext cx="320040" cy="506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65"/>
                <a:gridCol w="67945"/>
                <a:gridCol w="111760"/>
              </a:tblGrid>
              <a:tr h="102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300" spc="35">
                          <a:solidFill>
                            <a:srgbClr val="164326"/>
                          </a:solidFill>
                          <a:latin typeface="SimSun"/>
                          <a:cs typeface="SimSun"/>
                        </a:rPr>
                        <a:t>ADC</a:t>
                      </a:r>
                      <a:endParaRPr sz="300">
                        <a:latin typeface="SimSun"/>
                        <a:cs typeface="SimSun"/>
                      </a:endParaRPr>
                    </a:p>
                  </a:txBody>
                  <a:tcPr marL="0" marR="0" marB="0" marT="32384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159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00" spc="35">
                          <a:solidFill>
                            <a:srgbClr val="164326"/>
                          </a:solidFill>
                          <a:latin typeface="SimSun"/>
                          <a:cs typeface="SimSun"/>
                        </a:rPr>
                        <a:t>ADC</a:t>
                      </a:r>
                      <a:endParaRPr sz="300">
                        <a:latin typeface="SimSun"/>
                        <a:cs typeface="SimSun"/>
                      </a:endParaRPr>
                    </a:p>
                  </a:txBody>
                  <a:tcPr marL="0" marR="0" marB="0" marT="2032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85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6350">
                      <a:solidFill>
                        <a:srgbClr val="164326"/>
                      </a:solidFill>
                      <a:prstDash val="sysDash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164326"/>
                      </a:solidFill>
                      <a:prstDash val="sysDash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</a:tr>
              <a:tr h="102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00" spc="35">
                          <a:solidFill>
                            <a:srgbClr val="164326"/>
                          </a:solidFill>
                          <a:latin typeface="SimSun"/>
                          <a:cs typeface="SimSun"/>
                        </a:rPr>
                        <a:t>ADC</a:t>
                      </a:r>
                      <a:endParaRPr sz="300">
                        <a:latin typeface="SimSun"/>
                        <a:cs typeface="SimSun"/>
                      </a:endParaRPr>
                    </a:p>
                  </a:txBody>
                  <a:tcPr marL="0" marR="0" marB="0" marT="2032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3" name="object 253" descr=""/>
          <p:cNvSpPr/>
          <p:nvPr/>
        </p:nvSpPr>
        <p:spPr>
          <a:xfrm>
            <a:off x="8507876" y="2803019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 h="0">
                <a:moveTo>
                  <a:pt x="0" y="0"/>
                </a:moveTo>
                <a:lnTo>
                  <a:pt x="54678" y="0"/>
                </a:lnTo>
              </a:path>
            </a:pathLst>
          </a:custGeom>
          <a:ln w="3175">
            <a:solidFill>
              <a:srgbClr val="1643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 descr=""/>
          <p:cNvSpPr/>
          <p:nvPr/>
        </p:nvSpPr>
        <p:spPr>
          <a:xfrm>
            <a:off x="8557841" y="2788186"/>
            <a:ext cx="57150" cy="29845"/>
          </a:xfrm>
          <a:custGeom>
            <a:avLst/>
            <a:gdLst/>
            <a:ahLst/>
            <a:cxnLst/>
            <a:rect l="l" t="t" r="r" b="b"/>
            <a:pathLst>
              <a:path w="57150" h="29844">
                <a:moveTo>
                  <a:pt x="0" y="29665"/>
                </a:moveTo>
                <a:lnTo>
                  <a:pt x="0" y="0"/>
                </a:lnTo>
                <a:lnTo>
                  <a:pt x="56590" y="14832"/>
                </a:lnTo>
                <a:lnTo>
                  <a:pt x="0" y="29665"/>
                </a:lnTo>
                <a:close/>
              </a:path>
            </a:pathLst>
          </a:custGeom>
          <a:solidFill>
            <a:srgbClr val="1643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 descr=""/>
          <p:cNvSpPr txBox="1"/>
          <p:nvPr/>
        </p:nvSpPr>
        <p:spPr>
          <a:xfrm>
            <a:off x="8959866" y="2355068"/>
            <a:ext cx="4953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Times New Roman"/>
                <a:cs typeface="Times New Roman"/>
              </a:rPr>
              <a:t>0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56" name="object 256" descr=""/>
          <p:cNvSpPr txBox="1"/>
          <p:nvPr/>
        </p:nvSpPr>
        <p:spPr>
          <a:xfrm>
            <a:off x="8936453" y="2311311"/>
            <a:ext cx="5778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i="1">
                <a:latin typeface="Times New Roman"/>
                <a:cs typeface="Times New Roman"/>
              </a:rPr>
              <a:t>r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57" name="object 257" descr=""/>
          <p:cNvSpPr txBox="1"/>
          <p:nvPr/>
        </p:nvSpPr>
        <p:spPr>
          <a:xfrm>
            <a:off x="8943288" y="2769049"/>
            <a:ext cx="5969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5">
                <a:latin typeface="Times New Roman"/>
                <a:cs typeface="Times New Roman"/>
              </a:rPr>
              <a:t>K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58" name="object 258" descr=""/>
          <p:cNvSpPr txBox="1"/>
          <p:nvPr/>
        </p:nvSpPr>
        <p:spPr>
          <a:xfrm>
            <a:off x="8919219" y="2725291"/>
            <a:ext cx="5778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i="1">
                <a:latin typeface="Times New Roman"/>
                <a:cs typeface="Times New Roman"/>
              </a:rPr>
              <a:t>r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59" name="object 259" descr=""/>
          <p:cNvSpPr txBox="1"/>
          <p:nvPr/>
        </p:nvSpPr>
        <p:spPr>
          <a:xfrm>
            <a:off x="4771583" y="2642995"/>
            <a:ext cx="119380" cy="76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18518" sz="450" spc="-37" i="1">
                <a:latin typeface="Times New Roman"/>
                <a:cs typeface="Times New Roman"/>
              </a:rPr>
              <a:t>S</a:t>
            </a:r>
            <a:r>
              <a:rPr dirty="0" sz="200" spc="-25" i="1">
                <a:latin typeface="Times New Roman"/>
                <a:cs typeface="Times New Roman"/>
              </a:rPr>
              <a:t>k</a:t>
            </a:r>
            <a:endParaRPr sz="200">
              <a:latin typeface="Times New Roman"/>
              <a:cs typeface="Times New Roman"/>
            </a:endParaRPr>
          </a:p>
        </p:txBody>
      </p:sp>
      <p:grpSp>
        <p:nvGrpSpPr>
          <p:cNvPr id="260" name="object 260" descr=""/>
          <p:cNvGrpSpPr/>
          <p:nvPr/>
        </p:nvGrpSpPr>
        <p:grpSpPr>
          <a:xfrm>
            <a:off x="6770331" y="2484093"/>
            <a:ext cx="2192655" cy="234315"/>
            <a:chOff x="6770331" y="2484093"/>
            <a:chExt cx="2192655" cy="234315"/>
          </a:xfrm>
        </p:grpSpPr>
        <p:pic>
          <p:nvPicPr>
            <p:cNvPr id="261" name="object 26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775907" y="2553990"/>
              <a:ext cx="72220" cy="78644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6774304" y="2562087"/>
              <a:ext cx="405765" cy="156210"/>
            </a:xfrm>
            <a:custGeom>
              <a:avLst/>
              <a:gdLst/>
              <a:ahLst/>
              <a:cxnLst/>
              <a:rect l="l" t="t" r="r" b="b"/>
              <a:pathLst>
                <a:path w="405765" h="156210">
                  <a:moveTo>
                    <a:pt x="376288" y="156215"/>
                  </a:moveTo>
                  <a:lnTo>
                    <a:pt x="292071" y="140757"/>
                  </a:lnTo>
                  <a:lnTo>
                    <a:pt x="247722" y="123158"/>
                  </a:lnTo>
                  <a:lnTo>
                    <a:pt x="188146" y="97411"/>
                  </a:lnTo>
                  <a:lnTo>
                    <a:pt x="123464" y="67999"/>
                  </a:lnTo>
                  <a:lnTo>
                    <a:pt x="63799" y="39407"/>
                  </a:lnTo>
                  <a:lnTo>
                    <a:pt x="19270" y="16117"/>
                  </a:lnTo>
                  <a:lnTo>
                    <a:pt x="0" y="2611"/>
                  </a:lnTo>
                  <a:lnTo>
                    <a:pt x="11874" y="0"/>
                  </a:lnTo>
                  <a:lnTo>
                    <a:pt x="99318" y="15192"/>
                  </a:lnTo>
                  <a:lnTo>
                    <a:pt x="156783" y="28581"/>
                  </a:lnTo>
                  <a:lnTo>
                    <a:pt x="211341" y="42891"/>
                  </a:lnTo>
                  <a:lnTo>
                    <a:pt x="253939" y="55912"/>
                  </a:lnTo>
                  <a:lnTo>
                    <a:pt x="305044" y="77329"/>
                  </a:lnTo>
                  <a:lnTo>
                    <a:pt x="352445" y="102815"/>
                  </a:lnTo>
                  <a:lnTo>
                    <a:pt x="388471" y="126605"/>
                  </a:lnTo>
                  <a:lnTo>
                    <a:pt x="405452" y="142934"/>
                  </a:lnTo>
                  <a:lnTo>
                    <a:pt x="399943" y="151964"/>
                  </a:lnTo>
                  <a:lnTo>
                    <a:pt x="376288" y="15621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70331" y="2547556"/>
              <a:ext cx="89435" cy="25057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8959869" y="2486633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w="0" h="228600">
                  <a:moveTo>
                    <a:pt x="0" y="0"/>
                  </a:moveTo>
                  <a:lnTo>
                    <a:pt x="0" y="228508"/>
                  </a:lnTo>
                </a:path>
              </a:pathLst>
            </a:custGeom>
            <a:ln w="4920">
              <a:solidFill>
                <a:srgbClr val="16432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5" name="object 265" descr=""/>
          <p:cNvSpPr txBox="1"/>
          <p:nvPr/>
        </p:nvSpPr>
        <p:spPr>
          <a:xfrm>
            <a:off x="5178981" y="2779490"/>
            <a:ext cx="45085" cy="50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50" spc="-25" i="1">
                <a:latin typeface="Times New Roman"/>
                <a:cs typeface="Times New Roman"/>
              </a:rPr>
              <a:t>RF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266" name="object 266" descr=""/>
          <p:cNvSpPr txBox="1"/>
          <p:nvPr/>
        </p:nvSpPr>
        <p:spPr>
          <a:xfrm>
            <a:off x="5126791" y="2751303"/>
            <a:ext cx="106045" cy="60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7777" sz="300" spc="37" i="1">
                <a:latin typeface="Times New Roman"/>
                <a:cs typeface="Times New Roman"/>
              </a:rPr>
              <a:t>N</a:t>
            </a:r>
            <a:r>
              <a:rPr dirty="0" sz="150" spc="25" i="1">
                <a:latin typeface="Times New Roman"/>
                <a:cs typeface="Times New Roman"/>
              </a:rPr>
              <a:t>T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267" name="object 267" descr=""/>
          <p:cNvSpPr txBox="1"/>
          <p:nvPr/>
        </p:nvSpPr>
        <p:spPr>
          <a:xfrm>
            <a:off x="5081432" y="2696993"/>
            <a:ext cx="121920" cy="90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7777" sz="600" spc="52">
                <a:latin typeface="Symbol"/>
                <a:cs typeface="Symbol"/>
              </a:rPr>
              <a:t></a:t>
            </a:r>
            <a:r>
              <a:rPr dirty="0" sz="200" spc="35" i="1">
                <a:latin typeface="Times New Roman"/>
                <a:cs typeface="Times New Roman"/>
              </a:rPr>
              <a:t>t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268" name="object 268" descr=""/>
          <p:cNvSpPr txBox="1"/>
          <p:nvPr/>
        </p:nvSpPr>
        <p:spPr>
          <a:xfrm>
            <a:off x="5148693" y="2471170"/>
            <a:ext cx="34925" cy="107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14"/>
              </a:spcBef>
            </a:pPr>
            <a:r>
              <a:rPr dirty="0" sz="250" spc="-50" i="1">
                <a:latin typeface="Times New Roman"/>
                <a:cs typeface="Times New Roman"/>
              </a:rPr>
              <a:t>t</a:t>
            </a:r>
            <a:endParaRPr sz="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50" spc="-50">
                <a:latin typeface="Times New Roman"/>
                <a:cs typeface="Times New Roman"/>
              </a:rPr>
              <a:t>2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269" name="object 269" descr=""/>
          <p:cNvSpPr txBox="1"/>
          <p:nvPr/>
        </p:nvSpPr>
        <p:spPr>
          <a:xfrm>
            <a:off x="5096540" y="2467633"/>
            <a:ext cx="64769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500" spc="15">
                <a:latin typeface="Symbol"/>
                <a:cs typeface="Symbol"/>
              </a:rPr>
              <a:t></a:t>
            </a:r>
            <a:endParaRPr sz="500">
              <a:latin typeface="Symbol"/>
              <a:cs typeface="Symbol"/>
            </a:endParaRPr>
          </a:p>
        </p:txBody>
      </p:sp>
      <p:sp>
        <p:nvSpPr>
          <p:cNvPr id="270" name="object 270" descr=""/>
          <p:cNvSpPr txBox="1"/>
          <p:nvPr/>
        </p:nvSpPr>
        <p:spPr>
          <a:xfrm>
            <a:off x="5149926" y="2359770"/>
            <a:ext cx="34290" cy="66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50" spc="-50">
                <a:latin typeface="Times New Roman"/>
                <a:cs typeface="Times New Roman"/>
              </a:rPr>
              <a:t>1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271" name="object 271" descr=""/>
          <p:cNvSpPr txBox="1"/>
          <p:nvPr/>
        </p:nvSpPr>
        <p:spPr>
          <a:xfrm>
            <a:off x="5158963" y="2318787"/>
            <a:ext cx="24765" cy="66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50" spc="-50" i="1">
                <a:latin typeface="Times New Roman"/>
                <a:cs typeface="Times New Roman"/>
              </a:rPr>
              <a:t>t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272" name="object 272" descr=""/>
          <p:cNvSpPr txBox="1"/>
          <p:nvPr/>
        </p:nvSpPr>
        <p:spPr>
          <a:xfrm>
            <a:off x="5103195" y="2315297"/>
            <a:ext cx="635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10">
                <a:latin typeface="Symbol"/>
                <a:cs typeface="Symbol"/>
              </a:rPr>
              <a:t></a:t>
            </a:r>
            <a:endParaRPr sz="500">
              <a:latin typeface="Symbol"/>
              <a:cs typeface="Symbol"/>
            </a:endParaRPr>
          </a:p>
        </p:txBody>
      </p:sp>
      <p:sp>
        <p:nvSpPr>
          <p:cNvPr id="273" name="object 273" descr=""/>
          <p:cNvSpPr txBox="1"/>
          <p:nvPr/>
        </p:nvSpPr>
        <p:spPr>
          <a:xfrm>
            <a:off x="6472608" y="2498547"/>
            <a:ext cx="66675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25">
                <a:solidFill>
                  <a:srgbClr val="164326"/>
                </a:solidFill>
                <a:latin typeface="SimSun"/>
                <a:cs typeface="SimSun"/>
              </a:rPr>
              <a:t>PA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74" name="object 274" descr=""/>
          <p:cNvSpPr txBox="1"/>
          <p:nvPr/>
        </p:nvSpPr>
        <p:spPr>
          <a:xfrm>
            <a:off x="6472607" y="2742289"/>
            <a:ext cx="66675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25">
                <a:solidFill>
                  <a:srgbClr val="164326"/>
                </a:solidFill>
                <a:latin typeface="SimSun"/>
                <a:cs typeface="SimSun"/>
              </a:rPr>
              <a:t>PA</a:t>
            </a:r>
            <a:endParaRPr sz="250">
              <a:latin typeface="SimSun"/>
              <a:cs typeface="SimSun"/>
            </a:endParaRPr>
          </a:p>
        </p:txBody>
      </p:sp>
      <p:pic>
        <p:nvPicPr>
          <p:cNvPr id="275" name="object 275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402710" y="2342652"/>
            <a:ext cx="115509" cy="100502"/>
          </a:xfrm>
          <a:prstGeom prst="rect">
            <a:avLst/>
          </a:prstGeom>
        </p:spPr>
      </p:pic>
      <p:sp>
        <p:nvSpPr>
          <p:cNvPr id="276" name="object 276" descr=""/>
          <p:cNvSpPr txBox="1"/>
          <p:nvPr/>
        </p:nvSpPr>
        <p:spPr>
          <a:xfrm>
            <a:off x="7399556" y="2357634"/>
            <a:ext cx="86995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25">
                <a:solidFill>
                  <a:srgbClr val="164326"/>
                </a:solidFill>
                <a:latin typeface="SimSun"/>
                <a:cs typeface="SimSun"/>
              </a:rPr>
              <a:t>LNA</a:t>
            </a:r>
            <a:endParaRPr sz="250">
              <a:latin typeface="SimSun"/>
              <a:cs typeface="SimSun"/>
            </a:endParaRPr>
          </a:p>
        </p:txBody>
      </p:sp>
      <p:sp>
        <p:nvSpPr>
          <p:cNvPr id="277" name="object 277" descr=""/>
          <p:cNvSpPr txBox="1"/>
          <p:nvPr/>
        </p:nvSpPr>
        <p:spPr>
          <a:xfrm>
            <a:off x="6559150" y="2190921"/>
            <a:ext cx="16319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500" spc="50" i="1">
                <a:latin typeface="Times New Roman"/>
                <a:cs typeface="Times New Roman"/>
              </a:rPr>
              <a:t>N</a:t>
            </a:r>
            <a:r>
              <a:rPr dirty="0" baseline="-27777" sz="450" spc="75">
                <a:latin typeface="Times New Roman"/>
                <a:cs typeface="Times New Roman"/>
              </a:rPr>
              <a:t>T</a:t>
            </a:r>
            <a:endParaRPr baseline="-27777" sz="450">
              <a:latin typeface="Times New Roman"/>
              <a:cs typeface="Times New Roman"/>
            </a:endParaRPr>
          </a:p>
        </p:txBody>
      </p:sp>
      <p:sp>
        <p:nvSpPr>
          <p:cNvPr id="278" name="object 278" descr=""/>
          <p:cNvSpPr txBox="1"/>
          <p:nvPr/>
        </p:nvSpPr>
        <p:spPr>
          <a:xfrm>
            <a:off x="7256528" y="2190922"/>
            <a:ext cx="167005" cy="10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500" spc="55" i="1">
                <a:latin typeface="Times New Roman"/>
                <a:cs typeface="Times New Roman"/>
              </a:rPr>
              <a:t>N</a:t>
            </a:r>
            <a:r>
              <a:rPr dirty="0" baseline="-27777" sz="450" spc="82">
                <a:latin typeface="Times New Roman"/>
                <a:cs typeface="Times New Roman"/>
              </a:rPr>
              <a:t>R</a:t>
            </a:r>
            <a:endParaRPr baseline="-27777" sz="450">
              <a:latin typeface="Times New Roman"/>
              <a:cs typeface="Times New Roman"/>
            </a:endParaRPr>
          </a:p>
        </p:txBody>
      </p:sp>
      <p:grpSp>
        <p:nvGrpSpPr>
          <p:cNvPr id="279" name="object 279" descr=""/>
          <p:cNvGrpSpPr/>
          <p:nvPr/>
        </p:nvGrpSpPr>
        <p:grpSpPr>
          <a:xfrm>
            <a:off x="4863217" y="2359030"/>
            <a:ext cx="543560" cy="426084"/>
            <a:chOff x="4863217" y="2359030"/>
            <a:chExt cx="543560" cy="426084"/>
          </a:xfrm>
        </p:grpSpPr>
        <p:sp>
          <p:nvSpPr>
            <p:cNvPr id="280" name="object 280" descr=""/>
            <p:cNvSpPr/>
            <p:nvPr/>
          </p:nvSpPr>
          <p:spPr>
            <a:xfrm>
              <a:off x="5280704" y="2373861"/>
              <a:ext cx="74295" cy="0"/>
            </a:xfrm>
            <a:custGeom>
              <a:avLst/>
              <a:gdLst/>
              <a:ahLst/>
              <a:cxnLst/>
              <a:rect l="l" t="t" r="r" b="b"/>
              <a:pathLst>
                <a:path w="74295" h="0">
                  <a:moveTo>
                    <a:pt x="0" y="0"/>
                  </a:moveTo>
                  <a:lnTo>
                    <a:pt x="74054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5350040" y="2359030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1"/>
                  </a:moveTo>
                  <a:lnTo>
                    <a:pt x="0" y="0"/>
                  </a:lnTo>
                  <a:lnTo>
                    <a:pt x="56590" y="14828"/>
                  </a:lnTo>
                  <a:lnTo>
                    <a:pt x="0" y="29661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5280704" y="2533816"/>
              <a:ext cx="74295" cy="0"/>
            </a:xfrm>
            <a:custGeom>
              <a:avLst/>
              <a:gdLst/>
              <a:ahLst/>
              <a:cxnLst/>
              <a:rect l="l" t="t" r="r" b="b"/>
              <a:pathLst>
                <a:path w="74295" h="0">
                  <a:moveTo>
                    <a:pt x="0" y="0"/>
                  </a:moveTo>
                  <a:lnTo>
                    <a:pt x="74054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5350040" y="2518984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5"/>
                  </a:moveTo>
                  <a:lnTo>
                    <a:pt x="0" y="0"/>
                  </a:lnTo>
                  <a:lnTo>
                    <a:pt x="56590" y="14832"/>
                  </a:lnTo>
                  <a:lnTo>
                    <a:pt x="0" y="2966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5280704" y="2769942"/>
              <a:ext cx="74295" cy="0"/>
            </a:xfrm>
            <a:custGeom>
              <a:avLst/>
              <a:gdLst/>
              <a:ahLst/>
              <a:cxnLst/>
              <a:rect l="l" t="t" r="r" b="b"/>
              <a:pathLst>
                <a:path w="74295" h="0">
                  <a:moveTo>
                    <a:pt x="0" y="0"/>
                  </a:moveTo>
                  <a:lnTo>
                    <a:pt x="74054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5350040" y="2755109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5"/>
                  </a:moveTo>
                  <a:lnTo>
                    <a:pt x="0" y="0"/>
                  </a:lnTo>
                  <a:lnTo>
                    <a:pt x="56590" y="14832"/>
                  </a:lnTo>
                  <a:lnTo>
                    <a:pt x="0" y="2966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4873856" y="2427179"/>
              <a:ext cx="113030" cy="0"/>
            </a:xfrm>
            <a:custGeom>
              <a:avLst/>
              <a:gdLst/>
              <a:ahLst/>
              <a:cxnLst/>
              <a:rect l="l" t="t" r="r" b="b"/>
              <a:pathLst>
                <a:path w="113029" h="0">
                  <a:moveTo>
                    <a:pt x="0" y="0"/>
                  </a:moveTo>
                  <a:lnTo>
                    <a:pt x="112801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4981941" y="2412348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1"/>
                  </a:moveTo>
                  <a:lnTo>
                    <a:pt x="0" y="0"/>
                  </a:lnTo>
                  <a:lnTo>
                    <a:pt x="56590" y="14832"/>
                  </a:lnTo>
                  <a:lnTo>
                    <a:pt x="0" y="29661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4864170" y="2670921"/>
              <a:ext cx="122555" cy="0"/>
            </a:xfrm>
            <a:custGeom>
              <a:avLst/>
              <a:gdLst/>
              <a:ahLst/>
              <a:cxnLst/>
              <a:rect l="l" t="t" r="r" b="b"/>
              <a:pathLst>
                <a:path w="122554" h="0">
                  <a:moveTo>
                    <a:pt x="0" y="0"/>
                  </a:moveTo>
                  <a:lnTo>
                    <a:pt x="122489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4981941" y="2656088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5"/>
                  </a:moveTo>
                  <a:lnTo>
                    <a:pt x="0" y="0"/>
                  </a:lnTo>
                  <a:lnTo>
                    <a:pt x="56590" y="14832"/>
                  </a:lnTo>
                  <a:lnTo>
                    <a:pt x="0" y="2966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0" name="object 290" descr=""/>
          <p:cNvSpPr txBox="1"/>
          <p:nvPr/>
        </p:nvSpPr>
        <p:spPr>
          <a:xfrm>
            <a:off x="5091071" y="2260780"/>
            <a:ext cx="50800" cy="4508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25" i="1">
                <a:latin typeface="Times New Roman"/>
                <a:cs typeface="Times New Roman"/>
              </a:rPr>
              <a:t>RF</a:t>
            </a:r>
            <a:endParaRPr sz="100">
              <a:latin typeface="Times New Roman"/>
              <a:cs typeface="Times New Roman"/>
            </a:endParaRPr>
          </a:p>
        </p:txBody>
      </p:sp>
      <p:sp>
        <p:nvSpPr>
          <p:cNvPr id="291" name="object 291" descr=""/>
          <p:cNvSpPr txBox="1"/>
          <p:nvPr/>
        </p:nvSpPr>
        <p:spPr>
          <a:xfrm>
            <a:off x="4981503" y="2241636"/>
            <a:ext cx="36766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00" spc="50" i="1">
                <a:latin typeface="Times New Roman"/>
                <a:cs typeface="Times New Roman"/>
              </a:rPr>
              <a:t>K</a:t>
            </a:r>
            <a:r>
              <a:rPr dirty="0" sz="200" spc="15" i="1">
                <a:latin typeface="Times New Roman"/>
                <a:cs typeface="Times New Roman"/>
              </a:rPr>
              <a:t> </a:t>
            </a:r>
            <a:r>
              <a:rPr dirty="0" sz="200">
                <a:latin typeface="Symbol"/>
                <a:cs typeface="Symbol"/>
              </a:rPr>
              <a:t></a:t>
            </a:r>
            <a:r>
              <a:rPr dirty="0" sz="200" spc="15">
                <a:latin typeface="Times New Roman"/>
                <a:cs typeface="Times New Roman"/>
              </a:rPr>
              <a:t> </a:t>
            </a:r>
            <a:r>
              <a:rPr dirty="0" sz="200" spc="55" i="1">
                <a:latin typeface="Times New Roman"/>
                <a:cs typeface="Times New Roman"/>
              </a:rPr>
              <a:t>N</a:t>
            </a:r>
            <a:r>
              <a:rPr dirty="0" baseline="55555" sz="150" spc="82" i="1">
                <a:latin typeface="Times New Roman"/>
                <a:cs typeface="Times New Roman"/>
              </a:rPr>
              <a:t>T</a:t>
            </a:r>
            <a:r>
              <a:rPr dirty="0" baseline="55555" sz="150" spc="179" i="1">
                <a:latin typeface="Times New Roman"/>
                <a:cs typeface="Times New Roman"/>
              </a:rPr>
              <a:t> </a:t>
            </a:r>
            <a:r>
              <a:rPr dirty="0" sz="200" spc="70">
                <a:latin typeface="SimSun"/>
                <a:cs typeface="SimSun"/>
              </a:rPr>
              <a:t>维加权矩阵</a:t>
            </a:r>
            <a:endParaRPr sz="200">
              <a:latin typeface="SimSun"/>
              <a:cs typeface="SimSun"/>
            </a:endParaRPr>
          </a:p>
        </p:txBody>
      </p:sp>
      <p:sp>
        <p:nvSpPr>
          <p:cNvPr id="292" name="object 292" descr=""/>
          <p:cNvSpPr txBox="1"/>
          <p:nvPr/>
        </p:nvSpPr>
        <p:spPr>
          <a:xfrm>
            <a:off x="5459905" y="2257189"/>
            <a:ext cx="56515" cy="49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" spc="-25" i="1">
                <a:latin typeface="Times New Roman"/>
                <a:cs typeface="Times New Roman"/>
              </a:rPr>
              <a:t>RF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293" name="object 293" descr=""/>
          <p:cNvSpPr txBox="1"/>
          <p:nvPr/>
        </p:nvSpPr>
        <p:spPr>
          <a:xfrm>
            <a:off x="5402111" y="2233702"/>
            <a:ext cx="278130" cy="673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50" spc="60" i="1">
                <a:latin typeface="Times New Roman"/>
                <a:cs typeface="Times New Roman"/>
              </a:rPr>
              <a:t>N</a:t>
            </a:r>
            <a:r>
              <a:rPr dirty="0" baseline="37037" sz="225" spc="89" i="1">
                <a:latin typeface="Times New Roman"/>
                <a:cs typeface="Times New Roman"/>
              </a:rPr>
              <a:t>T</a:t>
            </a:r>
            <a:r>
              <a:rPr dirty="0" baseline="37037" sz="225" spc="157" i="1">
                <a:latin typeface="Times New Roman"/>
                <a:cs typeface="Times New Roman"/>
              </a:rPr>
              <a:t> </a:t>
            </a:r>
            <a:r>
              <a:rPr dirty="0" sz="250" spc="95">
                <a:latin typeface="SimSun"/>
                <a:cs typeface="SimSun"/>
              </a:rPr>
              <a:t>维</a:t>
            </a:r>
            <a:r>
              <a:rPr dirty="0" sz="250" spc="40">
                <a:latin typeface="Times New Roman"/>
                <a:cs typeface="Times New Roman"/>
              </a:rPr>
              <a:t>DAC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294" name="object 294" descr=""/>
          <p:cNvSpPr txBox="1"/>
          <p:nvPr/>
        </p:nvSpPr>
        <p:spPr>
          <a:xfrm>
            <a:off x="5728144" y="2312929"/>
            <a:ext cx="243840" cy="540385"/>
          </a:xfrm>
          <a:prstGeom prst="rect">
            <a:avLst/>
          </a:prstGeom>
          <a:solidFill>
            <a:srgbClr val="EBF1DE"/>
          </a:solidFill>
          <a:ln w="3175">
            <a:solidFill>
              <a:srgbClr val="164326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R="12065"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 marR="12065"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 marR="12065"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 marR="12065">
              <a:lnSpc>
                <a:spcPct val="100000"/>
              </a:lnSpc>
              <a:spcBef>
                <a:spcPts val="250"/>
              </a:spcBef>
            </a:pPr>
            <a:endParaRPr sz="300">
              <a:latin typeface="Times New Roman"/>
              <a:cs typeface="Times New Roman"/>
            </a:endParaRPr>
          </a:p>
          <a:p>
            <a:pPr marL="6350">
              <a:lnSpc>
                <a:spcPts val="295"/>
              </a:lnSpc>
              <a:spcBef>
                <a:spcPts val="5"/>
              </a:spcBef>
            </a:pPr>
            <a:r>
              <a:rPr dirty="0" sz="300" spc="65">
                <a:latin typeface="Times New Roman"/>
                <a:cs typeface="Times New Roman"/>
              </a:rPr>
              <a:t>N</a:t>
            </a:r>
            <a:r>
              <a:rPr dirty="0" baseline="55555" sz="225" spc="97">
                <a:latin typeface="Times New Roman"/>
                <a:cs typeface="Times New Roman"/>
              </a:rPr>
              <a:t>T</a:t>
            </a:r>
            <a:r>
              <a:rPr dirty="0" baseline="55555" sz="225" spc="270">
                <a:latin typeface="Times New Roman"/>
                <a:cs typeface="Times New Roman"/>
              </a:rPr>
              <a:t> </a:t>
            </a:r>
            <a:r>
              <a:rPr dirty="0" sz="300" spc="50">
                <a:latin typeface="Symbol"/>
                <a:cs typeface="Symbol"/>
              </a:rPr>
              <a:t></a:t>
            </a:r>
            <a:r>
              <a:rPr dirty="0" sz="300" spc="-10">
                <a:latin typeface="Times New Roman"/>
                <a:cs typeface="Times New Roman"/>
              </a:rPr>
              <a:t> </a:t>
            </a:r>
            <a:r>
              <a:rPr dirty="0" sz="300" spc="65">
                <a:latin typeface="Times New Roman"/>
                <a:cs typeface="Times New Roman"/>
              </a:rPr>
              <a:t>N</a:t>
            </a:r>
            <a:r>
              <a:rPr dirty="0" sz="300" spc="90">
                <a:latin typeface="Times New Roman"/>
                <a:cs typeface="Times New Roman"/>
              </a:rPr>
              <a:t> </a:t>
            </a:r>
            <a:r>
              <a:rPr dirty="0" sz="300" spc="40">
                <a:latin typeface="SimSun"/>
                <a:cs typeface="SimSun"/>
              </a:rPr>
              <a:t>维</a:t>
            </a:r>
            <a:endParaRPr sz="300">
              <a:latin typeface="SimSun"/>
              <a:cs typeface="SimSun"/>
            </a:endParaRPr>
          </a:p>
          <a:p>
            <a:pPr marL="45085" marR="12065">
              <a:lnSpc>
                <a:spcPts val="114"/>
              </a:lnSpc>
            </a:pPr>
            <a:r>
              <a:rPr dirty="0" sz="150">
                <a:latin typeface="Times New Roman"/>
                <a:cs typeface="Times New Roman"/>
              </a:rPr>
              <a:t>RF</a:t>
            </a:r>
            <a:r>
              <a:rPr dirty="0" sz="150" spc="330">
                <a:latin typeface="Times New Roman"/>
                <a:cs typeface="Times New Roman"/>
              </a:rPr>
              <a:t>  </a:t>
            </a:r>
            <a:r>
              <a:rPr dirty="0" sz="150" spc="-50">
                <a:latin typeface="Times New Roman"/>
                <a:cs typeface="Times New Roman"/>
              </a:rPr>
              <a:t>T</a:t>
            </a:r>
            <a:endParaRPr sz="150">
              <a:latin typeface="Times New Roman"/>
              <a:cs typeface="Times New Roman"/>
            </a:endParaRPr>
          </a:p>
          <a:p>
            <a:pPr marL="2540" marR="12065">
              <a:lnSpc>
                <a:spcPct val="100000"/>
              </a:lnSpc>
              <a:spcBef>
                <a:spcPts val="70"/>
              </a:spcBef>
            </a:pPr>
            <a:r>
              <a:rPr dirty="0" sz="300" spc="75">
                <a:latin typeface="SimSun"/>
                <a:cs typeface="SimSun"/>
              </a:rPr>
              <a:t>功分网络</a:t>
            </a:r>
            <a:endParaRPr sz="300">
              <a:latin typeface="SimSun"/>
              <a:cs typeface="SimSun"/>
            </a:endParaRPr>
          </a:p>
        </p:txBody>
      </p:sp>
      <p:grpSp>
        <p:nvGrpSpPr>
          <p:cNvPr id="295" name="object 295" descr=""/>
          <p:cNvGrpSpPr/>
          <p:nvPr/>
        </p:nvGrpSpPr>
        <p:grpSpPr>
          <a:xfrm>
            <a:off x="5671554" y="2338675"/>
            <a:ext cx="2522855" cy="535305"/>
            <a:chOff x="5671554" y="2338675"/>
            <a:chExt cx="2522855" cy="535305"/>
          </a:xfrm>
        </p:grpSpPr>
        <p:sp>
          <p:nvSpPr>
            <p:cNvPr id="296" name="object 296" descr=""/>
            <p:cNvSpPr/>
            <p:nvPr/>
          </p:nvSpPr>
          <p:spPr>
            <a:xfrm>
              <a:off x="5671553" y="2351417"/>
              <a:ext cx="57150" cy="448945"/>
            </a:xfrm>
            <a:custGeom>
              <a:avLst/>
              <a:gdLst/>
              <a:ahLst/>
              <a:cxnLst/>
              <a:rect l="l" t="t" r="r" b="b"/>
              <a:pathLst>
                <a:path w="57150" h="448944">
                  <a:moveTo>
                    <a:pt x="56591" y="433768"/>
                  </a:moveTo>
                  <a:lnTo>
                    <a:pt x="0" y="418934"/>
                  </a:lnTo>
                  <a:lnTo>
                    <a:pt x="0" y="448602"/>
                  </a:lnTo>
                  <a:lnTo>
                    <a:pt x="56591" y="433768"/>
                  </a:lnTo>
                  <a:close/>
                </a:path>
                <a:path w="57150" h="448944">
                  <a:moveTo>
                    <a:pt x="56591" y="190017"/>
                  </a:moveTo>
                  <a:lnTo>
                    <a:pt x="0" y="175196"/>
                  </a:lnTo>
                  <a:lnTo>
                    <a:pt x="0" y="204851"/>
                  </a:lnTo>
                  <a:lnTo>
                    <a:pt x="56591" y="190017"/>
                  </a:lnTo>
                  <a:close/>
                </a:path>
                <a:path w="57150" h="448944">
                  <a:moveTo>
                    <a:pt x="56591" y="14833"/>
                  </a:moveTo>
                  <a:lnTo>
                    <a:pt x="0" y="0"/>
                  </a:lnTo>
                  <a:lnTo>
                    <a:pt x="0" y="29667"/>
                  </a:lnTo>
                  <a:lnTo>
                    <a:pt x="56591" y="14833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7950889" y="2339624"/>
              <a:ext cx="242570" cy="533400"/>
            </a:xfrm>
            <a:custGeom>
              <a:avLst/>
              <a:gdLst/>
              <a:ahLst/>
              <a:cxnLst/>
              <a:rect l="l" t="t" r="r" b="b"/>
              <a:pathLst>
                <a:path w="242570" h="533400">
                  <a:moveTo>
                    <a:pt x="242170" y="533187"/>
                  </a:moveTo>
                  <a:lnTo>
                    <a:pt x="0" y="533187"/>
                  </a:lnTo>
                  <a:lnTo>
                    <a:pt x="0" y="0"/>
                  </a:lnTo>
                  <a:lnTo>
                    <a:pt x="242170" y="0"/>
                  </a:lnTo>
                  <a:lnTo>
                    <a:pt x="242170" y="533187"/>
                  </a:lnTo>
                  <a:close/>
                </a:path>
              </a:pathLst>
            </a:custGeom>
            <a:solidFill>
              <a:srgbClr val="EBF1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7950889" y="2339628"/>
              <a:ext cx="242570" cy="533400"/>
            </a:xfrm>
            <a:custGeom>
              <a:avLst/>
              <a:gdLst/>
              <a:ahLst/>
              <a:cxnLst/>
              <a:rect l="l" t="t" r="r" b="b"/>
              <a:pathLst>
                <a:path w="242570" h="533400">
                  <a:moveTo>
                    <a:pt x="0" y="533183"/>
                  </a:moveTo>
                  <a:lnTo>
                    <a:pt x="242170" y="533183"/>
                  </a:lnTo>
                  <a:lnTo>
                    <a:pt x="242170" y="0"/>
                  </a:lnTo>
                  <a:lnTo>
                    <a:pt x="0" y="0"/>
                  </a:lnTo>
                  <a:lnTo>
                    <a:pt x="0" y="533183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 descr=""/>
          <p:cNvSpPr txBox="1"/>
          <p:nvPr/>
        </p:nvSpPr>
        <p:spPr>
          <a:xfrm>
            <a:off x="7997459" y="2551105"/>
            <a:ext cx="154305" cy="508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">
                <a:latin typeface="Times New Roman"/>
                <a:cs typeface="Times New Roman"/>
              </a:rPr>
              <a:t>RF</a:t>
            </a:r>
            <a:r>
              <a:rPr dirty="0" sz="150" spc="300">
                <a:latin typeface="Times New Roman"/>
                <a:cs typeface="Times New Roman"/>
              </a:rPr>
              <a:t>  </a:t>
            </a:r>
            <a:r>
              <a:rPr dirty="0" sz="150" spc="-50">
                <a:latin typeface="Times New Roman"/>
                <a:cs typeface="Times New Roman"/>
              </a:rPr>
              <a:t>R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300" name="object 300" descr=""/>
          <p:cNvSpPr txBox="1"/>
          <p:nvPr/>
        </p:nvSpPr>
        <p:spPr>
          <a:xfrm>
            <a:off x="7936423" y="2526477"/>
            <a:ext cx="288925" cy="69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50" spc="65">
                <a:latin typeface="Times New Roman"/>
                <a:cs typeface="Times New Roman"/>
              </a:rPr>
              <a:t>N</a:t>
            </a:r>
            <a:r>
              <a:rPr dirty="0" baseline="55555" sz="225" spc="97">
                <a:latin typeface="Times New Roman"/>
                <a:cs typeface="Times New Roman"/>
              </a:rPr>
              <a:t>R</a:t>
            </a:r>
            <a:r>
              <a:rPr dirty="0" baseline="55555" sz="225" spc="225">
                <a:latin typeface="Times New Roman"/>
                <a:cs typeface="Times New Roman"/>
              </a:rPr>
              <a:t> </a:t>
            </a:r>
            <a:r>
              <a:rPr dirty="0" sz="250" spc="60">
                <a:latin typeface="Symbol"/>
                <a:cs typeface="Symbol"/>
              </a:rPr>
              <a:t></a:t>
            </a:r>
            <a:r>
              <a:rPr dirty="0" sz="250">
                <a:latin typeface="Times New Roman"/>
                <a:cs typeface="Times New Roman"/>
              </a:rPr>
              <a:t> </a:t>
            </a:r>
            <a:r>
              <a:rPr dirty="0" sz="250" spc="85">
                <a:latin typeface="Times New Roman"/>
                <a:cs typeface="Times New Roman"/>
              </a:rPr>
              <a:t>N</a:t>
            </a:r>
            <a:r>
              <a:rPr dirty="0" sz="250" spc="114">
                <a:latin typeface="Times New Roman"/>
                <a:cs typeface="Times New Roman"/>
              </a:rPr>
              <a:t> </a:t>
            </a:r>
            <a:r>
              <a:rPr dirty="0" sz="250" spc="60">
                <a:latin typeface="SimSun"/>
                <a:cs typeface="SimSun"/>
              </a:rPr>
              <a:t>维</a:t>
            </a:r>
            <a:endParaRPr sz="250">
              <a:latin typeface="SimSun"/>
              <a:cs typeface="SimSun"/>
            </a:endParaRPr>
          </a:p>
        </p:txBody>
      </p:sp>
      <p:sp>
        <p:nvSpPr>
          <p:cNvPr id="301" name="object 301" descr=""/>
          <p:cNvSpPr txBox="1"/>
          <p:nvPr/>
        </p:nvSpPr>
        <p:spPr>
          <a:xfrm>
            <a:off x="7958228" y="2583353"/>
            <a:ext cx="210185" cy="69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" spc="95">
                <a:latin typeface="SimSun"/>
                <a:cs typeface="SimSun"/>
              </a:rPr>
              <a:t>功分网络</a:t>
            </a:r>
            <a:endParaRPr sz="250">
              <a:latin typeface="SimSun"/>
              <a:cs typeface="SimSun"/>
            </a:endParaRPr>
          </a:p>
        </p:txBody>
      </p:sp>
      <p:grpSp>
        <p:nvGrpSpPr>
          <p:cNvPr id="302" name="object 302" descr=""/>
          <p:cNvGrpSpPr/>
          <p:nvPr/>
        </p:nvGrpSpPr>
        <p:grpSpPr>
          <a:xfrm>
            <a:off x="8192105" y="2400965"/>
            <a:ext cx="98425" cy="410845"/>
            <a:chOff x="8192105" y="2400965"/>
            <a:chExt cx="98425" cy="410845"/>
          </a:xfrm>
        </p:grpSpPr>
        <p:sp>
          <p:nvSpPr>
            <p:cNvPr id="303" name="object 303" descr=""/>
            <p:cNvSpPr/>
            <p:nvPr/>
          </p:nvSpPr>
          <p:spPr>
            <a:xfrm>
              <a:off x="8193057" y="2415796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5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8233337" y="2400965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1"/>
                  </a:moveTo>
                  <a:lnTo>
                    <a:pt x="0" y="0"/>
                  </a:lnTo>
                  <a:lnTo>
                    <a:pt x="56585" y="14828"/>
                  </a:lnTo>
                  <a:lnTo>
                    <a:pt x="0" y="29661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8193057" y="2606219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5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8233337" y="2591386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5"/>
                  </a:moveTo>
                  <a:lnTo>
                    <a:pt x="0" y="0"/>
                  </a:lnTo>
                  <a:lnTo>
                    <a:pt x="56585" y="14832"/>
                  </a:lnTo>
                  <a:lnTo>
                    <a:pt x="0" y="2966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8193057" y="2796642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5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8233337" y="2781808"/>
              <a:ext cx="57150" cy="29845"/>
            </a:xfrm>
            <a:custGeom>
              <a:avLst/>
              <a:gdLst/>
              <a:ahLst/>
              <a:cxnLst/>
              <a:rect l="l" t="t" r="r" b="b"/>
              <a:pathLst>
                <a:path w="57150" h="29844">
                  <a:moveTo>
                    <a:pt x="0" y="29665"/>
                  </a:moveTo>
                  <a:lnTo>
                    <a:pt x="0" y="0"/>
                  </a:lnTo>
                  <a:lnTo>
                    <a:pt x="56585" y="14832"/>
                  </a:lnTo>
                  <a:lnTo>
                    <a:pt x="0" y="2966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9" name="object 309" descr=""/>
          <p:cNvSpPr txBox="1"/>
          <p:nvPr/>
        </p:nvSpPr>
        <p:spPr>
          <a:xfrm>
            <a:off x="8324553" y="2293957"/>
            <a:ext cx="61594" cy="53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" spc="-25" i="1">
                <a:latin typeface="Times New Roman"/>
                <a:cs typeface="Times New Roman"/>
              </a:rPr>
              <a:t>RF</a:t>
            </a:r>
            <a:endParaRPr sz="150">
              <a:latin typeface="Times New Roman"/>
              <a:cs typeface="Times New Roman"/>
            </a:endParaRPr>
          </a:p>
        </p:txBody>
      </p:sp>
      <p:graphicFrame>
        <p:nvGraphicFramePr>
          <p:cNvPr id="310" name="object 310" descr=""/>
          <p:cNvGraphicFramePr>
            <a:graphicFrameLocks noGrp="1"/>
          </p:cNvGraphicFramePr>
          <p:nvPr/>
        </p:nvGraphicFramePr>
        <p:xfrm>
          <a:off x="8605273" y="2347395"/>
          <a:ext cx="320040" cy="508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"/>
                <a:gridCol w="80645"/>
                <a:gridCol w="54610"/>
              </a:tblGrid>
              <a:tr h="103505">
                <a:tc gridSpan="2">
                  <a:txBody>
                    <a:bodyPr/>
                    <a:lstStyle/>
                    <a:p>
                      <a:pPr marL="64135">
                        <a:lnSpc>
                          <a:spcPts val="415"/>
                        </a:lnSpc>
                      </a:pPr>
                      <a:r>
                        <a:rPr dirty="0" baseline="-22222" sz="750" spc="44">
                          <a:latin typeface="Symbol"/>
                          <a:cs typeface="Symbol"/>
                        </a:rPr>
                        <a:t></a:t>
                      </a:r>
                      <a:r>
                        <a:rPr dirty="0" sz="250" spc="30" i="1">
                          <a:latin typeface="Times New Roman"/>
                          <a:cs typeface="Times New Roman"/>
                        </a:rPr>
                        <a:t>t</a:t>
                      </a:r>
                      <a:endParaRPr sz="25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ts val="285"/>
                        </a:lnSpc>
                      </a:pPr>
                      <a:r>
                        <a:rPr dirty="0" sz="250" spc="-50">
                          <a:latin typeface="Times New Roman"/>
                          <a:cs typeface="Times New Roman"/>
                        </a:rPr>
                        <a:t>1</a:t>
                      </a:r>
                      <a:endParaRPr sz="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D3D3A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solidFill>
                      <a:srgbClr val="EBF1DE"/>
                    </a:solidFill>
                  </a:tcPr>
                </a:tc>
              </a:tr>
              <a:tr h="527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2710">
                <a:tc gridSpan="2">
                  <a:txBody>
                    <a:bodyPr/>
                    <a:lstStyle/>
                    <a:p>
                      <a:pPr marL="57785">
                        <a:lnSpc>
                          <a:spcPts val="385"/>
                        </a:lnSpc>
                      </a:pPr>
                      <a:r>
                        <a:rPr dirty="0" baseline="-22222" sz="750" spc="52">
                          <a:latin typeface="Symbol"/>
                          <a:cs typeface="Symbol"/>
                        </a:rPr>
                        <a:t></a:t>
                      </a:r>
                      <a:r>
                        <a:rPr dirty="0" sz="250" spc="35" i="1">
                          <a:latin typeface="Times New Roman"/>
                          <a:cs typeface="Times New Roman"/>
                        </a:rPr>
                        <a:t>t</a:t>
                      </a:r>
                      <a:endParaRPr sz="25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ts val="250"/>
                        </a:lnSpc>
                      </a:pPr>
                      <a:r>
                        <a:rPr dirty="0" sz="250" spc="-50">
                          <a:latin typeface="Times New Roman"/>
                          <a:cs typeface="Times New Roman"/>
                        </a:rPr>
                        <a:t>2</a:t>
                      </a:r>
                      <a:endParaRPr sz="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D3D3A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solidFill>
                      <a:srgbClr val="EBF1DE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6350">
                      <a:solidFill>
                        <a:srgbClr val="164326"/>
                      </a:solidFill>
                      <a:prstDash val="dot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164326"/>
                      </a:solidFill>
                      <a:prstDash val="dot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4139">
                <a:tc gridSpan="2">
                  <a:txBody>
                    <a:bodyPr/>
                    <a:lstStyle/>
                    <a:p>
                      <a:pPr marL="67945">
                        <a:lnSpc>
                          <a:spcPts val="320"/>
                        </a:lnSpc>
                      </a:pPr>
                      <a:r>
                        <a:rPr dirty="0" baseline="-27777" sz="600" spc="52">
                          <a:latin typeface="Symbol"/>
                          <a:cs typeface="Symbol"/>
                        </a:rPr>
                        <a:t></a:t>
                      </a:r>
                      <a:r>
                        <a:rPr dirty="0" sz="200" spc="35" i="1">
                          <a:latin typeface="Times New Roman"/>
                          <a:cs typeface="Times New Roman"/>
                        </a:rPr>
                        <a:t>t</a:t>
                      </a: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 marL="140335" marR="6985" indent="-27305">
                        <a:lnSpc>
                          <a:spcPct val="84100"/>
                        </a:lnSpc>
                        <a:spcBef>
                          <a:spcPts val="10"/>
                        </a:spcBef>
                      </a:pPr>
                      <a:r>
                        <a:rPr dirty="0" baseline="-27777" sz="300" spc="37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50" spc="25" i="1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50" spc="5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" spc="-25" i="1">
                          <a:latin typeface="Times New Roman"/>
                          <a:cs typeface="Times New Roman"/>
                        </a:rPr>
                        <a:t>RF</a:t>
                      </a:r>
                      <a:endParaRPr sz="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T w="3175">
                      <a:solidFill>
                        <a:srgbClr val="164326"/>
                      </a:solidFill>
                      <a:prstDash val="solid"/>
                    </a:lnT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D3D3A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164326"/>
                      </a:solidFill>
                      <a:prstDash val="solid"/>
                    </a:lnL>
                    <a:lnR w="3175">
                      <a:solidFill>
                        <a:srgbClr val="164326"/>
                      </a:solidFill>
                      <a:prstDash val="solid"/>
                    </a:lnR>
                    <a:lnB w="3175">
                      <a:solidFill>
                        <a:srgbClr val="164326"/>
                      </a:solidFill>
                      <a:prstDash val="solid"/>
                    </a:lnB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  <p:sp>
        <p:nvSpPr>
          <p:cNvPr id="311" name="object 311" descr=""/>
          <p:cNvSpPr txBox="1"/>
          <p:nvPr/>
        </p:nvSpPr>
        <p:spPr>
          <a:xfrm>
            <a:off x="8261873" y="2267433"/>
            <a:ext cx="440055" cy="736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300" spc="65" i="1">
                <a:latin typeface="Times New Roman"/>
                <a:cs typeface="Times New Roman"/>
              </a:rPr>
              <a:t>N</a:t>
            </a:r>
            <a:r>
              <a:rPr dirty="0" sz="300" spc="260" i="1">
                <a:latin typeface="Times New Roman"/>
                <a:cs typeface="Times New Roman"/>
              </a:rPr>
              <a:t> </a:t>
            </a:r>
            <a:r>
              <a:rPr dirty="0" sz="300" spc="95">
                <a:latin typeface="SimSun"/>
                <a:cs typeface="SimSun"/>
              </a:rPr>
              <a:t>维</a:t>
            </a:r>
            <a:r>
              <a:rPr dirty="0" sz="300" spc="65">
                <a:latin typeface="Times New Roman"/>
                <a:cs typeface="Times New Roman"/>
              </a:rPr>
              <a:t>ADC</a:t>
            </a:r>
            <a:r>
              <a:rPr dirty="0" sz="300" spc="470">
                <a:latin typeface="Times New Roman"/>
                <a:cs typeface="Times New Roman"/>
              </a:rPr>
              <a:t> </a:t>
            </a:r>
            <a:r>
              <a:rPr dirty="0" baseline="11111" sz="375" spc="-37" i="1">
                <a:latin typeface="Times New Roman"/>
                <a:cs typeface="Times New Roman"/>
              </a:rPr>
              <a:t>N</a:t>
            </a:r>
            <a:r>
              <a:rPr dirty="0" sz="150" spc="-25" i="1">
                <a:latin typeface="Times New Roman"/>
                <a:cs typeface="Times New Roman"/>
              </a:rPr>
              <a:t>RF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312" name="object 312" descr=""/>
          <p:cNvSpPr txBox="1"/>
          <p:nvPr/>
        </p:nvSpPr>
        <p:spPr>
          <a:xfrm>
            <a:off x="8290021" y="2264938"/>
            <a:ext cx="697865" cy="66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  <a:tabLst>
                <a:tab pos="346075" algn="l"/>
              </a:tabLst>
            </a:pPr>
            <a:r>
              <a:rPr dirty="0" baseline="37037" sz="225">
                <a:latin typeface="Times New Roman"/>
                <a:cs typeface="Times New Roman"/>
              </a:rPr>
              <a:t>R	</a:t>
            </a:r>
            <a:r>
              <a:rPr dirty="0" baseline="37037" sz="225" spc="15">
                <a:latin typeface="Times New Roman"/>
                <a:cs typeface="Times New Roman"/>
              </a:rPr>
              <a:t>R</a:t>
            </a:r>
            <a:r>
              <a:rPr dirty="0" baseline="37037" sz="225" spc="270">
                <a:latin typeface="Times New Roman"/>
                <a:cs typeface="Times New Roman"/>
              </a:rPr>
              <a:t> </a:t>
            </a:r>
            <a:r>
              <a:rPr dirty="0" sz="250" spc="10">
                <a:latin typeface="Symbol"/>
                <a:cs typeface="Symbol"/>
              </a:rPr>
              <a:t></a:t>
            </a:r>
            <a:r>
              <a:rPr dirty="0" sz="250" spc="-5">
                <a:latin typeface="Times New Roman"/>
                <a:cs typeface="Times New Roman"/>
              </a:rPr>
              <a:t> </a:t>
            </a:r>
            <a:r>
              <a:rPr dirty="0" sz="250" spc="60">
                <a:latin typeface="Times New Roman"/>
                <a:cs typeface="Times New Roman"/>
              </a:rPr>
              <a:t>K</a:t>
            </a:r>
            <a:r>
              <a:rPr dirty="0" sz="250" spc="75">
                <a:latin typeface="SimSun"/>
                <a:cs typeface="SimSun"/>
              </a:rPr>
              <a:t>维加权矩阵</a:t>
            </a:r>
            <a:endParaRPr sz="250">
              <a:latin typeface="SimSun"/>
              <a:cs typeface="SimSun"/>
            </a:endParaRPr>
          </a:p>
        </p:txBody>
      </p:sp>
      <p:grpSp>
        <p:nvGrpSpPr>
          <p:cNvPr id="313" name="object 313" descr=""/>
          <p:cNvGrpSpPr/>
          <p:nvPr/>
        </p:nvGrpSpPr>
        <p:grpSpPr>
          <a:xfrm>
            <a:off x="6095291" y="2359578"/>
            <a:ext cx="2842895" cy="438150"/>
            <a:chOff x="6095291" y="2359578"/>
            <a:chExt cx="2842895" cy="438150"/>
          </a:xfrm>
        </p:grpSpPr>
        <p:sp>
          <p:nvSpPr>
            <p:cNvPr id="314" name="object 314" descr=""/>
            <p:cNvSpPr/>
            <p:nvPr/>
          </p:nvSpPr>
          <p:spPr>
            <a:xfrm>
              <a:off x="8848178" y="2377711"/>
              <a:ext cx="88900" cy="0"/>
            </a:xfrm>
            <a:custGeom>
              <a:avLst/>
              <a:gdLst/>
              <a:ahLst/>
              <a:cxnLst/>
              <a:rect l="l" t="t" r="r" b="b"/>
              <a:pathLst>
                <a:path w="88900" h="0">
                  <a:moveTo>
                    <a:pt x="0" y="0"/>
                  </a:moveTo>
                  <a:lnTo>
                    <a:pt x="88632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8848178" y="2796642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4" h="0">
                  <a:moveTo>
                    <a:pt x="0" y="0"/>
                  </a:moveTo>
                  <a:lnTo>
                    <a:pt x="71394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6096248" y="2360531"/>
              <a:ext cx="97155" cy="57150"/>
            </a:xfrm>
            <a:custGeom>
              <a:avLst/>
              <a:gdLst/>
              <a:ahLst/>
              <a:cxnLst/>
              <a:rect l="l" t="t" r="r" b="b"/>
              <a:pathLst>
                <a:path w="97154" h="57150">
                  <a:moveTo>
                    <a:pt x="96865" y="57126"/>
                  </a:moveTo>
                  <a:lnTo>
                    <a:pt x="0" y="57126"/>
                  </a:lnTo>
                  <a:lnTo>
                    <a:pt x="0" y="0"/>
                  </a:lnTo>
                  <a:lnTo>
                    <a:pt x="96865" y="0"/>
                  </a:lnTo>
                  <a:lnTo>
                    <a:pt x="96865" y="57126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6096243" y="2360531"/>
              <a:ext cx="97155" cy="57150"/>
            </a:xfrm>
            <a:custGeom>
              <a:avLst/>
              <a:gdLst/>
              <a:ahLst/>
              <a:cxnLst/>
              <a:rect l="l" t="t" r="r" b="b"/>
              <a:pathLst>
                <a:path w="97154" h="57150">
                  <a:moveTo>
                    <a:pt x="0" y="57126"/>
                  </a:moveTo>
                  <a:lnTo>
                    <a:pt x="96870" y="57126"/>
                  </a:lnTo>
                  <a:lnTo>
                    <a:pt x="96870" y="0"/>
                  </a:lnTo>
                  <a:lnTo>
                    <a:pt x="0" y="0"/>
                  </a:lnTo>
                  <a:lnTo>
                    <a:pt x="0" y="57126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 descr=""/>
          <p:cNvSpPr txBox="1"/>
          <p:nvPr/>
        </p:nvSpPr>
        <p:spPr>
          <a:xfrm>
            <a:off x="6147554" y="2383190"/>
            <a:ext cx="4381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 spc="-50">
                <a:latin typeface="Times New Roman"/>
                <a:cs typeface="Times New Roman"/>
              </a:rPr>
              <a:t>1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319" name="object 319" descr=""/>
          <p:cNvSpPr txBox="1"/>
          <p:nvPr/>
        </p:nvSpPr>
        <p:spPr>
          <a:xfrm>
            <a:off x="6155127" y="2348851"/>
            <a:ext cx="35560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00" spc="-50" i="1">
                <a:latin typeface="Times New Roman"/>
                <a:cs typeface="Times New Roman"/>
              </a:rPr>
              <a:t>t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320" name="object 320" descr=""/>
          <p:cNvSpPr txBox="1"/>
          <p:nvPr/>
        </p:nvSpPr>
        <p:spPr>
          <a:xfrm>
            <a:off x="6108396" y="2345926"/>
            <a:ext cx="67945" cy="88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00" spc="5">
                <a:latin typeface="Symbol"/>
                <a:cs typeface="Symbol"/>
              </a:rPr>
              <a:t></a:t>
            </a:r>
            <a:endParaRPr sz="400">
              <a:latin typeface="Symbol"/>
              <a:cs typeface="Symbol"/>
            </a:endParaRPr>
          </a:p>
        </p:txBody>
      </p:sp>
      <p:grpSp>
        <p:nvGrpSpPr>
          <p:cNvPr id="321" name="object 321" descr=""/>
          <p:cNvGrpSpPr/>
          <p:nvPr/>
        </p:nvGrpSpPr>
        <p:grpSpPr>
          <a:xfrm>
            <a:off x="6095291" y="2333874"/>
            <a:ext cx="99060" cy="229870"/>
            <a:chOff x="6095291" y="2333874"/>
            <a:chExt cx="99060" cy="229870"/>
          </a:xfrm>
        </p:grpSpPr>
        <p:sp>
          <p:nvSpPr>
            <p:cNvPr id="322" name="object 322" descr=""/>
            <p:cNvSpPr/>
            <p:nvPr/>
          </p:nvSpPr>
          <p:spPr>
            <a:xfrm>
              <a:off x="6115619" y="2371589"/>
              <a:ext cx="48260" cy="92075"/>
            </a:xfrm>
            <a:custGeom>
              <a:avLst/>
              <a:gdLst/>
              <a:ahLst/>
              <a:cxnLst/>
              <a:rect l="l" t="t" r="r" b="b"/>
              <a:pathLst>
                <a:path w="48260" h="92075">
                  <a:moveTo>
                    <a:pt x="48055" y="0"/>
                  </a:moveTo>
                  <a:lnTo>
                    <a:pt x="0" y="91769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6144437" y="2333874"/>
              <a:ext cx="39370" cy="46990"/>
            </a:xfrm>
            <a:custGeom>
              <a:avLst/>
              <a:gdLst/>
              <a:ahLst/>
              <a:cxnLst/>
              <a:rect l="l" t="t" r="r" b="b"/>
              <a:pathLst>
                <a:path w="39370" h="46989">
                  <a:moveTo>
                    <a:pt x="34887" y="46791"/>
                  </a:moveTo>
                  <a:lnTo>
                    <a:pt x="0" y="35497"/>
                  </a:lnTo>
                  <a:lnTo>
                    <a:pt x="38993" y="0"/>
                  </a:lnTo>
                  <a:lnTo>
                    <a:pt x="34887" y="46791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6096248" y="2505255"/>
              <a:ext cx="97155" cy="57150"/>
            </a:xfrm>
            <a:custGeom>
              <a:avLst/>
              <a:gdLst/>
              <a:ahLst/>
              <a:cxnLst/>
              <a:rect l="l" t="t" r="r" b="b"/>
              <a:pathLst>
                <a:path w="97154" h="57150">
                  <a:moveTo>
                    <a:pt x="96865" y="57126"/>
                  </a:moveTo>
                  <a:lnTo>
                    <a:pt x="0" y="57126"/>
                  </a:lnTo>
                  <a:lnTo>
                    <a:pt x="0" y="0"/>
                  </a:lnTo>
                  <a:lnTo>
                    <a:pt x="96865" y="0"/>
                  </a:lnTo>
                  <a:lnTo>
                    <a:pt x="96865" y="57126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6096243" y="2505255"/>
              <a:ext cx="97155" cy="57150"/>
            </a:xfrm>
            <a:custGeom>
              <a:avLst/>
              <a:gdLst/>
              <a:ahLst/>
              <a:cxnLst/>
              <a:rect l="l" t="t" r="r" b="b"/>
              <a:pathLst>
                <a:path w="97154" h="57150">
                  <a:moveTo>
                    <a:pt x="0" y="57126"/>
                  </a:moveTo>
                  <a:lnTo>
                    <a:pt x="96870" y="57126"/>
                  </a:lnTo>
                  <a:lnTo>
                    <a:pt x="96870" y="0"/>
                  </a:lnTo>
                  <a:lnTo>
                    <a:pt x="0" y="0"/>
                  </a:lnTo>
                  <a:lnTo>
                    <a:pt x="0" y="57126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6" name="object 326" descr=""/>
          <p:cNvSpPr txBox="1"/>
          <p:nvPr/>
        </p:nvSpPr>
        <p:spPr>
          <a:xfrm>
            <a:off x="6155127" y="2493571"/>
            <a:ext cx="35560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00" spc="-50" i="1">
                <a:latin typeface="Times New Roman"/>
                <a:cs typeface="Times New Roman"/>
              </a:rPr>
              <a:t>t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327" name="object 327" descr=""/>
          <p:cNvSpPr txBox="1"/>
          <p:nvPr/>
        </p:nvSpPr>
        <p:spPr>
          <a:xfrm>
            <a:off x="6082998" y="2503192"/>
            <a:ext cx="133350" cy="88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3888" sz="600" spc="-37">
                <a:latin typeface="Symbol"/>
                <a:cs typeface="Symbol"/>
              </a:rPr>
              <a:t></a:t>
            </a:r>
            <a:r>
              <a:rPr dirty="0" sz="200" spc="-25">
                <a:latin typeface="Times New Roman"/>
                <a:cs typeface="Times New Roman"/>
              </a:rPr>
              <a:t>1</a:t>
            </a:r>
            <a:endParaRPr sz="200">
              <a:latin typeface="Times New Roman"/>
              <a:cs typeface="Times New Roman"/>
            </a:endParaRPr>
          </a:p>
        </p:txBody>
      </p:sp>
      <p:grpSp>
        <p:nvGrpSpPr>
          <p:cNvPr id="328" name="object 328" descr=""/>
          <p:cNvGrpSpPr/>
          <p:nvPr/>
        </p:nvGrpSpPr>
        <p:grpSpPr>
          <a:xfrm>
            <a:off x="6095291" y="2478596"/>
            <a:ext cx="99060" cy="325120"/>
            <a:chOff x="6095291" y="2478596"/>
            <a:chExt cx="99060" cy="325120"/>
          </a:xfrm>
        </p:grpSpPr>
        <p:sp>
          <p:nvSpPr>
            <p:cNvPr id="329" name="object 329" descr=""/>
            <p:cNvSpPr/>
            <p:nvPr/>
          </p:nvSpPr>
          <p:spPr>
            <a:xfrm>
              <a:off x="6115619" y="2516311"/>
              <a:ext cx="48260" cy="92075"/>
            </a:xfrm>
            <a:custGeom>
              <a:avLst/>
              <a:gdLst/>
              <a:ahLst/>
              <a:cxnLst/>
              <a:rect l="l" t="t" r="r" b="b"/>
              <a:pathLst>
                <a:path w="48260" h="92075">
                  <a:moveTo>
                    <a:pt x="48055" y="0"/>
                  </a:moveTo>
                  <a:lnTo>
                    <a:pt x="0" y="91769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6144437" y="2478596"/>
              <a:ext cx="39370" cy="46990"/>
            </a:xfrm>
            <a:custGeom>
              <a:avLst/>
              <a:gdLst/>
              <a:ahLst/>
              <a:cxnLst/>
              <a:rect l="l" t="t" r="r" b="b"/>
              <a:pathLst>
                <a:path w="39370" h="46989">
                  <a:moveTo>
                    <a:pt x="34887" y="46791"/>
                  </a:moveTo>
                  <a:lnTo>
                    <a:pt x="0" y="35497"/>
                  </a:lnTo>
                  <a:lnTo>
                    <a:pt x="38993" y="0"/>
                  </a:lnTo>
                  <a:lnTo>
                    <a:pt x="34887" y="46791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6096248" y="2745190"/>
              <a:ext cx="97155" cy="57150"/>
            </a:xfrm>
            <a:custGeom>
              <a:avLst/>
              <a:gdLst/>
              <a:ahLst/>
              <a:cxnLst/>
              <a:rect l="l" t="t" r="r" b="b"/>
              <a:pathLst>
                <a:path w="97154" h="57150">
                  <a:moveTo>
                    <a:pt x="96865" y="57126"/>
                  </a:moveTo>
                  <a:lnTo>
                    <a:pt x="0" y="57126"/>
                  </a:lnTo>
                  <a:lnTo>
                    <a:pt x="0" y="0"/>
                  </a:lnTo>
                  <a:lnTo>
                    <a:pt x="96865" y="0"/>
                  </a:lnTo>
                  <a:lnTo>
                    <a:pt x="96865" y="57126"/>
                  </a:lnTo>
                  <a:close/>
                </a:path>
              </a:pathLst>
            </a:custGeom>
            <a:solidFill>
              <a:srgbClr val="D3D3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6096243" y="2745186"/>
              <a:ext cx="97155" cy="57150"/>
            </a:xfrm>
            <a:custGeom>
              <a:avLst/>
              <a:gdLst/>
              <a:ahLst/>
              <a:cxnLst/>
              <a:rect l="l" t="t" r="r" b="b"/>
              <a:pathLst>
                <a:path w="97154" h="57150">
                  <a:moveTo>
                    <a:pt x="0" y="57126"/>
                  </a:moveTo>
                  <a:lnTo>
                    <a:pt x="96870" y="57126"/>
                  </a:lnTo>
                  <a:lnTo>
                    <a:pt x="96870" y="0"/>
                  </a:lnTo>
                  <a:lnTo>
                    <a:pt x="0" y="0"/>
                  </a:lnTo>
                  <a:lnTo>
                    <a:pt x="0" y="57126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3" name="object 333" descr=""/>
          <p:cNvSpPr txBox="1"/>
          <p:nvPr/>
        </p:nvSpPr>
        <p:spPr>
          <a:xfrm>
            <a:off x="6109965" y="2774391"/>
            <a:ext cx="13335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8518" sz="450" spc="37">
                <a:latin typeface="Times New Roman"/>
                <a:cs typeface="Times New Roman"/>
              </a:rPr>
              <a:t>N</a:t>
            </a:r>
            <a:r>
              <a:rPr dirty="0" sz="200" spc="25">
                <a:latin typeface="Times New Roman"/>
                <a:cs typeface="Times New Roman"/>
              </a:rPr>
              <a:t>T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334" name="object 334" descr=""/>
          <p:cNvSpPr txBox="1"/>
          <p:nvPr/>
        </p:nvSpPr>
        <p:spPr>
          <a:xfrm>
            <a:off x="6051824" y="2686622"/>
            <a:ext cx="15113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5252" sz="825" spc="44">
                <a:latin typeface="Symbol"/>
                <a:cs typeface="Symbol"/>
              </a:rPr>
              <a:t></a:t>
            </a:r>
            <a:r>
              <a:rPr dirty="0" sz="300" spc="30" i="1">
                <a:latin typeface="Times New Roman"/>
                <a:cs typeface="Times New Roman"/>
              </a:rPr>
              <a:t>t</a:t>
            </a:r>
            <a:endParaRPr sz="300">
              <a:latin typeface="Times New Roman"/>
              <a:cs typeface="Times New Roman"/>
            </a:endParaRPr>
          </a:p>
        </p:txBody>
      </p:sp>
      <p:grpSp>
        <p:nvGrpSpPr>
          <p:cNvPr id="335" name="object 335" descr=""/>
          <p:cNvGrpSpPr/>
          <p:nvPr/>
        </p:nvGrpSpPr>
        <p:grpSpPr>
          <a:xfrm>
            <a:off x="5920932" y="2388142"/>
            <a:ext cx="340995" cy="569595"/>
            <a:chOff x="5920932" y="2388142"/>
            <a:chExt cx="340995" cy="569595"/>
          </a:xfrm>
        </p:grpSpPr>
        <p:sp>
          <p:nvSpPr>
            <p:cNvPr id="336" name="object 336" descr=""/>
            <p:cNvSpPr/>
            <p:nvPr/>
          </p:nvSpPr>
          <p:spPr>
            <a:xfrm>
              <a:off x="6115619" y="2756245"/>
              <a:ext cx="48260" cy="92075"/>
            </a:xfrm>
            <a:custGeom>
              <a:avLst/>
              <a:gdLst/>
              <a:ahLst/>
              <a:cxnLst/>
              <a:rect l="l" t="t" r="r" b="b"/>
              <a:pathLst>
                <a:path w="48260" h="92075">
                  <a:moveTo>
                    <a:pt x="48055" y="0"/>
                  </a:moveTo>
                  <a:lnTo>
                    <a:pt x="0" y="91769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6144437" y="2718527"/>
              <a:ext cx="39370" cy="46990"/>
            </a:xfrm>
            <a:custGeom>
              <a:avLst/>
              <a:gdLst/>
              <a:ahLst/>
              <a:cxnLst/>
              <a:rect l="l" t="t" r="r" b="b"/>
              <a:pathLst>
                <a:path w="39370" h="46989">
                  <a:moveTo>
                    <a:pt x="34887" y="46795"/>
                  </a:moveTo>
                  <a:lnTo>
                    <a:pt x="0" y="35497"/>
                  </a:lnTo>
                  <a:lnTo>
                    <a:pt x="38993" y="0"/>
                  </a:lnTo>
                  <a:lnTo>
                    <a:pt x="34887" y="46795"/>
                  </a:lnTo>
                  <a:close/>
                </a:path>
              </a:pathLst>
            </a:custGeom>
            <a:solidFill>
              <a:srgbClr val="1643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6193114" y="2389095"/>
              <a:ext cx="67945" cy="0"/>
            </a:xfrm>
            <a:custGeom>
              <a:avLst/>
              <a:gdLst/>
              <a:ahLst/>
              <a:cxnLst/>
              <a:rect l="l" t="t" r="r" b="b"/>
              <a:pathLst>
                <a:path w="67945" h="0">
                  <a:moveTo>
                    <a:pt x="0" y="0"/>
                  </a:moveTo>
                  <a:lnTo>
                    <a:pt x="67806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6074452" y="2463360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 h="0">
                  <a:moveTo>
                    <a:pt x="411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6074451" y="2607986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 h="0">
                  <a:moveTo>
                    <a:pt x="4121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6067184" y="2844206"/>
              <a:ext cx="48895" cy="3810"/>
            </a:xfrm>
            <a:custGeom>
              <a:avLst/>
              <a:gdLst/>
              <a:ahLst/>
              <a:cxnLst/>
              <a:rect l="l" t="t" r="r" b="b"/>
              <a:pathLst>
                <a:path w="48895" h="3810">
                  <a:moveTo>
                    <a:pt x="48435" y="38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6067185" y="246336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w="0" h="396239">
                  <a:moveTo>
                    <a:pt x="0" y="0"/>
                  </a:moveTo>
                  <a:lnTo>
                    <a:pt x="0" y="396081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5921884" y="2859442"/>
              <a:ext cx="194310" cy="97155"/>
            </a:xfrm>
            <a:custGeom>
              <a:avLst/>
              <a:gdLst/>
              <a:ahLst/>
              <a:cxnLst/>
              <a:rect l="l" t="t" r="r" b="b"/>
              <a:pathLst>
                <a:path w="194310" h="97155">
                  <a:moveTo>
                    <a:pt x="193735" y="97113"/>
                  </a:moveTo>
                  <a:lnTo>
                    <a:pt x="0" y="97113"/>
                  </a:lnTo>
                  <a:lnTo>
                    <a:pt x="0" y="0"/>
                  </a:lnTo>
                  <a:lnTo>
                    <a:pt x="193735" y="0"/>
                  </a:lnTo>
                  <a:lnTo>
                    <a:pt x="193735" y="97113"/>
                  </a:lnTo>
                  <a:close/>
                </a:path>
              </a:pathLst>
            </a:custGeom>
            <a:solidFill>
              <a:srgbClr val="DA97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5921884" y="2859442"/>
              <a:ext cx="194310" cy="97155"/>
            </a:xfrm>
            <a:custGeom>
              <a:avLst/>
              <a:gdLst/>
              <a:ahLst/>
              <a:cxnLst/>
              <a:rect l="l" t="t" r="r" b="b"/>
              <a:pathLst>
                <a:path w="194310" h="97155">
                  <a:moveTo>
                    <a:pt x="0" y="97113"/>
                  </a:moveTo>
                  <a:lnTo>
                    <a:pt x="193735" y="97113"/>
                  </a:lnTo>
                  <a:lnTo>
                    <a:pt x="193735" y="0"/>
                  </a:lnTo>
                  <a:lnTo>
                    <a:pt x="0" y="0"/>
                  </a:lnTo>
                  <a:lnTo>
                    <a:pt x="0" y="97113"/>
                  </a:lnTo>
                  <a:close/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5" name="object 345" descr=""/>
          <p:cNvSpPr txBox="1"/>
          <p:nvPr/>
        </p:nvSpPr>
        <p:spPr>
          <a:xfrm>
            <a:off x="5944541" y="2853382"/>
            <a:ext cx="148590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50">
                <a:solidFill>
                  <a:srgbClr val="164326"/>
                </a:solidFill>
                <a:latin typeface="SimSun"/>
                <a:cs typeface="SimSun"/>
              </a:rPr>
              <a:t>发端移</a:t>
            </a:r>
            <a:endParaRPr sz="250">
              <a:latin typeface="SimSun"/>
              <a:cs typeface="SimSun"/>
            </a:endParaRPr>
          </a:p>
        </p:txBody>
      </p:sp>
      <p:sp>
        <p:nvSpPr>
          <p:cNvPr id="346" name="object 346" descr=""/>
          <p:cNvSpPr txBox="1"/>
          <p:nvPr/>
        </p:nvSpPr>
        <p:spPr>
          <a:xfrm>
            <a:off x="5965044" y="2892075"/>
            <a:ext cx="107950" cy="6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40">
                <a:solidFill>
                  <a:srgbClr val="164326"/>
                </a:solidFill>
                <a:latin typeface="SimSun"/>
                <a:cs typeface="SimSun"/>
              </a:rPr>
              <a:t>相器</a:t>
            </a:r>
            <a:endParaRPr sz="250">
              <a:latin typeface="SimSun"/>
              <a:cs typeface="SimSun"/>
            </a:endParaRPr>
          </a:p>
        </p:txBody>
      </p:sp>
      <p:sp>
        <p:nvSpPr>
          <p:cNvPr id="347" name="object 347" descr=""/>
          <p:cNvSpPr/>
          <p:nvPr/>
        </p:nvSpPr>
        <p:spPr>
          <a:xfrm>
            <a:off x="7976143" y="2885246"/>
            <a:ext cx="208279" cy="97155"/>
          </a:xfrm>
          <a:custGeom>
            <a:avLst/>
            <a:gdLst/>
            <a:ahLst/>
            <a:cxnLst/>
            <a:rect l="l" t="t" r="r" b="b"/>
            <a:pathLst>
              <a:path w="208279" h="97155">
                <a:moveTo>
                  <a:pt x="0" y="97113"/>
                </a:moveTo>
                <a:lnTo>
                  <a:pt x="208267" y="97113"/>
                </a:lnTo>
                <a:lnTo>
                  <a:pt x="208267" y="0"/>
                </a:lnTo>
                <a:lnTo>
                  <a:pt x="0" y="0"/>
                </a:lnTo>
                <a:lnTo>
                  <a:pt x="0" y="97113"/>
                </a:lnTo>
                <a:close/>
              </a:path>
            </a:pathLst>
          </a:custGeom>
          <a:ln w="3175">
            <a:solidFill>
              <a:srgbClr val="1643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 descr=""/>
          <p:cNvSpPr txBox="1"/>
          <p:nvPr/>
        </p:nvSpPr>
        <p:spPr>
          <a:xfrm>
            <a:off x="7976143" y="2885246"/>
            <a:ext cx="208279" cy="97155"/>
          </a:xfrm>
          <a:prstGeom prst="rect">
            <a:avLst/>
          </a:prstGeom>
          <a:solidFill>
            <a:srgbClr val="DA9792"/>
          </a:solidFill>
        </p:spPr>
        <p:txBody>
          <a:bodyPr wrap="square" lIns="0" tIns="6985" rIns="0" bIns="0" rtlCol="0" vert="horz">
            <a:spAutoFit/>
          </a:bodyPr>
          <a:lstStyle/>
          <a:p>
            <a:pPr marL="62865" marR="34925" indent="-20955">
              <a:lnSpc>
                <a:spcPct val="100000"/>
              </a:lnSpc>
              <a:spcBef>
                <a:spcPts val="55"/>
              </a:spcBef>
            </a:pPr>
            <a:r>
              <a:rPr dirty="0" sz="250" spc="50">
                <a:solidFill>
                  <a:srgbClr val="164326"/>
                </a:solidFill>
                <a:latin typeface="SimSun"/>
                <a:cs typeface="SimSun"/>
              </a:rPr>
              <a:t>收端移</a:t>
            </a:r>
            <a:r>
              <a:rPr dirty="0" sz="250" spc="40">
                <a:solidFill>
                  <a:srgbClr val="164326"/>
                </a:solidFill>
                <a:latin typeface="SimSun"/>
                <a:cs typeface="SimSun"/>
              </a:rPr>
              <a:t>相器</a:t>
            </a:r>
            <a:endParaRPr sz="250">
              <a:latin typeface="SimSun"/>
              <a:cs typeface="SimSun"/>
            </a:endParaRPr>
          </a:p>
        </p:txBody>
      </p:sp>
      <p:pic>
        <p:nvPicPr>
          <p:cNvPr id="349" name="object 349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767164" y="2336633"/>
            <a:ext cx="98286" cy="102877"/>
          </a:xfrm>
          <a:prstGeom prst="rect">
            <a:avLst/>
          </a:prstGeom>
        </p:spPr>
      </p:pic>
      <p:sp>
        <p:nvSpPr>
          <p:cNvPr id="350" name="object 350" descr=""/>
          <p:cNvSpPr txBox="1"/>
          <p:nvPr/>
        </p:nvSpPr>
        <p:spPr>
          <a:xfrm>
            <a:off x="7812714" y="2327620"/>
            <a:ext cx="5715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Times New Roman"/>
                <a:cs typeface="Times New Roman"/>
              </a:rPr>
              <a:t>R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51" name="object 351" descr=""/>
          <p:cNvSpPr txBox="1"/>
          <p:nvPr/>
        </p:nvSpPr>
        <p:spPr>
          <a:xfrm>
            <a:off x="7801205" y="2373045"/>
            <a:ext cx="4953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Times New Roman"/>
                <a:cs typeface="Times New Roman"/>
              </a:rPr>
              <a:t>1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52" name="object 352" descr=""/>
          <p:cNvSpPr txBox="1"/>
          <p:nvPr/>
        </p:nvSpPr>
        <p:spPr>
          <a:xfrm>
            <a:off x="7749349" y="2323740"/>
            <a:ext cx="8191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Symbol"/>
                <a:cs typeface="Symbol"/>
              </a:rPr>
              <a:t></a:t>
            </a:r>
            <a:endParaRPr sz="550">
              <a:latin typeface="Symbol"/>
              <a:cs typeface="Symbol"/>
            </a:endParaRPr>
          </a:p>
        </p:txBody>
      </p:sp>
      <p:pic>
        <p:nvPicPr>
          <p:cNvPr id="353" name="object 35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767164" y="2488973"/>
            <a:ext cx="98384" cy="125721"/>
          </a:xfrm>
          <a:prstGeom prst="rect">
            <a:avLst/>
          </a:prstGeom>
        </p:spPr>
      </p:pic>
      <p:sp>
        <p:nvSpPr>
          <p:cNvPr id="354" name="object 354" descr=""/>
          <p:cNvSpPr txBox="1"/>
          <p:nvPr/>
        </p:nvSpPr>
        <p:spPr>
          <a:xfrm>
            <a:off x="7812714" y="2479958"/>
            <a:ext cx="5715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Times New Roman"/>
                <a:cs typeface="Times New Roman"/>
              </a:rPr>
              <a:t>R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55" name="object 355" descr=""/>
          <p:cNvSpPr txBox="1"/>
          <p:nvPr/>
        </p:nvSpPr>
        <p:spPr>
          <a:xfrm>
            <a:off x="7806314" y="2525373"/>
            <a:ext cx="49530" cy="70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Times New Roman"/>
                <a:cs typeface="Times New Roman"/>
              </a:rPr>
              <a:t>2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56" name="object 356" descr=""/>
          <p:cNvSpPr txBox="1"/>
          <p:nvPr/>
        </p:nvSpPr>
        <p:spPr>
          <a:xfrm>
            <a:off x="7749351" y="2476078"/>
            <a:ext cx="8191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Symbol"/>
                <a:cs typeface="Symbol"/>
              </a:rPr>
              <a:t></a:t>
            </a:r>
            <a:endParaRPr sz="550">
              <a:latin typeface="Symbol"/>
              <a:cs typeface="Symbol"/>
            </a:endParaRPr>
          </a:p>
        </p:txBody>
      </p:sp>
      <p:pic>
        <p:nvPicPr>
          <p:cNvPr id="357" name="object 357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760454" y="2705292"/>
            <a:ext cx="98286" cy="136707"/>
          </a:xfrm>
          <a:prstGeom prst="rect">
            <a:avLst/>
          </a:prstGeom>
        </p:spPr>
      </p:pic>
      <p:sp>
        <p:nvSpPr>
          <p:cNvPr id="358" name="object 358" descr=""/>
          <p:cNvSpPr txBox="1"/>
          <p:nvPr/>
        </p:nvSpPr>
        <p:spPr>
          <a:xfrm>
            <a:off x="7799409" y="2734035"/>
            <a:ext cx="54610" cy="666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50" spc="10">
                <a:latin typeface="Times New Roman"/>
                <a:cs typeface="Times New Roman"/>
              </a:rPr>
              <a:t>R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359" name="object 359" descr=""/>
          <p:cNvSpPr txBox="1"/>
          <p:nvPr/>
        </p:nvSpPr>
        <p:spPr>
          <a:xfrm>
            <a:off x="7769349" y="2784260"/>
            <a:ext cx="130810" cy="666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1111" sz="375" spc="44">
                <a:latin typeface="Times New Roman"/>
                <a:cs typeface="Times New Roman"/>
              </a:rPr>
              <a:t>N</a:t>
            </a:r>
            <a:r>
              <a:rPr dirty="0" sz="200" spc="30">
                <a:latin typeface="Times New Roman"/>
                <a:cs typeface="Times New Roman"/>
              </a:rPr>
              <a:t>R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360" name="object 360" descr=""/>
          <p:cNvSpPr txBox="1"/>
          <p:nvPr/>
        </p:nvSpPr>
        <p:spPr>
          <a:xfrm>
            <a:off x="7741744" y="2730513"/>
            <a:ext cx="7683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latin typeface="Symbol"/>
                <a:cs typeface="Symbol"/>
              </a:rPr>
              <a:t></a:t>
            </a:r>
            <a:endParaRPr sz="500">
              <a:latin typeface="Symbol"/>
              <a:cs typeface="Symbol"/>
            </a:endParaRPr>
          </a:p>
        </p:txBody>
      </p:sp>
      <p:grpSp>
        <p:nvGrpSpPr>
          <p:cNvPr id="361" name="object 361" descr=""/>
          <p:cNvGrpSpPr/>
          <p:nvPr/>
        </p:nvGrpSpPr>
        <p:grpSpPr>
          <a:xfrm>
            <a:off x="5970312" y="2344563"/>
            <a:ext cx="2179955" cy="590550"/>
            <a:chOff x="5970312" y="2344563"/>
            <a:chExt cx="2179955" cy="590550"/>
          </a:xfrm>
        </p:grpSpPr>
        <p:sp>
          <p:nvSpPr>
            <p:cNvPr id="362" name="object 362" descr=""/>
            <p:cNvSpPr/>
            <p:nvPr/>
          </p:nvSpPr>
          <p:spPr>
            <a:xfrm>
              <a:off x="8068165" y="2552954"/>
              <a:ext cx="82550" cy="0"/>
            </a:xfrm>
            <a:custGeom>
              <a:avLst/>
              <a:gdLst/>
              <a:ahLst/>
              <a:cxnLst/>
              <a:rect l="l" t="t" r="r" b="b"/>
              <a:pathLst>
                <a:path w="82550" h="0">
                  <a:moveTo>
                    <a:pt x="0" y="0"/>
                  </a:moveTo>
                  <a:lnTo>
                    <a:pt x="81948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7842946" y="2438700"/>
              <a:ext cx="133350" cy="495300"/>
            </a:xfrm>
            <a:custGeom>
              <a:avLst/>
              <a:gdLst/>
              <a:ahLst/>
              <a:cxnLst/>
              <a:rect l="l" t="t" r="r" b="b"/>
              <a:pathLst>
                <a:path w="133350" h="495300">
                  <a:moveTo>
                    <a:pt x="0" y="0"/>
                  </a:moveTo>
                  <a:lnTo>
                    <a:pt x="70230" y="0"/>
                  </a:lnTo>
                  <a:lnTo>
                    <a:pt x="70230" y="495102"/>
                  </a:lnTo>
                  <a:lnTo>
                    <a:pt x="133192" y="495102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7863127" y="2606270"/>
              <a:ext cx="50165" cy="3810"/>
            </a:xfrm>
            <a:custGeom>
              <a:avLst/>
              <a:gdLst/>
              <a:ahLst/>
              <a:cxnLst/>
              <a:rect l="l" t="t" r="r" b="b"/>
              <a:pathLst>
                <a:path w="50165" h="3810">
                  <a:moveTo>
                    <a:pt x="0" y="3454"/>
                  </a:moveTo>
                  <a:lnTo>
                    <a:pt x="50049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7835681" y="2840494"/>
              <a:ext cx="78105" cy="1270"/>
            </a:xfrm>
            <a:custGeom>
              <a:avLst/>
              <a:gdLst/>
              <a:ahLst/>
              <a:cxnLst/>
              <a:rect l="l" t="t" r="r" b="b"/>
              <a:pathLst>
                <a:path w="78104" h="1269">
                  <a:moveTo>
                    <a:pt x="0" y="697"/>
                  </a:moveTo>
                  <a:lnTo>
                    <a:pt x="77494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6377158" y="2389094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 h="0">
                  <a:moveTo>
                    <a:pt x="0" y="0"/>
                  </a:moveTo>
                  <a:lnTo>
                    <a:pt x="95040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194939" y="2487380"/>
              <a:ext cx="279090" cy="92871"/>
            </a:xfrm>
            <a:prstGeom prst="rect">
              <a:avLst/>
            </a:prstGeom>
          </p:spPr>
        </p:pic>
        <p:pic>
          <p:nvPicPr>
            <p:cNvPr id="368" name="object 36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198867" y="2731122"/>
              <a:ext cx="279090" cy="92871"/>
            </a:xfrm>
            <a:prstGeom prst="rect">
              <a:avLst/>
            </a:prstGeom>
          </p:spPr>
        </p:pic>
        <p:sp>
          <p:nvSpPr>
            <p:cNvPr id="369" name="object 369" descr=""/>
            <p:cNvSpPr/>
            <p:nvPr/>
          </p:nvSpPr>
          <p:spPr>
            <a:xfrm>
              <a:off x="5970312" y="2389094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4" h="0">
                  <a:moveTo>
                    <a:pt x="0" y="0"/>
                  </a:moveTo>
                  <a:lnTo>
                    <a:pt x="125929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5970312" y="2533816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4" h="0">
                  <a:moveTo>
                    <a:pt x="0" y="0"/>
                  </a:moveTo>
                  <a:lnTo>
                    <a:pt x="125929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5970312" y="2773750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4" h="0">
                  <a:moveTo>
                    <a:pt x="0" y="0"/>
                  </a:moveTo>
                  <a:lnTo>
                    <a:pt x="125929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16826" y="2344563"/>
              <a:ext cx="251046" cy="92871"/>
            </a:xfrm>
            <a:prstGeom prst="rect">
              <a:avLst/>
            </a:prstGeom>
          </p:spPr>
        </p:pic>
        <p:pic>
          <p:nvPicPr>
            <p:cNvPr id="373" name="object 37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19560" y="2502614"/>
              <a:ext cx="251046" cy="92871"/>
            </a:xfrm>
            <a:prstGeom prst="rect">
              <a:avLst/>
            </a:prstGeom>
          </p:spPr>
        </p:pic>
        <p:pic>
          <p:nvPicPr>
            <p:cNvPr id="374" name="object 37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19560" y="2738739"/>
              <a:ext cx="251046" cy="92871"/>
            </a:xfrm>
            <a:prstGeom prst="rect">
              <a:avLst/>
            </a:prstGeom>
          </p:spPr>
        </p:pic>
        <p:sp>
          <p:nvSpPr>
            <p:cNvPr id="375" name="object 375" descr=""/>
            <p:cNvSpPr/>
            <p:nvPr/>
          </p:nvSpPr>
          <p:spPr>
            <a:xfrm>
              <a:off x="7452398" y="2617602"/>
              <a:ext cx="0" cy="91440"/>
            </a:xfrm>
            <a:custGeom>
              <a:avLst/>
              <a:gdLst/>
              <a:ahLst/>
              <a:cxnLst/>
              <a:rect l="l" t="t" r="r" b="b"/>
              <a:pathLst>
                <a:path w="0" h="91439">
                  <a:moveTo>
                    <a:pt x="0" y="0"/>
                  </a:moveTo>
                  <a:lnTo>
                    <a:pt x="0" y="91402"/>
                  </a:lnTo>
                </a:path>
              </a:pathLst>
            </a:custGeom>
            <a:ln w="3175">
              <a:solidFill>
                <a:srgbClr val="16432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6503088" y="2579518"/>
              <a:ext cx="0" cy="129539"/>
            </a:xfrm>
            <a:custGeom>
              <a:avLst/>
              <a:gdLst/>
              <a:ahLst/>
              <a:cxnLst/>
              <a:rect l="l" t="t" r="r" b="b"/>
              <a:pathLst>
                <a:path w="0" h="129539">
                  <a:moveTo>
                    <a:pt x="0" y="0"/>
                  </a:moveTo>
                  <a:lnTo>
                    <a:pt x="0" y="129488"/>
                  </a:lnTo>
                </a:path>
              </a:pathLst>
            </a:custGeom>
            <a:ln w="3175">
              <a:solidFill>
                <a:srgbClr val="16432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7864741" y="2389094"/>
              <a:ext cx="86360" cy="2540"/>
            </a:xfrm>
            <a:custGeom>
              <a:avLst/>
              <a:gdLst/>
              <a:ahLst/>
              <a:cxnLst/>
              <a:rect l="l" t="t" r="r" b="b"/>
              <a:pathLst>
                <a:path w="86359" h="2539">
                  <a:moveTo>
                    <a:pt x="0" y="1999"/>
                  </a:moveTo>
                  <a:lnTo>
                    <a:pt x="86141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7864741" y="2541433"/>
              <a:ext cx="86360" cy="2540"/>
            </a:xfrm>
            <a:custGeom>
              <a:avLst/>
              <a:gdLst/>
              <a:ahLst/>
              <a:cxnLst/>
              <a:rect l="l" t="t" r="r" b="b"/>
              <a:pathLst>
                <a:path w="86359" h="2539">
                  <a:moveTo>
                    <a:pt x="0" y="1999"/>
                  </a:moveTo>
                  <a:lnTo>
                    <a:pt x="86141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7858034" y="2785176"/>
              <a:ext cx="93345" cy="6350"/>
            </a:xfrm>
            <a:custGeom>
              <a:avLst/>
              <a:gdLst/>
              <a:ahLst/>
              <a:cxnLst/>
              <a:rect l="l" t="t" r="r" b="b"/>
              <a:pathLst>
                <a:path w="93345" h="6350">
                  <a:moveTo>
                    <a:pt x="0" y="5743"/>
                  </a:moveTo>
                  <a:lnTo>
                    <a:pt x="92846" y="0"/>
                  </a:lnTo>
                </a:path>
              </a:pathLst>
            </a:custGeom>
            <a:ln w="3175">
              <a:solidFill>
                <a:srgbClr val="1643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0" name="object 380"/>
          <p:cNvSpPr txBox="1">
            <a:spLocks noGrp="1"/>
          </p:cNvSpPr>
          <p:nvPr>
            <p:ph type="title"/>
          </p:nvPr>
        </p:nvSpPr>
        <p:spPr>
          <a:xfrm>
            <a:off x="2189096" y="130199"/>
            <a:ext cx="50184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50"/>
              <a:t>网络高频段信号传输技术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259" y="983586"/>
            <a:ext cx="55492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0">
                <a:latin typeface="Microsoft YaHei"/>
                <a:cs typeface="Microsoft YaHei"/>
              </a:rPr>
              <a:t>灵活频谱共享是</a:t>
            </a:r>
            <a:r>
              <a:rPr dirty="0" sz="1400" spc="-45">
                <a:latin typeface="Arial MT"/>
                <a:cs typeface="Arial MT"/>
              </a:rPr>
              <a:t>LTE</a:t>
            </a:r>
            <a:r>
              <a:rPr dirty="0" sz="1400" spc="-20">
                <a:latin typeface="Microsoft YaHei"/>
                <a:cs typeface="Microsoft YaHei"/>
              </a:rPr>
              <a:t>演进和</a:t>
            </a:r>
            <a:r>
              <a:rPr dirty="0" sz="1400" spc="-10">
                <a:latin typeface="Arial MT"/>
                <a:cs typeface="Arial MT"/>
              </a:rPr>
              <a:t>5G</a:t>
            </a:r>
            <a:r>
              <a:rPr dirty="0" sz="1400" spc="-25">
                <a:latin typeface="Microsoft YaHei"/>
                <a:cs typeface="Microsoft YaHei"/>
              </a:rPr>
              <a:t>新空口充分利用潜在频率资源的有效方式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17982" y="3273552"/>
            <a:ext cx="7965440" cy="1579245"/>
            <a:chOff x="617982" y="3273552"/>
            <a:chExt cx="7965440" cy="1579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982" y="3512820"/>
              <a:ext cx="7949945" cy="133959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63575" y="3538537"/>
              <a:ext cx="7858125" cy="1247775"/>
            </a:xfrm>
            <a:custGeom>
              <a:avLst/>
              <a:gdLst/>
              <a:ahLst/>
              <a:cxnLst/>
              <a:rect l="l" t="t" r="r" b="b"/>
              <a:pathLst>
                <a:path w="7858125" h="1247775">
                  <a:moveTo>
                    <a:pt x="7858125" y="0"/>
                  </a:moveTo>
                  <a:lnTo>
                    <a:pt x="0" y="0"/>
                  </a:lnTo>
                  <a:lnTo>
                    <a:pt x="0" y="1247775"/>
                  </a:lnTo>
                  <a:lnTo>
                    <a:pt x="7858125" y="1247775"/>
                  </a:lnTo>
                  <a:lnTo>
                    <a:pt x="7858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3575" y="3538537"/>
              <a:ext cx="7858125" cy="1247775"/>
            </a:xfrm>
            <a:custGeom>
              <a:avLst/>
              <a:gdLst/>
              <a:ahLst/>
              <a:cxnLst/>
              <a:rect l="l" t="t" r="r" b="b"/>
              <a:pathLst>
                <a:path w="7858125" h="1247775">
                  <a:moveTo>
                    <a:pt x="0" y="0"/>
                  </a:moveTo>
                  <a:lnTo>
                    <a:pt x="7858125" y="0"/>
                  </a:lnTo>
                  <a:lnTo>
                    <a:pt x="7858125" y="1247775"/>
                  </a:lnTo>
                  <a:lnTo>
                    <a:pt x="0" y="12477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3273552"/>
              <a:ext cx="7943088" cy="3444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480" y="3591299"/>
              <a:ext cx="2211062" cy="61496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816199" y="3982303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宏小区</a:t>
            </a:r>
            <a:endParaRPr sz="350">
              <a:latin typeface="Microsoft JhengHei Light"/>
              <a:cs typeface="Microsoft JhengHei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10727" y="3969165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微小区</a:t>
            </a:r>
            <a:endParaRPr sz="350">
              <a:latin typeface="Microsoft JhengHei Light"/>
              <a:cs typeface="Microsoft JhengHei Ligh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12828" y="3963403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微小区</a:t>
            </a:r>
            <a:endParaRPr sz="350">
              <a:latin typeface="Microsoft JhengHei Light"/>
              <a:cs typeface="Microsoft JhengHei Ligh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14147" y="4404064"/>
            <a:ext cx="2145665" cy="31750"/>
            <a:chOff x="914147" y="4404064"/>
            <a:chExt cx="2145665" cy="31750"/>
          </a:xfrm>
        </p:grpSpPr>
        <p:sp>
          <p:nvSpPr>
            <p:cNvPr id="13" name="object 13" descr=""/>
            <p:cNvSpPr/>
            <p:nvPr/>
          </p:nvSpPr>
          <p:spPr>
            <a:xfrm>
              <a:off x="915099" y="4419942"/>
              <a:ext cx="2143760" cy="0"/>
            </a:xfrm>
            <a:custGeom>
              <a:avLst/>
              <a:gdLst/>
              <a:ahLst/>
              <a:cxnLst/>
              <a:rect l="l" t="t" r="r" b="b"/>
              <a:pathLst>
                <a:path w="2143760" h="0">
                  <a:moveTo>
                    <a:pt x="0" y="0"/>
                  </a:moveTo>
                  <a:lnTo>
                    <a:pt x="21434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41340" y="4405017"/>
              <a:ext cx="17780" cy="29845"/>
            </a:xfrm>
            <a:custGeom>
              <a:avLst/>
              <a:gdLst/>
              <a:ahLst/>
              <a:cxnLst/>
              <a:rect l="l" t="t" r="r" b="b"/>
              <a:pathLst>
                <a:path w="17780" h="29845">
                  <a:moveTo>
                    <a:pt x="0" y="29849"/>
                  </a:moveTo>
                  <a:lnTo>
                    <a:pt x="17212" y="1492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889764" y="4339950"/>
            <a:ext cx="125730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25">
                <a:latin typeface="SimSun"/>
                <a:cs typeface="SimSun"/>
              </a:rPr>
              <a:t>频率</a:t>
            </a:r>
            <a:endParaRPr sz="350">
              <a:latin typeface="SimSun"/>
              <a:cs typeface="SimSu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58170" y="4265707"/>
            <a:ext cx="1613535" cy="155575"/>
            <a:chOff x="1158170" y="4265707"/>
            <a:chExt cx="1613535" cy="155575"/>
          </a:xfrm>
        </p:grpSpPr>
        <p:sp>
          <p:nvSpPr>
            <p:cNvPr id="17" name="object 17" descr=""/>
            <p:cNvSpPr/>
            <p:nvPr/>
          </p:nvSpPr>
          <p:spPr>
            <a:xfrm>
              <a:off x="2108352" y="4266666"/>
              <a:ext cx="662940" cy="153670"/>
            </a:xfrm>
            <a:custGeom>
              <a:avLst/>
              <a:gdLst/>
              <a:ahLst/>
              <a:cxnLst/>
              <a:rect l="l" t="t" r="r" b="b"/>
              <a:pathLst>
                <a:path w="662939" h="153670">
                  <a:moveTo>
                    <a:pt x="220980" y="153276"/>
                  </a:moveTo>
                  <a:lnTo>
                    <a:pt x="176784" y="0"/>
                  </a:lnTo>
                  <a:lnTo>
                    <a:pt x="44196" y="0"/>
                  </a:lnTo>
                  <a:lnTo>
                    <a:pt x="0" y="153276"/>
                  </a:lnTo>
                  <a:lnTo>
                    <a:pt x="220980" y="153276"/>
                  </a:lnTo>
                  <a:close/>
                </a:path>
                <a:path w="662939" h="153670">
                  <a:moveTo>
                    <a:pt x="441947" y="153276"/>
                  </a:moveTo>
                  <a:lnTo>
                    <a:pt x="397751" y="0"/>
                  </a:lnTo>
                  <a:lnTo>
                    <a:pt x="265176" y="0"/>
                  </a:lnTo>
                  <a:lnTo>
                    <a:pt x="220980" y="153276"/>
                  </a:lnTo>
                  <a:lnTo>
                    <a:pt x="441947" y="153276"/>
                  </a:lnTo>
                  <a:close/>
                </a:path>
                <a:path w="662939" h="153670">
                  <a:moveTo>
                    <a:pt x="662927" y="153276"/>
                  </a:moveTo>
                  <a:lnTo>
                    <a:pt x="618731" y="0"/>
                  </a:lnTo>
                  <a:lnTo>
                    <a:pt x="486143" y="0"/>
                  </a:lnTo>
                  <a:lnTo>
                    <a:pt x="441947" y="153276"/>
                  </a:lnTo>
                  <a:lnTo>
                    <a:pt x="662927" y="153276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79145" y="4266660"/>
              <a:ext cx="220979" cy="153670"/>
            </a:xfrm>
            <a:custGeom>
              <a:avLst/>
              <a:gdLst/>
              <a:ahLst/>
              <a:cxnLst/>
              <a:rect l="l" t="t" r="r" b="b"/>
              <a:pathLst>
                <a:path w="220980" h="153670">
                  <a:moveTo>
                    <a:pt x="220974" y="153281"/>
                  </a:moveTo>
                  <a:lnTo>
                    <a:pt x="0" y="153281"/>
                  </a:lnTo>
                  <a:lnTo>
                    <a:pt x="44195" y="0"/>
                  </a:lnTo>
                  <a:lnTo>
                    <a:pt x="176778" y="0"/>
                  </a:lnTo>
                  <a:lnTo>
                    <a:pt x="220974" y="153281"/>
                  </a:lnTo>
                  <a:close/>
                </a:path>
              </a:pathLst>
            </a:custGeom>
            <a:solidFill>
              <a:srgbClr val="808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00119" y="4266660"/>
              <a:ext cx="220979" cy="153670"/>
            </a:xfrm>
            <a:custGeom>
              <a:avLst/>
              <a:gdLst/>
              <a:ahLst/>
              <a:cxnLst/>
              <a:rect l="l" t="t" r="r" b="b"/>
              <a:pathLst>
                <a:path w="220980" h="153670">
                  <a:moveTo>
                    <a:pt x="0" y="153281"/>
                  </a:moveTo>
                  <a:lnTo>
                    <a:pt x="220974" y="153281"/>
                  </a:lnTo>
                  <a:lnTo>
                    <a:pt x="176778" y="0"/>
                  </a:lnTo>
                  <a:lnTo>
                    <a:pt x="44195" y="0"/>
                  </a:lnTo>
                  <a:lnTo>
                    <a:pt x="0" y="1532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58170" y="4266660"/>
              <a:ext cx="220979" cy="153670"/>
            </a:xfrm>
            <a:custGeom>
              <a:avLst/>
              <a:gdLst/>
              <a:ahLst/>
              <a:cxnLst/>
              <a:rect l="l" t="t" r="r" b="b"/>
              <a:pathLst>
                <a:path w="220980" h="153670">
                  <a:moveTo>
                    <a:pt x="220974" y="153281"/>
                  </a:moveTo>
                  <a:lnTo>
                    <a:pt x="0" y="153281"/>
                  </a:lnTo>
                  <a:lnTo>
                    <a:pt x="44195" y="0"/>
                  </a:lnTo>
                  <a:lnTo>
                    <a:pt x="176778" y="0"/>
                  </a:lnTo>
                  <a:lnTo>
                    <a:pt x="220974" y="153281"/>
                  </a:lnTo>
                  <a:close/>
                </a:path>
              </a:pathLst>
            </a:custGeom>
            <a:solidFill>
              <a:srgbClr val="808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392660" y="4411496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宏小区</a:t>
            </a:r>
            <a:endParaRPr sz="350">
              <a:latin typeface="Microsoft JhengHei Light"/>
              <a:cs typeface="Microsoft JhengHei Ligh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364959" y="4411496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微小区</a:t>
            </a:r>
            <a:endParaRPr sz="350">
              <a:latin typeface="Microsoft JhengHei Light"/>
              <a:cs typeface="Microsoft JhengHei Ligh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914145" y="4633989"/>
            <a:ext cx="2145665" cy="31750"/>
            <a:chOff x="914145" y="4633989"/>
            <a:chExt cx="2145665" cy="31750"/>
          </a:xfrm>
        </p:grpSpPr>
        <p:sp>
          <p:nvSpPr>
            <p:cNvPr id="24" name="object 24" descr=""/>
            <p:cNvSpPr/>
            <p:nvPr/>
          </p:nvSpPr>
          <p:spPr>
            <a:xfrm>
              <a:off x="915098" y="4649866"/>
              <a:ext cx="2143760" cy="0"/>
            </a:xfrm>
            <a:custGeom>
              <a:avLst/>
              <a:gdLst/>
              <a:ahLst/>
              <a:cxnLst/>
              <a:rect l="l" t="t" r="r" b="b"/>
              <a:pathLst>
                <a:path w="2143760" h="0">
                  <a:moveTo>
                    <a:pt x="0" y="0"/>
                  </a:moveTo>
                  <a:lnTo>
                    <a:pt x="21434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041338" y="4634941"/>
              <a:ext cx="17780" cy="29845"/>
            </a:xfrm>
            <a:custGeom>
              <a:avLst/>
              <a:gdLst/>
              <a:ahLst/>
              <a:cxnLst/>
              <a:rect l="l" t="t" r="r" b="b"/>
              <a:pathLst>
                <a:path w="17780" h="29845">
                  <a:moveTo>
                    <a:pt x="0" y="29849"/>
                  </a:moveTo>
                  <a:lnTo>
                    <a:pt x="17212" y="1492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889763" y="4569875"/>
            <a:ext cx="125730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25">
                <a:latin typeface="SimSun"/>
                <a:cs typeface="SimSun"/>
              </a:rPr>
              <a:t>频率</a:t>
            </a:r>
            <a:endParaRPr sz="350">
              <a:latin typeface="SimSun"/>
              <a:cs typeface="SimSu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158169" y="4418989"/>
            <a:ext cx="1613535" cy="270510"/>
            <a:chOff x="1158169" y="4418989"/>
            <a:chExt cx="1613535" cy="270510"/>
          </a:xfrm>
        </p:grpSpPr>
        <p:sp>
          <p:nvSpPr>
            <p:cNvPr id="28" name="object 28" descr=""/>
            <p:cNvSpPr/>
            <p:nvPr/>
          </p:nvSpPr>
          <p:spPr>
            <a:xfrm>
              <a:off x="2108352" y="4496587"/>
              <a:ext cx="662940" cy="153670"/>
            </a:xfrm>
            <a:custGeom>
              <a:avLst/>
              <a:gdLst/>
              <a:ahLst/>
              <a:cxnLst/>
              <a:rect l="l" t="t" r="r" b="b"/>
              <a:pathLst>
                <a:path w="662939" h="153670">
                  <a:moveTo>
                    <a:pt x="220980" y="153289"/>
                  </a:moveTo>
                  <a:lnTo>
                    <a:pt x="176784" y="0"/>
                  </a:lnTo>
                  <a:lnTo>
                    <a:pt x="44196" y="0"/>
                  </a:lnTo>
                  <a:lnTo>
                    <a:pt x="0" y="153289"/>
                  </a:lnTo>
                  <a:lnTo>
                    <a:pt x="220980" y="153289"/>
                  </a:lnTo>
                  <a:close/>
                </a:path>
                <a:path w="662939" h="153670">
                  <a:moveTo>
                    <a:pt x="441947" y="153289"/>
                  </a:moveTo>
                  <a:lnTo>
                    <a:pt x="397751" y="0"/>
                  </a:lnTo>
                  <a:lnTo>
                    <a:pt x="265176" y="0"/>
                  </a:lnTo>
                  <a:lnTo>
                    <a:pt x="220980" y="153289"/>
                  </a:lnTo>
                  <a:lnTo>
                    <a:pt x="441947" y="153289"/>
                  </a:lnTo>
                  <a:close/>
                </a:path>
                <a:path w="662939" h="153670">
                  <a:moveTo>
                    <a:pt x="662927" y="153289"/>
                  </a:moveTo>
                  <a:lnTo>
                    <a:pt x="618731" y="0"/>
                  </a:lnTo>
                  <a:lnTo>
                    <a:pt x="486143" y="0"/>
                  </a:lnTo>
                  <a:lnTo>
                    <a:pt x="441947" y="153289"/>
                  </a:lnTo>
                  <a:lnTo>
                    <a:pt x="662927" y="15328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8169" y="4496584"/>
              <a:ext cx="441948" cy="153281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975774" y="4419942"/>
              <a:ext cx="0" cy="268605"/>
            </a:xfrm>
            <a:custGeom>
              <a:avLst/>
              <a:gdLst/>
              <a:ahLst/>
              <a:cxnLst/>
              <a:rect l="l" t="t" r="r" b="b"/>
              <a:pathLst>
                <a:path w="0" h="268604">
                  <a:moveTo>
                    <a:pt x="0" y="0"/>
                  </a:moveTo>
                  <a:lnTo>
                    <a:pt x="0" y="268246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392659" y="4641420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宏小区</a:t>
            </a:r>
            <a:endParaRPr sz="350">
              <a:latin typeface="Microsoft JhengHei Light"/>
              <a:cs typeface="Microsoft JhengHei Ligh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364958" y="4641420"/>
            <a:ext cx="194310" cy="83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" spc="70">
                <a:latin typeface="Microsoft JhengHei Light"/>
                <a:cs typeface="Microsoft JhengHei Light"/>
              </a:rPr>
              <a:t>微小区</a:t>
            </a:r>
            <a:endParaRPr sz="350">
              <a:latin typeface="Microsoft JhengHei Light"/>
              <a:cs typeface="Microsoft JhengHei Light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600118" y="4496584"/>
            <a:ext cx="220979" cy="153670"/>
          </a:xfrm>
          <a:custGeom>
            <a:avLst/>
            <a:gdLst/>
            <a:ahLst/>
            <a:cxnLst/>
            <a:rect l="l" t="t" r="r" b="b"/>
            <a:pathLst>
              <a:path w="220980" h="153670">
                <a:moveTo>
                  <a:pt x="220974" y="153281"/>
                </a:moveTo>
                <a:lnTo>
                  <a:pt x="0" y="153281"/>
                </a:lnTo>
                <a:lnTo>
                  <a:pt x="44195" y="0"/>
                </a:lnTo>
                <a:lnTo>
                  <a:pt x="176778" y="0"/>
                </a:lnTo>
                <a:lnTo>
                  <a:pt x="220974" y="15328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3595970" y="3334937"/>
            <a:ext cx="2006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Microsoft YaHei"/>
                <a:cs typeface="Microsoft YaHei"/>
              </a:rPr>
              <a:t>不同多运营商间动态共享频谱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33222" y="1967483"/>
            <a:ext cx="7887970" cy="2806065"/>
            <a:chOff x="633222" y="1967483"/>
            <a:chExt cx="7887970" cy="2806065"/>
          </a:xfrm>
        </p:grpSpPr>
        <p:sp>
          <p:nvSpPr>
            <p:cNvPr id="36" name="object 36" descr=""/>
            <p:cNvSpPr/>
            <p:nvPr/>
          </p:nvSpPr>
          <p:spPr>
            <a:xfrm>
              <a:off x="3262312" y="3538537"/>
              <a:ext cx="0" cy="1221740"/>
            </a:xfrm>
            <a:custGeom>
              <a:avLst/>
              <a:gdLst/>
              <a:ahLst/>
              <a:cxnLst/>
              <a:rect l="l" t="t" r="r" b="b"/>
              <a:pathLst>
                <a:path w="0" h="1221739">
                  <a:moveTo>
                    <a:pt x="0" y="0"/>
                  </a:moveTo>
                  <a:lnTo>
                    <a:pt x="0" y="1221587"/>
                  </a:lnTo>
                </a:path>
              </a:pathLst>
            </a:custGeom>
            <a:ln w="12700">
              <a:solidFill>
                <a:srgbClr val="22226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3069" y="3559060"/>
              <a:ext cx="2380359" cy="121392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0425" y="3538537"/>
              <a:ext cx="2580359" cy="122600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222" y="1967483"/>
              <a:ext cx="2760725" cy="1306829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79450" y="1993099"/>
              <a:ext cx="2668905" cy="1216025"/>
            </a:xfrm>
            <a:custGeom>
              <a:avLst/>
              <a:gdLst/>
              <a:ahLst/>
              <a:cxnLst/>
              <a:rect l="l" t="t" r="r" b="b"/>
              <a:pathLst>
                <a:path w="2668904" h="1216025">
                  <a:moveTo>
                    <a:pt x="2668587" y="0"/>
                  </a:moveTo>
                  <a:lnTo>
                    <a:pt x="0" y="0"/>
                  </a:lnTo>
                  <a:lnTo>
                    <a:pt x="0" y="1215631"/>
                  </a:lnTo>
                  <a:lnTo>
                    <a:pt x="2668587" y="1215631"/>
                  </a:lnTo>
                  <a:lnTo>
                    <a:pt x="266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79450" y="1993099"/>
              <a:ext cx="2668905" cy="1216025"/>
            </a:xfrm>
            <a:custGeom>
              <a:avLst/>
              <a:gdLst/>
              <a:ahLst/>
              <a:cxnLst/>
              <a:rect l="l" t="t" r="r" b="b"/>
              <a:pathLst>
                <a:path w="2668904" h="1216025">
                  <a:moveTo>
                    <a:pt x="0" y="0"/>
                  </a:moveTo>
                  <a:lnTo>
                    <a:pt x="2668587" y="0"/>
                  </a:lnTo>
                  <a:lnTo>
                    <a:pt x="2668587" y="1215631"/>
                  </a:lnTo>
                  <a:lnTo>
                    <a:pt x="0" y="12156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8447" y="2309622"/>
              <a:ext cx="2522733" cy="840566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2011848" y="2999812"/>
            <a:ext cx="56515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35" b="1">
                <a:latin typeface="Times New Roman"/>
                <a:cs typeface="Times New Roman"/>
              </a:rPr>
              <a:t>TV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397425" y="2987337"/>
            <a:ext cx="107314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75">
                <a:latin typeface="SimSun"/>
                <a:cs typeface="SimSun"/>
              </a:rPr>
              <a:t>宏小区</a:t>
            </a:r>
            <a:endParaRPr sz="150">
              <a:latin typeface="SimSun"/>
              <a:cs typeface="SimSu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488603" y="2922122"/>
            <a:ext cx="107314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75">
                <a:latin typeface="SimSun"/>
                <a:cs typeface="SimSun"/>
              </a:rPr>
              <a:t>微小区</a:t>
            </a:r>
            <a:endParaRPr sz="150">
              <a:latin typeface="SimSun"/>
              <a:cs typeface="SimSu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493485" y="3004648"/>
            <a:ext cx="107314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75">
                <a:latin typeface="SimSun"/>
                <a:cs typeface="SimSun"/>
              </a:rPr>
              <a:t>微小区</a:t>
            </a:r>
            <a:endParaRPr sz="150">
              <a:latin typeface="SimSun"/>
              <a:cs typeface="SimSu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715410" y="2967969"/>
            <a:ext cx="107314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75">
                <a:latin typeface="SimSun"/>
                <a:cs typeface="SimSun"/>
              </a:rPr>
              <a:t>微小区</a:t>
            </a:r>
            <a:endParaRPr sz="150">
              <a:latin typeface="SimSun"/>
              <a:cs typeface="SimSu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535068" y="2617236"/>
            <a:ext cx="76200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70">
                <a:latin typeface="SimSun"/>
                <a:cs typeface="SimSun"/>
              </a:rPr>
              <a:t>频率</a:t>
            </a:r>
            <a:endParaRPr sz="150">
              <a:latin typeface="SimSun"/>
              <a:cs typeface="SimSu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948290" y="2662495"/>
            <a:ext cx="75565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35" b="1">
                <a:latin typeface="Times New Roman"/>
                <a:cs typeface="Times New Roman"/>
              </a:rPr>
              <a:t>IMT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355018" y="2663077"/>
            <a:ext cx="76200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70">
                <a:latin typeface="SimSun"/>
                <a:cs typeface="SimSun"/>
              </a:rPr>
              <a:t>卫星</a:t>
            </a:r>
            <a:endParaRPr sz="150">
              <a:latin typeface="SimSun"/>
              <a:cs typeface="SimSu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587972" y="2662495"/>
            <a:ext cx="56515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35" b="1">
                <a:latin typeface="Times New Roman"/>
                <a:cs typeface="Times New Roman"/>
              </a:rPr>
              <a:t>TV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104429" y="2594311"/>
            <a:ext cx="44450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45">
                <a:latin typeface="SimSun"/>
                <a:cs typeface="SimSun"/>
              </a:rPr>
              <a:t>…</a:t>
            </a:r>
            <a:endParaRPr sz="150">
              <a:latin typeface="SimSun"/>
              <a:cs typeface="SimSu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808527" y="2594311"/>
            <a:ext cx="44450" cy="4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" spc="45">
                <a:latin typeface="SimSun"/>
                <a:cs typeface="SimSun"/>
              </a:rPr>
              <a:t>…</a:t>
            </a:r>
            <a:endParaRPr sz="150">
              <a:latin typeface="SimSun"/>
              <a:cs typeface="SimSu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916731" y="2386469"/>
            <a:ext cx="172085" cy="119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0" spc="70">
                <a:latin typeface="SimSun"/>
                <a:cs typeface="SimSun"/>
              </a:rPr>
              <a:t>卫星</a:t>
            </a:r>
            <a:endParaRPr sz="1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50">
              <a:latin typeface="SimSun"/>
              <a:cs typeface="SimSun"/>
            </a:endParaRPr>
          </a:p>
          <a:p>
            <a:pPr algn="r" marR="38100">
              <a:lnSpc>
                <a:spcPct val="100000"/>
              </a:lnSpc>
              <a:spcBef>
                <a:spcPts val="5"/>
              </a:spcBef>
            </a:pPr>
            <a:r>
              <a:rPr dirty="0" sz="150" spc="80">
                <a:latin typeface="SimSun"/>
                <a:cs typeface="SimSun"/>
              </a:rPr>
              <a:t>动态使用</a:t>
            </a:r>
            <a:endParaRPr sz="150">
              <a:latin typeface="SimSun"/>
              <a:cs typeface="SimSu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316223" y="1967483"/>
            <a:ext cx="2653030" cy="1306830"/>
            <a:chOff x="3316223" y="1967483"/>
            <a:chExt cx="2653030" cy="1306830"/>
          </a:xfrm>
        </p:grpSpPr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16223" y="1967483"/>
              <a:ext cx="2652521" cy="1306829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362324" y="1993099"/>
              <a:ext cx="2560955" cy="1216025"/>
            </a:xfrm>
            <a:custGeom>
              <a:avLst/>
              <a:gdLst/>
              <a:ahLst/>
              <a:cxnLst/>
              <a:rect l="l" t="t" r="r" b="b"/>
              <a:pathLst>
                <a:path w="2560954" h="1216025">
                  <a:moveTo>
                    <a:pt x="2560637" y="0"/>
                  </a:moveTo>
                  <a:lnTo>
                    <a:pt x="0" y="0"/>
                  </a:lnTo>
                  <a:lnTo>
                    <a:pt x="0" y="1215631"/>
                  </a:lnTo>
                  <a:lnTo>
                    <a:pt x="2560637" y="1215631"/>
                  </a:lnTo>
                  <a:lnTo>
                    <a:pt x="25606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362324" y="1993099"/>
              <a:ext cx="2560955" cy="1216025"/>
            </a:xfrm>
            <a:custGeom>
              <a:avLst/>
              <a:gdLst/>
              <a:ahLst/>
              <a:cxnLst/>
              <a:rect l="l" t="t" r="r" b="b"/>
              <a:pathLst>
                <a:path w="2560954" h="1216025">
                  <a:moveTo>
                    <a:pt x="0" y="0"/>
                  </a:moveTo>
                  <a:lnTo>
                    <a:pt x="2560637" y="0"/>
                  </a:lnTo>
                  <a:lnTo>
                    <a:pt x="2560637" y="1215631"/>
                  </a:lnTo>
                  <a:lnTo>
                    <a:pt x="0" y="121563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638549" y="2271712"/>
              <a:ext cx="501650" cy="228600"/>
            </a:xfrm>
            <a:custGeom>
              <a:avLst/>
              <a:gdLst/>
              <a:ahLst/>
              <a:cxnLst/>
              <a:rect l="l" t="t" r="r" b="b"/>
              <a:pathLst>
                <a:path w="501650" h="228600">
                  <a:moveTo>
                    <a:pt x="497789" y="0"/>
                  </a:moveTo>
                  <a:lnTo>
                    <a:pt x="3860" y="0"/>
                  </a:lnTo>
                  <a:lnTo>
                    <a:pt x="0" y="3860"/>
                  </a:lnTo>
                  <a:lnTo>
                    <a:pt x="0" y="8623"/>
                  </a:lnTo>
                  <a:lnTo>
                    <a:pt x="0" y="224739"/>
                  </a:lnTo>
                  <a:lnTo>
                    <a:pt x="3860" y="228600"/>
                  </a:lnTo>
                  <a:lnTo>
                    <a:pt x="497789" y="228600"/>
                  </a:lnTo>
                  <a:lnTo>
                    <a:pt x="501650" y="224739"/>
                  </a:lnTo>
                  <a:lnTo>
                    <a:pt x="501650" y="3860"/>
                  </a:lnTo>
                  <a:lnTo>
                    <a:pt x="497789" y="0"/>
                  </a:lnTo>
                  <a:close/>
                </a:path>
              </a:pathLst>
            </a:custGeom>
            <a:solidFill>
              <a:srgbClr val="F1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638549" y="2271712"/>
              <a:ext cx="501650" cy="228600"/>
            </a:xfrm>
            <a:custGeom>
              <a:avLst/>
              <a:gdLst/>
              <a:ahLst/>
              <a:cxnLst/>
              <a:rect l="l" t="t" r="r" b="b"/>
              <a:pathLst>
                <a:path w="501650" h="228600">
                  <a:moveTo>
                    <a:pt x="0" y="8623"/>
                  </a:moveTo>
                  <a:lnTo>
                    <a:pt x="0" y="3860"/>
                  </a:lnTo>
                  <a:lnTo>
                    <a:pt x="3860" y="0"/>
                  </a:lnTo>
                  <a:lnTo>
                    <a:pt x="8623" y="0"/>
                  </a:lnTo>
                  <a:lnTo>
                    <a:pt x="493026" y="0"/>
                  </a:lnTo>
                  <a:lnTo>
                    <a:pt x="497789" y="0"/>
                  </a:lnTo>
                  <a:lnTo>
                    <a:pt x="501650" y="3860"/>
                  </a:lnTo>
                  <a:lnTo>
                    <a:pt x="501650" y="8623"/>
                  </a:lnTo>
                  <a:lnTo>
                    <a:pt x="501650" y="219976"/>
                  </a:lnTo>
                  <a:lnTo>
                    <a:pt x="501650" y="224739"/>
                  </a:lnTo>
                  <a:lnTo>
                    <a:pt x="497789" y="228600"/>
                  </a:lnTo>
                  <a:lnTo>
                    <a:pt x="493026" y="228600"/>
                  </a:lnTo>
                  <a:lnTo>
                    <a:pt x="8623" y="228600"/>
                  </a:lnTo>
                  <a:lnTo>
                    <a:pt x="3860" y="228600"/>
                  </a:lnTo>
                  <a:lnTo>
                    <a:pt x="0" y="224739"/>
                  </a:lnTo>
                  <a:lnTo>
                    <a:pt x="0" y="219976"/>
                  </a:lnTo>
                  <a:lnTo>
                    <a:pt x="0" y="8623"/>
                  </a:lnTo>
                  <a:close/>
                </a:path>
              </a:pathLst>
            </a:custGeom>
            <a:ln w="25400">
              <a:solidFill>
                <a:srgbClr val="BBE0E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3653180" y="2293302"/>
            <a:ext cx="4724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070C0"/>
                </a:solidFill>
                <a:latin typeface="Arial MT"/>
                <a:cs typeface="Arial MT"/>
              </a:rPr>
              <a:t>PS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4070603" y="1967483"/>
            <a:ext cx="4500880" cy="1331595"/>
            <a:chOff x="4070603" y="1967483"/>
            <a:chExt cx="4500880" cy="1331595"/>
          </a:xfrm>
        </p:grpSpPr>
        <p:pic>
          <p:nvPicPr>
            <p:cNvPr id="63" name="object 6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4448" y="2785478"/>
              <a:ext cx="791768" cy="18047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2311" y="3028187"/>
              <a:ext cx="452627" cy="22326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25288" y="2915246"/>
              <a:ext cx="367233" cy="10618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33999" y="3024377"/>
              <a:ext cx="403859" cy="218693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79999" y="2911868"/>
              <a:ext cx="312089" cy="10154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79491" y="3079241"/>
              <a:ext cx="422909" cy="219455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23967" y="2966897"/>
              <a:ext cx="333489" cy="10226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17862" y="2810929"/>
              <a:ext cx="83663" cy="11822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86528" y="2215895"/>
              <a:ext cx="777240" cy="39319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70603" y="2237231"/>
              <a:ext cx="1148333" cy="33756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4111625" y="2384822"/>
              <a:ext cx="824230" cy="1270"/>
            </a:xfrm>
            <a:custGeom>
              <a:avLst/>
              <a:gdLst/>
              <a:ahLst/>
              <a:cxnLst/>
              <a:rect l="l" t="t" r="r" b="b"/>
              <a:pathLst>
                <a:path w="824229" h="1269">
                  <a:moveTo>
                    <a:pt x="0" y="0"/>
                  </a:moveTo>
                  <a:lnTo>
                    <a:pt x="823912" y="1041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922756" y="2322346"/>
              <a:ext cx="127635" cy="127000"/>
            </a:xfrm>
            <a:custGeom>
              <a:avLst/>
              <a:gdLst/>
              <a:ahLst/>
              <a:cxnLst/>
              <a:rect l="l" t="t" r="r" b="b"/>
              <a:pathLst>
                <a:path w="127635" h="127000">
                  <a:moveTo>
                    <a:pt x="165" y="0"/>
                  </a:moveTo>
                  <a:lnTo>
                    <a:pt x="0" y="127000"/>
                  </a:lnTo>
                  <a:lnTo>
                    <a:pt x="127076" y="63665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51119" y="2368295"/>
              <a:ext cx="308609" cy="590549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5305425" y="2527837"/>
              <a:ext cx="0" cy="232410"/>
            </a:xfrm>
            <a:custGeom>
              <a:avLst/>
              <a:gdLst/>
              <a:ahLst/>
              <a:cxnLst/>
              <a:rect l="l" t="t" r="r" b="b"/>
              <a:pathLst>
                <a:path w="0" h="232410">
                  <a:moveTo>
                    <a:pt x="0" y="23188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260985" y="2527843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76200"/>
                  </a:moveTo>
                  <a:lnTo>
                    <a:pt x="44437" y="0"/>
                  </a:lnTo>
                  <a:lnTo>
                    <a:pt x="88900" y="76187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260975" y="2683526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30011" y="2935414"/>
              <a:ext cx="86105" cy="8972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18454" y="1967483"/>
              <a:ext cx="2652520" cy="1306829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5964237" y="1993099"/>
              <a:ext cx="2560955" cy="1216025"/>
            </a:xfrm>
            <a:custGeom>
              <a:avLst/>
              <a:gdLst/>
              <a:ahLst/>
              <a:cxnLst/>
              <a:rect l="l" t="t" r="r" b="b"/>
              <a:pathLst>
                <a:path w="2560954" h="1216025">
                  <a:moveTo>
                    <a:pt x="2560637" y="0"/>
                  </a:moveTo>
                  <a:lnTo>
                    <a:pt x="0" y="0"/>
                  </a:lnTo>
                  <a:lnTo>
                    <a:pt x="0" y="1215631"/>
                  </a:lnTo>
                  <a:lnTo>
                    <a:pt x="2560637" y="1215631"/>
                  </a:lnTo>
                  <a:lnTo>
                    <a:pt x="25606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964237" y="1993099"/>
              <a:ext cx="2560955" cy="1216025"/>
            </a:xfrm>
            <a:custGeom>
              <a:avLst/>
              <a:gdLst/>
              <a:ahLst/>
              <a:cxnLst/>
              <a:rect l="l" t="t" r="r" b="b"/>
              <a:pathLst>
                <a:path w="2560954" h="1216025">
                  <a:moveTo>
                    <a:pt x="0" y="0"/>
                  </a:moveTo>
                  <a:lnTo>
                    <a:pt x="2560637" y="0"/>
                  </a:lnTo>
                  <a:lnTo>
                    <a:pt x="2560637" y="1215631"/>
                  </a:lnTo>
                  <a:lnTo>
                    <a:pt x="0" y="121563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00880" y="2427109"/>
              <a:ext cx="2274418" cy="692607"/>
            </a:xfrm>
            <a:prstGeom prst="rect">
              <a:avLst/>
            </a:prstGeom>
          </p:spPr>
        </p:pic>
      </p:grpSp>
      <p:sp>
        <p:nvSpPr>
          <p:cNvPr id="84" name="object 84" descr=""/>
          <p:cNvSpPr txBox="1"/>
          <p:nvPr/>
        </p:nvSpPr>
        <p:spPr>
          <a:xfrm>
            <a:off x="7962572" y="2604947"/>
            <a:ext cx="55880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7541361" y="2693419"/>
            <a:ext cx="55880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7891542" y="2693417"/>
            <a:ext cx="55880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6495046" y="2589472"/>
            <a:ext cx="88265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latin typeface="Microsoft JhengHei Light"/>
                <a:cs typeface="Microsoft JhengHei Light"/>
              </a:rPr>
              <a:t>非</a:t>
            </a: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6840153" y="2594675"/>
            <a:ext cx="88265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latin typeface="Microsoft JhengHei Light"/>
                <a:cs typeface="Microsoft JhengHei Light"/>
              </a:rPr>
              <a:t>非</a:t>
            </a: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418941" y="2683149"/>
            <a:ext cx="88265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latin typeface="Microsoft JhengHei Light"/>
                <a:cs typeface="Microsoft JhengHei Light"/>
              </a:rPr>
              <a:t>非</a:t>
            </a: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6769122" y="2683146"/>
            <a:ext cx="88265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latin typeface="Microsoft JhengHei Light"/>
                <a:cs typeface="Microsoft JhengHei Light"/>
              </a:rPr>
              <a:t>非</a:t>
            </a: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7643335" y="2879169"/>
            <a:ext cx="70485" cy="60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0" spc="-25">
                <a:latin typeface="SimSun"/>
                <a:cs typeface="SimSun"/>
              </a:rPr>
              <a:t>频率</a:t>
            </a:r>
            <a:endParaRPr sz="200">
              <a:latin typeface="SimSun"/>
              <a:cs typeface="SimSu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7622611" y="2589469"/>
            <a:ext cx="55880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6794501" y="2927752"/>
            <a:ext cx="88265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latin typeface="Microsoft JhengHei Light"/>
                <a:cs typeface="Microsoft JhengHei Light"/>
              </a:rPr>
              <a:t>非</a:t>
            </a: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7368869" y="2927752"/>
            <a:ext cx="55880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7643337" y="3035301"/>
            <a:ext cx="70485" cy="60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0" spc="-25">
                <a:latin typeface="SimSun"/>
                <a:cs typeface="SimSun"/>
              </a:rPr>
              <a:t>频率</a:t>
            </a:r>
            <a:endParaRPr sz="200">
              <a:latin typeface="SimSun"/>
              <a:cs typeface="SimSu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6794505" y="3083882"/>
            <a:ext cx="88265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latin typeface="Microsoft JhengHei Light"/>
                <a:cs typeface="Microsoft JhengHei Light"/>
              </a:rPr>
              <a:t>非</a:t>
            </a: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7368873" y="3083882"/>
            <a:ext cx="55880" cy="65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" spc="-25">
                <a:latin typeface="Microsoft JhengHei Light"/>
                <a:cs typeface="Microsoft JhengHei Light"/>
              </a:rPr>
              <a:t>5G</a:t>
            </a:r>
            <a:endParaRPr sz="250">
              <a:latin typeface="Microsoft JhengHei Light"/>
              <a:cs typeface="Microsoft JhengHei Light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3571240" y="2547382"/>
            <a:ext cx="46418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 MT"/>
                <a:cs typeface="Arial MT"/>
              </a:rPr>
              <a:t>Primary System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5153755" y="2319019"/>
            <a:ext cx="40767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0070C0"/>
                </a:solidFill>
                <a:latin typeface="Arial MT"/>
                <a:cs typeface="Arial MT"/>
              </a:rPr>
              <a:t>Database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00" name="object 10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885688" y="1682495"/>
            <a:ext cx="2697480" cy="554736"/>
          </a:xfrm>
          <a:prstGeom prst="rect">
            <a:avLst/>
          </a:prstGeom>
        </p:spPr>
      </p:pic>
      <p:sp>
        <p:nvSpPr>
          <p:cNvPr id="101" name="object 101" descr=""/>
          <p:cNvSpPr txBox="1"/>
          <p:nvPr/>
        </p:nvSpPr>
        <p:spPr>
          <a:xfrm>
            <a:off x="6501066" y="1747659"/>
            <a:ext cx="14706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Arial MT"/>
                <a:cs typeface="Arial MT"/>
              </a:rPr>
              <a:t>LTE</a:t>
            </a:r>
            <a:r>
              <a:rPr dirty="0" sz="1050" spc="-10">
                <a:latin typeface="Microsoft YaHei"/>
                <a:cs typeface="Microsoft YaHei"/>
              </a:rPr>
              <a:t>动态使用非授权频谱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6999827" y="1908479"/>
            <a:ext cx="48640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Arial MT"/>
                <a:cs typeface="Arial MT"/>
              </a:rPr>
              <a:t>(LTE-</a:t>
            </a:r>
            <a:r>
              <a:rPr dirty="0" sz="1050" spc="-25">
                <a:latin typeface="Arial MT"/>
                <a:cs typeface="Arial MT"/>
              </a:rPr>
              <a:t>U)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294888" y="1682495"/>
            <a:ext cx="2685288" cy="554736"/>
          </a:xfrm>
          <a:prstGeom prst="rect">
            <a:avLst/>
          </a:prstGeom>
        </p:spPr>
      </p:pic>
      <p:sp>
        <p:nvSpPr>
          <p:cNvPr id="104" name="object 104" descr=""/>
          <p:cNvSpPr txBox="1"/>
          <p:nvPr/>
        </p:nvSpPr>
        <p:spPr>
          <a:xfrm>
            <a:off x="3618589" y="1434198"/>
            <a:ext cx="1978660" cy="581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solidFill>
                  <a:srgbClr val="004597"/>
                </a:solidFill>
                <a:latin typeface="Microsoft YaHei"/>
                <a:cs typeface="Microsoft YaHei"/>
              </a:rPr>
              <a:t>灵活频谱共享的应用场景</a:t>
            </a:r>
            <a:endParaRPr sz="1400">
              <a:latin typeface="Microsoft YaHei"/>
              <a:cs typeface="Microsoft YaHei"/>
            </a:endParaRPr>
          </a:p>
          <a:p>
            <a:pPr marL="376555">
              <a:lnSpc>
                <a:spcPct val="100000"/>
              </a:lnSpc>
              <a:spcBef>
                <a:spcPts val="1435"/>
              </a:spcBef>
            </a:pPr>
            <a:r>
              <a:rPr dirty="0" sz="1050">
                <a:latin typeface="Arial MT"/>
                <a:cs typeface="Arial MT"/>
              </a:rPr>
              <a:t>IMT</a:t>
            </a:r>
            <a:r>
              <a:rPr dirty="0" sz="1050" spc="-10">
                <a:latin typeface="Microsoft YaHei"/>
                <a:cs typeface="Microsoft YaHei"/>
              </a:rPr>
              <a:t>系统内多个制式间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4164299" y="1989339"/>
            <a:ext cx="9588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Microsoft YaHei"/>
                <a:cs typeface="Microsoft YaHei"/>
              </a:rPr>
              <a:t>的动态频谱共享</a:t>
            </a:r>
            <a:endParaRPr sz="1050">
              <a:latin typeface="Microsoft YaHei"/>
              <a:cs typeface="Microsoft YaHei"/>
            </a:endParaRPr>
          </a:p>
        </p:txBody>
      </p:sp>
      <p:pic>
        <p:nvPicPr>
          <p:cNvPr id="106" name="object 10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30936" y="1682495"/>
            <a:ext cx="2767584" cy="536448"/>
          </a:xfrm>
          <a:prstGeom prst="rect">
            <a:avLst/>
          </a:prstGeom>
        </p:spPr>
      </p:pic>
      <p:sp>
        <p:nvSpPr>
          <p:cNvPr id="107" name="object 107" descr=""/>
          <p:cNvSpPr txBox="1"/>
          <p:nvPr/>
        </p:nvSpPr>
        <p:spPr>
          <a:xfrm>
            <a:off x="1221021" y="1790131"/>
            <a:ext cx="15894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Arial MT"/>
                <a:cs typeface="Arial MT"/>
              </a:rPr>
              <a:t>IMT</a:t>
            </a:r>
            <a:r>
              <a:rPr dirty="0" sz="1050" spc="-5">
                <a:latin typeface="Microsoft YaHei"/>
                <a:cs typeface="Microsoft YaHei"/>
              </a:rPr>
              <a:t>系统动态机会使用其它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1415877" y="1950151"/>
            <a:ext cx="12128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Microsoft YaHei"/>
                <a:cs typeface="Microsoft YaHei"/>
              </a:rPr>
              <a:t>业务的授权空闲频谱</a:t>
            </a:r>
            <a:endParaRPr sz="1050">
              <a:latin typeface="Microsoft YaHei"/>
              <a:cs typeface="Microsoft YaHei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title"/>
          </p:nvPr>
        </p:nvSpPr>
        <p:spPr>
          <a:xfrm>
            <a:off x="2391788" y="198408"/>
            <a:ext cx="461073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Times New Roman"/>
                <a:cs typeface="Times New Roman"/>
              </a:rPr>
              <a:t>5G</a:t>
            </a:r>
            <a:r>
              <a:rPr dirty="0" spc="-50"/>
              <a:t>网络灵活频谱共享技术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2648" y="96730"/>
            <a:ext cx="4142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内容回顾与问题研讨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457200" y="971553"/>
            <a:ext cx="3470275" cy="432434"/>
          </a:xfrm>
          <a:custGeom>
            <a:avLst/>
            <a:gdLst/>
            <a:ahLst/>
            <a:cxnLst/>
            <a:rect l="l" t="t" r="r" b="b"/>
            <a:pathLst>
              <a:path w="3470275" h="432434">
                <a:moveTo>
                  <a:pt x="3398139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359994"/>
                </a:lnTo>
                <a:lnTo>
                  <a:pt x="5657" y="388018"/>
                </a:lnTo>
                <a:lnTo>
                  <a:pt x="21086" y="410903"/>
                </a:lnTo>
                <a:lnTo>
                  <a:pt x="43971" y="426332"/>
                </a:lnTo>
                <a:lnTo>
                  <a:pt x="71996" y="431990"/>
                </a:lnTo>
                <a:lnTo>
                  <a:pt x="3398139" y="431990"/>
                </a:lnTo>
                <a:lnTo>
                  <a:pt x="3426165" y="426332"/>
                </a:lnTo>
                <a:lnTo>
                  <a:pt x="3449054" y="410903"/>
                </a:lnTo>
                <a:lnTo>
                  <a:pt x="3464488" y="388018"/>
                </a:lnTo>
                <a:lnTo>
                  <a:pt x="3470148" y="359994"/>
                </a:lnTo>
                <a:lnTo>
                  <a:pt x="3470148" y="71996"/>
                </a:lnTo>
                <a:lnTo>
                  <a:pt x="3464488" y="43971"/>
                </a:lnTo>
                <a:lnTo>
                  <a:pt x="3449054" y="21086"/>
                </a:lnTo>
                <a:lnTo>
                  <a:pt x="3426165" y="5657"/>
                </a:lnTo>
                <a:lnTo>
                  <a:pt x="33981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029200" y="971553"/>
            <a:ext cx="3581400" cy="432434"/>
          </a:xfrm>
          <a:custGeom>
            <a:avLst/>
            <a:gdLst/>
            <a:ahLst/>
            <a:cxnLst/>
            <a:rect l="l" t="t" r="r" b="b"/>
            <a:pathLst>
              <a:path w="3581400" h="432434">
                <a:moveTo>
                  <a:pt x="3509403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359994"/>
                </a:lnTo>
                <a:lnTo>
                  <a:pt x="5657" y="388018"/>
                </a:lnTo>
                <a:lnTo>
                  <a:pt x="21086" y="410903"/>
                </a:lnTo>
                <a:lnTo>
                  <a:pt x="43971" y="426332"/>
                </a:lnTo>
                <a:lnTo>
                  <a:pt x="71996" y="431990"/>
                </a:lnTo>
                <a:lnTo>
                  <a:pt x="3509403" y="431990"/>
                </a:lnTo>
                <a:lnTo>
                  <a:pt x="3537428" y="426332"/>
                </a:lnTo>
                <a:lnTo>
                  <a:pt x="3560313" y="410903"/>
                </a:lnTo>
                <a:lnTo>
                  <a:pt x="3575742" y="388018"/>
                </a:lnTo>
                <a:lnTo>
                  <a:pt x="3581400" y="359994"/>
                </a:lnTo>
                <a:lnTo>
                  <a:pt x="3581400" y="71996"/>
                </a:lnTo>
                <a:lnTo>
                  <a:pt x="3575742" y="43971"/>
                </a:lnTo>
                <a:lnTo>
                  <a:pt x="3560313" y="21086"/>
                </a:lnTo>
                <a:lnTo>
                  <a:pt x="3537428" y="5657"/>
                </a:lnTo>
                <a:lnTo>
                  <a:pt x="350940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7687" y="2606484"/>
            <a:ext cx="4553710" cy="170306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pc="-20"/>
              <a:t>思考题：</a:t>
            </a:r>
          </a:p>
          <a:p>
            <a:pPr marL="367030" indent="-35433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367030" algn="l"/>
              </a:tabLst>
            </a:pPr>
            <a:r>
              <a:rPr dirty="0" spc="-25">
                <a:latin typeface="Times New Roman"/>
                <a:cs typeface="Times New Roman"/>
              </a:rPr>
              <a:t>5G</a:t>
            </a:r>
            <a:r>
              <a:rPr dirty="0" spc="-10"/>
              <a:t>网络特点性能指标？</a:t>
            </a:r>
          </a:p>
          <a:p>
            <a:pPr marL="367030" indent="-35433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367030" algn="l"/>
              </a:tabLst>
            </a:pPr>
            <a:r>
              <a:rPr dirty="0" spc="-25">
                <a:latin typeface="Times New Roman"/>
                <a:cs typeface="Times New Roman"/>
              </a:rPr>
              <a:t>5G</a:t>
            </a:r>
            <a:r>
              <a:rPr dirty="0" spc="-10"/>
              <a:t>核心网架构与技术？</a:t>
            </a:r>
          </a:p>
          <a:p>
            <a:pPr marL="367030" indent="-35433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367030" algn="l"/>
              </a:tabLst>
            </a:pPr>
            <a:r>
              <a:rPr dirty="0" spc="-25">
                <a:latin typeface="Times New Roman"/>
                <a:cs typeface="Times New Roman"/>
              </a:rPr>
              <a:t>5G</a:t>
            </a:r>
            <a:r>
              <a:rPr dirty="0" spc="-10"/>
              <a:t>核心网架构与技术？</a:t>
            </a:r>
          </a:p>
          <a:p>
            <a:pPr marL="367030" indent="-35433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367030" algn="l"/>
              </a:tabLst>
            </a:pPr>
            <a:r>
              <a:rPr dirty="0" spc="-25">
                <a:latin typeface="Times New Roman"/>
                <a:cs typeface="Times New Roman"/>
              </a:rPr>
              <a:t>5G</a:t>
            </a:r>
            <a:r>
              <a:rPr dirty="0" spc="-10"/>
              <a:t>无线网架构与技术？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422141" y="1657353"/>
            <a:ext cx="3470275" cy="432434"/>
          </a:xfrm>
          <a:custGeom>
            <a:avLst/>
            <a:gdLst/>
            <a:ahLst/>
            <a:cxnLst/>
            <a:rect l="l" t="t" r="r" b="b"/>
            <a:pathLst>
              <a:path w="3470275" h="432435">
                <a:moveTo>
                  <a:pt x="3398139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359994"/>
                </a:lnTo>
                <a:lnTo>
                  <a:pt x="5657" y="388018"/>
                </a:lnTo>
                <a:lnTo>
                  <a:pt x="21086" y="410903"/>
                </a:lnTo>
                <a:lnTo>
                  <a:pt x="43971" y="426332"/>
                </a:lnTo>
                <a:lnTo>
                  <a:pt x="71996" y="431990"/>
                </a:lnTo>
                <a:lnTo>
                  <a:pt x="3398139" y="431990"/>
                </a:lnTo>
                <a:lnTo>
                  <a:pt x="3426165" y="426332"/>
                </a:lnTo>
                <a:lnTo>
                  <a:pt x="3449054" y="410903"/>
                </a:lnTo>
                <a:lnTo>
                  <a:pt x="3464488" y="388018"/>
                </a:lnTo>
                <a:lnTo>
                  <a:pt x="3470148" y="359994"/>
                </a:lnTo>
                <a:lnTo>
                  <a:pt x="3470148" y="71996"/>
                </a:lnTo>
                <a:lnTo>
                  <a:pt x="3464488" y="43971"/>
                </a:lnTo>
                <a:lnTo>
                  <a:pt x="3449054" y="21086"/>
                </a:lnTo>
                <a:lnTo>
                  <a:pt x="3426165" y="5657"/>
                </a:lnTo>
                <a:lnTo>
                  <a:pt x="33981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66868" y="1045310"/>
            <a:ext cx="3015615" cy="95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latin typeface="Microsoft YaHei"/>
                <a:cs typeface="Microsoft YaHei"/>
              </a:rPr>
              <a:t>一、 </a:t>
            </a:r>
            <a:r>
              <a:rPr dirty="0" sz="1600" spc="-20" b="1">
                <a:latin typeface="Times New Roman"/>
                <a:cs typeface="Times New Roman"/>
              </a:rPr>
              <a:t>5G</a:t>
            </a:r>
            <a:r>
              <a:rPr dirty="0" sz="1600" spc="-5" b="1">
                <a:latin typeface="Microsoft YaHei"/>
                <a:cs typeface="Microsoft YaHei"/>
              </a:rPr>
              <a:t>系统标准与产业发展概述</a:t>
            </a:r>
            <a:endParaRPr sz="16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Microsoft YaHei"/>
                <a:cs typeface="Microsoft YaHei"/>
              </a:rPr>
              <a:t>三、 </a:t>
            </a:r>
            <a:r>
              <a:rPr dirty="0" sz="1600" spc="-20" b="1">
                <a:latin typeface="Times New Roman"/>
                <a:cs typeface="Times New Roman"/>
              </a:rPr>
              <a:t>5G</a:t>
            </a:r>
            <a:r>
              <a:rPr dirty="0" sz="1600" spc="-5" b="1">
                <a:latin typeface="Microsoft YaHei"/>
                <a:cs typeface="Microsoft YaHei"/>
              </a:rPr>
              <a:t>系统传输网络架构与技术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994141" y="1657353"/>
            <a:ext cx="3581400" cy="432434"/>
          </a:xfrm>
          <a:custGeom>
            <a:avLst/>
            <a:gdLst/>
            <a:ahLst/>
            <a:cxnLst/>
            <a:rect l="l" t="t" r="r" b="b"/>
            <a:pathLst>
              <a:path w="3581400" h="432435">
                <a:moveTo>
                  <a:pt x="3509403" y="0"/>
                </a:moveTo>
                <a:lnTo>
                  <a:pt x="71996" y="0"/>
                </a:lnTo>
                <a:lnTo>
                  <a:pt x="43971" y="5657"/>
                </a:lnTo>
                <a:lnTo>
                  <a:pt x="21086" y="21086"/>
                </a:lnTo>
                <a:lnTo>
                  <a:pt x="5657" y="43971"/>
                </a:lnTo>
                <a:lnTo>
                  <a:pt x="0" y="71996"/>
                </a:lnTo>
                <a:lnTo>
                  <a:pt x="0" y="359994"/>
                </a:lnTo>
                <a:lnTo>
                  <a:pt x="5657" y="388018"/>
                </a:lnTo>
                <a:lnTo>
                  <a:pt x="21086" y="410903"/>
                </a:lnTo>
                <a:lnTo>
                  <a:pt x="43971" y="426332"/>
                </a:lnTo>
                <a:lnTo>
                  <a:pt x="71996" y="431990"/>
                </a:lnTo>
                <a:lnTo>
                  <a:pt x="3509403" y="431990"/>
                </a:lnTo>
                <a:lnTo>
                  <a:pt x="3537428" y="426332"/>
                </a:lnTo>
                <a:lnTo>
                  <a:pt x="3560313" y="410903"/>
                </a:lnTo>
                <a:lnTo>
                  <a:pt x="3575742" y="388018"/>
                </a:lnTo>
                <a:lnTo>
                  <a:pt x="3581400" y="359994"/>
                </a:lnTo>
                <a:lnTo>
                  <a:pt x="3581400" y="71996"/>
                </a:lnTo>
                <a:lnTo>
                  <a:pt x="3575742" y="43971"/>
                </a:lnTo>
                <a:lnTo>
                  <a:pt x="3560313" y="21086"/>
                </a:lnTo>
                <a:lnTo>
                  <a:pt x="3537428" y="5657"/>
                </a:lnTo>
                <a:lnTo>
                  <a:pt x="350940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294560" y="1045310"/>
            <a:ext cx="2990850" cy="95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Microsoft YaHei"/>
                <a:cs typeface="Microsoft YaHei"/>
              </a:rPr>
              <a:t>二、</a:t>
            </a:r>
            <a:r>
              <a:rPr dirty="0" sz="1600" spc="-20" b="1">
                <a:latin typeface="Times New Roman"/>
                <a:cs typeface="Times New Roman"/>
              </a:rPr>
              <a:t>5G</a:t>
            </a:r>
            <a:r>
              <a:rPr dirty="0" sz="1600" spc="-10" b="1">
                <a:latin typeface="Microsoft YaHei"/>
                <a:cs typeface="Microsoft YaHei"/>
              </a:rPr>
              <a:t>系统核心网络架构与技术</a:t>
            </a:r>
            <a:endParaRPr sz="16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Microsoft YaHei"/>
                <a:cs typeface="Microsoft YaHei"/>
              </a:rPr>
              <a:t>四、 </a:t>
            </a:r>
            <a:r>
              <a:rPr dirty="0" sz="1600" spc="-20" b="1">
                <a:latin typeface="Times New Roman"/>
                <a:cs typeface="Times New Roman"/>
              </a:rPr>
              <a:t>5G</a:t>
            </a:r>
            <a:r>
              <a:rPr dirty="0" sz="1600" spc="-5" b="1">
                <a:latin typeface="Microsoft YaHei"/>
                <a:cs typeface="Microsoft YaHei"/>
              </a:rPr>
              <a:t>系统无线网络架构与技术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87679"/>
            <a:ext cx="9144000" cy="42243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林子雨ziyulin@xmu.edu.cn</dc:creator>
  <dc:subject>厦门大学计算机科学系</dc:subject>
  <dc:title>云计算与大数据</dc:title>
  <dcterms:created xsi:type="dcterms:W3CDTF">2025-11-14T05:05:10Z</dcterms:created>
  <dcterms:modified xsi:type="dcterms:W3CDTF">2025-11-14T05:05:10Z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2019-06-07T00:00:00Z</vt:filetime>
  </property>
  <property fmtid="{D5CDD505-2E9C-101B-9397-08002B2CF9AE}" pid="3" name="Creator">
    <vt:lpwstr>Acrobat PDFMaker 15 PowerPoint 版</vt:lpwstr>
  </property>
  <property fmtid="{D5CDD505-2E9C-101B-9397-08002B2CF9AE}" pid="4" name="LastSaved">
    <vt:filetime>2025-11-14T00:00:00Z</vt:filetime>
  </property>
  <property fmtid="{D5CDD505-2E9C-101B-9397-08002B2CF9AE}" pid="5" name="Producer">
    <vt:lpwstr>Adobe PDF Library 15.0</vt:lpwstr>
  </property>
  <property fmtid="{D5CDD505-2E9C-101B-9397-08002B2CF9AE}" pid="6" name="Version">
    <vt:lpwstr>1</vt:lpwstr>
  </property>
</Properties>
</file>